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27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2"/>
  </p:sldMasterIdLst>
  <p:notesMasterIdLst>
    <p:notesMasterId r:id="rId52"/>
  </p:notesMasterIdLst>
  <p:handoutMasterIdLst>
    <p:handoutMasterId r:id="rId53"/>
  </p:handoutMasterIdLst>
  <p:sldIdLst>
    <p:sldId id="325" r:id="rId3"/>
    <p:sldId id="264" r:id="rId4"/>
    <p:sldId id="493" r:id="rId5"/>
    <p:sldId id="327" r:id="rId6"/>
    <p:sldId id="309" r:id="rId7"/>
    <p:sldId id="259" r:id="rId8"/>
    <p:sldId id="358" r:id="rId9"/>
    <p:sldId id="348" r:id="rId10"/>
    <p:sldId id="495" r:id="rId11"/>
    <p:sldId id="496" r:id="rId12"/>
    <p:sldId id="497" r:id="rId13"/>
    <p:sldId id="498" r:id="rId14"/>
    <p:sldId id="499" r:id="rId15"/>
    <p:sldId id="500" r:id="rId16"/>
    <p:sldId id="501" r:id="rId17"/>
    <p:sldId id="502" r:id="rId18"/>
    <p:sldId id="503" r:id="rId19"/>
    <p:sldId id="504" r:id="rId20"/>
    <p:sldId id="421" r:id="rId21"/>
    <p:sldId id="505" r:id="rId22"/>
    <p:sldId id="506" r:id="rId23"/>
    <p:sldId id="507" r:id="rId24"/>
    <p:sldId id="508" r:id="rId25"/>
    <p:sldId id="509" r:id="rId26"/>
    <p:sldId id="510" r:id="rId27"/>
    <p:sldId id="511" r:id="rId28"/>
    <p:sldId id="513" r:id="rId29"/>
    <p:sldId id="512" r:id="rId30"/>
    <p:sldId id="514" r:id="rId31"/>
    <p:sldId id="515" r:id="rId32"/>
    <p:sldId id="516" r:id="rId33"/>
    <p:sldId id="517" r:id="rId34"/>
    <p:sldId id="518" r:id="rId35"/>
    <p:sldId id="519" r:id="rId36"/>
    <p:sldId id="520" r:id="rId37"/>
    <p:sldId id="521" r:id="rId38"/>
    <p:sldId id="522" r:id="rId39"/>
    <p:sldId id="523" r:id="rId40"/>
    <p:sldId id="524" r:id="rId41"/>
    <p:sldId id="525" r:id="rId42"/>
    <p:sldId id="526" r:id="rId43"/>
    <p:sldId id="527" r:id="rId44"/>
    <p:sldId id="528" r:id="rId45"/>
    <p:sldId id="530" r:id="rId46"/>
    <p:sldId id="531" r:id="rId47"/>
    <p:sldId id="532" r:id="rId48"/>
    <p:sldId id="533" r:id="rId49"/>
    <p:sldId id="534" r:id="rId50"/>
    <p:sldId id="535" r:id="rId51"/>
  </p:sldIdLst>
  <p:sldSz cx="12190413" cy="6859588"/>
  <p:notesSz cx="6858000" cy="9144000"/>
  <p:custDataLst>
    <p:tags r:id="rId54"/>
  </p:custDataLst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62" userDrawn="1">
          <p15:clr>
            <a:srgbClr val="A4A3A4"/>
          </p15:clr>
        </p15:guide>
        <p15:guide id="3" pos="6266" userDrawn="1">
          <p15:clr>
            <a:srgbClr val="A4A3A4"/>
          </p15:clr>
        </p15:guide>
        <p15:guide id="4" pos="150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66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用户" initials="W用" lastIdx="2" clrIdx="0">
    <p:extLst>
      <p:ext uri="{19B8F6BF-5375-455C-9EA6-DF929625EA0E}">
        <p15:presenceInfo xmlns:p15="http://schemas.microsoft.com/office/powerpoint/2012/main" userId="Windows 用户" providerId="None"/>
      </p:ext>
    </p:extLst>
  </p:cmAuthor>
  <p:cmAuthor id="2" name="Microsoft 帐户" initials="M帐" lastIdx="13" clrIdx="1">
    <p:extLst>
      <p:ext uri="{19B8F6BF-5375-455C-9EA6-DF929625EA0E}">
        <p15:presenceInfo xmlns:p15="http://schemas.microsoft.com/office/powerpoint/2012/main" userId="bfe374392693e00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69B2"/>
    <a:srgbClr val="595959"/>
    <a:srgbClr val="FF0000"/>
    <a:srgbClr val="F2F2F2"/>
    <a:srgbClr val="FAFAFA"/>
    <a:srgbClr val="006BBC"/>
    <a:srgbClr val="0075CC"/>
    <a:srgbClr val="008DF6"/>
    <a:srgbClr val="005DA2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52" autoAdjust="0"/>
    <p:restoredTop sz="96379" autoAdjust="0"/>
  </p:normalViewPr>
  <p:slideViewPr>
    <p:cSldViewPr snapToGrid="0">
      <p:cViewPr varScale="1">
        <p:scale>
          <a:sx n="84" d="100"/>
          <a:sy n="84" d="100"/>
        </p:scale>
        <p:origin x="288" y="78"/>
      </p:cViewPr>
      <p:guideLst>
        <p:guide orient="horz" pos="1662"/>
        <p:guide pos="6266"/>
        <p:guide pos="150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-3810" y="-90"/>
      </p:cViewPr>
      <p:guideLst>
        <p:guide orient="horz" pos="2866"/>
        <p:guide pos="2160"/>
      </p:guideLst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commentAuthors" Target="commentAuthor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handoutMaster" Target="handoutMasters/handoutMaster1.xml"/><Relationship Id="rId58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98727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6134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43737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85632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67117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94548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78225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9581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44858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37248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99913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60148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08536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95502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67627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91489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29668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70862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47782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4718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81836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9636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1476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99856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133581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138815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086880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946424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597347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959743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438129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869874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358144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661817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640663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683158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631714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877316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094225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794216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624676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76335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850389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629849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093184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622609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32140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478148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75427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097161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2935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0" y="2202951"/>
            <a:ext cx="12190413" cy="2420263"/>
            <a:chOff x="170694" y="177982"/>
            <a:chExt cx="3936004" cy="781165"/>
          </a:xfrm>
        </p:grpSpPr>
        <p:sp>
          <p:nvSpPr>
            <p:cNvPr id="44" name="等腰三角形 43"/>
            <p:cNvSpPr/>
            <p:nvPr/>
          </p:nvSpPr>
          <p:spPr>
            <a:xfrm>
              <a:off x="1233863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200258" y="602633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919172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6191205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7055189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4463238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5327222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15" y="390618"/>
            <a:ext cx="520428" cy="274702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98623" y="3693670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寄语(1)"/>
          <p:cNvPicPr>
            <a:picLocks noChangeAspect="1"/>
          </p:cNvPicPr>
          <p:nvPr userDrawn="1"/>
        </p:nvPicPr>
        <p:blipFill>
          <a:blip r:embed="rId2"/>
          <a:srcRect l="114" t="60287" r="-114" b="572"/>
          <a:stretch>
            <a:fillRect/>
          </a:stretch>
        </p:blipFill>
        <p:spPr>
          <a:xfrm>
            <a:off x="2480310" y="2508250"/>
            <a:ext cx="7532370" cy="165798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998" y="3789834"/>
            <a:ext cx="3952633" cy="6169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notesSlide" Target="../notesSlides/notesSlide27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slideLayout" Target="../slideLayouts/slideLayout10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notesSlide" Target="../notesSlides/notesSlide28.xml"/><Relationship Id="rId2" Type="http://schemas.openxmlformats.org/officeDocument/2006/relationships/tags" Target="../tags/tag19.xml"/><Relationship Id="rId16" Type="http://schemas.openxmlformats.org/officeDocument/2006/relationships/slideLayout" Target="../slideLayouts/slideLayout10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1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2.bin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8"/>
          <p:cNvSpPr txBox="1"/>
          <p:nvPr/>
        </p:nvSpPr>
        <p:spPr>
          <a:xfrm>
            <a:off x="2350790" y="2798205"/>
            <a:ext cx="7706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rgbClr val="1369B2"/>
                </a:solidFill>
                <a:latin typeface="微软雅黑" charset="0"/>
                <a:ea typeface="微软雅黑" charset="0"/>
                <a:cs typeface="+mn-ea"/>
                <a:sym typeface="思源黑体 CN Medium" panose="020B0600000000000000" pitchFamily="34" charset="-122"/>
              </a:rPr>
              <a:t>盒子模型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2566814" y="2471122"/>
            <a:ext cx="7293883" cy="688075"/>
            <a:chOff x="978872" y="1800500"/>
            <a:chExt cx="5471124" cy="515937"/>
          </a:xfrm>
        </p:grpSpPr>
        <p:sp>
          <p:nvSpPr>
            <p:cNvPr id="81" name="Pentagon 3"/>
            <p:cNvSpPr/>
            <p:nvPr/>
          </p:nvSpPr>
          <p:spPr bwMode="auto">
            <a:xfrm>
              <a:off x="978872" y="1800500"/>
              <a:ext cx="5471124" cy="515937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了解盒子模型的概念，能够举例描述盒子模型结构。</a:t>
              </a:r>
              <a:endPara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2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2566814" y="3341404"/>
            <a:ext cx="7248475" cy="685959"/>
            <a:chOff x="978872" y="2570437"/>
            <a:chExt cx="5437064" cy="514350"/>
          </a:xfrm>
        </p:grpSpPr>
        <p:sp>
          <p:nvSpPr>
            <p:cNvPr id="84" name="Pentagon 5"/>
            <p:cNvSpPr/>
            <p:nvPr/>
          </p:nvSpPr>
          <p:spPr bwMode="auto">
            <a:xfrm>
              <a:off x="978872" y="2570437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掌握元素的类型，能够归纳不同元素类型的特点。</a:t>
              </a:r>
              <a:endPara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5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2566814" y="4255804"/>
            <a:ext cx="7248475" cy="685959"/>
            <a:chOff x="978872" y="2570437"/>
            <a:chExt cx="5437064" cy="514350"/>
          </a:xfrm>
        </p:grpSpPr>
        <p:sp>
          <p:nvSpPr>
            <p:cNvPr id="17" name="Pentagon 5"/>
            <p:cNvSpPr/>
            <p:nvPr/>
          </p:nvSpPr>
          <p:spPr bwMode="auto">
            <a:xfrm>
              <a:off x="978872" y="2570437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熟悉常见的布局类型，能够总结不同类型布局的差异。</a:t>
              </a:r>
              <a:endPara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18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6" name="组合 85"/>
          <p:cNvGrpSpPr/>
          <p:nvPr/>
        </p:nvGrpSpPr>
        <p:grpSpPr>
          <a:xfrm>
            <a:off x="2566814" y="2513510"/>
            <a:ext cx="7248475" cy="688077"/>
            <a:chOff x="978872" y="3338787"/>
            <a:chExt cx="5437064" cy="515938"/>
          </a:xfrm>
        </p:grpSpPr>
        <p:sp>
          <p:nvSpPr>
            <p:cNvPr id="87" name="Pentagon 6"/>
            <p:cNvSpPr/>
            <p:nvPr/>
          </p:nvSpPr>
          <p:spPr bwMode="auto">
            <a:xfrm>
              <a:off x="978872" y="3338787"/>
              <a:ext cx="5437064" cy="515938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掌握使用盒子模型相关属性设置不同的盒子模型样式的方法。</a:t>
              </a:r>
              <a:endPara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8" name="MH_Others_1"/>
            <p:cNvSpPr/>
            <p:nvPr/>
          </p:nvSpPr>
          <p:spPr bwMode="auto">
            <a:xfrm>
              <a:off x="985222" y="3338787"/>
              <a:ext cx="82550" cy="515938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9" name="组合 88"/>
          <p:cNvGrpSpPr/>
          <p:nvPr/>
        </p:nvGrpSpPr>
        <p:grpSpPr>
          <a:xfrm>
            <a:off x="2566814" y="3383794"/>
            <a:ext cx="7248475" cy="685959"/>
            <a:chOff x="978872" y="4108725"/>
            <a:chExt cx="5437064" cy="514350"/>
          </a:xfrm>
        </p:grpSpPr>
        <p:sp>
          <p:nvSpPr>
            <p:cNvPr id="90" name="Pentagon 7"/>
            <p:cNvSpPr/>
            <p:nvPr/>
          </p:nvSpPr>
          <p:spPr bwMode="auto">
            <a:xfrm>
              <a:off x="978872" y="4108725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掌握使用浮动和定位属性对页面进行布局的方法。</a:t>
              </a:r>
              <a:endPara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91" name="MH_Others_1"/>
            <p:cNvSpPr/>
            <p:nvPr/>
          </p:nvSpPr>
          <p:spPr bwMode="auto">
            <a:xfrm>
              <a:off x="985222" y="4108725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2566814" y="4327691"/>
            <a:ext cx="7248475" cy="685959"/>
            <a:chOff x="978872" y="4108725"/>
            <a:chExt cx="5437064" cy="514350"/>
          </a:xfrm>
        </p:grpSpPr>
        <p:sp>
          <p:nvSpPr>
            <p:cNvPr id="17" name="Pentagon 7"/>
            <p:cNvSpPr/>
            <p:nvPr/>
          </p:nvSpPr>
          <p:spPr bwMode="auto">
            <a:xfrm>
              <a:off x="978872" y="4108725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掌握清除元素浮动的方法。</a:t>
              </a:r>
              <a:endPara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18" name="MH_Others_1"/>
            <p:cNvSpPr/>
            <p:nvPr/>
          </p:nvSpPr>
          <p:spPr bwMode="auto">
            <a:xfrm>
              <a:off x="985222" y="4108725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47072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2386013" y="2501580"/>
            <a:ext cx="1192190" cy="613062"/>
            <a:chOff x="2215144" y="982844"/>
            <a:chExt cx="1244730" cy="842780"/>
          </a:xfrm>
        </p:grpSpPr>
        <p:sp>
          <p:nvSpPr>
            <p:cNvPr id="46" name="平行四边形 45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7" name="文本框 9"/>
            <p:cNvSpPr txBox="1"/>
            <p:nvPr/>
          </p:nvSpPr>
          <p:spPr>
            <a:xfrm>
              <a:off x="2393075" y="1005670"/>
              <a:ext cx="1066799" cy="803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2386013" y="3421978"/>
            <a:ext cx="1192190" cy="618406"/>
            <a:chOff x="2215144" y="2026500"/>
            <a:chExt cx="1244730" cy="850129"/>
          </a:xfrm>
        </p:grpSpPr>
        <p:sp>
          <p:nvSpPr>
            <p:cNvPr id="49" name="平行四边形 48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0" name="文本框 10"/>
            <p:cNvSpPr txBox="1"/>
            <p:nvPr/>
          </p:nvSpPr>
          <p:spPr>
            <a:xfrm>
              <a:off x="2393075" y="2026500"/>
              <a:ext cx="1066799" cy="803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2386013" y="4352556"/>
            <a:ext cx="1192190" cy="614525"/>
            <a:chOff x="2215144" y="3084852"/>
            <a:chExt cx="1244730" cy="844793"/>
          </a:xfrm>
        </p:grpSpPr>
        <p:sp>
          <p:nvSpPr>
            <p:cNvPr id="52" name="平行四边形 51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3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3291565" y="2479401"/>
            <a:ext cx="6655710" cy="613062"/>
            <a:chOff x="4315150" y="953426"/>
            <a:chExt cx="4992432" cy="540057"/>
          </a:xfrm>
        </p:grpSpPr>
        <p:sp>
          <p:nvSpPr>
            <p:cNvPr id="61" name="矩形 60"/>
            <p:cNvSpPr/>
            <p:nvPr/>
          </p:nvSpPr>
          <p:spPr>
            <a:xfrm>
              <a:off x="4841196" y="1080292"/>
              <a:ext cx="2827147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4-1】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认识盒子模型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2" name="平行四边形 61"/>
            <p:cNvSpPr/>
            <p:nvPr/>
          </p:nvSpPr>
          <p:spPr>
            <a:xfrm>
              <a:off x="4315150" y="953426"/>
              <a:ext cx="4992432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3291565" y="3405152"/>
            <a:ext cx="6655710" cy="613062"/>
            <a:chOff x="4315150" y="1647579"/>
            <a:chExt cx="4992432" cy="540057"/>
          </a:xfrm>
        </p:grpSpPr>
        <p:sp>
          <p:nvSpPr>
            <p:cNvPr id="64" name="矩形 63"/>
            <p:cNvSpPr/>
            <p:nvPr/>
          </p:nvSpPr>
          <p:spPr>
            <a:xfrm>
              <a:off x="4841196" y="1783565"/>
              <a:ext cx="2827147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4-2】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盒子模型的基础属性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5" name="平行四边形 64"/>
            <p:cNvSpPr/>
            <p:nvPr/>
          </p:nvSpPr>
          <p:spPr>
            <a:xfrm>
              <a:off x="4315150" y="1647579"/>
              <a:ext cx="4992432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3291565" y="4330903"/>
            <a:ext cx="6655710" cy="613062"/>
            <a:chOff x="4315150" y="2341731"/>
            <a:chExt cx="4992432" cy="540057"/>
          </a:xfrm>
        </p:grpSpPr>
        <p:sp>
          <p:nvSpPr>
            <p:cNvPr id="67" name="矩形 66"/>
            <p:cNvSpPr/>
            <p:nvPr/>
          </p:nvSpPr>
          <p:spPr>
            <a:xfrm>
              <a:off x="4841197" y="2498986"/>
              <a:ext cx="3133455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4-3】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盒子模型新增属性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8" name="平行四边形 67"/>
            <p:cNvSpPr/>
            <p:nvPr/>
          </p:nvSpPr>
          <p:spPr>
            <a:xfrm>
              <a:off x="4315150" y="2341731"/>
              <a:ext cx="4992432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30845"/>
            <a:ext cx="7957137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4-1】</a:t>
            </a:r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认识</a:t>
            </a:r>
            <a:r>
              <a:rPr lang="zh-CN" altLang="en-US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盒子模型</a:t>
            </a:r>
            <a:endParaRPr lang="en-GB" altLang="zh-CN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01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847990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5087094" y="3136642"/>
            <a:ext cx="6264696" cy="1508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盒子模型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是网页布局的基础，读者只有掌握了盒子模型的各种规律，才可以更好地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控制网页中各个元素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。下面将带领读者认识盒子模型。</a:t>
            </a:r>
          </a:p>
        </p:txBody>
      </p:sp>
      <p:sp>
        <p:nvSpPr>
          <p:cNvPr id="5" name="矩形 4"/>
          <p:cNvSpPr/>
          <p:nvPr/>
        </p:nvSpPr>
        <p:spPr>
          <a:xfrm>
            <a:off x="1702718" y="5590034"/>
            <a:ext cx="9721080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认识盒子模型</a:t>
            </a:r>
            <a:endParaRPr lang="zh-CN" altLang="en-US" sz="2000" dirty="0"/>
          </a:p>
        </p:txBody>
      </p:sp>
      <p:sp>
        <p:nvSpPr>
          <p:cNvPr id="14" name="云形标注 13"/>
          <p:cNvSpPr/>
          <p:nvPr/>
        </p:nvSpPr>
        <p:spPr>
          <a:xfrm>
            <a:off x="1019175" y="1588272"/>
            <a:ext cx="6316134" cy="3098800"/>
          </a:xfrm>
          <a:prstGeom prst="cloudCallout">
            <a:avLst>
              <a:gd name="adj1" fmla="val 64873"/>
              <a:gd name="adj2" fmla="val 42348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4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76" t="1975" r="11457" b="7902"/>
          <a:stretch>
            <a:fillRect/>
          </a:stretch>
        </p:blipFill>
        <p:spPr bwMode="auto">
          <a:xfrm>
            <a:off x="8351340" y="1876139"/>
            <a:ext cx="2944985" cy="467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/>
          <p:cNvSpPr/>
          <p:nvPr/>
        </p:nvSpPr>
        <p:spPr>
          <a:xfrm>
            <a:off x="2018579" y="2685338"/>
            <a:ext cx="428835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什么是盒子模型？</a:t>
            </a:r>
          </a:p>
        </p:txBody>
      </p:sp>
    </p:spTree>
    <p:extLst>
      <p:ext uri="{BB962C8B-B14F-4D97-AF65-F5344CB8AC3E}">
        <p14:creationId xmlns:p14="http://schemas.microsoft.com/office/powerpoint/2010/main" val="3596679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认识盒子模型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550326" y="3486182"/>
            <a:ext cx="3737363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了解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盒子模型，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能够举例说明盒子模型的构成和作用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3385685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认识盒子模型</a:t>
            </a:r>
            <a:endParaRPr lang="zh-CN" altLang="en-US" sz="2000" dirty="0"/>
          </a:p>
        </p:txBody>
      </p:sp>
      <p:pic>
        <p:nvPicPr>
          <p:cNvPr id="65538" name="图片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2537" y="1917754"/>
            <a:ext cx="5267325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8" name="组合 27"/>
          <p:cNvGrpSpPr>
            <a:grpSpLocks/>
          </p:cNvGrpSpPr>
          <p:nvPr/>
        </p:nvGrpSpPr>
        <p:grpSpPr bwMode="auto">
          <a:xfrm rot="10800000">
            <a:off x="1143692" y="2970769"/>
            <a:ext cx="4521200" cy="2781104"/>
            <a:chOff x="4605251" y="4255330"/>
            <a:chExt cx="4521295" cy="2033637"/>
          </a:xfrm>
        </p:grpSpPr>
        <p:sp>
          <p:nvSpPr>
            <p:cNvPr id="29" name="圆角矩形标注 28"/>
            <p:cNvSpPr/>
            <p:nvPr/>
          </p:nvSpPr>
          <p:spPr bwMode="auto">
            <a:xfrm rot="5400000">
              <a:off x="5849080" y="3011501"/>
              <a:ext cx="2033637" cy="4521295"/>
            </a:xfrm>
            <a:prstGeom prst="wedgeRoundRectCallout">
              <a:avLst/>
            </a:prstGeom>
            <a:solidFill>
              <a:schemeClr val="bg1"/>
            </a:solidFill>
            <a:ln w="190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buFont typeface="Arial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30" name="矩形 1"/>
            <p:cNvSpPr>
              <a:spLocks noChangeArrowheads="1"/>
            </p:cNvSpPr>
            <p:nvPr/>
          </p:nvSpPr>
          <p:spPr bwMode="auto">
            <a:xfrm rot="10800000">
              <a:off x="4997414" y="4460937"/>
              <a:ext cx="3736970" cy="15866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在浏览网站时，我们会发现页面的内容都是按照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区域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划分的。页面中的每一块区域分别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承载不同的内容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。因此网页的内容虽然零散，但在版式排列上依然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清晰有条理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36452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2" name="图片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5954" y="1665288"/>
            <a:ext cx="5556259" cy="3688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认识盒子模型</a:t>
            </a:r>
            <a:endParaRPr lang="zh-CN" altLang="en-US" sz="2000" dirty="0"/>
          </a:p>
        </p:txBody>
      </p:sp>
      <p:grpSp>
        <p:nvGrpSpPr>
          <p:cNvPr id="28" name="组合 27"/>
          <p:cNvGrpSpPr>
            <a:grpSpLocks/>
          </p:cNvGrpSpPr>
          <p:nvPr/>
        </p:nvGrpSpPr>
        <p:grpSpPr bwMode="auto">
          <a:xfrm rot="10800000">
            <a:off x="1143692" y="2572855"/>
            <a:ext cx="4521200" cy="2781104"/>
            <a:chOff x="4605251" y="4255330"/>
            <a:chExt cx="4521295" cy="2033637"/>
          </a:xfrm>
        </p:grpSpPr>
        <p:sp>
          <p:nvSpPr>
            <p:cNvPr id="29" name="圆角矩形标注 28"/>
            <p:cNvSpPr/>
            <p:nvPr/>
          </p:nvSpPr>
          <p:spPr bwMode="auto">
            <a:xfrm rot="5400000">
              <a:off x="5849080" y="3011501"/>
              <a:ext cx="2033637" cy="4521295"/>
            </a:xfrm>
            <a:prstGeom prst="wedgeRoundRectCallout">
              <a:avLst/>
            </a:prstGeom>
            <a:solidFill>
              <a:schemeClr val="bg1"/>
            </a:solidFill>
            <a:ln w="190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buFont typeface="Arial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30" name="矩形 1"/>
            <p:cNvSpPr>
              <a:spLocks noChangeArrowheads="1"/>
            </p:cNvSpPr>
            <p:nvPr/>
          </p:nvSpPr>
          <p:spPr bwMode="auto">
            <a:xfrm rot="10800000">
              <a:off x="4997414" y="4309024"/>
              <a:ext cx="3736970" cy="1890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盒子模型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就是把页面中的</a:t>
              </a:r>
              <a:r>
                <a:rPr lang="en-US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元素看作一个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方形的盒子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，也可以理解为一个盛装内容的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容器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。每个盒子（容器）都由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元素的内容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内边距（</a:t>
              </a: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padding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边框（</a:t>
              </a: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border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外边距（</a:t>
              </a: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margin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组成。</a:t>
              </a:r>
            </a:p>
          </p:txBody>
        </p:sp>
      </p:grpSp>
      <p:sp>
        <p:nvSpPr>
          <p:cNvPr id="10" name="矩形 45"/>
          <p:cNvSpPr>
            <a:spLocks noChangeArrowheads="1"/>
          </p:cNvSpPr>
          <p:nvPr/>
        </p:nvSpPr>
        <p:spPr bwMode="auto">
          <a:xfrm>
            <a:off x="1143691" y="5535303"/>
            <a:ext cx="10208522" cy="787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注意：虽然盒子模型拥有内边距、边框、外边距、宽度和高度这些基本属性，但是并不要求每个盒子模型都必须定义这些属性。</a:t>
            </a:r>
          </a:p>
        </p:txBody>
      </p:sp>
    </p:spTree>
    <p:extLst>
      <p:ext uri="{BB962C8B-B14F-4D97-AF65-F5344CB8AC3E}">
        <p14:creationId xmlns:p14="http://schemas.microsoft.com/office/powerpoint/2010/main" val="2484860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30845"/>
            <a:ext cx="7957137" cy="769441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4-2】</a:t>
            </a:r>
            <a:r>
              <a:rPr lang="zh-CN" altLang="en-US" sz="44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盒子模型</a:t>
            </a:r>
            <a:r>
              <a:rPr lang="zh-CN" altLang="en-US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基础属性</a:t>
            </a:r>
            <a:endParaRPr lang="en-GB" altLang="zh-CN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02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75611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847990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5087094" y="3136642"/>
            <a:ext cx="6264696" cy="1969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盒子模型的基础属性包括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边框属性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、内边距属性、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外边距属性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宽度属性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高度属性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。通过设置这些属性可使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元素的表现形式更加多样化。下面将带领读者认识盒子模型的基础属性。</a:t>
            </a:r>
          </a:p>
        </p:txBody>
      </p:sp>
      <p:sp>
        <p:nvSpPr>
          <p:cNvPr id="5" name="矩形 4"/>
          <p:cNvSpPr/>
          <p:nvPr/>
        </p:nvSpPr>
        <p:spPr>
          <a:xfrm>
            <a:off x="1702718" y="5590034"/>
            <a:ext cx="9721080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753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边框属性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72367" y="3355761"/>
            <a:ext cx="3884345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掌握设置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边框属性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的方法，在网页中能够设置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边框样式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、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边框宽度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和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边框颜色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等。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3860261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边框属性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1840956"/>
              <a:ext cx="9297926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为了分割页面中不同的盒子，常常需要给元素设置边框效果。在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中，我们可以设置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单侧边框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（上边框、下边框、左边框、右边框）的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样式属性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宽度属性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，也可以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综合设置边框的这些属性。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0478114"/>
              </p:ext>
            </p:extLst>
          </p:nvPr>
        </p:nvGraphicFramePr>
        <p:xfrm>
          <a:off x="1143692" y="2948840"/>
          <a:ext cx="9932428" cy="35298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94337">
                  <a:extLst>
                    <a:ext uri="{9D8B030D-6E8A-4147-A177-3AD203B41FA5}">
                      <a16:colId xmlns:a16="http://schemas.microsoft.com/office/drawing/2014/main" val="1975838263"/>
                    </a:ext>
                  </a:extLst>
                </a:gridCol>
                <a:gridCol w="3812797">
                  <a:extLst>
                    <a:ext uri="{9D8B030D-6E8A-4147-A177-3AD203B41FA5}">
                      <a16:colId xmlns:a16="http://schemas.microsoft.com/office/drawing/2014/main" val="2594003755"/>
                    </a:ext>
                  </a:extLst>
                </a:gridCol>
                <a:gridCol w="2625294">
                  <a:extLst>
                    <a:ext uri="{9D8B030D-6E8A-4147-A177-3AD203B41FA5}">
                      <a16:colId xmlns:a16="http://schemas.microsoft.com/office/drawing/2014/main" val="3957606788"/>
                    </a:ext>
                  </a:extLst>
                </a:gridCol>
              </a:tblGrid>
              <a:tr h="60375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设置内容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样式属性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常用属性值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534558"/>
                  </a:ext>
                </a:extLst>
              </a:tr>
              <a:tr h="126365">
                <a:tc rowSpan="4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上边框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border-top-style: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样式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8444743"/>
                  </a:ext>
                </a:extLst>
              </a:tr>
              <a:tr h="12636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border-top-width: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宽度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5738126"/>
                  </a:ext>
                </a:extLst>
              </a:tr>
              <a:tr h="12636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border-top-color: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颜色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99812"/>
                  </a:ext>
                </a:extLst>
              </a:tr>
              <a:tr h="12636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border-top: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宽度 样式 颜色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078056"/>
                  </a:ext>
                </a:extLst>
              </a:tr>
              <a:tr h="126365">
                <a:tc rowSpan="4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下边框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border-bottom-style: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样式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4253522"/>
                  </a:ext>
                </a:extLst>
              </a:tr>
              <a:tr h="12636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 bottom-width: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宽度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8177704"/>
                  </a:ext>
                </a:extLst>
              </a:tr>
              <a:tr h="12636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 bottom-color: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颜色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289556"/>
                  </a:ext>
                </a:extLst>
              </a:tr>
              <a:tr h="12636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border-bottom: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宽度 样式 颜色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5116417"/>
                  </a:ext>
                </a:extLst>
              </a:tr>
              <a:tr h="126365">
                <a:tc row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左边框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border-left-style: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样式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754267"/>
                  </a:ext>
                </a:extLst>
              </a:tr>
              <a:tr h="12636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border-left-width: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宽度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9691396"/>
                  </a:ext>
                </a:extLst>
              </a:tr>
              <a:tr h="12636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border-left-color: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颜色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2192069"/>
                  </a:ext>
                </a:extLst>
              </a:tr>
              <a:tr h="12636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border-left: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宽度 样式 颜色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2147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3360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边框属性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1840956"/>
              <a:ext cx="9297926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为了分割页面中不同的盒子，常常需要给元素设置边框效果。在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中，我们可以设置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单侧边框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（上边框、下边框、左边框、右边框）的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样式属性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宽度属性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，也可以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综合设置边框的这些属性。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4905048"/>
              </p:ext>
            </p:extLst>
          </p:nvPr>
        </p:nvGraphicFramePr>
        <p:xfrm>
          <a:off x="1216852" y="2971937"/>
          <a:ext cx="9932428" cy="36876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94337">
                  <a:extLst>
                    <a:ext uri="{9D8B030D-6E8A-4147-A177-3AD203B41FA5}">
                      <a16:colId xmlns:a16="http://schemas.microsoft.com/office/drawing/2014/main" val="2473905821"/>
                    </a:ext>
                  </a:extLst>
                </a:gridCol>
                <a:gridCol w="3812797">
                  <a:extLst>
                    <a:ext uri="{9D8B030D-6E8A-4147-A177-3AD203B41FA5}">
                      <a16:colId xmlns:a16="http://schemas.microsoft.com/office/drawing/2014/main" val="414661378"/>
                    </a:ext>
                  </a:extLst>
                </a:gridCol>
                <a:gridCol w="2625294">
                  <a:extLst>
                    <a:ext uri="{9D8B030D-6E8A-4147-A177-3AD203B41FA5}">
                      <a16:colId xmlns:a16="http://schemas.microsoft.com/office/drawing/2014/main" val="3495404737"/>
                    </a:ext>
                  </a:extLst>
                </a:gridCol>
              </a:tblGrid>
              <a:tr h="4273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设置内容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样式属性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常用属性值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2379164"/>
                  </a:ext>
                </a:extLst>
              </a:tr>
              <a:tr h="284928">
                <a:tc rowSpan="3">
                  <a:txBody>
                    <a:bodyPr/>
                    <a:lstStyle/>
                    <a:p>
                      <a:pPr algn="ctr"/>
                      <a:endParaRPr lang="en-US" altLang="zh-CN" sz="16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6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右边框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border-right-width: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宽度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 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433794"/>
                  </a:ext>
                </a:extLst>
              </a:tr>
              <a:tr h="28492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border-right-color: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颜色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74502"/>
                  </a:ext>
                </a:extLst>
              </a:tr>
              <a:tr h="28492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border-right: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宽度 样式 颜色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7178333"/>
                  </a:ext>
                </a:extLst>
              </a:tr>
              <a:tr h="8547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综合设置边框样式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border-style: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上边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[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右边 下边 左边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];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none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无（默认）、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solid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单实线、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dashed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虚线、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dotted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点线、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double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双实线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80666"/>
                  </a:ext>
                </a:extLst>
              </a:tr>
              <a:tr h="29038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综合设置边框宽度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border-width: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上边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[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右边 下边 左边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];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像素值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256560"/>
                  </a:ext>
                </a:extLst>
              </a:tr>
              <a:tr h="8547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综合设置边框颜色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border-color: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上边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[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右边 下边 左边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];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颜色英文单词、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#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十六进制颜色值、</a:t>
                      </a:r>
                      <a:r>
                        <a:rPr lang="en-US" sz="160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rgb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160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r,g,b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sz="160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rgb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160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r%,g%,b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%)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5616204"/>
                  </a:ext>
                </a:extLst>
              </a:tr>
              <a:tr h="28492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综合设置边框全部属性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border: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四边宽度 四边样式 四边颜色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68652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9201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边框属性</a:t>
            </a:r>
            <a:endParaRPr lang="zh-CN" altLang="en-US" sz="2000" dirty="0"/>
          </a:p>
        </p:txBody>
      </p:sp>
      <p:grpSp>
        <p:nvGrpSpPr>
          <p:cNvPr id="11" name="组合 10"/>
          <p:cNvGrpSpPr>
            <a:grpSpLocks/>
          </p:cNvGrpSpPr>
          <p:nvPr/>
        </p:nvGrpSpPr>
        <p:grpSpPr bwMode="auto">
          <a:xfrm>
            <a:off x="1737631" y="2790279"/>
            <a:ext cx="2468562" cy="582613"/>
            <a:chOff x="783123" y="2078992"/>
            <a:chExt cx="2468077" cy="583245"/>
          </a:xfrm>
        </p:grpSpPr>
        <p:sp>
          <p:nvSpPr>
            <p:cNvPr id="12" name="矩形 11"/>
            <p:cNvSpPr/>
            <p:nvPr/>
          </p:nvSpPr>
          <p:spPr bwMode="auto">
            <a:xfrm>
              <a:off x="783123" y="2078992"/>
              <a:ext cx="2468077" cy="583245"/>
            </a:xfrm>
            <a:prstGeom prst="rect">
              <a:avLst/>
            </a:pr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fillRef>
            <a:effect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6" name="TextBox 16"/>
            <p:cNvSpPr txBox="1">
              <a:spLocks noChangeArrowheads="1"/>
            </p:cNvSpPr>
            <p:nvPr/>
          </p:nvSpPr>
          <p:spPr bwMode="auto">
            <a:xfrm>
              <a:off x="792744" y="2129792"/>
              <a:ext cx="245845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边框样式</a:t>
              </a:r>
            </a:p>
          </p:txBody>
        </p:sp>
      </p:grpSp>
      <p:grpSp>
        <p:nvGrpSpPr>
          <p:cNvPr id="17" name="组合 16"/>
          <p:cNvGrpSpPr>
            <a:grpSpLocks/>
          </p:cNvGrpSpPr>
          <p:nvPr/>
        </p:nvGrpSpPr>
        <p:grpSpPr bwMode="auto">
          <a:xfrm>
            <a:off x="1739218" y="3399881"/>
            <a:ext cx="2468563" cy="1448839"/>
            <a:chOff x="810248" y="3425192"/>
            <a:chExt cx="2468077" cy="1450410"/>
          </a:xfrm>
        </p:grpSpPr>
        <p:sp>
          <p:nvSpPr>
            <p:cNvPr id="18" name="矩形 17"/>
            <p:cNvSpPr/>
            <p:nvPr/>
          </p:nvSpPr>
          <p:spPr bwMode="auto">
            <a:xfrm>
              <a:off x="810248" y="3425192"/>
              <a:ext cx="2468077" cy="1450410"/>
            </a:xfrm>
            <a:prstGeom prst="rect">
              <a:avLst/>
            </a:prstGeom>
            <a:solidFill>
              <a:schemeClr val="bg1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fillRef>
            <a:effect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9" name="矩形 1"/>
            <p:cNvSpPr>
              <a:spLocks noChangeArrowheads="1"/>
            </p:cNvSpPr>
            <p:nvPr/>
          </p:nvSpPr>
          <p:spPr bwMode="auto">
            <a:xfrm>
              <a:off x="1301354" y="3461266"/>
              <a:ext cx="1338564" cy="1291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用于定义</a:t>
              </a:r>
              <a:endPara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页面中边框</a:t>
              </a:r>
              <a:endPara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的风格</a:t>
              </a:r>
            </a:p>
          </p:txBody>
        </p:sp>
      </p:grpSp>
      <p:sp>
        <p:nvSpPr>
          <p:cNvPr id="20" name="左大括号 19"/>
          <p:cNvSpPr>
            <a:spLocks/>
          </p:cNvSpPr>
          <p:nvPr/>
        </p:nvSpPr>
        <p:spPr bwMode="auto">
          <a:xfrm>
            <a:off x="4395528" y="2385859"/>
            <a:ext cx="114237" cy="3394010"/>
          </a:xfrm>
          <a:prstGeom prst="leftBrace">
            <a:avLst>
              <a:gd name="adj1" fmla="val 8317"/>
              <a:gd name="adj2" fmla="val 50000"/>
            </a:avLst>
          </a:prstGeom>
          <a:noFill/>
          <a:ln w="28575" algn="ctr">
            <a:solidFill>
              <a:srgbClr val="1369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" name="组合 20"/>
          <p:cNvGrpSpPr>
            <a:grpSpLocks/>
          </p:cNvGrpSpPr>
          <p:nvPr/>
        </p:nvGrpSpPr>
        <p:grpSpPr bwMode="auto">
          <a:xfrm>
            <a:off x="4638417" y="2165198"/>
            <a:ext cx="5975119" cy="373062"/>
            <a:chOff x="3652415" y="2180389"/>
            <a:chExt cx="5976596" cy="372712"/>
          </a:xfrm>
        </p:grpSpPr>
        <p:sp>
          <p:nvSpPr>
            <p:cNvPr id="22" name="任意多边形 21"/>
            <p:cNvSpPr/>
            <p:nvPr/>
          </p:nvSpPr>
          <p:spPr bwMode="auto">
            <a:xfrm>
              <a:off x="3652415" y="2204179"/>
              <a:ext cx="347748" cy="348922"/>
            </a:xfrm>
            <a:custGeom>
              <a:avLst/>
              <a:gdLst>
                <a:gd name="connsiteX0" fmla="*/ 0 w 1690687"/>
                <a:gd name="connsiteY0" fmla="*/ 845344 h 1690687"/>
                <a:gd name="connsiteX1" fmla="*/ 845344 w 1690687"/>
                <a:gd name="connsiteY1" fmla="*/ 0 h 1690687"/>
                <a:gd name="connsiteX2" fmla="*/ 1690688 w 1690687"/>
                <a:gd name="connsiteY2" fmla="*/ 845344 h 1690687"/>
                <a:gd name="connsiteX3" fmla="*/ 845344 w 1690687"/>
                <a:gd name="connsiteY3" fmla="*/ 1690688 h 1690687"/>
                <a:gd name="connsiteX4" fmla="*/ 0 w 1690687"/>
                <a:gd name="connsiteY4" fmla="*/ 845344 h 1690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0687" h="1690687">
                  <a:moveTo>
                    <a:pt x="0" y="845344"/>
                  </a:moveTo>
                  <a:cubicBezTo>
                    <a:pt x="0" y="378473"/>
                    <a:pt x="378473" y="0"/>
                    <a:pt x="845344" y="0"/>
                  </a:cubicBezTo>
                  <a:cubicBezTo>
                    <a:pt x="1312215" y="0"/>
                    <a:pt x="1690688" y="378473"/>
                    <a:pt x="1690688" y="845344"/>
                  </a:cubicBezTo>
                  <a:cubicBezTo>
                    <a:pt x="1690688" y="1312215"/>
                    <a:pt x="1312215" y="1690688"/>
                    <a:pt x="845344" y="1690688"/>
                  </a:cubicBezTo>
                  <a:cubicBezTo>
                    <a:pt x="378473" y="1690688"/>
                    <a:pt x="0" y="1312215"/>
                    <a:pt x="0" y="845344"/>
                  </a:cubicBezTo>
                  <a:close/>
                </a:path>
              </a:pathLst>
            </a:custGeom>
            <a:solidFill>
              <a:srgbClr val="1369B2"/>
            </a:solidFill>
            <a:ln>
              <a:solidFill>
                <a:schemeClr val="bg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247595" tIns="247595" rIns="247595" bIns="247595" spcCol="1270" anchor="ctr"/>
            <a:lstStyle/>
            <a:p>
              <a:pPr algn="ctr" defTabSz="18224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矩形 46"/>
            <p:cNvSpPr>
              <a:spLocks noChangeArrowheads="1"/>
            </p:cNvSpPr>
            <p:nvPr/>
          </p:nvSpPr>
          <p:spPr bwMode="auto">
            <a:xfrm>
              <a:off x="4031224" y="2180389"/>
              <a:ext cx="5597787" cy="3689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lvl="1" latinLnBrk="1"/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none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：没有边框即忽略所有边框的宽度（默认值）。</a:t>
              </a:r>
              <a:endPara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7" name="组合 26"/>
          <p:cNvGrpSpPr>
            <a:grpSpLocks/>
          </p:cNvGrpSpPr>
          <p:nvPr/>
        </p:nvGrpSpPr>
        <p:grpSpPr bwMode="auto">
          <a:xfrm>
            <a:off x="4638418" y="3002005"/>
            <a:ext cx="2934269" cy="373063"/>
            <a:chOff x="3652415" y="2180389"/>
            <a:chExt cx="2934644" cy="372797"/>
          </a:xfrm>
        </p:grpSpPr>
        <p:sp>
          <p:nvSpPr>
            <p:cNvPr id="28" name="任意多边形 27"/>
            <p:cNvSpPr/>
            <p:nvPr/>
          </p:nvSpPr>
          <p:spPr bwMode="auto">
            <a:xfrm>
              <a:off x="3652415" y="2204185"/>
              <a:ext cx="347706" cy="349001"/>
            </a:xfrm>
            <a:custGeom>
              <a:avLst/>
              <a:gdLst>
                <a:gd name="connsiteX0" fmla="*/ 0 w 1690687"/>
                <a:gd name="connsiteY0" fmla="*/ 845344 h 1690687"/>
                <a:gd name="connsiteX1" fmla="*/ 845344 w 1690687"/>
                <a:gd name="connsiteY1" fmla="*/ 0 h 1690687"/>
                <a:gd name="connsiteX2" fmla="*/ 1690688 w 1690687"/>
                <a:gd name="connsiteY2" fmla="*/ 845344 h 1690687"/>
                <a:gd name="connsiteX3" fmla="*/ 845344 w 1690687"/>
                <a:gd name="connsiteY3" fmla="*/ 1690688 h 1690687"/>
                <a:gd name="connsiteX4" fmla="*/ 0 w 1690687"/>
                <a:gd name="connsiteY4" fmla="*/ 845344 h 1690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0687" h="1690687">
                  <a:moveTo>
                    <a:pt x="0" y="845344"/>
                  </a:moveTo>
                  <a:cubicBezTo>
                    <a:pt x="0" y="378473"/>
                    <a:pt x="378473" y="0"/>
                    <a:pt x="845344" y="0"/>
                  </a:cubicBezTo>
                  <a:cubicBezTo>
                    <a:pt x="1312215" y="0"/>
                    <a:pt x="1690688" y="378473"/>
                    <a:pt x="1690688" y="845344"/>
                  </a:cubicBezTo>
                  <a:cubicBezTo>
                    <a:pt x="1690688" y="1312215"/>
                    <a:pt x="1312215" y="1690688"/>
                    <a:pt x="845344" y="1690688"/>
                  </a:cubicBezTo>
                  <a:cubicBezTo>
                    <a:pt x="378473" y="1690688"/>
                    <a:pt x="0" y="1312215"/>
                    <a:pt x="0" y="845344"/>
                  </a:cubicBezTo>
                  <a:close/>
                </a:path>
              </a:pathLst>
            </a:custGeom>
            <a:solidFill>
              <a:srgbClr val="1369B2"/>
            </a:solidFill>
            <a:ln>
              <a:solidFill>
                <a:schemeClr val="bg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247595" tIns="247595" rIns="247595" bIns="247595" spcCol="1270" anchor="ctr"/>
            <a:lstStyle/>
            <a:p>
              <a:pPr algn="ctr" defTabSz="18224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矩形 46"/>
            <p:cNvSpPr>
              <a:spLocks noChangeArrowheads="1"/>
            </p:cNvSpPr>
            <p:nvPr/>
          </p:nvSpPr>
          <p:spPr bwMode="auto">
            <a:xfrm>
              <a:off x="4031224" y="2180389"/>
              <a:ext cx="2555835" cy="3690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lvl="1" latinLnBrk="1"/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solid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：边框为单实线。</a:t>
              </a:r>
              <a:endPara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4" name="组合 33"/>
          <p:cNvGrpSpPr>
            <a:grpSpLocks/>
          </p:cNvGrpSpPr>
          <p:nvPr/>
        </p:nvGrpSpPr>
        <p:grpSpPr bwMode="auto">
          <a:xfrm>
            <a:off x="4638417" y="3838813"/>
            <a:ext cx="2983916" cy="371476"/>
            <a:chOff x="3652415" y="2180389"/>
            <a:chExt cx="2984654" cy="371406"/>
          </a:xfrm>
        </p:grpSpPr>
        <p:sp>
          <p:nvSpPr>
            <p:cNvPr id="35" name="任意多边形 34"/>
            <p:cNvSpPr/>
            <p:nvPr/>
          </p:nvSpPr>
          <p:spPr bwMode="auto">
            <a:xfrm>
              <a:off x="3652415" y="2204198"/>
              <a:ext cx="347748" cy="347597"/>
            </a:xfrm>
            <a:custGeom>
              <a:avLst/>
              <a:gdLst>
                <a:gd name="connsiteX0" fmla="*/ 0 w 1690687"/>
                <a:gd name="connsiteY0" fmla="*/ 845344 h 1690687"/>
                <a:gd name="connsiteX1" fmla="*/ 845344 w 1690687"/>
                <a:gd name="connsiteY1" fmla="*/ 0 h 1690687"/>
                <a:gd name="connsiteX2" fmla="*/ 1690688 w 1690687"/>
                <a:gd name="connsiteY2" fmla="*/ 845344 h 1690687"/>
                <a:gd name="connsiteX3" fmla="*/ 845344 w 1690687"/>
                <a:gd name="connsiteY3" fmla="*/ 1690688 h 1690687"/>
                <a:gd name="connsiteX4" fmla="*/ 0 w 1690687"/>
                <a:gd name="connsiteY4" fmla="*/ 845344 h 1690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0687" h="1690687">
                  <a:moveTo>
                    <a:pt x="0" y="845344"/>
                  </a:moveTo>
                  <a:cubicBezTo>
                    <a:pt x="0" y="378473"/>
                    <a:pt x="378473" y="0"/>
                    <a:pt x="845344" y="0"/>
                  </a:cubicBezTo>
                  <a:cubicBezTo>
                    <a:pt x="1312215" y="0"/>
                    <a:pt x="1690688" y="378473"/>
                    <a:pt x="1690688" y="845344"/>
                  </a:cubicBezTo>
                  <a:cubicBezTo>
                    <a:pt x="1690688" y="1312215"/>
                    <a:pt x="1312215" y="1690688"/>
                    <a:pt x="845344" y="1690688"/>
                  </a:cubicBezTo>
                  <a:cubicBezTo>
                    <a:pt x="378473" y="1690688"/>
                    <a:pt x="0" y="1312215"/>
                    <a:pt x="0" y="845344"/>
                  </a:cubicBezTo>
                  <a:close/>
                </a:path>
              </a:pathLst>
            </a:custGeom>
            <a:solidFill>
              <a:srgbClr val="1369B2"/>
            </a:solidFill>
            <a:ln>
              <a:solidFill>
                <a:schemeClr val="bg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247595" tIns="247595" rIns="247595" bIns="247595" spcCol="1270" anchor="ctr"/>
            <a:lstStyle/>
            <a:p>
              <a:pPr algn="ctr" defTabSz="18224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矩形 46"/>
            <p:cNvSpPr>
              <a:spLocks noChangeArrowheads="1"/>
            </p:cNvSpPr>
            <p:nvPr/>
          </p:nvSpPr>
          <p:spPr bwMode="auto">
            <a:xfrm>
              <a:off x="4031224" y="2180389"/>
              <a:ext cx="2605845" cy="369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lvl="1" latinLnBrk="1"/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dashed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：边框为虚线。</a:t>
              </a:r>
              <a:endPara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0" name="组合 39"/>
          <p:cNvGrpSpPr>
            <a:grpSpLocks/>
          </p:cNvGrpSpPr>
          <p:nvPr/>
        </p:nvGrpSpPr>
        <p:grpSpPr bwMode="auto">
          <a:xfrm>
            <a:off x="4638418" y="4674035"/>
            <a:ext cx="2693452" cy="371476"/>
            <a:chOff x="3652415" y="2180389"/>
            <a:chExt cx="2694118" cy="371406"/>
          </a:xfrm>
        </p:grpSpPr>
        <p:sp>
          <p:nvSpPr>
            <p:cNvPr id="41" name="任意多边形 40"/>
            <p:cNvSpPr/>
            <p:nvPr/>
          </p:nvSpPr>
          <p:spPr bwMode="auto">
            <a:xfrm>
              <a:off x="3652415" y="2204198"/>
              <a:ext cx="347748" cy="347597"/>
            </a:xfrm>
            <a:custGeom>
              <a:avLst/>
              <a:gdLst>
                <a:gd name="connsiteX0" fmla="*/ 0 w 1690687"/>
                <a:gd name="connsiteY0" fmla="*/ 845344 h 1690687"/>
                <a:gd name="connsiteX1" fmla="*/ 845344 w 1690687"/>
                <a:gd name="connsiteY1" fmla="*/ 0 h 1690687"/>
                <a:gd name="connsiteX2" fmla="*/ 1690688 w 1690687"/>
                <a:gd name="connsiteY2" fmla="*/ 845344 h 1690687"/>
                <a:gd name="connsiteX3" fmla="*/ 845344 w 1690687"/>
                <a:gd name="connsiteY3" fmla="*/ 1690688 h 1690687"/>
                <a:gd name="connsiteX4" fmla="*/ 0 w 1690687"/>
                <a:gd name="connsiteY4" fmla="*/ 845344 h 1690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0687" h="1690687">
                  <a:moveTo>
                    <a:pt x="0" y="845344"/>
                  </a:moveTo>
                  <a:cubicBezTo>
                    <a:pt x="0" y="378473"/>
                    <a:pt x="378473" y="0"/>
                    <a:pt x="845344" y="0"/>
                  </a:cubicBezTo>
                  <a:cubicBezTo>
                    <a:pt x="1312215" y="0"/>
                    <a:pt x="1690688" y="378473"/>
                    <a:pt x="1690688" y="845344"/>
                  </a:cubicBezTo>
                  <a:cubicBezTo>
                    <a:pt x="1690688" y="1312215"/>
                    <a:pt x="1312215" y="1690688"/>
                    <a:pt x="845344" y="1690688"/>
                  </a:cubicBezTo>
                  <a:cubicBezTo>
                    <a:pt x="378473" y="1690688"/>
                    <a:pt x="0" y="1312215"/>
                    <a:pt x="0" y="845344"/>
                  </a:cubicBezTo>
                  <a:close/>
                </a:path>
              </a:pathLst>
            </a:custGeom>
            <a:solidFill>
              <a:srgbClr val="1369B2"/>
            </a:solidFill>
            <a:ln>
              <a:solidFill>
                <a:schemeClr val="bg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247595" tIns="247595" rIns="247595" bIns="247595" spcCol="1270" anchor="ctr"/>
            <a:lstStyle/>
            <a:p>
              <a:pPr algn="ctr" defTabSz="18224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矩形 46"/>
            <p:cNvSpPr>
              <a:spLocks noChangeArrowheads="1"/>
            </p:cNvSpPr>
            <p:nvPr/>
          </p:nvSpPr>
          <p:spPr bwMode="auto">
            <a:xfrm>
              <a:off x="4031224" y="2180389"/>
              <a:ext cx="2315309" cy="369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lvl="1" latinLnBrk="1"/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dotted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：边框为点线</a:t>
              </a:r>
              <a:endPara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3" name="组合 42"/>
          <p:cNvGrpSpPr>
            <a:grpSpLocks/>
          </p:cNvGrpSpPr>
          <p:nvPr/>
        </p:nvGrpSpPr>
        <p:grpSpPr bwMode="auto">
          <a:xfrm>
            <a:off x="4638418" y="5509257"/>
            <a:ext cx="2956666" cy="371476"/>
            <a:chOff x="3652415" y="2180389"/>
            <a:chExt cx="2957397" cy="371406"/>
          </a:xfrm>
        </p:grpSpPr>
        <p:sp>
          <p:nvSpPr>
            <p:cNvPr id="44" name="任意多边形 43"/>
            <p:cNvSpPr/>
            <p:nvPr/>
          </p:nvSpPr>
          <p:spPr bwMode="auto">
            <a:xfrm>
              <a:off x="3652415" y="2204198"/>
              <a:ext cx="347748" cy="347597"/>
            </a:xfrm>
            <a:custGeom>
              <a:avLst/>
              <a:gdLst>
                <a:gd name="connsiteX0" fmla="*/ 0 w 1690687"/>
                <a:gd name="connsiteY0" fmla="*/ 845344 h 1690687"/>
                <a:gd name="connsiteX1" fmla="*/ 845344 w 1690687"/>
                <a:gd name="connsiteY1" fmla="*/ 0 h 1690687"/>
                <a:gd name="connsiteX2" fmla="*/ 1690688 w 1690687"/>
                <a:gd name="connsiteY2" fmla="*/ 845344 h 1690687"/>
                <a:gd name="connsiteX3" fmla="*/ 845344 w 1690687"/>
                <a:gd name="connsiteY3" fmla="*/ 1690688 h 1690687"/>
                <a:gd name="connsiteX4" fmla="*/ 0 w 1690687"/>
                <a:gd name="connsiteY4" fmla="*/ 845344 h 1690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0687" h="1690687">
                  <a:moveTo>
                    <a:pt x="0" y="845344"/>
                  </a:moveTo>
                  <a:cubicBezTo>
                    <a:pt x="0" y="378473"/>
                    <a:pt x="378473" y="0"/>
                    <a:pt x="845344" y="0"/>
                  </a:cubicBezTo>
                  <a:cubicBezTo>
                    <a:pt x="1312215" y="0"/>
                    <a:pt x="1690688" y="378473"/>
                    <a:pt x="1690688" y="845344"/>
                  </a:cubicBezTo>
                  <a:cubicBezTo>
                    <a:pt x="1690688" y="1312215"/>
                    <a:pt x="1312215" y="1690688"/>
                    <a:pt x="845344" y="1690688"/>
                  </a:cubicBezTo>
                  <a:cubicBezTo>
                    <a:pt x="378473" y="1690688"/>
                    <a:pt x="0" y="1312215"/>
                    <a:pt x="0" y="845344"/>
                  </a:cubicBezTo>
                  <a:close/>
                </a:path>
              </a:pathLst>
            </a:custGeom>
            <a:solidFill>
              <a:srgbClr val="1369B2"/>
            </a:solidFill>
            <a:ln>
              <a:solidFill>
                <a:schemeClr val="bg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247595" tIns="247595" rIns="247595" bIns="247595" spcCol="1270" anchor="ctr"/>
            <a:lstStyle/>
            <a:p>
              <a:pPr algn="ctr" defTabSz="18224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矩形 46"/>
            <p:cNvSpPr>
              <a:spLocks noChangeArrowheads="1"/>
            </p:cNvSpPr>
            <p:nvPr/>
          </p:nvSpPr>
          <p:spPr bwMode="auto">
            <a:xfrm>
              <a:off x="4031224" y="2180389"/>
              <a:ext cx="2578588" cy="369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lvl="1" latinLnBrk="1"/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double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：边框为双实线</a:t>
              </a:r>
              <a:endPara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85072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边框属性</a:t>
            </a:r>
            <a:endParaRPr lang="zh-CN" altLang="en-US" sz="2000" dirty="0"/>
          </a:p>
        </p:txBody>
      </p:sp>
      <p:grpSp>
        <p:nvGrpSpPr>
          <p:cNvPr id="11" name="组合 10"/>
          <p:cNvGrpSpPr>
            <a:grpSpLocks/>
          </p:cNvGrpSpPr>
          <p:nvPr/>
        </p:nvGrpSpPr>
        <p:grpSpPr bwMode="auto">
          <a:xfrm>
            <a:off x="1457419" y="2790279"/>
            <a:ext cx="2468562" cy="582613"/>
            <a:chOff x="783123" y="2078992"/>
            <a:chExt cx="2468077" cy="583245"/>
          </a:xfrm>
        </p:grpSpPr>
        <p:sp>
          <p:nvSpPr>
            <p:cNvPr id="12" name="矩形 11"/>
            <p:cNvSpPr/>
            <p:nvPr/>
          </p:nvSpPr>
          <p:spPr bwMode="auto">
            <a:xfrm>
              <a:off x="783123" y="2078992"/>
              <a:ext cx="2468077" cy="583245"/>
            </a:xfrm>
            <a:prstGeom prst="rect">
              <a:avLst/>
            </a:pr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fillRef>
            <a:effect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6" name="TextBox 16"/>
            <p:cNvSpPr txBox="1">
              <a:spLocks noChangeArrowheads="1"/>
            </p:cNvSpPr>
            <p:nvPr/>
          </p:nvSpPr>
          <p:spPr bwMode="auto">
            <a:xfrm>
              <a:off x="792744" y="2129792"/>
              <a:ext cx="245845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边框颜色</a:t>
              </a:r>
            </a:p>
          </p:txBody>
        </p:sp>
      </p:grpSp>
      <p:grpSp>
        <p:nvGrpSpPr>
          <p:cNvPr id="17" name="组合 16"/>
          <p:cNvGrpSpPr>
            <a:grpSpLocks/>
          </p:cNvGrpSpPr>
          <p:nvPr/>
        </p:nvGrpSpPr>
        <p:grpSpPr bwMode="auto">
          <a:xfrm>
            <a:off x="1459005" y="3399881"/>
            <a:ext cx="2499617" cy="1821845"/>
            <a:chOff x="810248" y="3425191"/>
            <a:chExt cx="2499124" cy="1823820"/>
          </a:xfrm>
        </p:grpSpPr>
        <p:sp>
          <p:nvSpPr>
            <p:cNvPr id="18" name="矩形 17"/>
            <p:cNvSpPr/>
            <p:nvPr/>
          </p:nvSpPr>
          <p:spPr bwMode="auto">
            <a:xfrm>
              <a:off x="810248" y="3425191"/>
              <a:ext cx="2468077" cy="1823820"/>
            </a:xfrm>
            <a:prstGeom prst="rect">
              <a:avLst/>
            </a:prstGeom>
            <a:solidFill>
              <a:schemeClr val="bg1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fillRef>
            <a:effect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9" name="矩形 1"/>
            <p:cNvSpPr>
              <a:spLocks noChangeArrowheads="1"/>
            </p:cNvSpPr>
            <p:nvPr/>
          </p:nvSpPr>
          <p:spPr bwMode="auto">
            <a:xfrm>
              <a:off x="818283" y="3471363"/>
              <a:ext cx="2491089" cy="8753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border-color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属性用于设置边框的颜色。</a:t>
              </a:r>
            </a:p>
          </p:txBody>
        </p:sp>
        <p:sp>
          <p:nvSpPr>
            <p:cNvPr id="46" name="矩形 1"/>
            <p:cNvSpPr>
              <a:spLocks noChangeArrowheads="1"/>
            </p:cNvSpPr>
            <p:nvPr/>
          </p:nvSpPr>
          <p:spPr bwMode="auto">
            <a:xfrm>
              <a:off x="818283" y="4373658"/>
              <a:ext cx="2458454" cy="7883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red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#ff0000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rgb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(0,255,0)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" name="左大括号 19"/>
          <p:cNvSpPr>
            <a:spLocks/>
          </p:cNvSpPr>
          <p:nvPr/>
        </p:nvSpPr>
        <p:spPr bwMode="auto">
          <a:xfrm>
            <a:off x="4115317" y="2654710"/>
            <a:ext cx="105188" cy="2643572"/>
          </a:xfrm>
          <a:prstGeom prst="leftBrace">
            <a:avLst>
              <a:gd name="adj1" fmla="val 8317"/>
              <a:gd name="adj2" fmla="val 50000"/>
            </a:avLst>
          </a:prstGeom>
          <a:noFill/>
          <a:ln w="28575" algn="ctr">
            <a:solidFill>
              <a:srgbClr val="1369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0" name="组合 8"/>
          <p:cNvGrpSpPr/>
          <p:nvPr/>
        </p:nvGrpSpPr>
        <p:grpSpPr bwMode="auto">
          <a:xfrm>
            <a:off x="4272737" y="2790279"/>
            <a:ext cx="6799263" cy="2431448"/>
            <a:chOff x="920750" y="2283718"/>
            <a:chExt cx="8156200" cy="2432294"/>
          </a:xfrm>
        </p:grpSpPr>
        <p:sp>
          <p:nvSpPr>
            <p:cNvPr id="32" name="矩形 31"/>
            <p:cNvSpPr/>
            <p:nvPr/>
          </p:nvSpPr>
          <p:spPr>
            <a:xfrm>
              <a:off x="920750" y="2283718"/>
              <a:ext cx="8156200" cy="243229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1251130" y="2450369"/>
              <a:ext cx="7138403" cy="189617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border-top-color: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上边框颜色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border-right-color: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右边框颜色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border-bottom-color: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下边框颜色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border-left-color: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左边框颜色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border-color: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上边框颜色 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[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右边框颜色 下边框颜色 左边框颜色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];</a:t>
              </a:r>
            </a:p>
          </p:txBody>
        </p:sp>
      </p:grpSp>
      <p:grpSp>
        <p:nvGrpSpPr>
          <p:cNvPr id="37" name="组合 36"/>
          <p:cNvGrpSpPr>
            <a:grpSpLocks/>
          </p:cNvGrpSpPr>
          <p:nvPr/>
        </p:nvGrpSpPr>
        <p:grpSpPr bwMode="auto">
          <a:xfrm rot="16200000">
            <a:off x="8780747" y="2259168"/>
            <a:ext cx="1752190" cy="2543277"/>
            <a:chOff x="5793210" y="3878718"/>
            <a:chExt cx="2728563" cy="3961709"/>
          </a:xfrm>
        </p:grpSpPr>
        <p:sp>
          <p:nvSpPr>
            <p:cNvPr id="38" name="圆角矩形标注 37"/>
            <p:cNvSpPr/>
            <p:nvPr/>
          </p:nvSpPr>
          <p:spPr bwMode="auto">
            <a:xfrm rot="5400000" flipH="1">
              <a:off x="5176641" y="4495287"/>
              <a:ext cx="3961701" cy="2728563"/>
            </a:xfrm>
            <a:prstGeom prst="wedgeRoundRectCallout">
              <a:avLst/>
            </a:prstGeom>
            <a:solidFill>
              <a:schemeClr val="bg1"/>
            </a:solidFill>
            <a:ln w="190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buFont typeface="Arial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39" name="矩形 1"/>
            <p:cNvSpPr>
              <a:spLocks noChangeArrowheads="1"/>
            </p:cNvSpPr>
            <p:nvPr/>
          </p:nvSpPr>
          <p:spPr bwMode="auto">
            <a:xfrm rot="5400000">
              <a:off x="5619928" y="5149692"/>
              <a:ext cx="3738142" cy="1643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35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综合设置四边颜色必须按顺时针顺序采用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值复制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原则。</a:t>
              </a:r>
            </a:p>
          </p:txBody>
        </p:sp>
      </p:grpSp>
      <p:sp>
        <p:nvSpPr>
          <p:cNvPr id="21" name="矩形 45"/>
          <p:cNvSpPr>
            <a:spLocks noChangeArrowheads="1"/>
          </p:cNvSpPr>
          <p:nvPr/>
        </p:nvSpPr>
        <p:spPr bwMode="auto">
          <a:xfrm>
            <a:off x="1143691" y="5535303"/>
            <a:ext cx="10208522" cy="418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注意：使用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RGB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模式设置颜色时，如果括号里面的数值为百分比，必须把“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0”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也加上百分号，写作“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0%”</a:t>
            </a:r>
            <a:endParaRPr lang="zh-CN" altLang="en-US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12078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边框属性</a:t>
            </a:r>
            <a:endParaRPr lang="zh-CN" altLang="en-US" sz="2000" dirty="0"/>
          </a:p>
        </p:txBody>
      </p:sp>
      <p:grpSp>
        <p:nvGrpSpPr>
          <p:cNvPr id="11" name="组合 10"/>
          <p:cNvGrpSpPr>
            <a:grpSpLocks/>
          </p:cNvGrpSpPr>
          <p:nvPr/>
        </p:nvGrpSpPr>
        <p:grpSpPr bwMode="auto">
          <a:xfrm>
            <a:off x="1435703" y="2790279"/>
            <a:ext cx="2468562" cy="582613"/>
            <a:chOff x="783123" y="2078992"/>
            <a:chExt cx="2468077" cy="583245"/>
          </a:xfrm>
        </p:grpSpPr>
        <p:sp>
          <p:nvSpPr>
            <p:cNvPr id="12" name="矩形 11"/>
            <p:cNvSpPr/>
            <p:nvPr/>
          </p:nvSpPr>
          <p:spPr bwMode="auto">
            <a:xfrm>
              <a:off x="783123" y="2078992"/>
              <a:ext cx="2468077" cy="583245"/>
            </a:xfrm>
            <a:prstGeom prst="rect">
              <a:avLst/>
            </a:pr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fillRef>
            <a:effect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6" name="TextBox 16"/>
            <p:cNvSpPr txBox="1">
              <a:spLocks noChangeArrowheads="1"/>
            </p:cNvSpPr>
            <p:nvPr/>
          </p:nvSpPr>
          <p:spPr bwMode="auto">
            <a:xfrm>
              <a:off x="792744" y="2129792"/>
              <a:ext cx="245845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边框宽度</a:t>
              </a:r>
            </a:p>
          </p:txBody>
        </p:sp>
      </p:grpSp>
      <p:grpSp>
        <p:nvGrpSpPr>
          <p:cNvPr id="17" name="组合 16"/>
          <p:cNvGrpSpPr>
            <a:grpSpLocks/>
          </p:cNvGrpSpPr>
          <p:nvPr/>
        </p:nvGrpSpPr>
        <p:grpSpPr bwMode="auto">
          <a:xfrm>
            <a:off x="1437289" y="3399881"/>
            <a:ext cx="2499616" cy="1672060"/>
            <a:chOff x="810248" y="3425192"/>
            <a:chExt cx="2499124" cy="1673873"/>
          </a:xfrm>
        </p:grpSpPr>
        <p:sp>
          <p:nvSpPr>
            <p:cNvPr id="18" name="矩形 17"/>
            <p:cNvSpPr/>
            <p:nvPr/>
          </p:nvSpPr>
          <p:spPr bwMode="auto">
            <a:xfrm>
              <a:off x="810248" y="3425192"/>
              <a:ext cx="2468077" cy="1673873"/>
            </a:xfrm>
            <a:prstGeom prst="rect">
              <a:avLst/>
            </a:prstGeom>
            <a:solidFill>
              <a:schemeClr val="bg1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fillRef>
            <a:effect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9" name="矩形 1"/>
            <p:cNvSpPr>
              <a:spLocks noChangeArrowheads="1"/>
            </p:cNvSpPr>
            <p:nvPr/>
          </p:nvSpPr>
          <p:spPr bwMode="auto">
            <a:xfrm>
              <a:off x="818283" y="3471363"/>
              <a:ext cx="2491089" cy="1291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border-width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endPara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用于设置边框的宽度</a:t>
              </a:r>
              <a:endPara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常用取值单位为像素</a:t>
              </a:r>
            </a:p>
          </p:txBody>
        </p:sp>
      </p:grpSp>
      <p:sp>
        <p:nvSpPr>
          <p:cNvPr id="20" name="左大括号 19"/>
          <p:cNvSpPr>
            <a:spLocks/>
          </p:cNvSpPr>
          <p:nvPr/>
        </p:nvSpPr>
        <p:spPr bwMode="auto">
          <a:xfrm>
            <a:off x="4093601" y="2654710"/>
            <a:ext cx="105188" cy="2643572"/>
          </a:xfrm>
          <a:prstGeom prst="leftBrace">
            <a:avLst>
              <a:gd name="adj1" fmla="val 8317"/>
              <a:gd name="adj2" fmla="val 50000"/>
            </a:avLst>
          </a:prstGeom>
          <a:noFill/>
          <a:ln w="28575" algn="ctr">
            <a:solidFill>
              <a:srgbClr val="1369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0" name="组合 8"/>
          <p:cNvGrpSpPr/>
          <p:nvPr/>
        </p:nvGrpSpPr>
        <p:grpSpPr bwMode="auto">
          <a:xfrm>
            <a:off x="4251021" y="2790279"/>
            <a:ext cx="6799263" cy="2431448"/>
            <a:chOff x="920750" y="2283718"/>
            <a:chExt cx="8156200" cy="2432294"/>
          </a:xfrm>
        </p:grpSpPr>
        <p:sp>
          <p:nvSpPr>
            <p:cNvPr id="32" name="矩形 31"/>
            <p:cNvSpPr/>
            <p:nvPr/>
          </p:nvSpPr>
          <p:spPr>
            <a:xfrm>
              <a:off x="920750" y="2283718"/>
              <a:ext cx="8156200" cy="243229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1251130" y="2450369"/>
              <a:ext cx="7454608" cy="189617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border-top-width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：上边框宽度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border-right-width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：右边框宽度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border-bottom-width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：下边框宽度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border-left-width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：左边框宽度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 width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：上边框宽度 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[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右边框宽度 下边框宽度 左边框宽度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];</a:t>
              </a:r>
            </a:p>
          </p:txBody>
        </p:sp>
      </p:grpSp>
      <p:grpSp>
        <p:nvGrpSpPr>
          <p:cNvPr id="37" name="组合 36"/>
          <p:cNvGrpSpPr>
            <a:grpSpLocks/>
          </p:cNvGrpSpPr>
          <p:nvPr/>
        </p:nvGrpSpPr>
        <p:grpSpPr bwMode="auto">
          <a:xfrm rot="16200000">
            <a:off x="8759030" y="2259167"/>
            <a:ext cx="1752190" cy="2543276"/>
            <a:chOff x="5793210" y="3878718"/>
            <a:chExt cx="2728563" cy="3961707"/>
          </a:xfrm>
        </p:grpSpPr>
        <p:sp>
          <p:nvSpPr>
            <p:cNvPr id="38" name="圆角矩形标注 37"/>
            <p:cNvSpPr/>
            <p:nvPr/>
          </p:nvSpPr>
          <p:spPr bwMode="auto">
            <a:xfrm rot="5400000" flipH="1">
              <a:off x="5176641" y="4495287"/>
              <a:ext cx="3961701" cy="2728563"/>
            </a:xfrm>
            <a:prstGeom prst="wedgeRoundRectCallout">
              <a:avLst/>
            </a:prstGeom>
            <a:solidFill>
              <a:schemeClr val="bg1"/>
            </a:solidFill>
            <a:ln w="190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buFont typeface="Arial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39" name="矩形 1"/>
            <p:cNvSpPr>
              <a:spLocks noChangeArrowheads="1"/>
            </p:cNvSpPr>
            <p:nvPr/>
          </p:nvSpPr>
          <p:spPr bwMode="auto">
            <a:xfrm rot="5400000">
              <a:off x="5361116" y="4890880"/>
              <a:ext cx="3738140" cy="2160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35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综合设置四边宽度必须按上边框、右边框、下边框、左边框的顺时针顺序书写。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66915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边框属性</a:t>
            </a:r>
            <a:endParaRPr lang="zh-CN" altLang="en-US" sz="2000" dirty="0"/>
          </a:p>
        </p:txBody>
      </p:sp>
      <p:grpSp>
        <p:nvGrpSpPr>
          <p:cNvPr id="6" name="组合 5"/>
          <p:cNvGrpSpPr/>
          <p:nvPr/>
        </p:nvGrpSpPr>
        <p:grpSpPr>
          <a:xfrm>
            <a:off x="4382509" y="1782934"/>
            <a:ext cx="6200775" cy="670560"/>
            <a:chOff x="3863975" y="1743007"/>
            <a:chExt cx="4203285" cy="670560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48E86F9-97DF-1547-B35A-B4AE0E2566D5}"/>
                </a:ext>
              </a:extLst>
            </p:cNvPr>
            <p:cNvSpPr/>
            <p:nvPr/>
          </p:nvSpPr>
          <p:spPr>
            <a:xfrm>
              <a:off x="3863975" y="1743007"/>
              <a:ext cx="4203285" cy="67056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7E7BEBC0-8E74-6A44-84C1-834478E6C533}"/>
                </a:ext>
              </a:extLst>
            </p:cNvPr>
            <p:cNvSpPr txBox="1"/>
            <p:nvPr/>
          </p:nvSpPr>
          <p:spPr>
            <a:xfrm>
              <a:off x="3863975" y="1842044"/>
              <a:ext cx="420328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kern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巧用边框透明色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" name="原创设计师QQ598969553          _3"/>
          <p:cNvSpPr/>
          <p:nvPr/>
        </p:nvSpPr>
        <p:spPr>
          <a:xfrm>
            <a:off x="4382509" y="2809783"/>
            <a:ext cx="6200775" cy="3228975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原创设计师QQ598969553          _4"/>
          <p:cNvSpPr/>
          <p:nvPr/>
        </p:nvSpPr>
        <p:spPr>
          <a:xfrm>
            <a:off x="4657572" y="3186533"/>
            <a:ext cx="561672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在为元素添加边框时，如果需要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将已有的边框设置为不可见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，可使用“</a:t>
            </a:r>
            <a:r>
              <a:rPr lang="en-US" altLang="zh-CN" sz="16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border-color:transparent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”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样式，此时边框显示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透明色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。当我们需要边框可见时，再设置相应的颜色即可。通过这种设置方式可以保证元素的区域不发生变化。边框透明样式和取消边框样式不同，取消边框样式时，虽然边框也不可见，但是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边框的宽度为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</a:p>
        </p:txBody>
      </p:sp>
      <p:sp>
        <p:nvSpPr>
          <p:cNvPr id="11" name="矩形 10"/>
          <p:cNvSpPr/>
          <p:nvPr/>
        </p:nvSpPr>
        <p:spPr>
          <a:xfrm>
            <a:off x="1729826" y="1795861"/>
            <a:ext cx="238238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多学一招</a:t>
            </a:r>
            <a:r>
              <a:rPr lang="en-US" altLang="zh-CN" sz="4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:</a:t>
            </a:r>
            <a:endParaRPr lang="zh-CN" altLang="en-US" sz="40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Picture 7" descr="总结小人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363" y="1506120"/>
            <a:ext cx="3908398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844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边框属性</a:t>
            </a:r>
            <a:endParaRPr lang="zh-CN" altLang="en-US" sz="2000" dirty="0"/>
          </a:p>
        </p:txBody>
      </p:sp>
      <p:grpSp>
        <p:nvGrpSpPr>
          <p:cNvPr id="11" name="组合 10"/>
          <p:cNvGrpSpPr>
            <a:grpSpLocks/>
          </p:cNvGrpSpPr>
          <p:nvPr/>
        </p:nvGrpSpPr>
        <p:grpSpPr bwMode="auto">
          <a:xfrm>
            <a:off x="2376521" y="3613324"/>
            <a:ext cx="2468562" cy="582613"/>
            <a:chOff x="783123" y="2078992"/>
            <a:chExt cx="2468077" cy="583245"/>
          </a:xfrm>
        </p:grpSpPr>
        <p:sp>
          <p:nvSpPr>
            <p:cNvPr id="12" name="矩形 11"/>
            <p:cNvSpPr/>
            <p:nvPr/>
          </p:nvSpPr>
          <p:spPr bwMode="auto">
            <a:xfrm>
              <a:off x="783123" y="2078992"/>
              <a:ext cx="2468077" cy="583245"/>
            </a:xfrm>
            <a:prstGeom prst="rect">
              <a:avLst/>
            </a:pr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fillRef>
            <a:effect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6" name="TextBox 16"/>
            <p:cNvSpPr txBox="1">
              <a:spLocks noChangeArrowheads="1"/>
            </p:cNvSpPr>
            <p:nvPr/>
          </p:nvSpPr>
          <p:spPr bwMode="auto">
            <a:xfrm>
              <a:off x="792744" y="2129792"/>
              <a:ext cx="245845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综合设置边框</a:t>
              </a:r>
            </a:p>
          </p:txBody>
        </p:sp>
      </p:grpSp>
      <p:sp>
        <p:nvSpPr>
          <p:cNvPr id="20" name="左大括号 19"/>
          <p:cNvSpPr>
            <a:spLocks/>
          </p:cNvSpPr>
          <p:nvPr/>
        </p:nvSpPr>
        <p:spPr bwMode="auto">
          <a:xfrm>
            <a:off x="5096492" y="2654710"/>
            <a:ext cx="105188" cy="2643572"/>
          </a:xfrm>
          <a:prstGeom prst="leftBrace">
            <a:avLst>
              <a:gd name="adj1" fmla="val 8317"/>
              <a:gd name="adj2" fmla="val 50000"/>
            </a:avLst>
          </a:prstGeom>
          <a:noFill/>
          <a:ln w="28575" algn="ctr">
            <a:solidFill>
              <a:srgbClr val="1369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0" name="组合 8"/>
          <p:cNvGrpSpPr/>
          <p:nvPr/>
        </p:nvGrpSpPr>
        <p:grpSpPr bwMode="auto">
          <a:xfrm>
            <a:off x="5253912" y="2790279"/>
            <a:ext cx="4583263" cy="2431448"/>
            <a:chOff x="920750" y="2283718"/>
            <a:chExt cx="5497950" cy="2432294"/>
          </a:xfrm>
        </p:grpSpPr>
        <p:sp>
          <p:nvSpPr>
            <p:cNvPr id="32" name="矩形 31"/>
            <p:cNvSpPr/>
            <p:nvPr/>
          </p:nvSpPr>
          <p:spPr>
            <a:xfrm>
              <a:off x="920750" y="2283718"/>
              <a:ext cx="5497950" cy="243229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1251130" y="2450369"/>
              <a:ext cx="4470088" cy="189617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border-top: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上边框宽度 样式 颜色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border-right: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右边框宽度 样式 颜色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border-bottom: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下边框宽度 样式 颜色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border-left: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左边框宽度 样式 颜色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四边宽度 样式 颜色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9681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内边距属性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72367" y="3355761"/>
            <a:ext cx="3884345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掌握设置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内边距属性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的方法，在网页设计中能够调整内容在盒子中的显示位置。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1282167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内边距属性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1872508"/>
              <a:ext cx="9297926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内边距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指的是元素内容与边框之间的距离，也被称为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内填充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padding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用于设置内边距，同边框属性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border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一样，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padding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属性也是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复合属性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18" name="组合 8"/>
          <p:cNvGrpSpPr/>
          <p:nvPr/>
        </p:nvGrpSpPr>
        <p:grpSpPr bwMode="auto">
          <a:xfrm>
            <a:off x="1019176" y="3154411"/>
            <a:ext cx="10333038" cy="2474917"/>
            <a:chOff x="-569288" y="2283718"/>
            <a:chExt cx="12395214" cy="2475778"/>
          </a:xfrm>
        </p:grpSpPr>
        <p:sp>
          <p:nvSpPr>
            <p:cNvPr id="19" name="矩形 18"/>
            <p:cNvSpPr/>
            <p:nvPr/>
          </p:nvSpPr>
          <p:spPr>
            <a:xfrm>
              <a:off x="-569288" y="2283718"/>
              <a:ext cx="12395214" cy="243229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455002" y="2450369"/>
              <a:ext cx="5644528" cy="230912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padding-top: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上内边距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padding-right: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右内边距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padding-bottom: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下内边距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padding-left: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左内边距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padding: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上内边距 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[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右内边距 下内边距 左内边距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];</a:t>
              </a:r>
            </a:p>
            <a:p>
              <a:pPr>
                <a:lnSpc>
                  <a:spcPct val="150000"/>
                </a:lnSpc>
                <a:defRPr/>
              </a:pP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  <p:grpSp>
        <p:nvGrpSpPr>
          <p:cNvPr id="21" name="组合 20"/>
          <p:cNvGrpSpPr>
            <a:grpSpLocks/>
          </p:cNvGrpSpPr>
          <p:nvPr/>
        </p:nvGrpSpPr>
        <p:grpSpPr bwMode="auto">
          <a:xfrm>
            <a:off x="6578511" y="3321004"/>
            <a:ext cx="2757946" cy="1783627"/>
            <a:chOff x="4999342" y="4596733"/>
            <a:chExt cx="4294756" cy="2778388"/>
          </a:xfrm>
        </p:grpSpPr>
        <p:sp>
          <p:nvSpPr>
            <p:cNvPr id="22" name="圆角矩形标注 21"/>
            <p:cNvSpPr/>
            <p:nvPr/>
          </p:nvSpPr>
          <p:spPr bwMode="auto">
            <a:xfrm rot="5400000" flipH="1">
              <a:off x="5757526" y="3838549"/>
              <a:ext cx="2778388" cy="4294756"/>
            </a:xfrm>
            <a:prstGeom prst="wedgeRoundRectCallout">
              <a:avLst/>
            </a:prstGeom>
            <a:solidFill>
              <a:schemeClr val="bg1"/>
            </a:solidFill>
            <a:ln w="190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buFont typeface="Arial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23" name="矩形 1"/>
            <p:cNvSpPr>
              <a:spLocks noChangeArrowheads="1"/>
            </p:cNvSpPr>
            <p:nvPr/>
          </p:nvSpPr>
          <p:spPr bwMode="auto">
            <a:xfrm>
              <a:off x="5361702" y="4890542"/>
              <a:ext cx="3736969" cy="2214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35000"/>
                </a:lnSpc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Padding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取值可为：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Auto</a:t>
              </a:r>
            </a:p>
            <a:p>
              <a:pPr>
                <a:lnSpc>
                  <a:spcPct val="135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不同单位的数值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5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百分比</a:t>
              </a:r>
            </a:p>
          </p:txBody>
        </p:sp>
      </p:grpSp>
      <p:sp>
        <p:nvSpPr>
          <p:cNvPr id="24" name="矩形 45"/>
          <p:cNvSpPr>
            <a:spLocks noChangeArrowheads="1"/>
          </p:cNvSpPr>
          <p:nvPr/>
        </p:nvSpPr>
        <p:spPr bwMode="auto">
          <a:xfrm>
            <a:off x="1143691" y="5742801"/>
            <a:ext cx="1020852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注意：我们设置的内边距为百分比，都是相对于父元素宽度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width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的百分比，随父元素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width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的变化而变化，和高度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height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无关。</a:t>
            </a:r>
          </a:p>
        </p:txBody>
      </p:sp>
    </p:spTree>
    <p:extLst>
      <p:ext uri="{BB962C8B-B14F-4D97-AF65-F5344CB8AC3E}">
        <p14:creationId xmlns:p14="http://schemas.microsoft.com/office/powerpoint/2010/main" val="2320907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外边距属性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72367" y="3355761"/>
            <a:ext cx="3884345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掌握设置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外边距属性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的方法，在网页设计中能够拉开盒子与盒子之间的距离。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4006719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外边距属性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1872508"/>
              <a:ext cx="9297926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外边距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指的是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元素边框与相邻元素之间的距离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margin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用于设置外边距，它是一个复合属性，与内边距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padding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的用法类似。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18" name="组合 8"/>
          <p:cNvGrpSpPr/>
          <p:nvPr/>
        </p:nvGrpSpPr>
        <p:grpSpPr bwMode="auto">
          <a:xfrm>
            <a:off x="1019176" y="3154411"/>
            <a:ext cx="10333038" cy="2431448"/>
            <a:chOff x="-569288" y="2283718"/>
            <a:chExt cx="12395214" cy="2432294"/>
          </a:xfrm>
        </p:grpSpPr>
        <p:sp>
          <p:nvSpPr>
            <p:cNvPr id="19" name="矩形 18"/>
            <p:cNvSpPr/>
            <p:nvPr/>
          </p:nvSpPr>
          <p:spPr>
            <a:xfrm>
              <a:off x="-569288" y="2283718"/>
              <a:ext cx="12395214" cy="243229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390429" y="2551776"/>
              <a:ext cx="5569534" cy="189617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margin-top: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上外边距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margin-right: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右外边距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margin-bottom: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下外边距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margin-left: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左外边距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margin: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上外边距 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[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右外边距 下外边距 左外边距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]; </a:t>
              </a:r>
            </a:p>
          </p:txBody>
        </p:sp>
      </p:grpSp>
      <p:grpSp>
        <p:nvGrpSpPr>
          <p:cNvPr id="21" name="组合 20"/>
          <p:cNvGrpSpPr>
            <a:grpSpLocks/>
          </p:cNvGrpSpPr>
          <p:nvPr/>
        </p:nvGrpSpPr>
        <p:grpSpPr bwMode="auto">
          <a:xfrm>
            <a:off x="6578510" y="3321004"/>
            <a:ext cx="2757946" cy="1996889"/>
            <a:chOff x="4999341" y="4596734"/>
            <a:chExt cx="4294756" cy="3110590"/>
          </a:xfrm>
        </p:grpSpPr>
        <p:sp>
          <p:nvSpPr>
            <p:cNvPr id="22" name="圆角矩形标注 21"/>
            <p:cNvSpPr/>
            <p:nvPr/>
          </p:nvSpPr>
          <p:spPr bwMode="auto">
            <a:xfrm rot="5400000" flipH="1">
              <a:off x="5591424" y="4004651"/>
              <a:ext cx="3110590" cy="4294756"/>
            </a:xfrm>
            <a:prstGeom prst="wedgeRoundRectCallout">
              <a:avLst/>
            </a:prstGeom>
            <a:solidFill>
              <a:schemeClr val="bg1"/>
            </a:solidFill>
            <a:ln w="190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buFont typeface="Arial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23" name="矩形 1"/>
            <p:cNvSpPr>
              <a:spLocks noChangeArrowheads="1"/>
            </p:cNvSpPr>
            <p:nvPr/>
          </p:nvSpPr>
          <p:spPr bwMode="auto">
            <a:xfrm>
              <a:off x="5361702" y="4890542"/>
              <a:ext cx="3736969" cy="27327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35000"/>
                </a:lnSpc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margin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取值遵循值复制的原则。与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padding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取值相同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5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外边距的属性值可以使用负数。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6644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背景属性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72367" y="3355761"/>
            <a:ext cx="388434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掌握设置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背景属性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的方法，在网页设计中能够设置背景属性。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3625517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背景属性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2209865"/>
              <a:ext cx="9297926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在网页设计中，运用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background-color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属性可以设置背景颜色。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408874" y="1776747"/>
              <a:ext cx="239520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）设置背景颜色</a:t>
              </a: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1019175" y="3155325"/>
            <a:ext cx="10440988" cy="1107886"/>
            <a:chOff x="1019175" y="1680487"/>
            <a:chExt cx="10440988" cy="1107886"/>
          </a:xfrm>
        </p:grpSpPr>
        <p:sp>
          <p:nvSpPr>
            <p:cNvPr id="19" name="圆角矩形 18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0" name="TextBox 38"/>
            <p:cNvSpPr txBox="1"/>
            <p:nvPr/>
          </p:nvSpPr>
          <p:spPr>
            <a:xfrm>
              <a:off x="1642737" y="2209865"/>
              <a:ext cx="9297926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网页中的背景图像使用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background-image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属性定义。</a:t>
              </a:r>
            </a:p>
          </p:txBody>
        </p:sp>
        <p:sp>
          <p:nvSpPr>
            <p:cNvPr id="21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2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408874" y="1776747"/>
              <a:ext cx="239520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）设置背景图像</a:t>
              </a:r>
            </a:p>
          </p:txBody>
        </p:sp>
      </p:grpSp>
      <p:grpSp>
        <p:nvGrpSpPr>
          <p:cNvPr id="24" name="组合 8"/>
          <p:cNvGrpSpPr/>
          <p:nvPr/>
        </p:nvGrpSpPr>
        <p:grpSpPr bwMode="auto">
          <a:xfrm>
            <a:off x="1019176" y="4987051"/>
            <a:ext cx="10333038" cy="882807"/>
            <a:chOff x="-569288" y="2283718"/>
            <a:chExt cx="12395214" cy="883114"/>
          </a:xfrm>
        </p:grpSpPr>
        <p:sp>
          <p:nvSpPr>
            <p:cNvPr id="25" name="矩形 24"/>
            <p:cNvSpPr/>
            <p:nvPr/>
          </p:nvSpPr>
          <p:spPr>
            <a:xfrm>
              <a:off x="-569288" y="2283718"/>
              <a:ext cx="12395214" cy="8831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90429" y="2484102"/>
              <a:ext cx="4120502" cy="41833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background-image:url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(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图像路径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); </a:t>
              </a:r>
            </a:p>
          </p:txBody>
        </p:sp>
      </p:grpSp>
      <p:sp>
        <p:nvSpPr>
          <p:cNvPr id="2" name="下箭头 1"/>
          <p:cNvSpPr/>
          <p:nvPr/>
        </p:nvSpPr>
        <p:spPr>
          <a:xfrm>
            <a:off x="2094271" y="4439265"/>
            <a:ext cx="512206" cy="442451"/>
          </a:xfrm>
          <a:prstGeom prst="downArrow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2350374" y="4425076"/>
            <a:ext cx="178508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语法格式</a:t>
            </a:r>
            <a:endParaRPr lang="zh-CN" altLang="en-US" sz="2000" dirty="0">
              <a:solidFill>
                <a:srgbClr val="1369B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2377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背景属性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2209865"/>
              <a:ext cx="9297926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在网页设计中，通过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background-repeat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属性来控制背景图像平铺。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408874" y="1776747"/>
              <a:ext cx="290816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）设置背景图像平铺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2189795" y="3187719"/>
            <a:ext cx="7448881" cy="3178042"/>
            <a:chOff x="627123" y="2435096"/>
            <a:chExt cx="10756739" cy="3471772"/>
          </a:xfrm>
        </p:grpSpPr>
        <p:sp>
          <p:nvSpPr>
            <p:cNvPr id="29" name="MH_Other_1"/>
            <p:cNvSpPr/>
            <p:nvPr>
              <p:custDataLst>
                <p:tags r:id="rId1"/>
              </p:custDataLst>
            </p:nvPr>
          </p:nvSpPr>
          <p:spPr>
            <a:xfrm>
              <a:off x="7183722" y="2970901"/>
              <a:ext cx="1128476" cy="217537"/>
            </a:xfrm>
            <a:custGeom>
              <a:avLst/>
              <a:gdLst>
                <a:gd name="connsiteX0" fmla="*/ 0 w 1190172"/>
                <a:gd name="connsiteY0" fmla="*/ 217715 h 217715"/>
                <a:gd name="connsiteX1" fmla="*/ 159657 w 1190172"/>
                <a:gd name="connsiteY1" fmla="*/ 0 h 217715"/>
                <a:gd name="connsiteX2" fmla="*/ 1190172 w 1190172"/>
                <a:gd name="connsiteY2" fmla="*/ 0 h 217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172" h="217715">
                  <a:moveTo>
                    <a:pt x="0" y="217715"/>
                  </a:moveTo>
                  <a:lnTo>
                    <a:pt x="159657" y="0"/>
                  </a:lnTo>
                  <a:lnTo>
                    <a:pt x="1190172" y="0"/>
                  </a:lnTo>
                </a:path>
              </a:pathLst>
            </a:custGeom>
            <a:noFill/>
            <a:ln>
              <a:solidFill>
                <a:srgbClr val="C0C0C0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ctr" defTabSz="1087755">
                <a:defRPr/>
              </a:pPr>
              <a:endParaRPr lang="zh-CN" altLang="en-US" sz="21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lt"/>
              </a:endParaRPr>
            </a:p>
          </p:txBody>
        </p:sp>
        <p:sp>
          <p:nvSpPr>
            <p:cNvPr id="30" name="MH_SubTitle_4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8500631" y="2435096"/>
              <a:ext cx="2671929" cy="643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defTabSz="1087755">
                <a:lnSpc>
                  <a:spcPct val="120000"/>
                </a:lnSpc>
                <a:defRPr/>
              </a:pPr>
              <a:r>
                <a:rPr lang="en-US" altLang="zh-CN" sz="2000" b="1" noProof="0" dirty="0">
                  <a:ln>
                    <a:noFill/>
                  </a:ln>
                  <a:solidFill>
                    <a:srgbClr val="1369B2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rPr>
                <a:t>no-repeat</a:t>
              </a:r>
              <a:endParaRPr lang="zh-CN" altLang="en-US" sz="2000" b="1" noProof="0" dirty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endParaRPr>
            </a:p>
          </p:txBody>
        </p:sp>
        <p:sp>
          <p:nvSpPr>
            <p:cNvPr id="32" name="MH_Text_4"/>
            <p:cNvSpPr txBox="1"/>
            <p:nvPr>
              <p:custDataLst>
                <p:tags r:id="rId3"/>
              </p:custDataLst>
            </p:nvPr>
          </p:nvSpPr>
          <p:spPr>
            <a:xfrm>
              <a:off x="8500631" y="3180500"/>
              <a:ext cx="2883231" cy="1005120"/>
            </a:xfrm>
            <a:prstGeom prst="rect">
              <a:avLst/>
            </a:prstGeom>
            <a:noFill/>
          </p:spPr>
          <p:txBody>
            <a:bodyPr lIns="0" tIns="0" rIns="0" bIns="0">
              <a:noAutofit/>
            </a:bodyPr>
            <a:lstStyle/>
            <a:p>
              <a:pPr lvl="0"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rPr>
                <a:t>不平铺（图像位于元素的左上角，只显示一次）</a:t>
              </a:r>
            </a:p>
          </p:txBody>
        </p:sp>
        <p:sp>
          <p:nvSpPr>
            <p:cNvPr id="33" name="MH_Other_2"/>
            <p:cNvSpPr/>
            <p:nvPr>
              <p:custDataLst>
                <p:tags r:id="rId4"/>
              </p:custDataLst>
            </p:nvPr>
          </p:nvSpPr>
          <p:spPr>
            <a:xfrm flipH="1">
              <a:off x="3914736" y="2970901"/>
              <a:ext cx="1126360" cy="217537"/>
            </a:xfrm>
            <a:custGeom>
              <a:avLst/>
              <a:gdLst>
                <a:gd name="connsiteX0" fmla="*/ 0 w 1190172"/>
                <a:gd name="connsiteY0" fmla="*/ 217715 h 217715"/>
                <a:gd name="connsiteX1" fmla="*/ 159657 w 1190172"/>
                <a:gd name="connsiteY1" fmla="*/ 0 h 217715"/>
                <a:gd name="connsiteX2" fmla="*/ 1190172 w 1190172"/>
                <a:gd name="connsiteY2" fmla="*/ 0 h 217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172" h="217715">
                  <a:moveTo>
                    <a:pt x="0" y="217715"/>
                  </a:moveTo>
                  <a:lnTo>
                    <a:pt x="159657" y="0"/>
                  </a:lnTo>
                  <a:lnTo>
                    <a:pt x="1190172" y="0"/>
                  </a:lnTo>
                </a:path>
              </a:pathLst>
            </a:custGeom>
            <a:noFill/>
            <a:ln>
              <a:solidFill>
                <a:srgbClr val="C0C0C0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r" defTabSz="1087755">
                <a:defRPr/>
              </a:pPr>
              <a:endParaRPr lang="zh-CN" altLang="en-US" sz="21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lt"/>
              </a:endParaRPr>
            </a:p>
          </p:txBody>
        </p:sp>
        <p:sp>
          <p:nvSpPr>
            <p:cNvPr id="34" name="MH_SubTitle_1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 flipH="1">
              <a:off x="1054375" y="2435097"/>
              <a:ext cx="2671929" cy="643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r" defTabSz="1087755">
                <a:lnSpc>
                  <a:spcPct val="120000"/>
                </a:lnSpc>
                <a:defRPr/>
              </a:pPr>
              <a:r>
                <a:rPr lang="en-US" altLang="zh-CN" sz="2000" b="1" noProof="0" dirty="0">
                  <a:ln>
                    <a:noFill/>
                  </a:ln>
                  <a:solidFill>
                    <a:srgbClr val="1369B2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rPr>
                <a:t>repeat</a:t>
              </a:r>
              <a:endParaRPr lang="zh-CN" altLang="en-US" sz="2000" b="1" noProof="0" dirty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endParaRPr>
            </a:p>
          </p:txBody>
        </p:sp>
        <p:sp>
          <p:nvSpPr>
            <p:cNvPr id="35" name="MH_Text_1"/>
            <p:cNvSpPr txBox="1"/>
            <p:nvPr>
              <p:custDataLst>
                <p:tags r:id="rId6"/>
              </p:custDataLst>
            </p:nvPr>
          </p:nvSpPr>
          <p:spPr>
            <a:xfrm flipH="1">
              <a:off x="627126" y="3180500"/>
              <a:ext cx="3093356" cy="1005120"/>
            </a:xfrm>
            <a:prstGeom prst="rect">
              <a:avLst/>
            </a:prstGeom>
            <a:noFill/>
          </p:spPr>
          <p:txBody>
            <a:bodyPr lIns="0" tIns="0" rIns="0" bIns="0"/>
            <a:lstStyle/>
            <a:p>
              <a:pPr lvl="0" algn="r" defTabSz="914400"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rPr>
                <a:t>沿水平和竖直两个方向平铺（默认值）</a:t>
              </a:r>
            </a:p>
          </p:txBody>
        </p:sp>
        <p:sp>
          <p:nvSpPr>
            <p:cNvPr id="36" name="MH_Other_3"/>
            <p:cNvSpPr/>
            <p:nvPr>
              <p:custDataLst>
                <p:tags r:id="rId7"/>
              </p:custDataLst>
            </p:nvPr>
          </p:nvSpPr>
          <p:spPr>
            <a:xfrm flipV="1">
              <a:off x="7183722" y="4450794"/>
              <a:ext cx="1128476" cy="217537"/>
            </a:xfrm>
            <a:custGeom>
              <a:avLst/>
              <a:gdLst>
                <a:gd name="connsiteX0" fmla="*/ 0 w 1190172"/>
                <a:gd name="connsiteY0" fmla="*/ 217715 h 217715"/>
                <a:gd name="connsiteX1" fmla="*/ 159657 w 1190172"/>
                <a:gd name="connsiteY1" fmla="*/ 0 h 217715"/>
                <a:gd name="connsiteX2" fmla="*/ 1190172 w 1190172"/>
                <a:gd name="connsiteY2" fmla="*/ 0 h 217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172" h="217715">
                  <a:moveTo>
                    <a:pt x="0" y="217715"/>
                  </a:moveTo>
                  <a:lnTo>
                    <a:pt x="159657" y="0"/>
                  </a:lnTo>
                  <a:lnTo>
                    <a:pt x="1190172" y="0"/>
                  </a:lnTo>
                </a:path>
              </a:pathLst>
            </a:custGeom>
            <a:noFill/>
            <a:ln>
              <a:solidFill>
                <a:srgbClr val="C0C0C0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ctr" defTabSz="1087755">
                <a:defRPr/>
              </a:pPr>
              <a:endParaRPr lang="zh-CN" altLang="en-US" sz="21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lt"/>
              </a:endParaRPr>
            </a:p>
          </p:txBody>
        </p:sp>
        <p:sp>
          <p:nvSpPr>
            <p:cNvPr id="37" name="MH_Other_4"/>
            <p:cNvSpPr/>
            <p:nvPr>
              <p:custDataLst>
                <p:tags r:id="rId8"/>
              </p:custDataLst>
            </p:nvPr>
          </p:nvSpPr>
          <p:spPr>
            <a:xfrm flipH="1" flipV="1">
              <a:off x="3914736" y="4450794"/>
              <a:ext cx="1126360" cy="217537"/>
            </a:xfrm>
            <a:custGeom>
              <a:avLst/>
              <a:gdLst>
                <a:gd name="connsiteX0" fmla="*/ 0 w 1190172"/>
                <a:gd name="connsiteY0" fmla="*/ 217715 h 217715"/>
                <a:gd name="connsiteX1" fmla="*/ 159657 w 1190172"/>
                <a:gd name="connsiteY1" fmla="*/ 0 h 217715"/>
                <a:gd name="connsiteX2" fmla="*/ 1190172 w 1190172"/>
                <a:gd name="connsiteY2" fmla="*/ 0 h 217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172" h="217715">
                  <a:moveTo>
                    <a:pt x="0" y="217715"/>
                  </a:moveTo>
                  <a:lnTo>
                    <a:pt x="159657" y="0"/>
                  </a:lnTo>
                  <a:lnTo>
                    <a:pt x="1190172" y="0"/>
                  </a:lnTo>
                </a:path>
              </a:pathLst>
            </a:custGeom>
            <a:noFill/>
            <a:ln>
              <a:solidFill>
                <a:srgbClr val="C0C0C0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r" defTabSz="1087755">
                <a:defRPr/>
              </a:pPr>
              <a:endParaRPr lang="zh-CN" altLang="en-US" sz="21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lt"/>
              </a:endParaRPr>
            </a:p>
          </p:txBody>
        </p:sp>
        <p:sp>
          <p:nvSpPr>
            <p:cNvPr id="38" name="MH_Other_5"/>
            <p:cNvSpPr/>
            <p:nvPr>
              <p:custDataLst>
                <p:tags r:id="rId9"/>
              </p:custDataLst>
            </p:nvPr>
          </p:nvSpPr>
          <p:spPr>
            <a:xfrm>
              <a:off x="4763017" y="2801907"/>
              <a:ext cx="1162607" cy="871929"/>
            </a:xfrm>
            <a:custGeom>
              <a:avLst/>
              <a:gdLst>
                <a:gd name="connsiteX0" fmla="*/ 1090749 w 1090749"/>
                <a:gd name="connsiteY0" fmla="*/ 0 h 1090749"/>
                <a:gd name="connsiteX1" fmla="*/ 1090749 w 1090749"/>
                <a:gd name="connsiteY1" fmla="*/ 520353 h 1090749"/>
                <a:gd name="connsiteX2" fmla="*/ 1054097 w 1090749"/>
                <a:gd name="connsiteY2" fmla="*/ 529777 h 1090749"/>
                <a:gd name="connsiteX3" fmla="*/ 529777 w 1090749"/>
                <a:gd name="connsiteY3" fmla="*/ 1054097 h 1090749"/>
                <a:gd name="connsiteX4" fmla="*/ 520353 w 1090749"/>
                <a:gd name="connsiteY4" fmla="*/ 1090749 h 1090749"/>
                <a:gd name="connsiteX5" fmla="*/ 0 w 1090749"/>
                <a:gd name="connsiteY5" fmla="*/ 1090749 h 1090749"/>
                <a:gd name="connsiteX6" fmla="*/ 9646 w 1090749"/>
                <a:gd name="connsiteY6" fmla="*/ 1027542 h 1090749"/>
                <a:gd name="connsiteX7" fmla="*/ 1027542 w 1090749"/>
                <a:gd name="connsiteY7" fmla="*/ 9646 h 1090749"/>
                <a:gd name="connsiteX8" fmla="*/ 1090749 w 1090749"/>
                <a:gd name="connsiteY8" fmla="*/ 0 h 1090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90749" h="1090749">
                  <a:moveTo>
                    <a:pt x="1090749" y="0"/>
                  </a:moveTo>
                  <a:lnTo>
                    <a:pt x="1090749" y="520353"/>
                  </a:lnTo>
                  <a:lnTo>
                    <a:pt x="1054097" y="529777"/>
                  </a:lnTo>
                  <a:cubicBezTo>
                    <a:pt x="804459" y="607423"/>
                    <a:pt x="607423" y="804459"/>
                    <a:pt x="529777" y="1054097"/>
                  </a:cubicBezTo>
                  <a:lnTo>
                    <a:pt x="520353" y="1090749"/>
                  </a:lnTo>
                  <a:lnTo>
                    <a:pt x="0" y="1090749"/>
                  </a:lnTo>
                  <a:lnTo>
                    <a:pt x="9646" y="1027542"/>
                  </a:lnTo>
                  <a:cubicBezTo>
                    <a:pt x="114196" y="516617"/>
                    <a:pt x="516617" y="114196"/>
                    <a:pt x="1027542" y="9646"/>
                  </a:cubicBezTo>
                  <a:lnTo>
                    <a:pt x="1090749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ctr" defTabSz="1087755">
                <a:defRPr/>
              </a:pPr>
              <a:endParaRPr lang="zh-CN" altLang="en-US" sz="21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lt"/>
              </a:endParaRPr>
            </a:p>
          </p:txBody>
        </p:sp>
        <p:sp>
          <p:nvSpPr>
            <p:cNvPr id="39" name="MH_Other_6"/>
            <p:cNvSpPr/>
            <p:nvPr>
              <p:custDataLst>
                <p:tags r:id="rId10"/>
              </p:custDataLst>
            </p:nvPr>
          </p:nvSpPr>
          <p:spPr>
            <a:xfrm>
              <a:off x="6324182" y="2801907"/>
              <a:ext cx="1162607" cy="871929"/>
            </a:xfrm>
            <a:custGeom>
              <a:avLst/>
              <a:gdLst>
                <a:gd name="connsiteX0" fmla="*/ 0 w 1090749"/>
                <a:gd name="connsiteY0" fmla="*/ 0 h 1090749"/>
                <a:gd name="connsiteX1" fmla="*/ 63206 w 1090749"/>
                <a:gd name="connsiteY1" fmla="*/ 9646 h 1090749"/>
                <a:gd name="connsiteX2" fmla="*/ 1081102 w 1090749"/>
                <a:gd name="connsiteY2" fmla="*/ 1027542 h 1090749"/>
                <a:gd name="connsiteX3" fmla="*/ 1090749 w 1090749"/>
                <a:gd name="connsiteY3" fmla="*/ 1090749 h 1090749"/>
                <a:gd name="connsiteX4" fmla="*/ 570395 w 1090749"/>
                <a:gd name="connsiteY4" fmla="*/ 1090749 h 1090749"/>
                <a:gd name="connsiteX5" fmla="*/ 560971 w 1090749"/>
                <a:gd name="connsiteY5" fmla="*/ 1054097 h 1090749"/>
                <a:gd name="connsiteX6" fmla="*/ 36651 w 1090749"/>
                <a:gd name="connsiteY6" fmla="*/ 529777 h 1090749"/>
                <a:gd name="connsiteX7" fmla="*/ 0 w 1090749"/>
                <a:gd name="connsiteY7" fmla="*/ 520353 h 1090749"/>
                <a:gd name="connsiteX8" fmla="*/ 0 w 1090749"/>
                <a:gd name="connsiteY8" fmla="*/ 0 h 1090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90749" h="1090749">
                  <a:moveTo>
                    <a:pt x="0" y="0"/>
                  </a:moveTo>
                  <a:lnTo>
                    <a:pt x="63206" y="9646"/>
                  </a:lnTo>
                  <a:cubicBezTo>
                    <a:pt x="574131" y="114196"/>
                    <a:pt x="976552" y="516617"/>
                    <a:pt x="1081102" y="1027542"/>
                  </a:cubicBezTo>
                  <a:lnTo>
                    <a:pt x="1090749" y="1090749"/>
                  </a:lnTo>
                  <a:lnTo>
                    <a:pt x="570395" y="1090749"/>
                  </a:lnTo>
                  <a:lnTo>
                    <a:pt x="560971" y="1054097"/>
                  </a:lnTo>
                  <a:cubicBezTo>
                    <a:pt x="483326" y="804459"/>
                    <a:pt x="286290" y="607423"/>
                    <a:pt x="36651" y="529777"/>
                  </a:cubicBezTo>
                  <a:lnTo>
                    <a:pt x="0" y="5203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ctr" defTabSz="1087755">
                <a:defRPr/>
              </a:pPr>
              <a:endParaRPr lang="zh-CN" altLang="en-US" sz="21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lt"/>
              </a:endParaRPr>
            </a:p>
          </p:txBody>
        </p:sp>
        <p:sp>
          <p:nvSpPr>
            <p:cNvPr id="40" name="MH_Other_7"/>
            <p:cNvSpPr/>
            <p:nvPr>
              <p:custDataLst>
                <p:tags r:id="rId11"/>
              </p:custDataLst>
            </p:nvPr>
          </p:nvSpPr>
          <p:spPr>
            <a:xfrm>
              <a:off x="4734326" y="3994264"/>
              <a:ext cx="1162607" cy="871929"/>
            </a:xfrm>
            <a:custGeom>
              <a:avLst/>
              <a:gdLst>
                <a:gd name="connsiteX0" fmla="*/ 0 w 1090749"/>
                <a:gd name="connsiteY0" fmla="*/ 0 h 1090749"/>
                <a:gd name="connsiteX1" fmla="*/ 520353 w 1090749"/>
                <a:gd name="connsiteY1" fmla="*/ 0 h 1090749"/>
                <a:gd name="connsiteX2" fmla="*/ 529777 w 1090749"/>
                <a:gd name="connsiteY2" fmla="*/ 36651 h 1090749"/>
                <a:gd name="connsiteX3" fmla="*/ 1054097 w 1090749"/>
                <a:gd name="connsiteY3" fmla="*/ 560971 h 1090749"/>
                <a:gd name="connsiteX4" fmla="*/ 1090749 w 1090749"/>
                <a:gd name="connsiteY4" fmla="*/ 570395 h 1090749"/>
                <a:gd name="connsiteX5" fmla="*/ 1090749 w 1090749"/>
                <a:gd name="connsiteY5" fmla="*/ 1090749 h 1090749"/>
                <a:gd name="connsiteX6" fmla="*/ 1027542 w 1090749"/>
                <a:gd name="connsiteY6" fmla="*/ 1081102 h 1090749"/>
                <a:gd name="connsiteX7" fmla="*/ 9646 w 1090749"/>
                <a:gd name="connsiteY7" fmla="*/ 63206 h 1090749"/>
                <a:gd name="connsiteX8" fmla="*/ 0 w 1090749"/>
                <a:gd name="connsiteY8" fmla="*/ 0 h 1090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90749" h="1090749">
                  <a:moveTo>
                    <a:pt x="0" y="0"/>
                  </a:moveTo>
                  <a:lnTo>
                    <a:pt x="520353" y="0"/>
                  </a:lnTo>
                  <a:lnTo>
                    <a:pt x="529777" y="36651"/>
                  </a:lnTo>
                  <a:cubicBezTo>
                    <a:pt x="607423" y="286290"/>
                    <a:pt x="804459" y="483326"/>
                    <a:pt x="1054097" y="560971"/>
                  </a:cubicBezTo>
                  <a:lnTo>
                    <a:pt x="1090749" y="570395"/>
                  </a:lnTo>
                  <a:lnTo>
                    <a:pt x="1090749" y="1090749"/>
                  </a:lnTo>
                  <a:lnTo>
                    <a:pt x="1027542" y="1081102"/>
                  </a:lnTo>
                  <a:cubicBezTo>
                    <a:pt x="516617" y="976552"/>
                    <a:pt x="114196" y="574131"/>
                    <a:pt x="9646" y="6320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ctr" defTabSz="1087755">
                <a:defRPr/>
              </a:pPr>
              <a:endParaRPr lang="zh-CN" altLang="en-US" sz="21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lt"/>
              </a:endParaRPr>
            </a:p>
          </p:txBody>
        </p:sp>
        <p:sp>
          <p:nvSpPr>
            <p:cNvPr id="41" name="MH_Other_8"/>
            <p:cNvSpPr/>
            <p:nvPr>
              <p:custDataLst>
                <p:tags r:id="rId12"/>
              </p:custDataLst>
            </p:nvPr>
          </p:nvSpPr>
          <p:spPr>
            <a:xfrm>
              <a:off x="6324182" y="3994263"/>
              <a:ext cx="1162605" cy="871928"/>
            </a:xfrm>
            <a:custGeom>
              <a:avLst/>
              <a:gdLst>
                <a:gd name="connsiteX0" fmla="*/ 570395 w 1090748"/>
                <a:gd name="connsiteY0" fmla="*/ 0 h 1090748"/>
                <a:gd name="connsiteX1" fmla="*/ 1090748 w 1090748"/>
                <a:gd name="connsiteY1" fmla="*/ 0 h 1090748"/>
                <a:gd name="connsiteX2" fmla="*/ 1081102 w 1090748"/>
                <a:gd name="connsiteY2" fmla="*/ 63206 h 1090748"/>
                <a:gd name="connsiteX3" fmla="*/ 63206 w 1090748"/>
                <a:gd name="connsiteY3" fmla="*/ 1081102 h 1090748"/>
                <a:gd name="connsiteX4" fmla="*/ 0 w 1090748"/>
                <a:gd name="connsiteY4" fmla="*/ 1090748 h 1090748"/>
                <a:gd name="connsiteX5" fmla="*/ 0 w 1090748"/>
                <a:gd name="connsiteY5" fmla="*/ 570395 h 1090748"/>
                <a:gd name="connsiteX6" fmla="*/ 36651 w 1090748"/>
                <a:gd name="connsiteY6" fmla="*/ 560971 h 1090748"/>
                <a:gd name="connsiteX7" fmla="*/ 560971 w 1090748"/>
                <a:gd name="connsiteY7" fmla="*/ 36651 h 1090748"/>
                <a:gd name="connsiteX8" fmla="*/ 570395 w 1090748"/>
                <a:gd name="connsiteY8" fmla="*/ 0 h 1090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90748" h="1090748">
                  <a:moveTo>
                    <a:pt x="570395" y="0"/>
                  </a:moveTo>
                  <a:lnTo>
                    <a:pt x="1090748" y="0"/>
                  </a:lnTo>
                  <a:lnTo>
                    <a:pt x="1081102" y="63206"/>
                  </a:lnTo>
                  <a:cubicBezTo>
                    <a:pt x="976552" y="574131"/>
                    <a:pt x="574131" y="976552"/>
                    <a:pt x="63206" y="1081102"/>
                  </a:cubicBezTo>
                  <a:lnTo>
                    <a:pt x="0" y="1090748"/>
                  </a:lnTo>
                  <a:lnTo>
                    <a:pt x="0" y="570395"/>
                  </a:lnTo>
                  <a:lnTo>
                    <a:pt x="36651" y="560971"/>
                  </a:lnTo>
                  <a:cubicBezTo>
                    <a:pt x="286290" y="483326"/>
                    <a:pt x="483326" y="286290"/>
                    <a:pt x="560971" y="36651"/>
                  </a:cubicBezTo>
                  <a:lnTo>
                    <a:pt x="570395" y="0"/>
                  </a:lnTo>
                  <a:close/>
                </a:path>
              </a:pathLst>
            </a:custGeom>
            <a:solidFill>
              <a:srgbClr val="0070C0"/>
            </a:solidFill>
            <a:ln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ctr" defTabSz="1087755">
                <a:defRPr/>
              </a:pPr>
              <a:endParaRPr lang="zh-CN" altLang="en-US" sz="21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lt"/>
              </a:endParaRPr>
            </a:p>
          </p:txBody>
        </p:sp>
        <p:sp>
          <p:nvSpPr>
            <p:cNvPr id="42" name="MH_SubTitle_3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8500631" y="4156346"/>
              <a:ext cx="2671929" cy="643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defTabSz="1087755">
                <a:lnSpc>
                  <a:spcPct val="120000"/>
                </a:lnSpc>
                <a:defRPr/>
              </a:pPr>
              <a:r>
                <a:rPr lang="en-US" altLang="zh-CN" sz="2000" b="1" dirty="0">
                  <a:solidFill>
                    <a:srgbClr val="1369B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rPr>
                <a:t>repeat-y</a:t>
              </a:r>
              <a:endParaRPr lang="zh-CN" altLang="en-US" sz="2000" b="1" noProof="0" dirty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endParaRPr>
            </a:p>
          </p:txBody>
        </p:sp>
        <p:sp>
          <p:nvSpPr>
            <p:cNvPr id="43" name="MH_Text_3"/>
            <p:cNvSpPr txBox="1"/>
            <p:nvPr>
              <p:custDataLst>
                <p:tags r:id="rId14"/>
              </p:custDataLst>
            </p:nvPr>
          </p:nvSpPr>
          <p:spPr>
            <a:xfrm>
              <a:off x="8500631" y="4900160"/>
              <a:ext cx="2883231" cy="1006708"/>
            </a:xfrm>
            <a:prstGeom prst="rect">
              <a:avLst/>
            </a:prstGeom>
            <a:noFill/>
          </p:spPr>
          <p:txBody>
            <a:bodyPr lIns="0" tIns="0" rIns="0" bIns="0">
              <a:noAutofit/>
            </a:bodyPr>
            <a:lstStyle/>
            <a:p>
              <a:pPr lvl="0"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rPr>
                <a:t>只沿竖直方向平铺</a:t>
              </a:r>
            </a:p>
          </p:txBody>
        </p:sp>
        <p:sp>
          <p:nvSpPr>
            <p:cNvPr id="44" name="MH_SubTitle_2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 flipH="1">
              <a:off x="1054375" y="4156346"/>
              <a:ext cx="2671929" cy="643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r" defTabSz="1087755">
                <a:lnSpc>
                  <a:spcPct val="120000"/>
                </a:lnSpc>
                <a:defRPr/>
              </a:pPr>
              <a:r>
                <a:rPr lang="en-US" altLang="zh-CN" sz="2000" b="1" dirty="0">
                  <a:solidFill>
                    <a:srgbClr val="1369B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rPr>
                <a:t>repeat-x</a:t>
              </a:r>
              <a:endParaRPr lang="zh-CN" altLang="en-US" sz="2000" b="1" noProof="0" dirty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endParaRPr>
            </a:p>
          </p:txBody>
        </p:sp>
        <p:sp>
          <p:nvSpPr>
            <p:cNvPr id="45" name="MH_Text_2"/>
            <p:cNvSpPr txBox="1"/>
            <p:nvPr>
              <p:custDataLst>
                <p:tags r:id="rId16"/>
              </p:custDataLst>
            </p:nvPr>
          </p:nvSpPr>
          <p:spPr>
            <a:xfrm flipH="1">
              <a:off x="627123" y="4900160"/>
              <a:ext cx="3093357" cy="1006708"/>
            </a:xfrm>
            <a:prstGeom prst="rect">
              <a:avLst/>
            </a:prstGeom>
            <a:noFill/>
          </p:spPr>
          <p:txBody>
            <a:bodyPr lIns="0" tIns="0" rIns="0" bIns="0">
              <a:noAutofit/>
            </a:bodyPr>
            <a:lstStyle/>
            <a:p>
              <a:pPr lvl="0" algn="r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rPr>
                <a:t>只沿水平方向平铺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58184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背景属性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2209865"/>
              <a:ext cx="9297926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background-position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属性用于定义背景图像的位置。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408874" y="1776747"/>
              <a:ext cx="316464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）设置背景图像的位置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726850" y="3108573"/>
            <a:ext cx="8317873" cy="3169162"/>
            <a:chOff x="1726850" y="1798006"/>
            <a:chExt cx="8317873" cy="3169162"/>
          </a:xfrm>
        </p:grpSpPr>
        <p:sp>
          <p:nvSpPr>
            <p:cNvPr id="46" name="MH_SubTitle_1"/>
            <p:cNvSpPr/>
            <p:nvPr>
              <p:custDataLst>
                <p:tags r:id="rId1"/>
              </p:custDataLst>
            </p:nvPr>
          </p:nvSpPr>
          <p:spPr>
            <a:xfrm>
              <a:off x="2514620" y="1891742"/>
              <a:ext cx="2600325" cy="511175"/>
            </a:xfrm>
            <a:custGeom>
              <a:avLst/>
              <a:gdLst>
                <a:gd name="connsiteX0" fmla="*/ 0 w 2286028"/>
                <a:gd name="connsiteY0" fmla="*/ 0 h 449944"/>
                <a:gd name="connsiteX1" fmla="*/ 2061028 w 2286028"/>
                <a:gd name="connsiteY1" fmla="*/ 0 h 449944"/>
                <a:gd name="connsiteX2" fmla="*/ 2286028 w 2286028"/>
                <a:gd name="connsiteY2" fmla="*/ 224972 h 449944"/>
                <a:gd name="connsiteX3" fmla="*/ 2061028 w 2286028"/>
                <a:gd name="connsiteY3" fmla="*/ 449944 h 449944"/>
                <a:gd name="connsiteX4" fmla="*/ 2061018 w 2286028"/>
                <a:gd name="connsiteY4" fmla="*/ 449943 h 449944"/>
                <a:gd name="connsiteX5" fmla="*/ 0 w 2286028"/>
                <a:gd name="connsiteY5" fmla="*/ 449943 h 44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86028" h="449944">
                  <a:moveTo>
                    <a:pt x="0" y="0"/>
                  </a:moveTo>
                  <a:lnTo>
                    <a:pt x="2061028" y="0"/>
                  </a:lnTo>
                  <a:cubicBezTo>
                    <a:pt x="2185292" y="0"/>
                    <a:pt x="2286028" y="100723"/>
                    <a:pt x="2286028" y="224972"/>
                  </a:cubicBezTo>
                  <a:cubicBezTo>
                    <a:pt x="2286028" y="349221"/>
                    <a:pt x="2185292" y="449944"/>
                    <a:pt x="2061028" y="449944"/>
                  </a:cubicBezTo>
                  <a:lnTo>
                    <a:pt x="2061018" y="449943"/>
                  </a:lnTo>
                  <a:lnTo>
                    <a:pt x="0" y="449943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>
              <a:normAutofit/>
            </a:bodyPr>
            <a:lstStyle/>
            <a:p>
              <a:pPr lvl="0" defTabSz="914400">
                <a:defRPr/>
              </a:pPr>
              <a:r>
                <a:rPr lang="zh-CN" altLang="en-US" sz="1600" dirty="0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   使用不同单位的数值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7" name="MH_Other_1"/>
            <p:cNvSpPr/>
            <p:nvPr>
              <p:custDataLst>
                <p:tags r:id="rId2"/>
              </p:custDataLst>
            </p:nvPr>
          </p:nvSpPr>
          <p:spPr>
            <a:xfrm>
              <a:off x="4633931" y="1932064"/>
              <a:ext cx="431800" cy="431800"/>
            </a:xfrm>
            <a:custGeom>
              <a:avLst/>
              <a:gdLst>
                <a:gd name="connsiteX0" fmla="*/ 162177 w 379914"/>
                <a:gd name="connsiteY0" fmla="*/ 97631 h 379866"/>
                <a:gd name="connsiteX1" fmla="*/ 219804 w 379914"/>
                <a:gd name="connsiteY1" fmla="*/ 189932 h 379866"/>
                <a:gd name="connsiteX2" fmla="*/ 162177 w 379914"/>
                <a:gd name="connsiteY2" fmla="*/ 282233 h 379866"/>
                <a:gd name="connsiteX3" fmla="*/ 198210 w 379914"/>
                <a:gd name="connsiteY3" fmla="*/ 282233 h 379866"/>
                <a:gd name="connsiteX4" fmla="*/ 255837 w 379914"/>
                <a:gd name="connsiteY4" fmla="*/ 189932 h 379866"/>
                <a:gd name="connsiteX5" fmla="*/ 198210 w 379914"/>
                <a:gd name="connsiteY5" fmla="*/ 97631 h 379866"/>
                <a:gd name="connsiteX6" fmla="*/ 189957 w 379914"/>
                <a:gd name="connsiteY6" fmla="*/ 0 h 379866"/>
                <a:gd name="connsiteX7" fmla="*/ 379914 w 379914"/>
                <a:gd name="connsiteY7" fmla="*/ 189933 h 379866"/>
                <a:gd name="connsiteX8" fmla="*/ 189957 w 379914"/>
                <a:gd name="connsiteY8" fmla="*/ 379866 h 379866"/>
                <a:gd name="connsiteX9" fmla="*/ 0 w 379914"/>
                <a:gd name="connsiteY9" fmla="*/ 189933 h 379866"/>
                <a:gd name="connsiteX10" fmla="*/ 189957 w 379914"/>
                <a:gd name="connsiteY10" fmla="*/ 0 h 379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9914" h="379866">
                  <a:moveTo>
                    <a:pt x="162177" y="97631"/>
                  </a:moveTo>
                  <a:lnTo>
                    <a:pt x="219804" y="189932"/>
                  </a:lnTo>
                  <a:lnTo>
                    <a:pt x="162177" y="282233"/>
                  </a:lnTo>
                  <a:lnTo>
                    <a:pt x="198210" y="282233"/>
                  </a:lnTo>
                  <a:lnTo>
                    <a:pt x="255837" y="189932"/>
                  </a:lnTo>
                  <a:lnTo>
                    <a:pt x="198210" y="97631"/>
                  </a:lnTo>
                  <a:close/>
                  <a:moveTo>
                    <a:pt x="189957" y="0"/>
                  </a:moveTo>
                  <a:cubicBezTo>
                    <a:pt x="294867" y="0"/>
                    <a:pt x="379914" y="85036"/>
                    <a:pt x="379914" y="189933"/>
                  </a:cubicBezTo>
                  <a:cubicBezTo>
                    <a:pt x="379914" y="294830"/>
                    <a:pt x="294867" y="379866"/>
                    <a:pt x="189957" y="379866"/>
                  </a:cubicBezTo>
                  <a:cubicBezTo>
                    <a:pt x="85047" y="379866"/>
                    <a:pt x="0" y="294830"/>
                    <a:pt x="0" y="189933"/>
                  </a:cubicBezTo>
                  <a:cubicBezTo>
                    <a:pt x="0" y="85036"/>
                    <a:pt x="85047" y="0"/>
                    <a:pt x="1899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84CBC5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lt"/>
              </a:endParaRPr>
            </a:p>
          </p:txBody>
        </p:sp>
        <p:sp>
          <p:nvSpPr>
            <p:cNvPr id="48" name="MH_Text_1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5206456" y="1819281"/>
              <a:ext cx="2976027" cy="7096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9pPr>
            </a:lstStyle>
            <a:p>
              <a:pPr lvl="0" defTabSz="914400"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rPr>
                <a:t>通过数值直接设置图像左上角在元素中的坐标，最常用的单位是像素。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endParaRPr>
            </a:p>
          </p:txBody>
        </p:sp>
        <p:sp>
          <p:nvSpPr>
            <p:cNvPr id="49" name="MH_SubTitle_2"/>
            <p:cNvSpPr/>
            <p:nvPr>
              <p:custDataLst>
                <p:tags r:id="rId4"/>
              </p:custDataLst>
            </p:nvPr>
          </p:nvSpPr>
          <p:spPr>
            <a:xfrm>
              <a:off x="2514620" y="3097288"/>
              <a:ext cx="2600325" cy="511175"/>
            </a:xfrm>
            <a:custGeom>
              <a:avLst/>
              <a:gdLst>
                <a:gd name="connsiteX0" fmla="*/ 0 w 2286028"/>
                <a:gd name="connsiteY0" fmla="*/ 0 h 449944"/>
                <a:gd name="connsiteX1" fmla="*/ 2061028 w 2286028"/>
                <a:gd name="connsiteY1" fmla="*/ 0 h 449944"/>
                <a:gd name="connsiteX2" fmla="*/ 2286028 w 2286028"/>
                <a:gd name="connsiteY2" fmla="*/ 224972 h 449944"/>
                <a:gd name="connsiteX3" fmla="*/ 2061028 w 2286028"/>
                <a:gd name="connsiteY3" fmla="*/ 449944 h 449944"/>
                <a:gd name="connsiteX4" fmla="*/ 2061018 w 2286028"/>
                <a:gd name="connsiteY4" fmla="*/ 449943 h 449944"/>
                <a:gd name="connsiteX5" fmla="*/ 0 w 2286028"/>
                <a:gd name="connsiteY5" fmla="*/ 449943 h 44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86028" h="449944">
                  <a:moveTo>
                    <a:pt x="0" y="0"/>
                  </a:moveTo>
                  <a:lnTo>
                    <a:pt x="2061028" y="0"/>
                  </a:lnTo>
                  <a:cubicBezTo>
                    <a:pt x="2185292" y="0"/>
                    <a:pt x="2286028" y="100723"/>
                    <a:pt x="2286028" y="224972"/>
                  </a:cubicBezTo>
                  <a:cubicBezTo>
                    <a:pt x="2286028" y="349221"/>
                    <a:pt x="2185292" y="449944"/>
                    <a:pt x="2061028" y="449944"/>
                  </a:cubicBezTo>
                  <a:lnTo>
                    <a:pt x="2061018" y="449943"/>
                  </a:lnTo>
                  <a:lnTo>
                    <a:pt x="0" y="449943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tIns="0" rIns="0" bIns="0" numCol="1" spcCol="0" rtlCol="0" fromWordArt="0" anchor="ctr" anchorCtr="0" forceAA="0" compatLnSpc="1">
              <a:normAutofit/>
            </a:bodyPr>
            <a:lstStyle/>
            <a:p>
              <a:pPr lvl="0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1600" dirty="0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rPr>
                <a:t>   使用预定义的关键字</a:t>
              </a:r>
              <a:endParaRPr lang="zh-CN" altLang="en-US" sz="16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endParaRPr>
            </a:p>
          </p:txBody>
        </p:sp>
        <p:sp>
          <p:nvSpPr>
            <p:cNvPr id="50" name="MH_Other_2"/>
            <p:cNvSpPr/>
            <p:nvPr>
              <p:custDataLst>
                <p:tags r:id="rId5"/>
              </p:custDataLst>
            </p:nvPr>
          </p:nvSpPr>
          <p:spPr>
            <a:xfrm>
              <a:off x="4633931" y="3136974"/>
              <a:ext cx="431800" cy="431800"/>
            </a:xfrm>
            <a:custGeom>
              <a:avLst/>
              <a:gdLst>
                <a:gd name="connsiteX0" fmla="*/ 162177 w 379914"/>
                <a:gd name="connsiteY0" fmla="*/ 97631 h 379866"/>
                <a:gd name="connsiteX1" fmla="*/ 219804 w 379914"/>
                <a:gd name="connsiteY1" fmla="*/ 189932 h 379866"/>
                <a:gd name="connsiteX2" fmla="*/ 162177 w 379914"/>
                <a:gd name="connsiteY2" fmla="*/ 282233 h 379866"/>
                <a:gd name="connsiteX3" fmla="*/ 198210 w 379914"/>
                <a:gd name="connsiteY3" fmla="*/ 282233 h 379866"/>
                <a:gd name="connsiteX4" fmla="*/ 255837 w 379914"/>
                <a:gd name="connsiteY4" fmla="*/ 189932 h 379866"/>
                <a:gd name="connsiteX5" fmla="*/ 198210 w 379914"/>
                <a:gd name="connsiteY5" fmla="*/ 97631 h 379866"/>
                <a:gd name="connsiteX6" fmla="*/ 189957 w 379914"/>
                <a:gd name="connsiteY6" fmla="*/ 0 h 379866"/>
                <a:gd name="connsiteX7" fmla="*/ 379914 w 379914"/>
                <a:gd name="connsiteY7" fmla="*/ 189933 h 379866"/>
                <a:gd name="connsiteX8" fmla="*/ 189957 w 379914"/>
                <a:gd name="connsiteY8" fmla="*/ 379866 h 379866"/>
                <a:gd name="connsiteX9" fmla="*/ 0 w 379914"/>
                <a:gd name="connsiteY9" fmla="*/ 189933 h 379866"/>
                <a:gd name="connsiteX10" fmla="*/ 189957 w 379914"/>
                <a:gd name="connsiteY10" fmla="*/ 0 h 379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9914" h="379866">
                  <a:moveTo>
                    <a:pt x="162177" y="97631"/>
                  </a:moveTo>
                  <a:lnTo>
                    <a:pt x="219804" y="189932"/>
                  </a:lnTo>
                  <a:lnTo>
                    <a:pt x="162177" y="282233"/>
                  </a:lnTo>
                  <a:lnTo>
                    <a:pt x="198210" y="282233"/>
                  </a:lnTo>
                  <a:lnTo>
                    <a:pt x="255837" y="189932"/>
                  </a:lnTo>
                  <a:lnTo>
                    <a:pt x="198210" y="97631"/>
                  </a:lnTo>
                  <a:close/>
                  <a:moveTo>
                    <a:pt x="189957" y="0"/>
                  </a:moveTo>
                  <a:cubicBezTo>
                    <a:pt x="294867" y="0"/>
                    <a:pt x="379914" y="85036"/>
                    <a:pt x="379914" y="189933"/>
                  </a:cubicBezTo>
                  <a:cubicBezTo>
                    <a:pt x="379914" y="294830"/>
                    <a:pt x="294867" y="379866"/>
                    <a:pt x="189957" y="379866"/>
                  </a:cubicBezTo>
                  <a:cubicBezTo>
                    <a:pt x="85047" y="379866"/>
                    <a:pt x="0" y="294830"/>
                    <a:pt x="0" y="189933"/>
                  </a:cubicBezTo>
                  <a:cubicBezTo>
                    <a:pt x="0" y="85036"/>
                    <a:pt x="85047" y="0"/>
                    <a:pt x="1899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84CBC5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lt"/>
              </a:endParaRPr>
            </a:p>
          </p:txBody>
        </p:sp>
        <p:sp>
          <p:nvSpPr>
            <p:cNvPr id="51" name="MH_Text_2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5206456" y="3024192"/>
              <a:ext cx="2904978" cy="7096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9pPr>
            </a:lstStyle>
            <a:p>
              <a:pPr lvl="0"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rPr>
                <a:t>通过关键字直接指定背景图像在元素中的对齐方式。</a:t>
              </a:r>
            </a:p>
          </p:txBody>
        </p:sp>
        <p:sp>
          <p:nvSpPr>
            <p:cNvPr id="52" name="MH_SubTitle_3"/>
            <p:cNvSpPr/>
            <p:nvPr>
              <p:custDataLst>
                <p:tags r:id="rId7"/>
              </p:custDataLst>
            </p:nvPr>
          </p:nvSpPr>
          <p:spPr>
            <a:xfrm>
              <a:off x="2514620" y="4317544"/>
              <a:ext cx="2600325" cy="511175"/>
            </a:xfrm>
            <a:custGeom>
              <a:avLst/>
              <a:gdLst>
                <a:gd name="connsiteX0" fmla="*/ 0 w 2286028"/>
                <a:gd name="connsiteY0" fmla="*/ 0 h 449944"/>
                <a:gd name="connsiteX1" fmla="*/ 2061028 w 2286028"/>
                <a:gd name="connsiteY1" fmla="*/ 0 h 449944"/>
                <a:gd name="connsiteX2" fmla="*/ 2286028 w 2286028"/>
                <a:gd name="connsiteY2" fmla="*/ 224972 h 449944"/>
                <a:gd name="connsiteX3" fmla="*/ 2061028 w 2286028"/>
                <a:gd name="connsiteY3" fmla="*/ 449944 h 449944"/>
                <a:gd name="connsiteX4" fmla="*/ 2061018 w 2286028"/>
                <a:gd name="connsiteY4" fmla="*/ 449943 h 449944"/>
                <a:gd name="connsiteX5" fmla="*/ 0 w 2286028"/>
                <a:gd name="connsiteY5" fmla="*/ 449943 h 44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86028" h="449944">
                  <a:moveTo>
                    <a:pt x="0" y="0"/>
                  </a:moveTo>
                  <a:lnTo>
                    <a:pt x="2061028" y="0"/>
                  </a:lnTo>
                  <a:cubicBezTo>
                    <a:pt x="2185292" y="0"/>
                    <a:pt x="2286028" y="100723"/>
                    <a:pt x="2286028" y="224972"/>
                  </a:cubicBezTo>
                  <a:cubicBezTo>
                    <a:pt x="2286028" y="349221"/>
                    <a:pt x="2185292" y="449944"/>
                    <a:pt x="2061028" y="449944"/>
                  </a:cubicBezTo>
                  <a:lnTo>
                    <a:pt x="2061018" y="449943"/>
                  </a:lnTo>
                  <a:lnTo>
                    <a:pt x="0" y="449943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tIns="0" rIns="0" bIns="0" numCol="1" spcCol="0" rtlCol="0" fromWordArt="0" anchor="ctr" anchorCtr="0" forceAA="0" compatLnSpc="1">
              <a:normAutofit/>
            </a:bodyPr>
            <a:lstStyle/>
            <a:p>
              <a:pPr lvl="0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1600" dirty="0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rPr>
                <a:t>   使用百分比</a:t>
              </a:r>
              <a:endParaRPr lang="zh-CN" altLang="en-US" sz="16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endParaRPr>
            </a:p>
          </p:txBody>
        </p:sp>
        <p:sp>
          <p:nvSpPr>
            <p:cNvPr id="53" name="MH_Other_3"/>
            <p:cNvSpPr/>
            <p:nvPr>
              <p:custDataLst>
                <p:tags r:id="rId8"/>
              </p:custDataLst>
            </p:nvPr>
          </p:nvSpPr>
          <p:spPr>
            <a:xfrm>
              <a:off x="4633931" y="4357230"/>
              <a:ext cx="431800" cy="431800"/>
            </a:xfrm>
            <a:custGeom>
              <a:avLst/>
              <a:gdLst>
                <a:gd name="connsiteX0" fmla="*/ 162177 w 379914"/>
                <a:gd name="connsiteY0" fmla="*/ 97631 h 379866"/>
                <a:gd name="connsiteX1" fmla="*/ 219804 w 379914"/>
                <a:gd name="connsiteY1" fmla="*/ 189932 h 379866"/>
                <a:gd name="connsiteX2" fmla="*/ 162177 w 379914"/>
                <a:gd name="connsiteY2" fmla="*/ 282233 h 379866"/>
                <a:gd name="connsiteX3" fmla="*/ 198210 w 379914"/>
                <a:gd name="connsiteY3" fmla="*/ 282233 h 379866"/>
                <a:gd name="connsiteX4" fmla="*/ 255837 w 379914"/>
                <a:gd name="connsiteY4" fmla="*/ 189932 h 379866"/>
                <a:gd name="connsiteX5" fmla="*/ 198210 w 379914"/>
                <a:gd name="connsiteY5" fmla="*/ 97631 h 379866"/>
                <a:gd name="connsiteX6" fmla="*/ 189957 w 379914"/>
                <a:gd name="connsiteY6" fmla="*/ 0 h 379866"/>
                <a:gd name="connsiteX7" fmla="*/ 379914 w 379914"/>
                <a:gd name="connsiteY7" fmla="*/ 189933 h 379866"/>
                <a:gd name="connsiteX8" fmla="*/ 189957 w 379914"/>
                <a:gd name="connsiteY8" fmla="*/ 379866 h 379866"/>
                <a:gd name="connsiteX9" fmla="*/ 0 w 379914"/>
                <a:gd name="connsiteY9" fmla="*/ 189933 h 379866"/>
                <a:gd name="connsiteX10" fmla="*/ 189957 w 379914"/>
                <a:gd name="connsiteY10" fmla="*/ 0 h 379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9914" h="379866">
                  <a:moveTo>
                    <a:pt x="162177" y="97631"/>
                  </a:moveTo>
                  <a:lnTo>
                    <a:pt x="219804" y="189932"/>
                  </a:lnTo>
                  <a:lnTo>
                    <a:pt x="162177" y="282233"/>
                  </a:lnTo>
                  <a:lnTo>
                    <a:pt x="198210" y="282233"/>
                  </a:lnTo>
                  <a:lnTo>
                    <a:pt x="255837" y="189932"/>
                  </a:lnTo>
                  <a:lnTo>
                    <a:pt x="198210" y="97631"/>
                  </a:lnTo>
                  <a:close/>
                  <a:moveTo>
                    <a:pt x="189957" y="0"/>
                  </a:moveTo>
                  <a:cubicBezTo>
                    <a:pt x="294867" y="0"/>
                    <a:pt x="379914" y="85036"/>
                    <a:pt x="379914" y="189933"/>
                  </a:cubicBezTo>
                  <a:cubicBezTo>
                    <a:pt x="379914" y="294830"/>
                    <a:pt x="294867" y="379866"/>
                    <a:pt x="189957" y="379866"/>
                  </a:cubicBezTo>
                  <a:cubicBezTo>
                    <a:pt x="85047" y="379866"/>
                    <a:pt x="0" y="294830"/>
                    <a:pt x="0" y="189933"/>
                  </a:cubicBezTo>
                  <a:cubicBezTo>
                    <a:pt x="0" y="85036"/>
                    <a:pt x="85047" y="0"/>
                    <a:pt x="1899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84CBC5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lt"/>
              </a:endParaRPr>
            </a:p>
          </p:txBody>
        </p:sp>
        <p:sp>
          <p:nvSpPr>
            <p:cNvPr id="54" name="MH_Text_3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5206456" y="4246035"/>
              <a:ext cx="2904975" cy="7096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9pPr>
            </a:lstStyle>
            <a:p>
              <a:pPr lvl="0"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rPr>
                <a:t>通过百分比将背景图像和元素的指定点对齐。</a:t>
              </a:r>
            </a:p>
          </p:txBody>
        </p:sp>
        <p:sp>
          <p:nvSpPr>
            <p:cNvPr id="55" name="MH_Title_1"/>
            <p:cNvSpPr/>
            <p:nvPr>
              <p:custDataLst>
                <p:tags r:id="rId10"/>
              </p:custDataLst>
            </p:nvPr>
          </p:nvSpPr>
          <p:spPr>
            <a:xfrm>
              <a:off x="1747596" y="2235607"/>
              <a:ext cx="498260" cy="2417757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0" tIns="0" rIns="0" bIns="0" anchor="ctr">
              <a:normAutofit/>
            </a:bodyPr>
            <a:lstStyle/>
            <a:p>
              <a:pPr lvl="0" algn="ctr" defTabSz="914400">
                <a:defRPr/>
              </a:pPr>
              <a:r>
                <a:rPr lang="zh-CN" altLang="en-US" sz="2000" b="1" spc="100" dirty="0">
                  <a:solidFill>
                    <a:srgbClr val="595959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属性取值</a:t>
              </a:r>
              <a:endParaRPr kumimoji="0" lang="zh-CN" altLang="en-US" sz="2000" b="1" i="0" u="none" strike="noStrike" kern="1200" cap="none" spc="10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cxnSp>
          <p:nvCxnSpPr>
            <p:cNvPr id="56" name="PA_直接连接符 2"/>
            <p:cNvCxnSpPr/>
            <p:nvPr>
              <p:custDataLst>
                <p:tags r:id="rId11"/>
              </p:custDataLst>
            </p:nvPr>
          </p:nvCxnSpPr>
          <p:spPr>
            <a:xfrm>
              <a:off x="1726850" y="1921805"/>
              <a:ext cx="0" cy="3045363"/>
            </a:xfrm>
            <a:prstGeom prst="line">
              <a:avLst/>
            </a:prstGeom>
            <a:ln>
              <a:solidFill>
                <a:srgbClr val="6BAFE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PA_直接连接符 2"/>
            <p:cNvCxnSpPr/>
            <p:nvPr>
              <p:custDataLst>
                <p:tags r:id="rId12"/>
              </p:custDataLst>
            </p:nvPr>
          </p:nvCxnSpPr>
          <p:spPr>
            <a:xfrm>
              <a:off x="2245856" y="1921803"/>
              <a:ext cx="0" cy="3045363"/>
            </a:xfrm>
            <a:prstGeom prst="line">
              <a:avLst/>
            </a:prstGeom>
            <a:ln>
              <a:solidFill>
                <a:srgbClr val="6BAFE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PA_StraightArrowConnector 4"/>
            <p:cNvCxnSpPr/>
            <p:nvPr>
              <p:custDataLst>
                <p:tags r:id="rId13"/>
              </p:custDataLst>
            </p:nvPr>
          </p:nvCxnSpPr>
          <p:spPr>
            <a:xfrm>
              <a:off x="8111435" y="2147329"/>
              <a:ext cx="979659" cy="0"/>
            </a:xfrm>
            <a:prstGeom prst="straightConnector1">
              <a:avLst/>
            </a:prstGeom>
            <a:ln w="12700">
              <a:solidFill>
                <a:srgbClr val="014076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PA_StraightArrowConnector 4"/>
            <p:cNvCxnSpPr/>
            <p:nvPr>
              <p:custDataLst>
                <p:tags r:id="rId14"/>
              </p:custDataLst>
            </p:nvPr>
          </p:nvCxnSpPr>
          <p:spPr>
            <a:xfrm>
              <a:off x="8111434" y="3397125"/>
              <a:ext cx="979659" cy="0"/>
            </a:xfrm>
            <a:prstGeom prst="straightConnector1">
              <a:avLst/>
            </a:prstGeom>
            <a:ln w="12700">
              <a:solidFill>
                <a:srgbClr val="014076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PA_StraightArrowConnector 4"/>
            <p:cNvCxnSpPr/>
            <p:nvPr>
              <p:custDataLst>
                <p:tags r:id="rId15"/>
              </p:custDataLst>
            </p:nvPr>
          </p:nvCxnSpPr>
          <p:spPr>
            <a:xfrm>
              <a:off x="8111431" y="4653364"/>
              <a:ext cx="979659" cy="0"/>
            </a:xfrm>
            <a:prstGeom prst="straightConnector1">
              <a:avLst/>
            </a:prstGeom>
            <a:ln w="12700">
              <a:solidFill>
                <a:srgbClr val="014076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arrow-on-target_68291"/>
            <p:cNvSpPr>
              <a:spLocks noChangeAspect="1"/>
            </p:cNvSpPr>
            <p:nvPr/>
          </p:nvSpPr>
          <p:spPr bwMode="auto">
            <a:xfrm>
              <a:off x="9435038" y="4357481"/>
              <a:ext cx="609685" cy="609685"/>
            </a:xfrm>
            <a:custGeom>
              <a:avLst/>
              <a:gdLst>
                <a:gd name="connsiteX0" fmla="*/ 157638 w 338138"/>
                <a:gd name="connsiteY0" fmla="*/ 144463 h 338138"/>
                <a:gd name="connsiteX1" fmla="*/ 165544 w 338138"/>
                <a:gd name="connsiteY1" fmla="*/ 148443 h 338138"/>
                <a:gd name="connsiteX2" fmla="*/ 249865 w 338138"/>
                <a:gd name="connsiteY2" fmla="*/ 233341 h 338138"/>
                <a:gd name="connsiteX3" fmla="*/ 280167 w 338138"/>
                <a:gd name="connsiteY3" fmla="*/ 232015 h 338138"/>
                <a:gd name="connsiteX4" fmla="*/ 286755 w 338138"/>
                <a:gd name="connsiteY4" fmla="*/ 234668 h 338138"/>
                <a:gd name="connsiteX5" fmla="*/ 335503 w 338138"/>
                <a:gd name="connsiteY5" fmla="*/ 283750 h 338138"/>
                <a:gd name="connsiteX6" fmla="*/ 338138 w 338138"/>
                <a:gd name="connsiteY6" fmla="*/ 293036 h 338138"/>
                <a:gd name="connsiteX7" fmla="*/ 330233 w 338138"/>
                <a:gd name="connsiteY7" fmla="*/ 298342 h 338138"/>
                <a:gd name="connsiteX8" fmla="*/ 311788 w 338138"/>
                <a:gd name="connsiteY8" fmla="*/ 303648 h 338138"/>
                <a:gd name="connsiteX9" fmla="*/ 303883 w 338138"/>
                <a:gd name="connsiteY9" fmla="*/ 310281 h 338138"/>
                <a:gd name="connsiteX10" fmla="*/ 299930 w 338138"/>
                <a:gd name="connsiteY10" fmla="*/ 331505 h 338138"/>
                <a:gd name="connsiteX11" fmla="*/ 293343 w 338138"/>
                <a:gd name="connsiteY11" fmla="*/ 338138 h 338138"/>
                <a:gd name="connsiteX12" fmla="*/ 290708 w 338138"/>
                <a:gd name="connsiteY12" fmla="*/ 338138 h 338138"/>
                <a:gd name="connsiteX13" fmla="*/ 284120 w 338138"/>
                <a:gd name="connsiteY13" fmla="*/ 335485 h 338138"/>
                <a:gd name="connsiteX14" fmla="*/ 235372 w 338138"/>
                <a:gd name="connsiteY14" fmla="*/ 286403 h 338138"/>
                <a:gd name="connsiteX15" fmla="*/ 232737 w 338138"/>
                <a:gd name="connsiteY15" fmla="*/ 279770 h 338138"/>
                <a:gd name="connsiteX16" fmla="*/ 234054 w 338138"/>
                <a:gd name="connsiteY16" fmla="*/ 249260 h 338138"/>
                <a:gd name="connsiteX17" fmla="*/ 149733 w 338138"/>
                <a:gd name="connsiteY17" fmla="*/ 164361 h 338138"/>
                <a:gd name="connsiteX18" fmla="*/ 149733 w 338138"/>
                <a:gd name="connsiteY18" fmla="*/ 148443 h 338138"/>
                <a:gd name="connsiteX19" fmla="*/ 157638 w 338138"/>
                <a:gd name="connsiteY19" fmla="*/ 144463 h 338138"/>
                <a:gd name="connsiteX20" fmla="*/ 145922 w 338138"/>
                <a:gd name="connsiteY20" fmla="*/ 120650 h 338138"/>
                <a:gd name="connsiteX21" fmla="*/ 169863 w 338138"/>
                <a:gd name="connsiteY21" fmla="*/ 137383 h 338138"/>
                <a:gd name="connsiteX22" fmla="*/ 157893 w 338138"/>
                <a:gd name="connsiteY22" fmla="*/ 133522 h 338138"/>
                <a:gd name="connsiteX23" fmla="*/ 141931 w 338138"/>
                <a:gd name="connsiteY23" fmla="*/ 141245 h 338138"/>
                <a:gd name="connsiteX24" fmla="*/ 137941 w 338138"/>
                <a:gd name="connsiteY24" fmla="*/ 168275 h 338138"/>
                <a:gd name="connsiteX25" fmla="*/ 120650 w 338138"/>
                <a:gd name="connsiteY25" fmla="*/ 145106 h 338138"/>
                <a:gd name="connsiteX26" fmla="*/ 145922 w 338138"/>
                <a:gd name="connsiteY26" fmla="*/ 120650 h 338138"/>
                <a:gd name="connsiteX27" fmla="*/ 146051 w 338138"/>
                <a:gd name="connsiteY27" fmla="*/ 60325 h 338138"/>
                <a:gd name="connsiteX28" fmla="*/ 230188 w 338138"/>
                <a:gd name="connsiteY28" fmla="*/ 145257 h 338138"/>
                <a:gd name="connsiteX29" fmla="*/ 219671 w 338138"/>
                <a:gd name="connsiteY29" fmla="*/ 186395 h 338138"/>
                <a:gd name="connsiteX30" fmla="*/ 193378 w 338138"/>
                <a:gd name="connsiteY30" fmla="*/ 161181 h 338138"/>
                <a:gd name="connsiteX31" fmla="*/ 196007 w 338138"/>
                <a:gd name="connsiteY31" fmla="*/ 145257 h 338138"/>
                <a:gd name="connsiteX32" fmla="*/ 146051 w 338138"/>
                <a:gd name="connsiteY32" fmla="*/ 94828 h 338138"/>
                <a:gd name="connsiteX33" fmla="*/ 96094 w 338138"/>
                <a:gd name="connsiteY33" fmla="*/ 145257 h 338138"/>
                <a:gd name="connsiteX34" fmla="*/ 146051 w 338138"/>
                <a:gd name="connsiteY34" fmla="*/ 195685 h 338138"/>
                <a:gd name="connsiteX35" fmla="*/ 161827 w 338138"/>
                <a:gd name="connsiteY35" fmla="*/ 193031 h 338138"/>
                <a:gd name="connsiteX36" fmla="*/ 188119 w 338138"/>
                <a:gd name="connsiteY36" fmla="*/ 219572 h 338138"/>
                <a:gd name="connsiteX37" fmla="*/ 146051 w 338138"/>
                <a:gd name="connsiteY37" fmla="*/ 230188 h 338138"/>
                <a:gd name="connsiteX38" fmla="*/ 61913 w 338138"/>
                <a:gd name="connsiteY38" fmla="*/ 145257 h 338138"/>
                <a:gd name="connsiteX39" fmla="*/ 146051 w 338138"/>
                <a:gd name="connsiteY39" fmla="*/ 60325 h 338138"/>
                <a:gd name="connsiteX40" fmla="*/ 145257 w 338138"/>
                <a:gd name="connsiteY40" fmla="*/ 0 h 338138"/>
                <a:gd name="connsiteX41" fmla="*/ 290513 w 338138"/>
                <a:gd name="connsiteY41" fmla="*/ 145257 h 338138"/>
                <a:gd name="connsiteX42" fmla="*/ 269385 w 338138"/>
                <a:gd name="connsiteY42" fmla="*/ 221846 h 338138"/>
                <a:gd name="connsiteX43" fmla="*/ 254859 w 338138"/>
                <a:gd name="connsiteY43" fmla="*/ 221846 h 338138"/>
                <a:gd name="connsiteX44" fmla="*/ 239013 w 338138"/>
                <a:gd name="connsiteY44" fmla="*/ 206000 h 338138"/>
                <a:gd name="connsiteX45" fmla="*/ 256180 w 338138"/>
                <a:gd name="connsiteY45" fmla="*/ 145257 h 338138"/>
                <a:gd name="connsiteX46" fmla="*/ 145257 w 338138"/>
                <a:gd name="connsiteY46" fmla="*/ 34333 h 338138"/>
                <a:gd name="connsiteX47" fmla="*/ 34333 w 338138"/>
                <a:gd name="connsiteY47" fmla="*/ 145257 h 338138"/>
                <a:gd name="connsiteX48" fmla="*/ 145257 w 338138"/>
                <a:gd name="connsiteY48" fmla="*/ 256180 h 338138"/>
                <a:gd name="connsiteX49" fmla="*/ 206000 w 338138"/>
                <a:gd name="connsiteY49" fmla="*/ 239013 h 338138"/>
                <a:gd name="connsiteX50" fmla="*/ 221847 w 338138"/>
                <a:gd name="connsiteY50" fmla="*/ 254859 h 338138"/>
                <a:gd name="connsiteX51" fmla="*/ 221847 w 338138"/>
                <a:gd name="connsiteY51" fmla="*/ 269385 h 338138"/>
                <a:gd name="connsiteX52" fmla="*/ 145257 w 338138"/>
                <a:gd name="connsiteY52" fmla="*/ 290513 h 338138"/>
                <a:gd name="connsiteX53" fmla="*/ 0 w 338138"/>
                <a:gd name="connsiteY53" fmla="*/ 145257 h 338138"/>
                <a:gd name="connsiteX54" fmla="*/ 145257 w 338138"/>
                <a:gd name="connsiteY54" fmla="*/ 0 h 338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338138" h="338138">
                  <a:moveTo>
                    <a:pt x="157638" y="144463"/>
                  </a:moveTo>
                  <a:cubicBezTo>
                    <a:pt x="160273" y="144463"/>
                    <a:pt x="162908" y="145790"/>
                    <a:pt x="165544" y="148443"/>
                  </a:cubicBezTo>
                  <a:cubicBezTo>
                    <a:pt x="165544" y="148443"/>
                    <a:pt x="165544" y="148443"/>
                    <a:pt x="249865" y="233341"/>
                  </a:cubicBezTo>
                  <a:cubicBezTo>
                    <a:pt x="249865" y="233341"/>
                    <a:pt x="249865" y="233341"/>
                    <a:pt x="280167" y="232015"/>
                  </a:cubicBezTo>
                  <a:cubicBezTo>
                    <a:pt x="282803" y="232015"/>
                    <a:pt x="285438" y="233341"/>
                    <a:pt x="286755" y="234668"/>
                  </a:cubicBezTo>
                  <a:cubicBezTo>
                    <a:pt x="286755" y="234668"/>
                    <a:pt x="286755" y="234668"/>
                    <a:pt x="335503" y="283750"/>
                  </a:cubicBezTo>
                  <a:cubicBezTo>
                    <a:pt x="338138" y="286403"/>
                    <a:pt x="338138" y="289056"/>
                    <a:pt x="338138" y="293036"/>
                  </a:cubicBezTo>
                  <a:cubicBezTo>
                    <a:pt x="336821" y="295689"/>
                    <a:pt x="334186" y="298342"/>
                    <a:pt x="330233" y="298342"/>
                  </a:cubicBezTo>
                  <a:cubicBezTo>
                    <a:pt x="330233" y="298342"/>
                    <a:pt x="330233" y="298342"/>
                    <a:pt x="311788" y="303648"/>
                  </a:cubicBezTo>
                  <a:cubicBezTo>
                    <a:pt x="307835" y="303648"/>
                    <a:pt x="305200" y="306301"/>
                    <a:pt x="303883" y="310281"/>
                  </a:cubicBezTo>
                  <a:cubicBezTo>
                    <a:pt x="303883" y="310281"/>
                    <a:pt x="303883" y="310281"/>
                    <a:pt x="299930" y="331505"/>
                  </a:cubicBezTo>
                  <a:cubicBezTo>
                    <a:pt x="298613" y="334158"/>
                    <a:pt x="295978" y="336812"/>
                    <a:pt x="293343" y="338138"/>
                  </a:cubicBezTo>
                  <a:cubicBezTo>
                    <a:pt x="292025" y="338138"/>
                    <a:pt x="292025" y="338138"/>
                    <a:pt x="290708" y="338138"/>
                  </a:cubicBezTo>
                  <a:cubicBezTo>
                    <a:pt x="288073" y="338138"/>
                    <a:pt x="285438" y="336812"/>
                    <a:pt x="284120" y="335485"/>
                  </a:cubicBezTo>
                  <a:cubicBezTo>
                    <a:pt x="284120" y="335485"/>
                    <a:pt x="284120" y="335485"/>
                    <a:pt x="235372" y="286403"/>
                  </a:cubicBezTo>
                  <a:cubicBezTo>
                    <a:pt x="232737" y="283750"/>
                    <a:pt x="232737" y="281097"/>
                    <a:pt x="232737" y="279770"/>
                  </a:cubicBezTo>
                  <a:cubicBezTo>
                    <a:pt x="232737" y="279770"/>
                    <a:pt x="232737" y="279770"/>
                    <a:pt x="234054" y="249260"/>
                  </a:cubicBezTo>
                  <a:cubicBezTo>
                    <a:pt x="234054" y="249260"/>
                    <a:pt x="234054" y="249260"/>
                    <a:pt x="149733" y="164361"/>
                  </a:cubicBezTo>
                  <a:cubicBezTo>
                    <a:pt x="144463" y="159055"/>
                    <a:pt x="144463" y="152422"/>
                    <a:pt x="149733" y="148443"/>
                  </a:cubicBezTo>
                  <a:cubicBezTo>
                    <a:pt x="151051" y="145790"/>
                    <a:pt x="155003" y="144463"/>
                    <a:pt x="157638" y="144463"/>
                  </a:cubicBezTo>
                  <a:close/>
                  <a:moveTo>
                    <a:pt x="145922" y="120650"/>
                  </a:moveTo>
                  <a:cubicBezTo>
                    <a:pt x="157893" y="120650"/>
                    <a:pt x="167203" y="128373"/>
                    <a:pt x="169863" y="137383"/>
                  </a:cubicBezTo>
                  <a:cubicBezTo>
                    <a:pt x="167203" y="134809"/>
                    <a:pt x="161883" y="133522"/>
                    <a:pt x="157893" y="133522"/>
                  </a:cubicBezTo>
                  <a:cubicBezTo>
                    <a:pt x="151242" y="133522"/>
                    <a:pt x="145922" y="136096"/>
                    <a:pt x="141931" y="141245"/>
                  </a:cubicBezTo>
                  <a:cubicBezTo>
                    <a:pt x="133951" y="147680"/>
                    <a:pt x="132620" y="160552"/>
                    <a:pt x="137941" y="168275"/>
                  </a:cubicBezTo>
                  <a:cubicBezTo>
                    <a:pt x="128630" y="165701"/>
                    <a:pt x="120650" y="156691"/>
                    <a:pt x="120650" y="145106"/>
                  </a:cubicBezTo>
                  <a:cubicBezTo>
                    <a:pt x="120650" y="132234"/>
                    <a:pt x="132620" y="120650"/>
                    <a:pt x="145922" y="120650"/>
                  </a:cubicBezTo>
                  <a:close/>
                  <a:moveTo>
                    <a:pt x="146051" y="60325"/>
                  </a:moveTo>
                  <a:cubicBezTo>
                    <a:pt x="192063" y="60325"/>
                    <a:pt x="230188" y="98810"/>
                    <a:pt x="230188" y="145257"/>
                  </a:cubicBezTo>
                  <a:cubicBezTo>
                    <a:pt x="230188" y="159854"/>
                    <a:pt x="226244" y="174452"/>
                    <a:pt x="219671" y="186395"/>
                  </a:cubicBezTo>
                  <a:lnTo>
                    <a:pt x="193378" y="161181"/>
                  </a:lnTo>
                  <a:cubicBezTo>
                    <a:pt x="196007" y="155873"/>
                    <a:pt x="196007" y="150565"/>
                    <a:pt x="196007" y="145257"/>
                  </a:cubicBezTo>
                  <a:cubicBezTo>
                    <a:pt x="196007" y="117388"/>
                    <a:pt x="173658" y="94828"/>
                    <a:pt x="146051" y="94828"/>
                  </a:cubicBezTo>
                  <a:cubicBezTo>
                    <a:pt x="118443" y="94828"/>
                    <a:pt x="96094" y="117388"/>
                    <a:pt x="96094" y="145257"/>
                  </a:cubicBezTo>
                  <a:cubicBezTo>
                    <a:pt x="96094" y="173125"/>
                    <a:pt x="118443" y="195685"/>
                    <a:pt x="146051" y="195685"/>
                  </a:cubicBezTo>
                  <a:cubicBezTo>
                    <a:pt x="151309" y="195685"/>
                    <a:pt x="156568" y="194358"/>
                    <a:pt x="161827" y="193031"/>
                  </a:cubicBezTo>
                  <a:cubicBezTo>
                    <a:pt x="161827" y="193031"/>
                    <a:pt x="161827" y="193031"/>
                    <a:pt x="188119" y="219572"/>
                  </a:cubicBezTo>
                  <a:cubicBezTo>
                    <a:pt x="174973" y="226207"/>
                    <a:pt x="161827" y="230188"/>
                    <a:pt x="146051" y="230188"/>
                  </a:cubicBezTo>
                  <a:cubicBezTo>
                    <a:pt x="100038" y="230188"/>
                    <a:pt x="61913" y="191703"/>
                    <a:pt x="61913" y="145257"/>
                  </a:cubicBezTo>
                  <a:cubicBezTo>
                    <a:pt x="61913" y="98810"/>
                    <a:pt x="100038" y="60325"/>
                    <a:pt x="146051" y="60325"/>
                  </a:cubicBezTo>
                  <a:close/>
                  <a:moveTo>
                    <a:pt x="145257" y="0"/>
                  </a:moveTo>
                  <a:cubicBezTo>
                    <a:pt x="225808" y="0"/>
                    <a:pt x="290513" y="64705"/>
                    <a:pt x="290513" y="145257"/>
                  </a:cubicBezTo>
                  <a:cubicBezTo>
                    <a:pt x="290513" y="172987"/>
                    <a:pt x="282590" y="199398"/>
                    <a:pt x="269385" y="221846"/>
                  </a:cubicBezTo>
                  <a:cubicBezTo>
                    <a:pt x="269385" y="221846"/>
                    <a:pt x="269385" y="221846"/>
                    <a:pt x="254859" y="221846"/>
                  </a:cubicBezTo>
                  <a:cubicBezTo>
                    <a:pt x="254859" y="221846"/>
                    <a:pt x="254859" y="221846"/>
                    <a:pt x="239013" y="206000"/>
                  </a:cubicBezTo>
                  <a:cubicBezTo>
                    <a:pt x="249577" y="188833"/>
                    <a:pt x="256180" y="167705"/>
                    <a:pt x="256180" y="145257"/>
                  </a:cubicBezTo>
                  <a:cubicBezTo>
                    <a:pt x="256180" y="84513"/>
                    <a:pt x="207321" y="34333"/>
                    <a:pt x="145257" y="34333"/>
                  </a:cubicBezTo>
                  <a:cubicBezTo>
                    <a:pt x="84513" y="34333"/>
                    <a:pt x="34333" y="84513"/>
                    <a:pt x="34333" y="145257"/>
                  </a:cubicBezTo>
                  <a:cubicBezTo>
                    <a:pt x="34333" y="207321"/>
                    <a:pt x="84513" y="256180"/>
                    <a:pt x="145257" y="256180"/>
                  </a:cubicBezTo>
                  <a:cubicBezTo>
                    <a:pt x="167705" y="256180"/>
                    <a:pt x="188834" y="249577"/>
                    <a:pt x="206000" y="239013"/>
                  </a:cubicBezTo>
                  <a:cubicBezTo>
                    <a:pt x="206000" y="239013"/>
                    <a:pt x="206000" y="239013"/>
                    <a:pt x="221847" y="254859"/>
                  </a:cubicBezTo>
                  <a:cubicBezTo>
                    <a:pt x="221847" y="254859"/>
                    <a:pt x="221847" y="254859"/>
                    <a:pt x="221847" y="269385"/>
                  </a:cubicBezTo>
                  <a:cubicBezTo>
                    <a:pt x="199398" y="282590"/>
                    <a:pt x="172988" y="290513"/>
                    <a:pt x="145257" y="290513"/>
                  </a:cubicBezTo>
                  <a:cubicBezTo>
                    <a:pt x="64705" y="290513"/>
                    <a:pt x="0" y="225808"/>
                    <a:pt x="0" y="145257"/>
                  </a:cubicBezTo>
                  <a:cubicBezTo>
                    <a:pt x="0" y="64705"/>
                    <a:pt x="64705" y="0"/>
                    <a:pt x="145257" y="0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lt"/>
              </a:endParaRPr>
            </a:p>
          </p:txBody>
        </p:sp>
        <p:sp>
          <p:nvSpPr>
            <p:cNvPr id="62" name="computer-service_78951"/>
            <p:cNvSpPr>
              <a:spLocks noChangeAspect="1"/>
            </p:cNvSpPr>
            <p:nvPr/>
          </p:nvSpPr>
          <p:spPr bwMode="auto">
            <a:xfrm>
              <a:off x="9435038" y="1798006"/>
              <a:ext cx="609685" cy="565858"/>
            </a:xfrm>
            <a:custGeom>
              <a:avLst/>
              <a:gdLst>
                <a:gd name="connsiteX0" fmla="*/ 288132 w 338138"/>
                <a:gd name="connsiteY0" fmla="*/ 223343 h 313831"/>
                <a:gd name="connsiteX1" fmla="*/ 279400 w 338138"/>
                <a:gd name="connsiteY1" fmla="*/ 231281 h 313831"/>
                <a:gd name="connsiteX2" fmla="*/ 288132 w 338138"/>
                <a:gd name="connsiteY2" fmla="*/ 239219 h 313831"/>
                <a:gd name="connsiteX3" fmla="*/ 296864 w 338138"/>
                <a:gd name="connsiteY3" fmla="*/ 231281 h 313831"/>
                <a:gd name="connsiteX4" fmla="*/ 288132 w 338138"/>
                <a:gd name="connsiteY4" fmla="*/ 223343 h 313831"/>
                <a:gd name="connsiteX5" fmla="*/ 261938 w 338138"/>
                <a:gd name="connsiteY5" fmla="*/ 223343 h 313831"/>
                <a:gd name="connsiteX6" fmla="*/ 254000 w 338138"/>
                <a:gd name="connsiteY6" fmla="*/ 231281 h 313831"/>
                <a:gd name="connsiteX7" fmla="*/ 261938 w 338138"/>
                <a:gd name="connsiteY7" fmla="*/ 239219 h 313831"/>
                <a:gd name="connsiteX8" fmla="*/ 269876 w 338138"/>
                <a:gd name="connsiteY8" fmla="*/ 231281 h 313831"/>
                <a:gd name="connsiteX9" fmla="*/ 261938 w 338138"/>
                <a:gd name="connsiteY9" fmla="*/ 223343 h 313831"/>
                <a:gd name="connsiteX10" fmla="*/ 116535 w 338138"/>
                <a:gd name="connsiteY10" fmla="*/ 45543 h 313831"/>
                <a:gd name="connsiteX11" fmla="*/ 141773 w 338138"/>
                <a:gd name="connsiteY11" fmla="*/ 88073 h 313831"/>
                <a:gd name="connsiteX12" fmla="*/ 108565 w 338138"/>
                <a:gd name="connsiteY12" fmla="*/ 102693 h 313831"/>
                <a:gd name="connsiteX13" fmla="*/ 87312 w 338138"/>
                <a:gd name="connsiteY13" fmla="*/ 74783 h 313831"/>
                <a:gd name="connsiteX14" fmla="*/ 116535 w 338138"/>
                <a:gd name="connsiteY14" fmla="*/ 45543 h 313831"/>
                <a:gd name="connsiteX15" fmla="*/ 254349 w 338138"/>
                <a:gd name="connsiteY15" fmla="*/ 30428 h 313831"/>
                <a:gd name="connsiteX16" fmla="*/ 275361 w 338138"/>
                <a:gd name="connsiteY16" fmla="*/ 48787 h 313831"/>
                <a:gd name="connsiteX17" fmla="*/ 255662 w 338138"/>
                <a:gd name="connsiteY17" fmla="*/ 85507 h 313831"/>
                <a:gd name="connsiteX18" fmla="*/ 266168 w 338138"/>
                <a:gd name="connsiteY18" fmla="*/ 89441 h 313831"/>
                <a:gd name="connsiteX19" fmla="*/ 289806 w 338138"/>
                <a:gd name="connsiteY19" fmla="*/ 80261 h 313831"/>
                <a:gd name="connsiteX20" fmla="*/ 287180 w 338138"/>
                <a:gd name="connsiteY20" fmla="*/ 109113 h 313831"/>
                <a:gd name="connsiteX21" fmla="*/ 225458 w 338138"/>
                <a:gd name="connsiteY21" fmla="*/ 111735 h 313831"/>
                <a:gd name="connsiteX22" fmla="*/ 92823 w 338138"/>
                <a:gd name="connsiteY22" fmla="*/ 166815 h 313831"/>
                <a:gd name="connsiteX23" fmla="*/ 75751 w 338138"/>
                <a:gd name="connsiteY23" fmla="*/ 127472 h 313831"/>
                <a:gd name="connsiteX24" fmla="*/ 208386 w 338138"/>
                <a:gd name="connsiteY24" fmla="*/ 72393 h 313831"/>
                <a:gd name="connsiteX25" fmla="*/ 242530 w 338138"/>
                <a:gd name="connsiteY25" fmla="*/ 33050 h 313831"/>
                <a:gd name="connsiteX26" fmla="*/ 254349 w 338138"/>
                <a:gd name="connsiteY26" fmla="*/ 30428 h 313831"/>
                <a:gd name="connsiteX27" fmla="*/ 186871 w 338138"/>
                <a:gd name="connsiteY27" fmla="*/ 24906 h 313831"/>
                <a:gd name="connsiteX28" fmla="*/ 231775 w 338138"/>
                <a:gd name="connsiteY28" fmla="*/ 24906 h 313831"/>
                <a:gd name="connsiteX29" fmla="*/ 207282 w 338138"/>
                <a:gd name="connsiteY29" fmla="*/ 48190 h 313831"/>
                <a:gd name="connsiteX30" fmla="*/ 201839 w 338138"/>
                <a:gd name="connsiteY30" fmla="*/ 59831 h 313831"/>
                <a:gd name="connsiteX31" fmla="*/ 184150 w 338138"/>
                <a:gd name="connsiteY31" fmla="*/ 45603 h 313831"/>
                <a:gd name="connsiteX32" fmla="*/ 186871 w 338138"/>
                <a:gd name="connsiteY32" fmla="*/ 24906 h 313831"/>
                <a:gd name="connsiteX33" fmla="*/ 18492 w 338138"/>
                <a:gd name="connsiteY33" fmla="*/ 24906 h 313831"/>
                <a:gd name="connsiteX34" fmla="*/ 43588 w 338138"/>
                <a:gd name="connsiteY34" fmla="*/ 24906 h 313831"/>
                <a:gd name="connsiteX35" fmla="*/ 46230 w 338138"/>
                <a:gd name="connsiteY35" fmla="*/ 46015 h 313831"/>
                <a:gd name="connsiteX36" fmla="*/ 29059 w 338138"/>
                <a:gd name="connsiteY36" fmla="*/ 63166 h 313831"/>
                <a:gd name="connsiteX37" fmla="*/ 31700 w 338138"/>
                <a:gd name="connsiteY37" fmla="*/ 96148 h 313831"/>
                <a:gd name="connsiteX38" fmla="*/ 31700 w 338138"/>
                <a:gd name="connsiteY38" fmla="*/ 206969 h 313831"/>
                <a:gd name="connsiteX39" fmla="*/ 39626 w 338138"/>
                <a:gd name="connsiteY39" fmla="*/ 214884 h 313831"/>
                <a:gd name="connsiteX40" fmla="*/ 298512 w 338138"/>
                <a:gd name="connsiteY40" fmla="*/ 214884 h 313831"/>
                <a:gd name="connsiteX41" fmla="*/ 306438 w 338138"/>
                <a:gd name="connsiteY41" fmla="*/ 206969 h 313831"/>
                <a:gd name="connsiteX42" fmla="*/ 306438 w 338138"/>
                <a:gd name="connsiteY42" fmla="*/ 104064 h 313831"/>
                <a:gd name="connsiteX43" fmla="*/ 306438 w 338138"/>
                <a:gd name="connsiteY43" fmla="*/ 77678 h 313831"/>
                <a:gd name="connsiteX44" fmla="*/ 274737 w 338138"/>
                <a:gd name="connsiteY44" fmla="*/ 61846 h 313831"/>
                <a:gd name="connsiteX45" fmla="*/ 281341 w 338138"/>
                <a:gd name="connsiteY45" fmla="*/ 59208 h 313831"/>
                <a:gd name="connsiteX46" fmla="*/ 280021 w 338138"/>
                <a:gd name="connsiteY46" fmla="*/ 24906 h 313831"/>
                <a:gd name="connsiteX47" fmla="*/ 319646 w 338138"/>
                <a:gd name="connsiteY47" fmla="*/ 24906 h 313831"/>
                <a:gd name="connsiteX48" fmla="*/ 338138 w 338138"/>
                <a:gd name="connsiteY48" fmla="*/ 43376 h 313831"/>
                <a:gd name="connsiteX49" fmla="*/ 338138 w 338138"/>
                <a:gd name="connsiteY49" fmla="*/ 234674 h 313831"/>
                <a:gd name="connsiteX50" fmla="*/ 319646 w 338138"/>
                <a:gd name="connsiteY50" fmla="*/ 251825 h 313831"/>
                <a:gd name="connsiteX51" fmla="*/ 200769 w 338138"/>
                <a:gd name="connsiteY51" fmla="*/ 251825 h 313831"/>
                <a:gd name="connsiteX52" fmla="*/ 216620 w 338138"/>
                <a:gd name="connsiteY52" fmla="*/ 290084 h 313831"/>
                <a:gd name="connsiteX53" fmla="*/ 224545 w 338138"/>
                <a:gd name="connsiteY53" fmla="*/ 290084 h 313831"/>
                <a:gd name="connsiteX54" fmla="*/ 235112 w 338138"/>
                <a:gd name="connsiteY54" fmla="*/ 301958 h 313831"/>
                <a:gd name="connsiteX55" fmla="*/ 224545 w 338138"/>
                <a:gd name="connsiteY55" fmla="*/ 313831 h 313831"/>
                <a:gd name="connsiteX56" fmla="*/ 113593 w 338138"/>
                <a:gd name="connsiteY56" fmla="*/ 313831 h 313831"/>
                <a:gd name="connsiteX57" fmla="*/ 103026 w 338138"/>
                <a:gd name="connsiteY57" fmla="*/ 301958 h 313831"/>
                <a:gd name="connsiteX58" fmla="*/ 113593 w 338138"/>
                <a:gd name="connsiteY58" fmla="*/ 290084 h 313831"/>
                <a:gd name="connsiteX59" fmla="*/ 121518 w 338138"/>
                <a:gd name="connsiteY59" fmla="*/ 290084 h 313831"/>
                <a:gd name="connsiteX60" fmla="*/ 137369 w 338138"/>
                <a:gd name="connsiteY60" fmla="*/ 251825 h 313831"/>
                <a:gd name="connsiteX61" fmla="*/ 18492 w 338138"/>
                <a:gd name="connsiteY61" fmla="*/ 251825 h 313831"/>
                <a:gd name="connsiteX62" fmla="*/ 0 w 338138"/>
                <a:gd name="connsiteY62" fmla="*/ 234674 h 313831"/>
                <a:gd name="connsiteX63" fmla="*/ 0 w 338138"/>
                <a:gd name="connsiteY63" fmla="*/ 43376 h 313831"/>
                <a:gd name="connsiteX64" fmla="*/ 18492 w 338138"/>
                <a:gd name="connsiteY64" fmla="*/ 24906 h 313831"/>
                <a:gd name="connsiteX65" fmla="*/ 109666 w 338138"/>
                <a:gd name="connsiteY65" fmla="*/ 1 h 313831"/>
                <a:gd name="connsiteX66" fmla="*/ 126932 w 338138"/>
                <a:gd name="connsiteY66" fmla="*/ 267 h 313831"/>
                <a:gd name="connsiteX67" fmla="*/ 133580 w 338138"/>
                <a:gd name="connsiteY67" fmla="*/ 18637 h 313831"/>
                <a:gd name="connsiteX68" fmla="*/ 144218 w 338138"/>
                <a:gd name="connsiteY68" fmla="*/ 22573 h 313831"/>
                <a:gd name="connsiteX69" fmla="*/ 177460 w 338138"/>
                <a:gd name="connsiteY69" fmla="*/ 29134 h 313831"/>
                <a:gd name="connsiteX70" fmla="*/ 168152 w 338138"/>
                <a:gd name="connsiteY70" fmla="*/ 47504 h 313831"/>
                <a:gd name="connsiteX71" fmla="*/ 173471 w 338138"/>
                <a:gd name="connsiteY71" fmla="*/ 58001 h 313831"/>
                <a:gd name="connsiteX72" fmla="*/ 192087 w 338138"/>
                <a:gd name="connsiteY72" fmla="*/ 67186 h 313831"/>
                <a:gd name="connsiteX73" fmla="*/ 154855 w 338138"/>
                <a:gd name="connsiteY73" fmla="*/ 82931 h 313831"/>
                <a:gd name="connsiteX74" fmla="*/ 116294 w 338138"/>
                <a:gd name="connsiteY74" fmla="*/ 35695 h 313831"/>
                <a:gd name="connsiteX75" fmla="*/ 76403 w 338138"/>
                <a:gd name="connsiteY75" fmla="*/ 75059 h 313831"/>
                <a:gd name="connsiteX76" fmla="*/ 93689 w 338138"/>
                <a:gd name="connsiteY76" fmla="*/ 107862 h 313831"/>
                <a:gd name="connsiteX77" fmla="*/ 59117 w 338138"/>
                <a:gd name="connsiteY77" fmla="*/ 124919 h 313831"/>
                <a:gd name="connsiteX78" fmla="*/ 63106 w 338138"/>
                <a:gd name="connsiteY78" fmla="*/ 102613 h 313831"/>
                <a:gd name="connsiteX79" fmla="*/ 59117 w 338138"/>
                <a:gd name="connsiteY79" fmla="*/ 92116 h 313831"/>
                <a:gd name="connsiteX80" fmla="*/ 40501 w 338138"/>
                <a:gd name="connsiteY80" fmla="*/ 63249 h 313831"/>
                <a:gd name="connsiteX81" fmla="*/ 59117 w 338138"/>
                <a:gd name="connsiteY81" fmla="*/ 58001 h 313831"/>
                <a:gd name="connsiteX82" fmla="*/ 63106 w 338138"/>
                <a:gd name="connsiteY82" fmla="*/ 47504 h 313831"/>
                <a:gd name="connsiteX83" fmla="*/ 69755 w 338138"/>
                <a:gd name="connsiteY83" fmla="*/ 14700 h 313831"/>
                <a:gd name="connsiteX84" fmla="*/ 88370 w 338138"/>
                <a:gd name="connsiteY84" fmla="*/ 22573 h 313831"/>
                <a:gd name="connsiteX85" fmla="*/ 99008 w 338138"/>
                <a:gd name="connsiteY85" fmla="*/ 18637 h 313831"/>
                <a:gd name="connsiteX86" fmla="*/ 109666 w 338138"/>
                <a:gd name="connsiteY86" fmla="*/ 1 h 313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338138" h="313831">
                  <a:moveTo>
                    <a:pt x="288132" y="223343"/>
                  </a:moveTo>
                  <a:cubicBezTo>
                    <a:pt x="283309" y="223343"/>
                    <a:pt x="279400" y="226897"/>
                    <a:pt x="279400" y="231281"/>
                  </a:cubicBezTo>
                  <a:cubicBezTo>
                    <a:pt x="279400" y="235665"/>
                    <a:pt x="283309" y="239219"/>
                    <a:pt x="288132" y="239219"/>
                  </a:cubicBezTo>
                  <a:cubicBezTo>
                    <a:pt x="292955" y="239219"/>
                    <a:pt x="296864" y="235665"/>
                    <a:pt x="296864" y="231281"/>
                  </a:cubicBezTo>
                  <a:cubicBezTo>
                    <a:pt x="296864" y="226897"/>
                    <a:pt x="292955" y="223343"/>
                    <a:pt x="288132" y="223343"/>
                  </a:cubicBezTo>
                  <a:close/>
                  <a:moveTo>
                    <a:pt x="261938" y="223343"/>
                  </a:moveTo>
                  <a:cubicBezTo>
                    <a:pt x="257554" y="223343"/>
                    <a:pt x="254000" y="226897"/>
                    <a:pt x="254000" y="231281"/>
                  </a:cubicBezTo>
                  <a:cubicBezTo>
                    <a:pt x="254000" y="235665"/>
                    <a:pt x="257554" y="239219"/>
                    <a:pt x="261938" y="239219"/>
                  </a:cubicBezTo>
                  <a:cubicBezTo>
                    <a:pt x="266322" y="239219"/>
                    <a:pt x="269876" y="235665"/>
                    <a:pt x="269876" y="231281"/>
                  </a:cubicBezTo>
                  <a:cubicBezTo>
                    <a:pt x="269876" y="226897"/>
                    <a:pt x="266322" y="223343"/>
                    <a:pt x="261938" y="223343"/>
                  </a:cubicBezTo>
                  <a:close/>
                  <a:moveTo>
                    <a:pt x="116535" y="45543"/>
                  </a:moveTo>
                  <a:cubicBezTo>
                    <a:pt x="137788" y="45543"/>
                    <a:pt x="152400" y="68137"/>
                    <a:pt x="141773" y="88073"/>
                  </a:cubicBezTo>
                  <a:cubicBezTo>
                    <a:pt x="141773" y="88073"/>
                    <a:pt x="141773" y="88073"/>
                    <a:pt x="108565" y="102693"/>
                  </a:cubicBezTo>
                  <a:cubicBezTo>
                    <a:pt x="96610" y="98706"/>
                    <a:pt x="87312" y="88073"/>
                    <a:pt x="87312" y="74783"/>
                  </a:cubicBezTo>
                  <a:cubicBezTo>
                    <a:pt x="87312" y="58834"/>
                    <a:pt x="100595" y="45543"/>
                    <a:pt x="116535" y="45543"/>
                  </a:cubicBezTo>
                  <a:close/>
                  <a:moveTo>
                    <a:pt x="254349" y="30428"/>
                  </a:moveTo>
                  <a:cubicBezTo>
                    <a:pt x="271421" y="26493"/>
                    <a:pt x="284553" y="44853"/>
                    <a:pt x="275361" y="48787"/>
                  </a:cubicBezTo>
                  <a:cubicBezTo>
                    <a:pt x="242530" y="63213"/>
                    <a:pt x="243843" y="57967"/>
                    <a:pt x="255662" y="85507"/>
                  </a:cubicBezTo>
                  <a:cubicBezTo>
                    <a:pt x="256976" y="89441"/>
                    <a:pt x="262228" y="92064"/>
                    <a:pt x="266168" y="89441"/>
                  </a:cubicBezTo>
                  <a:cubicBezTo>
                    <a:pt x="266168" y="89441"/>
                    <a:pt x="266168" y="89441"/>
                    <a:pt x="289806" y="80261"/>
                  </a:cubicBezTo>
                  <a:cubicBezTo>
                    <a:pt x="297685" y="76327"/>
                    <a:pt x="301625" y="99933"/>
                    <a:pt x="287180" y="109113"/>
                  </a:cubicBezTo>
                  <a:cubicBezTo>
                    <a:pt x="260915" y="124850"/>
                    <a:pt x="259602" y="123538"/>
                    <a:pt x="225458" y="111735"/>
                  </a:cubicBezTo>
                  <a:cubicBezTo>
                    <a:pt x="225458" y="111735"/>
                    <a:pt x="225458" y="111735"/>
                    <a:pt x="92823" y="166815"/>
                  </a:cubicBezTo>
                  <a:cubicBezTo>
                    <a:pt x="66559" y="177306"/>
                    <a:pt x="50800" y="137964"/>
                    <a:pt x="75751" y="127472"/>
                  </a:cubicBezTo>
                  <a:cubicBezTo>
                    <a:pt x="75751" y="127472"/>
                    <a:pt x="75751" y="127472"/>
                    <a:pt x="208386" y="72393"/>
                  </a:cubicBezTo>
                  <a:cubicBezTo>
                    <a:pt x="217579" y="54033"/>
                    <a:pt x="222832" y="38296"/>
                    <a:pt x="242530" y="33050"/>
                  </a:cubicBezTo>
                  <a:cubicBezTo>
                    <a:pt x="242530" y="33050"/>
                    <a:pt x="242530" y="33050"/>
                    <a:pt x="254349" y="30428"/>
                  </a:cubicBezTo>
                  <a:close/>
                  <a:moveTo>
                    <a:pt x="186871" y="24906"/>
                  </a:moveTo>
                  <a:cubicBezTo>
                    <a:pt x="186871" y="24906"/>
                    <a:pt x="186871" y="24906"/>
                    <a:pt x="231775" y="24906"/>
                  </a:cubicBezTo>
                  <a:cubicBezTo>
                    <a:pt x="220889" y="30080"/>
                    <a:pt x="212725" y="37841"/>
                    <a:pt x="207282" y="48190"/>
                  </a:cubicBezTo>
                  <a:cubicBezTo>
                    <a:pt x="207282" y="48190"/>
                    <a:pt x="207282" y="48190"/>
                    <a:pt x="201839" y="59831"/>
                  </a:cubicBezTo>
                  <a:cubicBezTo>
                    <a:pt x="200479" y="52070"/>
                    <a:pt x="193675" y="45603"/>
                    <a:pt x="184150" y="45603"/>
                  </a:cubicBezTo>
                  <a:cubicBezTo>
                    <a:pt x="190954" y="39135"/>
                    <a:pt x="190954" y="31374"/>
                    <a:pt x="186871" y="24906"/>
                  </a:cubicBezTo>
                  <a:close/>
                  <a:moveTo>
                    <a:pt x="18492" y="24906"/>
                  </a:moveTo>
                  <a:cubicBezTo>
                    <a:pt x="18492" y="24906"/>
                    <a:pt x="18492" y="24906"/>
                    <a:pt x="43588" y="24906"/>
                  </a:cubicBezTo>
                  <a:cubicBezTo>
                    <a:pt x="39626" y="32822"/>
                    <a:pt x="40946" y="40738"/>
                    <a:pt x="46230" y="46015"/>
                  </a:cubicBezTo>
                  <a:cubicBezTo>
                    <a:pt x="36984" y="46015"/>
                    <a:pt x="29059" y="53931"/>
                    <a:pt x="29059" y="63166"/>
                  </a:cubicBezTo>
                  <a:cubicBezTo>
                    <a:pt x="29059" y="82955"/>
                    <a:pt x="27738" y="89552"/>
                    <a:pt x="31700" y="96148"/>
                  </a:cubicBezTo>
                  <a:cubicBezTo>
                    <a:pt x="31700" y="96148"/>
                    <a:pt x="31700" y="96148"/>
                    <a:pt x="31700" y="206969"/>
                  </a:cubicBezTo>
                  <a:cubicBezTo>
                    <a:pt x="31700" y="210926"/>
                    <a:pt x="35663" y="214884"/>
                    <a:pt x="39626" y="214884"/>
                  </a:cubicBezTo>
                  <a:cubicBezTo>
                    <a:pt x="39626" y="214884"/>
                    <a:pt x="39626" y="214884"/>
                    <a:pt x="298512" y="214884"/>
                  </a:cubicBezTo>
                  <a:cubicBezTo>
                    <a:pt x="302475" y="214884"/>
                    <a:pt x="306438" y="210926"/>
                    <a:pt x="306438" y="206969"/>
                  </a:cubicBezTo>
                  <a:cubicBezTo>
                    <a:pt x="306438" y="206969"/>
                    <a:pt x="306438" y="206969"/>
                    <a:pt x="306438" y="104064"/>
                  </a:cubicBezTo>
                  <a:cubicBezTo>
                    <a:pt x="309079" y="96148"/>
                    <a:pt x="310400" y="86913"/>
                    <a:pt x="306438" y="77678"/>
                  </a:cubicBezTo>
                  <a:cubicBezTo>
                    <a:pt x="306438" y="59208"/>
                    <a:pt x="306438" y="61846"/>
                    <a:pt x="274737" y="61846"/>
                  </a:cubicBezTo>
                  <a:cubicBezTo>
                    <a:pt x="274737" y="61846"/>
                    <a:pt x="274737" y="61846"/>
                    <a:pt x="281341" y="59208"/>
                  </a:cubicBezTo>
                  <a:cubicBezTo>
                    <a:pt x="293229" y="53931"/>
                    <a:pt x="294550" y="38099"/>
                    <a:pt x="280021" y="24906"/>
                  </a:cubicBezTo>
                  <a:cubicBezTo>
                    <a:pt x="280021" y="24906"/>
                    <a:pt x="280021" y="24906"/>
                    <a:pt x="319646" y="24906"/>
                  </a:cubicBezTo>
                  <a:cubicBezTo>
                    <a:pt x="330213" y="24906"/>
                    <a:pt x="338138" y="34141"/>
                    <a:pt x="338138" y="43376"/>
                  </a:cubicBezTo>
                  <a:cubicBezTo>
                    <a:pt x="338138" y="43376"/>
                    <a:pt x="338138" y="43376"/>
                    <a:pt x="338138" y="234674"/>
                  </a:cubicBezTo>
                  <a:cubicBezTo>
                    <a:pt x="338138" y="243909"/>
                    <a:pt x="330213" y="251825"/>
                    <a:pt x="319646" y="251825"/>
                  </a:cubicBezTo>
                  <a:cubicBezTo>
                    <a:pt x="319646" y="251825"/>
                    <a:pt x="319646" y="251825"/>
                    <a:pt x="200769" y="251825"/>
                  </a:cubicBezTo>
                  <a:cubicBezTo>
                    <a:pt x="200769" y="251825"/>
                    <a:pt x="200769" y="251825"/>
                    <a:pt x="216620" y="290084"/>
                  </a:cubicBezTo>
                  <a:cubicBezTo>
                    <a:pt x="216620" y="290084"/>
                    <a:pt x="216620" y="290084"/>
                    <a:pt x="224545" y="290084"/>
                  </a:cubicBezTo>
                  <a:cubicBezTo>
                    <a:pt x="229828" y="290084"/>
                    <a:pt x="235112" y="295361"/>
                    <a:pt x="235112" y="301958"/>
                  </a:cubicBezTo>
                  <a:cubicBezTo>
                    <a:pt x="235112" y="308554"/>
                    <a:pt x="229828" y="313831"/>
                    <a:pt x="224545" y="313831"/>
                  </a:cubicBezTo>
                  <a:cubicBezTo>
                    <a:pt x="224545" y="313831"/>
                    <a:pt x="224545" y="313831"/>
                    <a:pt x="113593" y="313831"/>
                  </a:cubicBezTo>
                  <a:cubicBezTo>
                    <a:pt x="108310" y="313831"/>
                    <a:pt x="103026" y="308554"/>
                    <a:pt x="103026" y="301958"/>
                  </a:cubicBezTo>
                  <a:cubicBezTo>
                    <a:pt x="103026" y="295361"/>
                    <a:pt x="108310" y="290084"/>
                    <a:pt x="113593" y="290084"/>
                  </a:cubicBezTo>
                  <a:cubicBezTo>
                    <a:pt x="113593" y="290084"/>
                    <a:pt x="113593" y="290084"/>
                    <a:pt x="121518" y="290084"/>
                  </a:cubicBezTo>
                  <a:cubicBezTo>
                    <a:pt x="121518" y="290084"/>
                    <a:pt x="121518" y="290084"/>
                    <a:pt x="137369" y="251825"/>
                  </a:cubicBezTo>
                  <a:cubicBezTo>
                    <a:pt x="137369" y="251825"/>
                    <a:pt x="137369" y="251825"/>
                    <a:pt x="18492" y="251825"/>
                  </a:cubicBezTo>
                  <a:cubicBezTo>
                    <a:pt x="7925" y="251825"/>
                    <a:pt x="0" y="243909"/>
                    <a:pt x="0" y="234674"/>
                  </a:cubicBezTo>
                  <a:cubicBezTo>
                    <a:pt x="0" y="234674"/>
                    <a:pt x="0" y="234674"/>
                    <a:pt x="0" y="43376"/>
                  </a:cubicBezTo>
                  <a:cubicBezTo>
                    <a:pt x="0" y="34141"/>
                    <a:pt x="7925" y="24906"/>
                    <a:pt x="18492" y="24906"/>
                  </a:cubicBezTo>
                  <a:close/>
                  <a:moveTo>
                    <a:pt x="109666" y="1"/>
                  </a:moveTo>
                  <a:cubicBezTo>
                    <a:pt x="113718" y="21"/>
                    <a:pt x="119286" y="267"/>
                    <a:pt x="126932" y="267"/>
                  </a:cubicBezTo>
                  <a:cubicBezTo>
                    <a:pt x="134910" y="267"/>
                    <a:pt x="133580" y="10764"/>
                    <a:pt x="133580" y="18637"/>
                  </a:cubicBezTo>
                  <a:cubicBezTo>
                    <a:pt x="137569" y="19949"/>
                    <a:pt x="140229" y="21261"/>
                    <a:pt x="144218" y="22573"/>
                  </a:cubicBezTo>
                  <a:cubicBezTo>
                    <a:pt x="158845" y="6828"/>
                    <a:pt x="154855" y="8140"/>
                    <a:pt x="177460" y="29134"/>
                  </a:cubicBezTo>
                  <a:cubicBezTo>
                    <a:pt x="182779" y="35695"/>
                    <a:pt x="174801" y="40943"/>
                    <a:pt x="168152" y="47504"/>
                  </a:cubicBezTo>
                  <a:cubicBezTo>
                    <a:pt x="170812" y="50128"/>
                    <a:pt x="172142" y="54065"/>
                    <a:pt x="173471" y="58001"/>
                  </a:cubicBezTo>
                  <a:cubicBezTo>
                    <a:pt x="188098" y="58001"/>
                    <a:pt x="192087" y="55377"/>
                    <a:pt x="192087" y="67186"/>
                  </a:cubicBezTo>
                  <a:cubicBezTo>
                    <a:pt x="192087" y="67186"/>
                    <a:pt x="192087" y="67186"/>
                    <a:pt x="154855" y="82931"/>
                  </a:cubicBezTo>
                  <a:cubicBezTo>
                    <a:pt x="160174" y="58001"/>
                    <a:pt x="140229" y="35695"/>
                    <a:pt x="116294" y="35695"/>
                  </a:cubicBezTo>
                  <a:cubicBezTo>
                    <a:pt x="93689" y="35695"/>
                    <a:pt x="76403" y="52753"/>
                    <a:pt x="76403" y="75059"/>
                  </a:cubicBezTo>
                  <a:cubicBezTo>
                    <a:pt x="76403" y="88180"/>
                    <a:pt x="83052" y="101301"/>
                    <a:pt x="93689" y="107862"/>
                  </a:cubicBezTo>
                  <a:cubicBezTo>
                    <a:pt x="73744" y="117047"/>
                    <a:pt x="67095" y="118359"/>
                    <a:pt x="59117" y="124919"/>
                  </a:cubicBezTo>
                  <a:cubicBezTo>
                    <a:pt x="48479" y="114422"/>
                    <a:pt x="49809" y="115734"/>
                    <a:pt x="63106" y="102613"/>
                  </a:cubicBezTo>
                  <a:cubicBezTo>
                    <a:pt x="61776" y="98677"/>
                    <a:pt x="60447" y="96053"/>
                    <a:pt x="59117" y="92116"/>
                  </a:cubicBezTo>
                  <a:cubicBezTo>
                    <a:pt x="36512" y="92116"/>
                    <a:pt x="40501" y="94740"/>
                    <a:pt x="40501" y="63249"/>
                  </a:cubicBezTo>
                  <a:cubicBezTo>
                    <a:pt x="40501" y="55377"/>
                    <a:pt x="51139" y="58001"/>
                    <a:pt x="59117" y="58001"/>
                  </a:cubicBezTo>
                  <a:cubicBezTo>
                    <a:pt x="60447" y="54065"/>
                    <a:pt x="61776" y="50128"/>
                    <a:pt x="63106" y="47504"/>
                  </a:cubicBezTo>
                  <a:cubicBezTo>
                    <a:pt x="47150" y="31759"/>
                    <a:pt x="48479" y="35695"/>
                    <a:pt x="69755" y="14700"/>
                  </a:cubicBezTo>
                  <a:cubicBezTo>
                    <a:pt x="76403" y="8140"/>
                    <a:pt x="81722" y="17325"/>
                    <a:pt x="88370" y="22573"/>
                  </a:cubicBezTo>
                  <a:cubicBezTo>
                    <a:pt x="91030" y="21261"/>
                    <a:pt x="95019" y="19949"/>
                    <a:pt x="99008" y="18637"/>
                  </a:cubicBezTo>
                  <a:cubicBezTo>
                    <a:pt x="99008" y="1907"/>
                    <a:pt x="97512" y="-61"/>
                    <a:pt x="109666" y="1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</p:sp>
        <p:sp>
          <p:nvSpPr>
            <p:cNvPr id="63" name="graph_134483"/>
            <p:cNvSpPr>
              <a:spLocks noChangeAspect="1"/>
            </p:cNvSpPr>
            <p:nvPr/>
          </p:nvSpPr>
          <p:spPr bwMode="auto">
            <a:xfrm>
              <a:off x="9435038" y="3005673"/>
              <a:ext cx="609685" cy="555432"/>
            </a:xfrm>
            <a:custGeom>
              <a:avLst/>
              <a:gdLst>
                <a:gd name="connsiteX0" fmla="*/ 260506 w 331788"/>
                <a:gd name="connsiteY0" fmla="*/ 76839 h 302264"/>
                <a:gd name="connsiteX1" fmla="*/ 326604 w 331788"/>
                <a:gd name="connsiteY1" fmla="*/ 76839 h 302264"/>
                <a:gd name="connsiteX2" fmla="*/ 326604 w 331788"/>
                <a:gd name="connsiteY2" fmla="*/ 291959 h 302264"/>
                <a:gd name="connsiteX3" fmla="*/ 331788 w 331788"/>
                <a:gd name="connsiteY3" fmla="*/ 297111 h 302264"/>
                <a:gd name="connsiteX4" fmla="*/ 326604 w 331788"/>
                <a:gd name="connsiteY4" fmla="*/ 302264 h 302264"/>
                <a:gd name="connsiteX5" fmla="*/ 5184 w 331788"/>
                <a:gd name="connsiteY5" fmla="*/ 302264 h 302264"/>
                <a:gd name="connsiteX6" fmla="*/ 0 w 331788"/>
                <a:gd name="connsiteY6" fmla="*/ 297111 h 302264"/>
                <a:gd name="connsiteX7" fmla="*/ 5184 w 331788"/>
                <a:gd name="connsiteY7" fmla="*/ 291959 h 302264"/>
                <a:gd name="connsiteX8" fmla="*/ 11664 w 331788"/>
                <a:gd name="connsiteY8" fmla="*/ 291959 h 302264"/>
                <a:gd name="connsiteX9" fmla="*/ 11664 w 331788"/>
                <a:gd name="connsiteY9" fmla="*/ 214670 h 302264"/>
                <a:gd name="connsiteX10" fmla="*/ 77763 w 331788"/>
                <a:gd name="connsiteY10" fmla="*/ 214670 h 302264"/>
                <a:gd name="connsiteX11" fmla="*/ 77763 w 331788"/>
                <a:gd name="connsiteY11" fmla="*/ 291959 h 302264"/>
                <a:gd name="connsiteX12" fmla="*/ 94612 w 331788"/>
                <a:gd name="connsiteY12" fmla="*/ 291959 h 302264"/>
                <a:gd name="connsiteX13" fmla="*/ 94612 w 331788"/>
                <a:gd name="connsiteY13" fmla="*/ 165721 h 302264"/>
                <a:gd name="connsiteX14" fmla="*/ 160710 w 331788"/>
                <a:gd name="connsiteY14" fmla="*/ 165721 h 302264"/>
                <a:gd name="connsiteX15" fmla="*/ 160710 w 331788"/>
                <a:gd name="connsiteY15" fmla="*/ 291959 h 302264"/>
                <a:gd name="connsiteX16" fmla="*/ 177559 w 331788"/>
                <a:gd name="connsiteY16" fmla="*/ 291959 h 302264"/>
                <a:gd name="connsiteX17" fmla="*/ 177559 w 331788"/>
                <a:gd name="connsiteY17" fmla="*/ 121924 h 302264"/>
                <a:gd name="connsiteX18" fmla="*/ 243657 w 331788"/>
                <a:gd name="connsiteY18" fmla="*/ 121924 h 302264"/>
                <a:gd name="connsiteX19" fmla="*/ 243657 w 331788"/>
                <a:gd name="connsiteY19" fmla="*/ 291959 h 302264"/>
                <a:gd name="connsiteX20" fmla="*/ 260506 w 331788"/>
                <a:gd name="connsiteY20" fmla="*/ 291959 h 302264"/>
                <a:gd name="connsiteX21" fmla="*/ 260506 w 331788"/>
                <a:gd name="connsiteY21" fmla="*/ 76839 h 302264"/>
                <a:gd name="connsiteX22" fmla="*/ 212230 w 331788"/>
                <a:gd name="connsiteY22" fmla="*/ 334 h 302264"/>
                <a:gd name="connsiteX23" fmla="*/ 259954 w 331788"/>
                <a:gd name="connsiteY23" fmla="*/ 4179 h 302264"/>
                <a:gd name="connsiteX24" fmla="*/ 261244 w 331788"/>
                <a:gd name="connsiteY24" fmla="*/ 5460 h 302264"/>
                <a:gd name="connsiteX25" fmla="*/ 262534 w 331788"/>
                <a:gd name="connsiteY25" fmla="*/ 5460 h 302264"/>
                <a:gd name="connsiteX26" fmla="*/ 263823 w 331788"/>
                <a:gd name="connsiteY26" fmla="*/ 6742 h 302264"/>
                <a:gd name="connsiteX27" fmla="*/ 263823 w 331788"/>
                <a:gd name="connsiteY27" fmla="*/ 8024 h 302264"/>
                <a:gd name="connsiteX28" fmla="*/ 265113 w 331788"/>
                <a:gd name="connsiteY28" fmla="*/ 8024 h 302264"/>
                <a:gd name="connsiteX29" fmla="*/ 265113 w 331788"/>
                <a:gd name="connsiteY29" fmla="*/ 9305 h 302264"/>
                <a:gd name="connsiteX30" fmla="*/ 265113 w 331788"/>
                <a:gd name="connsiteY30" fmla="*/ 10587 h 302264"/>
                <a:gd name="connsiteX31" fmla="*/ 265113 w 331788"/>
                <a:gd name="connsiteY31" fmla="*/ 11869 h 302264"/>
                <a:gd name="connsiteX32" fmla="*/ 263823 w 331788"/>
                <a:gd name="connsiteY32" fmla="*/ 11869 h 302264"/>
                <a:gd name="connsiteX33" fmla="*/ 244476 w 331788"/>
                <a:gd name="connsiteY33" fmla="*/ 55445 h 302264"/>
                <a:gd name="connsiteX34" fmla="*/ 239316 w 331788"/>
                <a:gd name="connsiteY34" fmla="*/ 58008 h 302264"/>
                <a:gd name="connsiteX35" fmla="*/ 238026 w 331788"/>
                <a:gd name="connsiteY35" fmla="*/ 58008 h 302264"/>
                <a:gd name="connsiteX36" fmla="*/ 234157 w 331788"/>
                <a:gd name="connsiteY36" fmla="*/ 50318 h 302264"/>
                <a:gd name="connsiteX37" fmla="*/ 247055 w 331788"/>
                <a:gd name="connsiteY37" fmla="*/ 23403 h 302264"/>
                <a:gd name="connsiteX38" fmla="*/ 47129 w 331788"/>
                <a:gd name="connsiteY38" fmla="*/ 137470 h 302264"/>
                <a:gd name="connsiteX39" fmla="*/ 44549 w 331788"/>
                <a:gd name="connsiteY39" fmla="*/ 138752 h 302264"/>
                <a:gd name="connsiteX40" fmla="*/ 40680 w 331788"/>
                <a:gd name="connsiteY40" fmla="*/ 136189 h 302264"/>
                <a:gd name="connsiteX41" fmla="*/ 41970 w 331788"/>
                <a:gd name="connsiteY41" fmla="*/ 128499 h 302264"/>
                <a:gd name="connsiteX42" fmla="*/ 241896 w 331788"/>
                <a:gd name="connsiteY42" fmla="*/ 13150 h 302264"/>
                <a:gd name="connsiteX43" fmla="*/ 212230 w 331788"/>
                <a:gd name="connsiteY43" fmla="*/ 10587 h 302264"/>
                <a:gd name="connsiteX44" fmla="*/ 207070 w 331788"/>
                <a:gd name="connsiteY44" fmla="*/ 5460 h 302264"/>
                <a:gd name="connsiteX45" fmla="*/ 212230 w 331788"/>
                <a:gd name="connsiteY45" fmla="*/ 334 h 302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1788" h="302264">
                  <a:moveTo>
                    <a:pt x="260506" y="76839"/>
                  </a:moveTo>
                  <a:cubicBezTo>
                    <a:pt x="260506" y="76839"/>
                    <a:pt x="260506" y="76839"/>
                    <a:pt x="326604" y="76839"/>
                  </a:cubicBezTo>
                  <a:cubicBezTo>
                    <a:pt x="326604" y="76839"/>
                    <a:pt x="326604" y="76839"/>
                    <a:pt x="326604" y="291959"/>
                  </a:cubicBezTo>
                  <a:cubicBezTo>
                    <a:pt x="329196" y="291959"/>
                    <a:pt x="331788" y="294535"/>
                    <a:pt x="331788" y="297111"/>
                  </a:cubicBezTo>
                  <a:cubicBezTo>
                    <a:pt x="331788" y="299688"/>
                    <a:pt x="329196" y="302264"/>
                    <a:pt x="326604" y="302264"/>
                  </a:cubicBezTo>
                  <a:cubicBezTo>
                    <a:pt x="326604" y="302264"/>
                    <a:pt x="326604" y="302264"/>
                    <a:pt x="5184" y="302264"/>
                  </a:cubicBezTo>
                  <a:cubicBezTo>
                    <a:pt x="2592" y="302264"/>
                    <a:pt x="0" y="299688"/>
                    <a:pt x="0" y="297111"/>
                  </a:cubicBezTo>
                  <a:cubicBezTo>
                    <a:pt x="0" y="294535"/>
                    <a:pt x="2592" y="291959"/>
                    <a:pt x="5184" y="291959"/>
                  </a:cubicBezTo>
                  <a:cubicBezTo>
                    <a:pt x="5184" y="291959"/>
                    <a:pt x="5184" y="291959"/>
                    <a:pt x="11664" y="291959"/>
                  </a:cubicBezTo>
                  <a:cubicBezTo>
                    <a:pt x="11664" y="291959"/>
                    <a:pt x="11664" y="291959"/>
                    <a:pt x="11664" y="214670"/>
                  </a:cubicBezTo>
                  <a:cubicBezTo>
                    <a:pt x="11664" y="214670"/>
                    <a:pt x="11664" y="214670"/>
                    <a:pt x="77763" y="214670"/>
                  </a:cubicBezTo>
                  <a:cubicBezTo>
                    <a:pt x="77763" y="214670"/>
                    <a:pt x="77763" y="214670"/>
                    <a:pt x="77763" y="291959"/>
                  </a:cubicBezTo>
                  <a:cubicBezTo>
                    <a:pt x="77763" y="291959"/>
                    <a:pt x="77763" y="291959"/>
                    <a:pt x="94612" y="291959"/>
                  </a:cubicBezTo>
                  <a:cubicBezTo>
                    <a:pt x="94612" y="291959"/>
                    <a:pt x="94612" y="291959"/>
                    <a:pt x="94612" y="165721"/>
                  </a:cubicBezTo>
                  <a:cubicBezTo>
                    <a:pt x="94612" y="165721"/>
                    <a:pt x="94612" y="165721"/>
                    <a:pt x="160710" y="165721"/>
                  </a:cubicBezTo>
                  <a:cubicBezTo>
                    <a:pt x="160710" y="165721"/>
                    <a:pt x="160710" y="165721"/>
                    <a:pt x="160710" y="291959"/>
                  </a:cubicBezTo>
                  <a:cubicBezTo>
                    <a:pt x="160710" y="291959"/>
                    <a:pt x="160710" y="291959"/>
                    <a:pt x="177559" y="291959"/>
                  </a:cubicBezTo>
                  <a:cubicBezTo>
                    <a:pt x="177559" y="291959"/>
                    <a:pt x="177559" y="291959"/>
                    <a:pt x="177559" y="121924"/>
                  </a:cubicBezTo>
                  <a:cubicBezTo>
                    <a:pt x="177559" y="121924"/>
                    <a:pt x="177559" y="121924"/>
                    <a:pt x="243657" y="121924"/>
                  </a:cubicBezTo>
                  <a:cubicBezTo>
                    <a:pt x="243657" y="121924"/>
                    <a:pt x="243657" y="121924"/>
                    <a:pt x="243657" y="291959"/>
                  </a:cubicBezTo>
                  <a:cubicBezTo>
                    <a:pt x="243657" y="291959"/>
                    <a:pt x="243657" y="291959"/>
                    <a:pt x="260506" y="291959"/>
                  </a:cubicBezTo>
                  <a:cubicBezTo>
                    <a:pt x="260506" y="291959"/>
                    <a:pt x="260506" y="291959"/>
                    <a:pt x="260506" y="76839"/>
                  </a:cubicBezTo>
                  <a:close/>
                  <a:moveTo>
                    <a:pt x="212230" y="334"/>
                  </a:moveTo>
                  <a:cubicBezTo>
                    <a:pt x="212230" y="334"/>
                    <a:pt x="212230" y="334"/>
                    <a:pt x="259954" y="4179"/>
                  </a:cubicBezTo>
                  <a:cubicBezTo>
                    <a:pt x="259954" y="4179"/>
                    <a:pt x="261244" y="4179"/>
                    <a:pt x="261244" y="5460"/>
                  </a:cubicBezTo>
                  <a:cubicBezTo>
                    <a:pt x="262534" y="5460"/>
                    <a:pt x="262534" y="5460"/>
                    <a:pt x="262534" y="5460"/>
                  </a:cubicBezTo>
                  <a:cubicBezTo>
                    <a:pt x="262534" y="5460"/>
                    <a:pt x="263823" y="6742"/>
                    <a:pt x="263823" y="6742"/>
                  </a:cubicBezTo>
                  <a:cubicBezTo>
                    <a:pt x="263823" y="6742"/>
                    <a:pt x="263823" y="8024"/>
                    <a:pt x="263823" y="8024"/>
                  </a:cubicBezTo>
                  <a:cubicBezTo>
                    <a:pt x="263823" y="8024"/>
                    <a:pt x="265113" y="8024"/>
                    <a:pt x="265113" y="8024"/>
                  </a:cubicBezTo>
                  <a:cubicBezTo>
                    <a:pt x="265113" y="8024"/>
                    <a:pt x="265113" y="8024"/>
                    <a:pt x="265113" y="9305"/>
                  </a:cubicBezTo>
                  <a:cubicBezTo>
                    <a:pt x="265113" y="9305"/>
                    <a:pt x="265113" y="10587"/>
                    <a:pt x="265113" y="10587"/>
                  </a:cubicBezTo>
                  <a:cubicBezTo>
                    <a:pt x="265113" y="10587"/>
                    <a:pt x="265113" y="11869"/>
                    <a:pt x="265113" y="11869"/>
                  </a:cubicBezTo>
                  <a:cubicBezTo>
                    <a:pt x="263823" y="11869"/>
                    <a:pt x="263823" y="11869"/>
                    <a:pt x="263823" y="11869"/>
                  </a:cubicBezTo>
                  <a:cubicBezTo>
                    <a:pt x="263823" y="11869"/>
                    <a:pt x="263823" y="11869"/>
                    <a:pt x="244476" y="55445"/>
                  </a:cubicBezTo>
                  <a:cubicBezTo>
                    <a:pt x="244476" y="56726"/>
                    <a:pt x="241896" y="58008"/>
                    <a:pt x="239316" y="58008"/>
                  </a:cubicBezTo>
                  <a:cubicBezTo>
                    <a:pt x="239316" y="58008"/>
                    <a:pt x="238026" y="58008"/>
                    <a:pt x="238026" y="58008"/>
                  </a:cubicBezTo>
                  <a:cubicBezTo>
                    <a:pt x="234157" y="56726"/>
                    <a:pt x="232867" y="52881"/>
                    <a:pt x="234157" y="50318"/>
                  </a:cubicBezTo>
                  <a:cubicBezTo>
                    <a:pt x="234157" y="50318"/>
                    <a:pt x="234157" y="50318"/>
                    <a:pt x="247055" y="23403"/>
                  </a:cubicBezTo>
                  <a:cubicBezTo>
                    <a:pt x="247055" y="23403"/>
                    <a:pt x="247055" y="23403"/>
                    <a:pt x="47129" y="137470"/>
                  </a:cubicBezTo>
                  <a:cubicBezTo>
                    <a:pt x="47129" y="138752"/>
                    <a:pt x="45839" y="138752"/>
                    <a:pt x="44549" y="138752"/>
                  </a:cubicBezTo>
                  <a:cubicBezTo>
                    <a:pt x="43260" y="138752"/>
                    <a:pt x="40680" y="137470"/>
                    <a:pt x="40680" y="136189"/>
                  </a:cubicBezTo>
                  <a:cubicBezTo>
                    <a:pt x="38100" y="133625"/>
                    <a:pt x="39390" y="129780"/>
                    <a:pt x="41970" y="128499"/>
                  </a:cubicBezTo>
                  <a:cubicBezTo>
                    <a:pt x="41970" y="128499"/>
                    <a:pt x="41970" y="128499"/>
                    <a:pt x="241896" y="13150"/>
                  </a:cubicBezTo>
                  <a:cubicBezTo>
                    <a:pt x="241896" y="13150"/>
                    <a:pt x="241896" y="13150"/>
                    <a:pt x="212230" y="10587"/>
                  </a:cubicBezTo>
                  <a:cubicBezTo>
                    <a:pt x="208360" y="10587"/>
                    <a:pt x="207070" y="8024"/>
                    <a:pt x="207070" y="5460"/>
                  </a:cubicBezTo>
                  <a:cubicBezTo>
                    <a:pt x="207070" y="1615"/>
                    <a:pt x="209650" y="-948"/>
                    <a:pt x="212230" y="334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58495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背景属性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2209865"/>
              <a:ext cx="9297926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使用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background-attachment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属性可以将背景图像固定。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408874" y="1776747"/>
              <a:ext cx="290816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）设置背景图像固定</a:t>
              </a:r>
            </a:p>
          </p:txBody>
        </p:sp>
      </p:grpSp>
      <p:sp>
        <p:nvSpPr>
          <p:cNvPr id="30" name="原创设计师QQ598969553          _3"/>
          <p:cNvSpPr/>
          <p:nvPr/>
        </p:nvSpPr>
        <p:spPr>
          <a:xfrm>
            <a:off x="1019175" y="3929864"/>
            <a:ext cx="4590731" cy="1475753"/>
          </a:xfrm>
          <a:prstGeom prst="roundRect">
            <a:avLst>
              <a:gd name="adj" fmla="val 9083"/>
            </a:avLst>
          </a:prstGeom>
          <a:noFill/>
          <a:ln>
            <a:solidFill>
              <a:srgbClr val="ADBA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2" name="原创设计师QQ598969553          _4"/>
          <p:cNvSpPr/>
          <p:nvPr/>
        </p:nvSpPr>
        <p:spPr>
          <a:xfrm>
            <a:off x="1352550" y="4477111"/>
            <a:ext cx="3923980" cy="417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图像随页面一起滚动（默认值）。</a:t>
            </a:r>
          </a:p>
        </p:txBody>
      </p:sp>
      <p:sp>
        <p:nvSpPr>
          <p:cNvPr id="33" name="原创设计师QQ598969553          _6"/>
          <p:cNvSpPr/>
          <p:nvPr/>
        </p:nvSpPr>
        <p:spPr>
          <a:xfrm>
            <a:off x="1674781" y="3695781"/>
            <a:ext cx="3279515" cy="462161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ctr" defTabSz="1450340">
              <a:lnSpc>
                <a:spcPct val="200000"/>
              </a:lnSpc>
            </a:pPr>
            <a:endParaRPr lang="zh-CN" altLang="en-US" sz="1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4" name="原创设计师QQ598969553          _3"/>
          <p:cNvSpPr/>
          <p:nvPr/>
        </p:nvSpPr>
        <p:spPr>
          <a:xfrm>
            <a:off x="6761482" y="3929864"/>
            <a:ext cx="4590731" cy="1475753"/>
          </a:xfrm>
          <a:prstGeom prst="roundRect">
            <a:avLst>
              <a:gd name="adj" fmla="val 9083"/>
            </a:avLst>
          </a:prstGeom>
          <a:noFill/>
          <a:ln>
            <a:solidFill>
              <a:srgbClr val="ADBA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原创设计师QQ598969553          _6"/>
          <p:cNvSpPr/>
          <p:nvPr/>
        </p:nvSpPr>
        <p:spPr>
          <a:xfrm>
            <a:off x="7417088" y="3695781"/>
            <a:ext cx="3279515" cy="462161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ctr" defTabSz="1450340">
              <a:lnSpc>
                <a:spcPct val="200000"/>
              </a:lnSpc>
            </a:pPr>
            <a:endParaRPr lang="zh-CN" altLang="en-US" sz="1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7" name="原创设计师QQ598969553          _7"/>
          <p:cNvSpPr txBox="1"/>
          <p:nvPr/>
        </p:nvSpPr>
        <p:spPr>
          <a:xfrm>
            <a:off x="1915552" y="3738698"/>
            <a:ext cx="27979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scroll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8" name="原创设计师QQ598969553          _7"/>
          <p:cNvSpPr txBox="1"/>
          <p:nvPr/>
        </p:nvSpPr>
        <p:spPr>
          <a:xfrm>
            <a:off x="7657859" y="3738698"/>
            <a:ext cx="27979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fixed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9" name="原创设计师QQ598969553          _4"/>
          <p:cNvSpPr/>
          <p:nvPr/>
        </p:nvSpPr>
        <p:spPr>
          <a:xfrm>
            <a:off x="7152140" y="4477111"/>
            <a:ext cx="3923980" cy="417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图像固定在屏幕上，不随页面滚动。</a:t>
            </a:r>
          </a:p>
        </p:txBody>
      </p:sp>
    </p:spTree>
    <p:extLst>
      <p:ext uri="{BB962C8B-B14F-4D97-AF65-F5344CB8AC3E}">
        <p14:creationId xmlns:p14="http://schemas.microsoft.com/office/powerpoint/2010/main" val="2432147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背景属性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2209865"/>
              <a:ext cx="9297926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我们可以将背景相关的样式都综合定义在一个复合属性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background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408874" y="1776747"/>
              <a:ext cx="316464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）综合设置元素的背景</a:t>
              </a:r>
            </a:p>
          </p:txBody>
        </p:sp>
      </p:grpSp>
      <p:grpSp>
        <p:nvGrpSpPr>
          <p:cNvPr id="19" name="组合 8"/>
          <p:cNvGrpSpPr/>
          <p:nvPr/>
        </p:nvGrpSpPr>
        <p:grpSpPr bwMode="auto">
          <a:xfrm>
            <a:off x="1019176" y="3533913"/>
            <a:ext cx="10333038" cy="882807"/>
            <a:chOff x="-569288" y="2283718"/>
            <a:chExt cx="12395214" cy="883114"/>
          </a:xfrm>
        </p:grpSpPr>
        <p:sp>
          <p:nvSpPr>
            <p:cNvPr id="20" name="矩形 19"/>
            <p:cNvSpPr/>
            <p:nvPr/>
          </p:nvSpPr>
          <p:spPr>
            <a:xfrm>
              <a:off x="-569288" y="2283718"/>
              <a:ext cx="12395214" cy="8831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390429" y="2484102"/>
              <a:ext cx="5441545" cy="41833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background: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背景色 </a:t>
              </a: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url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("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图像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") 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平铺 定位 固定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</p:txBody>
        </p:sp>
      </p:grpSp>
      <p:sp>
        <p:nvSpPr>
          <p:cNvPr id="22" name="下箭头 21"/>
          <p:cNvSpPr/>
          <p:nvPr/>
        </p:nvSpPr>
        <p:spPr>
          <a:xfrm>
            <a:off x="2094271" y="2986127"/>
            <a:ext cx="512206" cy="442451"/>
          </a:xfrm>
          <a:prstGeom prst="downArrow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2350374" y="2971938"/>
            <a:ext cx="178508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语法格式</a:t>
            </a:r>
            <a:endParaRPr lang="zh-CN" altLang="en-US" sz="2000" dirty="0">
              <a:solidFill>
                <a:srgbClr val="1369B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7313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宽度属性和高度属性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72367" y="3355761"/>
            <a:ext cx="3884345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掌握设置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宽度属性和高度属性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的方法，在网页设计中能够对盒子的大小进行控制。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3877625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宽度属性和高度属性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1903159"/>
              <a:ext cx="9297926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中使用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宽度属性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——width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高度属性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——height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可以对盒子的大小进行控制。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width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height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的属性值可以为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不同单位的数值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或相对于父元素的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百分比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，实际工作中最常用的是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像素值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sp>
        <p:nvSpPr>
          <p:cNvPr id="18" name="原创设计师QQ598969553          _3"/>
          <p:cNvSpPr/>
          <p:nvPr/>
        </p:nvSpPr>
        <p:spPr>
          <a:xfrm>
            <a:off x="1642737" y="3575010"/>
            <a:ext cx="9297925" cy="1600838"/>
          </a:xfrm>
          <a:prstGeom prst="roundRect">
            <a:avLst>
              <a:gd name="adj" fmla="val 9083"/>
            </a:avLst>
          </a:prstGeom>
          <a:noFill/>
          <a:ln>
            <a:solidFill>
              <a:srgbClr val="ADBA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原创设计师QQ598969553          _4"/>
          <p:cNvSpPr/>
          <p:nvPr/>
        </p:nvSpPr>
        <p:spPr>
          <a:xfrm>
            <a:off x="1949570" y="3966194"/>
            <a:ext cx="8540151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盒子的总宽度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= width+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左右内边距之和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+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左右边框宽度之和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+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左右外边距之和。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盒子的总高度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= height+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上下内边距之和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+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上下边框宽度之和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+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上下外边距之和。</a:t>
            </a:r>
          </a:p>
        </p:txBody>
      </p:sp>
      <p:sp>
        <p:nvSpPr>
          <p:cNvPr id="20" name="原创设计师QQ598969553          _6"/>
          <p:cNvSpPr/>
          <p:nvPr/>
        </p:nvSpPr>
        <p:spPr>
          <a:xfrm>
            <a:off x="4418410" y="3340927"/>
            <a:ext cx="3279515" cy="462161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ctr" defTabSz="1450340">
              <a:lnSpc>
                <a:spcPct val="200000"/>
              </a:lnSpc>
            </a:pPr>
            <a:endParaRPr lang="zh-CN" altLang="en-US" sz="1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1" name="原创设计师QQ598969553          _7"/>
          <p:cNvSpPr txBox="1"/>
          <p:nvPr/>
        </p:nvSpPr>
        <p:spPr>
          <a:xfrm>
            <a:off x="4649656" y="3390725"/>
            <a:ext cx="2797972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计算原则</a:t>
            </a:r>
          </a:p>
        </p:txBody>
      </p:sp>
      <p:sp>
        <p:nvSpPr>
          <p:cNvPr id="22" name="原创设计师QQ598969553          _4"/>
          <p:cNvSpPr/>
          <p:nvPr/>
        </p:nvSpPr>
        <p:spPr>
          <a:xfrm>
            <a:off x="1216852" y="5480904"/>
            <a:ext cx="9859268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注意：宽度属性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width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和高度属性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height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仅适用于块级元素，对行内元素无效。特殊的行内元素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&lt;</a:t>
            </a:r>
            <a:r>
              <a:rPr lang="en-US" altLang="zh-CN" sz="18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img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/&gt;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和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&lt;input /&gt;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除外。</a:t>
            </a:r>
          </a:p>
        </p:txBody>
      </p:sp>
    </p:spTree>
    <p:extLst>
      <p:ext uri="{BB962C8B-B14F-4D97-AF65-F5344CB8AC3E}">
        <p14:creationId xmlns:p14="http://schemas.microsoft.com/office/powerpoint/2010/main" val="4256556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30845"/>
            <a:ext cx="7957137" cy="769441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4-3】</a:t>
            </a:r>
            <a:r>
              <a:rPr lang="zh-CN" altLang="en-US" sz="44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盒子模型</a:t>
            </a:r>
            <a:r>
              <a:rPr lang="zh-CN" altLang="en-US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新增属性</a:t>
            </a:r>
            <a:endParaRPr lang="en-GB" altLang="zh-CN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03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39196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847990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5087094" y="3136642"/>
            <a:ext cx="6264696" cy="1969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为了丰富网页的样式功能，去除一些冗余的样式代码，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CSS3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中添加了一些新的盒子模型属性。例如，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颜色透明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圆角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阴影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渐变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等。下面将详细介绍这些全新的的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样式属性。</a:t>
            </a:r>
          </a:p>
        </p:txBody>
      </p:sp>
      <p:sp>
        <p:nvSpPr>
          <p:cNvPr id="5" name="矩形 4"/>
          <p:cNvSpPr/>
          <p:nvPr/>
        </p:nvSpPr>
        <p:spPr>
          <a:xfrm>
            <a:off x="1702718" y="5590034"/>
            <a:ext cx="9721080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641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透明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72367" y="3355761"/>
            <a:ext cx="388434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掌握设置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颜色透明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的方法，能够使用不同的属性设置透明度。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2120712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透明</a:t>
            </a:r>
            <a:endParaRPr lang="zh-CN" altLang="en-US" sz="2000" dirty="0"/>
          </a:p>
        </p:txBody>
      </p:sp>
      <p:sp>
        <p:nvSpPr>
          <p:cNvPr id="9" name="矩形: 剪去单角 437"/>
          <p:cNvSpPr/>
          <p:nvPr/>
        </p:nvSpPr>
        <p:spPr bwMode="auto">
          <a:xfrm>
            <a:off x="1209955" y="1943930"/>
            <a:ext cx="2982018" cy="3556984"/>
          </a:xfrm>
          <a:prstGeom prst="snip1Rect">
            <a:avLst>
              <a:gd name="adj" fmla="val 29383"/>
            </a:avLst>
          </a:prstGeom>
          <a:solidFill>
            <a:srgbClr val="F6F6F6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90204"/>
            </a:endParaRPr>
          </a:p>
        </p:txBody>
      </p:sp>
      <p:sp>
        <p:nvSpPr>
          <p:cNvPr id="10" name="矩形 42"/>
          <p:cNvSpPr>
            <a:spLocks noChangeArrowheads="1"/>
          </p:cNvSpPr>
          <p:nvPr/>
        </p:nvSpPr>
        <p:spPr bwMode="auto">
          <a:xfrm>
            <a:off x="1209534" y="5429408"/>
            <a:ext cx="2982439" cy="1378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3" name="任意多边形: 形状 438"/>
          <p:cNvSpPr/>
          <p:nvPr/>
        </p:nvSpPr>
        <p:spPr bwMode="auto">
          <a:xfrm>
            <a:off x="3439939" y="1943930"/>
            <a:ext cx="752457" cy="805713"/>
          </a:xfrm>
          <a:custGeom>
            <a:avLst/>
            <a:gdLst>
              <a:gd name="T0" fmla="*/ 631242 w 608"/>
              <a:gd name="T1" fmla="*/ 0 h 608"/>
              <a:gd name="T2" fmla="*/ 0 w 608"/>
              <a:gd name="T3" fmla="*/ 0 h 608"/>
              <a:gd name="T4" fmla="*/ 631242 w 608"/>
              <a:gd name="T5" fmla="*/ 631242 h 608"/>
              <a:gd name="T6" fmla="*/ 631242 w 608"/>
              <a:gd name="T7" fmla="*/ 0 h 608"/>
              <a:gd name="T8" fmla="*/ 0 60000 65536"/>
              <a:gd name="T9" fmla="*/ 0 60000 65536"/>
              <a:gd name="T10" fmla="*/ 0 60000 65536"/>
              <a:gd name="T11" fmla="*/ 0 60000 65536"/>
              <a:gd name="T12" fmla="*/ 0 w 608"/>
              <a:gd name="T13" fmla="*/ 0 h 608"/>
              <a:gd name="T14" fmla="*/ 608 w 608"/>
              <a:gd name="T15" fmla="*/ 608 h 60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08" h="608">
                <a:moveTo>
                  <a:pt x="608" y="0"/>
                </a:moveTo>
                <a:lnTo>
                  <a:pt x="0" y="0"/>
                </a:lnTo>
                <a:lnTo>
                  <a:pt x="608" y="608"/>
                </a:lnTo>
                <a:lnTo>
                  <a:pt x="608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lIns="121920" tIns="60960" rIns="121920" bIns="60960"/>
          <a:lstStyle/>
          <a:p>
            <a:pPr algn="r"/>
            <a:r>
              <a:rPr lang="en-US" altLang="ko-KR" sz="16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 pitchFamily="34" charset="0"/>
              </a:rPr>
              <a:t>1</a:t>
            </a:r>
          </a:p>
        </p:txBody>
      </p:sp>
      <p:sp>
        <p:nvSpPr>
          <p:cNvPr id="14" name="矩形 13"/>
          <p:cNvSpPr/>
          <p:nvPr/>
        </p:nvSpPr>
        <p:spPr bwMode="auto">
          <a:xfrm>
            <a:off x="1425941" y="3551029"/>
            <a:ext cx="2643099" cy="1200329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它是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rgb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模式的延伸。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rgba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模式是在红、绿、蓝三原色的基础上添加了透明度参数</a:t>
            </a:r>
          </a:p>
        </p:txBody>
      </p:sp>
      <p:sp>
        <p:nvSpPr>
          <p:cNvPr id="15" name="矩形 14"/>
          <p:cNvSpPr/>
          <p:nvPr/>
        </p:nvSpPr>
        <p:spPr bwMode="auto">
          <a:xfrm>
            <a:off x="1426191" y="2940658"/>
            <a:ext cx="2192198" cy="581057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 algn="l">
              <a:lnSpc>
                <a:spcPct val="150000"/>
              </a:lnSpc>
              <a:defRPr/>
            </a:pPr>
            <a:r>
              <a:rPr lang="en-US" altLang="zh-CN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rgba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模式</a:t>
            </a:r>
          </a:p>
        </p:txBody>
      </p:sp>
      <p:sp>
        <p:nvSpPr>
          <p:cNvPr id="17" name="任意多边形: 形状 41"/>
          <p:cNvSpPr/>
          <p:nvPr/>
        </p:nvSpPr>
        <p:spPr bwMode="auto">
          <a:xfrm>
            <a:off x="2183928" y="2314635"/>
            <a:ext cx="461376" cy="401428"/>
          </a:xfrm>
          <a:custGeom>
            <a:avLst/>
            <a:gdLst>
              <a:gd name="T0" fmla="*/ 235926 w 21600"/>
              <a:gd name="T1" fmla="*/ 191703 h 21600"/>
              <a:gd name="T2" fmla="*/ 235926 w 21600"/>
              <a:gd name="T3" fmla="*/ 191703 h 21600"/>
              <a:gd name="T4" fmla="*/ 235926 w 21600"/>
              <a:gd name="T5" fmla="*/ 191703 h 21600"/>
              <a:gd name="T6" fmla="*/ 235926 w 21600"/>
              <a:gd name="T7" fmla="*/ 191703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2024" y="0"/>
                </a:moveTo>
                <a:cubicBezTo>
                  <a:pt x="912" y="0"/>
                  <a:pt x="0" y="1122"/>
                  <a:pt x="0" y="2491"/>
                </a:cubicBezTo>
                <a:lnTo>
                  <a:pt x="0" y="11634"/>
                </a:lnTo>
                <a:cubicBezTo>
                  <a:pt x="0" y="13008"/>
                  <a:pt x="912" y="14134"/>
                  <a:pt x="2024" y="14134"/>
                </a:cubicBezTo>
                <a:lnTo>
                  <a:pt x="2024" y="16617"/>
                </a:lnTo>
                <a:cubicBezTo>
                  <a:pt x="2024" y="17994"/>
                  <a:pt x="2935" y="19109"/>
                  <a:pt x="4049" y="19109"/>
                </a:cubicBezTo>
                <a:lnTo>
                  <a:pt x="4822" y="19109"/>
                </a:lnTo>
                <a:cubicBezTo>
                  <a:pt x="5125" y="20540"/>
                  <a:pt x="6166" y="21600"/>
                  <a:pt x="7423" y="21600"/>
                </a:cubicBezTo>
                <a:cubicBezTo>
                  <a:pt x="8673" y="21600"/>
                  <a:pt x="9726" y="20540"/>
                  <a:pt x="10030" y="19109"/>
                </a:cubicBezTo>
                <a:lnTo>
                  <a:pt x="13594" y="19109"/>
                </a:lnTo>
                <a:cubicBezTo>
                  <a:pt x="13897" y="20540"/>
                  <a:pt x="14942" y="21600"/>
                  <a:pt x="16202" y="21600"/>
                </a:cubicBezTo>
                <a:cubicBezTo>
                  <a:pt x="17449" y="21600"/>
                  <a:pt x="18498" y="20540"/>
                  <a:pt x="18803" y="19109"/>
                </a:cubicBezTo>
                <a:lnTo>
                  <a:pt x="19576" y="19109"/>
                </a:lnTo>
                <a:cubicBezTo>
                  <a:pt x="20692" y="19109"/>
                  <a:pt x="21600" y="17994"/>
                  <a:pt x="21600" y="16617"/>
                </a:cubicBezTo>
                <a:lnTo>
                  <a:pt x="21600" y="11634"/>
                </a:lnTo>
                <a:cubicBezTo>
                  <a:pt x="21600" y="11142"/>
                  <a:pt x="21482" y="10663"/>
                  <a:pt x="21259" y="10248"/>
                </a:cubicBezTo>
                <a:lnTo>
                  <a:pt x="18554" y="5265"/>
                </a:lnTo>
                <a:cubicBezTo>
                  <a:pt x="18182" y="4566"/>
                  <a:pt x="17557" y="4160"/>
                  <a:pt x="16876" y="4160"/>
                </a:cubicBezTo>
                <a:lnTo>
                  <a:pt x="14177" y="4160"/>
                </a:lnTo>
                <a:lnTo>
                  <a:pt x="14177" y="2491"/>
                </a:lnTo>
                <a:cubicBezTo>
                  <a:pt x="14177" y="1122"/>
                  <a:pt x="13265" y="0"/>
                  <a:pt x="12146" y="0"/>
                </a:cubicBezTo>
                <a:lnTo>
                  <a:pt x="2024" y="0"/>
                </a:lnTo>
                <a:close/>
                <a:moveTo>
                  <a:pt x="2024" y="1669"/>
                </a:moveTo>
                <a:lnTo>
                  <a:pt x="12146" y="1669"/>
                </a:lnTo>
                <a:cubicBezTo>
                  <a:pt x="12524" y="1669"/>
                  <a:pt x="12821" y="2034"/>
                  <a:pt x="12821" y="2491"/>
                </a:cubicBezTo>
                <a:lnTo>
                  <a:pt x="12821" y="11634"/>
                </a:lnTo>
                <a:cubicBezTo>
                  <a:pt x="12821" y="12090"/>
                  <a:pt x="12524" y="12465"/>
                  <a:pt x="12146" y="12465"/>
                </a:cubicBezTo>
                <a:cubicBezTo>
                  <a:pt x="12146" y="12465"/>
                  <a:pt x="2024" y="12465"/>
                  <a:pt x="2024" y="12465"/>
                </a:cubicBezTo>
                <a:cubicBezTo>
                  <a:pt x="1649" y="12465"/>
                  <a:pt x="1350" y="12090"/>
                  <a:pt x="1350" y="11634"/>
                </a:cubicBezTo>
                <a:lnTo>
                  <a:pt x="1350" y="2491"/>
                </a:lnTo>
                <a:cubicBezTo>
                  <a:pt x="1350" y="2034"/>
                  <a:pt x="1649" y="1669"/>
                  <a:pt x="2024" y="1669"/>
                </a:cubicBezTo>
                <a:close/>
                <a:moveTo>
                  <a:pt x="14177" y="5821"/>
                </a:moveTo>
                <a:lnTo>
                  <a:pt x="16876" y="5821"/>
                </a:lnTo>
                <a:cubicBezTo>
                  <a:pt x="17102" y="5821"/>
                  <a:pt x="17311" y="5958"/>
                  <a:pt x="17440" y="6184"/>
                </a:cubicBezTo>
                <a:lnTo>
                  <a:pt x="20132" y="11175"/>
                </a:lnTo>
                <a:cubicBezTo>
                  <a:pt x="20206" y="11307"/>
                  <a:pt x="20250" y="11475"/>
                  <a:pt x="20250" y="11634"/>
                </a:cubicBezTo>
                <a:cubicBezTo>
                  <a:pt x="20250" y="11634"/>
                  <a:pt x="20250" y="16617"/>
                  <a:pt x="20250" y="16617"/>
                </a:cubicBezTo>
                <a:cubicBezTo>
                  <a:pt x="20250" y="17074"/>
                  <a:pt x="19946" y="17448"/>
                  <a:pt x="19576" y="17448"/>
                </a:cubicBezTo>
                <a:lnTo>
                  <a:pt x="18803" y="17448"/>
                </a:lnTo>
                <a:cubicBezTo>
                  <a:pt x="18498" y="16016"/>
                  <a:pt x="17455" y="14956"/>
                  <a:pt x="16202" y="14956"/>
                </a:cubicBezTo>
                <a:cubicBezTo>
                  <a:pt x="14942" y="14956"/>
                  <a:pt x="13897" y="16016"/>
                  <a:pt x="13594" y="17448"/>
                </a:cubicBezTo>
                <a:lnTo>
                  <a:pt x="10030" y="17448"/>
                </a:lnTo>
                <a:cubicBezTo>
                  <a:pt x="9729" y="16016"/>
                  <a:pt x="8678" y="14956"/>
                  <a:pt x="7423" y="14956"/>
                </a:cubicBezTo>
                <a:cubicBezTo>
                  <a:pt x="6166" y="14956"/>
                  <a:pt x="5125" y="16016"/>
                  <a:pt x="4822" y="17448"/>
                </a:cubicBezTo>
                <a:lnTo>
                  <a:pt x="4049" y="17448"/>
                </a:lnTo>
                <a:cubicBezTo>
                  <a:pt x="3676" y="17448"/>
                  <a:pt x="3374" y="17074"/>
                  <a:pt x="3374" y="16617"/>
                </a:cubicBezTo>
                <a:lnTo>
                  <a:pt x="3374" y="14134"/>
                </a:lnTo>
                <a:lnTo>
                  <a:pt x="12146" y="14134"/>
                </a:lnTo>
                <a:cubicBezTo>
                  <a:pt x="13265" y="14134"/>
                  <a:pt x="14177" y="13008"/>
                  <a:pt x="14177" y="11634"/>
                </a:cubicBezTo>
                <a:lnTo>
                  <a:pt x="14177" y="5821"/>
                </a:lnTo>
                <a:close/>
                <a:moveTo>
                  <a:pt x="15553" y="6450"/>
                </a:moveTo>
                <a:cubicBezTo>
                  <a:pt x="15182" y="6450"/>
                  <a:pt x="14885" y="6824"/>
                  <a:pt x="14885" y="7281"/>
                </a:cubicBezTo>
                <a:lnTo>
                  <a:pt x="14885" y="12263"/>
                </a:lnTo>
                <a:cubicBezTo>
                  <a:pt x="14885" y="12721"/>
                  <a:pt x="15182" y="13102"/>
                  <a:pt x="15553" y="13102"/>
                </a:cubicBezTo>
                <a:lnTo>
                  <a:pt x="18259" y="13102"/>
                </a:lnTo>
                <a:cubicBezTo>
                  <a:pt x="18629" y="13102"/>
                  <a:pt x="18934" y="12721"/>
                  <a:pt x="18934" y="12263"/>
                </a:cubicBezTo>
                <a:lnTo>
                  <a:pt x="18934" y="11022"/>
                </a:lnTo>
                <a:cubicBezTo>
                  <a:pt x="18934" y="10857"/>
                  <a:pt x="18888" y="10694"/>
                  <a:pt x="18816" y="10554"/>
                </a:cubicBezTo>
                <a:cubicBezTo>
                  <a:pt x="18816" y="10554"/>
                  <a:pt x="16798" y="6829"/>
                  <a:pt x="16798" y="6829"/>
                </a:cubicBezTo>
                <a:cubicBezTo>
                  <a:pt x="16673" y="6592"/>
                  <a:pt x="16460" y="6450"/>
                  <a:pt x="16234" y="6450"/>
                </a:cubicBezTo>
                <a:lnTo>
                  <a:pt x="15553" y="6450"/>
                </a:lnTo>
                <a:close/>
                <a:moveTo>
                  <a:pt x="15553" y="7281"/>
                </a:moveTo>
                <a:lnTo>
                  <a:pt x="16234" y="7281"/>
                </a:lnTo>
                <a:lnTo>
                  <a:pt x="18259" y="11022"/>
                </a:lnTo>
                <a:cubicBezTo>
                  <a:pt x="18259" y="11022"/>
                  <a:pt x="18259" y="12263"/>
                  <a:pt x="18259" y="12263"/>
                </a:cubicBezTo>
                <a:lnTo>
                  <a:pt x="15553" y="12263"/>
                </a:lnTo>
                <a:lnTo>
                  <a:pt x="15553" y="7281"/>
                </a:lnTo>
                <a:close/>
                <a:moveTo>
                  <a:pt x="7423" y="16617"/>
                </a:moveTo>
                <a:cubicBezTo>
                  <a:pt x="8167" y="16617"/>
                  <a:pt x="8772" y="17365"/>
                  <a:pt x="8772" y="18278"/>
                </a:cubicBezTo>
                <a:cubicBezTo>
                  <a:pt x="8772" y="19191"/>
                  <a:pt x="8167" y="19939"/>
                  <a:pt x="7423" y="19939"/>
                </a:cubicBezTo>
                <a:cubicBezTo>
                  <a:pt x="6677" y="19939"/>
                  <a:pt x="6073" y="19191"/>
                  <a:pt x="6073" y="18278"/>
                </a:cubicBezTo>
                <a:cubicBezTo>
                  <a:pt x="6073" y="17365"/>
                  <a:pt x="6677" y="16617"/>
                  <a:pt x="7423" y="16617"/>
                </a:cubicBezTo>
                <a:close/>
                <a:moveTo>
                  <a:pt x="16202" y="16617"/>
                </a:moveTo>
                <a:cubicBezTo>
                  <a:pt x="16943" y="16617"/>
                  <a:pt x="17551" y="17365"/>
                  <a:pt x="17551" y="18278"/>
                </a:cubicBezTo>
                <a:cubicBezTo>
                  <a:pt x="17551" y="19191"/>
                  <a:pt x="16943" y="19939"/>
                  <a:pt x="16202" y="19939"/>
                </a:cubicBezTo>
                <a:cubicBezTo>
                  <a:pt x="15454" y="19939"/>
                  <a:pt x="14852" y="19191"/>
                  <a:pt x="14852" y="18278"/>
                </a:cubicBezTo>
                <a:cubicBezTo>
                  <a:pt x="14852" y="17365"/>
                  <a:pt x="15454" y="16617"/>
                  <a:pt x="16202" y="16617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右箭头 1"/>
          <p:cNvSpPr/>
          <p:nvPr/>
        </p:nvSpPr>
        <p:spPr>
          <a:xfrm>
            <a:off x="4552950" y="3709358"/>
            <a:ext cx="1157737" cy="6783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285528" y="3231186"/>
            <a:ext cx="169124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语法格式</a:t>
            </a:r>
            <a:endParaRPr lang="zh-CN" altLang="en-US" sz="2000" dirty="0">
              <a:solidFill>
                <a:srgbClr val="1369B2"/>
              </a:solidFill>
            </a:endParaRPr>
          </a:p>
        </p:txBody>
      </p:sp>
      <p:grpSp>
        <p:nvGrpSpPr>
          <p:cNvPr id="19" name="组合 8"/>
          <p:cNvGrpSpPr/>
          <p:nvPr/>
        </p:nvGrpSpPr>
        <p:grpSpPr bwMode="auto">
          <a:xfrm>
            <a:off x="5848373" y="3521715"/>
            <a:ext cx="5503842" cy="1202381"/>
            <a:chOff x="920750" y="3547333"/>
            <a:chExt cx="8156200" cy="1202799"/>
          </a:xfrm>
        </p:grpSpPr>
        <p:sp>
          <p:nvSpPr>
            <p:cNvPr id="20" name="矩形 19"/>
            <p:cNvSpPr/>
            <p:nvPr/>
          </p:nvSpPr>
          <p:spPr>
            <a:xfrm>
              <a:off x="920750" y="3547333"/>
              <a:ext cx="8156200" cy="120279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1251647" y="3865165"/>
              <a:ext cx="2719767" cy="41833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rgba(r,g,b,alpha);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4613045" y="3865164"/>
              <a:ext cx="3062502" cy="41833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介于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0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和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1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之间的数字</a:t>
              </a:r>
              <a:endPara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7115396" y="3879067"/>
            <a:ext cx="579366" cy="378561"/>
          </a:xfrm>
          <a:prstGeom prst="rect">
            <a:avLst/>
          </a:prstGeom>
          <a:noFill/>
          <a:ln>
            <a:solidFill>
              <a:srgbClr val="1369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    </a:t>
            </a:r>
            <a:endParaRPr lang="zh-CN" altLang="en-US" dirty="0"/>
          </a:p>
        </p:txBody>
      </p:sp>
      <p:cxnSp>
        <p:nvCxnSpPr>
          <p:cNvPr id="8" name="直接箭头连接符 7"/>
          <p:cNvCxnSpPr/>
          <p:nvPr/>
        </p:nvCxnSpPr>
        <p:spPr>
          <a:xfrm>
            <a:off x="7694762" y="4114800"/>
            <a:ext cx="62627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9217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透明</a:t>
            </a:r>
            <a:endParaRPr lang="zh-CN" altLang="en-US" sz="2000" dirty="0"/>
          </a:p>
        </p:txBody>
      </p:sp>
      <p:sp>
        <p:nvSpPr>
          <p:cNvPr id="9" name="矩形: 剪去单角 437"/>
          <p:cNvSpPr/>
          <p:nvPr/>
        </p:nvSpPr>
        <p:spPr bwMode="auto">
          <a:xfrm>
            <a:off x="1209955" y="1943930"/>
            <a:ext cx="2982018" cy="3556984"/>
          </a:xfrm>
          <a:prstGeom prst="snip1Rect">
            <a:avLst>
              <a:gd name="adj" fmla="val 29383"/>
            </a:avLst>
          </a:prstGeom>
          <a:solidFill>
            <a:srgbClr val="F6F6F6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90204"/>
            </a:endParaRPr>
          </a:p>
        </p:txBody>
      </p:sp>
      <p:sp>
        <p:nvSpPr>
          <p:cNvPr id="10" name="矩形 42"/>
          <p:cNvSpPr>
            <a:spLocks noChangeArrowheads="1"/>
          </p:cNvSpPr>
          <p:nvPr/>
        </p:nvSpPr>
        <p:spPr bwMode="auto">
          <a:xfrm>
            <a:off x="1209534" y="5429408"/>
            <a:ext cx="2982439" cy="1378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3" name="任意多边形: 形状 438"/>
          <p:cNvSpPr/>
          <p:nvPr/>
        </p:nvSpPr>
        <p:spPr bwMode="auto">
          <a:xfrm>
            <a:off x="3439939" y="1943930"/>
            <a:ext cx="752457" cy="805713"/>
          </a:xfrm>
          <a:custGeom>
            <a:avLst/>
            <a:gdLst>
              <a:gd name="T0" fmla="*/ 631242 w 608"/>
              <a:gd name="T1" fmla="*/ 0 h 608"/>
              <a:gd name="T2" fmla="*/ 0 w 608"/>
              <a:gd name="T3" fmla="*/ 0 h 608"/>
              <a:gd name="T4" fmla="*/ 631242 w 608"/>
              <a:gd name="T5" fmla="*/ 631242 h 608"/>
              <a:gd name="T6" fmla="*/ 631242 w 608"/>
              <a:gd name="T7" fmla="*/ 0 h 608"/>
              <a:gd name="T8" fmla="*/ 0 60000 65536"/>
              <a:gd name="T9" fmla="*/ 0 60000 65536"/>
              <a:gd name="T10" fmla="*/ 0 60000 65536"/>
              <a:gd name="T11" fmla="*/ 0 60000 65536"/>
              <a:gd name="T12" fmla="*/ 0 w 608"/>
              <a:gd name="T13" fmla="*/ 0 h 608"/>
              <a:gd name="T14" fmla="*/ 608 w 608"/>
              <a:gd name="T15" fmla="*/ 608 h 60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08" h="608">
                <a:moveTo>
                  <a:pt x="608" y="0"/>
                </a:moveTo>
                <a:lnTo>
                  <a:pt x="0" y="0"/>
                </a:lnTo>
                <a:lnTo>
                  <a:pt x="608" y="608"/>
                </a:lnTo>
                <a:lnTo>
                  <a:pt x="608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lIns="121920" tIns="60960" rIns="121920" bIns="60960"/>
          <a:lstStyle/>
          <a:p>
            <a:pPr algn="r"/>
            <a:r>
              <a:rPr lang="en-US" altLang="ko-KR" sz="16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 pitchFamily="34" charset="0"/>
              </a:rPr>
              <a:t>1</a:t>
            </a:r>
          </a:p>
        </p:txBody>
      </p:sp>
      <p:sp>
        <p:nvSpPr>
          <p:cNvPr id="14" name="矩形 13"/>
          <p:cNvSpPr/>
          <p:nvPr/>
        </p:nvSpPr>
        <p:spPr bwMode="auto">
          <a:xfrm>
            <a:off x="1425941" y="3551029"/>
            <a:ext cx="2643099" cy="1200329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能够使任何元素呈现出透明效果。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opacity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属性作用范围要比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rgba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模式大得多</a:t>
            </a:r>
          </a:p>
        </p:txBody>
      </p:sp>
      <p:sp>
        <p:nvSpPr>
          <p:cNvPr id="15" name="矩形 14"/>
          <p:cNvSpPr/>
          <p:nvPr/>
        </p:nvSpPr>
        <p:spPr bwMode="auto">
          <a:xfrm>
            <a:off x="1426191" y="2940658"/>
            <a:ext cx="2192198" cy="581057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opacity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属性</a:t>
            </a:r>
          </a:p>
        </p:txBody>
      </p:sp>
      <p:sp>
        <p:nvSpPr>
          <p:cNvPr id="17" name="任意多边形: 形状 41"/>
          <p:cNvSpPr/>
          <p:nvPr/>
        </p:nvSpPr>
        <p:spPr bwMode="auto">
          <a:xfrm>
            <a:off x="2183928" y="2314635"/>
            <a:ext cx="461376" cy="401428"/>
          </a:xfrm>
          <a:custGeom>
            <a:avLst/>
            <a:gdLst>
              <a:gd name="T0" fmla="*/ 235926 w 21600"/>
              <a:gd name="T1" fmla="*/ 191703 h 21600"/>
              <a:gd name="T2" fmla="*/ 235926 w 21600"/>
              <a:gd name="T3" fmla="*/ 191703 h 21600"/>
              <a:gd name="T4" fmla="*/ 235926 w 21600"/>
              <a:gd name="T5" fmla="*/ 191703 h 21600"/>
              <a:gd name="T6" fmla="*/ 235926 w 21600"/>
              <a:gd name="T7" fmla="*/ 191703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2024" y="0"/>
                </a:moveTo>
                <a:cubicBezTo>
                  <a:pt x="912" y="0"/>
                  <a:pt x="0" y="1122"/>
                  <a:pt x="0" y="2491"/>
                </a:cubicBezTo>
                <a:lnTo>
                  <a:pt x="0" y="11634"/>
                </a:lnTo>
                <a:cubicBezTo>
                  <a:pt x="0" y="13008"/>
                  <a:pt x="912" y="14134"/>
                  <a:pt x="2024" y="14134"/>
                </a:cubicBezTo>
                <a:lnTo>
                  <a:pt x="2024" y="16617"/>
                </a:lnTo>
                <a:cubicBezTo>
                  <a:pt x="2024" y="17994"/>
                  <a:pt x="2935" y="19109"/>
                  <a:pt x="4049" y="19109"/>
                </a:cubicBezTo>
                <a:lnTo>
                  <a:pt x="4822" y="19109"/>
                </a:lnTo>
                <a:cubicBezTo>
                  <a:pt x="5125" y="20540"/>
                  <a:pt x="6166" y="21600"/>
                  <a:pt x="7423" y="21600"/>
                </a:cubicBezTo>
                <a:cubicBezTo>
                  <a:pt x="8673" y="21600"/>
                  <a:pt x="9726" y="20540"/>
                  <a:pt x="10030" y="19109"/>
                </a:cubicBezTo>
                <a:lnTo>
                  <a:pt x="13594" y="19109"/>
                </a:lnTo>
                <a:cubicBezTo>
                  <a:pt x="13897" y="20540"/>
                  <a:pt x="14942" y="21600"/>
                  <a:pt x="16202" y="21600"/>
                </a:cubicBezTo>
                <a:cubicBezTo>
                  <a:pt x="17449" y="21600"/>
                  <a:pt x="18498" y="20540"/>
                  <a:pt x="18803" y="19109"/>
                </a:cubicBezTo>
                <a:lnTo>
                  <a:pt x="19576" y="19109"/>
                </a:lnTo>
                <a:cubicBezTo>
                  <a:pt x="20692" y="19109"/>
                  <a:pt x="21600" y="17994"/>
                  <a:pt x="21600" y="16617"/>
                </a:cubicBezTo>
                <a:lnTo>
                  <a:pt x="21600" y="11634"/>
                </a:lnTo>
                <a:cubicBezTo>
                  <a:pt x="21600" y="11142"/>
                  <a:pt x="21482" y="10663"/>
                  <a:pt x="21259" y="10248"/>
                </a:cubicBezTo>
                <a:lnTo>
                  <a:pt x="18554" y="5265"/>
                </a:lnTo>
                <a:cubicBezTo>
                  <a:pt x="18182" y="4566"/>
                  <a:pt x="17557" y="4160"/>
                  <a:pt x="16876" y="4160"/>
                </a:cubicBezTo>
                <a:lnTo>
                  <a:pt x="14177" y="4160"/>
                </a:lnTo>
                <a:lnTo>
                  <a:pt x="14177" y="2491"/>
                </a:lnTo>
                <a:cubicBezTo>
                  <a:pt x="14177" y="1122"/>
                  <a:pt x="13265" y="0"/>
                  <a:pt x="12146" y="0"/>
                </a:cubicBezTo>
                <a:lnTo>
                  <a:pt x="2024" y="0"/>
                </a:lnTo>
                <a:close/>
                <a:moveTo>
                  <a:pt x="2024" y="1669"/>
                </a:moveTo>
                <a:lnTo>
                  <a:pt x="12146" y="1669"/>
                </a:lnTo>
                <a:cubicBezTo>
                  <a:pt x="12524" y="1669"/>
                  <a:pt x="12821" y="2034"/>
                  <a:pt x="12821" y="2491"/>
                </a:cubicBezTo>
                <a:lnTo>
                  <a:pt x="12821" y="11634"/>
                </a:lnTo>
                <a:cubicBezTo>
                  <a:pt x="12821" y="12090"/>
                  <a:pt x="12524" y="12465"/>
                  <a:pt x="12146" y="12465"/>
                </a:cubicBezTo>
                <a:cubicBezTo>
                  <a:pt x="12146" y="12465"/>
                  <a:pt x="2024" y="12465"/>
                  <a:pt x="2024" y="12465"/>
                </a:cubicBezTo>
                <a:cubicBezTo>
                  <a:pt x="1649" y="12465"/>
                  <a:pt x="1350" y="12090"/>
                  <a:pt x="1350" y="11634"/>
                </a:cubicBezTo>
                <a:lnTo>
                  <a:pt x="1350" y="2491"/>
                </a:lnTo>
                <a:cubicBezTo>
                  <a:pt x="1350" y="2034"/>
                  <a:pt x="1649" y="1669"/>
                  <a:pt x="2024" y="1669"/>
                </a:cubicBezTo>
                <a:close/>
                <a:moveTo>
                  <a:pt x="14177" y="5821"/>
                </a:moveTo>
                <a:lnTo>
                  <a:pt x="16876" y="5821"/>
                </a:lnTo>
                <a:cubicBezTo>
                  <a:pt x="17102" y="5821"/>
                  <a:pt x="17311" y="5958"/>
                  <a:pt x="17440" y="6184"/>
                </a:cubicBezTo>
                <a:lnTo>
                  <a:pt x="20132" y="11175"/>
                </a:lnTo>
                <a:cubicBezTo>
                  <a:pt x="20206" y="11307"/>
                  <a:pt x="20250" y="11475"/>
                  <a:pt x="20250" y="11634"/>
                </a:cubicBezTo>
                <a:cubicBezTo>
                  <a:pt x="20250" y="11634"/>
                  <a:pt x="20250" y="16617"/>
                  <a:pt x="20250" y="16617"/>
                </a:cubicBezTo>
                <a:cubicBezTo>
                  <a:pt x="20250" y="17074"/>
                  <a:pt x="19946" y="17448"/>
                  <a:pt x="19576" y="17448"/>
                </a:cubicBezTo>
                <a:lnTo>
                  <a:pt x="18803" y="17448"/>
                </a:lnTo>
                <a:cubicBezTo>
                  <a:pt x="18498" y="16016"/>
                  <a:pt x="17455" y="14956"/>
                  <a:pt x="16202" y="14956"/>
                </a:cubicBezTo>
                <a:cubicBezTo>
                  <a:pt x="14942" y="14956"/>
                  <a:pt x="13897" y="16016"/>
                  <a:pt x="13594" y="17448"/>
                </a:cubicBezTo>
                <a:lnTo>
                  <a:pt x="10030" y="17448"/>
                </a:lnTo>
                <a:cubicBezTo>
                  <a:pt x="9729" y="16016"/>
                  <a:pt x="8678" y="14956"/>
                  <a:pt x="7423" y="14956"/>
                </a:cubicBezTo>
                <a:cubicBezTo>
                  <a:pt x="6166" y="14956"/>
                  <a:pt x="5125" y="16016"/>
                  <a:pt x="4822" y="17448"/>
                </a:cubicBezTo>
                <a:lnTo>
                  <a:pt x="4049" y="17448"/>
                </a:lnTo>
                <a:cubicBezTo>
                  <a:pt x="3676" y="17448"/>
                  <a:pt x="3374" y="17074"/>
                  <a:pt x="3374" y="16617"/>
                </a:cubicBezTo>
                <a:lnTo>
                  <a:pt x="3374" y="14134"/>
                </a:lnTo>
                <a:lnTo>
                  <a:pt x="12146" y="14134"/>
                </a:lnTo>
                <a:cubicBezTo>
                  <a:pt x="13265" y="14134"/>
                  <a:pt x="14177" y="13008"/>
                  <a:pt x="14177" y="11634"/>
                </a:cubicBezTo>
                <a:lnTo>
                  <a:pt x="14177" y="5821"/>
                </a:lnTo>
                <a:close/>
                <a:moveTo>
                  <a:pt x="15553" y="6450"/>
                </a:moveTo>
                <a:cubicBezTo>
                  <a:pt x="15182" y="6450"/>
                  <a:pt x="14885" y="6824"/>
                  <a:pt x="14885" y="7281"/>
                </a:cubicBezTo>
                <a:lnTo>
                  <a:pt x="14885" y="12263"/>
                </a:lnTo>
                <a:cubicBezTo>
                  <a:pt x="14885" y="12721"/>
                  <a:pt x="15182" y="13102"/>
                  <a:pt x="15553" y="13102"/>
                </a:cubicBezTo>
                <a:lnTo>
                  <a:pt x="18259" y="13102"/>
                </a:lnTo>
                <a:cubicBezTo>
                  <a:pt x="18629" y="13102"/>
                  <a:pt x="18934" y="12721"/>
                  <a:pt x="18934" y="12263"/>
                </a:cubicBezTo>
                <a:lnTo>
                  <a:pt x="18934" y="11022"/>
                </a:lnTo>
                <a:cubicBezTo>
                  <a:pt x="18934" y="10857"/>
                  <a:pt x="18888" y="10694"/>
                  <a:pt x="18816" y="10554"/>
                </a:cubicBezTo>
                <a:cubicBezTo>
                  <a:pt x="18816" y="10554"/>
                  <a:pt x="16798" y="6829"/>
                  <a:pt x="16798" y="6829"/>
                </a:cubicBezTo>
                <a:cubicBezTo>
                  <a:pt x="16673" y="6592"/>
                  <a:pt x="16460" y="6450"/>
                  <a:pt x="16234" y="6450"/>
                </a:cubicBezTo>
                <a:lnTo>
                  <a:pt x="15553" y="6450"/>
                </a:lnTo>
                <a:close/>
                <a:moveTo>
                  <a:pt x="15553" y="7281"/>
                </a:moveTo>
                <a:lnTo>
                  <a:pt x="16234" y="7281"/>
                </a:lnTo>
                <a:lnTo>
                  <a:pt x="18259" y="11022"/>
                </a:lnTo>
                <a:cubicBezTo>
                  <a:pt x="18259" y="11022"/>
                  <a:pt x="18259" y="12263"/>
                  <a:pt x="18259" y="12263"/>
                </a:cubicBezTo>
                <a:lnTo>
                  <a:pt x="15553" y="12263"/>
                </a:lnTo>
                <a:lnTo>
                  <a:pt x="15553" y="7281"/>
                </a:lnTo>
                <a:close/>
                <a:moveTo>
                  <a:pt x="7423" y="16617"/>
                </a:moveTo>
                <a:cubicBezTo>
                  <a:pt x="8167" y="16617"/>
                  <a:pt x="8772" y="17365"/>
                  <a:pt x="8772" y="18278"/>
                </a:cubicBezTo>
                <a:cubicBezTo>
                  <a:pt x="8772" y="19191"/>
                  <a:pt x="8167" y="19939"/>
                  <a:pt x="7423" y="19939"/>
                </a:cubicBezTo>
                <a:cubicBezTo>
                  <a:pt x="6677" y="19939"/>
                  <a:pt x="6073" y="19191"/>
                  <a:pt x="6073" y="18278"/>
                </a:cubicBezTo>
                <a:cubicBezTo>
                  <a:pt x="6073" y="17365"/>
                  <a:pt x="6677" y="16617"/>
                  <a:pt x="7423" y="16617"/>
                </a:cubicBezTo>
                <a:close/>
                <a:moveTo>
                  <a:pt x="16202" y="16617"/>
                </a:moveTo>
                <a:cubicBezTo>
                  <a:pt x="16943" y="16617"/>
                  <a:pt x="17551" y="17365"/>
                  <a:pt x="17551" y="18278"/>
                </a:cubicBezTo>
                <a:cubicBezTo>
                  <a:pt x="17551" y="19191"/>
                  <a:pt x="16943" y="19939"/>
                  <a:pt x="16202" y="19939"/>
                </a:cubicBezTo>
                <a:cubicBezTo>
                  <a:pt x="15454" y="19939"/>
                  <a:pt x="14852" y="19191"/>
                  <a:pt x="14852" y="18278"/>
                </a:cubicBezTo>
                <a:cubicBezTo>
                  <a:pt x="14852" y="17365"/>
                  <a:pt x="15454" y="16617"/>
                  <a:pt x="16202" y="16617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右箭头 1"/>
          <p:cNvSpPr/>
          <p:nvPr/>
        </p:nvSpPr>
        <p:spPr>
          <a:xfrm>
            <a:off x="4552950" y="3709358"/>
            <a:ext cx="1157737" cy="6783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285528" y="3231186"/>
            <a:ext cx="169124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语法格式</a:t>
            </a:r>
            <a:endParaRPr lang="zh-CN" altLang="en-US" sz="2000" dirty="0">
              <a:solidFill>
                <a:srgbClr val="1369B2"/>
              </a:solidFill>
            </a:endParaRPr>
          </a:p>
        </p:txBody>
      </p:sp>
      <p:grpSp>
        <p:nvGrpSpPr>
          <p:cNvPr id="19" name="组合 8"/>
          <p:cNvGrpSpPr/>
          <p:nvPr/>
        </p:nvGrpSpPr>
        <p:grpSpPr bwMode="auto">
          <a:xfrm>
            <a:off x="5848373" y="3521715"/>
            <a:ext cx="5503842" cy="1202381"/>
            <a:chOff x="920750" y="3547333"/>
            <a:chExt cx="8156200" cy="1202799"/>
          </a:xfrm>
        </p:grpSpPr>
        <p:sp>
          <p:nvSpPr>
            <p:cNvPr id="20" name="矩形 19"/>
            <p:cNvSpPr/>
            <p:nvPr/>
          </p:nvSpPr>
          <p:spPr>
            <a:xfrm>
              <a:off x="920750" y="3547333"/>
              <a:ext cx="8156200" cy="120279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1316173" y="3865165"/>
              <a:ext cx="2319444" cy="41833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opacity</a:t>
              </a:r>
              <a:r>
                <a:rPr lang="zh-CN" altLang="it-IT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：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参数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</p:txBody>
        </p:sp>
        <p:sp>
          <p:nvSpPr>
            <p:cNvPr id="23" name="矩形 22"/>
            <p:cNvSpPr/>
            <p:nvPr/>
          </p:nvSpPr>
          <p:spPr>
            <a:xfrm>
              <a:off x="4613045" y="3865164"/>
              <a:ext cx="3062502" cy="41833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介于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0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和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1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之间的数字</a:t>
              </a:r>
              <a:endPara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7115396" y="3879067"/>
            <a:ext cx="432033" cy="378561"/>
          </a:xfrm>
          <a:prstGeom prst="rect">
            <a:avLst/>
          </a:prstGeom>
          <a:noFill/>
          <a:ln>
            <a:solidFill>
              <a:srgbClr val="1369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    </a:t>
            </a:r>
            <a:endParaRPr lang="zh-CN" altLang="en-US" dirty="0"/>
          </a:p>
        </p:txBody>
      </p:sp>
      <p:cxnSp>
        <p:nvCxnSpPr>
          <p:cNvPr id="8" name="直接箭头连接符 7"/>
          <p:cNvCxnSpPr/>
          <p:nvPr/>
        </p:nvCxnSpPr>
        <p:spPr>
          <a:xfrm>
            <a:off x="7694762" y="4114800"/>
            <a:ext cx="62627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4291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圆角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72367" y="3355761"/>
            <a:ext cx="388434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掌握设置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圆角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的方法，能够将矩形边框四角圆角化。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3609481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圆角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590706" y="2059991"/>
              <a:ext cx="9297926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CSS3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中的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border-radius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可以将矩形边框四角圆角化，实现圆角效果。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18" name="组合 8"/>
          <p:cNvGrpSpPr/>
          <p:nvPr/>
        </p:nvGrpSpPr>
        <p:grpSpPr bwMode="auto">
          <a:xfrm>
            <a:off x="1346980" y="3654684"/>
            <a:ext cx="4346454" cy="2056004"/>
            <a:chOff x="-569288" y="2283718"/>
            <a:chExt cx="12395214" cy="2056719"/>
          </a:xfrm>
        </p:grpSpPr>
        <p:sp>
          <p:nvSpPr>
            <p:cNvPr id="19" name="矩形 18"/>
            <p:cNvSpPr/>
            <p:nvPr/>
          </p:nvSpPr>
          <p:spPr>
            <a:xfrm>
              <a:off x="-569288" y="2283718"/>
              <a:ext cx="12395214" cy="20567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390429" y="2484102"/>
              <a:ext cx="10711315" cy="8312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border-radius: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水平半径参数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1 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水平半径参数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2 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水平半径参数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3 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水平半径参数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4/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垂直半径参数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1 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垂直半径参数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2 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垂直半径参数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3 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垂直半径参数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4;</a:t>
              </a:r>
            </a:p>
          </p:txBody>
        </p:sp>
      </p:grpSp>
      <p:sp>
        <p:nvSpPr>
          <p:cNvPr id="21" name="下箭头 20"/>
          <p:cNvSpPr/>
          <p:nvPr/>
        </p:nvSpPr>
        <p:spPr>
          <a:xfrm>
            <a:off x="2094271" y="2986127"/>
            <a:ext cx="512206" cy="442451"/>
          </a:xfrm>
          <a:prstGeom prst="downArrow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2350374" y="2971938"/>
            <a:ext cx="178508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语法格式</a:t>
            </a:r>
            <a:endParaRPr lang="zh-CN" altLang="en-US" sz="2000" dirty="0">
              <a:solidFill>
                <a:srgbClr val="1369B2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7021901" y="3194681"/>
            <a:ext cx="150586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5795070"/>
              </p:ext>
            </p:extLst>
          </p:nvPr>
        </p:nvGraphicFramePr>
        <p:xfrm>
          <a:off x="7021901" y="3194681"/>
          <a:ext cx="3329796" cy="32121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r:id="rId4" imgW="3485430" imgH="3361606" progId="Visio.Drawing.11">
                  <p:embed/>
                </p:oleObj>
              </mc:Choice>
              <mc:Fallback>
                <p:oleObj r:id="rId4" imgW="3485430" imgH="3361606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1901" y="3194681"/>
                        <a:ext cx="3329796" cy="321213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45772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阴影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72367" y="3355761"/>
            <a:ext cx="388434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掌握设置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阴影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的方法，在网页设计中能够为元素添加阴影。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3679001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阴影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9"/>
              <a:ext cx="10440988" cy="790349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590706" y="1904714"/>
              <a:ext cx="9297926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使用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CSS3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中的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box-shadow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属性可以轻松实现阴影的添加。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18" name="组合 8"/>
          <p:cNvGrpSpPr/>
          <p:nvPr/>
        </p:nvGrpSpPr>
        <p:grpSpPr bwMode="auto">
          <a:xfrm>
            <a:off x="1226208" y="2872483"/>
            <a:ext cx="10005233" cy="987837"/>
            <a:chOff x="-569288" y="2283718"/>
            <a:chExt cx="12395214" cy="988181"/>
          </a:xfrm>
        </p:grpSpPr>
        <p:sp>
          <p:nvSpPr>
            <p:cNvPr id="19" name="矩形 18"/>
            <p:cNvSpPr/>
            <p:nvPr/>
          </p:nvSpPr>
          <p:spPr>
            <a:xfrm>
              <a:off x="-569288" y="2283718"/>
              <a:ext cx="12395214" cy="8408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390428" y="2484102"/>
              <a:ext cx="10711315" cy="7877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box-shadow: h-shadow v-shadow blur spread color outset;</a:t>
              </a:r>
            </a:p>
          </p:txBody>
        </p:sp>
      </p:grp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7021901" y="3194681"/>
            <a:ext cx="150586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871490"/>
              </p:ext>
            </p:extLst>
          </p:nvPr>
        </p:nvGraphicFramePr>
        <p:xfrm>
          <a:off x="1288103" y="3832655"/>
          <a:ext cx="9943338" cy="26226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70734">
                  <a:extLst>
                    <a:ext uri="{9D8B030D-6E8A-4147-A177-3AD203B41FA5}">
                      <a16:colId xmlns:a16="http://schemas.microsoft.com/office/drawing/2014/main" val="2413432014"/>
                    </a:ext>
                  </a:extLst>
                </a:gridCol>
                <a:gridCol w="6172604">
                  <a:extLst>
                    <a:ext uri="{9D8B030D-6E8A-4147-A177-3AD203B41FA5}">
                      <a16:colId xmlns:a16="http://schemas.microsoft.com/office/drawing/2014/main" val="1390647595"/>
                    </a:ext>
                  </a:extLst>
                </a:gridCol>
              </a:tblGrid>
              <a:tr h="48055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参数值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082395"/>
                  </a:ext>
                </a:extLst>
              </a:tr>
              <a:tr h="357019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h-shadow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表示水平阴影的位置，可以为负值（必选属性）。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0479287"/>
                  </a:ext>
                </a:extLst>
              </a:tr>
              <a:tr h="357019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v-shadow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表示垂直阴影的位置，可以为负值（必选属性）。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856425"/>
                  </a:ext>
                </a:extLst>
              </a:tr>
              <a:tr h="357019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blur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阴影模糊半径（可选属性）。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1854812"/>
                  </a:ext>
                </a:extLst>
              </a:tr>
              <a:tr h="357019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spread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阴影扩展半径，不能为负值（可选属性）。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2910337"/>
                  </a:ext>
                </a:extLst>
              </a:tr>
              <a:tr h="357019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color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阴影颜色（可选属性）。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8925683"/>
                  </a:ext>
                </a:extLst>
              </a:tr>
              <a:tr h="357019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outset/ inset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默认为外阴影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内阴影（可选属性）。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572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3774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渐变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72367" y="3355761"/>
            <a:ext cx="388434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掌握设置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渐变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的方法，在网页设计中能够为元素设置阴影。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2155169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渐变</a:t>
            </a:r>
            <a:endParaRPr lang="zh-CN" altLang="en-US" sz="20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7021901" y="3194681"/>
            <a:ext cx="150586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23" name="圆角矩形 22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4" name="TextBox 38"/>
            <p:cNvSpPr txBox="1"/>
            <p:nvPr/>
          </p:nvSpPr>
          <p:spPr>
            <a:xfrm>
              <a:off x="1642737" y="2209865"/>
              <a:ext cx="9297926" cy="32585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CSS3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中的 “</a:t>
              </a:r>
              <a:r>
                <a:rPr lang="en-US" altLang="zh-CN" sz="1600" dirty="0" err="1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background-image:linear-gradient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（参数值）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;”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样式可以实现线性渐变效果。</a:t>
              </a:r>
            </a:p>
          </p:txBody>
        </p:sp>
        <p:sp>
          <p:nvSpPr>
            <p:cNvPr id="25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6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403436" y="1776747"/>
              <a:ext cx="188224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）线性渐变</a:t>
              </a:r>
            </a:p>
          </p:txBody>
        </p:sp>
      </p:grpSp>
      <p:grpSp>
        <p:nvGrpSpPr>
          <p:cNvPr id="28" name="组合 8"/>
          <p:cNvGrpSpPr/>
          <p:nvPr/>
        </p:nvGrpSpPr>
        <p:grpSpPr bwMode="auto">
          <a:xfrm>
            <a:off x="1226208" y="2872482"/>
            <a:ext cx="10005233" cy="840518"/>
            <a:chOff x="-569288" y="2283718"/>
            <a:chExt cx="12395214" cy="840811"/>
          </a:xfrm>
        </p:grpSpPr>
        <p:sp>
          <p:nvSpPr>
            <p:cNvPr id="29" name="矩形 28"/>
            <p:cNvSpPr/>
            <p:nvPr/>
          </p:nvSpPr>
          <p:spPr>
            <a:xfrm>
              <a:off x="-569288" y="2283718"/>
              <a:ext cx="12395214" cy="8408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90429" y="2484104"/>
              <a:ext cx="10711315" cy="4183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background-image:linear-gradient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(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渐变角度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1,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2...,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n);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2485663" y="4034087"/>
            <a:ext cx="2982862" cy="2284020"/>
            <a:chOff x="1226208" y="3913316"/>
            <a:chExt cx="2982862" cy="2284020"/>
          </a:xfrm>
        </p:grpSpPr>
        <p:sp>
          <p:nvSpPr>
            <p:cNvPr id="32" name="矩形: 剪去单角 437"/>
            <p:cNvSpPr/>
            <p:nvPr/>
          </p:nvSpPr>
          <p:spPr bwMode="auto">
            <a:xfrm>
              <a:off x="1226629" y="3913316"/>
              <a:ext cx="2982018" cy="2257438"/>
            </a:xfrm>
            <a:prstGeom prst="snip1Rect">
              <a:avLst>
                <a:gd name="adj" fmla="val 29383"/>
              </a:avLst>
            </a:prstGeom>
            <a:solidFill>
              <a:srgbClr val="F6F6F6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endParaRPr>
            </a:p>
          </p:txBody>
        </p:sp>
        <p:sp>
          <p:nvSpPr>
            <p:cNvPr id="33" name="矩形 42"/>
            <p:cNvSpPr>
              <a:spLocks noChangeArrowheads="1"/>
            </p:cNvSpPr>
            <p:nvPr/>
          </p:nvSpPr>
          <p:spPr bwMode="auto">
            <a:xfrm>
              <a:off x="1226208" y="6059486"/>
              <a:ext cx="2982439" cy="1378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lang="zh-CN" altLang="zh-CN"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34" name="任意多边形: 形状 438"/>
            <p:cNvSpPr/>
            <p:nvPr/>
          </p:nvSpPr>
          <p:spPr bwMode="auto">
            <a:xfrm>
              <a:off x="3456613" y="3913316"/>
              <a:ext cx="752457" cy="805713"/>
            </a:xfrm>
            <a:custGeom>
              <a:avLst/>
              <a:gdLst>
                <a:gd name="T0" fmla="*/ 631242 w 608"/>
                <a:gd name="T1" fmla="*/ 0 h 608"/>
                <a:gd name="T2" fmla="*/ 0 w 608"/>
                <a:gd name="T3" fmla="*/ 0 h 608"/>
                <a:gd name="T4" fmla="*/ 631242 w 608"/>
                <a:gd name="T5" fmla="*/ 631242 h 608"/>
                <a:gd name="T6" fmla="*/ 631242 w 608"/>
                <a:gd name="T7" fmla="*/ 0 h 6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08"/>
                <a:gd name="T13" fmla="*/ 0 h 608"/>
                <a:gd name="T14" fmla="*/ 608 w 608"/>
                <a:gd name="T15" fmla="*/ 608 h 6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08" h="608">
                  <a:moveTo>
                    <a:pt x="608" y="0"/>
                  </a:moveTo>
                  <a:lnTo>
                    <a:pt x="0" y="0"/>
                  </a:lnTo>
                  <a:lnTo>
                    <a:pt x="608" y="608"/>
                  </a:lnTo>
                  <a:lnTo>
                    <a:pt x="608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lIns="121920" tIns="60960" rIns="121920" bIns="60960"/>
            <a:lstStyle/>
            <a:p>
              <a:pPr algn="r"/>
              <a:r>
                <a:rPr lang="en-US" altLang="ko-KR" sz="1600" b="1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90204" pitchFamily="34" charset="0"/>
                </a:rPr>
                <a:t>1</a:t>
              </a:r>
            </a:p>
          </p:txBody>
        </p:sp>
        <p:sp>
          <p:nvSpPr>
            <p:cNvPr id="36" name="矩形 35"/>
            <p:cNvSpPr/>
            <p:nvPr/>
          </p:nvSpPr>
          <p:spPr bwMode="auto">
            <a:xfrm>
              <a:off x="1442865" y="4910044"/>
              <a:ext cx="2192198" cy="581057"/>
            </a:xfrm>
            <a:prstGeom prst="rect">
              <a:avLst/>
            </a:prstGeom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l">
                <a:lnSpc>
                  <a:spcPct val="150000"/>
                </a:lnSpc>
                <a:defRPr/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90204"/>
                </a:rPr>
                <a:t>渐变角度</a:t>
              </a:r>
            </a:p>
          </p:txBody>
        </p:sp>
        <p:sp>
          <p:nvSpPr>
            <p:cNvPr id="37" name="任意多边形: 形状 41"/>
            <p:cNvSpPr/>
            <p:nvPr/>
          </p:nvSpPr>
          <p:spPr bwMode="auto">
            <a:xfrm>
              <a:off x="2200602" y="4284021"/>
              <a:ext cx="461376" cy="401428"/>
            </a:xfrm>
            <a:custGeom>
              <a:avLst/>
              <a:gdLst>
                <a:gd name="T0" fmla="*/ 235926 w 21600"/>
                <a:gd name="T1" fmla="*/ 191703 h 21600"/>
                <a:gd name="T2" fmla="*/ 235926 w 21600"/>
                <a:gd name="T3" fmla="*/ 191703 h 21600"/>
                <a:gd name="T4" fmla="*/ 235926 w 21600"/>
                <a:gd name="T5" fmla="*/ 191703 h 21600"/>
                <a:gd name="T6" fmla="*/ 235926 w 21600"/>
                <a:gd name="T7" fmla="*/ 191703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2024" y="0"/>
                  </a:moveTo>
                  <a:cubicBezTo>
                    <a:pt x="912" y="0"/>
                    <a:pt x="0" y="1122"/>
                    <a:pt x="0" y="2491"/>
                  </a:cubicBezTo>
                  <a:lnTo>
                    <a:pt x="0" y="11634"/>
                  </a:lnTo>
                  <a:cubicBezTo>
                    <a:pt x="0" y="13008"/>
                    <a:pt x="912" y="14134"/>
                    <a:pt x="2024" y="14134"/>
                  </a:cubicBezTo>
                  <a:lnTo>
                    <a:pt x="2024" y="16617"/>
                  </a:lnTo>
                  <a:cubicBezTo>
                    <a:pt x="2024" y="17994"/>
                    <a:pt x="2935" y="19109"/>
                    <a:pt x="4049" y="19109"/>
                  </a:cubicBezTo>
                  <a:lnTo>
                    <a:pt x="4822" y="19109"/>
                  </a:lnTo>
                  <a:cubicBezTo>
                    <a:pt x="5125" y="20540"/>
                    <a:pt x="6166" y="21600"/>
                    <a:pt x="7423" y="21600"/>
                  </a:cubicBezTo>
                  <a:cubicBezTo>
                    <a:pt x="8673" y="21600"/>
                    <a:pt x="9726" y="20540"/>
                    <a:pt x="10030" y="19109"/>
                  </a:cubicBezTo>
                  <a:lnTo>
                    <a:pt x="13594" y="19109"/>
                  </a:lnTo>
                  <a:cubicBezTo>
                    <a:pt x="13897" y="20540"/>
                    <a:pt x="14942" y="21600"/>
                    <a:pt x="16202" y="21600"/>
                  </a:cubicBezTo>
                  <a:cubicBezTo>
                    <a:pt x="17449" y="21600"/>
                    <a:pt x="18498" y="20540"/>
                    <a:pt x="18803" y="19109"/>
                  </a:cubicBezTo>
                  <a:lnTo>
                    <a:pt x="19576" y="19109"/>
                  </a:lnTo>
                  <a:cubicBezTo>
                    <a:pt x="20692" y="19109"/>
                    <a:pt x="21600" y="17994"/>
                    <a:pt x="21600" y="16617"/>
                  </a:cubicBezTo>
                  <a:lnTo>
                    <a:pt x="21600" y="11634"/>
                  </a:lnTo>
                  <a:cubicBezTo>
                    <a:pt x="21600" y="11142"/>
                    <a:pt x="21482" y="10663"/>
                    <a:pt x="21259" y="10248"/>
                  </a:cubicBezTo>
                  <a:lnTo>
                    <a:pt x="18554" y="5265"/>
                  </a:lnTo>
                  <a:cubicBezTo>
                    <a:pt x="18182" y="4566"/>
                    <a:pt x="17557" y="4160"/>
                    <a:pt x="16876" y="4160"/>
                  </a:cubicBezTo>
                  <a:lnTo>
                    <a:pt x="14177" y="4160"/>
                  </a:lnTo>
                  <a:lnTo>
                    <a:pt x="14177" y="2491"/>
                  </a:lnTo>
                  <a:cubicBezTo>
                    <a:pt x="14177" y="1122"/>
                    <a:pt x="13265" y="0"/>
                    <a:pt x="12146" y="0"/>
                  </a:cubicBezTo>
                  <a:lnTo>
                    <a:pt x="2024" y="0"/>
                  </a:lnTo>
                  <a:close/>
                  <a:moveTo>
                    <a:pt x="2024" y="1669"/>
                  </a:moveTo>
                  <a:lnTo>
                    <a:pt x="12146" y="1669"/>
                  </a:lnTo>
                  <a:cubicBezTo>
                    <a:pt x="12524" y="1669"/>
                    <a:pt x="12821" y="2034"/>
                    <a:pt x="12821" y="2491"/>
                  </a:cubicBezTo>
                  <a:lnTo>
                    <a:pt x="12821" y="11634"/>
                  </a:lnTo>
                  <a:cubicBezTo>
                    <a:pt x="12821" y="12090"/>
                    <a:pt x="12524" y="12465"/>
                    <a:pt x="12146" y="12465"/>
                  </a:cubicBezTo>
                  <a:cubicBezTo>
                    <a:pt x="12146" y="12465"/>
                    <a:pt x="2024" y="12465"/>
                    <a:pt x="2024" y="12465"/>
                  </a:cubicBezTo>
                  <a:cubicBezTo>
                    <a:pt x="1649" y="12465"/>
                    <a:pt x="1350" y="12090"/>
                    <a:pt x="1350" y="11634"/>
                  </a:cubicBezTo>
                  <a:lnTo>
                    <a:pt x="1350" y="2491"/>
                  </a:lnTo>
                  <a:cubicBezTo>
                    <a:pt x="1350" y="2034"/>
                    <a:pt x="1649" y="1669"/>
                    <a:pt x="2024" y="1669"/>
                  </a:cubicBezTo>
                  <a:close/>
                  <a:moveTo>
                    <a:pt x="14177" y="5821"/>
                  </a:moveTo>
                  <a:lnTo>
                    <a:pt x="16876" y="5821"/>
                  </a:lnTo>
                  <a:cubicBezTo>
                    <a:pt x="17102" y="5821"/>
                    <a:pt x="17311" y="5958"/>
                    <a:pt x="17440" y="6184"/>
                  </a:cubicBezTo>
                  <a:lnTo>
                    <a:pt x="20132" y="11175"/>
                  </a:lnTo>
                  <a:cubicBezTo>
                    <a:pt x="20206" y="11307"/>
                    <a:pt x="20250" y="11475"/>
                    <a:pt x="20250" y="11634"/>
                  </a:cubicBezTo>
                  <a:cubicBezTo>
                    <a:pt x="20250" y="11634"/>
                    <a:pt x="20250" y="16617"/>
                    <a:pt x="20250" y="16617"/>
                  </a:cubicBezTo>
                  <a:cubicBezTo>
                    <a:pt x="20250" y="17074"/>
                    <a:pt x="19946" y="17448"/>
                    <a:pt x="19576" y="17448"/>
                  </a:cubicBezTo>
                  <a:lnTo>
                    <a:pt x="18803" y="17448"/>
                  </a:lnTo>
                  <a:cubicBezTo>
                    <a:pt x="18498" y="16016"/>
                    <a:pt x="17455" y="14956"/>
                    <a:pt x="16202" y="14956"/>
                  </a:cubicBezTo>
                  <a:cubicBezTo>
                    <a:pt x="14942" y="14956"/>
                    <a:pt x="13897" y="16016"/>
                    <a:pt x="13594" y="17448"/>
                  </a:cubicBezTo>
                  <a:lnTo>
                    <a:pt x="10030" y="17448"/>
                  </a:lnTo>
                  <a:cubicBezTo>
                    <a:pt x="9729" y="16016"/>
                    <a:pt x="8678" y="14956"/>
                    <a:pt x="7423" y="14956"/>
                  </a:cubicBezTo>
                  <a:cubicBezTo>
                    <a:pt x="6166" y="14956"/>
                    <a:pt x="5125" y="16016"/>
                    <a:pt x="4822" y="17448"/>
                  </a:cubicBezTo>
                  <a:lnTo>
                    <a:pt x="4049" y="17448"/>
                  </a:lnTo>
                  <a:cubicBezTo>
                    <a:pt x="3676" y="17448"/>
                    <a:pt x="3374" y="17074"/>
                    <a:pt x="3374" y="16617"/>
                  </a:cubicBezTo>
                  <a:lnTo>
                    <a:pt x="3374" y="14134"/>
                  </a:lnTo>
                  <a:lnTo>
                    <a:pt x="12146" y="14134"/>
                  </a:lnTo>
                  <a:cubicBezTo>
                    <a:pt x="13265" y="14134"/>
                    <a:pt x="14177" y="13008"/>
                    <a:pt x="14177" y="11634"/>
                  </a:cubicBezTo>
                  <a:lnTo>
                    <a:pt x="14177" y="5821"/>
                  </a:lnTo>
                  <a:close/>
                  <a:moveTo>
                    <a:pt x="15553" y="6450"/>
                  </a:moveTo>
                  <a:cubicBezTo>
                    <a:pt x="15182" y="6450"/>
                    <a:pt x="14885" y="6824"/>
                    <a:pt x="14885" y="7281"/>
                  </a:cubicBezTo>
                  <a:lnTo>
                    <a:pt x="14885" y="12263"/>
                  </a:lnTo>
                  <a:cubicBezTo>
                    <a:pt x="14885" y="12721"/>
                    <a:pt x="15182" y="13102"/>
                    <a:pt x="15553" y="13102"/>
                  </a:cubicBezTo>
                  <a:lnTo>
                    <a:pt x="18259" y="13102"/>
                  </a:lnTo>
                  <a:cubicBezTo>
                    <a:pt x="18629" y="13102"/>
                    <a:pt x="18934" y="12721"/>
                    <a:pt x="18934" y="12263"/>
                  </a:cubicBezTo>
                  <a:lnTo>
                    <a:pt x="18934" y="11022"/>
                  </a:lnTo>
                  <a:cubicBezTo>
                    <a:pt x="18934" y="10857"/>
                    <a:pt x="18888" y="10694"/>
                    <a:pt x="18816" y="10554"/>
                  </a:cubicBezTo>
                  <a:cubicBezTo>
                    <a:pt x="18816" y="10554"/>
                    <a:pt x="16798" y="6829"/>
                    <a:pt x="16798" y="6829"/>
                  </a:cubicBezTo>
                  <a:cubicBezTo>
                    <a:pt x="16673" y="6592"/>
                    <a:pt x="16460" y="6450"/>
                    <a:pt x="16234" y="6450"/>
                  </a:cubicBezTo>
                  <a:lnTo>
                    <a:pt x="15553" y="6450"/>
                  </a:lnTo>
                  <a:close/>
                  <a:moveTo>
                    <a:pt x="15553" y="7281"/>
                  </a:moveTo>
                  <a:lnTo>
                    <a:pt x="16234" y="7281"/>
                  </a:lnTo>
                  <a:lnTo>
                    <a:pt x="18259" y="11022"/>
                  </a:lnTo>
                  <a:cubicBezTo>
                    <a:pt x="18259" y="11022"/>
                    <a:pt x="18259" y="12263"/>
                    <a:pt x="18259" y="12263"/>
                  </a:cubicBezTo>
                  <a:lnTo>
                    <a:pt x="15553" y="12263"/>
                  </a:lnTo>
                  <a:lnTo>
                    <a:pt x="15553" y="7281"/>
                  </a:lnTo>
                  <a:close/>
                  <a:moveTo>
                    <a:pt x="7423" y="16617"/>
                  </a:moveTo>
                  <a:cubicBezTo>
                    <a:pt x="8167" y="16617"/>
                    <a:pt x="8772" y="17365"/>
                    <a:pt x="8772" y="18278"/>
                  </a:cubicBezTo>
                  <a:cubicBezTo>
                    <a:pt x="8772" y="19191"/>
                    <a:pt x="8167" y="19939"/>
                    <a:pt x="7423" y="19939"/>
                  </a:cubicBezTo>
                  <a:cubicBezTo>
                    <a:pt x="6677" y="19939"/>
                    <a:pt x="6073" y="19191"/>
                    <a:pt x="6073" y="18278"/>
                  </a:cubicBezTo>
                  <a:cubicBezTo>
                    <a:pt x="6073" y="17365"/>
                    <a:pt x="6677" y="16617"/>
                    <a:pt x="7423" y="16617"/>
                  </a:cubicBezTo>
                  <a:close/>
                  <a:moveTo>
                    <a:pt x="16202" y="16617"/>
                  </a:moveTo>
                  <a:cubicBezTo>
                    <a:pt x="16943" y="16617"/>
                    <a:pt x="17551" y="17365"/>
                    <a:pt x="17551" y="18278"/>
                  </a:cubicBezTo>
                  <a:cubicBezTo>
                    <a:pt x="17551" y="19191"/>
                    <a:pt x="16943" y="19939"/>
                    <a:pt x="16202" y="19939"/>
                  </a:cubicBezTo>
                  <a:cubicBezTo>
                    <a:pt x="15454" y="19939"/>
                    <a:pt x="14852" y="19191"/>
                    <a:pt x="14852" y="18278"/>
                  </a:cubicBezTo>
                  <a:cubicBezTo>
                    <a:pt x="14852" y="17365"/>
                    <a:pt x="15454" y="16617"/>
                    <a:pt x="16202" y="16617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676846" y="3686689"/>
            <a:ext cx="12190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4435117"/>
              </p:ext>
            </p:extLst>
          </p:nvPr>
        </p:nvGraphicFramePr>
        <p:xfrm>
          <a:off x="6676846" y="3686689"/>
          <a:ext cx="3800475" cy="295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r:id="rId4" imgW="4536810" imgH="3526856" progId="Visio.Drawing.11">
                  <p:embed/>
                </p:oleObj>
              </mc:Choice>
              <mc:Fallback>
                <p:oleObj r:id="rId4" imgW="4536810" imgH="3526856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6846" y="3686689"/>
                        <a:ext cx="3800475" cy="2952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右箭头 11"/>
          <p:cNvSpPr/>
          <p:nvPr/>
        </p:nvSpPr>
        <p:spPr>
          <a:xfrm>
            <a:off x="5865962" y="5030815"/>
            <a:ext cx="552091" cy="581057"/>
          </a:xfrm>
          <a:prstGeom prst="rightArrow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8358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渐变</a:t>
            </a:r>
            <a:endParaRPr lang="zh-CN" altLang="en-US" sz="20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7021901" y="3194681"/>
            <a:ext cx="150586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23" name="圆角矩形 22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4" name="TextBox 38"/>
            <p:cNvSpPr txBox="1"/>
            <p:nvPr/>
          </p:nvSpPr>
          <p:spPr>
            <a:xfrm>
              <a:off x="1642737" y="2209865"/>
              <a:ext cx="9297926" cy="32585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CSS3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中的 “</a:t>
              </a:r>
              <a:r>
                <a:rPr lang="en-US" altLang="zh-CN" sz="1600" dirty="0" err="1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background-image:linear-gradient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（参数值）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;”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样式可以实现线性渐变效果。</a:t>
              </a:r>
            </a:p>
          </p:txBody>
        </p:sp>
        <p:sp>
          <p:nvSpPr>
            <p:cNvPr id="25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6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403436" y="1776747"/>
              <a:ext cx="188224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）线性渐变</a:t>
              </a:r>
            </a:p>
          </p:txBody>
        </p:sp>
      </p:grpSp>
      <p:grpSp>
        <p:nvGrpSpPr>
          <p:cNvPr id="28" name="组合 8"/>
          <p:cNvGrpSpPr/>
          <p:nvPr/>
        </p:nvGrpSpPr>
        <p:grpSpPr bwMode="auto">
          <a:xfrm>
            <a:off x="1226208" y="2872482"/>
            <a:ext cx="10005233" cy="840518"/>
            <a:chOff x="-569288" y="2283718"/>
            <a:chExt cx="12395214" cy="840811"/>
          </a:xfrm>
        </p:grpSpPr>
        <p:sp>
          <p:nvSpPr>
            <p:cNvPr id="29" name="矩形 28"/>
            <p:cNvSpPr/>
            <p:nvPr/>
          </p:nvSpPr>
          <p:spPr>
            <a:xfrm>
              <a:off x="-569288" y="2283718"/>
              <a:ext cx="12395214" cy="8408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90429" y="2484104"/>
              <a:ext cx="10711315" cy="4183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background-image:linear-gradient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(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渐变角度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1,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2...,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n);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2485663" y="4034087"/>
            <a:ext cx="2982862" cy="2284020"/>
            <a:chOff x="1226208" y="3913316"/>
            <a:chExt cx="2982862" cy="2284020"/>
          </a:xfrm>
        </p:grpSpPr>
        <p:sp>
          <p:nvSpPr>
            <p:cNvPr id="32" name="矩形: 剪去单角 437"/>
            <p:cNvSpPr/>
            <p:nvPr/>
          </p:nvSpPr>
          <p:spPr bwMode="auto">
            <a:xfrm>
              <a:off x="1226629" y="3913316"/>
              <a:ext cx="2982018" cy="2257438"/>
            </a:xfrm>
            <a:prstGeom prst="snip1Rect">
              <a:avLst>
                <a:gd name="adj" fmla="val 29383"/>
              </a:avLst>
            </a:prstGeom>
            <a:solidFill>
              <a:srgbClr val="F6F6F6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endParaRPr>
            </a:p>
          </p:txBody>
        </p:sp>
        <p:sp>
          <p:nvSpPr>
            <p:cNvPr id="33" name="矩形 42"/>
            <p:cNvSpPr>
              <a:spLocks noChangeArrowheads="1"/>
            </p:cNvSpPr>
            <p:nvPr/>
          </p:nvSpPr>
          <p:spPr bwMode="auto">
            <a:xfrm>
              <a:off x="1226208" y="6059486"/>
              <a:ext cx="2982439" cy="1378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lang="zh-CN" altLang="zh-CN"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34" name="任意多边形: 形状 438"/>
            <p:cNvSpPr/>
            <p:nvPr/>
          </p:nvSpPr>
          <p:spPr bwMode="auto">
            <a:xfrm>
              <a:off x="3456613" y="3913316"/>
              <a:ext cx="752457" cy="805713"/>
            </a:xfrm>
            <a:custGeom>
              <a:avLst/>
              <a:gdLst>
                <a:gd name="T0" fmla="*/ 631242 w 608"/>
                <a:gd name="T1" fmla="*/ 0 h 608"/>
                <a:gd name="T2" fmla="*/ 0 w 608"/>
                <a:gd name="T3" fmla="*/ 0 h 608"/>
                <a:gd name="T4" fmla="*/ 631242 w 608"/>
                <a:gd name="T5" fmla="*/ 631242 h 608"/>
                <a:gd name="T6" fmla="*/ 631242 w 608"/>
                <a:gd name="T7" fmla="*/ 0 h 6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08"/>
                <a:gd name="T13" fmla="*/ 0 h 608"/>
                <a:gd name="T14" fmla="*/ 608 w 608"/>
                <a:gd name="T15" fmla="*/ 608 h 6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08" h="608">
                  <a:moveTo>
                    <a:pt x="608" y="0"/>
                  </a:moveTo>
                  <a:lnTo>
                    <a:pt x="0" y="0"/>
                  </a:lnTo>
                  <a:lnTo>
                    <a:pt x="608" y="608"/>
                  </a:lnTo>
                  <a:lnTo>
                    <a:pt x="608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lIns="121920" tIns="60960" rIns="121920" bIns="60960"/>
            <a:lstStyle/>
            <a:p>
              <a:pPr algn="r"/>
              <a:r>
                <a:rPr lang="en-US" altLang="ko-KR" sz="1600" b="1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90204" pitchFamily="34" charset="0"/>
                </a:rPr>
                <a:t>1</a:t>
              </a:r>
            </a:p>
          </p:txBody>
        </p:sp>
        <p:sp>
          <p:nvSpPr>
            <p:cNvPr id="36" name="矩形 35"/>
            <p:cNvSpPr/>
            <p:nvPr/>
          </p:nvSpPr>
          <p:spPr bwMode="auto">
            <a:xfrm>
              <a:off x="1442865" y="4910044"/>
              <a:ext cx="2192198" cy="581057"/>
            </a:xfrm>
            <a:prstGeom prst="rect">
              <a:avLst/>
            </a:prstGeom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l">
                <a:lnSpc>
                  <a:spcPct val="150000"/>
                </a:lnSpc>
                <a:defRPr/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90204"/>
                </a:rPr>
                <a:t>颜色值</a:t>
              </a:r>
            </a:p>
          </p:txBody>
        </p:sp>
        <p:sp>
          <p:nvSpPr>
            <p:cNvPr id="37" name="任意多边形: 形状 41"/>
            <p:cNvSpPr/>
            <p:nvPr/>
          </p:nvSpPr>
          <p:spPr bwMode="auto">
            <a:xfrm>
              <a:off x="2200602" y="4284021"/>
              <a:ext cx="461376" cy="401428"/>
            </a:xfrm>
            <a:custGeom>
              <a:avLst/>
              <a:gdLst>
                <a:gd name="T0" fmla="*/ 235926 w 21600"/>
                <a:gd name="T1" fmla="*/ 191703 h 21600"/>
                <a:gd name="T2" fmla="*/ 235926 w 21600"/>
                <a:gd name="T3" fmla="*/ 191703 h 21600"/>
                <a:gd name="T4" fmla="*/ 235926 w 21600"/>
                <a:gd name="T5" fmla="*/ 191703 h 21600"/>
                <a:gd name="T6" fmla="*/ 235926 w 21600"/>
                <a:gd name="T7" fmla="*/ 191703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2024" y="0"/>
                  </a:moveTo>
                  <a:cubicBezTo>
                    <a:pt x="912" y="0"/>
                    <a:pt x="0" y="1122"/>
                    <a:pt x="0" y="2491"/>
                  </a:cubicBezTo>
                  <a:lnTo>
                    <a:pt x="0" y="11634"/>
                  </a:lnTo>
                  <a:cubicBezTo>
                    <a:pt x="0" y="13008"/>
                    <a:pt x="912" y="14134"/>
                    <a:pt x="2024" y="14134"/>
                  </a:cubicBezTo>
                  <a:lnTo>
                    <a:pt x="2024" y="16617"/>
                  </a:lnTo>
                  <a:cubicBezTo>
                    <a:pt x="2024" y="17994"/>
                    <a:pt x="2935" y="19109"/>
                    <a:pt x="4049" y="19109"/>
                  </a:cubicBezTo>
                  <a:lnTo>
                    <a:pt x="4822" y="19109"/>
                  </a:lnTo>
                  <a:cubicBezTo>
                    <a:pt x="5125" y="20540"/>
                    <a:pt x="6166" y="21600"/>
                    <a:pt x="7423" y="21600"/>
                  </a:cubicBezTo>
                  <a:cubicBezTo>
                    <a:pt x="8673" y="21600"/>
                    <a:pt x="9726" y="20540"/>
                    <a:pt x="10030" y="19109"/>
                  </a:cubicBezTo>
                  <a:lnTo>
                    <a:pt x="13594" y="19109"/>
                  </a:lnTo>
                  <a:cubicBezTo>
                    <a:pt x="13897" y="20540"/>
                    <a:pt x="14942" y="21600"/>
                    <a:pt x="16202" y="21600"/>
                  </a:cubicBezTo>
                  <a:cubicBezTo>
                    <a:pt x="17449" y="21600"/>
                    <a:pt x="18498" y="20540"/>
                    <a:pt x="18803" y="19109"/>
                  </a:cubicBezTo>
                  <a:lnTo>
                    <a:pt x="19576" y="19109"/>
                  </a:lnTo>
                  <a:cubicBezTo>
                    <a:pt x="20692" y="19109"/>
                    <a:pt x="21600" y="17994"/>
                    <a:pt x="21600" y="16617"/>
                  </a:cubicBezTo>
                  <a:lnTo>
                    <a:pt x="21600" y="11634"/>
                  </a:lnTo>
                  <a:cubicBezTo>
                    <a:pt x="21600" y="11142"/>
                    <a:pt x="21482" y="10663"/>
                    <a:pt x="21259" y="10248"/>
                  </a:cubicBezTo>
                  <a:lnTo>
                    <a:pt x="18554" y="5265"/>
                  </a:lnTo>
                  <a:cubicBezTo>
                    <a:pt x="18182" y="4566"/>
                    <a:pt x="17557" y="4160"/>
                    <a:pt x="16876" y="4160"/>
                  </a:cubicBezTo>
                  <a:lnTo>
                    <a:pt x="14177" y="4160"/>
                  </a:lnTo>
                  <a:lnTo>
                    <a:pt x="14177" y="2491"/>
                  </a:lnTo>
                  <a:cubicBezTo>
                    <a:pt x="14177" y="1122"/>
                    <a:pt x="13265" y="0"/>
                    <a:pt x="12146" y="0"/>
                  </a:cubicBezTo>
                  <a:lnTo>
                    <a:pt x="2024" y="0"/>
                  </a:lnTo>
                  <a:close/>
                  <a:moveTo>
                    <a:pt x="2024" y="1669"/>
                  </a:moveTo>
                  <a:lnTo>
                    <a:pt x="12146" y="1669"/>
                  </a:lnTo>
                  <a:cubicBezTo>
                    <a:pt x="12524" y="1669"/>
                    <a:pt x="12821" y="2034"/>
                    <a:pt x="12821" y="2491"/>
                  </a:cubicBezTo>
                  <a:lnTo>
                    <a:pt x="12821" y="11634"/>
                  </a:lnTo>
                  <a:cubicBezTo>
                    <a:pt x="12821" y="12090"/>
                    <a:pt x="12524" y="12465"/>
                    <a:pt x="12146" y="12465"/>
                  </a:cubicBezTo>
                  <a:cubicBezTo>
                    <a:pt x="12146" y="12465"/>
                    <a:pt x="2024" y="12465"/>
                    <a:pt x="2024" y="12465"/>
                  </a:cubicBezTo>
                  <a:cubicBezTo>
                    <a:pt x="1649" y="12465"/>
                    <a:pt x="1350" y="12090"/>
                    <a:pt x="1350" y="11634"/>
                  </a:cubicBezTo>
                  <a:lnTo>
                    <a:pt x="1350" y="2491"/>
                  </a:lnTo>
                  <a:cubicBezTo>
                    <a:pt x="1350" y="2034"/>
                    <a:pt x="1649" y="1669"/>
                    <a:pt x="2024" y="1669"/>
                  </a:cubicBezTo>
                  <a:close/>
                  <a:moveTo>
                    <a:pt x="14177" y="5821"/>
                  </a:moveTo>
                  <a:lnTo>
                    <a:pt x="16876" y="5821"/>
                  </a:lnTo>
                  <a:cubicBezTo>
                    <a:pt x="17102" y="5821"/>
                    <a:pt x="17311" y="5958"/>
                    <a:pt x="17440" y="6184"/>
                  </a:cubicBezTo>
                  <a:lnTo>
                    <a:pt x="20132" y="11175"/>
                  </a:lnTo>
                  <a:cubicBezTo>
                    <a:pt x="20206" y="11307"/>
                    <a:pt x="20250" y="11475"/>
                    <a:pt x="20250" y="11634"/>
                  </a:cubicBezTo>
                  <a:cubicBezTo>
                    <a:pt x="20250" y="11634"/>
                    <a:pt x="20250" y="16617"/>
                    <a:pt x="20250" y="16617"/>
                  </a:cubicBezTo>
                  <a:cubicBezTo>
                    <a:pt x="20250" y="17074"/>
                    <a:pt x="19946" y="17448"/>
                    <a:pt x="19576" y="17448"/>
                  </a:cubicBezTo>
                  <a:lnTo>
                    <a:pt x="18803" y="17448"/>
                  </a:lnTo>
                  <a:cubicBezTo>
                    <a:pt x="18498" y="16016"/>
                    <a:pt x="17455" y="14956"/>
                    <a:pt x="16202" y="14956"/>
                  </a:cubicBezTo>
                  <a:cubicBezTo>
                    <a:pt x="14942" y="14956"/>
                    <a:pt x="13897" y="16016"/>
                    <a:pt x="13594" y="17448"/>
                  </a:cubicBezTo>
                  <a:lnTo>
                    <a:pt x="10030" y="17448"/>
                  </a:lnTo>
                  <a:cubicBezTo>
                    <a:pt x="9729" y="16016"/>
                    <a:pt x="8678" y="14956"/>
                    <a:pt x="7423" y="14956"/>
                  </a:cubicBezTo>
                  <a:cubicBezTo>
                    <a:pt x="6166" y="14956"/>
                    <a:pt x="5125" y="16016"/>
                    <a:pt x="4822" y="17448"/>
                  </a:cubicBezTo>
                  <a:lnTo>
                    <a:pt x="4049" y="17448"/>
                  </a:lnTo>
                  <a:cubicBezTo>
                    <a:pt x="3676" y="17448"/>
                    <a:pt x="3374" y="17074"/>
                    <a:pt x="3374" y="16617"/>
                  </a:cubicBezTo>
                  <a:lnTo>
                    <a:pt x="3374" y="14134"/>
                  </a:lnTo>
                  <a:lnTo>
                    <a:pt x="12146" y="14134"/>
                  </a:lnTo>
                  <a:cubicBezTo>
                    <a:pt x="13265" y="14134"/>
                    <a:pt x="14177" y="13008"/>
                    <a:pt x="14177" y="11634"/>
                  </a:cubicBezTo>
                  <a:lnTo>
                    <a:pt x="14177" y="5821"/>
                  </a:lnTo>
                  <a:close/>
                  <a:moveTo>
                    <a:pt x="15553" y="6450"/>
                  </a:moveTo>
                  <a:cubicBezTo>
                    <a:pt x="15182" y="6450"/>
                    <a:pt x="14885" y="6824"/>
                    <a:pt x="14885" y="7281"/>
                  </a:cubicBezTo>
                  <a:lnTo>
                    <a:pt x="14885" y="12263"/>
                  </a:lnTo>
                  <a:cubicBezTo>
                    <a:pt x="14885" y="12721"/>
                    <a:pt x="15182" y="13102"/>
                    <a:pt x="15553" y="13102"/>
                  </a:cubicBezTo>
                  <a:lnTo>
                    <a:pt x="18259" y="13102"/>
                  </a:lnTo>
                  <a:cubicBezTo>
                    <a:pt x="18629" y="13102"/>
                    <a:pt x="18934" y="12721"/>
                    <a:pt x="18934" y="12263"/>
                  </a:cubicBezTo>
                  <a:lnTo>
                    <a:pt x="18934" y="11022"/>
                  </a:lnTo>
                  <a:cubicBezTo>
                    <a:pt x="18934" y="10857"/>
                    <a:pt x="18888" y="10694"/>
                    <a:pt x="18816" y="10554"/>
                  </a:cubicBezTo>
                  <a:cubicBezTo>
                    <a:pt x="18816" y="10554"/>
                    <a:pt x="16798" y="6829"/>
                    <a:pt x="16798" y="6829"/>
                  </a:cubicBezTo>
                  <a:cubicBezTo>
                    <a:pt x="16673" y="6592"/>
                    <a:pt x="16460" y="6450"/>
                    <a:pt x="16234" y="6450"/>
                  </a:cubicBezTo>
                  <a:lnTo>
                    <a:pt x="15553" y="6450"/>
                  </a:lnTo>
                  <a:close/>
                  <a:moveTo>
                    <a:pt x="15553" y="7281"/>
                  </a:moveTo>
                  <a:lnTo>
                    <a:pt x="16234" y="7281"/>
                  </a:lnTo>
                  <a:lnTo>
                    <a:pt x="18259" y="11022"/>
                  </a:lnTo>
                  <a:cubicBezTo>
                    <a:pt x="18259" y="11022"/>
                    <a:pt x="18259" y="12263"/>
                    <a:pt x="18259" y="12263"/>
                  </a:cubicBezTo>
                  <a:lnTo>
                    <a:pt x="15553" y="12263"/>
                  </a:lnTo>
                  <a:lnTo>
                    <a:pt x="15553" y="7281"/>
                  </a:lnTo>
                  <a:close/>
                  <a:moveTo>
                    <a:pt x="7423" y="16617"/>
                  </a:moveTo>
                  <a:cubicBezTo>
                    <a:pt x="8167" y="16617"/>
                    <a:pt x="8772" y="17365"/>
                    <a:pt x="8772" y="18278"/>
                  </a:cubicBezTo>
                  <a:cubicBezTo>
                    <a:pt x="8772" y="19191"/>
                    <a:pt x="8167" y="19939"/>
                    <a:pt x="7423" y="19939"/>
                  </a:cubicBezTo>
                  <a:cubicBezTo>
                    <a:pt x="6677" y="19939"/>
                    <a:pt x="6073" y="19191"/>
                    <a:pt x="6073" y="18278"/>
                  </a:cubicBezTo>
                  <a:cubicBezTo>
                    <a:pt x="6073" y="17365"/>
                    <a:pt x="6677" y="16617"/>
                    <a:pt x="7423" y="16617"/>
                  </a:cubicBezTo>
                  <a:close/>
                  <a:moveTo>
                    <a:pt x="16202" y="16617"/>
                  </a:moveTo>
                  <a:cubicBezTo>
                    <a:pt x="16943" y="16617"/>
                    <a:pt x="17551" y="17365"/>
                    <a:pt x="17551" y="18278"/>
                  </a:cubicBezTo>
                  <a:cubicBezTo>
                    <a:pt x="17551" y="19191"/>
                    <a:pt x="16943" y="19939"/>
                    <a:pt x="16202" y="19939"/>
                  </a:cubicBezTo>
                  <a:cubicBezTo>
                    <a:pt x="15454" y="19939"/>
                    <a:pt x="14852" y="19191"/>
                    <a:pt x="14852" y="18278"/>
                  </a:cubicBezTo>
                  <a:cubicBezTo>
                    <a:pt x="14852" y="17365"/>
                    <a:pt x="15454" y="16617"/>
                    <a:pt x="16202" y="16617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676846" y="3686689"/>
            <a:ext cx="12190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2" name="右箭头 11"/>
          <p:cNvSpPr/>
          <p:nvPr/>
        </p:nvSpPr>
        <p:spPr>
          <a:xfrm>
            <a:off x="5865962" y="5030815"/>
            <a:ext cx="552091" cy="581057"/>
          </a:xfrm>
          <a:prstGeom prst="rightArrow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5" name="组合 45"/>
          <p:cNvGrpSpPr>
            <a:grpSpLocks/>
          </p:cNvGrpSpPr>
          <p:nvPr/>
        </p:nvGrpSpPr>
        <p:grpSpPr bwMode="auto">
          <a:xfrm>
            <a:off x="6477981" y="3695781"/>
            <a:ext cx="2655887" cy="2806700"/>
            <a:chOff x="2714194" y="995130"/>
            <a:chExt cx="2681008" cy="2638958"/>
          </a:xfrm>
        </p:grpSpPr>
        <p:sp>
          <p:nvSpPr>
            <p:cNvPr id="38" name="椭圆 37"/>
            <p:cNvSpPr/>
            <p:nvPr/>
          </p:nvSpPr>
          <p:spPr>
            <a:xfrm>
              <a:off x="2714194" y="995130"/>
              <a:ext cx="519215" cy="519433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1">
                  <a:lumMod val="8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圆角矩形 38"/>
            <p:cNvSpPr/>
            <p:nvPr/>
          </p:nvSpPr>
          <p:spPr bwMode="auto">
            <a:xfrm>
              <a:off x="2843997" y="1096628"/>
              <a:ext cx="2551205" cy="2537460"/>
            </a:xfrm>
            <a:prstGeom prst="roundRect">
              <a:avLst>
                <a:gd name="adj" fmla="val 7320"/>
              </a:avLst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“颜色值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1”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表示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初始颜色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“颜色值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n”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表示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结束颜色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，初始颜色和结束颜色之间可以添加多个颜色值，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各颜色值之间用“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,”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隔开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sp>
          <p:nvSpPr>
            <p:cNvPr id="40" name="椭圆 39"/>
            <p:cNvSpPr/>
            <p:nvPr/>
          </p:nvSpPr>
          <p:spPr>
            <a:xfrm>
              <a:off x="2714194" y="995130"/>
              <a:ext cx="519215" cy="51943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椭圆 40"/>
            <p:cNvSpPr/>
            <p:nvPr/>
          </p:nvSpPr>
          <p:spPr>
            <a:xfrm>
              <a:off x="2757461" y="1038417"/>
              <a:ext cx="431077" cy="431368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43227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渐变</a:t>
            </a:r>
            <a:endParaRPr lang="zh-CN" altLang="en-US" sz="20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7021901" y="3194681"/>
            <a:ext cx="150586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23" name="圆角矩形 22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4" name="TextBox 38"/>
            <p:cNvSpPr txBox="1"/>
            <p:nvPr/>
          </p:nvSpPr>
          <p:spPr>
            <a:xfrm>
              <a:off x="1642737" y="2209865"/>
              <a:ext cx="9297926" cy="32585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CSS3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</a:t>
              </a:r>
              <a:r>
                <a:rPr lang="en-US" altLang="zh-CN" sz="1600" dirty="0" err="1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background-image:radial-gradient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（参数值）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;”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样式可以实现径向渐变效果。</a:t>
              </a:r>
            </a:p>
          </p:txBody>
        </p:sp>
        <p:sp>
          <p:nvSpPr>
            <p:cNvPr id="25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6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403436" y="1776747"/>
              <a:ext cx="188224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）径向渐变</a:t>
              </a:r>
            </a:p>
          </p:txBody>
        </p:sp>
      </p:grpSp>
      <p:grpSp>
        <p:nvGrpSpPr>
          <p:cNvPr id="28" name="组合 8"/>
          <p:cNvGrpSpPr/>
          <p:nvPr/>
        </p:nvGrpSpPr>
        <p:grpSpPr bwMode="auto">
          <a:xfrm>
            <a:off x="1226208" y="2872482"/>
            <a:ext cx="10005233" cy="840518"/>
            <a:chOff x="-569288" y="2283718"/>
            <a:chExt cx="12395214" cy="840811"/>
          </a:xfrm>
        </p:grpSpPr>
        <p:sp>
          <p:nvSpPr>
            <p:cNvPr id="29" name="矩形 28"/>
            <p:cNvSpPr/>
            <p:nvPr/>
          </p:nvSpPr>
          <p:spPr>
            <a:xfrm>
              <a:off x="-569288" y="2283718"/>
              <a:ext cx="12395214" cy="8408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90429" y="2484105"/>
              <a:ext cx="10711315" cy="4183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background-image:radial-gradient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(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渐变形状 圆心位置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1,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2...,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n);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381483" y="4034087"/>
            <a:ext cx="2982862" cy="2284020"/>
            <a:chOff x="1226208" y="3913316"/>
            <a:chExt cx="2982862" cy="2284020"/>
          </a:xfrm>
        </p:grpSpPr>
        <p:sp>
          <p:nvSpPr>
            <p:cNvPr id="32" name="矩形: 剪去单角 437"/>
            <p:cNvSpPr/>
            <p:nvPr/>
          </p:nvSpPr>
          <p:spPr bwMode="auto">
            <a:xfrm>
              <a:off x="1226629" y="3913316"/>
              <a:ext cx="2982018" cy="2257438"/>
            </a:xfrm>
            <a:prstGeom prst="snip1Rect">
              <a:avLst>
                <a:gd name="adj" fmla="val 29383"/>
              </a:avLst>
            </a:prstGeom>
            <a:solidFill>
              <a:srgbClr val="F6F6F6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endParaRPr>
            </a:p>
          </p:txBody>
        </p:sp>
        <p:sp>
          <p:nvSpPr>
            <p:cNvPr id="33" name="矩形 42"/>
            <p:cNvSpPr>
              <a:spLocks noChangeArrowheads="1"/>
            </p:cNvSpPr>
            <p:nvPr/>
          </p:nvSpPr>
          <p:spPr bwMode="auto">
            <a:xfrm>
              <a:off x="1226208" y="6059486"/>
              <a:ext cx="2982439" cy="1378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lang="zh-CN" altLang="zh-CN"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34" name="任意多边形: 形状 438"/>
            <p:cNvSpPr/>
            <p:nvPr/>
          </p:nvSpPr>
          <p:spPr bwMode="auto">
            <a:xfrm>
              <a:off x="3456613" y="3913316"/>
              <a:ext cx="752457" cy="805713"/>
            </a:xfrm>
            <a:custGeom>
              <a:avLst/>
              <a:gdLst>
                <a:gd name="T0" fmla="*/ 631242 w 608"/>
                <a:gd name="T1" fmla="*/ 0 h 608"/>
                <a:gd name="T2" fmla="*/ 0 w 608"/>
                <a:gd name="T3" fmla="*/ 0 h 608"/>
                <a:gd name="T4" fmla="*/ 631242 w 608"/>
                <a:gd name="T5" fmla="*/ 631242 h 608"/>
                <a:gd name="T6" fmla="*/ 631242 w 608"/>
                <a:gd name="T7" fmla="*/ 0 h 6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08"/>
                <a:gd name="T13" fmla="*/ 0 h 608"/>
                <a:gd name="T14" fmla="*/ 608 w 608"/>
                <a:gd name="T15" fmla="*/ 608 h 6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08" h="608">
                  <a:moveTo>
                    <a:pt x="608" y="0"/>
                  </a:moveTo>
                  <a:lnTo>
                    <a:pt x="0" y="0"/>
                  </a:lnTo>
                  <a:lnTo>
                    <a:pt x="608" y="608"/>
                  </a:lnTo>
                  <a:lnTo>
                    <a:pt x="608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lIns="121920" tIns="60960" rIns="121920" bIns="60960"/>
            <a:lstStyle/>
            <a:p>
              <a:pPr algn="r"/>
              <a:r>
                <a:rPr lang="en-US" altLang="ko-KR" sz="1600" b="1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90204" pitchFamily="34" charset="0"/>
                </a:rPr>
                <a:t>1</a:t>
              </a:r>
            </a:p>
          </p:txBody>
        </p:sp>
        <p:sp>
          <p:nvSpPr>
            <p:cNvPr id="36" name="矩形 35"/>
            <p:cNvSpPr/>
            <p:nvPr/>
          </p:nvSpPr>
          <p:spPr bwMode="auto">
            <a:xfrm>
              <a:off x="1442865" y="4910044"/>
              <a:ext cx="2192198" cy="581057"/>
            </a:xfrm>
            <a:prstGeom prst="rect">
              <a:avLst/>
            </a:prstGeom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l">
                <a:lnSpc>
                  <a:spcPct val="150000"/>
                </a:lnSpc>
                <a:defRPr/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90204"/>
                </a:rPr>
                <a:t>渐变形状</a:t>
              </a:r>
            </a:p>
          </p:txBody>
        </p:sp>
        <p:sp>
          <p:nvSpPr>
            <p:cNvPr id="37" name="任意多边形: 形状 41"/>
            <p:cNvSpPr/>
            <p:nvPr/>
          </p:nvSpPr>
          <p:spPr bwMode="auto">
            <a:xfrm>
              <a:off x="2200602" y="4284021"/>
              <a:ext cx="461376" cy="401428"/>
            </a:xfrm>
            <a:custGeom>
              <a:avLst/>
              <a:gdLst>
                <a:gd name="T0" fmla="*/ 235926 w 21600"/>
                <a:gd name="T1" fmla="*/ 191703 h 21600"/>
                <a:gd name="T2" fmla="*/ 235926 w 21600"/>
                <a:gd name="T3" fmla="*/ 191703 h 21600"/>
                <a:gd name="T4" fmla="*/ 235926 w 21600"/>
                <a:gd name="T5" fmla="*/ 191703 h 21600"/>
                <a:gd name="T6" fmla="*/ 235926 w 21600"/>
                <a:gd name="T7" fmla="*/ 191703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2024" y="0"/>
                  </a:moveTo>
                  <a:cubicBezTo>
                    <a:pt x="912" y="0"/>
                    <a:pt x="0" y="1122"/>
                    <a:pt x="0" y="2491"/>
                  </a:cubicBezTo>
                  <a:lnTo>
                    <a:pt x="0" y="11634"/>
                  </a:lnTo>
                  <a:cubicBezTo>
                    <a:pt x="0" y="13008"/>
                    <a:pt x="912" y="14134"/>
                    <a:pt x="2024" y="14134"/>
                  </a:cubicBezTo>
                  <a:lnTo>
                    <a:pt x="2024" y="16617"/>
                  </a:lnTo>
                  <a:cubicBezTo>
                    <a:pt x="2024" y="17994"/>
                    <a:pt x="2935" y="19109"/>
                    <a:pt x="4049" y="19109"/>
                  </a:cubicBezTo>
                  <a:lnTo>
                    <a:pt x="4822" y="19109"/>
                  </a:lnTo>
                  <a:cubicBezTo>
                    <a:pt x="5125" y="20540"/>
                    <a:pt x="6166" y="21600"/>
                    <a:pt x="7423" y="21600"/>
                  </a:cubicBezTo>
                  <a:cubicBezTo>
                    <a:pt x="8673" y="21600"/>
                    <a:pt x="9726" y="20540"/>
                    <a:pt x="10030" y="19109"/>
                  </a:cubicBezTo>
                  <a:lnTo>
                    <a:pt x="13594" y="19109"/>
                  </a:lnTo>
                  <a:cubicBezTo>
                    <a:pt x="13897" y="20540"/>
                    <a:pt x="14942" y="21600"/>
                    <a:pt x="16202" y="21600"/>
                  </a:cubicBezTo>
                  <a:cubicBezTo>
                    <a:pt x="17449" y="21600"/>
                    <a:pt x="18498" y="20540"/>
                    <a:pt x="18803" y="19109"/>
                  </a:cubicBezTo>
                  <a:lnTo>
                    <a:pt x="19576" y="19109"/>
                  </a:lnTo>
                  <a:cubicBezTo>
                    <a:pt x="20692" y="19109"/>
                    <a:pt x="21600" y="17994"/>
                    <a:pt x="21600" y="16617"/>
                  </a:cubicBezTo>
                  <a:lnTo>
                    <a:pt x="21600" y="11634"/>
                  </a:lnTo>
                  <a:cubicBezTo>
                    <a:pt x="21600" y="11142"/>
                    <a:pt x="21482" y="10663"/>
                    <a:pt x="21259" y="10248"/>
                  </a:cubicBezTo>
                  <a:lnTo>
                    <a:pt x="18554" y="5265"/>
                  </a:lnTo>
                  <a:cubicBezTo>
                    <a:pt x="18182" y="4566"/>
                    <a:pt x="17557" y="4160"/>
                    <a:pt x="16876" y="4160"/>
                  </a:cubicBezTo>
                  <a:lnTo>
                    <a:pt x="14177" y="4160"/>
                  </a:lnTo>
                  <a:lnTo>
                    <a:pt x="14177" y="2491"/>
                  </a:lnTo>
                  <a:cubicBezTo>
                    <a:pt x="14177" y="1122"/>
                    <a:pt x="13265" y="0"/>
                    <a:pt x="12146" y="0"/>
                  </a:cubicBezTo>
                  <a:lnTo>
                    <a:pt x="2024" y="0"/>
                  </a:lnTo>
                  <a:close/>
                  <a:moveTo>
                    <a:pt x="2024" y="1669"/>
                  </a:moveTo>
                  <a:lnTo>
                    <a:pt x="12146" y="1669"/>
                  </a:lnTo>
                  <a:cubicBezTo>
                    <a:pt x="12524" y="1669"/>
                    <a:pt x="12821" y="2034"/>
                    <a:pt x="12821" y="2491"/>
                  </a:cubicBezTo>
                  <a:lnTo>
                    <a:pt x="12821" y="11634"/>
                  </a:lnTo>
                  <a:cubicBezTo>
                    <a:pt x="12821" y="12090"/>
                    <a:pt x="12524" y="12465"/>
                    <a:pt x="12146" y="12465"/>
                  </a:cubicBezTo>
                  <a:cubicBezTo>
                    <a:pt x="12146" y="12465"/>
                    <a:pt x="2024" y="12465"/>
                    <a:pt x="2024" y="12465"/>
                  </a:cubicBezTo>
                  <a:cubicBezTo>
                    <a:pt x="1649" y="12465"/>
                    <a:pt x="1350" y="12090"/>
                    <a:pt x="1350" y="11634"/>
                  </a:cubicBezTo>
                  <a:lnTo>
                    <a:pt x="1350" y="2491"/>
                  </a:lnTo>
                  <a:cubicBezTo>
                    <a:pt x="1350" y="2034"/>
                    <a:pt x="1649" y="1669"/>
                    <a:pt x="2024" y="1669"/>
                  </a:cubicBezTo>
                  <a:close/>
                  <a:moveTo>
                    <a:pt x="14177" y="5821"/>
                  </a:moveTo>
                  <a:lnTo>
                    <a:pt x="16876" y="5821"/>
                  </a:lnTo>
                  <a:cubicBezTo>
                    <a:pt x="17102" y="5821"/>
                    <a:pt x="17311" y="5958"/>
                    <a:pt x="17440" y="6184"/>
                  </a:cubicBezTo>
                  <a:lnTo>
                    <a:pt x="20132" y="11175"/>
                  </a:lnTo>
                  <a:cubicBezTo>
                    <a:pt x="20206" y="11307"/>
                    <a:pt x="20250" y="11475"/>
                    <a:pt x="20250" y="11634"/>
                  </a:cubicBezTo>
                  <a:cubicBezTo>
                    <a:pt x="20250" y="11634"/>
                    <a:pt x="20250" y="16617"/>
                    <a:pt x="20250" y="16617"/>
                  </a:cubicBezTo>
                  <a:cubicBezTo>
                    <a:pt x="20250" y="17074"/>
                    <a:pt x="19946" y="17448"/>
                    <a:pt x="19576" y="17448"/>
                  </a:cubicBezTo>
                  <a:lnTo>
                    <a:pt x="18803" y="17448"/>
                  </a:lnTo>
                  <a:cubicBezTo>
                    <a:pt x="18498" y="16016"/>
                    <a:pt x="17455" y="14956"/>
                    <a:pt x="16202" y="14956"/>
                  </a:cubicBezTo>
                  <a:cubicBezTo>
                    <a:pt x="14942" y="14956"/>
                    <a:pt x="13897" y="16016"/>
                    <a:pt x="13594" y="17448"/>
                  </a:cubicBezTo>
                  <a:lnTo>
                    <a:pt x="10030" y="17448"/>
                  </a:lnTo>
                  <a:cubicBezTo>
                    <a:pt x="9729" y="16016"/>
                    <a:pt x="8678" y="14956"/>
                    <a:pt x="7423" y="14956"/>
                  </a:cubicBezTo>
                  <a:cubicBezTo>
                    <a:pt x="6166" y="14956"/>
                    <a:pt x="5125" y="16016"/>
                    <a:pt x="4822" y="17448"/>
                  </a:cubicBezTo>
                  <a:lnTo>
                    <a:pt x="4049" y="17448"/>
                  </a:lnTo>
                  <a:cubicBezTo>
                    <a:pt x="3676" y="17448"/>
                    <a:pt x="3374" y="17074"/>
                    <a:pt x="3374" y="16617"/>
                  </a:cubicBezTo>
                  <a:lnTo>
                    <a:pt x="3374" y="14134"/>
                  </a:lnTo>
                  <a:lnTo>
                    <a:pt x="12146" y="14134"/>
                  </a:lnTo>
                  <a:cubicBezTo>
                    <a:pt x="13265" y="14134"/>
                    <a:pt x="14177" y="13008"/>
                    <a:pt x="14177" y="11634"/>
                  </a:cubicBezTo>
                  <a:lnTo>
                    <a:pt x="14177" y="5821"/>
                  </a:lnTo>
                  <a:close/>
                  <a:moveTo>
                    <a:pt x="15553" y="6450"/>
                  </a:moveTo>
                  <a:cubicBezTo>
                    <a:pt x="15182" y="6450"/>
                    <a:pt x="14885" y="6824"/>
                    <a:pt x="14885" y="7281"/>
                  </a:cubicBezTo>
                  <a:lnTo>
                    <a:pt x="14885" y="12263"/>
                  </a:lnTo>
                  <a:cubicBezTo>
                    <a:pt x="14885" y="12721"/>
                    <a:pt x="15182" y="13102"/>
                    <a:pt x="15553" y="13102"/>
                  </a:cubicBezTo>
                  <a:lnTo>
                    <a:pt x="18259" y="13102"/>
                  </a:lnTo>
                  <a:cubicBezTo>
                    <a:pt x="18629" y="13102"/>
                    <a:pt x="18934" y="12721"/>
                    <a:pt x="18934" y="12263"/>
                  </a:cubicBezTo>
                  <a:lnTo>
                    <a:pt x="18934" y="11022"/>
                  </a:lnTo>
                  <a:cubicBezTo>
                    <a:pt x="18934" y="10857"/>
                    <a:pt x="18888" y="10694"/>
                    <a:pt x="18816" y="10554"/>
                  </a:cubicBezTo>
                  <a:cubicBezTo>
                    <a:pt x="18816" y="10554"/>
                    <a:pt x="16798" y="6829"/>
                    <a:pt x="16798" y="6829"/>
                  </a:cubicBezTo>
                  <a:cubicBezTo>
                    <a:pt x="16673" y="6592"/>
                    <a:pt x="16460" y="6450"/>
                    <a:pt x="16234" y="6450"/>
                  </a:cubicBezTo>
                  <a:lnTo>
                    <a:pt x="15553" y="6450"/>
                  </a:lnTo>
                  <a:close/>
                  <a:moveTo>
                    <a:pt x="15553" y="7281"/>
                  </a:moveTo>
                  <a:lnTo>
                    <a:pt x="16234" y="7281"/>
                  </a:lnTo>
                  <a:lnTo>
                    <a:pt x="18259" y="11022"/>
                  </a:lnTo>
                  <a:cubicBezTo>
                    <a:pt x="18259" y="11022"/>
                    <a:pt x="18259" y="12263"/>
                    <a:pt x="18259" y="12263"/>
                  </a:cubicBezTo>
                  <a:lnTo>
                    <a:pt x="15553" y="12263"/>
                  </a:lnTo>
                  <a:lnTo>
                    <a:pt x="15553" y="7281"/>
                  </a:lnTo>
                  <a:close/>
                  <a:moveTo>
                    <a:pt x="7423" y="16617"/>
                  </a:moveTo>
                  <a:cubicBezTo>
                    <a:pt x="8167" y="16617"/>
                    <a:pt x="8772" y="17365"/>
                    <a:pt x="8772" y="18278"/>
                  </a:cubicBezTo>
                  <a:cubicBezTo>
                    <a:pt x="8772" y="19191"/>
                    <a:pt x="8167" y="19939"/>
                    <a:pt x="7423" y="19939"/>
                  </a:cubicBezTo>
                  <a:cubicBezTo>
                    <a:pt x="6677" y="19939"/>
                    <a:pt x="6073" y="19191"/>
                    <a:pt x="6073" y="18278"/>
                  </a:cubicBezTo>
                  <a:cubicBezTo>
                    <a:pt x="6073" y="17365"/>
                    <a:pt x="6677" y="16617"/>
                    <a:pt x="7423" y="16617"/>
                  </a:cubicBezTo>
                  <a:close/>
                  <a:moveTo>
                    <a:pt x="16202" y="16617"/>
                  </a:moveTo>
                  <a:cubicBezTo>
                    <a:pt x="16943" y="16617"/>
                    <a:pt x="17551" y="17365"/>
                    <a:pt x="17551" y="18278"/>
                  </a:cubicBezTo>
                  <a:cubicBezTo>
                    <a:pt x="17551" y="19191"/>
                    <a:pt x="16943" y="19939"/>
                    <a:pt x="16202" y="19939"/>
                  </a:cubicBezTo>
                  <a:cubicBezTo>
                    <a:pt x="15454" y="19939"/>
                    <a:pt x="14852" y="19191"/>
                    <a:pt x="14852" y="18278"/>
                  </a:cubicBezTo>
                  <a:cubicBezTo>
                    <a:pt x="14852" y="17365"/>
                    <a:pt x="15454" y="16617"/>
                    <a:pt x="16202" y="16617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676846" y="3686689"/>
            <a:ext cx="12190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2" name="右箭头 11"/>
          <p:cNvSpPr/>
          <p:nvPr/>
        </p:nvSpPr>
        <p:spPr>
          <a:xfrm>
            <a:off x="4761782" y="5030815"/>
            <a:ext cx="552091" cy="581057"/>
          </a:xfrm>
          <a:prstGeom prst="rightArrow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5579435" y="4605506"/>
            <a:ext cx="6092825" cy="1338828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533400" algn="l"/>
              </a:tabLst>
            </a:pP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像素值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百分比：用于定义形状的水平和垂直半径。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533400" algn="l"/>
              </a:tabLst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circle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：指定圆形的径向渐变。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533400" algn="l"/>
              </a:tabLst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ellipse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：指定椭圆形的径向渐变。</a:t>
            </a:r>
          </a:p>
        </p:txBody>
      </p:sp>
    </p:spTree>
    <p:extLst>
      <p:ext uri="{BB962C8B-B14F-4D97-AF65-F5344CB8AC3E}">
        <p14:creationId xmlns:p14="http://schemas.microsoft.com/office/powerpoint/2010/main" val="2784559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渐变</a:t>
            </a:r>
            <a:endParaRPr lang="zh-CN" altLang="en-US" sz="20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7021901" y="3194681"/>
            <a:ext cx="150586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23" name="圆角矩形 22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4" name="TextBox 38"/>
            <p:cNvSpPr txBox="1"/>
            <p:nvPr/>
          </p:nvSpPr>
          <p:spPr>
            <a:xfrm>
              <a:off x="1642737" y="2209865"/>
              <a:ext cx="9297926" cy="32585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CSS3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</a:t>
              </a:r>
              <a:r>
                <a:rPr lang="en-US" altLang="zh-CN" sz="1600" dirty="0" err="1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background-image:radial-gradient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（参数值）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;”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样式可以实现径向渐变效果。</a:t>
              </a:r>
            </a:p>
          </p:txBody>
        </p:sp>
        <p:sp>
          <p:nvSpPr>
            <p:cNvPr id="25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6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403436" y="1776747"/>
              <a:ext cx="188224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）径向渐变</a:t>
              </a:r>
            </a:p>
          </p:txBody>
        </p:sp>
      </p:grpSp>
      <p:grpSp>
        <p:nvGrpSpPr>
          <p:cNvPr id="28" name="组合 8"/>
          <p:cNvGrpSpPr/>
          <p:nvPr/>
        </p:nvGrpSpPr>
        <p:grpSpPr bwMode="auto">
          <a:xfrm>
            <a:off x="1226208" y="2872482"/>
            <a:ext cx="10005233" cy="840518"/>
            <a:chOff x="-569288" y="2283718"/>
            <a:chExt cx="12395214" cy="840811"/>
          </a:xfrm>
        </p:grpSpPr>
        <p:sp>
          <p:nvSpPr>
            <p:cNvPr id="29" name="矩形 28"/>
            <p:cNvSpPr/>
            <p:nvPr/>
          </p:nvSpPr>
          <p:spPr>
            <a:xfrm>
              <a:off x="-569288" y="2283718"/>
              <a:ext cx="12395214" cy="8408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90429" y="2484105"/>
              <a:ext cx="10711315" cy="4183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background-image:radial-gradient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(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渐变形状 圆心位置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1,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2...,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n);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208953" y="4034087"/>
            <a:ext cx="2982862" cy="2284020"/>
            <a:chOff x="1226208" y="3913316"/>
            <a:chExt cx="2982862" cy="2284020"/>
          </a:xfrm>
        </p:grpSpPr>
        <p:sp>
          <p:nvSpPr>
            <p:cNvPr id="32" name="矩形: 剪去单角 437"/>
            <p:cNvSpPr/>
            <p:nvPr/>
          </p:nvSpPr>
          <p:spPr bwMode="auto">
            <a:xfrm>
              <a:off x="1226629" y="3913316"/>
              <a:ext cx="2982018" cy="2257438"/>
            </a:xfrm>
            <a:prstGeom prst="snip1Rect">
              <a:avLst>
                <a:gd name="adj" fmla="val 29383"/>
              </a:avLst>
            </a:prstGeom>
            <a:solidFill>
              <a:srgbClr val="F6F6F6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endParaRPr>
            </a:p>
          </p:txBody>
        </p:sp>
        <p:sp>
          <p:nvSpPr>
            <p:cNvPr id="33" name="矩形 42"/>
            <p:cNvSpPr>
              <a:spLocks noChangeArrowheads="1"/>
            </p:cNvSpPr>
            <p:nvPr/>
          </p:nvSpPr>
          <p:spPr bwMode="auto">
            <a:xfrm>
              <a:off x="1226208" y="6059486"/>
              <a:ext cx="2982439" cy="1378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lang="zh-CN" altLang="zh-CN"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34" name="任意多边形: 形状 438"/>
            <p:cNvSpPr/>
            <p:nvPr/>
          </p:nvSpPr>
          <p:spPr bwMode="auto">
            <a:xfrm>
              <a:off x="3456613" y="3913316"/>
              <a:ext cx="752457" cy="805713"/>
            </a:xfrm>
            <a:custGeom>
              <a:avLst/>
              <a:gdLst>
                <a:gd name="T0" fmla="*/ 631242 w 608"/>
                <a:gd name="T1" fmla="*/ 0 h 608"/>
                <a:gd name="T2" fmla="*/ 0 w 608"/>
                <a:gd name="T3" fmla="*/ 0 h 608"/>
                <a:gd name="T4" fmla="*/ 631242 w 608"/>
                <a:gd name="T5" fmla="*/ 631242 h 608"/>
                <a:gd name="T6" fmla="*/ 631242 w 608"/>
                <a:gd name="T7" fmla="*/ 0 h 6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08"/>
                <a:gd name="T13" fmla="*/ 0 h 608"/>
                <a:gd name="T14" fmla="*/ 608 w 608"/>
                <a:gd name="T15" fmla="*/ 608 h 6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08" h="608">
                  <a:moveTo>
                    <a:pt x="608" y="0"/>
                  </a:moveTo>
                  <a:lnTo>
                    <a:pt x="0" y="0"/>
                  </a:lnTo>
                  <a:lnTo>
                    <a:pt x="608" y="608"/>
                  </a:lnTo>
                  <a:lnTo>
                    <a:pt x="608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lIns="121920" tIns="60960" rIns="121920" bIns="60960"/>
            <a:lstStyle/>
            <a:p>
              <a:pPr algn="r"/>
              <a:r>
                <a:rPr lang="en-US" altLang="ko-KR" sz="1600" b="1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90204" pitchFamily="34" charset="0"/>
                </a:rPr>
                <a:t>1</a:t>
              </a:r>
            </a:p>
          </p:txBody>
        </p:sp>
        <p:sp>
          <p:nvSpPr>
            <p:cNvPr id="36" name="矩形 35"/>
            <p:cNvSpPr/>
            <p:nvPr/>
          </p:nvSpPr>
          <p:spPr bwMode="auto">
            <a:xfrm>
              <a:off x="1442865" y="4910044"/>
              <a:ext cx="2192198" cy="581057"/>
            </a:xfrm>
            <a:prstGeom prst="rect">
              <a:avLst/>
            </a:prstGeom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l">
                <a:lnSpc>
                  <a:spcPct val="150000"/>
                </a:lnSpc>
                <a:defRPr/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90204"/>
                </a:rPr>
                <a:t>圆心位置</a:t>
              </a:r>
            </a:p>
          </p:txBody>
        </p:sp>
        <p:sp>
          <p:nvSpPr>
            <p:cNvPr id="37" name="任意多边形: 形状 41"/>
            <p:cNvSpPr/>
            <p:nvPr/>
          </p:nvSpPr>
          <p:spPr bwMode="auto">
            <a:xfrm>
              <a:off x="2200602" y="4284021"/>
              <a:ext cx="461376" cy="401428"/>
            </a:xfrm>
            <a:custGeom>
              <a:avLst/>
              <a:gdLst>
                <a:gd name="T0" fmla="*/ 235926 w 21600"/>
                <a:gd name="T1" fmla="*/ 191703 h 21600"/>
                <a:gd name="T2" fmla="*/ 235926 w 21600"/>
                <a:gd name="T3" fmla="*/ 191703 h 21600"/>
                <a:gd name="T4" fmla="*/ 235926 w 21600"/>
                <a:gd name="T5" fmla="*/ 191703 h 21600"/>
                <a:gd name="T6" fmla="*/ 235926 w 21600"/>
                <a:gd name="T7" fmla="*/ 191703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2024" y="0"/>
                  </a:moveTo>
                  <a:cubicBezTo>
                    <a:pt x="912" y="0"/>
                    <a:pt x="0" y="1122"/>
                    <a:pt x="0" y="2491"/>
                  </a:cubicBezTo>
                  <a:lnTo>
                    <a:pt x="0" y="11634"/>
                  </a:lnTo>
                  <a:cubicBezTo>
                    <a:pt x="0" y="13008"/>
                    <a:pt x="912" y="14134"/>
                    <a:pt x="2024" y="14134"/>
                  </a:cubicBezTo>
                  <a:lnTo>
                    <a:pt x="2024" y="16617"/>
                  </a:lnTo>
                  <a:cubicBezTo>
                    <a:pt x="2024" y="17994"/>
                    <a:pt x="2935" y="19109"/>
                    <a:pt x="4049" y="19109"/>
                  </a:cubicBezTo>
                  <a:lnTo>
                    <a:pt x="4822" y="19109"/>
                  </a:lnTo>
                  <a:cubicBezTo>
                    <a:pt x="5125" y="20540"/>
                    <a:pt x="6166" y="21600"/>
                    <a:pt x="7423" y="21600"/>
                  </a:cubicBezTo>
                  <a:cubicBezTo>
                    <a:pt x="8673" y="21600"/>
                    <a:pt x="9726" y="20540"/>
                    <a:pt x="10030" y="19109"/>
                  </a:cubicBezTo>
                  <a:lnTo>
                    <a:pt x="13594" y="19109"/>
                  </a:lnTo>
                  <a:cubicBezTo>
                    <a:pt x="13897" y="20540"/>
                    <a:pt x="14942" y="21600"/>
                    <a:pt x="16202" y="21600"/>
                  </a:cubicBezTo>
                  <a:cubicBezTo>
                    <a:pt x="17449" y="21600"/>
                    <a:pt x="18498" y="20540"/>
                    <a:pt x="18803" y="19109"/>
                  </a:cubicBezTo>
                  <a:lnTo>
                    <a:pt x="19576" y="19109"/>
                  </a:lnTo>
                  <a:cubicBezTo>
                    <a:pt x="20692" y="19109"/>
                    <a:pt x="21600" y="17994"/>
                    <a:pt x="21600" y="16617"/>
                  </a:cubicBezTo>
                  <a:lnTo>
                    <a:pt x="21600" y="11634"/>
                  </a:lnTo>
                  <a:cubicBezTo>
                    <a:pt x="21600" y="11142"/>
                    <a:pt x="21482" y="10663"/>
                    <a:pt x="21259" y="10248"/>
                  </a:cubicBezTo>
                  <a:lnTo>
                    <a:pt x="18554" y="5265"/>
                  </a:lnTo>
                  <a:cubicBezTo>
                    <a:pt x="18182" y="4566"/>
                    <a:pt x="17557" y="4160"/>
                    <a:pt x="16876" y="4160"/>
                  </a:cubicBezTo>
                  <a:lnTo>
                    <a:pt x="14177" y="4160"/>
                  </a:lnTo>
                  <a:lnTo>
                    <a:pt x="14177" y="2491"/>
                  </a:lnTo>
                  <a:cubicBezTo>
                    <a:pt x="14177" y="1122"/>
                    <a:pt x="13265" y="0"/>
                    <a:pt x="12146" y="0"/>
                  </a:cubicBezTo>
                  <a:lnTo>
                    <a:pt x="2024" y="0"/>
                  </a:lnTo>
                  <a:close/>
                  <a:moveTo>
                    <a:pt x="2024" y="1669"/>
                  </a:moveTo>
                  <a:lnTo>
                    <a:pt x="12146" y="1669"/>
                  </a:lnTo>
                  <a:cubicBezTo>
                    <a:pt x="12524" y="1669"/>
                    <a:pt x="12821" y="2034"/>
                    <a:pt x="12821" y="2491"/>
                  </a:cubicBezTo>
                  <a:lnTo>
                    <a:pt x="12821" y="11634"/>
                  </a:lnTo>
                  <a:cubicBezTo>
                    <a:pt x="12821" y="12090"/>
                    <a:pt x="12524" y="12465"/>
                    <a:pt x="12146" y="12465"/>
                  </a:cubicBezTo>
                  <a:cubicBezTo>
                    <a:pt x="12146" y="12465"/>
                    <a:pt x="2024" y="12465"/>
                    <a:pt x="2024" y="12465"/>
                  </a:cubicBezTo>
                  <a:cubicBezTo>
                    <a:pt x="1649" y="12465"/>
                    <a:pt x="1350" y="12090"/>
                    <a:pt x="1350" y="11634"/>
                  </a:cubicBezTo>
                  <a:lnTo>
                    <a:pt x="1350" y="2491"/>
                  </a:lnTo>
                  <a:cubicBezTo>
                    <a:pt x="1350" y="2034"/>
                    <a:pt x="1649" y="1669"/>
                    <a:pt x="2024" y="1669"/>
                  </a:cubicBezTo>
                  <a:close/>
                  <a:moveTo>
                    <a:pt x="14177" y="5821"/>
                  </a:moveTo>
                  <a:lnTo>
                    <a:pt x="16876" y="5821"/>
                  </a:lnTo>
                  <a:cubicBezTo>
                    <a:pt x="17102" y="5821"/>
                    <a:pt x="17311" y="5958"/>
                    <a:pt x="17440" y="6184"/>
                  </a:cubicBezTo>
                  <a:lnTo>
                    <a:pt x="20132" y="11175"/>
                  </a:lnTo>
                  <a:cubicBezTo>
                    <a:pt x="20206" y="11307"/>
                    <a:pt x="20250" y="11475"/>
                    <a:pt x="20250" y="11634"/>
                  </a:cubicBezTo>
                  <a:cubicBezTo>
                    <a:pt x="20250" y="11634"/>
                    <a:pt x="20250" y="16617"/>
                    <a:pt x="20250" y="16617"/>
                  </a:cubicBezTo>
                  <a:cubicBezTo>
                    <a:pt x="20250" y="17074"/>
                    <a:pt x="19946" y="17448"/>
                    <a:pt x="19576" y="17448"/>
                  </a:cubicBezTo>
                  <a:lnTo>
                    <a:pt x="18803" y="17448"/>
                  </a:lnTo>
                  <a:cubicBezTo>
                    <a:pt x="18498" y="16016"/>
                    <a:pt x="17455" y="14956"/>
                    <a:pt x="16202" y="14956"/>
                  </a:cubicBezTo>
                  <a:cubicBezTo>
                    <a:pt x="14942" y="14956"/>
                    <a:pt x="13897" y="16016"/>
                    <a:pt x="13594" y="17448"/>
                  </a:cubicBezTo>
                  <a:lnTo>
                    <a:pt x="10030" y="17448"/>
                  </a:lnTo>
                  <a:cubicBezTo>
                    <a:pt x="9729" y="16016"/>
                    <a:pt x="8678" y="14956"/>
                    <a:pt x="7423" y="14956"/>
                  </a:cubicBezTo>
                  <a:cubicBezTo>
                    <a:pt x="6166" y="14956"/>
                    <a:pt x="5125" y="16016"/>
                    <a:pt x="4822" y="17448"/>
                  </a:cubicBezTo>
                  <a:lnTo>
                    <a:pt x="4049" y="17448"/>
                  </a:lnTo>
                  <a:cubicBezTo>
                    <a:pt x="3676" y="17448"/>
                    <a:pt x="3374" y="17074"/>
                    <a:pt x="3374" y="16617"/>
                  </a:cubicBezTo>
                  <a:lnTo>
                    <a:pt x="3374" y="14134"/>
                  </a:lnTo>
                  <a:lnTo>
                    <a:pt x="12146" y="14134"/>
                  </a:lnTo>
                  <a:cubicBezTo>
                    <a:pt x="13265" y="14134"/>
                    <a:pt x="14177" y="13008"/>
                    <a:pt x="14177" y="11634"/>
                  </a:cubicBezTo>
                  <a:lnTo>
                    <a:pt x="14177" y="5821"/>
                  </a:lnTo>
                  <a:close/>
                  <a:moveTo>
                    <a:pt x="15553" y="6450"/>
                  </a:moveTo>
                  <a:cubicBezTo>
                    <a:pt x="15182" y="6450"/>
                    <a:pt x="14885" y="6824"/>
                    <a:pt x="14885" y="7281"/>
                  </a:cubicBezTo>
                  <a:lnTo>
                    <a:pt x="14885" y="12263"/>
                  </a:lnTo>
                  <a:cubicBezTo>
                    <a:pt x="14885" y="12721"/>
                    <a:pt x="15182" y="13102"/>
                    <a:pt x="15553" y="13102"/>
                  </a:cubicBezTo>
                  <a:lnTo>
                    <a:pt x="18259" y="13102"/>
                  </a:lnTo>
                  <a:cubicBezTo>
                    <a:pt x="18629" y="13102"/>
                    <a:pt x="18934" y="12721"/>
                    <a:pt x="18934" y="12263"/>
                  </a:cubicBezTo>
                  <a:lnTo>
                    <a:pt x="18934" y="11022"/>
                  </a:lnTo>
                  <a:cubicBezTo>
                    <a:pt x="18934" y="10857"/>
                    <a:pt x="18888" y="10694"/>
                    <a:pt x="18816" y="10554"/>
                  </a:cubicBezTo>
                  <a:cubicBezTo>
                    <a:pt x="18816" y="10554"/>
                    <a:pt x="16798" y="6829"/>
                    <a:pt x="16798" y="6829"/>
                  </a:cubicBezTo>
                  <a:cubicBezTo>
                    <a:pt x="16673" y="6592"/>
                    <a:pt x="16460" y="6450"/>
                    <a:pt x="16234" y="6450"/>
                  </a:cubicBezTo>
                  <a:lnTo>
                    <a:pt x="15553" y="6450"/>
                  </a:lnTo>
                  <a:close/>
                  <a:moveTo>
                    <a:pt x="15553" y="7281"/>
                  </a:moveTo>
                  <a:lnTo>
                    <a:pt x="16234" y="7281"/>
                  </a:lnTo>
                  <a:lnTo>
                    <a:pt x="18259" y="11022"/>
                  </a:lnTo>
                  <a:cubicBezTo>
                    <a:pt x="18259" y="11022"/>
                    <a:pt x="18259" y="12263"/>
                    <a:pt x="18259" y="12263"/>
                  </a:cubicBezTo>
                  <a:lnTo>
                    <a:pt x="15553" y="12263"/>
                  </a:lnTo>
                  <a:lnTo>
                    <a:pt x="15553" y="7281"/>
                  </a:lnTo>
                  <a:close/>
                  <a:moveTo>
                    <a:pt x="7423" y="16617"/>
                  </a:moveTo>
                  <a:cubicBezTo>
                    <a:pt x="8167" y="16617"/>
                    <a:pt x="8772" y="17365"/>
                    <a:pt x="8772" y="18278"/>
                  </a:cubicBezTo>
                  <a:cubicBezTo>
                    <a:pt x="8772" y="19191"/>
                    <a:pt x="8167" y="19939"/>
                    <a:pt x="7423" y="19939"/>
                  </a:cubicBezTo>
                  <a:cubicBezTo>
                    <a:pt x="6677" y="19939"/>
                    <a:pt x="6073" y="19191"/>
                    <a:pt x="6073" y="18278"/>
                  </a:cubicBezTo>
                  <a:cubicBezTo>
                    <a:pt x="6073" y="17365"/>
                    <a:pt x="6677" y="16617"/>
                    <a:pt x="7423" y="16617"/>
                  </a:cubicBezTo>
                  <a:close/>
                  <a:moveTo>
                    <a:pt x="16202" y="16617"/>
                  </a:moveTo>
                  <a:cubicBezTo>
                    <a:pt x="16943" y="16617"/>
                    <a:pt x="17551" y="17365"/>
                    <a:pt x="17551" y="18278"/>
                  </a:cubicBezTo>
                  <a:cubicBezTo>
                    <a:pt x="17551" y="19191"/>
                    <a:pt x="16943" y="19939"/>
                    <a:pt x="16202" y="19939"/>
                  </a:cubicBezTo>
                  <a:cubicBezTo>
                    <a:pt x="15454" y="19939"/>
                    <a:pt x="14852" y="19191"/>
                    <a:pt x="14852" y="18278"/>
                  </a:cubicBezTo>
                  <a:cubicBezTo>
                    <a:pt x="14852" y="17365"/>
                    <a:pt x="15454" y="16617"/>
                    <a:pt x="16202" y="16617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676846" y="3686689"/>
            <a:ext cx="12190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2" name="右箭头 11"/>
          <p:cNvSpPr/>
          <p:nvPr/>
        </p:nvSpPr>
        <p:spPr>
          <a:xfrm>
            <a:off x="4408419" y="5006990"/>
            <a:ext cx="552091" cy="581057"/>
          </a:xfrm>
          <a:prstGeom prst="rightArrow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5003963" y="4034087"/>
            <a:ext cx="6456200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533400" algn="l"/>
              </a:tabLst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像素值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百分比：定义圆心的水平和垂直坐标，可以为负值。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533400" algn="l"/>
              </a:tabLst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left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：设置左边为径向渐变圆心的横坐标值。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533400" algn="l"/>
              </a:tabLst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center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：设置中间为径向渐变圆心的横坐标值或纵坐标。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533400" algn="l"/>
              </a:tabLst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right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：设置右边为径向渐变圆心的横坐标值。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533400" algn="l"/>
              </a:tabLst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top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：设置顶部为径向渐变圆心的纵标值。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533400" algn="l"/>
              </a:tabLst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bottom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：设置底部为径向渐变圆心的纵标值。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533400" algn="l"/>
              </a:tabLst>
            </a:pP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89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渐变</a:t>
            </a:r>
            <a:endParaRPr lang="zh-CN" altLang="en-US" sz="20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7021901" y="3194681"/>
            <a:ext cx="150586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23" name="圆角矩形 22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4" name="TextBox 38"/>
            <p:cNvSpPr txBox="1"/>
            <p:nvPr/>
          </p:nvSpPr>
          <p:spPr>
            <a:xfrm>
              <a:off x="1642737" y="2209865"/>
              <a:ext cx="9297926" cy="32585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CSS3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</a:t>
              </a:r>
              <a:r>
                <a:rPr lang="en-US" altLang="zh-CN" sz="1600" dirty="0" err="1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background-image:radial-gradient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（参数值）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;”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样式可以实现径向渐变效果。</a:t>
              </a:r>
            </a:p>
          </p:txBody>
        </p:sp>
        <p:sp>
          <p:nvSpPr>
            <p:cNvPr id="25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6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403436" y="1776747"/>
              <a:ext cx="188224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）径向渐变</a:t>
              </a:r>
            </a:p>
          </p:txBody>
        </p:sp>
      </p:grpSp>
      <p:grpSp>
        <p:nvGrpSpPr>
          <p:cNvPr id="28" name="组合 8"/>
          <p:cNvGrpSpPr/>
          <p:nvPr/>
        </p:nvGrpSpPr>
        <p:grpSpPr bwMode="auto">
          <a:xfrm>
            <a:off x="1226208" y="2872482"/>
            <a:ext cx="10005233" cy="840518"/>
            <a:chOff x="-569288" y="2283718"/>
            <a:chExt cx="12395214" cy="840811"/>
          </a:xfrm>
        </p:grpSpPr>
        <p:sp>
          <p:nvSpPr>
            <p:cNvPr id="29" name="矩形 28"/>
            <p:cNvSpPr/>
            <p:nvPr/>
          </p:nvSpPr>
          <p:spPr>
            <a:xfrm>
              <a:off x="-569288" y="2283718"/>
              <a:ext cx="12395214" cy="8408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90429" y="2484105"/>
              <a:ext cx="10711315" cy="4183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background-image:radial-gradient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(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渐变形状 圆心位置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1,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2...,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n);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2435764" y="4034087"/>
            <a:ext cx="2982862" cy="2284020"/>
            <a:chOff x="1226208" y="3913316"/>
            <a:chExt cx="2982862" cy="2284020"/>
          </a:xfrm>
        </p:grpSpPr>
        <p:sp>
          <p:nvSpPr>
            <p:cNvPr id="32" name="矩形: 剪去单角 437"/>
            <p:cNvSpPr/>
            <p:nvPr/>
          </p:nvSpPr>
          <p:spPr bwMode="auto">
            <a:xfrm>
              <a:off x="1226629" y="3913316"/>
              <a:ext cx="2982018" cy="2257438"/>
            </a:xfrm>
            <a:prstGeom prst="snip1Rect">
              <a:avLst>
                <a:gd name="adj" fmla="val 29383"/>
              </a:avLst>
            </a:prstGeom>
            <a:solidFill>
              <a:srgbClr val="F6F6F6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endParaRPr>
            </a:p>
          </p:txBody>
        </p:sp>
        <p:sp>
          <p:nvSpPr>
            <p:cNvPr id="33" name="矩形 42"/>
            <p:cNvSpPr>
              <a:spLocks noChangeArrowheads="1"/>
            </p:cNvSpPr>
            <p:nvPr/>
          </p:nvSpPr>
          <p:spPr bwMode="auto">
            <a:xfrm>
              <a:off x="1226208" y="6059486"/>
              <a:ext cx="2982439" cy="1378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lang="zh-CN" altLang="zh-CN"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34" name="任意多边形: 形状 438"/>
            <p:cNvSpPr/>
            <p:nvPr/>
          </p:nvSpPr>
          <p:spPr bwMode="auto">
            <a:xfrm>
              <a:off x="3456613" y="3913316"/>
              <a:ext cx="752457" cy="805713"/>
            </a:xfrm>
            <a:custGeom>
              <a:avLst/>
              <a:gdLst>
                <a:gd name="T0" fmla="*/ 631242 w 608"/>
                <a:gd name="T1" fmla="*/ 0 h 608"/>
                <a:gd name="T2" fmla="*/ 0 w 608"/>
                <a:gd name="T3" fmla="*/ 0 h 608"/>
                <a:gd name="T4" fmla="*/ 631242 w 608"/>
                <a:gd name="T5" fmla="*/ 631242 h 608"/>
                <a:gd name="T6" fmla="*/ 631242 w 608"/>
                <a:gd name="T7" fmla="*/ 0 h 6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08"/>
                <a:gd name="T13" fmla="*/ 0 h 608"/>
                <a:gd name="T14" fmla="*/ 608 w 608"/>
                <a:gd name="T15" fmla="*/ 608 h 6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08" h="608">
                  <a:moveTo>
                    <a:pt x="608" y="0"/>
                  </a:moveTo>
                  <a:lnTo>
                    <a:pt x="0" y="0"/>
                  </a:lnTo>
                  <a:lnTo>
                    <a:pt x="608" y="608"/>
                  </a:lnTo>
                  <a:lnTo>
                    <a:pt x="608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lIns="121920" tIns="60960" rIns="121920" bIns="60960"/>
            <a:lstStyle/>
            <a:p>
              <a:pPr algn="r"/>
              <a:r>
                <a:rPr lang="en-US" altLang="ko-KR" sz="1600" b="1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90204" pitchFamily="34" charset="0"/>
                </a:rPr>
                <a:t>1</a:t>
              </a:r>
            </a:p>
          </p:txBody>
        </p:sp>
        <p:sp>
          <p:nvSpPr>
            <p:cNvPr id="36" name="矩形 35"/>
            <p:cNvSpPr/>
            <p:nvPr/>
          </p:nvSpPr>
          <p:spPr bwMode="auto">
            <a:xfrm>
              <a:off x="1442865" y="4910044"/>
              <a:ext cx="2192198" cy="581057"/>
            </a:xfrm>
            <a:prstGeom prst="rect">
              <a:avLst/>
            </a:prstGeom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l">
                <a:lnSpc>
                  <a:spcPct val="150000"/>
                </a:lnSpc>
                <a:defRPr/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90204"/>
                </a:rPr>
                <a:t>颜色值</a:t>
              </a:r>
            </a:p>
          </p:txBody>
        </p:sp>
        <p:sp>
          <p:nvSpPr>
            <p:cNvPr id="37" name="任意多边形: 形状 41"/>
            <p:cNvSpPr/>
            <p:nvPr/>
          </p:nvSpPr>
          <p:spPr bwMode="auto">
            <a:xfrm>
              <a:off x="2200602" y="4284021"/>
              <a:ext cx="461376" cy="401428"/>
            </a:xfrm>
            <a:custGeom>
              <a:avLst/>
              <a:gdLst>
                <a:gd name="T0" fmla="*/ 235926 w 21600"/>
                <a:gd name="T1" fmla="*/ 191703 h 21600"/>
                <a:gd name="T2" fmla="*/ 235926 w 21600"/>
                <a:gd name="T3" fmla="*/ 191703 h 21600"/>
                <a:gd name="T4" fmla="*/ 235926 w 21600"/>
                <a:gd name="T5" fmla="*/ 191703 h 21600"/>
                <a:gd name="T6" fmla="*/ 235926 w 21600"/>
                <a:gd name="T7" fmla="*/ 191703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2024" y="0"/>
                  </a:moveTo>
                  <a:cubicBezTo>
                    <a:pt x="912" y="0"/>
                    <a:pt x="0" y="1122"/>
                    <a:pt x="0" y="2491"/>
                  </a:cubicBezTo>
                  <a:lnTo>
                    <a:pt x="0" y="11634"/>
                  </a:lnTo>
                  <a:cubicBezTo>
                    <a:pt x="0" y="13008"/>
                    <a:pt x="912" y="14134"/>
                    <a:pt x="2024" y="14134"/>
                  </a:cubicBezTo>
                  <a:lnTo>
                    <a:pt x="2024" y="16617"/>
                  </a:lnTo>
                  <a:cubicBezTo>
                    <a:pt x="2024" y="17994"/>
                    <a:pt x="2935" y="19109"/>
                    <a:pt x="4049" y="19109"/>
                  </a:cubicBezTo>
                  <a:lnTo>
                    <a:pt x="4822" y="19109"/>
                  </a:lnTo>
                  <a:cubicBezTo>
                    <a:pt x="5125" y="20540"/>
                    <a:pt x="6166" y="21600"/>
                    <a:pt x="7423" y="21600"/>
                  </a:cubicBezTo>
                  <a:cubicBezTo>
                    <a:pt x="8673" y="21600"/>
                    <a:pt x="9726" y="20540"/>
                    <a:pt x="10030" y="19109"/>
                  </a:cubicBezTo>
                  <a:lnTo>
                    <a:pt x="13594" y="19109"/>
                  </a:lnTo>
                  <a:cubicBezTo>
                    <a:pt x="13897" y="20540"/>
                    <a:pt x="14942" y="21600"/>
                    <a:pt x="16202" y="21600"/>
                  </a:cubicBezTo>
                  <a:cubicBezTo>
                    <a:pt x="17449" y="21600"/>
                    <a:pt x="18498" y="20540"/>
                    <a:pt x="18803" y="19109"/>
                  </a:cubicBezTo>
                  <a:lnTo>
                    <a:pt x="19576" y="19109"/>
                  </a:lnTo>
                  <a:cubicBezTo>
                    <a:pt x="20692" y="19109"/>
                    <a:pt x="21600" y="17994"/>
                    <a:pt x="21600" y="16617"/>
                  </a:cubicBezTo>
                  <a:lnTo>
                    <a:pt x="21600" y="11634"/>
                  </a:lnTo>
                  <a:cubicBezTo>
                    <a:pt x="21600" y="11142"/>
                    <a:pt x="21482" y="10663"/>
                    <a:pt x="21259" y="10248"/>
                  </a:cubicBezTo>
                  <a:lnTo>
                    <a:pt x="18554" y="5265"/>
                  </a:lnTo>
                  <a:cubicBezTo>
                    <a:pt x="18182" y="4566"/>
                    <a:pt x="17557" y="4160"/>
                    <a:pt x="16876" y="4160"/>
                  </a:cubicBezTo>
                  <a:lnTo>
                    <a:pt x="14177" y="4160"/>
                  </a:lnTo>
                  <a:lnTo>
                    <a:pt x="14177" y="2491"/>
                  </a:lnTo>
                  <a:cubicBezTo>
                    <a:pt x="14177" y="1122"/>
                    <a:pt x="13265" y="0"/>
                    <a:pt x="12146" y="0"/>
                  </a:cubicBezTo>
                  <a:lnTo>
                    <a:pt x="2024" y="0"/>
                  </a:lnTo>
                  <a:close/>
                  <a:moveTo>
                    <a:pt x="2024" y="1669"/>
                  </a:moveTo>
                  <a:lnTo>
                    <a:pt x="12146" y="1669"/>
                  </a:lnTo>
                  <a:cubicBezTo>
                    <a:pt x="12524" y="1669"/>
                    <a:pt x="12821" y="2034"/>
                    <a:pt x="12821" y="2491"/>
                  </a:cubicBezTo>
                  <a:lnTo>
                    <a:pt x="12821" y="11634"/>
                  </a:lnTo>
                  <a:cubicBezTo>
                    <a:pt x="12821" y="12090"/>
                    <a:pt x="12524" y="12465"/>
                    <a:pt x="12146" y="12465"/>
                  </a:cubicBezTo>
                  <a:cubicBezTo>
                    <a:pt x="12146" y="12465"/>
                    <a:pt x="2024" y="12465"/>
                    <a:pt x="2024" y="12465"/>
                  </a:cubicBezTo>
                  <a:cubicBezTo>
                    <a:pt x="1649" y="12465"/>
                    <a:pt x="1350" y="12090"/>
                    <a:pt x="1350" y="11634"/>
                  </a:cubicBezTo>
                  <a:lnTo>
                    <a:pt x="1350" y="2491"/>
                  </a:lnTo>
                  <a:cubicBezTo>
                    <a:pt x="1350" y="2034"/>
                    <a:pt x="1649" y="1669"/>
                    <a:pt x="2024" y="1669"/>
                  </a:cubicBezTo>
                  <a:close/>
                  <a:moveTo>
                    <a:pt x="14177" y="5821"/>
                  </a:moveTo>
                  <a:lnTo>
                    <a:pt x="16876" y="5821"/>
                  </a:lnTo>
                  <a:cubicBezTo>
                    <a:pt x="17102" y="5821"/>
                    <a:pt x="17311" y="5958"/>
                    <a:pt x="17440" y="6184"/>
                  </a:cubicBezTo>
                  <a:lnTo>
                    <a:pt x="20132" y="11175"/>
                  </a:lnTo>
                  <a:cubicBezTo>
                    <a:pt x="20206" y="11307"/>
                    <a:pt x="20250" y="11475"/>
                    <a:pt x="20250" y="11634"/>
                  </a:cubicBezTo>
                  <a:cubicBezTo>
                    <a:pt x="20250" y="11634"/>
                    <a:pt x="20250" y="16617"/>
                    <a:pt x="20250" y="16617"/>
                  </a:cubicBezTo>
                  <a:cubicBezTo>
                    <a:pt x="20250" y="17074"/>
                    <a:pt x="19946" y="17448"/>
                    <a:pt x="19576" y="17448"/>
                  </a:cubicBezTo>
                  <a:lnTo>
                    <a:pt x="18803" y="17448"/>
                  </a:lnTo>
                  <a:cubicBezTo>
                    <a:pt x="18498" y="16016"/>
                    <a:pt x="17455" y="14956"/>
                    <a:pt x="16202" y="14956"/>
                  </a:cubicBezTo>
                  <a:cubicBezTo>
                    <a:pt x="14942" y="14956"/>
                    <a:pt x="13897" y="16016"/>
                    <a:pt x="13594" y="17448"/>
                  </a:cubicBezTo>
                  <a:lnTo>
                    <a:pt x="10030" y="17448"/>
                  </a:lnTo>
                  <a:cubicBezTo>
                    <a:pt x="9729" y="16016"/>
                    <a:pt x="8678" y="14956"/>
                    <a:pt x="7423" y="14956"/>
                  </a:cubicBezTo>
                  <a:cubicBezTo>
                    <a:pt x="6166" y="14956"/>
                    <a:pt x="5125" y="16016"/>
                    <a:pt x="4822" y="17448"/>
                  </a:cubicBezTo>
                  <a:lnTo>
                    <a:pt x="4049" y="17448"/>
                  </a:lnTo>
                  <a:cubicBezTo>
                    <a:pt x="3676" y="17448"/>
                    <a:pt x="3374" y="17074"/>
                    <a:pt x="3374" y="16617"/>
                  </a:cubicBezTo>
                  <a:lnTo>
                    <a:pt x="3374" y="14134"/>
                  </a:lnTo>
                  <a:lnTo>
                    <a:pt x="12146" y="14134"/>
                  </a:lnTo>
                  <a:cubicBezTo>
                    <a:pt x="13265" y="14134"/>
                    <a:pt x="14177" y="13008"/>
                    <a:pt x="14177" y="11634"/>
                  </a:cubicBezTo>
                  <a:lnTo>
                    <a:pt x="14177" y="5821"/>
                  </a:lnTo>
                  <a:close/>
                  <a:moveTo>
                    <a:pt x="15553" y="6450"/>
                  </a:moveTo>
                  <a:cubicBezTo>
                    <a:pt x="15182" y="6450"/>
                    <a:pt x="14885" y="6824"/>
                    <a:pt x="14885" y="7281"/>
                  </a:cubicBezTo>
                  <a:lnTo>
                    <a:pt x="14885" y="12263"/>
                  </a:lnTo>
                  <a:cubicBezTo>
                    <a:pt x="14885" y="12721"/>
                    <a:pt x="15182" y="13102"/>
                    <a:pt x="15553" y="13102"/>
                  </a:cubicBezTo>
                  <a:lnTo>
                    <a:pt x="18259" y="13102"/>
                  </a:lnTo>
                  <a:cubicBezTo>
                    <a:pt x="18629" y="13102"/>
                    <a:pt x="18934" y="12721"/>
                    <a:pt x="18934" y="12263"/>
                  </a:cubicBezTo>
                  <a:lnTo>
                    <a:pt x="18934" y="11022"/>
                  </a:lnTo>
                  <a:cubicBezTo>
                    <a:pt x="18934" y="10857"/>
                    <a:pt x="18888" y="10694"/>
                    <a:pt x="18816" y="10554"/>
                  </a:cubicBezTo>
                  <a:cubicBezTo>
                    <a:pt x="18816" y="10554"/>
                    <a:pt x="16798" y="6829"/>
                    <a:pt x="16798" y="6829"/>
                  </a:cubicBezTo>
                  <a:cubicBezTo>
                    <a:pt x="16673" y="6592"/>
                    <a:pt x="16460" y="6450"/>
                    <a:pt x="16234" y="6450"/>
                  </a:cubicBezTo>
                  <a:lnTo>
                    <a:pt x="15553" y="6450"/>
                  </a:lnTo>
                  <a:close/>
                  <a:moveTo>
                    <a:pt x="15553" y="7281"/>
                  </a:moveTo>
                  <a:lnTo>
                    <a:pt x="16234" y="7281"/>
                  </a:lnTo>
                  <a:lnTo>
                    <a:pt x="18259" y="11022"/>
                  </a:lnTo>
                  <a:cubicBezTo>
                    <a:pt x="18259" y="11022"/>
                    <a:pt x="18259" y="12263"/>
                    <a:pt x="18259" y="12263"/>
                  </a:cubicBezTo>
                  <a:lnTo>
                    <a:pt x="15553" y="12263"/>
                  </a:lnTo>
                  <a:lnTo>
                    <a:pt x="15553" y="7281"/>
                  </a:lnTo>
                  <a:close/>
                  <a:moveTo>
                    <a:pt x="7423" y="16617"/>
                  </a:moveTo>
                  <a:cubicBezTo>
                    <a:pt x="8167" y="16617"/>
                    <a:pt x="8772" y="17365"/>
                    <a:pt x="8772" y="18278"/>
                  </a:cubicBezTo>
                  <a:cubicBezTo>
                    <a:pt x="8772" y="19191"/>
                    <a:pt x="8167" y="19939"/>
                    <a:pt x="7423" y="19939"/>
                  </a:cubicBezTo>
                  <a:cubicBezTo>
                    <a:pt x="6677" y="19939"/>
                    <a:pt x="6073" y="19191"/>
                    <a:pt x="6073" y="18278"/>
                  </a:cubicBezTo>
                  <a:cubicBezTo>
                    <a:pt x="6073" y="17365"/>
                    <a:pt x="6677" y="16617"/>
                    <a:pt x="7423" y="16617"/>
                  </a:cubicBezTo>
                  <a:close/>
                  <a:moveTo>
                    <a:pt x="16202" y="16617"/>
                  </a:moveTo>
                  <a:cubicBezTo>
                    <a:pt x="16943" y="16617"/>
                    <a:pt x="17551" y="17365"/>
                    <a:pt x="17551" y="18278"/>
                  </a:cubicBezTo>
                  <a:cubicBezTo>
                    <a:pt x="17551" y="19191"/>
                    <a:pt x="16943" y="19939"/>
                    <a:pt x="16202" y="19939"/>
                  </a:cubicBezTo>
                  <a:cubicBezTo>
                    <a:pt x="15454" y="19939"/>
                    <a:pt x="14852" y="19191"/>
                    <a:pt x="14852" y="18278"/>
                  </a:cubicBezTo>
                  <a:cubicBezTo>
                    <a:pt x="14852" y="17365"/>
                    <a:pt x="15454" y="16617"/>
                    <a:pt x="16202" y="16617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676846" y="3686689"/>
            <a:ext cx="12190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2" name="右箭头 11"/>
          <p:cNvSpPr/>
          <p:nvPr/>
        </p:nvSpPr>
        <p:spPr>
          <a:xfrm>
            <a:off x="5635230" y="5006990"/>
            <a:ext cx="552091" cy="581057"/>
          </a:xfrm>
          <a:prstGeom prst="rightArrow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5" name="组合 45"/>
          <p:cNvGrpSpPr>
            <a:grpSpLocks/>
          </p:cNvGrpSpPr>
          <p:nvPr/>
        </p:nvGrpSpPr>
        <p:grpSpPr bwMode="auto">
          <a:xfrm>
            <a:off x="6477981" y="3695781"/>
            <a:ext cx="2655887" cy="2806700"/>
            <a:chOff x="2714194" y="995130"/>
            <a:chExt cx="2681008" cy="2638958"/>
          </a:xfrm>
        </p:grpSpPr>
        <p:sp>
          <p:nvSpPr>
            <p:cNvPr id="38" name="椭圆 37"/>
            <p:cNvSpPr/>
            <p:nvPr/>
          </p:nvSpPr>
          <p:spPr>
            <a:xfrm>
              <a:off x="2714194" y="995130"/>
              <a:ext cx="519215" cy="519433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1">
                  <a:lumMod val="8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圆角矩形 38"/>
            <p:cNvSpPr/>
            <p:nvPr/>
          </p:nvSpPr>
          <p:spPr bwMode="auto">
            <a:xfrm>
              <a:off x="2843997" y="1096628"/>
              <a:ext cx="2551205" cy="2537460"/>
            </a:xfrm>
            <a:prstGeom prst="roundRect">
              <a:avLst>
                <a:gd name="adj" fmla="val 7320"/>
              </a:avLst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“颜色值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1”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表示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初始颜色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“颜色值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n”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表示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结束颜色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，初始颜色和结束颜色之间可以添加多个颜色值，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各颜色值之间用“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,”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隔开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sp>
          <p:nvSpPr>
            <p:cNvPr id="40" name="椭圆 39"/>
            <p:cNvSpPr/>
            <p:nvPr/>
          </p:nvSpPr>
          <p:spPr>
            <a:xfrm>
              <a:off x="2714194" y="995130"/>
              <a:ext cx="519215" cy="51943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椭圆 40"/>
            <p:cNvSpPr/>
            <p:nvPr/>
          </p:nvSpPr>
          <p:spPr>
            <a:xfrm>
              <a:off x="2757461" y="1038417"/>
              <a:ext cx="431077" cy="431368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09545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渐变</a:t>
            </a:r>
            <a:endParaRPr lang="zh-CN" altLang="en-US" sz="20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7021901" y="3194681"/>
            <a:ext cx="150586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23" name="圆角矩形 22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4" name="TextBox 38"/>
            <p:cNvSpPr txBox="1"/>
            <p:nvPr/>
          </p:nvSpPr>
          <p:spPr>
            <a:xfrm>
              <a:off x="1642737" y="2209865"/>
              <a:ext cx="9297926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CSS3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</a:t>
              </a:r>
              <a:r>
                <a:rPr lang="en-US" altLang="zh-CN" sz="1600" dirty="0" err="1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background-image:repeating-linear-gradient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（参数值）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;”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样式可以设置重复渐变效果。</a:t>
              </a:r>
            </a:p>
          </p:txBody>
        </p:sp>
        <p:sp>
          <p:nvSpPr>
            <p:cNvPr id="25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6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403436" y="1776747"/>
              <a:ext cx="188224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）重复渐变</a:t>
              </a:r>
            </a:p>
          </p:txBody>
        </p:sp>
      </p:grpSp>
      <p:grpSp>
        <p:nvGrpSpPr>
          <p:cNvPr id="28" name="组合 8"/>
          <p:cNvGrpSpPr/>
          <p:nvPr/>
        </p:nvGrpSpPr>
        <p:grpSpPr bwMode="auto">
          <a:xfrm>
            <a:off x="5618564" y="4006978"/>
            <a:ext cx="5210203" cy="1388967"/>
            <a:chOff x="1396443" y="2283717"/>
            <a:chExt cx="10429481" cy="1389451"/>
          </a:xfrm>
        </p:grpSpPr>
        <p:sp>
          <p:nvSpPr>
            <p:cNvPr id="29" name="矩形 28"/>
            <p:cNvSpPr/>
            <p:nvPr/>
          </p:nvSpPr>
          <p:spPr>
            <a:xfrm>
              <a:off x="1396443" y="2283717"/>
              <a:ext cx="10429481" cy="13894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2052624" y="2484107"/>
              <a:ext cx="9049120" cy="8312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background-image:repeating-linear-gradient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(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渐变角度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1,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2...,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n);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546464" y="3464744"/>
            <a:ext cx="2982862" cy="2284020"/>
            <a:chOff x="1226208" y="3913316"/>
            <a:chExt cx="2982862" cy="2284020"/>
          </a:xfrm>
        </p:grpSpPr>
        <p:sp>
          <p:nvSpPr>
            <p:cNvPr id="32" name="矩形: 剪去单角 437"/>
            <p:cNvSpPr/>
            <p:nvPr/>
          </p:nvSpPr>
          <p:spPr bwMode="auto">
            <a:xfrm>
              <a:off x="1226629" y="3913316"/>
              <a:ext cx="2982018" cy="2257438"/>
            </a:xfrm>
            <a:prstGeom prst="snip1Rect">
              <a:avLst>
                <a:gd name="adj" fmla="val 29383"/>
              </a:avLst>
            </a:prstGeom>
            <a:solidFill>
              <a:srgbClr val="F6F6F6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endParaRPr>
            </a:p>
          </p:txBody>
        </p:sp>
        <p:sp>
          <p:nvSpPr>
            <p:cNvPr id="33" name="矩形 42"/>
            <p:cNvSpPr>
              <a:spLocks noChangeArrowheads="1"/>
            </p:cNvSpPr>
            <p:nvPr/>
          </p:nvSpPr>
          <p:spPr bwMode="auto">
            <a:xfrm>
              <a:off x="1226208" y="6059486"/>
              <a:ext cx="2982439" cy="1378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lang="zh-CN" altLang="zh-CN"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34" name="任意多边形: 形状 438"/>
            <p:cNvSpPr/>
            <p:nvPr/>
          </p:nvSpPr>
          <p:spPr bwMode="auto">
            <a:xfrm>
              <a:off x="3456613" y="3913316"/>
              <a:ext cx="752457" cy="805713"/>
            </a:xfrm>
            <a:custGeom>
              <a:avLst/>
              <a:gdLst>
                <a:gd name="T0" fmla="*/ 631242 w 608"/>
                <a:gd name="T1" fmla="*/ 0 h 608"/>
                <a:gd name="T2" fmla="*/ 0 w 608"/>
                <a:gd name="T3" fmla="*/ 0 h 608"/>
                <a:gd name="T4" fmla="*/ 631242 w 608"/>
                <a:gd name="T5" fmla="*/ 631242 h 608"/>
                <a:gd name="T6" fmla="*/ 631242 w 608"/>
                <a:gd name="T7" fmla="*/ 0 h 6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08"/>
                <a:gd name="T13" fmla="*/ 0 h 608"/>
                <a:gd name="T14" fmla="*/ 608 w 608"/>
                <a:gd name="T15" fmla="*/ 608 h 6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08" h="608">
                  <a:moveTo>
                    <a:pt x="608" y="0"/>
                  </a:moveTo>
                  <a:lnTo>
                    <a:pt x="0" y="0"/>
                  </a:lnTo>
                  <a:lnTo>
                    <a:pt x="608" y="608"/>
                  </a:lnTo>
                  <a:lnTo>
                    <a:pt x="608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lIns="121920" tIns="60960" rIns="121920" bIns="60960"/>
            <a:lstStyle/>
            <a:p>
              <a:pPr algn="r"/>
              <a:r>
                <a:rPr lang="en-US" altLang="ko-KR" sz="1600" b="1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90204" pitchFamily="34" charset="0"/>
                </a:rPr>
                <a:t>1</a:t>
              </a:r>
            </a:p>
          </p:txBody>
        </p:sp>
        <p:sp>
          <p:nvSpPr>
            <p:cNvPr id="36" name="矩形 35"/>
            <p:cNvSpPr/>
            <p:nvPr/>
          </p:nvSpPr>
          <p:spPr bwMode="auto">
            <a:xfrm>
              <a:off x="1442865" y="4910044"/>
              <a:ext cx="2192198" cy="581057"/>
            </a:xfrm>
            <a:prstGeom prst="rect">
              <a:avLst/>
            </a:prstGeom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l">
                <a:lnSpc>
                  <a:spcPct val="150000"/>
                </a:lnSpc>
                <a:defRPr/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90204"/>
                </a:rPr>
                <a:t>重复线性渐变</a:t>
              </a:r>
            </a:p>
          </p:txBody>
        </p:sp>
        <p:sp>
          <p:nvSpPr>
            <p:cNvPr id="37" name="任意多边形: 形状 41"/>
            <p:cNvSpPr/>
            <p:nvPr/>
          </p:nvSpPr>
          <p:spPr bwMode="auto">
            <a:xfrm>
              <a:off x="2200602" y="4284021"/>
              <a:ext cx="461376" cy="401428"/>
            </a:xfrm>
            <a:custGeom>
              <a:avLst/>
              <a:gdLst>
                <a:gd name="T0" fmla="*/ 235926 w 21600"/>
                <a:gd name="T1" fmla="*/ 191703 h 21600"/>
                <a:gd name="T2" fmla="*/ 235926 w 21600"/>
                <a:gd name="T3" fmla="*/ 191703 h 21600"/>
                <a:gd name="T4" fmla="*/ 235926 w 21600"/>
                <a:gd name="T5" fmla="*/ 191703 h 21600"/>
                <a:gd name="T6" fmla="*/ 235926 w 21600"/>
                <a:gd name="T7" fmla="*/ 191703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2024" y="0"/>
                  </a:moveTo>
                  <a:cubicBezTo>
                    <a:pt x="912" y="0"/>
                    <a:pt x="0" y="1122"/>
                    <a:pt x="0" y="2491"/>
                  </a:cubicBezTo>
                  <a:lnTo>
                    <a:pt x="0" y="11634"/>
                  </a:lnTo>
                  <a:cubicBezTo>
                    <a:pt x="0" y="13008"/>
                    <a:pt x="912" y="14134"/>
                    <a:pt x="2024" y="14134"/>
                  </a:cubicBezTo>
                  <a:lnTo>
                    <a:pt x="2024" y="16617"/>
                  </a:lnTo>
                  <a:cubicBezTo>
                    <a:pt x="2024" y="17994"/>
                    <a:pt x="2935" y="19109"/>
                    <a:pt x="4049" y="19109"/>
                  </a:cubicBezTo>
                  <a:lnTo>
                    <a:pt x="4822" y="19109"/>
                  </a:lnTo>
                  <a:cubicBezTo>
                    <a:pt x="5125" y="20540"/>
                    <a:pt x="6166" y="21600"/>
                    <a:pt x="7423" y="21600"/>
                  </a:cubicBezTo>
                  <a:cubicBezTo>
                    <a:pt x="8673" y="21600"/>
                    <a:pt x="9726" y="20540"/>
                    <a:pt x="10030" y="19109"/>
                  </a:cubicBezTo>
                  <a:lnTo>
                    <a:pt x="13594" y="19109"/>
                  </a:lnTo>
                  <a:cubicBezTo>
                    <a:pt x="13897" y="20540"/>
                    <a:pt x="14942" y="21600"/>
                    <a:pt x="16202" y="21600"/>
                  </a:cubicBezTo>
                  <a:cubicBezTo>
                    <a:pt x="17449" y="21600"/>
                    <a:pt x="18498" y="20540"/>
                    <a:pt x="18803" y="19109"/>
                  </a:cubicBezTo>
                  <a:lnTo>
                    <a:pt x="19576" y="19109"/>
                  </a:lnTo>
                  <a:cubicBezTo>
                    <a:pt x="20692" y="19109"/>
                    <a:pt x="21600" y="17994"/>
                    <a:pt x="21600" y="16617"/>
                  </a:cubicBezTo>
                  <a:lnTo>
                    <a:pt x="21600" y="11634"/>
                  </a:lnTo>
                  <a:cubicBezTo>
                    <a:pt x="21600" y="11142"/>
                    <a:pt x="21482" y="10663"/>
                    <a:pt x="21259" y="10248"/>
                  </a:cubicBezTo>
                  <a:lnTo>
                    <a:pt x="18554" y="5265"/>
                  </a:lnTo>
                  <a:cubicBezTo>
                    <a:pt x="18182" y="4566"/>
                    <a:pt x="17557" y="4160"/>
                    <a:pt x="16876" y="4160"/>
                  </a:cubicBezTo>
                  <a:lnTo>
                    <a:pt x="14177" y="4160"/>
                  </a:lnTo>
                  <a:lnTo>
                    <a:pt x="14177" y="2491"/>
                  </a:lnTo>
                  <a:cubicBezTo>
                    <a:pt x="14177" y="1122"/>
                    <a:pt x="13265" y="0"/>
                    <a:pt x="12146" y="0"/>
                  </a:cubicBezTo>
                  <a:lnTo>
                    <a:pt x="2024" y="0"/>
                  </a:lnTo>
                  <a:close/>
                  <a:moveTo>
                    <a:pt x="2024" y="1669"/>
                  </a:moveTo>
                  <a:lnTo>
                    <a:pt x="12146" y="1669"/>
                  </a:lnTo>
                  <a:cubicBezTo>
                    <a:pt x="12524" y="1669"/>
                    <a:pt x="12821" y="2034"/>
                    <a:pt x="12821" y="2491"/>
                  </a:cubicBezTo>
                  <a:lnTo>
                    <a:pt x="12821" y="11634"/>
                  </a:lnTo>
                  <a:cubicBezTo>
                    <a:pt x="12821" y="12090"/>
                    <a:pt x="12524" y="12465"/>
                    <a:pt x="12146" y="12465"/>
                  </a:cubicBezTo>
                  <a:cubicBezTo>
                    <a:pt x="12146" y="12465"/>
                    <a:pt x="2024" y="12465"/>
                    <a:pt x="2024" y="12465"/>
                  </a:cubicBezTo>
                  <a:cubicBezTo>
                    <a:pt x="1649" y="12465"/>
                    <a:pt x="1350" y="12090"/>
                    <a:pt x="1350" y="11634"/>
                  </a:cubicBezTo>
                  <a:lnTo>
                    <a:pt x="1350" y="2491"/>
                  </a:lnTo>
                  <a:cubicBezTo>
                    <a:pt x="1350" y="2034"/>
                    <a:pt x="1649" y="1669"/>
                    <a:pt x="2024" y="1669"/>
                  </a:cubicBezTo>
                  <a:close/>
                  <a:moveTo>
                    <a:pt x="14177" y="5821"/>
                  </a:moveTo>
                  <a:lnTo>
                    <a:pt x="16876" y="5821"/>
                  </a:lnTo>
                  <a:cubicBezTo>
                    <a:pt x="17102" y="5821"/>
                    <a:pt x="17311" y="5958"/>
                    <a:pt x="17440" y="6184"/>
                  </a:cubicBezTo>
                  <a:lnTo>
                    <a:pt x="20132" y="11175"/>
                  </a:lnTo>
                  <a:cubicBezTo>
                    <a:pt x="20206" y="11307"/>
                    <a:pt x="20250" y="11475"/>
                    <a:pt x="20250" y="11634"/>
                  </a:cubicBezTo>
                  <a:cubicBezTo>
                    <a:pt x="20250" y="11634"/>
                    <a:pt x="20250" y="16617"/>
                    <a:pt x="20250" y="16617"/>
                  </a:cubicBezTo>
                  <a:cubicBezTo>
                    <a:pt x="20250" y="17074"/>
                    <a:pt x="19946" y="17448"/>
                    <a:pt x="19576" y="17448"/>
                  </a:cubicBezTo>
                  <a:lnTo>
                    <a:pt x="18803" y="17448"/>
                  </a:lnTo>
                  <a:cubicBezTo>
                    <a:pt x="18498" y="16016"/>
                    <a:pt x="17455" y="14956"/>
                    <a:pt x="16202" y="14956"/>
                  </a:cubicBezTo>
                  <a:cubicBezTo>
                    <a:pt x="14942" y="14956"/>
                    <a:pt x="13897" y="16016"/>
                    <a:pt x="13594" y="17448"/>
                  </a:cubicBezTo>
                  <a:lnTo>
                    <a:pt x="10030" y="17448"/>
                  </a:lnTo>
                  <a:cubicBezTo>
                    <a:pt x="9729" y="16016"/>
                    <a:pt x="8678" y="14956"/>
                    <a:pt x="7423" y="14956"/>
                  </a:cubicBezTo>
                  <a:cubicBezTo>
                    <a:pt x="6166" y="14956"/>
                    <a:pt x="5125" y="16016"/>
                    <a:pt x="4822" y="17448"/>
                  </a:cubicBezTo>
                  <a:lnTo>
                    <a:pt x="4049" y="17448"/>
                  </a:lnTo>
                  <a:cubicBezTo>
                    <a:pt x="3676" y="17448"/>
                    <a:pt x="3374" y="17074"/>
                    <a:pt x="3374" y="16617"/>
                  </a:cubicBezTo>
                  <a:lnTo>
                    <a:pt x="3374" y="14134"/>
                  </a:lnTo>
                  <a:lnTo>
                    <a:pt x="12146" y="14134"/>
                  </a:lnTo>
                  <a:cubicBezTo>
                    <a:pt x="13265" y="14134"/>
                    <a:pt x="14177" y="13008"/>
                    <a:pt x="14177" y="11634"/>
                  </a:cubicBezTo>
                  <a:lnTo>
                    <a:pt x="14177" y="5821"/>
                  </a:lnTo>
                  <a:close/>
                  <a:moveTo>
                    <a:pt x="15553" y="6450"/>
                  </a:moveTo>
                  <a:cubicBezTo>
                    <a:pt x="15182" y="6450"/>
                    <a:pt x="14885" y="6824"/>
                    <a:pt x="14885" y="7281"/>
                  </a:cubicBezTo>
                  <a:lnTo>
                    <a:pt x="14885" y="12263"/>
                  </a:lnTo>
                  <a:cubicBezTo>
                    <a:pt x="14885" y="12721"/>
                    <a:pt x="15182" y="13102"/>
                    <a:pt x="15553" y="13102"/>
                  </a:cubicBezTo>
                  <a:lnTo>
                    <a:pt x="18259" y="13102"/>
                  </a:lnTo>
                  <a:cubicBezTo>
                    <a:pt x="18629" y="13102"/>
                    <a:pt x="18934" y="12721"/>
                    <a:pt x="18934" y="12263"/>
                  </a:cubicBezTo>
                  <a:lnTo>
                    <a:pt x="18934" y="11022"/>
                  </a:lnTo>
                  <a:cubicBezTo>
                    <a:pt x="18934" y="10857"/>
                    <a:pt x="18888" y="10694"/>
                    <a:pt x="18816" y="10554"/>
                  </a:cubicBezTo>
                  <a:cubicBezTo>
                    <a:pt x="18816" y="10554"/>
                    <a:pt x="16798" y="6829"/>
                    <a:pt x="16798" y="6829"/>
                  </a:cubicBezTo>
                  <a:cubicBezTo>
                    <a:pt x="16673" y="6592"/>
                    <a:pt x="16460" y="6450"/>
                    <a:pt x="16234" y="6450"/>
                  </a:cubicBezTo>
                  <a:lnTo>
                    <a:pt x="15553" y="6450"/>
                  </a:lnTo>
                  <a:close/>
                  <a:moveTo>
                    <a:pt x="15553" y="7281"/>
                  </a:moveTo>
                  <a:lnTo>
                    <a:pt x="16234" y="7281"/>
                  </a:lnTo>
                  <a:lnTo>
                    <a:pt x="18259" y="11022"/>
                  </a:lnTo>
                  <a:cubicBezTo>
                    <a:pt x="18259" y="11022"/>
                    <a:pt x="18259" y="12263"/>
                    <a:pt x="18259" y="12263"/>
                  </a:cubicBezTo>
                  <a:lnTo>
                    <a:pt x="15553" y="12263"/>
                  </a:lnTo>
                  <a:lnTo>
                    <a:pt x="15553" y="7281"/>
                  </a:lnTo>
                  <a:close/>
                  <a:moveTo>
                    <a:pt x="7423" y="16617"/>
                  </a:moveTo>
                  <a:cubicBezTo>
                    <a:pt x="8167" y="16617"/>
                    <a:pt x="8772" y="17365"/>
                    <a:pt x="8772" y="18278"/>
                  </a:cubicBezTo>
                  <a:cubicBezTo>
                    <a:pt x="8772" y="19191"/>
                    <a:pt x="8167" y="19939"/>
                    <a:pt x="7423" y="19939"/>
                  </a:cubicBezTo>
                  <a:cubicBezTo>
                    <a:pt x="6677" y="19939"/>
                    <a:pt x="6073" y="19191"/>
                    <a:pt x="6073" y="18278"/>
                  </a:cubicBezTo>
                  <a:cubicBezTo>
                    <a:pt x="6073" y="17365"/>
                    <a:pt x="6677" y="16617"/>
                    <a:pt x="7423" y="16617"/>
                  </a:cubicBezTo>
                  <a:close/>
                  <a:moveTo>
                    <a:pt x="16202" y="16617"/>
                  </a:moveTo>
                  <a:cubicBezTo>
                    <a:pt x="16943" y="16617"/>
                    <a:pt x="17551" y="17365"/>
                    <a:pt x="17551" y="18278"/>
                  </a:cubicBezTo>
                  <a:cubicBezTo>
                    <a:pt x="17551" y="19191"/>
                    <a:pt x="16943" y="19939"/>
                    <a:pt x="16202" y="19939"/>
                  </a:cubicBezTo>
                  <a:cubicBezTo>
                    <a:pt x="15454" y="19939"/>
                    <a:pt x="14852" y="19191"/>
                    <a:pt x="14852" y="18278"/>
                  </a:cubicBezTo>
                  <a:cubicBezTo>
                    <a:pt x="14852" y="17365"/>
                    <a:pt x="15454" y="16617"/>
                    <a:pt x="16202" y="16617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676846" y="3686689"/>
            <a:ext cx="12190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2" name="右箭头 11"/>
          <p:cNvSpPr/>
          <p:nvPr/>
        </p:nvSpPr>
        <p:spPr>
          <a:xfrm>
            <a:off x="4745930" y="4437647"/>
            <a:ext cx="552091" cy="581057"/>
          </a:xfrm>
          <a:prstGeom prst="rightArrow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1390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渐变</a:t>
            </a:r>
            <a:endParaRPr lang="zh-CN" altLang="en-US" sz="20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7021901" y="3194681"/>
            <a:ext cx="150586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23" name="圆角矩形 22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5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6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403436" y="1776747"/>
              <a:ext cx="188224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）重复渐变</a:t>
              </a:r>
            </a:p>
          </p:txBody>
        </p:sp>
      </p:grpSp>
      <p:grpSp>
        <p:nvGrpSpPr>
          <p:cNvPr id="28" name="组合 8"/>
          <p:cNvGrpSpPr/>
          <p:nvPr/>
        </p:nvGrpSpPr>
        <p:grpSpPr bwMode="auto">
          <a:xfrm>
            <a:off x="5515048" y="3867600"/>
            <a:ext cx="5210203" cy="1603936"/>
            <a:chOff x="1396443" y="2283717"/>
            <a:chExt cx="10429481" cy="1604495"/>
          </a:xfrm>
        </p:grpSpPr>
        <p:sp>
          <p:nvSpPr>
            <p:cNvPr id="29" name="矩形 28"/>
            <p:cNvSpPr/>
            <p:nvPr/>
          </p:nvSpPr>
          <p:spPr>
            <a:xfrm>
              <a:off x="1396443" y="2283717"/>
              <a:ext cx="10429481" cy="160449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2052624" y="2484107"/>
              <a:ext cx="9049120" cy="115725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background-image:repeating-radial-gradient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(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渐变形状 圆心位置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1,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2...,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n);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546464" y="3464744"/>
            <a:ext cx="2982862" cy="2284020"/>
            <a:chOff x="1226208" y="3913316"/>
            <a:chExt cx="2982862" cy="2284020"/>
          </a:xfrm>
        </p:grpSpPr>
        <p:sp>
          <p:nvSpPr>
            <p:cNvPr id="32" name="矩形: 剪去单角 437"/>
            <p:cNvSpPr/>
            <p:nvPr/>
          </p:nvSpPr>
          <p:spPr bwMode="auto">
            <a:xfrm>
              <a:off x="1226629" y="3913316"/>
              <a:ext cx="2982018" cy="2257438"/>
            </a:xfrm>
            <a:prstGeom prst="snip1Rect">
              <a:avLst>
                <a:gd name="adj" fmla="val 29383"/>
              </a:avLst>
            </a:prstGeom>
            <a:solidFill>
              <a:srgbClr val="F6F6F6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endParaRPr>
            </a:p>
          </p:txBody>
        </p:sp>
        <p:sp>
          <p:nvSpPr>
            <p:cNvPr id="33" name="矩形 42"/>
            <p:cNvSpPr>
              <a:spLocks noChangeArrowheads="1"/>
            </p:cNvSpPr>
            <p:nvPr/>
          </p:nvSpPr>
          <p:spPr bwMode="auto">
            <a:xfrm>
              <a:off x="1226208" y="6059486"/>
              <a:ext cx="2982439" cy="1378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lang="zh-CN" altLang="zh-CN"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34" name="任意多边形: 形状 438"/>
            <p:cNvSpPr/>
            <p:nvPr/>
          </p:nvSpPr>
          <p:spPr bwMode="auto">
            <a:xfrm>
              <a:off x="3456613" y="3913316"/>
              <a:ext cx="752457" cy="805713"/>
            </a:xfrm>
            <a:custGeom>
              <a:avLst/>
              <a:gdLst>
                <a:gd name="T0" fmla="*/ 631242 w 608"/>
                <a:gd name="T1" fmla="*/ 0 h 608"/>
                <a:gd name="T2" fmla="*/ 0 w 608"/>
                <a:gd name="T3" fmla="*/ 0 h 608"/>
                <a:gd name="T4" fmla="*/ 631242 w 608"/>
                <a:gd name="T5" fmla="*/ 631242 h 608"/>
                <a:gd name="T6" fmla="*/ 631242 w 608"/>
                <a:gd name="T7" fmla="*/ 0 h 6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08"/>
                <a:gd name="T13" fmla="*/ 0 h 608"/>
                <a:gd name="T14" fmla="*/ 608 w 608"/>
                <a:gd name="T15" fmla="*/ 608 h 6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08" h="608">
                  <a:moveTo>
                    <a:pt x="608" y="0"/>
                  </a:moveTo>
                  <a:lnTo>
                    <a:pt x="0" y="0"/>
                  </a:lnTo>
                  <a:lnTo>
                    <a:pt x="608" y="608"/>
                  </a:lnTo>
                  <a:lnTo>
                    <a:pt x="608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lIns="121920" tIns="60960" rIns="121920" bIns="60960"/>
            <a:lstStyle/>
            <a:p>
              <a:pPr algn="r"/>
              <a:r>
                <a:rPr lang="en-US" altLang="ko-KR" sz="1600" b="1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90204" pitchFamily="34" charset="0"/>
                </a:rPr>
                <a:t>1</a:t>
              </a:r>
            </a:p>
          </p:txBody>
        </p:sp>
        <p:sp>
          <p:nvSpPr>
            <p:cNvPr id="36" name="矩形 35"/>
            <p:cNvSpPr/>
            <p:nvPr/>
          </p:nvSpPr>
          <p:spPr bwMode="auto">
            <a:xfrm>
              <a:off x="1442865" y="4910044"/>
              <a:ext cx="2192198" cy="581057"/>
            </a:xfrm>
            <a:prstGeom prst="rect">
              <a:avLst/>
            </a:prstGeom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l">
                <a:lnSpc>
                  <a:spcPct val="150000"/>
                </a:lnSpc>
                <a:defRPr/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90204"/>
                </a:rPr>
                <a:t>重复径向渐变</a:t>
              </a:r>
            </a:p>
          </p:txBody>
        </p:sp>
        <p:sp>
          <p:nvSpPr>
            <p:cNvPr id="37" name="任意多边形: 形状 41"/>
            <p:cNvSpPr/>
            <p:nvPr/>
          </p:nvSpPr>
          <p:spPr bwMode="auto">
            <a:xfrm>
              <a:off x="2200602" y="4284021"/>
              <a:ext cx="461376" cy="401428"/>
            </a:xfrm>
            <a:custGeom>
              <a:avLst/>
              <a:gdLst>
                <a:gd name="T0" fmla="*/ 235926 w 21600"/>
                <a:gd name="T1" fmla="*/ 191703 h 21600"/>
                <a:gd name="T2" fmla="*/ 235926 w 21600"/>
                <a:gd name="T3" fmla="*/ 191703 h 21600"/>
                <a:gd name="T4" fmla="*/ 235926 w 21600"/>
                <a:gd name="T5" fmla="*/ 191703 h 21600"/>
                <a:gd name="T6" fmla="*/ 235926 w 21600"/>
                <a:gd name="T7" fmla="*/ 191703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2024" y="0"/>
                  </a:moveTo>
                  <a:cubicBezTo>
                    <a:pt x="912" y="0"/>
                    <a:pt x="0" y="1122"/>
                    <a:pt x="0" y="2491"/>
                  </a:cubicBezTo>
                  <a:lnTo>
                    <a:pt x="0" y="11634"/>
                  </a:lnTo>
                  <a:cubicBezTo>
                    <a:pt x="0" y="13008"/>
                    <a:pt x="912" y="14134"/>
                    <a:pt x="2024" y="14134"/>
                  </a:cubicBezTo>
                  <a:lnTo>
                    <a:pt x="2024" y="16617"/>
                  </a:lnTo>
                  <a:cubicBezTo>
                    <a:pt x="2024" y="17994"/>
                    <a:pt x="2935" y="19109"/>
                    <a:pt x="4049" y="19109"/>
                  </a:cubicBezTo>
                  <a:lnTo>
                    <a:pt x="4822" y="19109"/>
                  </a:lnTo>
                  <a:cubicBezTo>
                    <a:pt x="5125" y="20540"/>
                    <a:pt x="6166" y="21600"/>
                    <a:pt x="7423" y="21600"/>
                  </a:cubicBezTo>
                  <a:cubicBezTo>
                    <a:pt x="8673" y="21600"/>
                    <a:pt x="9726" y="20540"/>
                    <a:pt x="10030" y="19109"/>
                  </a:cubicBezTo>
                  <a:lnTo>
                    <a:pt x="13594" y="19109"/>
                  </a:lnTo>
                  <a:cubicBezTo>
                    <a:pt x="13897" y="20540"/>
                    <a:pt x="14942" y="21600"/>
                    <a:pt x="16202" y="21600"/>
                  </a:cubicBezTo>
                  <a:cubicBezTo>
                    <a:pt x="17449" y="21600"/>
                    <a:pt x="18498" y="20540"/>
                    <a:pt x="18803" y="19109"/>
                  </a:cubicBezTo>
                  <a:lnTo>
                    <a:pt x="19576" y="19109"/>
                  </a:lnTo>
                  <a:cubicBezTo>
                    <a:pt x="20692" y="19109"/>
                    <a:pt x="21600" y="17994"/>
                    <a:pt x="21600" y="16617"/>
                  </a:cubicBezTo>
                  <a:lnTo>
                    <a:pt x="21600" y="11634"/>
                  </a:lnTo>
                  <a:cubicBezTo>
                    <a:pt x="21600" y="11142"/>
                    <a:pt x="21482" y="10663"/>
                    <a:pt x="21259" y="10248"/>
                  </a:cubicBezTo>
                  <a:lnTo>
                    <a:pt x="18554" y="5265"/>
                  </a:lnTo>
                  <a:cubicBezTo>
                    <a:pt x="18182" y="4566"/>
                    <a:pt x="17557" y="4160"/>
                    <a:pt x="16876" y="4160"/>
                  </a:cubicBezTo>
                  <a:lnTo>
                    <a:pt x="14177" y="4160"/>
                  </a:lnTo>
                  <a:lnTo>
                    <a:pt x="14177" y="2491"/>
                  </a:lnTo>
                  <a:cubicBezTo>
                    <a:pt x="14177" y="1122"/>
                    <a:pt x="13265" y="0"/>
                    <a:pt x="12146" y="0"/>
                  </a:cubicBezTo>
                  <a:lnTo>
                    <a:pt x="2024" y="0"/>
                  </a:lnTo>
                  <a:close/>
                  <a:moveTo>
                    <a:pt x="2024" y="1669"/>
                  </a:moveTo>
                  <a:lnTo>
                    <a:pt x="12146" y="1669"/>
                  </a:lnTo>
                  <a:cubicBezTo>
                    <a:pt x="12524" y="1669"/>
                    <a:pt x="12821" y="2034"/>
                    <a:pt x="12821" y="2491"/>
                  </a:cubicBezTo>
                  <a:lnTo>
                    <a:pt x="12821" y="11634"/>
                  </a:lnTo>
                  <a:cubicBezTo>
                    <a:pt x="12821" y="12090"/>
                    <a:pt x="12524" y="12465"/>
                    <a:pt x="12146" y="12465"/>
                  </a:cubicBezTo>
                  <a:cubicBezTo>
                    <a:pt x="12146" y="12465"/>
                    <a:pt x="2024" y="12465"/>
                    <a:pt x="2024" y="12465"/>
                  </a:cubicBezTo>
                  <a:cubicBezTo>
                    <a:pt x="1649" y="12465"/>
                    <a:pt x="1350" y="12090"/>
                    <a:pt x="1350" y="11634"/>
                  </a:cubicBezTo>
                  <a:lnTo>
                    <a:pt x="1350" y="2491"/>
                  </a:lnTo>
                  <a:cubicBezTo>
                    <a:pt x="1350" y="2034"/>
                    <a:pt x="1649" y="1669"/>
                    <a:pt x="2024" y="1669"/>
                  </a:cubicBezTo>
                  <a:close/>
                  <a:moveTo>
                    <a:pt x="14177" y="5821"/>
                  </a:moveTo>
                  <a:lnTo>
                    <a:pt x="16876" y="5821"/>
                  </a:lnTo>
                  <a:cubicBezTo>
                    <a:pt x="17102" y="5821"/>
                    <a:pt x="17311" y="5958"/>
                    <a:pt x="17440" y="6184"/>
                  </a:cubicBezTo>
                  <a:lnTo>
                    <a:pt x="20132" y="11175"/>
                  </a:lnTo>
                  <a:cubicBezTo>
                    <a:pt x="20206" y="11307"/>
                    <a:pt x="20250" y="11475"/>
                    <a:pt x="20250" y="11634"/>
                  </a:cubicBezTo>
                  <a:cubicBezTo>
                    <a:pt x="20250" y="11634"/>
                    <a:pt x="20250" y="16617"/>
                    <a:pt x="20250" y="16617"/>
                  </a:cubicBezTo>
                  <a:cubicBezTo>
                    <a:pt x="20250" y="17074"/>
                    <a:pt x="19946" y="17448"/>
                    <a:pt x="19576" y="17448"/>
                  </a:cubicBezTo>
                  <a:lnTo>
                    <a:pt x="18803" y="17448"/>
                  </a:lnTo>
                  <a:cubicBezTo>
                    <a:pt x="18498" y="16016"/>
                    <a:pt x="17455" y="14956"/>
                    <a:pt x="16202" y="14956"/>
                  </a:cubicBezTo>
                  <a:cubicBezTo>
                    <a:pt x="14942" y="14956"/>
                    <a:pt x="13897" y="16016"/>
                    <a:pt x="13594" y="17448"/>
                  </a:cubicBezTo>
                  <a:lnTo>
                    <a:pt x="10030" y="17448"/>
                  </a:lnTo>
                  <a:cubicBezTo>
                    <a:pt x="9729" y="16016"/>
                    <a:pt x="8678" y="14956"/>
                    <a:pt x="7423" y="14956"/>
                  </a:cubicBezTo>
                  <a:cubicBezTo>
                    <a:pt x="6166" y="14956"/>
                    <a:pt x="5125" y="16016"/>
                    <a:pt x="4822" y="17448"/>
                  </a:cubicBezTo>
                  <a:lnTo>
                    <a:pt x="4049" y="17448"/>
                  </a:lnTo>
                  <a:cubicBezTo>
                    <a:pt x="3676" y="17448"/>
                    <a:pt x="3374" y="17074"/>
                    <a:pt x="3374" y="16617"/>
                  </a:cubicBezTo>
                  <a:lnTo>
                    <a:pt x="3374" y="14134"/>
                  </a:lnTo>
                  <a:lnTo>
                    <a:pt x="12146" y="14134"/>
                  </a:lnTo>
                  <a:cubicBezTo>
                    <a:pt x="13265" y="14134"/>
                    <a:pt x="14177" y="13008"/>
                    <a:pt x="14177" y="11634"/>
                  </a:cubicBezTo>
                  <a:lnTo>
                    <a:pt x="14177" y="5821"/>
                  </a:lnTo>
                  <a:close/>
                  <a:moveTo>
                    <a:pt x="15553" y="6450"/>
                  </a:moveTo>
                  <a:cubicBezTo>
                    <a:pt x="15182" y="6450"/>
                    <a:pt x="14885" y="6824"/>
                    <a:pt x="14885" y="7281"/>
                  </a:cubicBezTo>
                  <a:lnTo>
                    <a:pt x="14885" y="12263"/>
                  </a:lnTo>
                  <a:cubicBezTo>
                    <a:pt x="14885" y="12721"/>
                    <a:pt x="15182" y="13102"/>
                    <a:pt x="15553" y="13102"/>
                  </a:cubicBezTo>
                  <a:lnTo>
                    <a:pt x="18259" y="13102"/>
                  </a:lnTo>
                  <a:cubicBezTo>
                    <a:pt x="18629" y="13102"/>
                    <a:pt x="18934" y="12721"/>
                    <a:pt x="18934" y="12263"/>
                  </a:cubicBezTo>
                  <a:lnTo>
                    <a:pt x="18934" y="11022"/>
                  </a:lnTo>
                  <a:cubicBezTo>
                    <a:pt x="18934" y="10857"/>
                    <a:pt x="18888" y="10694"/>
                    <a:pt x="18816" y="10554"/>
                  </a:cubicBezTo>
                  <a:cubicBezTo>
                    <a:pt x="18816" y="10554"/>
                    <a:pt x="16798" y="6829"/>
                    <a:pt x="16798" y="6829"/>
                  </a:cubicBezTo>
                  <a:cubicBezTo>
                    <a:pt x="16673" y="6592"/>
                    <a:pt x="16460" y="6450"/>
                    <a:pt x="16234" y="6450"/>
                  </a:cubicBezTo>
                  <a:lnTo>
                    <a:pt x="15553" y="6450"/>
                  </a:lnTo>
                  <a:close/>
                  <a:moveTo>
                    <a:pt x="15553" y="7281"/>
                  </a:moveTo>
                  <a:lnTo>
                    <a:pt x="16234" y="7281"/>
                  </a:lnTo>
                  <a:lnTo>
                    <a:pt x="18259" y="11022"/>
                  </a:lnTo>
                  <a:cubicBezTo>
                    <a:pt x="18259" y="11022"/>
                    <a:pt x="18259" y="12263"/>
                    <a:pt x="18259" y="12263"/>
                  </a:cubicBezTo>
                  <a:lnTo>
                    <a:pt x="15553" y="12263"/>
                  </a:lnTo>
                  <a:lnTo>
                    <a:pt x="15553" y="7281"/>
                  </a:lnTo>
                  <a:close/>
                  <a:moveTo>
                    <a:pt x="7423" y="16617"/>
                  </a:moveTo>
                  <a:cubicBezTo>
                    <a:pt x="8167" y="16617"/>
                    <a:pt x="8772" y="17365"/>
                    <a:pt x="8772" y="18278"/>
                  </a:cubicBezTo>
                  <a:cubicBezTo>
                    <a:pt x="8772" y="19191"/>
                    <a:pt x="8167" y="19939"/>
                    <a:pt x="7423" y="19939"/>
                  </a:cubicBezTo>
                  <a:cubicBezTo>
                    <a:pt x="6677" y="19939"/>
                    <a:pt x="6073" y="19191"/>
                    <a:pt x="6073" y="18278"/>
                  </a:cubicBezTo>
                  <a:cubicBezTo>
                    <a:pt x="6073" y="17365"/>
                    <a:pt x="6677" y="16617"/>
                    <a:pt x="7423" y="16617"/>
                  </a:cubicBezTo>
                  <a:close/>
                  <a:moveTo>
                    <a:pt x="16202" y="16617"/>
                  </a:moveTo>
                  <a:cubicBezTo>
                    <a:pt x="16943" y="16617"/>
                    <a:pt x="17551" y="17365"/>
                    <a:pt x="17551" y="18278"/>
                  </a:cubicBezTo>
                  <a:cubicBezTo>
                    <a:pt x="17551" y="19191"/>
                    <a:pt x="16943" y="19939"/>
                    <a:pt x="16202" y="19939"/>
                  </a:cubicBezTo>
                  <a:cubicBezTo>
                    <a:pt x="15454" y="19939"/>
                    <a:pt x="14852" y="19191"/>
                    <a:pt x="14852" y="18278"/>
                  </a:cubicBezTo>
                  <a:cubicBezTo>
                    <a:pt x="14852" y="17365"/>
                    <a:pt x="15454" y="16617"/>
                    <a:pt x="16202" y="16617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676846" y="3686689"/>
            <a:ext cx="12190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2" name="右箭头 11"/>
          <p:cNvSpPr/>
          <p:nvPr/>
        </p:nvSpPr>
        <p:spPr>
          <a:xfrm>
            <a:off x="4745930" y="4437647"/>
            <a:ext cx="552091" cy="581057"/>
          </a:xfrm>
          <a:prstGeom prst="rightArrow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TextBox 38"/>
          <p:cNvSpPr txBox="1"/>
          <p:nvPr/>
        </p:nvSpPr>
        <p:spPr>
          <a:xfrm>
            <a:off x="1642737" y="2209865"/>
            <a:ext cx="929792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CSS3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16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background-image:repeating-linear-gradient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（参数值）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;”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样式可以设置重复渐变效果。</a:t>
            </a:r>
          </a:p>
        </p:txBody>
      </p:sp>
    </p:spTree>
    <p:extLst>
      <p:ext uri="{BB962C8B-B14F-4D97-AF65-F5344CB8AC3E}">
        <p14:creationId xmlns:p14="http://schemas.microsoft.com/office/powerpoint/2010/main" val="2703972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3f15e6573a385e41c33bb97e7105a62faa5c48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Other"/>
  <p:tag name="MH_ORDER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SubTitle"/>
  <p:tag name="MH_ORDER" val="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Text"/>
  <p:tag name="MH_ORDER" val="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Other"/>
  <p:tag name="MH_ORDER" val="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SubTitle"/>
  <p:tag name="MH_ORDER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Text"/>
  <p:tag name="MH_ORDER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Other"/>
  <p:tag name="MH_ORDER" val="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Other"/>
  <p:tag name="MH_ORDER" val="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Other"/>
  <p:tag name="MH_ORDER" val="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Other"/>
  <p:tag name="MH_ORDER" val="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Other"/>
  <p:tag name="MH_ORDER" val="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Other"/>
  <p:tag name="MH_ORDER" val="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SubTitle"/>
  <p:tag name="MH_ORDER" val="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Text"/>
  <p:tag name="MH_ORDER" val="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SubTitle"/>
  <p:tag name="MH_ORDER" val="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Text"/>
  <p:tag name="MH_ORDER" val="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SubTitle"/>
  <p:tag name="MH_ORDER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Other"/>
  <p:tag name="MH_ORDER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Text"/>
  <p:tag name="MH_ORDER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SubTitle"/>
  <p:tag name="MH_ORDER" val="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Other"/>
  <p:tag name="MH_ORDER" val="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Text"/>
  <p:tag name="MH_ORDER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SubTitle"/>
  <p:tag name="MH_ORDER" val="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Other"/>
  <p:tag name="MH_ORDER" val="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Text"/>
  <p:tag name="MH_ORDER" val="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Title"/>
  <p:tag name="MH_ORDER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字魂105号-简雅黑"/>
        <a:ea typeface="字魂105号-简雅黑"/>
        <a:cs typeface=""/>
      </a:majorFont>
      <a:minorFont>
        <a:latin typeface="字魂105号-简雅黑"/>
        <a:ea typeface="字魂105号-简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3994</TotalTime>
  <Words>2987</Words>
  <Application>Microsoft Office PowerPoint</Application>
  <PresentationFormat>自定义</PresentationFormat>
  <Paragraphs>418</Paragraphs>
  <Slides>49</Slides>
  <Notes>49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59" baseType="lpstr">
      <vt:lpstr>Source Han Sans K Bold</vt:lpstr>
      <vt:lpstr>微软雅黑</vt:lpstr>
      <vt:lpstr>微软雅黑</vt:lpstr>
      <vt:lpstr>字魂105号-简雅黑</vt:lpstr>
      <vt:lpstr>Arial</vt:lpstr>
      <vt:lpstr>Calibri</vt:lpstr>
      <vt:lpstr>Wingdings</vt:lpstr>
      <vt:lpstr>webwppDefTheme</vt:lpstr>
      <vt:lpstr>Office 主题</vt:lpstr>
      <vt:lpstr>Visio.Drawing.11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蓝白商务述职报告工作总结ppt模板</dc:title>
  <dc:creator>常董</dc:creator>
  <cp:lastModifiedBy>PC</cp:lastModifiedBy>
  <cp:revision>324</cp:revision>
  <dcterms:created xsi:type="dcterms:W3CDTF">2020-11-11T09:29:40Z</dcterms:created>
  <dcterms:modified xsi:type="dcterms:W3CDTF">2025-11-12T03:32:00Z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</Properties>
</file>