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55"/>
  </p:notesMasterIdLst>
  <p:handoutMasterIdLst>
    <p:handoutMasterId r:id="rId56"/>
  </p:handoutMasterIdLst>
  <p:sldIdLst>
    <p:sldId id="325" r:id="rId3"/>
    <p:sldId id="264" r:id="rId4"/>
    <p:sldId id="309" r:id="rId5"/>
    <p:sldId id="259" r:id="rId6"/>
    <p:sldId id="416" r:id="rId7"/>
    <p:sldId id="348" r:id="rId8"/>
    <p:sldId id="417" r:id="rId9"/>
    <p:sldId id="419" r:id="rId10"/>
    <p:sldId id="418" r:id="rId11"/>
    <p:sldId id="428" r:id="rId12"/>
    <p:sldId id="420" r:id="rId13"/>
    <p:sldId id="421" r:id="rId14"/>
    <p:sldId id="422" r:id="rId15"/>
    <p:sldId id="429" r:id="rId16"/>
    <p:sldId id="423" r:id="rId17"/>
    <p:sldId id="425" r:id="rId18"/>
    <p:sldId id="426" r:id="rId19"/>
    <p:sldId id="427" r:id="rId20"/>
    <p:sldId id="430" r:id="rId21"/>
    <p:sldId id="432" r:id="rId22"/>
    <p:sldId id="433" r:id="rId23"/>
    <p:sldId id="424" r:id="rId24"/>
    <p:sldId id="434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47" r:id="rId33"/>
    <p:sldId id="448" r:id="rId34"/>
    <p:sldId id="449" r:id="rId35"/>
    <p:sldId id="450" r:id="rId36"/>
    <p:sldId id="452" r:id="rId37"/>
    <p:sldId id="453" r:id="rId38"/>
    <p:sldId id="454" r:id="rId39"/>
    <p:sldId id="442" r:id="rId40"/>
    <p:sldId id="443" r:id="rId41"/>
    <p:sldId id="466" r:id="rId42"/>
    <p:sldId id="456" r:id="rId43"/>
    <p:sldId id="457" r:id="rId44"/>
    <p:sldId id="458" r:id="rId45"/>
    <p:sldId id="460" r:id="rId46"/>
    <p:sldId id="461" r:id="rId47"/>
    <p:sldId id="462" r:id="rId48"/>
    <p:sldId id="463" r:id="rId49"/>
    <p:sldId id="464" r:id="rId50"/>
    <p:sldId id="465" r:id="rId51"/>
    <p:sldId id="459" r:id="rId52"/>
    <p:sldId id="467" r:id="rId53"/>
    <p:sldId id="444" r:id="rId54"/>
  </p:sldIdLst>
  <p:sldSz cx="12190413" cy="6859588"/>
  <p:notesSz cx="6858000" cy="9144000"/>
  <p:custDataLst>
    <p:tags r:id="rId5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2">
          <p15:clr>
            <a:srgbClr val="A4A3A4"/>
          </p15:clr>
        </p15:guide>
        <p15:guide id="2" pos="7219">
          <p15:clr>
            <a:srgbClr val="A4A3A4"/>
          </p15:clr>
        </p15:guide>
        <p15:guide id="3" pos="6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9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甘金龙" initials="甘金龙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0075CC"/>
    <a:srgbClr val="FF0000"/>
    <a:srgbClr val="F2F2F2"/>
    <a:srgbClr val="FAFAFA"/>
    <a:srgbClr val="006BB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5" autoAdjust="0"/>
    <p:restoredTop sz="96379" autoAdjust="0"/>
  </p:normalViewPr>
  <p:slideViewPr>
    <p:cSldViewPr snapToGrid="0">
      <p:cViewPr varScale="1">
        <p:scale>
          <a:sx n="107" d="100"/>
          <a:sy n="107" d="100"/>
        </p:scale>
        <p:origin x="474" y="114"/>
      </p:cViewPr>
      <p:guideLst>
        <p:guide orient="horz" pos="1072"/>
        <p:guide pos="7219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79"/>
        <p:guide pos="2142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32128" y="2877669"/>
            <a:ext cx="7706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CSS</a:t>
            </a:r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205659"/>
            <a:ext cx="7293883" cy="688077"/>
            <a:chOff x="978872" y="1800499"/>
            <a:chExt cx="5471124" cy="515938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499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样式规则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的特点，能够区分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HTML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属性和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样式的写法差异。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075940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层叠性、继承性、优先级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等特点，能够清晰描述并举例说明。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566814" y="3944106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引入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样式表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的不同方式，能够在网页中引入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4814390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样式控制网页中的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文本外观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的技巧。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3-1】CSS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核心基础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2708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网页制作技术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的不断发展，单调的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属性已经无法满足网页设计的需求。网页制作人员往往需要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更多的字体、更方便的样式、更绚丽的图形动画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的出现在不改变原有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结构的情况下，增加了丰富的样式效果，极大地满足了网页制作人员的需求。在深入学习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之前，网页制作人员首先要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的基础知识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样式表的引入、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基础选择器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四个方面，对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核心基础知识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什么是结构与表现相分离，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能够指出结构域表现相分离的好处。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sp>
        <p:nvSpPr>
          <p:cNvPr id="9" name="云形标注 8"/>
          <p:cNvSpPr/>
          <p:nvPr/>
        </p:nvSpPr>
        <p:spPr>
          <a:xfrm>
            <a:off x="1019175" y="1588271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1897278" y="2494614"/>
            <a:ext cx="47554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为什么要将结构和表现分离？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44" y="3448797"/>
            <a:ext cx="3505201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89846" y="1347759"/>
            <a:ext cx="8758237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5000"/>
              </a:lnSpc>
            </a:pP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对网页进行修饰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存在很大的</a:t>
            </a:r>
            <a:r>
              <a:rPr lang="zh-CN" altLang="zh-CN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局限和不足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3993632" y="2301035"/>
            <a:ext cx="3578225" cy="1839912"/>
            <a:chOff x="3087784" y="4014875"/>
            <a:chExt cx="3578577" cy="1840088"/>
          </a:xfrm>
        </p:grpSpPr>
        <p:sp>
          <p:nvSpPr>
            <p:cNvPr id="9" name="椭圆形标注 8"/>
            <p:cNvSpPr/>
            <p:nvPr/>
          </p:nvSpPr>
          <p:spPr bwMode="auto">
            <a:xfrm>
              <a:off x="3087784" y="4014875"/>
              <a:ext cx="3578577" cy="1840088"/>
            </a:xfrm>
            <a:prstGeom prst="wedgeEllipse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322757" y="4611832"/>
              <a:ext cx="763663" cy="7080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维护困难</a:t>
              </a:r>
              <a:endPara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289" y="4215345"/>
              <a:ext cx="2161529" cy="1371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组合 11"/>
          <p:cNvGrpSpPr/>
          <p:nvPr/>
        </p:nvGrpSpPr>
        <p:grpSpPr bwMode="auto">
          <a:xfrm>
            <a:off x="6062145" y="4164760"/>
            <a:ext cx="3578225" cy="1839912"/>
            <a:chOff x="4512587" y="4249297"/>
            <a:chExt cx="3578577" cy="1840088"/>
          </a:xfrm>
        </p:grpSpPr>
        <p:grpSp>
          <p:nvGrpSpPr>
            <p:cNvPr id="13" name="组合 16"/>
            <p:cNvGrpSpPr/>
            <p:nvPr/>
          </p:nvGrpSpPr>
          <p:grpSpPr bwMode="auto">
            <a:xfrm>
              <a:off x="4512587" y="4249297"/>
              <a:ext cx="3578577" cy="1840088"/>
              <a:chOff x="3087784" y="4014875"/>
              <a:chExt cx="3578577" cy="1840088"/>
            </a:xfrm>
          </p:grpSpPr>
          <p:sp>
            <p:nvSpPr>
              <p:cNvPr id="15" name="椭圆形标注 14"/>
              <p:cNvSpPr/>
              <p:nvPr/>
            </p:nvSpPr>
            <p:spPr bwMode="auto">
              <a:xfrm>
                <a:off x="3087784" y="4014875"/>
                <a:ext cx="3578577" cy="1840088"/>
              </a:xfrm>
              <a:prstGeom prst="wedgeEllipseCallout">
                <a:avLst/>
              </a:prstGeom>
              <a:noFill/>
              <a:ln w="2857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378325" y="4600718"/>
                <a:ext cx="1219320" cy="7080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zh-CN" sz="20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不利于代码的阅读</a:t>
                </a:r>
                <a:endParaRPr lang="zh-CN" alt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4" name="图片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2895" y="4419159"/>
              <a:ext cx="1647187" cy="150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80" y="773081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 bwMode="auto">
          <a:xfrm>
            <a:off x="4899447" y="2340830"/>
            <a:ext cx="5040312" cy="2725738"/>
            <a:chOff x="3403599" y="2421469"/>
            <a:chExt cx="5040490" cy="2726268"/>
          </a:xfrm>
        </p:grpSpPr>
        <p:sp>
          <p:nvSpPr>
            <p:cNvPr id="8" name="圆角矩形标注 7"/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5"/>
            <p:cNvSpPr>
              <a:spLocks noChangeArrowheads="1"/>
            </p:cNvSpPr>
            <p:nvPr/>
          </p:nvSpPr>
          <p:spPr bwMode="auto">
            <a:xfrm>
              <a:off x="3790505" y="2639955"/>
              <a:ext cx="4439098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如果希望网页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美观、大方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，并且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升级轻松、维护方便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，就需要使用</a:t>
              </a:r>
              <a:r>
                <a:rPr lang="en-US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，实现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zh-CN" sz="2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表现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的分离。</a:t>
              </a:r>
              <a:endPara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结构与表现分离</a:t>
            </a:r>
            <a:endParaRPr lang="zh-CN" altLang="en-US" sz="2000" dirty="0"/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7418388" y="2787617"/>
            <a:ext cx="3933825" cy="2147887"/>
            <a:chOff x="4571998" y="3039743"/>
            <a:chExt cx="3933429" cy="2148629"/>
          </a:xfrm>
        </p:grpSpPr>
        <p:sp>
          <p:nvSpPr>
            <p:cNvPr id="19" name="圆角矩形标注 18"/>
            <p:cNvSpPr/>
            <p:nvPr/>
          </p:nvSpPr>
          <p:spPr bwMode="auto">
            <a:xfrm rot="16200000" flipV="1">
              <a:off x="5464398" y="2147343"/>
              <a:ext cx="2148629" cy="3933429"/>
            </a:xfrm>
            <a:prstGeom prst="wedgeRoundRect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595959"/>
                </a:solidFill>
              </a:endParaRPr>
            </a:p>
          </p:txBody>
        </p:sp>
        <p:sp>
          <p:nvSpPr>
            <p:cNvPr id="20" name="矩形 29"/>
            <p:cNvSpPr>
              <a:spLocks noChangeArrowheads="1"/>
            </p:cNvSpPr>
            <p:nvPr/>
          </p:nvSpPr>
          <p:spPr bwMode="auto">
            <a:xfrm>
              <a:off x="4745567" y="3147980"/>
              <a:ext cx="3495322" cy="1939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latinLnBrk="1" hangingPunct="1"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所示的代码片段，就是将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嵌入在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文档中，虽然与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在同一个文档中，但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集中写在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文档的头部，也是符合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结构与表现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相分离的。</a:t>
              </a:r>
              <a:endPara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86408" y="1530221"/>
            <a:ext cx="1447342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86408" y="2211355"/>
          <a:ext cx="6400800" cy="288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5" name="Visio" r:id="rId4" imgW="9677400" imgH="4368800" progId="Visio.Drawing.11">
                  <p:embed/>
                </p:oleObj>
              </mc:Choice>
              <mc:Fallback>
                <p:oleObj name="Visio" r:id="rId4" imgW="9677400" imgH="4368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408" y="2211355"/>
                        <a:ext cx="6400800" cy="2883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的书写方式，能够在网页制作中正确书写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的书写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，能够避免常见的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书写错误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25937" y="3497427"/>
            <a:ext cx="3376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虚尾箭头 28"/>
          <p:cNvSpPr>
            <a:spLocks noChangeArrowheads="1"/>
          </p:cNvSpPr>
          <p:nvPr/>
        </p:nvSpPr>
        <p:spPr bwMode="auto">
          <a:xfrm rot="5400000">
            <a:off x="5491162" y="5041221"/>
            <a:ext cx="406400" cy="4508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369B2"/>
          </a:solidFill>
          <a:ln w="19050" cap="flat" cmpd="sng">
            <a:noFill/>
            <a:miter lim="800000"/>
          </a:ln>
          <a:effectLst/>
        </p:spPr>
        <p:txBody>
          <a:bodyPr lIns="90170" tIns="46990" rIns="90170" bIns="4699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4295775" y="5648490"/>
            <a:ext cx="3001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3446719" y="5754852"/>
            <a:ext cx="4889480" cy="523219"/>
            <a:chOff x="2488231" y="4814888"/>
            <a:chExt cx="5002121" cy="523220"/>
          </a:xfrm>
          <a:solidFill>
            <a:schemeClr val="bg1">
              <a:lumMod val="95000"/>
            </a:schemeClr>
          </a:solidFill>
        </p:grpSpPr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4492589" y="4838848"/>
              <a:ext cx="188986" cy="46166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zh-CN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2488231" y="4814888"/>
              <a:ext cx="5002121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样式的书写规则是什么？</a:t>
              </a:r>
            </a:p>
          </p:txBody>
        </p:sp>
      </p:grp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227512" y="3843502"/>
            <a:ext cx="31035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 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修饰的</a:t>
            </a:r>
            <a:r>
              <a:rPr lang="zh-CN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网页大家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随处可见</a:t>
            </a:r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3311052" y="1575587"/>
            <a:ext cx="1870075" cy="2309258"/>
            <a:chOff x="828675" y="1497013"/>
            <a:chExt cx="1870075" cy="2309257"/>
          </a:xfrm>
        </p:grpSpPr>
        <p:sp>
          <p:nvSpPr>
            <p:cNvPr id="14" name="TextBox 3"/>
            <p:cNvSpPr txBox="1">
              <a:spLocks noChangeArrowheads="1"/>
            </p:cNvSpPr>
            <p:nvPr/>
          </p:nvSpPr>
          <p:spPr bwMode="auto">
            <a:xfrm>
              <a:off x="1195227" y="3436938"/>
              <a:ext cx="11079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网上购物</a:t>
              </a:r>
            </a:p>
          </p:txBody>
        </p:sp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75" y="1497013"/>
              <a:ext cx="1870075" cy="1912937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组合 15"/>
          <p:cNvGrpSpPr/>
          <p:nvPr/>
        </p:nvGrpSpPr>
        <p:grpSpPr bwMode="auto">
          <a:xfrm>
            <a:off x="6542087" y="1575587"/>
            <a:ext cx="1774825" cy="2267983"/>
            <a:chOff x="6665913" y="1497013"/>
            <a:chExt cx="1774825" cy="2267982"/>
          </a:xfrm>
        </p:grpSpPr>
        <p:sp>
          <p:nvSpPr>
            <p:cNvPr id="17" name="TextBox 7"/>
            <p:cNvSpPr txBox="1">
              <a:spLocks noChangeArrowheads="1"/>
            </p:cNvSpPr>
            <p:nvPr/>
          </p:nvSpPr>
          <p:spPr bwMode="auto">
            <a:xfrm>
              <a:off x="7044177" y="3395663"/>
              <a:ext cx="11079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热门游戏</a:t>
              </a:r>
            </a:p>
          </p:txBody>
        </p:sp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5913" y="1497013"/>
              <a:ext cx="1774825" cy="187166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3949958" y="2179151"/>
            <a:ext cx="6509657" cy="500063"/>
            <a:chOff x="2895600" y="2325688"/>
            <a:chExt cx="6608408" cy="508000"/>
          </a:xfrm>
        </p:grpSpPr>
        <p:sp>
          <p:nvSpPr>
            <p:cNvPr id="7" name="矩形 2"/>
            <p:cNvSpPr>
              <a:spLocks noChangeArrowheads="1"/>
            </p:cNvSpPr>
            <p:nvPr/>
          </p:nvSpPr>
          <p:spPr bwMode="auto">
            <a:xfrm>
              <a:off x="2951163" y="2325688"/>
              <a:ext cx="6552845" cy="5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</a:endParaRPr>
            </a:p>
          </p:txBody>
        </p:sp>
        <p:sp>
          <p:nvSpPr>
            <p:cNvPr id="8" name="矩形 8"/>
            <p:cNvSpPr>
              <a:spLocks noChangeArrowheads="1"/>
            </p:cNvSpPr>
            <p:nvPr/>
          </p:nvSpPr>
          <p:spPr bwMode="auto">
            <a:xfrm>
              <a:off x="2895600" y="2349500"/>
              <a:ext cx="5311775" cy="424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1; 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2; 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3: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3;}</a:t>
              </a:r>
            </a:p>
          </p:txBody>
        </p:sp>
      </p:grp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33" y="703578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 bwMode="auto">
          <a:xfrm>
            <a:off x="3975358" y="2758589"/>
            <a:ext cx="6484257" cy="2641600"/>
            <a:chOff x="2920391" y="3364689"/>
            <a:chExt cx="5230187" cy="2640997"/>
          </a:xfrm>
        </p:grpSpPr>
        <p:sp>
          <p:nvSpPr>
            <p:cNvPr id="12" name="TextBox 7"/>
            <p:cNvSpPr txBox="1">
              <a:spLocks noChangeArrowheads="1"/>
            </p:cNvSpPr>
            <p:nvPr/>
          </p:nvSpPr>
          <p:spPr bwMode="auto">
            <a:xfrm>
              <a:off x="2973742" y="3925689"/>
              <a:ext cx="5176836" cy="1938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在上面的样式规则中，选择器用于指定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作用的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，大括号内是对该对象设置的具体样式。其中，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属性和属性值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“键值对”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的形式出现，用英文“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连接，多个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“键值对”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之间用英文“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进行区分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3" name="圆角矩形标注 1"/>
            <p:cNvSpPr/>
            <p:nvPr/>
          </p:nvSpPr>
          <p:spPr bwMode="auto">
            <a:xfrm rot="10800000">
              <a:off x="2920391" y="3364689"/>
              <a:ext cx="5207958" cy="2640997"/>
            </a:xfrm>
            <a:custGeom>
              <a:avLst/>
              <a:gdLst>
                <a:gd name="connsiteX0" fmla="*/ 0 w 5207609"/>
                <a:gd name="connsiteY0" fmla="*/ 391267 h 2347553"/>
                <a:gd name="connsiteX1" fmla="*/ 391267 w 5207609"/>
                <a:gd name="connsiteY1" fmla="*/ 0 h 2347553"/>
                <a:gd name="connsiteX2" fmla="*/ 867935 w 5207609"/>
                <a:gd name="connsiteY2" fmla="*/ 0 h 2347553"/>
                <a:gd name="connsiteX3" fmla="*/ 867935 w 5207609"/>
                <a:gd name="connsiteY3" fmla="*/ 0 h 2347553"/>
                <a:gd name="connsiteX4" fmla="*/ 2169837 w 5207609"/>
                <a:gd name="connsiteY4" fmla="*/ 0 h 2347553"/>
                <a:gd name="connsiteX5" fmla="*/ 4816342 w 5207609"/>
                <a:gd name="connsiteY5" fmla="*/ 0 h 2347553"/>
                <a:gd name="connsiteX6" fmla="*/ 5207609 w 5207609"/>
                <a:gd name="connsiteY6" fmla="*/ 391267 h 2347553"/>
                <a:gd name="connsiteX7" fmla="*/ 5207609 w 5207609"/>
                <a:gd name="connsiteY7" fmla="*/ 1369406 h 2347553"/>
                <a:gd name="connsiteX8" fmla="*/ 5207609 w 5207609"/>
                <a:gd name="connsiteY8" fmla="*/ 1369406 h 2347553"/>
                <a:gd name="connsiteX9" fmla="*/ 5207609 w 5207609"/>
                <a:gd name="connsiteY9" fmla="*/ 1956294 h 2347553"/>
                <a:gd name="connsiteX10" fmla="*/ 5207609 w 5207609"/>
                <a:gd name="connsiteY10" fmla="*/ 1956286 h 2347553"/>
                <a:gd name="connsiteX11" fmla="*/ 4816342 w 5207609"/>
                <a:gd name="connsiteY11" fmla="*/ 2347553 h 2347553"/>
                <a:gd name="connsiteX12" fmla="*/ 2169837 w 5207609"/>
                <a:gd name="connsiteY12" fmla="*/ 2347553 h 2347553"/>
                <a:gd name="connsiteX13" fmla="*/ 1518903 w 5207609"/>
                <a:gd name="connsiteY13" fmla="*/ 2640997 h 2347553"/>
                <a:gd name="connsiteX14" fmla="*/ 867935 w 5207609"/>
                <a:gd name="connsiteY14" fmla="*/ 2347553 h 2347553"/>
                <a:gd name="connsiteX15" fmla="*/ 391267 w 5207609"/>
                <a:gd name="connsiteY15" fmla="*/ 2347553 h 2347553"/>
                <a:gd name="connsiteX16" fmla="*/ 0 w 5207609"/>
                <a:gd name="connsiteY16" fmla="*/ 1956286 h 2347553"/>
                <a:gd name="connsiteX17" fmla="*/ 0 w 5207609"/>
                <a:gd name="connsiteY17" fmla="*/ 1956294 h 2347553"/>
                <a:gd name="connsiteX18" fmla="*/ 0 w 5207609"/>
                <a:gd name="connsiteY18" fmla="*/ 1369406 h 2347553"/>
                <a:gd name="connsiteX19" fmla="*/ 0 w 5207609"/>
                <a:gd name="connsiteY19" fmla="*/ 1369406 h 2347553"/>
                <a:gd name="connsiteX20" fmla="*/ 0 w 5207609"/>
                <a:gd name="connsiteY20" fmla="*/ 391267 h 2347553"/>
                <a:gd name="connsiteX0-1" fmla="*/ 0 w 5207609"/>
                <a:gd name="connsiteY0-2" fmla="*/ 391267 h 2640997"/>
                <a:gd name="connsiteX1-3" fmla="*/ 391267 w 5207609"/>
                <a:gd name="connsiteY1-4" fmla="*/ 0 h 2640997"/>
                <a:gd name="connsiteX2-5" fmla="*/ 867935 w 5207609"/>
                <a:gd name="connsiteY2-6" fmla="*/ 0 h 2640997"/>
                <a:gd name="connsiteX3-7" fmla="*/ 867935 w 5207609"/>
                <a:gd name="connsiteY3-8" fmla="*/ 0 h 2640997"/>
                <a:gd name="connsiteX4-9" fmla="*/ 2169837 w 5207609"/>
                <a:gd name="connsiteY4-10" fmla="*/ 0 h 2640997"/>
                <a:gd name="connsiteX5-11" fmla="*/ 4816342 w 5207609"/>
                <a:gd name="connsiteY5-12" fmla="*/ 0 h 2640997"/>
                <a:gd name="connsiteX6-13" fmla="*/ 5207609 w 5207609"/>
                <a:gd name="connsiteY6-14" fmla="*/ 391267 h 2640997"/>
                <a:gd name="connsiteX7-15" fmla="*/ 5207609 w 5207609"/>
                <a:gd name="connsiteY7-16" fmla="*/ 1369406 h 2640997"/>
                <a:gd name="connsiteX8-17" fmla="*/ 5207609 w 5207609"/>
                <a:gd name="connsiteY8-18" fmla="*/ 1369406 h 2640997"/>
                <a:gd name="connsiteX9-19" fmla="*/ 5207609 w 5207609"/>
                <a:gd name="connsiteY9-20" fmla="*/ 1956294 h 2640997"/>
                <a:gd name="connsiteX10-21" fmla="*/ 5207609 w 5207609"/>
                <a:gd name="connsiteY10-22" fmla="*/ 1956286 h 2640997"/>
                <a:gd name="connsiteX11-23" fmla="*/ 4816342 w 5207609"/>
                <a:gd name="connsiteY11-24" fmla="*/ 2347553 h 2640997"/>
                <a:gd name="connsiteX12-25" fmla="*/ 2169837 w 5207609"/>
                <a:gd name="connsiteY12-26" fmla="*/ 2347553 h 2640997"/>
                <a:gd name="connsiteX13-27" fmla="*/ 1518903 w 5207609"/>
                <a:gd name="connsiteY13-28" fmla="*/ 2640997 h 2640997"/>
                <a:gd name="connsiteX14-29" fmla="*/ 1680735 w 5207609"/>
                <a:gd name="connsiteY14-30" fmla="*/ 2347553 h 2640997"/>
                <a:gd name="connsiteX15-31" fmla="*/ 391267 w 5207609"/>
                <a:gd name="connsiteY15-32" fmla="*/ 2347553 h 2640997"/>
                <a:gd name="connsiteX16-33" fmla="*/ 0 w 5207609"/>
                <a:gd name="connsiteY16-34" fmla="*/ 1956286 h 2640997"/>
                <a:gd name="connsiteX17-35" fmla="*/ 0 w 5207609"/>
                <a:gd name="connsiteY17-36" fmla="*/ 1956294 h 2640997"/>
                <a:gd name="connsiteX18-37" fmla="*/ 0 w 5207609"/>
                <a:gd name="connsiteY18-38" fmla="*/ 1369406 h 2640997"/>
                <a:gd name="connsiteX19-39" fmla="*/ 0 w 5207609"/>
                <a:gd name="connsiteY19-40" fmla="*/ 1369406 h 2640997"/>
                <a:gd name="connsiteX20-41" fmla="*/ 0 w 5207609"/>
                <a:gd name="connsiteY20-42" fmla="*/ 391267 h 26409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</a:cxnLst>
              <a:rect l="l" t="t" r="r" b="b"/>
              <a:pathLst>
                <a:path w="5207609" h="2640997">
                  <a:moveTo>
                    <a:pt x="0" y="391267"/>
                  </a:moveTo>
                  <a:cubicBezTo>
                    <a:pt x="0" y="175176"/>
                    <a:pt x="175176" y="0"/>
                    <a:pt x="391267" y="0"/>
                  </a:cubicBezTo>
                  <a:lnTo>
                    <a:pt x="867935" y="0"/>
                  </a:lnTo>
                  <a:lnTo>
                    <a:pt x="867935" y="0"/>
                  </a:lnTo>
                  <a:lnTo>
                    <a:pt x="2169837" y="0"/>
                  </a:lnTo>
                  <a:lnTo>
                    <a:pt x="4816342" y="0"/>
                  </a:lnTo>
                  <a:cubicBezTo>
                    <a:pt x="5032433" y="0"/>
                    <a:pt x="5207609" y="175176"/>
                    <a:pt x="5207609" y="391267"/>
                  </a:cubicBezTo>
                  <a:lnTo>
                    <a:pt x="5207609" y="1369406"/>
                  </a:lnTo>
                  <a:lnTo>
                    <a:pt x="5207609" y="1369406"/>
                  </a:lnTo>
                  <a:lnTo>
                    <a:pt x="5207609" y="1956294"/>
                  </a:lnTo>
                  <a:lnTo>
                    <a:pt x="5207609" y="1956286"/>
                  </a:lnTo>
                  <a:cubicBezTo>
                    <a:pt x="5207609" y="2172377"/>
                    <a:pt x="5032433" y="2347553"/>
                    <a:pt x="4816342" y="2347553"/>
                  </a:cubicBezTo>
                  <a:lnTo>
                    <a:pt x="2169837" y="2347553"/>
                  </a:lnTo>
                  <a:lnTo>
                    <a:pt x="1518903" y="2640997"/>
                  </a:lnTo>
                  <a:lnTo>
                    <a:pt x="1680735" y="2347553"/>
                  </a:lnTo>
                  <a:lnTo>
                    <a:pt x="391267" y="2347553"/>
                  </a:lnTo>
                  <a:cubicBezTo>
                    <a:pt x="175176" y="2347553"/>
                    <a:pt x="0" y="2172377"/>
                    <a:pt x="0" y="1956286"/>
                  </a:cubicBezTo>
                  <a:lnTo>
                    <a:pt x="0" y="1956294"/>
                  </a:lnTo>
                  <a:lnTo>
                    <a:pt x="0" y="1369406"/>
                  </a:lnTo>
                  <a:lnTo>
                    <a:pt x="0" y="1369406"/>
                  </a:lnTo>
                  <a:lnTo>
                    <a:pt x="0" y="391267"/>
                  </a:lnTo>
                  <a:close/>
                </a:path>
              </a:pathLst>
            </a:custGeom>
            <a:noFill/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样式规则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1019175" y="1911243"/>
            <a:ext cx="10333038" cy="3265717"/>
            <a:chOff x="783920" y="1733012"/>
            <a:chExt cx="10332798" cy="3266461"/>
          </a:xfrm>
        </p:grpSpPr>
        <p:sp>
          <p:nvSpPr>
            <p:cNvPr id="7" name="矩形 6"/>
            <p:cNvSpPr/>
            <p:nvPr/>
          </p:nvSpPr>
          <p:spPr>
            <a:xfrm>
              <a:off x="783920" y="2321209"/>
              <a:ext cx="10332798" cy="26782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样式中的选择器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严格区分大小写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，而声明不区分大小写，按照书写习惯一般将选择器、声明都采用小写的方式。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多个属性之间必须用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英文状态下的分号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隔开，最后一个属性后的分号可以省略，但是为了便于增加新样式最好保留。</a:t>
              </a: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如果属性的属性值由多个单词组成且中间包含空格，则必须为这个属性值加上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英文状态下的引号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在编写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代码时，为了提高代码的可读性，可使用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/*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注释语句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*/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来进行注释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代码中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空格是不被解析的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，花括号以及分号前后的空格可有可无。因此可以使用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空格键、</a:t>
              </a:r>
              <a:r>
                <a:rPr lang="en-US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Tab</a:t>
              </a:r>
              <a:r>
                <a:rPr lang="zh-CN" altLang="zh-CN" sz="14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键、回车键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等对样式代码进行排版，即所谓的格式化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8" name="矩形 41"/>
            <p:cNvSpPr>
              <a:spLocks noChangeArrowheads="1"/>
            </p:cNvSpPr>
            <p:nvPr/>
          </p:nvSpPr>
          <p:spPr bwMode="auto">
            <a:xfrm>
              <a:off x="4307817" y="1733012"/>
              <a:ext cx="2917718" cy="461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zh-CN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代码结构的特点</a:t>
              </a:r>
              <a:endPara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掌握引入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的四种方式，能够在网页制作中熟练应用。</a:t>
            </a: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样式表的引入</a:t>
              </a:r>
              <a:endParaRPr lang="zh-CN" altLang="en-US" sz="2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352442" y="3080538"/>
            <a:ext cx="812420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内联样式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，是通过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来设置元素的样式，其基本语法格式如下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492403" y="4281654"/>
            <a:ext cx="7850479" cy="105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style="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3;"&gt;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501734" y="2548693"/>
            <a:ext cx="804956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集中写在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头部标签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中，并且用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615149" y="3713647"/>
            <a:ext cx="7737064" cy="24470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&lt;style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选择器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3;}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&lt;/style&gt;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501733" y="2548693"/>
            <a:ext cx="805889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是将所有的样式放在一个或多个以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为扩展名的外部样式表文件中，通过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&lt;link /&gt;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将外部样式表文件链接到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文档中，其基本语法格式如下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564294" y="4196555"/>
            <a:ext cx="7787919" cy="16878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&lt;head&gt;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&lt;link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文件的路径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="stylesheet" /&gt;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&lt;/head&gt;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样式表的引入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行内式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外链式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352934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623035" y="2548693"/>
            <a:ext cx="80029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针对外部样式表文件。对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头部文档应用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内的开头处使用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@import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，即可导入外部样式表文件。其基本语法格式如下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09" y="2378159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750911" y="4174524"/>
            <a:ext cx="7604447" cy="200847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algn="ctr">
            <a:noFill/>
            <a:rou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&lt;style type="text/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@import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@import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/*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在此还可以存放其他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样式*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&lt;/style&gt;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12032" y="847725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03801" y="3481692"/>
            <a:ext cx="39053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四种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基础选择器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的差异，能够在网页制作中熟练应用。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15" name="云形标注 14"/>
          <p:cNvSpPr/>
          <p:nvPr/>
        </p:nvSpPr>
        <p:spPr>
          <a:xfrm>
            <a:off x="1019175" y="1588271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>
          <a:xfrm>
            <a:off x="2447784" y="2727881"/>
            <a:ext cx="4755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什么是选择器？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3" name="同侧圆角矩形 12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pic>
        <p:nvPicPr>
          <p:cNvPr id="9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380" y="773081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 bwMode="auto">
          <a:xfrm>
            <a:off x="4899447" y="2471461"/>
            <a:ext cx="5040312" cy="2725738"/>
            <a:chOff x="3403599" y="2421469"/>
            <a:chExt cx="5040490" cy="2726268"/>
          </a:xfrm>
        </p:grpSpPr>
        <p:sp>
          <p:nvSpPr>
            <p:cNvPr id="12" name="圆角矩形标注 11"/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6" name="矩形 5"/>
            <p:cNvSpPr>
              <a:spLocks noChangeArrowheads="1"/>
            </p:cNvSpPr>
            <p:nvPr/>
          </p:nvSpPr>
          <p:spPr bwMode="auto">
            <a:xfrm>
              <a:off x="3713626" y="2845272"/>
              <a:ext cx="4439098" cy="1884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要想将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应用于特定的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，首先需要找到该目标元素。在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中，执行这一任务的样式规则部分被称为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2" y="3238260"/>
            <a:ext cx="72615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名称作为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标签名称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分类，为页面中某一类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指定统一的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2" y="3238260"/>
            <a:ext cx="739535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（英文点号）进行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，后面紧跟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.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90631" y="3238260"/>
            <a:ext cx="750731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，后面紧跟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名，其基本语法格式如下：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96975" y="4520998"/>
            <a:ext cx="7155238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#id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3" y="1281143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基础选择器</a:t>
              </a:r>
              <a:endParaRPr lang="zh-CN" altLang="en-US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1019175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15148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11121" y="1679512"/>
            <a:ext cx="2545119" cy="41987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07094" y="1679512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565015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56790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56961" y="1679030"/>
            <a:ext cx="1453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268959" y="1679030"/>
            <a:ext cx="1731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034648" y="3238260"/>
            <a:ext cx="74793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通配符选择器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号表示，它是所有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中作用范围最广的，能匹配页面中所有的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。其基本语法格式如下：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4147459" y="4520998"/>
            <a:ext cx="7195423" cy="418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*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2;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3: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3; 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3-2】CSS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文本样式属性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2616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时，我们可以使用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文本样式标签和属性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控制文本内容的显示样式，但是这种方式繁琐且不利于代码的维护。为此，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可以轻松方便的控制内容的显示样式。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文本样式属性包括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文本外观属性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，本节将对这两种属性做详细讲解。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掌握各种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字体样式属性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的设置方式，能够在网页中熟练应用。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63" name="组合 62"/>
          <p:cNvGrpSpPr/>
          <p:nvPr/>
        </p:nvGrpSpPr>
        <p:grpSpPr>
          <a:xfrm>
            <a:off x="1677171" y="1875453"/>
            <a:ext cx="8735791" cy="545854"/>
            <a:chOff x="1677171" y="1875453"/>
            <a:chExt cx="8735791" cy="545854"/>
          </a:xfrm>
        </p:grpSpPr>
        <p:sp>
          <p:nvSpPr>
            <p:cNvPr id="7" name="任意多边形 6"/>
            <p:cNvSpPr/>
            <p:nvPr/>
          </p:nvSpPr>
          <p:spPr>
            <a:xfrm>
              <a:off x="1677171" y="187545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31756" y="193003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9" name="矩形 48"/>
            <p:cNvSpPr/>
            <p:nvPr/>
          </p:nvSpPr>
          <p:spPr>
            <a:xfrm>
              <a:off x="1731756" y="194984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3669957" y="1954988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font-size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用于设置字号。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677171" y="2475893"/>
            <a:ext cx="8735791" cy="545854"/>
            <a:chOff x="1677171" y="2475893"/>
            <a:chExt cx="8735791" cy="545854"/>
          </a:xfrm>
        </p:grpSpPr>
        <p:sp>
          <p:nvSpPr>
            <p:cNvPr id="37" name="任意多边形 36"/>
            <p:cNvSpPr/>
            <p:nvPr/>
          </p:nvSpPr>
          <p:spPr>
            <a:xfrm>
              <a:off x="1677171" y="247589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6666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6666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1731756" y="253047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fillRef>
            <a:effectRef idx="0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矩形 49"/>
            <p:cNvSpPr/>
            <p:nvPr/>
          </p:nvSpPr>
          <p:spPr>
            <a:xfrm>
              <a:off x="1731756" y="256415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7" name="矩形 56"/>
            <p:cNvSpPr/>
            <p:nvPr/>
          </p:nvSpPr>
          <p:spPr>
            <a:xfrm>
              <a:off x="3669957" y="256705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font-family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用于设置字体。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677171" y="3076333"/>
            <a:ext cx="8735791" cy="545854"/>
            <a:chOff x="1677171" y="3076333"/>
            <a:chExt cx="8735791" cy="545854"/>
          </a:xfrm>
        </p:grpSpPr>
        <p:sp>
          <p:nvSpPr>
            <p:cNvPr id="39" name="任意多边形 38"/>
            <p:cNvSpPr/>
            <p:nvPr/>
          </p:nvSpPr>
          <p:spPr>
            <a:xfrm>
              <a:off x="1677171" y="307633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731756" y="313091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fillRef>
            <a:effectRef idx="0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1" name="矩形 50"/>
            <p:cNvSpPr/>
            <p:nvPr/>
          </p:nvSpPr>
          <p:spPr>
            <a:xfrm>
              <a:off x="1731756" y="316459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3669957" y="317579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font-weight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用于定义字体的粗细。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1677171" y="3676774"/>
            <a:ext cx="8735791" cy="545854"/>
            <a:chOff x="1677171" y="3676774"/>
            <a:chExt cx="8735791" cy="545854"/>
          </a:xfrm>
        </p:grpSpPr>
        <p:sp>
          <p:nvSpPr>
            <p:cNvPr id="41" name="任意多边形 40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2" name="矩形 51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font-variant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用于设置变体（字体变化）。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677171" y="4277214"/>
            <a:ext cx="8735791" cy="545854"/>
            <a:chOff x="1677171" y="4277214"/>
            <a:chExt cx="8735791" cy="545854"/>
          </a:xfrm>
        </p:grpSpPr>
        <p:sp>
          <p:nvSpPr>
            <p:cNvPr id="43" name="任意多边形 42"/>
            <p:cNvSpPr/>
            <p:nvPr/>
          </p:nvSpPr>
          <p:spPr>
            <a:xfrm>
              <a:off x="1677171" y="427721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26666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26666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1731756" y="433180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3738"/>
                <a:satOff val="-166"/>
                <a:lumOff val="4114"/>
                <a:alphaOff val="-26666"/>
              </a:schemeClr>
            </a:fillRef>
            <a:effectRef idx="0">
              <a:schemeClr val="accent2">
                <a:tint val="50000"/>
                <a:alpha val="90000"/>
                <a:hueOff val="3738"/>
                <a:satOff val="-166"/>
                <a:lumOff val="4114"/>
                <a:alphaOff val="-26666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3" name="矩形 52"/>
            <p:cNvSpPr/>
            <p:nvPr/>
          </p:nvSpPr>
          <p:spPr>
            <a:xfrm>
              <a:off x="1731756" y="436547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3669957" y="4354509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font-style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用于定义字体风格。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1677171" y="4877655"/>
            <a:ext cx="8735791" cy="545854"/>
            <a:chOff x="1677171" y="4877655"/>
            <a:chExt cx="8735791" cy="545854"/>
          </a:xfrm>
        </p:grpSpPr>
        <p:sp>
          <p:nvSpPr>
            <p:cNvPr id="45" name="任意多边形 44"/>
            <p:cNvSpPr/>
            <p:nvPr/>
          </p:nvSpPr>
          <p:spPr>
            <a:xfrm>
              <a:off x="1677171" y="487765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1731756" y="493224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fillRef>
            <a:effectRef idx="0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4" name="矩形 53"/>
            <p:cNvSpPr/>
            <p:nvPr/>
          </p:nvSpPr>
          <p:spPr>
            <a:xfrm>
              <a:off x="1731756" y="496591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3669957" y="4968813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用于对字体样式进行综合设置。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677171" y="5478095"/>
            <a:ext cx="8735791" cy="545854"/>
            <a:chOff x="1677171" y="5478095"/>
            <a:chExt cx="8735791" cy="545854"/>
          </a:xfrm>
        </p:grpSpPr>
        <p:sp>
          <p:nvSpPr>
            <p:cNvPr id="47" name="任意多边形 46"/>
            <p:cNvSpPr/>
            <p:nvPr/>
          </p:nvSpPr>
          <p:spPr>
            <a:xfrm>
              <a:off x="1677171" y="547809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1731756" y="5532681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fillRef>
            <a:effectRef idx="0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5" name="矩形 54"/>
            <p:cNvSpPr/>
            <p:nvPr/>
          </p:nvSpPr>
          <p:spPr>
            <a:xfrm>
              <a:off x="1731756" y="5566356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669957" y="5569254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@font-face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的新增属性，用于定义服务器字体。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1677171" y="1683138"/>
            <a:ext cx="8735791" cy="545854"/>
            <a:chOff x="1677171" y="1875453"/>
            <a:chExt cx="8735791" cy="545854"/>
          </a:xfrm>
        </p:grpSpPr>
        <p:sp>
          <p:nvSpPr>
            <p:cNvPr id="7" name="任意多边形 6"/>
            <p:cNvSpPr/>
            <p:nvPr/>
          </p:nvSpPr>
          <p:spPr>
            <a:xfrm>
              <a:off x="1677171" y="187545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31756" y="193003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矩形 8"/>
            <p:cNvSpPr/>
            <p:nvPr/>
          </p:nvSpPr>
          <p:spPr>
            <a:xfrm>
              <a:off x="1731756" y="194984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3669957" y="1954988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font-size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用于设置字号。</a:t>
              </a: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77171" y="3545630"/>
          <a:ext cx="8681205" cy="26400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503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7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相对长度单位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相对于当前对象内文本的字体尺寸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px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像素，最常用，推荐使用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绝对长度单位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英寸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厘米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毫米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</a:p>
                  </a:txBody>
                  <a:tcPr marL="68570" marR="68570" marT="0" marB="0" anchor="ctr" anchorCtr="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21185" y="2416382"/>
            <a:ext cx="888508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font-size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用于设置字号，该属性的值可以使用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相对长度单位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绝对长度单位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21185" y="2416382"/>
            <a:ext cx="8885082" cy="499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font-family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。网页中常用的字体有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宋体、微软雅黑、黑体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solidFill>
                  <a:srgbClr val="595959"/>
                </a:solidFill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677171" y="1683138"/>
            <a:ext cx="8735791" cy="545854"/>
            <a:chOff x="1677171" y="2475893"/>
            <a:chExt cx="8735791" cy="545854"/>
          </a:xfrm>
        </p:grpSpPr>
        <p:sp>
          <p:nvSpPr>
            <p:cNvPr id="14" name="任意多边形 13"/>
            <p:cNvSpPr/>
            <p:nvPr/>
          </p:nvSpPr>
          <p:spPr>
            <a:xfrm>
              <a:off x="1677171" y="247589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6666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6666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731756" y="2530478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fillRef>
            <a:effectRef idx="0">
              <a:schemeClr val="accent2">
                <a:tint val="50000"/>
                <a:alpha val="90000"/>
                <a:hueOff val="935"/>
                <a:satOff val="-41"/>
                <a:lumOff val="1029"/>
                <a:alphaOff val="-6666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矩形 15"/>
            <p:cNvSpPr/>
            <p:nvPr/>
          </p:nvSpPr>
          <p:spPr>
            <a:xfrm>
              <a:off x="1731756" y="2564153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669957" y="256705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font-family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用于设置字体。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605548" y="3409636"/>
            <a:ext cx="8838432" cy="1011991"/>
            <a:chOff x="1574530" y="3950812"/>
            <a:chExt cx="8838432" cy="1011991"/>
          </a:xfrm>
        </p:grpSpPr>
        <p:sp>
          <p:nvSpPr>
            <p:cNvPr id="2" name="矩形 1"/>
            <p:cNvSpPr/>
            <p:nvPr/>
          </p:nvSpPr>
          <p:spPr>
            <a:xfrm>
              <a:off x="1574530" y="3950812"/>
              <a:ext cx="8735791" cy="4589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例如，将网页中所有段落文本的字体设置为微软雅黑，可以使用如下</a:t>
              </a:r>
              <a:r>
                <a:rPr lang="en-US" altLang="zh-CN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样式代码：</a:t>
              </a:r>
            </a:p>
          </p:txBody>
        </p:sp>
        <p:sp>
          <p:nvSpPr>
            <p:cNvPr id="18" name="矩形 1"/>
            <p:cNvSpPr>
              <a:spLocks noChangeArrowheads="1"/>
            </p:cNvSpPr>
            <p:nvPr/>
          </p:nvSpPr>
          <p:spPr bwMode="auto">
            <a:xfrm>
              <a:off x="1677171" y="4562934"/>
              <a:ext cx="8735791" cy="399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dirty="0">
                  <a:solidFill>
                    <a:srgbClr val="595959"/>
                  </a:solidFill>
                </a:rPr>
                <a:t>   p{ font-family:"</a:t>
              </a:r>
              <a:r>
                <a:rPr lang="zh-CN" altLang="zh-CN" sz="2000" dirty="0">
                  <a:solidFill>
                    <a:srgbClr val="595959"/>
                  </a:solidFill>
                </a:rPr>
                <a:t>微软雅黑</a:t>
              </a:r>
              <a:r>
                <a:rPr lang="en-US" altLang="zh-CN" sz="2000" dirty="0">
                  <a:solidFill>
                    <a:srgbClr val="595959"/>
                  </a:solidFill>
                </a:rPr>
                <a:t>";}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677171" y="1683138"/>
            <a:ext cx="8735791" cy="545854"/>
            <a:chOff x="1677171" y="3076333"/>
            <a:chExt cx="8735791" cy="545854"/>
          </a:xfrm>
        </p:grpSpPr>
        <p:sp>
          <p:nvSpPr>
            <p:cNvPr id="20" name="任意多边形 19"/>
            <p:cNvSpPr/>
            <p:nvPr/>
          </p:nvSpPr>
          <p:spPr>
            <a:xfrm>
              <a:off x="1677171" y="3076333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731756" y="313091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fillRef>
            <a:effectRef idx="0">
              <a:schemeClr val="accent2">
                <a:tint val="50000"/>
                <a:alpha val="90000"/>
                <a:hueOff val="1869"/>
                <a:satOff val="-83"/>
                <a:lumOff val="2057"/>
                <a:alphaOff val="-1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矩形 21"/>
            <p:cNvSpPr/>
            <p:nvPr/>
          </p:nvSpPr>
          <p:spPr>
            <a:xfrm>
              <a:off x="1731756" y="316459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3669957" y="3175791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font-weight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用于定义字体的粗细。</a:t>
              </a:r>
            </a:p>
          </p:txBody>
        </p:sp>
      </p:grp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677170" y="2597678"/>
          <a:ext cx="8735791" cy="3159309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431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4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9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7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normal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默认值。定义标准的字符。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1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定义粗体字符。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3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bolder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定义更粗的字符。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56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lighter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定义更细的字符。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46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100~900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的整数倍）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定义由细到粗的字符。其中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normal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700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，值越大字体越粗。</a:t>
                      </a:r>
                    </a:p>
                  </a:txBody>
                  <a:tcPr marL="104265" marR="10426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677171" y="1683137"/>
            <a:ext cx="8735791" cy="545854"/>
            <a:chOff x="1677171" y="3676774"/>
            <a:chExt cx="8735791" cy="545854"/>
          </a:xfrm>
        </p:grpSpPr>
        <p:sp>
          <p:nvSpPr>
            <p:cNvPr id="12" name="任意多边形 11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矩形 13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font-variant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用于设置变体（字体变化）。</a:t>
              </a:r>
            </a:p>
          </p:txBody>
        </p:sp>
      </p:grp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font-variant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属性用于设置变体（字体变化），一般用于定义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小型大写字母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，仅对英文字符有效。</a:t>
            </a:r>
          </a:p>
        </p:txBody>
      </p:sp>
      <p:sp>
        <p:nvSpPr>
          <p:cNvPr id="17" name="_s11271"/>
          <p:cNvSpPr>
            <a:spLocks noChangeArrowheads="1"/>
          </p:cNvSpPr>
          <p:nvPr/>
        </p:nvSpPr>
        <p:spPr bwMode="auto">
          <a:xfrm>
            <a:off x="1731756" y="3595592"/>
            <a:ext cx="8644874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标准的字体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18" name="_s11273"/>
          <p:cNvSpPr>
            <a:spLocks noChangeArrowheads="1"/>
          </p:cNvSpPr>
          <p:nvPr/>
        </p:nvSpPr>
        <p:spPr bwMode="auto">
          <a:xfrm>
            <a:off x="1746430" y="4421999"/>
            <a:ext cx="8647869" cy="63519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small-caps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小型大写的字体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，即所有的小写字母均会转换为大写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677171" y="1683137"/>
            <a:ext cx="8735791" cy="545854"/>
            <a:chOff x="1677171" y="3676774"/>
            <a:chExt cx="8735791" cy="545854"/>
          </a:xfrm>
        </p:grpSpPr>
        <p:sp>
          <p:nvSpPr>
            <p:cNvPr id="12" name="任意多边形 11"/>
            <p:cNvSpPr/>
            <p:nvPr/>
          </p:nvSpPr>
          <p:spPr>
            <a:xfrm>
              <a:off x="1677171" y="3676774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731756" y="3731359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fillRef>
            <a:effectRef idx="0">
              <a:schemeClr val="accent2">
                <a:tint val="50000"/>
                <a:alpha val="90000"/>
                <a:hueOff val="2804"/>
                <a:satOff val="-125"/>
                <a:lumOff val="3086"/>
                <a:alphaOff val="-1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矩形 13"/>
            <p:cNvSpPr/>
            <p:nvPr/>
          </p:nvSpPr>
          <p:spPr>
            <a:xfrm>
              <a:off x="1731756" y="3765034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69957" y="3771315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font-style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用于用于定义字体风格。</a:t>
              </a:r>
            </a:p>
          </p:txBody>
        </p:sp>
      </p:grp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用于定义字体风格，如设置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斜体、倾斜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正常字体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" name="_s11271"/>
          <p:cNvSpPr>
            <a:spLocks noChangeArrowheads="1"/>
          </p:cNvSpPr>
          <p:nvPr/>
        </p:nvSpPr>
        <p:spPr bwMode="auto">
          <a:xfrm>
            <a:off x="1731756" y="3241030"/>
            <a:ext cx="8644874" cy="6477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  <p:sp>
        <p:nvSpPr>
          <p:cNvPr id="18" name="_s11273"/>
          <p:cNvSpPr>
            <a:spLocks noChangeArrowheads="1"/>
          </p:cNvSpPr>
          <p:nvPr/>
        </p:nvSpPr>
        <p:spPr bwMode="auto">
          <a:xfrm>
            <a:off x="1746430" y="4067437"/>
            <a:ext cx="8647869" cy="66318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italic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斜体的字体样式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  <p:sp>
        <p:nvSpPr>
          <p:cNvPr id="19" name="_s11273"/>
          <p:cNvSpPr>
            <a:spLocks noChangeArrowheads="1"/>
          </p:cNvSpPr>
          <p:nvPr/>
        </p:nvSpPr>
        <p:spPr bwMode="auto">
          <a:xfrm>
            <a:off x="1746430" y="4910429"/>
            <a:ext cx="8647869" cy="64128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B8BD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oblique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：浏览器会显示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倾斜的字体样式</a:t>
            </a:r>
            <a:r>
              <a:rPr lang="zh-CN" altLang="zh-CN" sz="1600" dirty="0">
                <a:solidFill>
                  <a:srgbClr val="595959"/>
                </a:solidFill>
              </a:rPr>
              <a:t>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font-style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用于对字体样式进行综合设置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677171" y="1681388"/>
            <a:ext cx="8735791" cy="545854"/>
            <a:chOff x="1677171" y="4877655"/>
            <a:chExt cx="8735791" cy="545854"/>
          </a:xfrm>
        </p:grpSpPr>
        <p:sp>
          <p:nvSpPr>
            <p:cNvPr id="21" name="任意多边形 20"/>
            <p:cNvSpPr/>
            <p:nvPr/>
          </p:nvSpPr>
          <p:spPr>
            <a:xfrm>
              <a:off x="1677171" y="487765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3332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731756" y="4932240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fillRef>
            <a:effectRef idx="0">
              <a:schemeClr val="accent2">
                <a:tint val="50000"/>
                <a:alpha val="90000"/>
                <a:hueOff val="4673"/>
                <a:satOff val="-208"/>
                <a:lumOff val="5142"/>
                <a:alphaOff val="-33332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矩形 22"/>
            <p:cNvSpPr/>
            <p:nvPr/>
          </p:nvSpPr>
          <p:spPr>
            <a:xfrm>
              <a:off x="1731756" y="4965915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3669957" y="4968813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font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用于对字体样式进行综合设置。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731756" y="3394487"/>
            <a:ext cx="8791778" cy="961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{font: font-style font-variant font-weight font-size/line-height font-family;}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字体样式属性</a:t>
            </a:r>
            <a:endParaRPr lang="zh-CN" altLang="en-US" sz="2000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621184" y="2416382"/>
            <a:ext cx="897839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的新增属性，用于定义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服务器字体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，开发者可以在用户计算机未安装字体时，使用任何喜欢的字体。</a:t>
            </a:r>
          </a:p>
        </p:txBody>
      </p:sp>
      <p:sp>
        <p:nvSpPr>
          <p:cNvPr id="2" name="矩形 1"/>
          <p:cNvSpPr/>
          <p:nvPr/>
        </p:nvSpPr>
        <p:spPr>
          <a:xfrm>
            <a:off x="1731756" y="3618421"/>
            <a:ext cx="8791778" cy="17054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@font-face{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font-family: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字体名称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字体路径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677171" y="1692469"/>
            <a:ext cx="8735791" cy="545854"/>
            <a:chOff x="1677171" y="5478095"/>
            <a:chExt cx="8735791" cy="545854"/>
          </a:xfrm>
        </p:grpSpPr>
        <p:sp>
          <p:nvSpPr>
            <p:cNvPr id="13" name="任意多边形 12"/>
            <p:cNvSpPr/>
            <p:nvPr/>
          </p:nvSpPr>
          <p:spPr>
            <a:xfrm>
              <a:off x="1677171" y="5478095"/>
              <a:ext cx="8735791" cy="545854"/>
            </a:xfrm>
            <a:custGeom>
              <a:avLst/>
              <a:gdLst>
                <a:gd name="connsiteX0" fmla="*/ 0 w 8735791"/>
                <a:gd name="connsiteY0" fmla="*/ 54585 h 545854"/>
                <a:gd name="connsiteX1" fmla="*/ 54585 w 8735791"/>
                <a:gd name="connsiteY1" fmla="*/ 0 h 545854"/>
                <a:gd name="connsiteX2" fmla="*/ 8681206 w 8735791"/>
                <a:gd name="connsiteY2" fmla="*/ 0 h 545854"/>
                <a:gd name="connsiteX3" fmla="*/ 8735791 w 8735791"/>
                <a:gd name="connsiteY3" fmla="*/ 54585 h 545854"/>
                <a:gd name="connsiteX4" fmla="*/ 8735791 w 8735791"/>
                <a:gd name="connsiteY4" fmla="*/ 491269 h 545854"/>
                <a:gd name="connsiteX5" fmla="*/ 8681206 w 8735791"/>
                <a:gd name="connsiteY5" fmla="*/ 545854 h 545854"/>
                <a:gd name="connsiteX6" fmla="*/ 54585 w 8735791"/>
                <a:gd name="connsiteY6" fmla="*/ 545854 h 545854"/>
                <a:gd name="connsiteX7" fmla="*/ 0 w 8735791"/>
                <a:gd name="connsiteY7" fmla="*/ 491269 h 545854"/>
                <a:gd name="connsiteX8" fmla="*/ 0 w 8735791"/>
                <a:gd name="connsiteY8" fmla="*/ 54585 h 545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35791" h="545854">
                  <a:moveTo>
                    <a:pt x="0" y="54585"/>
                  </a:moveTo>
                  <a:cubicBezTo>
                    <a:pt x="0" y="24439"/>
                    <a:pt x="24439" y="0"/>
                    <a:pt x="54585" y="0"/>
                  </a:cubicBezTo>
                  <a:lnTo>
                    <a:pt x="8681206" y="0"/>
                  </a:lnTo>
                  <a:cubicBezTo>
                    <a:pt x="8711352" y="0"/>
                    <a:pt x="8735791" y="24439"/>
                    <a:pt x="8735791" y="54585"/>
                  </a:cubicBezTo>
                  <a:lnTo>
                    <a:pt x="8735791" y="491269"/>
                  </a:lnTo>
                  <a:cubicBezTo>
                    <a:pt x="8735791" y="521415"/>
                    <a:pt x="8711352" y="545854"/>
                    <a:pt x="8681206" y="545854"/>
                  </a:cubicBezTo>
                  <a:lnTo>
                    <a:pt x="54585" y="545854"/>
                  </a:lnTo>
                  <a:cubicBezTo>
                    <a:pt x="24439" y="545854"/>
                    <a:pt x="0" y="521415"/>
                    <a:pt x="0" y="491269"/>
                  </a:cubicBezTo>
                  <a:lnTo>
                    <a:pt x="0" y="545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39999"/>
              </a:schemeClr>
            </a:effectRef>
            <a:fontRef idx="minor">
              <a:schemeClr val="lt1"/>
            </a:fontRef>
          </p:style>
          <p:txBody>
            <a:bodyPr spcFirstLastPara="0" vert="horz" wrap="square" lIns="1900803" tIns="99060" rIns="99061" bIns="99060" numCol="1" spcCol="1270" anchor="ctr" anchorCtr="0">
              <a:noAutofit/>
            </a:bodyPr>
            <a:lstStyle/>
            <a:p>
              <a:pPr lvl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 dirty="0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731756" y="5532681"/>
              <a:ext cx="1747158" cy="43668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fillRef>
            <a:effectRef idx="0">
              <a:schemeClr val="accent2">
                <a:tint val="50000"/>
                <a:alpha val="90000"/>
                <a:hueOff val="5608"/>
                <a:satOff val="-250"/>
                <a:lumOff val="6171"/>
                <a:alphaOff val="-39999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矩形 14"/>
            <p:cNvSpPr/>
            <p:nvPr/>
          </p:nvSpPr>
          <p:spPr>
            <a:xfrm>
              <a:off x="1731756" y="5566356"/>
              <a:ext cx="174715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zh-CN" altLang="en-US" sz="18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669957" y="5569254"/>
              <a:ext cx="65750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@font-face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的新增属性，用于定义服务器字体。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掌握各种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文本外观属性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的设置方式，能够在网页中熟练应用。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1019175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615148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11121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07094" y="2528598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9175" y="2528116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15148" y="2528116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11119" y="2528116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7093" y="2528116"/>
            <a:ext cx="2545120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19175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615148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6211121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807094" y="313527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019175" y="313479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615148" y="3134797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11119" y="3134797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807093" y="3134797"/>
            <a:ext cx="2545120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615148" y="373262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211121" y="3732629"/>
            <a:ext cx="2545119" cy="419878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615148" y="3732147"/>
            <a:ext cx="2545117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211119" y="3732147"/>
            <a:ext cx="2545121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8637587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属性用于定义文本的颜色，其取值方式有如下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种：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预定义的颜色值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green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blue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latinLnBrk="1">
              <a:lnSpc>
                <a:spcPct val="150000"/>
              </a:lnSpc>
              <a:defRPr/>
            </a:pPr>
            <a:endParaRPr lang="zh-CN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#FF0000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#FF6600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#29D794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等。实际工作中，十六进制是最常用的定义颜色的方式。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latinLnBrk="1">
              <a:lnSpc>
                <a:spcPct val="150000"/>
              </a:lnSpc>
              <a:defRPr/>
            </a:pPr>
            <a:endParaRPr lang="zh-CN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latinLnBrk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，如红色可以表示为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(255,0,0)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(100%,0%,0%)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8419" y="5324643"/>
            <a:ext cx="102583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: 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如果使用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代码的百分比颜色值，取值为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时也不能省略百分号，必须写为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0%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pic>
        <p:nvPicPr>
          <p:cNvPr id="13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15" name="矩形 14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十六进制颜色值的缩写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原创设计师QQ598969553          _4"/>
          <p:cNvSpPr/>
          <p:nvPr/>
        </p:nvSpPr>
        <p:spPr>
          <a:xfrm>
            <a:off x="4657571" y="3287097"/>
            <a:ext cx="575539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十六进制颜色值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是由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开头的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位十六进制数值组成，每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为一个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颜色分量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，分别表示颜色的红、绿、蓝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个分量。当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个分量的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位十六进制数都相同时，可使用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缩写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。例如，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#FF6600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#F60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#FF0000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#FFFFFF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可缩写为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#FFF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属性用于定义字间距，所谓字间距就是字符与字符之间的空白。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46423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latinLnBrk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，其属性值可为不同单位的数值，允许使用负值，默认为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属性用于定义英文单词之间的间距，对中文字符无效。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42527"/>
            <a:ext cx="10177560" cy="79008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用于定义英文单词之间的间距，和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letter-spacing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样，其属性值可为不同单位的数值，允许使用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负值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009E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word-spacing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961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属性用于设置行间距，所谓行间距就是行与行之间的距离，即字符的垂直间距，一般称为行高。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988336"/>
            <a:ext cx="10177560" cy="420756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常用的属性值单位有三种，分别为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相对值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，实际工作中使用最多的是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009ED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line-height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属性用于控制英文字符的大小写。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：不转换（默认值）。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capitalize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首字母大写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uppercase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：全部字符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转换为大写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lowercase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：全部字符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转换为小写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text-transform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属性用于设置文本的下画线，上画线，删除线等装饰效果。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：没有装饰（正常文本默认值）。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underline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下画线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overline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上画线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line-through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删除线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text-decoration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属性用于设置文本内容水平对齐，相当于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对齐属性。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423431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其可用属性值如下：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left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（默认值）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right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居中对齐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text-align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6100" y="5060972"/>
            <a:ext cx="101806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endParaRPr lang="en-US" altLang="zh-CN" sz="16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1.text-align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属性仅适用于块级元素，对行内元素无效，关于块元素和行内元素，会在后面章节具体介绍。</a:t>
            </a:r>
            <a:endParaRPr lang="en-US" altLang="zh-CN" sz="16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如果需要对图像设置水平对齐，可以为图像添加一个父标签如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&lt;p&gt;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&lt;div&gt;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，然后对父标签应用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text-align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属性，即可实现图像的水平对齐。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属性用于设置首行文本的缩进。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79008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其属性值可为不同单位的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数值、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字符宽度的倍数、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或相对于浏览器窗口宽度的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，允许使用负值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建议使用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作为设置单位。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text-indent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41452" y="4584238"/>
            <a:ext cx="10180636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 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text-indent</a:t>
            </a: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属性仅适用于块级元素，对行内元素无效。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属性可设置空白符的处理方式。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563393"/>
            <a:ext cx="10177560" cy="194155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其属性值如下：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normal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：常规（默认值），文本中的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空格、空行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无效，满行（到达区域边界）后自动换行。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：预格式化，按文档的书写格式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保留空格、空行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原样显示。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nowrap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：空格空行无效，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强制文本不能换行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，除非遇到换行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。内容超出元素的边界也不换行，若超出浏览器页面则会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自动增加滚动条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white-space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38419" y="2833012"/>
            <a:ext cx="10258316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属性可以为页面中的文本添加阴影效果。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019175" y="3936615"/>
            <a:ext cx="10177560" cy="157222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CE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170" tIns="46990" rIns="90170" bIns="46990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h-shadow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水平阴影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v-shadow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垂直阴影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的距离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blur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模糊半径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color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用于设置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阴影颜色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19175" y="2238867"/>
            <a:ext cx="2545119" cy="400110"/>
          </a:xfrm>
          <a:prstGeom prst="rect">
            <a:avLst/>
          </a:prstGeom>
          <a:solidFill>
            <a:srgbClr val="1369B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text-shadow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9175" y="3442092"/>
            <a:ext cx="101775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选择器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text-shadow:h-shadow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v-shadow blur color;}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8419" y="5554619"/>
            <a:ext cx="101806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 ：阴影的水平或垂直距离参数可以设为负值，但阴影的模糊半径参数只能设置为正值，并且数值越大阴影向外模糊的范围也就越大。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7" name="同侧圆角矩形 6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文本外观属性</a:t>
              </a:r>
              <a:endParaRPr lang="zh-CN" altLang="en-US" sz="20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289202" y="1782934"/>
            <a:ext cx="6200775" cy="670560"/>
            <a:chOff x="3863975" y="1743007"/>
            <a:chExt cx="4203285" cy="670560"/>
          </a:xfrm>
        </p:grpSpPr>
        <p:sp>
          <p:nvSpPr>
            <p:cNvPr id="27" name="矩形 26"/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设置多个阴影叠加效果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原创设计师QQ598969553          _3"/>
          <p:cNvSpPr/>
          <p:nvPr/>
        </p:nvSpPr>
        <p:spPr>
          <a:xfrm>
            <a:off x="1636520" y="2809783"/>
            <a:ext cx="8853458" cy="847817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原创设计师QQ598969553          _4"/>
          <p:cNvSpPr/>
          <p:nvPr/>
        </p:nvSpPr>
        <p:spPr>
          <a:xfrm>
            <a:off x="1791477" y="2988517"/>
            <a:ext cx="857483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设置阴影叠加的方法非常简单，我们只需设置多组阴影参数，中间用逗号隔开即可。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589864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9011" y="4031684"/>
            <a:ext cx="8910966" cy="1895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P{ 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font-size:32px;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text-shadow:10px 10px 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10px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red,20px 20px </a:t>
            </a:r>
            <a:r>
              <a:rPr lang="en-US" altLang="zh-CN" sz="1600" kern="1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20px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green; 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/*</a:t>
            </a:r>
            <a:r>
              <a:rPr lang="zh-CN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红色和绿色的投影叠加</a:t>
            </a: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*/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25101" y="3481692"/>
            <a:ext cx="3923977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的方法，能够为网页定义背景颜色。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10" name="同侧圆角矩形 9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定义背景色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定义背景色</a:t>
            </a:r>
            <a:endParaRPr lang="zh-CN" altLang="en-US" sz="2000" dirty="0"/>
          </a:p>
        </p:txBody>
      </p:sp>
      <p:sp>
        <p:nvSpPr>
          <p:cNvPr id="6" name="_s13317"/>
          <p:cNvSpPr>
            <a:spLocks noChangeArrowheads="1"/>
          </p:cNvSpPr>
          <p:nvPr/>
        </p:nvSpPr>
        <p:spPr bwMode="auto">
          <a:xfrm>
            <a:off x="5837026" y="2227345"/>
            <a:ext cx="5004026" cy="512762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EEE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background-color:背景颜色属性</a:t>
            </a:r>
          </a:p>
        </p:txBody>
      </p:sp>
      <p:grpSp>
        <p:nvGrpSpPr>
          <p:cNvPr id="7" name="Organization Chart 13"/>
          <p:cNvGrpSpPr>
            <a:grpSpLocks noRot="1"/>
          </p:cNvGrpSpPr>
          <p:nvPr/>
        </p:nvGrpSpPr>
        <p:grpSpPr bwMode="auto">
          <a:xfrm>
            <a:off x="1028699" y="2483726"/>
            <a:ext cx="4808327" cy="2335212"/>
            <a:chOff x="1152" y="276"/>
            <a:chExt cx="1281" cy="1385"/>
          </a:xfrm>
        </p:grpSpPr>
        <p:sp>
          <p:nvSpPr>
            <p:cNvPr id="8" name="_s14343"/>
            <p:cNvSpPr>
              <a:spLocks noChangeArrowheads="1"/>
            </p:cNvSpPr>
            <p:nvPr/>
          </p:nvSpPr>
          <p:spPr bwMode="auto">
            <a:xfrm>
              <a:off x="1152" y="509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ACE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，例：red、yellow</a:t>
              </a:r>
            </a:p>
          </p:txBody>
        </p:sp>
        <p:cxnSp>
          <p:nvCxnSpPr>
            <p:cNvPr id="9" name="_s14344"/>
            <p:cNvCxnSpPr>
              <a:cxnSpLocks noChangeShapeType="1"/>
              <a:stCxn id="8" idx="3"/>
            </p:cNvCxnSpPr>
            <p:nvPr/>
          </p:nvCxnSpPr>
          <p:spPr bwMode="auto">
            <a:xfrm flipV="1">
              <a:off x="2170" y="276"/>
              <a:ext cx="263" cy="377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0" name="_s14345"/>
            <p:cNvSpPr>
              <a:spLocks noChangeArrowheads="1"/>
            </p:cNvSpPr>
            <p:nvPr/>
          </p:nvSpPr>
          <p:spPr bwMode="auto">
            <a:xfrm>
              <a:off x="1152" y="941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B8BD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#十六进制色值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，例：#ccc</a:t>
              </a:r>
            </a:p>
          </p:txBody>
        </p:sp>
        <p:cxnSp>
          <p:nvCxnSpPr>
            <p:cNvPr id="11" name="_s14346"/>
            <p:cNvCxnSpPr>
              <a:cxnSpLocks noChangeShapeType="1"/>
              <a:stCxn id="10" idx="3"/>
            </p:cNvCxnSpPr>
            <p:nvPr/>
          </p:nvCxnSpPr>
          <p:spPr bwMode="auto">
            <a:xfrm flipV="1">
              <a:off x="2170" y="276"/>
              <a:ext cx="263" cy="809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2" name="_s14347"/>
            <p:cNvSpPr>
              <a:spLocks noChangeArrowheads="1"/>
            </p:cNvSpPr>
            <p:nvPr/>
          </p:nvSpPr>
          <p:spPr bwMode="auto">
            <a:xfrm>
              <a:off x="1152" y="1373"/>
              <a:ext cx="101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B8BD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rgb(r,g,b)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，例：rgb(30,0,0)</a:t>
              </a:r>
            </a:p>
          </p:txBody>
        </p:sp>
        <p:cxnSp>
          <p:nvCxnSpPr>
            <p:cNvPr id="13" name="_s14348"/>
            <p:cNvCxnSpPr>
              <a:cxnSpLocks noChangeShapeType="1"/>
              <a:stCxn id="12" idx="3"/>
            </p:cNvCxnSpPr>
            <p:nvPr/>
          </p:nvCxnSpPr>
          <p:spPr bwMode="auto">
            <a:xfrm flipV="1">
              <a:off x="2170" y="276"/>
              <a:ext cx="263" cy="1241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pic>
        <p:nvPicPr>
          <p:cNvPr id="7168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026" y="3165743"/>
            <a:ext cx="5004026" cy="1908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4899</Words>
  <Application>Microsoft Office PowerPoint</Application>
  <PresentationFormat>自定义</PresentationFormat>
  <Paragraphs>407</Paragraphs>
  <Slides>52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6" baseType="lpstr">
      <vt:lpstr>Source Han Sans K Bold</vt:lpstr>
      <vt:lpstr>思源黑体 CN Medium</vt:lpstr>
      <vt:lpstr>思源黑体 CN Regular</vt:lpstr>
      <vt:lpstr>宋体</vt:lpstr>
      <vt:lpstr>微软雅黑</vt:lpstr>
      <vt:lpstr>字魂105号-简雅黑</vt:lpstr>
      <vt:lpstr>字魂58号-创中黑</vt:lpstr>
      <vt:lpstr>Arial</vt:lpstr>
      <vt:lpstr>Calibri</vt:lpstr>
      <vt:lpstr>Times New Roman</vt:lpstr>
      <vt:lpstr>Wingdings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Administrator</cp:lastModifiedBy>
  <cp:revision>334</cp:revision>
  <dcterms:created xsi:type="dcterms:W3CDTF">2020-11-11T09:29:00Z</dcterms:created>
  <dcterms:modified xsi:type="dcterms:W3CDTF">2025-10-15T12:39:41Z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