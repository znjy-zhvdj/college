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tags/tag2.xml" ContentType="application/vnd.openxmlformats-officedocument.presentationml.tags+xml"/>
  <Override PartName="/ppt/notesSlides/notesSlide64.xml" ContentType="application/vnd.openxmlformats-officedocument.presentationml.notesSlide+xml"/>
  <Override PartName="/ppt/tags/tag3.xml" ContentType="application/vnd.openxmlformats-officedocument.presentationml.tags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69"/>
  </p:notesMasterIdLst>
  <p:handoutMasterIdLst>
    <p:handoutMasterId r:id="rId70"/>
  </p:handoutMasterIdLst>
  <p:sldIdLst>
    <p:sldId id="325" r:id="rId3"/>
    <p:sldId id="264" r:id="rId4"/>
    <p:sldId id="328" r:id="rId5"/>
    <p:sldId id="327" r:id="rId6"/>
    <p:sldId id="309" r:id="rId7"/>
    <p:sldId id="259" r:id="rId8"/>
    <p:sldId id="348" r:id="rId9"/>
    <p:sldId id="358" r:id="rId10"/>
    <p:sldId id="349" r:id="rId11"/>
    <p:sldId id="351" r:id="rId12"/>
    <p:sldId id="352" r:id="rId13"/>
    <p:sldId id="354" r:id="rId14"/>
    <p:sldId id="355" r:id="rId15"/>
    <p:sldId id="359" r:id="rId16"/>
    <p:sldId id="356" r:id="rId17"/>
    <p:sldId id="357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82" r:id="rId35"/>
    <p:sldId id="381" r:id="rId36"/>
    <p:sldId id="383" r:id="rId37"/>
    <p:sldId id="385" r:id="rId38"/>
    <p:sldId id="386" r:id="rId39"/>
    <p:sldId id="384" r:id="rId40"/>
    <p:sldId id="387" r:id="rId41"/>
    <p:sldId id="388" r:id="rId42"/>
    <p:sldId id="389" r:id="rId43"/>
    <p:sldId id="390" r:id="rId44"/>
    <p:sldId id="391" r:id="rId45"/>
    <p:sldId id="392" r:id="rId46"/>
    <p:sldId id="394" r:id="rId47"/>
    <p:sldId id="395" r:id="rId48"/>
    <p:sldId id="396" r:id="rId49"/>
    <p:sldId id="397" r:id="rId50"/>
    <p:sldId id="398" r:id="rId51"/>
    <p:sldId id="399" r:id="rId52"/>
    <p:sldId id="400" r:id="rId53"/>
    <p:sldId id="401" r:id="rId54"/>
    <p:sldId id="402" r:id="rId55"/>
    <p:sldId id="403" r:id="rId56"/>
    <p:sldId id="404" r:id="rId57"/>
    <p:sldId id="405" r:id="rId58"/>
    <p:sldId id="406" r:id="rId59"/>
    <p:sldId id="407" r:id="rId60"/>
    <p:sldId id="408" r:id="rId61"/>
    <p:sldId id="409" r:id="rId62"/>
    <p:sldId id="410" r:id="rId63"/>
    <p:sldId id="411" r:id="rId64"/>
    <p:sldId id="412" r:id="rId65"/>
    <p:sldId id="413" r:id="rId66"/>
    <p:sldId id="414" r:id="rId67"/>
    <p:sldId id="338" r:id="rId68"/>
  </p:sldIdLst>
  <p:sldSz cx="12190413" cy="6859588"/>
  <p:notesSz cx="6858000" cy="9144000"/>
  <p:custDataLst>
    <p:tags r:id="rId71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1" userDrawn="1">
          <p15:clr>
            <a:srgbClr val="A4A3A4"/>
          </p15:clr>
        </p15:guide>
        <p15:guide id="3" pos="7151" userDrawn="1">
          <p15:clr>
            <a:srgbClr val="A4A3A4"/>
          </p15:clr>
        </p15:guide>
        <p15:guide id="4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3" clrIdx="0">
    <p:extLst>
      <p:ext uri="{19B8F6BF-5375-455C-9EA6-DF929625EA0E}">
        <p15:presenceInfo xmlns:p15="http://schemas.microsoft.com/office/powerpoint/2012/main" userId="Windows 用户" providerId="None"/>
      </p:ext>
    </p:extLst>
  </p:cmAuthor>
  <p:cmAuthor id="2" name="Lv0593" initials="L" lastIdx="8" clrIdx="1">
    <p:extLst>
      <p:ext uri="{19B8F6BF-5375-455C-9EA6-DF929625EA0E}">
        <p15:presenceInfo xmlns:p15="http://schemas.microsoft.com/office/powerpoint/2012/main" userId="S::lv0593@office365.fun::28f7faf5-628a-4230-95b5-5fb535570f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3" autoAdjust="0"/>
    <p:restoredTop sz="95046" autoAdjust="0"/>
  </p:normalViewPr>
  <p:slideViewPr>
    <p:cSldViewPr snapToGrid="0">
      <p:cViewPr varScale="1">
        <p:scale>
          <a:sx n="86" d="100"/>
          <a:sy n="86" d="100"/>
        </p:scale>
        <p:origin x="600" y="78"/>
      </p:cViewPr>
      <p:guideLst>
        <p:guide orient="horz" pos="1231"/>
        <p:guide pos="7151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handoutMaster" Target="handoutMasters/handout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72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3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2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85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32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282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098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757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553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505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050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540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169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135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562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561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713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851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307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962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0949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83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0802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698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427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6784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020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402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400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2037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7482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1932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0156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8140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6890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7821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3739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8445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1242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4714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8905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4696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1762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3627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761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9104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028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682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688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4310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0668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26132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50423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5610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2247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0048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39653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66797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3292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05658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92872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2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54.png"/><Relationship Id="rId2" Type="http://schemas.openxmlformats.org/officeDocument/2006/relationships/tags" Target="../tags/tag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09714"/>
            <a:ext cx="7706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项目</a:t>
            </a:r>
            <a:r>
              <a:rPr lang="en-US" altLang="zh-CN" sz="48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1  </a:t>
            </a:r>
            <a:r>
              <a:rPr lang="zh-CN" altLang="en-US" sz="48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网页制作基础知识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205658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标准，对网页的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结构、表现、行为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有一个基本的认识。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075940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的发展历史。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566814" y="3944106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Dreamweaver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工具的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基本操作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4814390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Dreamweaver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工具的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初始化设置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982638" y="2781722"/>
            <a:ext cx="1022513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伴随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的发展，市场对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人员的需求也越来越大。然而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究竟是什么？许多刚刚接触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的初学者也不是很清楚。因此在学习网页制作之前，首先要了解一些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网页制作的基础知识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。本章将从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网页制作入门技术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工具的使用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三个方面详细讲解网页制作的基础知识。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731893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652291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582869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709714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1-1】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网页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635465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1-2】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网页制作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入门技术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561216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1-3】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Dreamweaver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工具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的使用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网页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，其实大家并不陌生。我们上网时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浏览新闻、查询信息、翻看图片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等都是在使用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之前，首先要对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有一个基本的认识。本节将对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网页的构成、网页的相关名词、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进行详细讲解，带领读者认识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62473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95781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143691" y="3171673"/>
            <a:ext cx="441735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查看网页源代码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的方法，能够独立完成网页的源码的查看和分析。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动态网页和静态网页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的差别，能够说出静态网页和动态网页的优劣势。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385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1775980" y="2685338"/>
            <a:ext cx="53142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网页是由什么构成的？</a:t>
            </a:r>
          </a:p>
        </p:txBody>
      </p:sp>
    </p:spTree>
    <p:extLst>
      <p:ext uri="{BB962C8B-B14F-4D97-AF65-F5344CB8AC3E}">
        <p14:creationId xmlns:p14="http://schemas.microsoft.com/office/powerpoint/2010/main" val="359667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907204" y="1676453"/>
            <a:ext cx="10506304" cy="1187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打开谷歌浏览器，输入一个网站地址，单击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键，此时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中显示的页面一般为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网站的首页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。单击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快捷键，查看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网页源码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2880513"/>
            <a:ext cx="5079366" cy="253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953" y="3051110"/>
            <a:ext cx="5079367" cy="2333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671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091" y="2280704"/>
            <a:ext cx="4900741" cy="244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79" y="2280704"/>
            <a:ext cx="5237992" cy="244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7"/>
          <p:cNvSpPr txBox="1">
            <a:spLocks noChangeArrowheads="1"/>
          </p:cNvSpPr>
          <p:nvPr/>
        </p:nvSpPr>
        <p:spPr bwMode="auto">
          <a:xfrm>
            <a:off x="1815476" y="4736480"/>
            <a:ext cx="2236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特殊的符号和文本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7"/>
          <p:cNvSpPr txBox="1">
            <a:spLocks noChangeArrowheads="1"/>
          </p:cNvSpPr>
          <p:nvPr/>
        </p:nvSpPr>
        <p:spPr bwMode="auto">
          <a:xfrm>
            <a:off x="8074873" y="4710222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图文并茂的页面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485764" y="4205818"/>
            <a:ext cx="1702637" cy="1641082"/>
            <a:chOff x="5134792" y="3069771"/>
            <a:chExt cx="1702637" cy="164108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4556" y="3069771"/>
              <a:ext cx="1390065" cy="1240972"/>
            </a:xfrm>
            <a:prstGeom prst="rect">
              <a:avLst/>
            </a:prstGeom>
          </p:spPr>
        </p:pic>
        <p:sp>
          <p:nvSpPr>
            <p:cNvPr id="24" name="TextBox 14"/>
            <p:cNvSpPr txBox="1">
              <a:spLocks noChangeArrowheads="1"/>
            </p:cNvSpPr>
            <p:nvPr/>
          </p:nvSpPr>
          <p:spPr bwMode="auto">
            <a:xfrm>
              <a:off x="5226692" y="4310743"/>
              <a:ext cx="14670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浏览器渲染</a:t>
              </a:r>
            </a:p>
          </p:txBody>
        </p:sp>
        <p:sp>
          <p:nvSpPr>
            <p:cNvPr id="12" name="右箭头 11"/>
            <p:cNvSpPr>
              <a:spLocks noChangeArrowheads="1"/>
            </p:cNvSpPr>
            <p:nvPr/>
          </p:nvSpPr>
          <p:spPr bwMode="auto">
            <a:xfrm>
              <a:off x="6550091" y="3503052"/>
              <a:ext cx="287338" cy="282575"/>
            </a:xfrm>
            <a:prstGeom prst="rightArrow">
              <a:avLst>
                <a:gd name="adj1" fmla="val 50000"/>
                <a:gd name="adj2" fmla="val 50367"/>
              </a:avLst>
            </a:prstGeom>
            <a:solidFill>
              <a:srgbClr val="1369B2"/>
            </a:solidFill>
            <a:ln w="28575" algn="ctr">
              <a:noFill/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右箭头 12"/>
            <p:cNvSpPr>
              <a:spLocks noChangeArrowheads="1"/>
            </p:cNvSpPr>
            <p:nvPr/>
          </p:nvSpPr>
          <p:spPr bwMode="auto">
            <a:xfrm>
              <a:off x="5134792" y="3503052"/>
              <a:ext cx="287338" cy="282575"/>
            </a:xfrm>
            <a:prstGeom prst="rightArrow">
              <a:avLst>
                <a:gd name="adj1" fmla="val 50000"/>
                <a:gd name="adj2" fmla="val 50367"/>
              </a:avLst>
            </a:prstGeom>
            <a:solidFill>
              <a:srgbClr val="1369B2"/>
            </a:solidFill>
            <a:ln w="28575" algn="ctr">
              <a:noFill/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037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5904366" y="2612540"/>
            <a:ext cx="4443412" cy="3314700"/>
            <a:chOff x="4401379" y="2257398"/>
            <a:chExt cx="4444445" cy="3314286"/>
          </a:xfrm>
        </p:grpSpPr>
        <p:pic>
          <p:nvPicPr>
            <p:cNvPr id="15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1379" y="2257398"/>
              <a:ext cx="4444445" cy="3314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5"/>
            <p:cNvSpPr txBox="1">
              <a:spLocks noChangeArrowheads="1"/>
            </p:cNvSpPr>
            <p:nvPr/>
          </p:nvSpPr>
          <p:spPr bwMode="auto">
            <a:xfrm>
              <a:off x="4660132" y="3412645"/>
              <a:ext cx="1723950" cy="461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通过超链接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6540283" y="2939921"/>
              <a:ext cx="2037737" cy="1200329"/>
            </a:xfrm>
            <a:prstGeom prst="rect">
              <a:avLst/>
            </a:prstGeom>
            <a:noFill/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zh-CN" altLang="en-US" sz="7200" b="1" dirty="0">
                  <a:ln w="12700">
                    <a:solidFill>
                      <a:srgbClr val="FFC000"/>
                    </a:solidFill>
                    <a:prstDash val="solid"/>
                  </a:ln>
                  <a:solidFill>
                    <a:srgbClr val="FFFF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</a:t>
              </a: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992766" y="1982788"/>
            <a:ext cx="3954462" cy="3550752"/>
            <a:chOff x="489977" y="1660985"/>
            <a:chExt cx="3955763" cy="3550158"/>
          </a:xfrm>
        </p:grpSpPr>
        <p:sp>
          <p:nvSpPr>
            <p:cNvPr id="19" name="TextBox 17"/>
            <p:cNvSpPr txBox="1">
              <a:spLocks noChangeArrowheads="1"/>
            </p:cNvSpPr>
            <p:nvPr/>
          </p:nvSpPr>
          <p:spPr bwMode="auto">
            <a:xfrm>
              <a:off x="974566" y="1660985"/>
              <a:ext cx="2493810" cy="400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多个页面集合在一起</a:t>
              </a:r>
            </a:p>
          </p:txBody>
        </p:sp>
        <p:pic>
          <p:nvPicPr>
            <p:cNvPr id="20" name="Picture 4" descr="C:\Users\Administrator\AppData\Roaming\Tencent\Users\925603174\QQ\WinTemp\RichOle\DD]]GH}_8O5$)JHCL}5NFW5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89977" y="2147780"/>
              <a:ext cx="3288794" cy="133803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C:\Users\Administrator\AppData\Roaming\Tencent\Users\925603174\QQ\WinTemp\RichOle\BY(QO8%USI0DWQZYHZ088DL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6293" y="2816006"/>
              <a:ext cx="3398368" cy="176976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" descr="C:\Users\Administrator\AppData\Roaming\Tencent\Users\925603174\QQ\WinTemp\RichOle\A_$Z$H196[%5G5D~9F4RE2J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45785" y="3600099"/>
              <a:ext cx="3399955" cy="161104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907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网页的构成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7137925" y="1913231"/>
            <a:ext cx="3409950" cy="3883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269091" y="1913231"/>
            <a:ext cx="3408363" cy="3883025"/>
            <a:chOff x="1866252" y="1913231"/>
            <a:chExt cx="3408363" cy="3883025"/>
          </a:xfrm>
        </p:grpSpPr>
        <p:sp>
          <p:nvSpPr>
            <p:cNvPr id="22" name="圆角矩形 21"/>
            <p:cNvSpPr/>
            <p:nvPr/>
          </p:nvSpPr>
          <p:spPr bwMode="auto">
            <a:xfrm>
              <a:off x="1866252" y="1913231"/>
              <a:ext cx="3408363" cy="38830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29"/>
            <p:cNvSpPr>
              <a:spLocks noChangeArrowheads="1"/>
            </p:cNvSpPr>
            <p:nvPr/>
          </p:nvSpPr>
          <p:spPr bwMode="auto">
            <a:xfrm>
              <a:off x="2050402" y="2937169"/>
              <a:ext cx="2988130" cy="230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857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用户无论何时何地访问，网页都会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显示固定的信息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，除非网页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源代码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被重新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修改上传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 eaLnBrk="1" latin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静态网页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更新不方便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访问速度快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2810815" y="2316456"/>
              <a:ext cx="1519237" cy="4619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spc="200" dirty="0">
                  <a:solidFill>
                    <a:srgbClr val="1369B2"/>
                  </a:solidFill>
                  <a:latin typeface="微软雅黑" pitchFamily="34" charset="-122"/>
                  <a:ea typeface="微软雅黑" pitchFamily="34" charset="-122"/>
                </a:rPr>
                <a:t>静态网页</a:t>
              </a:r>
              <a:endParaRPr lang="en-US" altLang="zh-CN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7" name="矩形 26"/>
          <p:cNvSpPr/>
          <p:nvPr/>
        </p:nvSpPr>
        <p:spPr bwMode="auto">
          <a:xfrm>
            <a:off x="8098942" y="2316456"/>
            <a:ext cx="15176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动态网页</a:t>
            </a:r>
            <a:endParaRPr lang="en-US" altLang="zh-CN" sz="2400" b="1" spc="200" dirty="0">
              <a:solidFill>
                <a:srgbClr val="1369B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29"/>
          <p:cNvSpPr>
            <a:spLocks noChangeArrowheads="1"/>
          </p:cNvSpPr>
          <p:nvPr/>
        </p:nvSpPr>
        <p:spPr bwMode="auto">
          <a:xfrm>
            <a:off x="7353825" y="2937169"/>
            <a:ext cx="297815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latin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显示的内容则会随着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用户操作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的不同而变化。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latinLnBrk="1" hangingPunct="1">
              <a:lnSpc>
                <a:spcPct val="150000"/>
              </a:lnSpc>
            </a:pPr>
            <a:endParaRPr lang="zh-CN" altLang="en-US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latin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动态网页可以和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服务器数据库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进行实时的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数据交换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4526868" y="2753019"/>
            <a:ext cx="2832100" cy="2441575"/>
            <a:chOff x="3065483" y="2995512"/>
            <a:chExt cx="2832409" cy="2441732"/>
          </a:xfrm>
        </p:grpSpPr>
        <p:sp>
          <p:nvSpPr>
            <p:cNvPr id="30" name="六边形 29"/>
            <p:cNvSpPr/>
            <p:nvPr/>
          </p:nvSpPr>
          <p:spPr bwMode="auto">
            <a:xfrm>
              <a:off x="3065483" y="2995512"/>
              <a:ext cx="2832409" cy="2441732"/>
            </a:xfrm>
            <a:prstGeom prst="hexagon">
              <a:avLst/>
            </a:prstGeom>
            <a:solidFill>
              <a:srgbClr val="1369B2"/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3798988" y="3492431"/>
              <a:ext cx="1365399" cy="14478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44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静动</a:t>
              </a:r>
              <a:endParaRPr lang="en-US" altLang="zh-CN" sz="4400" b="1" spc="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defRPr/>
              </a:pPr>
              <a:r>
                <a:rPr lang="zh-CN" altLang="en-US" sz="44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混合</a:t>
              </a:r>
              <a:endParaRPr lang="en-US" altLang="zh-CN" sz="4400" b="1" spc="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7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62473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95781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网页的相关名词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57056"/>
            <a:ext cx="10440988" cy="5638800"/>
            <a:chOff x="1019175" y="857056"/>
            <a:chExt cx="10440988" cy="563880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21363" y="857056"/>
              <a:ext cx="5638800" cy="5638800"/>
            </a:xfrm>
            <a:prstGeom prst="rect">
              <a:avLst/>
            </a:prstGeom>
          </p:spPr>
        </p:pic>
        <p:sp>
          <p:nvSpPr>
            <p:cNvPr id="8" name="原创设计师QQ598969553          _3"/>
            <p:cNvSpPr/>
            <p:nvPr/>
          </p:nvSpPr>
          <p:spPr>
            <a:xfrm>
              <a:off x="1019175" y="2162734"/>
              <a:ext cx="4590731" cy="3724882"/>
            </a:xfrm>
            <a:prstGeom prst="roundRect">
              <a:avLst>
                <a:gd name="adj" fmla="val 9083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原创设计师QQ598969553          _4"/>
            <p:cNvSpPr/>
            <p:nvPr/>
          </p:nvSpPr>
          <p:spPr>
            <a:xfrm>
              <a:off x="1637070" y="3304409"/>
              <a:ext cx="354142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了解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网页的相关名词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，能够说出书中列举名词的含义。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了解</a:t>
              </a:r>
              <a:r>
                <a:rPr lang="en-US" altLang="zh-CN" sz="18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W3C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标准化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，能够按照</a:t>
              </a:r>
              <a:r>
                <a:rPr lang="en-US" altLang="zh-CN" sz="18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W3C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标准规范书写代码。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原创设计师QQ598969553          _7"/>
            <p:cNvSpPr txBox="1"/>
            <p:nvPr/>
          </p:nvSpPr>
          <p:spPr>
            <a:xfrm>
              <a:off x="1019176" y="2525524"/>
              <a:ext cx="45907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1216660">
                <a:spcBef>
                  <a:spcPct val="20000"/>
                </a:spcBef>
                <a:defRPr/>
              </a:pPr>
              <a:r>
                <a:rPr lang="zh-CN" altLang="en-US" sz="28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学习目标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538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网页的相关名词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547276"/>
              </p:ext>
            </p:extLst>
          </p:nvPr>
        </p:nvGraphicFramePr>
        <p:xfrm>
          <a:off x="1019175" y="2349793"/>
          <a:ext cx="10437197" cy="276505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13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名词</a:t>
                      </a: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名词释义</a:t>
                      </a: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Internet</a:t>
                      </a:r>
                      <a:endParaRPr lang="zh-CN" altLang="en-US" sz="16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就是通常所说的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互联网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，是由一些使用公用语言互相通信的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计算机连接而成的网络</a:t>
                      </a:r>
                      <a:r>
                        <a:rPr lang="zh-CN" altLang="en-US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WWW</a:t>
                      </a:r>
                      <a:endParaRPr lang="zh-CN" altLang="en-US" sz="16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WWW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（英文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World Wide Web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的缩写）中文译为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“万维网”</a:t>
                      </a:r>
                      <a:r>
                        <a:rPr lang="zh-CN" altLang="en-US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60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Intertnet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提供的一种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网页浏览服务</a:t>
                      </a:r>
                      <a:r>
                        <a:rPr lang="zh-CN" altLang="en-US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endParaRPr lang="zh-CN" altLang="en-US" sz="16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（英文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Uniform Resource Locator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的缩写）中文译为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“统一资源定位符”</a:t>
                      </a:r>
                      <a:r>
                        <a:rPr lang="en-US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其实就是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地址，俗称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“网址”</a:t>
                      </a:r>
                      <a:r>
                        <a:rPr lang="zh-CN" altLang="en-US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DNS</a:t>
                      </a:r>
                      <a:endParaRPr lang="zh-CN" altLang="en-US" sz="16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DNS 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（英文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Domain Name System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的缩写）是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域名解析系统</a:t>
                      </a:r>
                      <a:r>
                        <a:rPr lang="zh-CN" altLang="en-US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3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网页的相关名词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711766"/>
              </p:ext>
            </p:extLst>
          </p:nvPr>
        </p:nvGraphicFramePr>
        <p:xfrm>
          <a:off x="1019175" y="2023226"/>
          <a:ext cx="10437197" cy="310728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13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名词</a:t>
                      </a: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名词释义</a:t>
                      </a: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</a:t>
                      </a:r>
                      <a:r>
                        <a:rPr lang="zh-CN" altLang="en-US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HTTPS</a:t>
                      </a:r>
                      <a:endParaRPr lang="zh-CN" altLang="en-US" sz="16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 (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英文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Hypertext transfer protocol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的缩写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 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中文译为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超文本传输协议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，是一种详细规定了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浏览器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万维网服务器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</a:t>
                      </a:r>
                      <a:r>
                        <a:rPr lang="zh-CN" altLang="en-US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互相通信的规则。</a:t>
                      </a:r>
                      <a:r>
                        <a:rPr lang="en-US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HTTPS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协议是由</a:t>
                      </a:r>
                      <a:r>
                        <a:rPr lang="en-US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SSL+HTTP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协议构建的可进行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加密传输、身份认证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的网络协议，要比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6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</a:t>
                      </a:r>
                      <a:endParaRPr lang="zh-CN" altLang="en-US" sz="16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通常指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互联网的使用环境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。但对于网站制作者来说，它是一系列技术的复合总称，通常称之为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网页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zh-CN" sz="160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3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W3C</a:t>
                      </a:r>
                      <a:endParaRPr lang="zh-CN" altLang="en-US" sz="16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W3C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（英文</a:t>
                      </a:r>
                      <a:r>
                        <a:rPr lang="en-US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World Wide Web Consortium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的缩写）中文译为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“万维网联盟”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。万维网联盟是国际最著名的</a:t>
                      </a:r>
                      <a:r>
                        <a:rPr lang="zh-CN" altLang="zh-CN" sz="1600" kern="1200" dirty="0">
                          <a:solidFill>
                            <a:srgbClr val="1369B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标准化组织</a:t>
                      </a:r>
                      <a:r>
                        <a:rPr lang="zh-CN" altLang="zh-CN" sz="160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31" marB="4573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57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95855" y="2685338"/>
            <a:ext cx="44389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标准？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019175" y="857056"/>
            <a:ext cx="10440988" cy="5638800"/>
            <a:chOff x="1019175" y="857056"/>
            <a:chExt cx="10440988" cy="563880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21363" y="857056"/>
              <a:ext cx="5638800" cy="5638800"/>
            </a:xfrm>
            <a:prstGeom prst="rect">
              <a:avLst/>
            </a:prstGeom>
          </p:spPr>
        </p:pic>
        <p:sp>
          <p:nvSpPr>
            <p:cNvPr id="11" name="原创设计师QQ598969553          _3"/>
            <p:cNvSpPr/>
            <p:nvPr/>
          </p:nvSpPr>
          <p:spPr>
            <a:xfrm>
              <a:off x="1019175" y="2162734"/>
              <a:ext cx="4590731" cy="3724882"/>
            </a:xfrm>
            <a:prstGeom prst="roundRect">
              <a:avLst>
                <a:gd name="adj" fmla="val 9083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原创设计师QQ598969553          _4"/>
            <p:cNvSpPr/>
            <p:nvPr/>
          </p:nvSpPr>
          <p:spPr>
            <a:xfrm>
              <a:off x="1637070" y="3304409"/>
              <a:ext cx="3541420" cy="2169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了解制定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Web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标准，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能够说出制定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web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标准的定义和目的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。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掌握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结构、表现、行为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的具体技术应用，能够列举每种技术的特点。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" name="原创设计师QQ598969553          _7"/>
            <p:cNvSpPr txBox="1"/>
            <p:nvPr/>
          </p:nvSpPr>
          <p:spPr>
            <a:xfrm>
              <a:off x="1019176" y="2525524"/>
              <a:ext cx="45907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1216660">
                <a:spcBef>
                  <a:spcPct val="20000"/>
                </a:spcBef>
                <a:defRPr/>
              </a:pPr>
              <a:r>
                <a:rPr lang="zh-CN" altLang="en-US" sz="28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学习目标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38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云形标注 5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2195855" y="2685338"/>
            <a:ext cx="44389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标准？</a:t>
            </a:r>
          </a:p>
        </p:txBody>
      </p:sp>
    </p:spTree>
    <p:extLst>
      <p:ext uri="{BB962C8B-B14F-4D97-AF65-F5344CB8AC3E}">
        <p14:creationId xmlns:p14="http://schemas.microsoft.com/office/powerpoint/2010/main" val="353059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24" y="773081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原创设计师QQ598969553          _3"/>
          <p:cNvSpPr/>
          <p:nvPr/>
        </p:nvSpPr>
        <p:spPr>
          <a:xfrm>
            <a:off x="4352925" y="2120868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原创设计师QQ598969553          _4"/>
          <p:cNvSpPr/>
          <p:nvPr/>
        </p:nvSpPr>
        <p:spPr>
          <a:xfrm>
            <a:off x="4931162" y="2704334"/>
            <a:ext cx="53765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不是某一个标准，而是由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W3C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其他标准化组织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制定的一系列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标准的集合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 包含我们所熟悉的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897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608239" y="2523830"/>
            <a:ext cx="4325711" cy="3558925"/>
            <a:chOff x="-197909" y="1938741"/>
            <a:chExt cx="5106112" cy="4198055"/>
          </a:xfrm>
        </p:grpSpPr>
        <p:pic>
          <p:nvPicPr>
            <p:cNvPr id="7" name="Picture 3" descr="C:\Documents and Settings\Administrator\桌面\辛苦工作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7909" y="1938741"/>
              <a:ext cx="3899588" cy="2818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11"/>
            <p:cNvSpPr txBox="1">
              <a:spLocks noChangeArrowheads="1"/>
            </p:cNvSpPr>
            <p:nvPr/>
          </p:nvSpPr>
          <p:spPr bwMode="auto">
            <a:xfrm>
              <a:off x="204135" y="4720908"/>
              <a:ext cx="4704068" cy="1415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由于不同的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浏览器解析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出来的效果可能不一致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开发者常常需要为多版本的开发而艰苦工作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9" name="虚尾箭头 8"/>
          <p:cNvSpPr/>
          <p:nvPr/>
        </p:nvSpPr>
        <p:spPr bwMode="auto">
          <a:xfrm>
            <a:off x="3324225" y="3963988"/>
            <a:ext cx="1498600" cy="771525"/>
          </a:xfrm>
          <a:prstGeom prst="stripedRightArrow">
            <a:avLst/>
          </a:prstGeom>
          <a:solidFill>
            <a:srgbClr val="1369B2"/>
          </a:solidFill>
          <a:ln w="9525" cap="flat" cmpd="sng" algn="ctr">
            <a:solidFill>
              <a:schemeClr val="bg1">
                <a:alpha val="8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699000" y="2528895"/>
            <a:ext cx="1065213" cy="3433764"/>
            <a:chOff x="3756546" y="2310184"/>
            <a:chExt cx="1064816" cy="3433571"/>
          </a:xfrm>
        </p:grpSpPr>
        <p:pic>
          <p:nvPicPr>
            <p:cNvPr id="11" name="Picture 4" descr="C:\Documents and Settings\Administrator\桌面\i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6546" y="2310184"/>
              <a:ext cx="1059534" cy="1027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图片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6546" y="3544365"/>
              <a:ext cx="1064816" cy="103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图片 1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6546" y="4761552"/>
              <a:ext cx="1012897" cy="982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虚尾箭头 13"/>
          <p:cNvSpPr/>
          <p:nvPr/>
        </p:nvSpPr>
        <p:spPr bwMode="auto">
          <a:xfrm>
            <a:off x="5708650" y="3975100"/>
            <a:ext cx="1520825" cy="771525"/>
          </a:xfrm>
          <a:prstGeom prst="stripedRightArrow">
            <a:avLst/>
          </a:prstGeom>
          <a:solidFill>
            <a:srgbClr val="1369B2"/>
          </a:solidFill>
          <a:ln w="9525" cap="flat" cmpd="sng" algn="ctr">
            <a:solidFill>
              <a:schemeClr val="bg1">
                <a:alpha val="86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展示统一内容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6625" y="2713038"/>
            <a:ext cx="4203118" cy="317182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630400" y="1645566"/>
            <a:ext cx="44114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制定Web标准的目的？</a:t>
            </a:r>
          </a:p>
        </p:txBody>
      </p:sp>
    </p:spTree>
    <p:extLst>
      <p:ext uri="{BB962C8B-B14F-4D97-AF65-F5344CB8AC3E}">
        <p14:creationId xmlns:p14="http://schemas.microsoft.com/office/powerpoint/2010/main" val="403827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剪去单角 444"/>
          <p:cNvSpPr/>
          <p:nvPr/>
        </p:nvSpPr>
        <p:spPr bwMode="auto">
          <a:xfrm>
            <a:off x="4671972" y="2201105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7" name="矩形 45"/>
          <p:cNvSpPr>
            <a:spLocks noChangeArrowheads="1"/>
          </p:cNvSpPr>
          <p:nvPr/>
        </p:nvSpPr>
        <p:spPr bwMode="auto">
          <a:xfrm>
            <a:off x="4671761" y="5601793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8" name="任意多边形: 形状 445"/>
          <p:cNvSpPr/>
          <p:nvPr/>
        </p:nvSpPr>
        <p:spPr bwMode="auto">
          <a:xfrm>
            <a:off x="6901744" y="2201105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2</a:t>
            </a:r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2201105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956" y="5601793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任意多边形: 形状 438"/>
          <p:cNvSpPr/>
          <p:nvPr/>
        </p:nvSpPr>
        <p:spPr bwMode="auto">
          <a:xfrm>
            <a:off x="3439939" y="2201105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12" name="矩形: 剪去单角 455"/>
          <p:cNvSpPr/>
          <p:nvPr/>
        </p:nvSpPr>
        <p:spPr bwMode="auto">
          <a:xfrm>
            <a:off x="8133988" y="2201105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33988" y="5602832"/>
            <a:ext cx="2982018" cy="136811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4" name="任意多边形: 形状 456"/>
          <p:cNvSpPr/>
          <p:nvPr/>
        </p:nvSpPr>
        <p:spPr bwMode="auto">
          <a:xfrm>
            <a:off x="10364704" y="2201105"/>
            <a:ext cx="751302" cy="804634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lIns="121920" tIns="60960" rIns="121920" bIns="60960">
            <a:normAutofit/>
          </a:bodyPr>
          <a:lstStyle/>
          <a:p>
            <a:pPr algn="r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3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2" y="3286830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结构标准用于对网页元素进行整理和分类，主要包括：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HTML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XML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XHTML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。</a:t>
            </a:r>
          </a:p>
        </p:txBody>
      </p:sp>
      <p:sp>
        <p:nvSpPr>
          <p:cNvPr id="16" name="矩形 15"/>
          <p:cNvSpPr/>
          <p:nvPr/>
        </p:nvSpPr>
        <p:spPr bwMode="auto">
          <a:xfrm>
            <a:off x="1931016" y="2473216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结构标准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4887998" y="3286830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表现标准用于设置网页元素的版式、颜色、大小等外观样式，主要指的是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CSS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。</a:t>
            </a:r>
          </a:p>
        </p:txBody>
      </p:sp>
      <p:sp>
        <p:nvSpPr>
          <p:cNvPr id="18" name="矩形 17"/>
          <p:cNvSpPr/>
          <p:nvPr/>
        </p:nvSpPr>
        <p:spPr bwMode="auto">
          <a:xfrm>
            <a:off x="5392822" y="2473216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表现标准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8217084" y="3308598"/>
            <a:ext cx="2763374" cy="11567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行为标准是指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网页模型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的定义及交互的编写，主要包括：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DOM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BOM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和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ECMAScript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。</a:t>
            </a:r>
          </a:p>
        </p:txBody>
      </p:sp>
      <p:sp>
        <p:nvSpPr>
          <p:cNvPr id="20" name="矩形 19"/>
          <p:cNvSpPr/>
          <p:nvPr/>
        </p:nvSpPr>
        <p:spPr bwMode="auto">
          <a:xfrm>
            <a:off x="8857456" y="2473216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行为标准</a:t>
            </a:r>
          </a:p>
        </p:txBody>
      </p:sp>
    </p:spTree>
    <p:extLst>
      <p:ext uri="{BB962C8B-B14F-4D97-AF65-F5344CB8AC3E}">
        <p14:creationId xmlns:p14="http://schemas.microsoft.com/office/powerpoint/2010/main" val="300665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剪去单角 437"/>
          <p:cNvSpPr/>
          <p:nvPr/>
        </p:nvSpPr>
        <p:spPr bwMode="auto">
          <a:xfrm>
            <a:off x="1209955" y="2201105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7" name="矩形 42"/>
          <p:cNvSpPr>
            <a:spLocks noChangeArrowheads="1"/>
          </p:cNvSpPr>
          <p:nvPr/>
        </p:nvSpPr>
        <p:spPr bwMode="auto">
          <a:xfrm>
            <a:off x="1209956" y="5601793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8" name="任意多边形: 形状 438"/>
          <p:cNvSpPr/>
          <p:nvPr/>
        </p:nvSpPr>
        <p:spPr bwMode="auto">
          <a:xfrm>
            <a:off x="3439939" y="2201105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426192" y="3286830"/>
            <a:ext cx="2574308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如果把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Web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标准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看做一栋房子，结构标准就相当于房子的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框架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1931016" y="2473216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结构标准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957" y="2239963"/>
            <a:ext cx="4233862" cy="3232150"/>
          </a:xfrm>
          <a:prstGeom prst="rect">
            <a:avLst/>
          </a:prstGeom>
          <a:effectLst>
            <a:outerShdw blurRad="88900" dist="101600" dir="5400000" sx="91000" sy="91000" rotWithShape="0">
              <a:prstClr val="black">
                <a:alpha val="23000"/>
              </a:prstClr>
            </a:outerShdw>
          </a:effectLst>
        </p:spPr>
      </p:pic>
      <p:sp>
        <p:nvSpPr>
          <p:cNvPr id="12" name="虚尾箭头 11"/>
          <p:cNvSpPr/>
          <p:nvPr/>
        </p:nvSpPr>
        <p:spPr bwMode="auto">
          <a:xfrm>
            <a:off x="5308600" y="3676650"/>
            <a:ext cx="684213" cy="550863"/>
          </a:xfrm>
          <a:prstGeom prst="stripedRightArrow">
            <a:avLst/>
          </a:prstGeom>
          <a:solidFill>
            <a:srgbClr val="00B0F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87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剪去单角 444"/>
          <p:cNvSpPr/>
          <p:nvPr/>
        </p:nvSpPr>
        <p:spPr bwMode="auto">
          <a:xfrm>
            <a:off x="1198774" y="2201105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7" name="矩形 45"/>
          <p:cNvSpPr>
            <a:spLocks noChangeArrowheads="1"/>
          </p:cNvSpPr>
          <p:nvPr/>
        </p:nvSpPr>
        <p:spPr bwMode="auto">
          <a:xfrm>
            <a:off x="1198563" y="5601793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8" name="任意多边形: 形状 445"/>
          <p:cNvSpPr/>
          <p:nvPr/>
        </p:nvSpPr>
        <p:spPr bwMode="auto">
          <a:xfrm>
            <a:off x="3428546" y="2201105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2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414800" y="3286830"/>
            <a:ext cx="2643099" cy="787523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表现标准就相当于房子的装修，让房子看起来更美观。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1919624" y="2473216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表现标准</a:t>
            </a:r>
          </a:p>
        </p:txBody>
      </p:sp>
      <p:sp>
        <p:nvSpPr>
          <p:cNvPr id="12" name="虚尾箭头 11"/>
          <p:cNvSpPr/>
          <p:nvPr/>
        </p:nvSpPr>
        <p:spPr bwMode="auto">
          <a:xfrm>
            <a:off x="5260975" y="3676650"/>
            <a:ext cx="684213" cy="550863"/>
          </a:xfrm>
          <a:prstGeom prst="stripedRightArrow">
            <a:avLst/>
          </a:prstGeom>
          <a:solidFill>
            <a:srgbClr val="00B0F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671" y="2249656"/>
            <a:ext cx="4621213" cy="359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812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剪去单角 455"/>
          <p:cNvSpPr/>
          <p:nvPr/>
        </p:nvSpPr>
        <p:spPr bwMode="auto">
          <a:xfrm>
            <a:off x="1198563" y="2201105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198563" y="5602832"/>
            <a:ext cx="2982018" cy="136811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8" name="任意多边形: 形状 456"/>
          <p:cNvSpPr/>
          <p:nvPr/>
        </p:nvSpPr>
        <p:spPr bwMode="auto">
          <a:xfrm>
            <a:off x="3429279" y="2201105"/>
            <a:ext cx="751302" cy="804634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lIns="121920" tIns="60960" rIns="121920" bIns="60960">
            <a:normAutofit/>
          </a:bodyPr>
          <a:lstStyle/>
          <a:p>
            <a:pPr algn="r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3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417207" y="3286830"/>
            <a:ext cx="2643099" cy="787523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行为标准相当于房间内部的设备，让房子具有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功能性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1922031" y="2473216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行为标准</a:t>
            </a:r>
          </a:p>
        </p:txBody>
      </p:sp>
      <p:sp>
        <p:nvSpPr>
          <p:cNvPr id="12" name="虚尾箭头 11"/>
          <p:cNvSpPr/>
          <p:nvPr/>
        </p:nvSpPr>
        <p:spPr bwMode="auto">
          <a:xfrm>
            <a:off x="5194300" y="3676650"/>
            <a:ext cx="684213" cy="550863"/>
          </a:xfrm>
          <a:prstGeom prst="stripedRightArrow">
            <a:avLst/>
          </a:prstGeom>
          <a:solidFill>
            <a:srgbClr val="00B0F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6742114" y="2219325"/>
            <a:ext cx="3702116" cy="1561343"/>
            <a:chOff x="4741758" y="2953460"/>
            <a:chExt cx="2984442" cy="1257579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1758" y="2953460"/>
              <a:ext cx="1732793" cy="125757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21"/>
            <p:cNvSpPr txBox="1">
              <a:spLocks noChangeArrowheads="1"/>
            </p:cNvSpPr>
            <p:nvPr/>
          </p:nvSpPr>
          <p:spPr bwMode="auto">
            <a:xfrm>
              <a:off x="6568652" y="3176125"/>
              <a:ext cx="1157548" cy="669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KTV</a:t>
              </a:r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有唱</a:t>
              </a:r>
              <a:endPara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歌功能</a:t>
              </a: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6753225" y="4113966"/>
            <a:ext cx="3692318" cy="1606627"/>
            <a:chOff x="4752776" y="4351667"/>
            <a:chExt cx="2977439" cy="1294375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776" y="4351667"/>
              <a:ext cx="1732792" cy="1294375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24"/>
            <p:cNvSpPr txBox="1">
              <a:spLocks noChangeArrowheads="1"/>
            </p:cNvSpPr>
            <p:nvPr/>
          </p:nvSpPr>
          <p:spPr bwMode="auto">
            <a:xfrm>
              <a:off x="6588554" y="4543390"/>
              <a:ext cx="1141661" cy="669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厨房有做</a:t>
              </a:r>
              <a:endPara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饭功能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69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1-2】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网页制作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入门技术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53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1915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是网页制作的基本应用技术，也是本书学习的重点。本节将对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发展历史、流行版本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等内容进行详细讲解，让读者对这些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网页制作入门技术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有一个基本的认识。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9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253614" y="3304409"/>
            <a:ext cx="4100052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的作用和发展史。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73028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/>
          </a:p>
        </p:txBody>
      </p:sp>
      <p:sp>
        <p:nvSpPr>
          <p:cNvPr id="9" name="圆角矩形 8"/>
          <p:cNvSpPr/>
          <p:nvPr/>
        </p:nvSpPr>
        <p:spPr>
          <a:xfrm>
            <a:off x="1019175" y="1604798"/>
            <a:ext cx="10440988" cy="12908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TextBox 38"/>
          <p:cNvSpPr txBox="1"/>
          <p:nvPr/>
        </p:nvSpPr>
        <p:spPr>
          <a:xfrm>
            <a:off x="1471674" y="1845965"/>
            <a:ext cx="948207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Hyper Text Markup Language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的缩写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中文译为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“超文本标签语言”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，主要是通过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标签对网页中的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文本、图片、声音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等内容进行描述。</a:t>
            </a:r>
          </a:p>
        </p:txBody>
      </p:sp>
      <p:sp>
        <p:nvSpPr>
          <p:cNvPr id="13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矩形 93"/>
          <p:cNvSpPr/>
          <p:nvPr/>
        </p:nvSpPr>
        <p:spPr>
          <a:xfrm rot="10800000">
            <a:off x="11076120" y="25143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044784"/>
              </p:ext>
            </p:extLst>
          </p:nvPr>
        </p:nvGraphicFramePr>
        <p:xfrm>
          <a:off x="2958109" y="3128863"/>
          <a:ext cx="6785966" cy="343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Visio" r:id="rId4" imgW="6467310" imgH="3272916" progId="Visio.Drawing.11">
                  <p:embed/>
                </p:oleObj>
              </mc:Choice>
              <mc:Fallback>
                <p:oleObj name="Visio" r:id="rId4" imgW="6467310" imgH="3272916" progId="Visio.Drawing.11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109" y="3128863"/>
                        <a:ext cx="6785966" cy="343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92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/>
          </a:p>
        </p:txBody>
      </p:sp>
      <p:sp>
        <p:nvSpPr>
          <p:cNvPr id="9" name="圆角矩形 8"/>
          <p:cNvSpPr/>
          <p:nvPr/>
        </p:nvSpPr>
        <p:spPr>
          <a:xfrm>
            <a:off x="1019175" y="1604798"/>
            <a:ext cx="10440988" cy="12908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TextBox 38"/>
          <p:cNvSpPr txBox="1"/>
          <p:nvPr/>
        </p:nvSpPr>
        <p:spPr>
          <a:xfrm>
            <a:off x="1471674" y="1845965"/>
            <a:ext cx="948207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Hyper Text Markup Language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的缩写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中文译为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“超文本标签语言”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，主要是通过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标签对网页中的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文本、图片、声音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等内容进行描述。</a:t>
            </a:r>
          </a:p>
        </p:txBody>
      </p:sp>
      <p:sp>
        <p:nvSpPr>
          <p:cNvPr id="13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矩形 93"/>
          <p:cNvSpPr/>
          <p:nvPr/>
        </p:nvSpPr>
        <p:spPr>
          <a:xfrm rot="10800000">
            <a:off x="11076120" y="25143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3497452" y="3445344"/>
            <a:ext cx="1598007" cy="2356970"/>
            <a:chOff x="2287059" y="2470230"/>
            <a:chExt cx="1740456" cy="2564478"/>
          </a:xfrm>
        </p:grpSpPr>
        <p:grpSp>
          <p:nvGrpSpPr>
            <p:cNvPr id="12" name="组合 26"/>
            <p:cNvGrpSpPr>
              <a:grpSpLocks/>
            </p:cNvGrpSpPr>
            <p:nvPr/>
          </p:nvGrpSpPr>
          <p:grpSpPr bwMode="auto">
            <a:xfrm>
              <a:off x="2287059" y="2470230"/>
              <a:ext cx="1740456" cy="2564478"/>
              <a:chOff x="3415289" y="2060848"/>
              <a:chExt cx="1944216" cy="3290654"/>
            </a:xfrm>
          </p:grpSpPr>
          <p:sp>
            <p:nvSpPr>
              <p:cNvPr id="17" name="五边形 16"/>
              <p:cNvSpPr/>
              <p:nvPr/>
            </p:nvSpPr>
            <p:spPr>
              <a:xfrm>
                <a:off x="3415289" y="2060848"/>
                <a:ext cx="1944216" cy="647967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solidFill>
                  <a:schemeClr val="bg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>
                <a:off x="3450719" y="3191613"/>
                <a:ext cx="1873356" cy="2159889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" name="组合 29"/>
              <p:cNvGrpSpPr>
                <a:grpSpLocks/>
              </p:cNvGrpSpPr>
              <p:nvPr/>
            </p:nvGrpSpPr>
            <p:grpSpPr bwMode="auto">
              <a:xfrm>
                <a:off x="4182816" y="2723128"/>
                <a:ext cx="409163" cy="738055"/>
                <a:chOff x="4252755" y="2291080"/>
                <a:chExt cx="409163" cy="738055"/>
              </a:xfrm>
            </p:grpSpPr>
            <p:grpSp>
              <p:nvGrpSpPr>
                <p:cNvPr id="21" name="组合 33"/>
                <p:cNvGrpSpPr>
                  <a:grpSpLocks/>
                </p:cNvGrpSpPr>
                <p:nvPr/>
              </p:nvGrpSpPr>
              <p:grpSpPr bwMode="auto">
                <a:xfrm>
                  <a:off x="4252755" y="2291080"/>
                  <a:ext cx="409163" cy="738055"/>
                  <a:chOff x="4252755" y="2291080"/>
                  <a:chExt cx="409163" cy="738055"/>
                </a:xfrm>
              </p:grpSpPr>
              <p:sp>
                <p:nvSpPr>
                  <p:cNvPr id="25" name="矩形 24"/>
                  <p:cNvSpPr/>
                  <p:nvPr/>
                </p:nvSpPr>
                <p:spPr>
                  <a:xfrm>
                    <a:off x="4410834" y="2292013"/>
                    <a:ext cx="88575" cy="416731"/>
                  </a:xfrm>
                  <a:prstGeom prst="rect">
                    <a:avLst/>
                  </a:prstGeom>
                  <a:gradFill flip="none" rotWithShape="1">
                    <a:gsLst>
                      <a:gs pos="49000">
                        <a:schemeClr val="bg1">
                          <a:lumMod val="85000"/>
                        </a:schemeClr>
                      </a:gs>
                      <a:gs pos="9000">
                        <a:schemeClr val="bg1">
                          <a:lumMod val="50000"/>
                        </a:schemeClr>
                      </a:gs>
                      <a:gs pos="98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椭圆 25"/>
                  <p:cNvSpPr/>
                  <p:nvPr/>
                </p:nvSpPr>
                <p:spPr>
                  <a:xfrm>
                    <a:off x="4253614" y="2619807"/>
                    <a:ext cx="407445" cy="409109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2" name="组合 34"/>
                <p:cNvGrpSpPr>
                  <a:grpSpLocks/>
                </p:cNvGrpSpPr>
                <p:nvPr/>
              </p:nvGrpSpPr>
              <p:grpSpPr bwMode="auto">
                <a:xfrm rot="1267204">
                  <a:off x="4309455" y="2671937"/>
                  <a:ext cx="301040" cy="301040"/>
                  <a:chOff x="3518404" y="1580443"/>
                  <a:chExt cx="1276350" cy="1276350"/>
                </a:xfrm>
              </p:grpSpPr>
              <p:sp>
                <p:nvSpPr>
                  <p:cNvPr id="23" name="椭圆 22"/>
                  <p:cNvSpPr/>
                  <p:nvPr/>
                </p:nvSpPr>
                <p:spPr bwMode="auto">
                  <a:xfrm>
                    <a:off x="3518404" y="1580443"/>
                    <a:ext cx="1276350" cy="127635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FFC000"/>
                      </a:gs>
                      <a:gs pos="47000">
                        <a:schemeClr val="accent6"/>
                      </a:gs>
                      <a:gs pos="82000">
                        <a:schemeClr val="accent6">
                          <a:lumMod val="75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6350">
                    <a:solidFill>
                      <a:schemeClr val="accent3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" name="椭圆 23"/>
                  <p:cNvSpPr/>
                  <p:nvPr/>
                </p:nvSpPr>
                <p:spPr bwMode="auto">
                  <a:xfrm rot="20122633">
                    <a:off x="3928119" y="2554514"/>
                    <a:ext cx="769856" cy="26934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alpha val="5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  <a:alpha val="12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20" name="TextBox 26"/>
              <p:cNvSpPr txBox="1">
                <a:spLocks noChangeArrowheads="1"/>
              </p:cNvSpPr>
              <p:nvPr/>
            </p:nvSpPr>
            <p:spPr bwMode="auto">
              <a:xfrm>
                <a:off x="3450240" y="2150163"/>
                <a:ext cx="1697777" cy="5419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6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HTML2.0</a:t>
                </a:r>
                <a:endParaRPr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" name="矩形 40"/>
            <p:cNvSpPr>
              <a:spLocks noChangeArrowheads="1"/>
            </p:cNvSpPr>
            <p:nvPr/>
          </p:nvSpPr>
          <p:spPr bwMode="auto">
            <a:xfrm>
              <a:off x="2450330" y="3727445"/>
              <a:ext cx="1513684" cy="904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1995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月作为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RFC 1866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发布，</a:t>
              </a: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689100" y="3443525"/>
            <a:ext cx="1599828" cy="2358790"/>
            <a:chOff x="2287059" y="2469244"/>
            <a:chExt cx="1740456" cy="2565464"/>
          </a:xfrm>
        </p:grpSpPr>
        <p:grpSp>
          <p:nvGrpSpPr>
            <p:cNvPr id="28" name="组合 47"/>
            <p:cNvGrpSpPr>
              <a:grpSpLocks/>
            </p:cNvGrpSpPr>
            <p:nvPr/>
          </p:nvGrpSpPr>
          <p:grpSpPr bwMode="auto">
            <a:xfrm>
              <a:off x="2287059" y="2469244"/>
              <a:ext cx="1740456" cy="2565464"/>
              <a:chOff x="3415289" y="2059583"/>
              <a:chExt cx="1944216" cy="3291918"/>
            </a:xfrm>
          </p:grpSpPr>
          <p:sp>
            <p:nvSpPr>
              <p:cNvPr id="30" name="五边形 29"/>
              <p:cNvSpPr/>
              <p:nvPr/>
            </p:nvSpPr>
            <p:spPr>
              <a:xfrm>
                <a:off x="3415289" y="2059583"/>
                <a:ext cx="1944216" cy="650255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solidFill>
                  <a:schemeClr val="bg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3450679" y="3192450"/>
                <a:ext cx="1873437" cy="2159051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3" name="组合 51"/>
              <p:cNvGrpSpPr>
                <a:grpSpLocks/>
              </p:cNvGrpSpPr>
              <p:nvPr/>
            </p:nvGrpSpPr>
            <p:grpSpPr bwMode="auto">
              <a:xfrm>
                <a:off x="4182816" y="2723128"/>
                <a:ext cx="409163" cy="738055"/>
                <a:chOff x="4252755" y="2291080"/>
                <a:chExt cx="409163" cy="738055"/>
              </a:xfrm>
            </p:grpSpPr>
            <p:grpSp>
              <p:nvGrpSpPr>
                <p:cNvPr id="35" name="组合 53"/>
                <p:cNvGrpSpPr>
                  <a:grpSpLocks/>
                </p:cNvGrpSpPr>
                <p:nvPr/>
              </p:nvGrpSpPr>
              <p:grpSpPr bwMode="auto">
                <a:xfrm>
                  <a:off x="4252755" y="2291080"/>
                  <a:ext cx="409163" cy="738055"/>
                  <a:chOff x="4252755" y="2291080"/>
                  <a:chExt cx="409163" cy="738055"/>
                </a:xfrm>
              </p:grpSpPr>
              <p:sp>
                <p:nvSpPr>
                  <p:cNvPr id="39" name="矩形 38"/>
                  <p:cNvSpPr/>
                  <p:nvPr/>
                </p:nvSpPr>
                <p:spPr>
                  <a:xfrm>
                    <a:off x="4409780" y="2290490"/>
                    <a:ext cx="90686" cy="419111"/>
                  </a:xfrm>
                  <a:prstGeom prst="rect">
                    <a:avLst/>
                  </a:prstGeom>
                  <a:gradFill flip="none" rotWithShape="1">
                    <a:gsLst>
                      <a:gs pos="49000">
                        <a:schemeClr val="bg1">
                          <a:lumMod val="85000"/>
                        </a:schemeClr>
                      </a:gs>
                      <a:gs pos="9000">
                        <a:schemeClr val="bg1">
                          <a:lumMod val="50000"/>
                        </a:schemeClr>
                      </a:gs>
                      <a:gs pos="98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" name="椭圆 39"/>
                  <p:cNvSpPr/>
                  <p:nvPr/>
                </p:nvSpPr>
                <p:spPr>
                  <a:xfrm>
                    <a:off x="4252740" y="2620698"/>
                    <a:ext cx="409191" cy="40895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" name="组合 54"/>
                <p:cNvGrpSpPr>
                  <a:grpSpLocks/>
                </p:cNvGrpSpPr>
                <p:nvPr/>
              </p:nvGrpSpPr>
              <p:grpSpPr bwMode="auto">
                <a:xfrm rot="1267204">
                  <a:off x="4309455" y="2671937"/>
                  <a:ext cx="301040" cy="301040"/>
                  <a:chOff x="3518404" y="1580443"/>
                  <a:chExt cx="1276350" cy="1276350"/>
                </a:xfrm>
              </p:grpSpPr>
              <p:sp>
                <p:nvSpPr>
                  <p:cNvPr id="37" name="椭圆 36"/>
                  <p:cNvSpPr/>
                  <p:nvPr/>
                </p:nvSpPr>
                <p:spPr bwMode="auto">
                  <a:xfrm>
                    <a:off x="3518404" y="1580443"/>
                    <a:ext cx="1276350" cy="127635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FFC000"/>
                      </a:gs>
                      <a:gs pos="47000">
                        <a:schemeClr val="accent6"/>
                      </a:gs>
                      <a:gs pos="82000">
                        <a:schemeClr val="accent6">
                          <a:lumMod val="75000"/>
                        </a:scheme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 w="6350">
                    <a:solidFill>
                      <a:schemeClr val="accent3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8" name="椭圆 37"/>
                  <p:cNvSpPr/>
                  <p:nvPr/>
                </p:nvSpPr>
                <p:spPr bwMode="auto">
                  <a:xfrm rot="20122633">
                    <a:off x="3967121" y="2518968"/>
                    <a:ext cx="768980" cy="301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alpha val="5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  <a:alpha val="12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  <a:alpha val="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34" name="TextBox 26"/>
              <p:cNvSpPr txBox="1"/>
              <p:nvPr/>
            </p:nvSpPr>
            <p:spPr>
              <a:xfrm>
                <a:off x="3584054" y="2084222"/>
                <a:ext cx="1692928" cy="60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zh-CN" altLang="zh-CN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超文本</a:t>
                </a:r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标签</a:t>
                </a:r>
                <a:r>
                  <a:rPr lang="zh-CN" altLang="zh-CN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语</a:t>
                </a:r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defRPr/>
                </a:pPr>
                <a:r>
                  <a:rPr lang="zh-CN" altLang="zh-CN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言（第一版）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" name="矩形 48"/>
            <p:cNvSpPr>
              <a:spLocks noChangeArrowheads="1"/>
            </p:cNvSpPr>
            <p:nvPr/>
          </p:nvSpPr>
          <p:spPr bwMode="auto">
            <a:xfrm>
              <a:off x="2439956" y="3758443"/>
              <a:ext cx="1513684" cy="903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1993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月作为）工作草案发布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grpSp>
        <p:nvGrpSpPr>
          <p:cNvPr id="41" name="组合 40"/>
          <p:cNvGrpSpPr>
            <a:grpSpLocks/>
          </p:cNvGrpSpPr>
          <p:nvPr/>
        </p:nvGrpSpPr>
        <p:grpSpPr bwMode="auto">
          <a:xfrm>
            <a:off x="5303984" y="3443756"/>
            <a:ext cx="1599827" cy="2356969"/>
            <a:chOff x="3827656" y="1983502"/>
            <a:chExt cx="1395240" cy="2055549"/>
          </a:xfrm>
        </p:grpSpPr>
        <p:grpSp>
          <p:nvGrpSpPr>
            <p:cNvPr id="42" name="组合 59"/>
            <p:cNvGrpSpPr>
              <a:grpSpLocks/>
            </p:cNvGrpSpPr>
            <p:nvPr/>
          </p:nvGrpSpPr>
          <p:grpSpPr bwMode="auto">
            <a:xfrm>
              <a:off x="3827656" y="1983502"/>
              <a:ext cx="1395057" cy="2055549"/>
              <a:chOff x="2287059" y="2470230"/>
              <a:chExt cx="1740456" cy="2564478"/>
            </a:xfrm>
          </p:grpSpPr>
          <p:grpSp>
            <p:nvGrpSpPr>
              <p:cNvPr id="44" name="组合 60"/>
              <p:cNvGrpSpPr>
                <a:grpSpLocks/>
              </p:cNvGrpSpPr>
              <p:nvPr/>
            </p:nvGrpSpPr>
            <p:grpSpPr bwMode="auto">
              <a:xfrm>
                <a:off x="2287059" y="2470230"/>
                <a:ext cx="1740456" cy="2564478"/>
                <a:chOff x="3415289" y="2060848"/>
                <a:chExt cx="1944216" cy="3290653"/>
              </a:xfrm>
            </p:grpSpPr>
            <p:sp>
              <p:nvSpPr>
                <p:cNvPr id="46" name="五边形 45"/>
                <p:cNvSpPr/>
                <p:nvPr/>
              </p:nvSpPr>
              <p:spPr>
                <a:xfrm>
                  <a:off x="3415289" y="2060848"/>
                  <a:ext cx="1944471" cy="647966"/>
                </a:xfrm>
                <a:prstGeom prst="homePlat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圆角矩形 46"/>
                <p:cNvSpPr/>
                <p:nvPr/>
              </p:nvSpPr>
              <p:spPr>
                <a:xfrm>
                  <a:off x="3450683" y="3191612"/>
                  <a:ext cx="1873683" cy="2159889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8" name="组合 64"/>
                <p:cNvGrpSpPr>
                  <a:grpSpLocks/>
                </p:cNvGrpSpPr>
                <p:nvPr/>
              </p:nvGrpSpPr>
              <p:grpSpPr bwMode="auto">
                <a:xfrm>
                  <a:off x="4182816" y="2723128"/>
                  <a:ext cx="409163" cy="738055"/>
                  <a:chOff x="4252755" y="2291080"/>
                  <a:chExt cx="409163" cy="738055"/>
                </a:xfrm>
              </p:grpSpPr>
              <p:grpSp>
                <p:nvGrpSpPr>
                  <p:cNvPr id="50" name="组合 66"/>
                  <p:cNvGrpSpPr>
                    <a:grpSpLocks/>
                  </p:cNvGrpSpPr>
                  <p:nvPr/>
                </p:nvGrpSpPr>
                <p:grpSpPr bwMode="auto">
                  <a:xfrm>
                    <a:off x="4252755" y="2291080"/>
                    <a:ext cx="409163" cy="738055"/>
                    <a:chOff x="4252755" y="2291080"/>
                    <a:chExt cx="409163" cy="738055"/>
                  </a:xfrm>
                </p:grpSpPr>
                <p:sp>
                  <p:nvSpPr>
                    <p:cNvPr id="54" name="矩形 53"/>
                    <p:cNvSpPr/>
                    <p:nvPr/>
                  </p:nvSpPr>
                  <p:spPr>
                    <a:xfrm>
                      <a:off x="4409903" y="2292012"/>
                      <a:ext cx="90697" cy="416731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" name="椭圆 54"/>
                    <p:cNvSpPr/>
                    <p:nvPr/>
                  </p:nvSpPr>
                  <p:spPr>
                    <a:xfrm>
                      <a:off x="4252840" y="2619807"/>
                      <a:ext cx="409247" cy="409107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51" name="组合 67"/>
                  <p:cNvGrpSpPr>
                    <a:grpSpLocks/>
                  </p:cNvGrpSpPr>
                  <p:nvPr/>
                </p:nvGrpSpPr>
                <p:grpSpPr bwMode="auto">
                  <a:xfrm rot="1267204">
                    <a:off x="4309455" y="2671937"/>
                    <a:ext cx="301040" cy="301040"/>
                    <a:chOff x="3518404" y="1580443"/>
                    <a:chExt cx="1276350" cy="1276350"/>
                  </a:xfrm>
                </p:grpSpPr>
                <p:sp>
                  <p:nvSpPr>
                    <p:cNvPr id="52" name="椭圆 51"/>
                    <p:cNvSpPr/>
                    <p:nvPr/>
                  </p:nvSpPr>
                  <p:spPr bwMode="auto">
                    <a:xfrm>
                      <a:off x="3518404" y="1580443"/>
                      <a:ext cx="1276350" cy="1276350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C000"/>
                        </a:gs>
                        <a:gs pos="47000">
                          <a:schemeClr val="accent6"/>
                        </a:gs>
                        <a:gs pos="82000">
                          <a:schemeClr val="accent6">
                            <a:lumMod val="7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 w="6350">
                      <a:solidFill>
                        <a:schemeClr val="accent3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" name="椭圆 52"/>
                    <p:cNvSpPr/>
                    <p:nvPr/>
                  </p:nvSpPr>
                  <p:spPr bwMode="auto">
                    <a:xfrm rot="20122633">
                      <a:off x="3958072" y="2517451"/>
                      <a:ext cx="769080" cy="247787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alpha val="5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  <a:alpha val="12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  <a:alpha val="0"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sp>
              <p:nvSpPr>
                <p:cNvPr id="49" name="TextBox 26"/>
                <p:cNvSpPr txBox="1">
                  <a:spLocks noChangeArrowheads="1"/>
                </p:cNvSpPr>
                <p:nvPr/>
              </p:nvSpPr>
              <p:spPr bwMode="auto">
                <a:xfrm>
                  <a:off x="3450242" y="2150163"/>
                  <a:ext cx="1697778" cy="5419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HTML3.2</a:t>
                  </a:r>
                  <a:endParaRPr lang="zh-CN" altLang="en-US" sz="16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" name="矩形 61"/>
              <p:cNvSpPr>
                <a:spLocks noChangeArrowheads="1"/>
              </p:cNvSpPr>
              <p:nvPr/>
            </p:nvSpPr>
            <p:spPr bwMode="auto">
              <a:xfrm>
                <a:off x="2439956" y="3520173"/>
                <a:ext cx="1513684" cy="3455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zh-CN" sz="120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3" name="矩形 114"/>
            <p:cNvSpPr>
              <a:spLocks noChangeArrowheads="1"/>
            </p:cNvSpPr>
            <p:nvPr/>
          </p:nvSpPr>
          <p:spPr bwMode="auto">
            <a:xfrm>
              <a:off x="3885786" y="3003481"/>
              <a:ext cx="1337110" cy="72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1997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推荐标准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grpSp>
        <p:nvGrpSpPr>
          <p:cNvPr id="56" name="组合 55"/>
          <p:cNvGrpSpPr>
            <a:grpSpLocks/>
          </p:cNvGrpSpPr>
          <p:nvPr/>
        </p:nvGrpSpPr>
        <p:grpSpPr bwMode="auto">
          <a:xfrm>
            <a:off x="7123860" y="3445344"/>
            <a:ext cx="1606744" cy="2356970"/>
            <a:chOff x="5478029" y="1984139"/>
            <a:chExt cx="1402350" cy="2055549"/>
          </a:xfrm>
        </p:grpSpPr>
        <p:grpSp>
          <p:nvGrpSpPr>
            <p:cNvPr id="57" name="组合 72"/>
            <p:cNvGrpSpPr>
              <a:grpSpLocks/>
            </p:cNvGrpSpPr>
            <p:nvPr/>
          </p:nvGrpSpPr>
          <p:grpSpPr bwMode="auto">
            <a:xfrm>
              <a:off x="5478029" y="1984139"/>
              <a:ext cx="1395057" cy="2055549"/>
              <a:chOff x="2287059" y="2470230"/>
              <a:chExt cx="1740456" cy="2564478"/>
            </a:xfrm>
          </p:grpSpPr>
          <p:grpSp>
            <p:nvGrpSpPr>
              <p:cNvPr id="59" name="组合 73"/>
              <p:cNvGrpSpPr>
                <a:grpSpLocks/>
              </p:cNvGrpSpPr>
              <p:nvPr/>
            </p:nvGrpSpPr>
            <p:grpSpPr bwMode="auto">
              <a:xfrm>
                <a:off x="2287059" y="2470230"/>
                <a:ext cx="1740456" cy="2564478"/>
                <a:chOff x="3415289" y="2060848"/>
                <a:chExt cx="1944216" cy="3290653"/>
              </a:xfrm>
            </p:grpSpPr>
            <p:sp>
              <p:nvSpPr>
                <p:cNvPr id="61" name="五边形 60"/>
                <p:cNvSpPr/>
                <p:nvPr/>
              </p:nvSpPr>
              <p:spPr>
                <a:xfrm>
                  <a:off x="3415289" y="2060848"/>
                  <a:ext cx="1943753" cy="647967"/>
                </a:xfrm>
                <a:prstGeom prst="homePlat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" name="圆角矩形 61"/>
                <p:cNvSpPr/>
                <p:nvPr/>
              </p:nvSpPr>
              <p:spPr>
                <a:xfrm>
                  <a:off x="3450710" y="3191613"/>
                  <a:ext cx="1872910" cy="2159888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63" name="组合 77"/>
                <p:cNvGrpSpPr>
                  <a:grpSpLocks/>
                </p:cNvGrpSpPr>
                <p:nvPr/>
              </p:nvGrpSpPr>
              <p:grpSpPr bwMode="auto">
                <a:xfrm>
                  <a:off x="4182816" y="2723128"/>
                  <a:ext cx="409163" cy="738055"/>
                  <a:chOff x="4252755" y="2291080"/>
                  <a:chExt cx="409163" cy="738055"/>
                </a:xfrm>
              </p:grpSpPr>
              <p:grpSp>
                <p:nvGrpSpPr>
                  <p:cNvPr id="65" name="组合 79"/>
                  <p:cNvGrpSpPr>
                    <a:grpSpLocks/>
                  </p:cNvGrpSpPr>
                  <p:nvPr/>
                </p:nvGrpSpPr>
                <p:grpSpPr bwMode="auto">
                  <a:xfrm>
                    <a:off x="4252755" y="2291080"/>
                    <a:ext cx="409163" cy="738055"/>
                    <a:chOff x="4252755" y="2291080"/>
                    <a:chExt cx="409163" cy="738055"/>
                  </a:xfrm>
                </p:grpSpPr>
                <p:sp>
                  <p:nvSpPr>
                    <p:cNvPr id="69" name="矩形 68"/>
                    <p:cNvSpPr/>
                    <p:nvPr/>
                  </p:nvSpPr>
                  <p:spPr>
                    <a:xfrm>
                      <a:off x="4410614" y="2292013"/>
                      <a:ext cx="88554" cy="416731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70" name="椭圆 69"/>
                    <p:cNvSpPr/>
                    <p:nvPr/>
                  </p:nvSpPr>
                  <p:spPr>
                    <a:xfrm>
                      <a:off x="4253430" y="2619807"/>
                      <a:ext cx="400706" cy="409109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66" name="组合 80"/>
                  <p:cNvGrpSpPr>
                    <a:grpSpLocks/>
                  </p:cNvGrpSpPr>
                  <p:nvPr/>
                </p:nvGrpSpPr>
                <p:grpSpPr bwMode="auto">
                  <a:xfrm rot="1267204">
                    <a:off x="4309455" y="2671937"/>
                    <a:ext cx="301040" cy="301040"/>
                    <a:chOff x="3518404" y="1580443"/>
                    <a:chExt cx="1276350" cy="1276350"/>
                  </a:xfrm>
                </p:grpSpPr>
                <p:sp>
                  <p:nvSpPr>
                    <p:cNvPr id="67" name="椭圆 66"/>
                    <p:cNvSpPr/>
                    <p:nvPr/>
                  </p:nvSpPr>
                  <p:spPr bwMode="auto">
                    <a:xfrm>
                      <a:off x="3518404" y="1580443"/>
                      <a:ext cx="1276350" cy="1276350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C000"/>
                        </a:gs>
                        <a:gs pos="47000">
                          <a:schemeClr val="accent6"/>
                        </a:gs>
                        <a:gs pos="82000">
                          <a:schemeClr val="accent6">
                            <a:lumMod val="7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 w="6350">
                      <a:solidFill>
                        <a:schemeClr val="accent3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8" name="椭圆 67"/>
                    <p:cNvSpPr/>
                    <p:nvPr/>
                  </p:nvSpPr>
                  <p:spPr bwMode="auto">
                    <a:xfrm rot="20122633">
                      <a:off x="3928946" y="2565336"/>
                      <a:ext cx="769674" cy="25856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alpha val="5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  <a:alpha val="12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  <a:alpha val="0"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sp>
              <p:nvSpPr>
                <p:cNvPr id="64" name="TextBox 26"/>
                <p:cNvSpPr txBox="1">
                  <a:spLocks noChangeArrowheads="1"/>
                </p:cNvSpPr>
                <p:nvPr/>
              </p:nvSpPr>
              <p:spPr bwMode="auto">
                <a:xfrm>
                  <a:off x="3450242" y="2150163"/>
                  <a:ext cx="1697778" cy="5419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HTML4.0</a:t>
                  </a:r>
                  <a:endPara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0" name="矩形 74"/>
              <p:cNvSpPr>
                <a:spLocks noChangeArrowheads="1"/>
              </p:cNvSpPr>
              <p:nvPr/>
            </p:nvSpPr>
            <p:spPr bwMode="auto">
              <a:xfrm>
                <a:off x="2439956" y="3520173"/>
                <a:ext cx="1513684" cy="3455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en-US" altLang="zh-CN" sz="120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8" name="矩形 115"/>
            <p:cNvSpPr>
              <a:spLocks noChangeArrowheads="1"/>
            </p:cNvSpPr>
            <p:nvPr/>
          </p:nvSpPr>
          <p:spPr bwMode="auto">
            <a:xfrm>
              <a:off x="5555554" y="3004119"/>
              <a:ext cx="1324825" cy="72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1997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推荐标准。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>
            <a:grpSpLocks/>
          </p:cNvGrpSpPr>
          <p:nvPr/>
        </p:nvGrpSpPr>
        <p:grpSpPr bwMode="auto">
          <a:xfrm>
            <a:off x="8892673" y="3429703"/>
            <a:ext cx="1635258" cy="2356970"/>
            <a:chOff x="7098395" y="1984139"/>
            <a:chExt cx="1425062" cy="2055549"/>
          </a:xfrm>
        </p:grpSpPr>
        <p:grpSp>
          <p:nvGrpSpPr>
            <p:cNvPr id="72" name="组合 85"/>
            <p:cNvGrpSpPr>
              <a:grpSpLocks/>
            </p:cNvGrpSpPr>
            <p:nvPr/>
          </p:nvGrpSpPr>
          <p:grpSpPr bwMode="auto">
            <a:xfrm>
              <a:off x="7098395" y="1984139"/>
              <a:ext cx="1425062" cy="2055549"/>
              <a:chOff x="2249625" y="2470230"/>
              <a:chExt cx="1777891" cy="2564478"/>
            </a:xfrm>
          </p:grpSpPr>
          <p:grpSp>
            <p:nvGrpSpPr>
              <p:cNvPr id="74" name="组合 86"/>
              <p:cNvGrpSpPr>
                <a:grpSpLocks/>
              </p:cNvGrpSpPr>
              <p:nvPr/>
            </p:nvGrpSpPr>
            <p:grpSpPr bwMode="auto">
              <a:xfrm>
                <a:off x="2249625" y="2470230"/>
                <a:ext cx="1777891" cy="2564478"/>
                <a:chOff x="3373472" y="2060848"/>
                <a:chExt cx="1986033" cy="3290653"/>
              </a:xfrm>
            </p:grpSpPr>
            <p:sp>
              <p:nvSpPr>
                <p:cNvPr id="76" name="五边形 75"/>
                <p:cNvSpPr/>
                <p:nvPr/>
              </p:nvSpPr>
              <p:spPr>
                <a:xfrm>
                  <a:off x="3415470" y="2060848"/>
                  <a:ext cx="1943003" cy="647967"/>
                </a:xfrm>
                <a:prstGeom prst="homePlat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7" name="圆角矩形 76"/>
                <p:cNvSpPr/>
                <p:nvPr/>
              </p:nvSpPr>
              <p:spPr>
                <a:xfrm>
                  <a:off x="3450838" y="3191613"/>
                  <a:ext cx="1872268" cy="2159888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78" name="组合 90"/>
                <p:cNvGrpSpPr>
                  <a:grpSpLocks/>
                </p:cNvGrpSpPr>
                <p:nvPr/>
              </p:nvGrpSpPr>
              <p:grpSpPr bwMode="auto">
                <a:xfrm>
                  <a:off x="4182816" y="2723128"/>
                  <a:ext cx="409163" cy="738055"/>
                  <a:chOff x="4252755" y="2291080"/>
                  <a:chExt cx="409163" cy="738055"/>
                </a:xfrm>
              </p:grpSpPr>
              <p:grpSp>
                <p:nvGrpSpPr>
                  <p:cNvPr id="80" name="组合 92"/>
                  <p:cNvGrpSpPr>
                    <a:grpSpLocks/>
                  </p:cNvGrpSpPr>
                  <p:nvPr/>
                </p:nvGrpSpPr>
                <p:grpSpPr bwMode="auto">
                  <a:xfrm>
                    <a:off x="4252755" y="2291080"/>
                    <a:ext cx="409163" cy="738055"/>
                    <a:chOff x="4252755" y="2291080"/>
                    <a:chExt cx="409163" cy="738055"/>
                  </a:xfrm>
                </p:grpSpPr>
                <p:sp>
                  <p:nvSpPr>
                    <p:cNvPr id="84" name="矩形 83"/>
                    <p:cNvSpPr/>
                    <p:nvPr/>
                  </p:nvSpPr>
                  <p:spPr>
                    <a:xfrm>
                      <a:off x="4409386" y="2292013"/>
                      <a:ext cx="90630" cy="416731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5" name="椭圆 84"/>
                    <p:cNvSpPr/>
                    <p:nvPr/>
                  </p:nvSpPr>
                  <p:spPr>
                    <a:xfrm>
                      <a:off x="4252443" y="2619807"/>
                      <a:ext cx="408936" cy="409109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81" name="组合 93"/>
                  <p:cNvGrpSpPr>
                    <a:grpSpLocks/>
                  </p:cNvGrpSpPr>
                  <p:nvPr/>
                </p:nvGrpSpPr>
                <p:grpSpPr bwMode="auto">
                  <a:xfrm rot="1267204">
                    <a:off x="4309455" y="2671937"/>
                    <a:ext cx="301040" cy="301040"/>
                    <a:chOff x="3518404" y="1580443"/>
                    <a:chExt cx="1276350" cy="1276350"/>
                  </a:xfrm>
                </p:grpSpPr>
                <p:sp>
                  <p:nvSpPr>
                    <p:cNvPr id="82" name="椭圆 81"/>
                    <p:cNvSpPr/>
                    <p:nvPr/>
                  </p:nvSpPr>
                  <p:spPr bwMode="auto">
                    <a:xfrm>
                      <a:off x="3518404" y="1580443"/>
                      <a:ext cx="1276350" cy="1276350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FFC000"/>
                        </a:gs>
                        <a:gs pos="47000">
                          <a:schemeClr val="accent6"/>
                        </a:gs>
                        <a:gs pos="82000">
                          <a:schemeClr val="accent6">
                            <a:lumMod val="7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 w="6350">
                      <a:solidFill>
                        <a:schemeClr val="accent3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3" name="椭圆 82"/>
                    <p:cNvSpPr/>
                    <p:nvPr/>
                  </p:nvSpPr>
                  <p:spPr bwMode="auto">
                    <a:xfrm rot="20122633">
                      <a:off x="3938251" y="2549806"/>
                      <a:ext cx="768500" cy="25856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alpha val="5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  <a:alpha val="12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  <a:alpha val="0"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sp>
              <p:nvSpPr>
                <p:cNvPr id="79" name="TextBox 26"/>
                <p:cNvSpPr txBox="1">
                  <a:spLocks noChangeArrowheads="1"/>
                </p:cNvSpPr>
                <p:nvPr/>
              </p:nvSpPr>
              <p:spPr bwMode="auto">
                <a:xfrm>
                  <a:off x="3373472" y="2150163"/>
                  <a:ext cx="1909264" cy="5419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HTML4.01</a:t>
                  </a:r>
                  <a:endPara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5" name="矩形 87"/>
              <p:cNvSpPr>
                <a:spLocks noChangeArrowheads="1"/>
              </p:cNvSpPr>
              <p:nvPr/>
            </p:nvSpPr>
            <p:spPr bwMode="auto">
              <a:xfrm>
                <a:off x="2439956" y="3520173"/>
                <a:ext cx="1513684" cy="3455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zh-CN" sz="120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3" name="矩形 116"/>
            <p:cNvSpPr>
              <a:spLocks noChangeArrowheads="1"/>
            </p:cNvSpPr>
            <p:nvPr/>
          </p:nvSpPr>
          <p:spPr bwMode="auto">
            <a:xfrm>
              <a:off x="7190155" y="3033634"/>
              <a:ext cx="1332796" cy="72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1999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推荐标准。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5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/>
          </a:p>
        </p:txBody>
      </p:sp>
      <p:sp>
        <p:nvSpPr>
          <p:cNvPr id="9" name="圆角矩形 8"/>
          <p:cNvSpPr/>
          <p:nvPr/>
        </p:nvSpPr>
        <p:spPr>
          <a:xfrm>
            <a:off x="1019175" y="1604798"/>
            <a:ext cx="10440988" cy="12908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TextBox 38"/>
          <p:cNvSpPr txBox="1"/>
          <p:nvPr/>
        </p:nvSpPr>
        <p:spPr>
          <a:xfrm>
            <a:off x="1471674" y="1845965"/>
            <a:ext cx="948207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HTML(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Hyper Text Markup Language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的缩写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中文译为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“超文本标签语言”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，主要是通过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标签对网页中的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文本、图片、声音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等内容进行描述。</a:t>
            </a:r>
          </a:p>
        </p:txBody>
      </p:sp>
      <p:sp>
        <p:nvSpPr>
          <p:cNvPr id="13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矩形 93"/>
          <p:cNvSpPr/>
          <p:nvPr/>
        </p:nvSpPr>
        <p:spPr>
          <a:xfrm rot="10800000">
            <a:off x="11076120" y="25143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86" name="组合 85"/>
          <p:cNvGrpSpPr>
            <a:grpSpLocks/>
          </p:cNvGrpSpPr>
          <p:nvPr/>
        </p:nvGrpSpPr>
        <p:grpSpPr bwMode="auto">
          <a:xfrm>
            <a:off x="2181225" y="3306101"/>
            <a:ext cx="2372716" cy="2605750"/>
            <a:chOff x="493859" y="4343782"/>
            <a:chExt cx="1955286" cy="2147506"/>
          </a:xfrm>
        </p:grpSpPr>
        <p:grpSp>
          <p:nvGrpSpPr>
            <p:cNvPr id="87" name="组合 120"/>
            <p:cNvGrpSpPr>
              <a:grpSpLocks/>
            </p:cNvGrpSpPr>
            <p:nvPr/>
          </p:nvGrpSpPr>
          <p:grpSpPr bwMode="auto">
            <a:xfrm>
              <a:off x="493859" y="4343782"/>
              <a:ext cx="1955286" cy="2147506"/>
              <a:chOff x="493859" y="4343782"/>
              <a:chExt cx="1955286" cy="2147506"/>
            </a:xfrm>
          </p:grpSpPr>
          <p:grpSp>
            <p:nvGrpSpPr>
              <p:cNvPr id="89" name="组合 98"/>
              <p:cNvGrpSpPr>
                <a:grpSpLocks/>
              </p:cNvGrpSpPr>
              <p:nvPr/>
            </p:nvGrpSpPr>
            <p:grpSpPr bwMode="auto">
              <a:xfrm>
                <a:off x="493859" y="4350224"/>
                <a:ext cx="1955286" cy="2141064"/>
                <a:chOff x="6061583" y="2060848"/>
                <a:chExt cx="1944216" cy="4592226"/>
              </a:xfrm>
            </p:grpSpPr>
            <p:sp>
              <p:nvSpPr>
                <p:cNvPr id="91" name="五边形 90"/>
                <p:cNvSpPr/>
                <p:nvPr/>
              </p:nvSpPr>
              <p:spPr>
                <a:xfrm>
                  <a:off x="6061583" y="2060649"/>
                  <a:ext cx="1944216" cy="646821"/>
                </a:xfrm>
                <a:prstGeom prst="homePlate">
                  <a:avLst/>
                </a:prstGeom>
                <a:solidFill>
                  <a:srgbClr val="1369B2"/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" name="圆角矩形 91"/>
                <p:cNvSpPr/>
                <p:nvPr/>
              </p:nvSpPr>
              <p:spPr>
                <a:xfrm>
                  <a:off x="6097880" y="3139817"/>
                  <a:ext cx="1871624" cy="3513257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93" name="组合 101"/>
                <p:cNvGrpSpPr>
                  <a:grpSpLocks/>
                </p:cNvGrpSpPr>
                <p:nvPr/>
              </p:nvGrpSpPr>
              <p:grpSpPr bwMode="auto">
                <a:xfrm>
                  <a:off x="6891987" y="2723128"/>
                  <a:ext cx="301876" cy="813346"/>
                  <a:chOff x="6961926" y="2291080"/>
                  <a:chExt cx="301876" cy="813346"/>
                </a:xfrm>
              </p:grpSpPr>
              <p:sp>
                <p:nvSpPr>
                  <p:cNvPr id="94" name="椭圆 93"/>
                  <p:cNvSpPr/>
                  <p:nvPr/>
                </p:nvSpPr>
                <p:spPr>
                  <a:xfrm>
                    <a:off x="6982117" y="2673725"/>
                    <a:ext cx="243027" cy="41532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95" name="组合 106"/>
                  <p:cNvGrpSpPr>
                    <a:grpSpLocks/>
                  </p:cNvGrpSpPr>
                  <p:nvPr/>
                </p:nvGrpSpPr>
                <p:grpSpPr bwMode="auto">
                  <a:xfrm>
                    <a:off x="6961926" y="2291080"/>
                    <a:ext cx="301876" cy="739872"/>
                    <a:chOff x="6964565" y="2291080"/>
                    <a:chExt cx="301876" cy="739872"/>
                  </a:xfrm>
                </p:grpSpPr>
                <p:sp>
                  <p:nvSpPr>
                    <p:cNvPr id="96" name="矩形 95"/>
                    <p:cNvSpPr/>
                    <p:nvPr/>
                  </p:nvSpPr>
                  <p:spPr>
                    <a:xfrm>
                      <a:off x="7055769" y="2292442"/>
                      <a:ext cx="89952" cy="418732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grpSp>
                  <p:nvGrpSpPr>
                    <p:cNvPr id="97" name="组合 108"/>
                    <p:cNvGrpSpPr>
                      <a:grpSpLocks/>
                    </p:cNvGrpSpPr>
                    <p:nvPr/>
                  </p:nvGrpSpPr>
                  <p:grpSpPr bwMode="auto">
                    <a:xfrm rot="1267204">
                      <a:off x="6964565" y="2745983"/>
                      <a:ext cx="301876" cy="284969"/>
                      <a:chOff x="3654004" y="1861471"/>
                      <a:chExt cx="1279892" cy="1208214"/>
                    </a:xfrm>
                  </p:grpSpPr>
                  <p:sp>
                    <p:nvSpPr>
                      <p:cNvPr id="98" name="椭圆 97"/>
                      <p:cNvSpPr/>
                      <p:nvPr/>
                    </p:nvSpPr>
                    <p:spPr bwMode="auto">
                      <a:xfrm>
                        <a:off x="3870013" y="1861471"/>
                        <a:ext cx="725290" cy="1208214"/>
                      </a:xfrm>
                      <a:prstGeom prst="ellipse">
                        <a:avLst/>
                      </a:prstGeom>
                      <a:solidFill>
                        <a:srgbClr val="1369B2"/>
                      </a:solidFill>
                      <a:ln w="6350">
                        <a:solidFill>
                          <a:schemeClr val="accent3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99" name="椭圆 98"/>
                      <p:cNvSpPr/>
                      <p:nvPr/>
                    </p:nvSpPr>
                    <p:spPr bwMode="auto">
                      <a:xfrm rot="20122633">
                        <a:off x="4062428" y="1953157"/>
                        <a:ext cx="749370" cy="288672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55000"/>
                            </a:schemeClr>
                          </a:gs>
                          <a:gs pos="50000">
                            <a:schemeClr val="bg1">
                              <a:shade val="67500"/>
                              <a:satMod val="115000"/>
                              <a:alpha val="12000"/>
                            </a:schemeClr>
                          </a:gs>
                          <a:gs pos="100000">
                            <a:schemeClr val="bg1">
                              <a:shade val="100000"/>
                              <a:satMod val="115000"/>
                              <a:alpha val="0"/>
                            </a:schemeClr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100" name="椭圆 99"/>
                      <p:cNvSpPr/>
                      <p:nvPr/>
                    </p:nvSpPr>
                    <p:spPr bwMode="auto">
                      <a:xfrm rot="912585">
                        <a:off x="3583515" y="2063287"/>
                        <a:ext cx="689154" cy="591783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0"/>
                            </a:schemeClr>
                          </a:gs>
                          <a:gs pos="16000">
                            <a:schemeClr val="bg1">
                              <a:alpha val="51000"/>
                            </a:schemeClr>
                          </a:gs>
                          <a:gs pos="30000">
                            <a:schemeClr val="bg1">
                              <a:alpha val="0"/>
                            </a:schemeClr>
                          </a:gs>
                        </a:gsLst>
                        <a:lin ang="2700000" scaled="1"/>
                        <a:tileRect/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90" name="TextBox 26"/>
              <p:cNvSpPr txBox="1">
                <a:spLocks noChangeArrowheads="1"/>
              </p:cNvSpPr>
              <p:nvPr/>
            </p:nvSpPr>
            <p:spPr bwMode="auto">
              <a:xfrm>
                <a:off x="845518" y="4343782"/>
                <a:ext cx="1218227" cy="2790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6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HTML 5</a:t>
                </a:r>
                <a:endParaRPr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8" name="矩形 118"/>
            <p:cNvSpPr>
              <a:spLocks noChangeArrowheads="1"/>
            </p:cNvSpPr>
            <p:nvPr/>
          </p:nvSpPr>
          <p:spPr bwMode="auto">
            <a:xfrm>
              <a:off x="684195" y="5146883"/>
              <a:ext cx="1626660" cy="95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2014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月底，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宣布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正式定稿。</a:t>
              </a:r>
            </a:p>
          </p:txBody>
        </p:sp>
      </p:grpSp>
      <p:sp>
        <p:nvSpPr>
          <p:cNvPr id="101" name="虚尾箭头 100"/>
          <p:cNvSpPr/>
          <p:nvPr/>
        </p:nvSpPr>
        <p:spPr bwMode="auto">
          <a:xfrm>
            <a:off x="4786312" y="4591099"/>
            <a:ext cx="831991" cy="668290"/>
          </a:xfrm>
          <a:prstGeom prst="stripedRightArrow">
            <a:avLst/>
          </a:prstGeom>
          <a:solidFill>
            <a:srgbClr val="1369B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>
            <a:grpSpLocks/>
          </p:cNvGrpSpPr>
          <p:nvPr/>
        </p:nvGrpSpPr>
        <p:grpSpPr bwMode="auto">
          <a:xfrm>
            <a:off x="6069012" y="3618342"/>
            <a:ext cx="4065587" cy="2169685"/>
            <a:chOff x="3778458" y="4524991"/>
            <a:chExt cx="3350902" cy="1789169"/>
          </a:xfrm>
        </p:grpSpPr>
        <p:grpSp>
          <p:nvGrpSpPr>
            <p:cNvPr id="103" name="组合 140"/>
            <p:cNvGrpSpPr>
              <a:grpSpLocks/>
            </p:cNvGrpSpPr>
            <p:nvPr/>
          </p:nvGrpSpPr>
          <p:grpSpPr bwMode="auto">
            <a:xfrm>
              <a:off x="3778458" y="4524991"/>
              <a:ext cx="3350902" cy="1789169"/>
              <a:chOff x="1242068" y="3950984"/>
              <a:chExt cx="2465836" cy="1583383"/>
            </a:xfrm>
          </p:grpSpPr>
          <p:cxnSp>
            <p:nvCxnSpPr>
              <p:cNvPr id="105" name="直接连接符 104"/>
              <p:cNvCxnSpPr/>
              <p:nvPr/>
            </p:nvCxnSpPr>
            <p:spPr>
              <a:xfrm>
                <a:off x="1242068" y="4119050"/>
                <a:ext cx="2465836" cy="8433"/>
              </a:xfrm>
              <a:prstGeom prst="line">
                <a:avLst/>
              </a:prstGeom>
              <a:ln w="19050">
                <a:solidFill>
                  <a:srgbClr val="1369B2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06" name="矩形 142"/>
              <p:cNvSpPr>
                <a:spLocks noChangeArrowheads="1"/>
              </p:cNvSpPr>
              <p:nvPr/>
            </p:nvSpPr>
            <p:spPr bwMode="auto">
              <a:xfrm>
                <a:off x="1976514" y="3950984"/>
                <a:ext cx="979390" cy="336912"/>
              </a:xfrm>
              <a:prstGeom prst="rect">
                <a:avLst/>
              </a:prstGeom>
              <a:solidFill>
                <a:srgbClr val="1369B2"/>
              </a:solidFill>
              <a:ln w="25400">
                <a:solidFill>
                  <a:srgbClr val="1369B2"/>
                </a:solidFill>
                <a:miter lim="800000"/>
                <a:headEnd/>
                <a:tailEnd/>
              </a:ln>
            </p:spPr>
            <p:txBody>
              <a:bodyPr anchor="ctr" anchorCtr="1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7" name="直接连接符 106"/>
              <p:cNvCxnSpPr/>
              <p:nvPr/>
            </p:nvCxnSpPr>
            <p:spPr>
              <a:xfrm>
                <a:off x="1242068" y="5534367"/>
                <a:ext cx="2465836" cy="0"/>
              </a:xfrm>
              <a:prstGeom prst="line">
                <a:avLst/>
              </a:prstGeom>
              <a:ln w="19050">
                <a:solidFill>
                  <a:srgbClr val="1369B2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04" name="TextBox 145"/>
            <p:cNvSpPr txBox="1">
              <a:spLocks noChangeArrowheads="1"/>
            </p:cNvSpPr>
            <p:nvPr/>
          </p:nvSpPr>
          <p:spPr bwMode="auto">
            <a:xfrm>
              <a:off x="3910794" y="5055557"/>
              <a:ext cx="3094628" cy="989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语言发展至今，经历了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六个版本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，这个过程中新增了许多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，同时也淘汰了一些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654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637070" y="3304409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，能够说出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的作用和发展史。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69436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/>
          </a:p>
        </p:txBody>
      </p:sp>
      <p:sp>
        <p:nvSpPr>
          <p:cNvPr id="9" name="圆角矩形 8"/>
          <p:cNvSpPr/>
          <p:nvPr/>
        </p:nvSpPr>
        <p:spPr>
          <a:xfrm>
            <a:off x="1019175" y="1604798"/>
            <a:ext cx="10440988" cy="15702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TextBox 38"/>
          <p:cNvSpPr txBox="1"/>
          <p:nvPr/>
        </p:nvSpPr>
        <p:spPr>
          <a:xfrm>
            <a:off x="1471674" y="1845965"/>
            <a:ext cx="948207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（英文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Cascading Style Sheets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的缩写）中文译为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“层叠样式表”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主要用于设置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文本内容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（如：字体、大小、对齐方式等）、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图片外形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（如：宽度、高度、边框样式、边距等）、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版面布局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等外观显示样式。</a:t>
            </a:r>
          </a:p>
        </p:txBody>
      </p:sp>
      <p:sp>
        <p:nvSpPr>
          <p:cNvPr id="13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矩形 93"/>
          <p:cNvSpPr/>
          <p:nvPr/>
        </p:nvSpPr>
        <p:spPr>
          <a:xfrm rot="10800000">
            <a:off x="11076120" y="28064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29" name="组合 8"/>
          <p:cNvGrpSpPr/>
          <p:nvPr/>
        </p:nvGrpSpPr>
        <p:grpSpPr bwMode="auto">
          <a:xfrm>
            <a:off x="1990725" y="3288537"/>
            <a:ext cx="8497888" cy="2934463"/>
            <a:chOff x="920750" y="2283718"/>
            <a:chExt cx="8348540" cy="3392174"/>
          </a:xfrm>
        </p:grpSpPr>
        <p:sp>
          <p:nvSpPr>
            <p:cNvPr id="30" name="矩形 29"/>
            <p:cNvSpPr/>
            <p:nvPr/>
          </p:nvSpPr>
          <p:spPr>
            <a:xfrm>
              <a:off x="920750" y="2283718"/>
              <a:ext cx="8348540" cy="339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371450" y="2411393"/>
              <a:ext cx="4226783" cy="2635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&lt;style type="text/css"&gt;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p{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	font-size:36px;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	color:red;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	text-align:center;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 }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&lt;/style&gt;</a:t>
              </a:r>
            </a:p>
          </p:txBody>
        </p:sp>
      </p:grp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5837238" y="4182123"/>
            <a:ext cx="3058850" cy="369332"/>
            <a:chOff x="3040655" y="4098273"/>
            <a:chExt cx="3057760" cy="370367"/>
          </a:xfrm>
        </p:grpSpPr>
        <p:sp>
          <p:nvSpPr>
            <p:cNvPr id="34" name="矩形 29"/>
            <p:cNvSpPr>
              <a:spLocks noChangeArrowheads="1"/>
            </p:cNvSpPr>
            <p:nvPr/>
          </p:nvSpPr>
          <p:spPr bwMode="auto">
            <a:xfrm>
              <a:off x="3040655" y="4153359"/>
              <a:ext cx="2103991" cy="26440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5" name="直接箭头连接符 33"/>
            <p:cNvCxnSpPr>
              <a:cxnSpLocks noChangeShapeType="1"/>
              <a:stCxn id="34" idx="3"/>
            </p:cNvCxnSpPr>
            <p:nvPr/>
          </p:nvCxnSpPr>
          <p:spPr bwMode="auto">
            <a:xfrm flipV="1">
              <a:off x="5144646" y="4285561"/>
              <a:ext cx="374805" cy="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Box 40"/>
            <p:cNvSpPr txBox="1">
              <a:spLocks noChangeArrowheads="1"/>
            </p:cNvSpPr>
            <p:nvPr/>
          </p:nvSpPr>
          <p:spPr bwMode="auto">
            <a:xfrm>
              <a:off x="5452314" y="4098273"/>
              <a:ext cx="646101" cy="370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字号</a:t>
              </a: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5837238" y="4571102"/>
            <a:ext cx="3254367" cy="369332"/>
            <a:chOff x="3007604" y="4415928"/>
            <a:chExt cx="3254480" cy="370367"/>
          </a:xfrm>
        </p:grpSpPr>
        <p:sp>
          <p:nvSpPr>
            <p:cNvPr id="38" name="矩形 34"/>
            <p:cNvSpPr>
              <a:spLocks noChangeArrowheads="1"/>
            </p:cNvSpPr>
            <p:nvPr/>
          </p:nvSpPr>
          <p:spPr bwMode="auto">
            <a:xfrm>
              <a:off x="3007604" y="4471916"/>
              <a:ext cx="2103991" cy="26440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接箭头连接符 37"/>
            <p:cNvCxnSpPr>
              <a:cxnSpLocks noChangeShapeType="1"/>
              <a:stCxn id="38" idx="3"/>
            </p:cNvCxnSpPr>
            <p:nvPr/>
          </p:nvCxnSpPr>
          <p:spPr bwMode="auto">
            <a:xfrm flipV="1">
              <a:off x="5111595" y="4604118"/>
              <a:ext cx="574850" cy="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TextBox 43"/>
            <p:cNvSpPr txBox="1">
              <a:spLocks noChangeArrowheads="1"/>
            </p:cNvSpPr>
            <p:nvPr/>
          </p:nvSpPr>
          <p:spPr bwMode="auto">
            <a:xfrm>
              <a:off x="5615731" y="4415928"/>
              <a:ext cx="646353" cy="370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</p:grpSp>
      <p:grpSp>
        <p:nvGrpSpPr>
          <p:cNvPr id="41" name="组合 40"/>
          <p:cNvGrpSpPr>
            <a:grpSpLocks/>
          </p:cNvGrpSpPr>
          <p:nvPr/>
        </p:nvGrpSpPr>
        <p:grpSpPr bwMode="auto">
          <a:xfrm>
            <a:off x="5837238" y="4940434"/>
            <a:ext cx="3925718" cy="369332"/>
            <a:chOff x="3038817" y="4722566"/>
            <a:chExt cx="3925339" cy="370367"/>
          </a:xfrm>
        </p:grpSpPr>
        <p:sp>
          <p:nvSpPr>
            <p:cNvPr id="42" name="矩形 35"/>
            <p:cNvSpPr>
              <a:spLocks noChangeArrowheads="1"/>
            </p:cNvSpPr>
            <p:nvPr/>
          </p:nvSpPr>
          <p:spPr bwMode="auto">
            <a:xfrm>
              <a:off x="3038817" y="4778554"/>
              <a:ext cx="2103991" cy="26440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箭头连接符 39"/>
            <p:cNvCxnSpPr>
              <a:cxnSpLocks noChangeShapeType="1"/>
              <a:stCxn id="42" idx="3"/>
            </p:cNvCxnSpPr>
            <p:nvPr/>
          </p:nvCxnSpPr>
          <p:spPr bwMode="auto">
            <a:xfrm flipV="1">
              <a:off x="5142808" y="4910756"/>
              <a:ext cx="795284" cy="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TextBox 44"/>
            <p:cNvSpPr txBox="1">
              <a:spLocks noChangeArrowheads="1"/>
            </p:cNvSpPr>
            <p:nvPr/>
          </p:nvSpPr>
          <p:spPr bwMode="auto">
            <a:xfrm>
              <a:off x="5856267" y="4722566"/>
              <a:ext cx="1107889" cy="370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13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/>
          </a:p>
        </p:txBody>
      </p:sp>
      <p:sp>
        <p:nvSpPr>
          <p:cNvPr id="9" name="圆角矩形 8"/>
          <p:cNvSpPr/>
          <p:nvPr/>
        </p:nvSpPr>
        <p:spPr>
          <a:xfrm>
            <a:off x="1019175" y="1604798"/>
            <a:ext cx="10440988" cy="15702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TextBox 38"/>
          <p:cNvSpPr txBox="1"/>
          <p:nvPr/>
        </p:nvSpPr>
        <p:spPr>
          <a:xfrm>
            <a:off x="1471674" y="1845965"/>
            <a:ext cx="948207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（英文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Cascading Style Sheets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的缩写）中文译为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“层叠样式表”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主要用于设置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文本内容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（如：字体、大小、对齐方式等）、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图片外形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（如：宽度、高度、边框样式、边距等）、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版面布局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等外观显示样式。</a:t>
            </a:r>
          </a:p>
        </p:txBody>
      </p:sp>
      <p:sp>
        <p:nvSpPr>
          <p:cNvPr id="13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矩形 93"/>
          <p:cNvSpPr/>
          <p:nvPr/>
        </p:nvSpPr>
        <p:spPr>
          <a:xfrm rot="10800000">
            <a:off x="11076120" y="28064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8213725" y="3506471"/>
            <a:ext cx="2372716" cy="2597933"/>
            <a:chOff x="493859" y="4350224"/>
            <a:chExt cx="1955286" cy="2141064"/>
          </a:xfrm>
        </p:grpSpPr>
        <p:grpSp>
          <p:nvGrpSpPr>
            <p:cNvPr id="25" name="组合 120"/>
            <p:cNvGrpSpPr>
              <a:grpSpLocks/>
            </p:cNvGrpSpPr>
            <p:nvPr/>
          </p:nvGrpSpPr>
          <p:grpSpPr bwMode="auto">
            <a:xfrm>
              <a:off x="493859" y="4350224"/>
              <a:ext cx="1955286" cy="2141064"/>
              <a:chOff x="493859" y="4350224"/>
              <a:chExt cx="1955286" cy="2141064"/>
            </a:xfrm>
          </p:grpSpPr>
          <p:grpSp>
            <p:nvGrpSpPr>
              <p:cNvPr id="27" name="组合 98"/>
              <p:cNvGrpSpPr>
                <a:grpSpLocks/>
              </p:cNvGrpSpPr>
              <p:nvPr/>
            </p:nvGrpSpPr>
            <p:grpSpPr bwMode="auto">
              <a:xfrm>
                <a:off x="493859" y="4350224"/>
                <a:ext cx="1955286" cy="2141064"/>
                <a:chOff x="6061583" y="2060848"/>
                <a:chExt cx="1944216" cy="4592226"/>
              </a:xfrm>
            </p:grpSpPr>
            <p:sp>
              <p:nvSpPr>
                <p:cNvPr id="45" name="五边形 44"/>
                <p:cNvSpPr/>
                <p:nvPr/>
              </p:nvSpPr>
              <p:spPr>
                <a:xfrm>
                  <a:off x="6061583" y="2060649"/>
                  <a:ext cx="1944216" cy="646821"/>
                </a:xfrm>
                <a:prstGeom prst="homePlate">
                  <a:avLst/>
                </a:prstGeom>
                <a:solidFill>
                  <a:srgbClr val="1369B2"/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圆角矩形 45"/>
                <p:cNvSpPr/>
                <p:nvPr/>
              </p:nvSpPr>
              <p:spPr>
                <a:xfrm>
                  <a:off x="6097880" y="3139817"/>
                  <a:ext cx="1871624" cy="3513257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7" name="组合 101"/>
                <p:cNvGrpSpPr>
                  <a:grpSpLocks/>
                </p:cNvGrpSpPr>
                <p:nvPr/>
              </p:nvGrpSpPr>
              <p:grpSpPr bwMode="auto">
                <a:xfrm>
                  <a:off x="6891987" y="2723128"/>
                  <a:ext cx="301876" cy="813346"/>
                  <a:chOff x="6961926" y="2291080"/>
                  <a:chExt cx="301876" cy="813346"/>
                </a:xfrm>
              </p:grpSpPr>
              <p:sp>
                <p:nvSpPr>
                  <p:cNvPr id="48" name="椭圆 47"/>
                  <p:cNvSpPr/>
                  <p:nvPr/>
                </p:nvSpPr>
                <p:spPr>
                  <a:xfrm>
                    <a:off x="6982117" y="2673725"/>
                    <a:ext cx="243027" cy="41532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49" name="组合 106"/>
                  <p:cNvGrpSpPr>
                    <a:grpSpLocks/>
                  </p:cNvGrpSpPr>
                  <p:nvPr/>
                </p:nvGrpSpPr>
                <p:grpSpPr bwMode="auto">
                  <a:xfrm>
                    <a:off x="6961926" y="2291080"/>
                    <a:ext cx="301876" cy="739872"/>
                    <a:chOff x="6964565" y="2291080"/>
                    <a:chExt cx="301876" cy="739872"/>
                  </a:xfrm>
                </p:grpSpPr>
                <p:sp>
                  <p:nvSpPr>
                    <p:cNvPr id="50" name="矩形 49"/>
                    <p:cNvSpPr/>
                    <p:nvPr/>
                  </p:nvSpPr>
                  <p:spPr>
                    <a:xfrm>
                      <a:off x="7055769" y="2292442"/>
                      <a:ext cx="89952" cy="418732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grpSp>
                  <p:nvGrpSpPr>
                    <p:cNvPr id="51" name="组合 108"/>
                    <p:cNvGrpSpPr>
                      <a:grpSpLocks/>
                    </p:cNvGrpSpPr>
                    <p:nvPr/>
                  </p:nvGrpSpPr>
                  <p:grpSpPr bwMode="auto">
                    <a:xfrm rot="1267204">
                      <a:off x="6964565" y="2745983"/>
                      <a:ext cx="301876" cy="284969"/>
                      <a:chOff x="3654004" y="1861471"/>
                      <a:chExt cx="1279892" cy="1208214"/>
                    </a:xfrm>
                  </p:grpSpPr>
                  <p:sp>
                    <p:nvSpPr>
                      <p:cNvPr id="52" name="椭圆 51"/>
                      <p:cNvSpPr/>
                      <p:nvPr/>
                    </p:nvSpPr>
                    <p:spPr bwMode="auto">
                      <a:xfrm>
                        <a:off x="3870013" y="1861471"/>
                        <a:ext cx="725290" cy="1208214"/>
                      </a:xfrm>
                      <a:prstGeom prst="ellipse">
                        <a:avLst/>
                      </a:prstGeom>
                      <a:solidFill>
                        <a:srgbClr val="1369B2"/>
                      </a:solidFill>
                      <a:ln w="6350">
                        <a:solidFill>
                          <a:schemeClr val="accent3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53" name="椭圆 52"/>
                      <p:cNvSpPr/>
                      <p:nvPr/>
                    </p:nvSpPr>
                    <p:spPr bwMode="auto">
                      <a:xfrm rot="20122633">
                        <a:off x="4062428" y="1953157"/>
                        <a:ext cx="749370" cy="288672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55000"/>
                            </a:schemeClr>
                          </a:gs>
                          <a:gs pos="50000">
                            <a:schemeClr val="bg1">
                              <a:shade val="67500"/>
                              <a:satMod val="115000"/>
                              <a:alpha val="12000"/>
                            </a:schemeClr>
                          </a:gs>
                          <a:gs pos="100000">
                            <a:schemeClr val="bg1">
                              <a:shade val="100000"/>
                              <a:satMod val="115000"/>
                              <a:alpha val="0"/>
                            </a:schemeClr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54" name="椭圆 53"/>
                      <p:cNvSpPr/>
                      <p:nvPr/>
                    </p:nvSpPr>
                    <p:spPr bwMode="auto">
                      <a:xfrm rot="912585">
                        <a:off x="3583515" y="2063287"/>
                        <a:ext cx="689154" cy="591783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0"/>
                            </a:schemeClr>
                          </a:gs>
                          <a:gs pos="16000">
                            <a:schemeClr val="bg1">
                              <a:alpha val="51000"/>
                            </a:schemeClr>
                          </a:gs>
                          <a:gs pos="30000">
                            <a:schemeClr val="bg1">
                              <a:alpha val="0"/>
                            </a:schemeClr>
                          </a:gs>
                        </a:gsLst>
                        <a:lin ang="2700000" scaled="1"/>
                        <a:tileRect/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28" name="TextBox 26"/>
              <p:cNvSpPr txBox="1">
                <a:spLocks noChangeArrowheads="1"/>
              </p:cNvSpPr>
              <p:nvPr/>
            </p:nvSpPr>
            <p:spPr bwMode="auto">
              <a:xfrm>
                <a:off x="845518" y="4364716"/>
                <a:ext cx="1218227" cy="2790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CSS3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118"/>
            <p:cNvSpPr>
              <a:spLocks noChangeArrowheads="1"/>
            </p:cNvSpPr>
            <p:nvPr/>
          </p:nvSpPr>
          <p:spPr bwMode="auto">
            <a:xfrm>
              <a:off x="684195" y="5146883"/>
              <a:ext cx="1626660" cy="95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2001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日完成了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的工作草案。</a:t>
              </a:r>
            </a:p>
          </p:txBody>
        </p:sp>
      </p:grpSp>
      <p:grpSp>
        <p:nvGrpSpPr>
          <p:cNvPr id="55" name="组合 54"/>
          <p:cNvGrpSpPr>
            <a:grpSpLocks/>
          </p:cNvGrpSpPr>
          <p:nvPr/>
        </p:nvGrpSpPr>
        <p:grpSpPr bwMode="auto">
          <a:xfrm>
            <a:off x="4937125" y="3542880"/>
            <a:ext cx="2372716" cy="2597933"/>
            <a:chOff x="493859" y="4350224"/>
            <a:chExt cx="1955286" cy="2141064"/>
          </a:xfrm>
        </p:grpSpPr>
        <p:grpSp>
          <p:nvGrpSpPr>
            <p:cNvPr id="56" name="组合 120"/>
            <p:cNvGrpSpPr>
              <a:grpSpLocks/>
            </p:cNvGrpSpPr>
            <p:nvPr/>
          </p:nvGrpSpPr>
          <p:grpSpPr bwMode="auto">
            <a:xfrm>
              <a:off x="493859" y="4350224"/>
              <a:ext cx="1955286" cy="2141064"/>
              <a:chOff x="493859" y="4350224"/>
              <a:chExt cx="1955286" cy="2141064"/>
            </a:xfrm>
          </p:grpSpPr>
          <p:grpSp>
            <p:nvGrpSpPr>
              <p:cNvPr id="58" name="组合 98"/>
              <p:cNvGrpSpPr>
                <a:grpSpLocks/>
              </p:cNvGrpSpPr>
              <p:nvPr/>
            </p:nvGrpSpPr>
            <p:grpSpPr bwMode="auto">
              <a:xfrm>
                <a:off x="493859" y="4350224"/>
                <a:ext cx="1955286" cy="2141064"/>
                <a:chOff x="6061583" y="2060848"/>
                <a:chExt cx="1944216" cy="4592226"/>
              </a:xfrm>
            </p:grpSpPr>
            <p:sp>
              <p:nvSpPr>
                <p:cNvPr id="60" name="五边形 59"/>
                <p:cNvSpPr/>
                <p:nvPr/>
              </p:nvSpPr>
              <p:spPr>
                <a:xfrm>
                  <a:off x="6061583" y="2060649"/>
                  <a:ext cx="1944216" cy="646821"/>
                </a:xfrm>
                <a:prstGeom prst="homePlate">
                  <a:avLst/>
                </a:prstGeom>
                <a:solidFill>
                  <a:srgbClr val="595959"/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" name="圆角矩形 60"/>
                <p:cNvSpPr/>
                <p:nvPr/>
              </p:nvSpPr>
              <p:spPr>
                <a:xfrm>
                  <a:off x="6097880" y="3139817"/>
                  <a:ext cx="1871624" cy="3513257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62" name="组合 101"/>
                <p:cNvGrpSpPr>
                  <a:grpSpLocks/>
                </p:cNvGrpSpPr>
                <p:nvPr/>
              </p:nvGrpSpPr>
              <p:grpSpPr bwMode="auto">
                <a:xfrm>
                  <a:off x="6891987" y="2723128"/>
                  <a:ext cx="301876" cy="813346"/>
                  <a:chOff x="6961926" y="2291080"/>
                  <a:chExt cx="301876" cy="813346"/>
                </a:xfrm>
              </p:grpSpPr>
              <p:sp>
                <p:nvSpPr>
                  <p:cNvPr id="63" name="椭圆 62"/>
                  <p:cNvSpPr/>
                  <p:nvPr/>
                </p:nvSpPr>
                <p:spPr>
                  <a:xfrm>
                    <a:off x="6982117" y="2673725"/>
                    <a:ext cx="243027" cy="41532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64" name="组合 106"/>
                  <p:cNvGrpSpPr>
                    <a:grpSpLocks/>
                  </p:cNvGrpSpPr>
                  <p:nvPr/>
                </p:nvGrpSpPr>
                <p:grpSpPr bwMode="auto">
                  <a:xfrm>
                    <a:off x="6961926" y="2291080"/>
                    <a:ext cx="301876" cy="739872"/>
                    <a:chOff x="6964565" y="2291080"/>
                    <a:chExt cx="301876" cy="739872"/>
                  </a:xfrm>
                </p:grpSpPr>
                <p:sp>
                  <p:nvSpPr>
                    <p:cNvPr id="65" name="矩形 64"/>
                    <p:cNvSpPr/>
                    <p:nvPr/>
                  </p:nvSpPr>
                  <p:spPr>
                    <a:xfrm>
                      <a:off x="7055769" y="2292442"/>
                      <a:ext cx="89952" cy="418732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grpSp>
                  <p:nvGrpSpPr>
                    <p:cNvPr id="66" name="组合 108"/>
                    <p:cNvGrpSpPr>
                      <a:grpSpLocks/>
                    </p:cNvGrpSpPr>
                    <p:nvPr/>
                  </p:nvGrpSpPr>
                  <p:grpSpPr bwMode="auto">
                    <a:xfrm rot="1267204">
                      <a:off x="6964565" y="2745983"/>
                      <a:ext cx="301876" cy="284969"/>
                      <a:chOff x="3654004" y="1861471"/>
                      <a:chExt cx="1279892" cy="1208214"/>
                    </a:xfrm>
                  </p:grpSpPr>
                  <p:sp>
                    <p:nvSpPr>
                      <p:cNvPr id="67" name="椭圆 66"/>
                      <p:cNvSpPr/>
                      <p:nvPr/>
                    </p:nvSpPr>
                    <p:spPr bwMode="auto">
                      <a:xfrm>
                        <a:off x="3870013" y="1861471"/>
                        <a:ext cx="725290" cy="1208214"/>
                      </a:xfrm>
                      <a:prstGeom prst="ellipse">
                        <a:avLst/>
                      </a:prstGeom>
                      <a:solidFill>
                        <a:srgbClr val="595959"/>
                      </a:solidFill>
                      <a:ln w="6350">
                        <a:solidFill>
                          <a:schemeClr val="accent3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8" name="椭圆 67"/>
                      <p:cNvSpPr/>
                      <p:nvPr/>
                    </p:nvSpPr>
                    <p:spPr bwMode="auto">
                      <a:xfrm rot="20122633">
                        <a:off x="4062428" y="1953157"/>
                        <a:ext cx="749370" cy="288672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55000"/>
                            </a:schemeClr>
                          </a:gs>
                          <a:gs pos="50000">
                            <a:schemeClr val="bg1">
                              <a:shade val="67500"/>
                              <a:satMod val="115000"/>
                              <a:alpha val="12000"/>
                            </a:schemeClr>
                          </a:gs>
                          <a:gs pos="100000">
                            <a:schemeClr val="bg1">
                              <a:shade val="100000"/>
                              <a:satMod val="115000"/>
                              <a:alpha val="0"/>
                            </a:schemeClr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69" name="椭圆 68"/>
                      <p:cNvSpPr/>
                      <p:nvPr/>
                    </p:nvSpPr>
                    <p:spPr bwMode="auto">
                      <a:xfrm rot="912585">
                        <a:off x="3583515" y="2063287"/>
                        <a:ext cx="689154" cy="591783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0"/>
                            </a:schemeClr>
                          </a:gs>
                          <a:gs pos="16000">
                            <a:schemeClr val="bg1">
                              <a:alpha val="51000"/>
                            </a:schemeClr>
                          </a:gs>
                          <a:gs pos="30000">
                            <a:schemeClr val="bg1">
                              <a:alpha val="0"/>
                            </a:schemeClr>
                          </a:gs>
                        </a:gsLst>
                        <a:lin ang="2700000" scaled="1"/>
                        <a:tileRect/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59" name="TextBox 26"/>
              <p:cNvSpPr txBox="1">
                <a:spLocks noChangeArrowheads="1"/>
              </p:cNvSpPr>
              <p:nvPr/>
            </p:nvSpPr>
            <p:spPr bwMode="auto">
              <a:xfrm>
                <a:off x="845518" y="4364716"/>
                <a:ext cx="1218227" cy="2790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CSS2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" name="矩形 118"/>
            <p:cNvSpPr>
              <a:spLocks noChangeArrowheads="1"/>
            </p:cNvSpPr>
            <p:nvPr/>
          </p:nvSpPr>
          <p:spPr bwMode="auto">
            <a:xfrm>
              <a:off x="684195" y="5146883"/>
              <a:ext cx="1626660" cy="649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1998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月发布了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CSS2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1599704" y="3555580"/>
            <a:ext cx="2372716" cy="2597933"/>
            <a:chOff x="493859" y="4350224"/>
            <a:chExt cx="1955286" cy="2141064"/>
          </a:xfrm>
        </p:grpSpPr>
        <p:grpSp>
          <p:nvGrpSpPr>
            <p:cNvPr id="71" name="组合 120"/>
            <p:cNvGrpSpPr>
              <a:grpSpLocks/>
            </p:cNvGrpSpPr>
            <p:nvPr/>
          </p:nvGrpSpPr>
          <p:grpSpPr bwMode="auto">
            <a:xfrm>
              <a:off x="493859" y="4350224"/>
              <a:ext cx="1955286" cy="2141064"/>
              <a:chOff x="493859" y="4350224"/>
              <a:chExt cx="1955286" cy="2141064"/>
            </a:xfrm>
          </p:grpSpPr>
          <p:grpSp>
            <p:nvGrpSpPr>
              <p:cNvPr id="73" name="组合 98"/>
              <p:cNvGrpSpPr>
                <a:grpSpLocks/>
              </p:cNvGrpSpPr>
              <p:nvPr/>
            </p:nvGrpSpPr>
            <p:grpSpPr bwMode="auto">
              <a:xfrm>
                <a:off x="493859" y="4350224"/>
                <a:ext cx="1955286" cy="2141064"/>
                <a:chOff x="6061583" y="2060848"/>
                <a:chExt cx="1944216" cy="4592226"/>
              </a:xfrm>
            </p:grpSpPr>
            <p:sp>
              <p:nvSpPr>
                <p:cNvPr id="75" name="五边形 74"/>
                <p:cNvSpPr/>
                <p:nvPr/>
              </p:nvSpPr>
              <p:spPr>
                <a:xfrm>
                  <a:off x="6061583" y="2060649"/>
                  <a:ext cx="1944216" cy="646821"/>
                </a:xfrm>
                <a:prstGeom prst="homePlate">
                  <a:avLst/>
                </a:prstGeom>
                <a:solidFill>
                  <a:srgbClr val="595959"/>
                </a:solidFill>
                <a:ln w="28575">
                  <a:solidFill>
                    <a:schemeClr val="bg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" name="圆角矩形 75"/>
                <p:cNvSpPr/>
                <p:nvPr/>
              </p:nvSpPr>
              <p:spPr>
                <a:xfrm>
                  <a:off x="6097880" y="3139817"/>
                  <a:ext cx="1871624" cy="3513257"/>
                </a:xfrm>
                <a:prstGeom prst="round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77" name="组合 101"/>
                <p:cNvGrpSpPr>
                  <a:grpSpLocks/>
                </p:cNvGrpSpPr>
                <p:nvPr/>
              </p:nvGrpSpPr>
              <p:grpSpPr bwMode="auto">
                <a:xfrm>
                  <a:off x="6891987" y="2723128"/>
                  <a:ext cx="301876" cy="813346"/>
                  <a:chOff x="6961926" y="2291080"/>
                  <a:chExt cx="301876" cy="813346"/>
                </a:xfrm>
              </p:grpSpPr>
              <p:sp>
                <p:nvSpPr>
                  <p:cNvPr id="78" name="椭圆 77"/>
                  <p:cNvSpPr/>
                  <p:nvPr/>
                </p:nvSpPr>
                <p:spPr>
                  <a:xfrm>
                    <a:off x="6982117" y="2673725"/>
                    <a:ext cx="243027" cy="41532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79" name="组合 106"/>
                  <p:cNvGrpSpPr>
                    <a:grpSpLocks/>
                  </p:cNvGrpSpPr>
                  <p:nvPr/>
                </p:nvGrpSpPr>
                <p:grpSpPr bwMode="auto">
                  <a:xfrm>
                    <a:off x="6961926" y="2291080"/>
                    <a:ext cx="301876" cy="739872"/>
                    <a:chOff x="6964565" y="2291080"/>
                    <a:chExt cx="301876" cy="739872"/>
                  </a:xfrm>
                </p:grpSpPr>
                <p:sp>
                  <p:nvSpPr>
                    <p:cNvPr id="80" name="矩形 79"/>
                    <p:cNvSpPr/>
                    <p:nvPr/>
                  </p:nvSpPr>
                  <p:spPr>
                    <a:xfrm>
                      <a:off x="7055769" y="2292442"/>
                      <a:ext cx="89952" cy="418732"/>
                    </a:xfrm>
                    <a:prstGeom prst="rect">
                      <a:avLst/>
                    </a:prstGeom>
                    <a:gradFill flip="none" rotWithShape="1">
                      <a:gsLst>
                        <a:gs pos="49000">
                          <a:schemeClr val="bg1">
                            <a:lumMod val="85000"/>
                          </a:schemeClr>
                        </a:gs>
                        <a:gs pos="9000">
                          <a:schemeClr val="bg1">
                            <a:lumMod val="50000"/>
                          </a:schemeClr>
                        </a:gs>
                        <a:gs pos="98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grpSp>
                  <p:nvGrpSpPr>
                    <p:cNvPr id="81" name="组合 108"/>
                    <p:cNvGrpSpPr>
                      <a:grpSpLocks/>
                    </p:cNvGrpSpPr>
                    <p:nvPr/>
                  </p:nvGrpSpPr>
                  <p:grpSpPr bwMode="auto">
                    <a:xfrm rot="1267204">
                      <a:off x="6964565" y="2745983"/>
                      <a:ext cx="301876" cy="284969"/>
                      <a:chOff x="3654004" y="1861471"/>
                      <a:chExt cx="1279892" cy="1208214"/>
                    </a:xfrm>
                  </p:grpSpPr>
                  <p:sp>
                    <p:nvSpPr>
                      <p:cNvPr id="82" name="椭圆 81"/>
                      <p:cNvSpPr/>
                      <p:nvPr/>
                    </p:nvSpPr>
                    <p:spPr bwMode="auto">
                      <a:xfrm>
                        <a:off x="3870013" y="1861471"/>
                        <a:ext cx="725290" cy="1208214"/>
                      </a:xfrm>
                      <a:prstGeom prst="ellipse">
                        <a:avLst/>
                      </a:prstGeom>
                      <a:solidFill>
                        <a:srgbClr val="595959"/>
                      </a:solidFill>
                      <a:ln w="6350">
                        <a:solidFill>
                          <a:schemeClr val="accent3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83" name="椭圆 82"/>
                      <p:cNvSpPr/>
                      <p:nvPr/>
                    </p:nvSpPr>
                    <p:spPr bwMode="auto">
                      <a:xfrm rot="20122633">
                        <a:off x="4062428" y="1953157"/>
                        <a:ext cx="749370" cy="288672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55000"/>
                            </a:schemeClr>
                          </a:gs>
                          <a:gs pos="50000">
                            <a:schemeClr val="bg1">
                              <a:shade val="67500"/>
                              <a:satMod val="115000"/>
                              <a:alpha val="12000"/>
                            </a:schemeClr>
                          </a:gs>
                          <a:gs pos="100000">
                            <a:schemeClr val="bg1">
                              <a:shade val="100000"/>
                              <a:satMod val="115000"/>
                              <a:alpha val="0"/>
                            </a:schemeClr>
                          </a:gs>
                        </a:gsLst>
                        <a:path path="shape">
                          <a:fillToRect l="50000" t="50000" r="50000" b="50000"/>
                        </a:path>
                        <a:tileRect/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84" name="椭圆 83"/>
                      <p:cNvSpPr/>
                      <p:nvPr/>
                    </p:nvSpPr>
                    <p:spPr bwMode="auto">
                      <a:xfrm rot="912585">
                        <a:off x="3583515" y="2063287"/>
                        <a:ext cx="689154" cy="591783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alpha val="0"/>
                            </a:schemeClr>
                          </a:gs>
                          <a:gs pos="16000">
                            <a:schemeClr val="bg1">
                              <a:alpha val="51000"/>
                            </a:schemeClr>
                          </a:gs>
                          <a:gs pos="30000">
                            <a:schemeClr val="bg1">
                              <a:alpha val="0"/>
                            </a:schemeClr>
                          </a:gs>
                        </a:gsLst>
                        <a:lin ang="2700000" scaled="1"/>
                        <a:tileRect/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74" name="TextBox 26"/>
              <p:cNvSpPr txBox="1">
                <a:spLocks noChangeArrowheads="1"/>
              </p:cNvSpPr>
              <p:nvPr/>
            </p:nvSpPr>
            <p:spPr bwMode="auto">
              <a:xfrm>
                <a:off x="845518" y="4364716"/>
                <a:ext cx="1218227" cy="2790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CSS1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2" name="矩形 118"/>
            <p:cNvSpPr>
              <a:spLocks noChangeArrowheads="1"/>
            </p:cNvSpPr>
            <p:nvPr/>
          </p:nvSpPr>
          <p:spPr bwMode="auto">
            <a:xfrm>
              <a:off x="684195" y="5146883"/>
              <a:ext cx="1626660" cy="989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1996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发布了第一个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459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常见浏览器介绍</a:t>
              </a:r>
              <a:endParaRPr lang="zh-CN" altLang="en-US" sz="2000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32270" y="3545709"/>
            <a:ext cx="3923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熟悉渲染网页的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常用浏览器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，能够列举几个常用的浏览器及其优劣势。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浏览器内核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的种类，并能列举该种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的代表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77886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4" name="同侧圆角矩形 1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常见浏览器介绍</a:t>
              </a:r>
              <a:endParaRPr lang="zh-CN" altLang="en-US" sz="20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124575" y="1896897"/>
            <a:ext cx="4924425" cy="3741903"/>
            <a:chOff x="1019175" y="1896897"/>
            <a:chExt cx="4924425" cy="3741903"/>
          </a:xfrm>
        </p:grpSpPr>
        <p:sp>
          <p:nvSpPr>
            <p:cNvPr id="18" name="圆角矩形 17"/>
            <p:cNvSpPr/>
            <p:nvPr/>
          </p:nvSpPr>
          <p:spPr>
            <a:xfrm>
              <a:off x="1019175" y="1896898"/>
              <a:ext cx="4924425" cy="374190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TextBox 38"/>
            <p:cNvSpPr txBox="1"/>
            <p:nvPr/>
          </p:nvSpPr>
          <p:spPr>
            <a:xfrm>
              <a:off x="1408874" y="2571287"/>
              <a:ext cx="4040126" cy="207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是网页运行的平台，只有经过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渲染，我们制作的网页才能呈现出美丽的效果。常见的浏览器有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浏览器、火狐浏览器、谷歌浏览器、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Edge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浏览器、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Safari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Opera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3" name="矩形 93"/>
            <p:cNvSpPr/>
            <p:nvPr/>
          </p:nvSpPr>
          <p:spPr>
            <a:xfrm>
              <a:off x="1024831" y="18968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93"/>
            <p:cNvSpPr/>
            <p:nvPr/>
          </p:nvSpPr>
          <p:spPr>
            <a:xfrm rot="10800000">
              <a:off x="5559557" y="525475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2050" name="图片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95"/>
          <a:stretch/>
        </p:blipFill>
        <p:spPr bwMode="auto">
          <a:xfrm>
            <a:off x="727075" y="3815862"/>
            <a:ext cx="5091808" cy="160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04" y="2088918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618" y="1954213"/>
            <a:ext cx="1804988" cy="18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895" y="2038269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391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4" name="同侧圆角矩形 1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常见浏览器介绍</a:t>
              </a:r>
              <a:endParaRPr lang="zh-CN" altLang="en-US" sz="2000" dirty="0"/>
            </a:p>
          </p:txBody>
        </p:sp>
      </p:grpSp>
      <p:sp>
        <p:nvSpPr>
          <p:cNvPr id="3" name="矩形 2"/>
          <p:cNvSpPr/>
          <p:nvPr/>
        </p:nvSpPr>
        <p:spPr>
          <a:xfrm>
            <a:off x="1711827" y="1408146"/>
            <a:ext cx="975836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对于一般的网站，只要兼容</a:t>
            </a: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浏览器、火狐浏览器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谷歌浏览器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，就能满足绝大多数需求。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1922647"/>
            <a:ext cx="1636712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140" y="1851209"/>
            <a:ext cx="1779588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圆角矩形 24"/>
          <p:cNvSpPr/>
          <p:nvPr/>
        </p:nvSpPr>
        <p:spPr bwMode="auto">
          <a:xfrm>
            <a:off x="1836738" y="3635879"/>
            <a:ext cx="9181032" cy="2726821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的全称是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Internet Explorer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，由微软公司推出，直接绑定在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windows</a:t>
            </a:r>
            <a:r>
              <a:rPr lang="zh-CN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操作系统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中，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无须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下载安装。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6.0</a:t>
            </a:r>
            <a:r>
              <a:rPr lang="zh-CN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7.0</a:t>
            </a:r>
            <a:r>
              <a:rPr lang="zh-CN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8.0</a:t>
            </a:r>
            <a:r>
              <a:rPr lang="zh-CN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9.0</a:t>
            </a:r>
            <a:r>
              <a:rPr lang="zh-CN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10.0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11.0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等版本，目前最新的是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IE11.0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2015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月微软公司放弃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浏览器，转而在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Windows 10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系统上内置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Edge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作为替代品。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Edge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拥有比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优化程度更高的代码结构，因此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Edge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浏览器的速度更快。</a:t>
            </a:r>
          </a:p>
        </p:txBody>
      </p:sp>
    </p:spTree>
    <p:extLst>
      <p:ext uri="{BB962C8B-B14F-4D97-AF65-F5344CB8AC3E}">
        <p14:creationId xmlns:p14="http://schemas.microsoft.com/office/powerpoint/2010/main" val="241398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4" name="同侧圆角矩形 1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常见浏览器介绍</a:t>
              </a:r>
              <a:endParaRPr lang="zh-CN" altLang="en-US" sz="2000" dirty="0"/>
            </a:p>
          </p:txBody>
        </p:sp>
      </p:grpSp>
      <p:sp>
        <p:nvSpPr>
          <p:cNvPr id="3" name="矩形 2"/>
          <p:cNvSpPr/>
          <p:nvPr/>
        </p:nvSpPr>
        <p:spPr>
          <a:xfrm>
            <a:off x="1711827" y="1408146"/>
            <a:ext cx="975836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对于一般的网站，只要兼容</a:t>
            </a: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浏览器、火狐浏览器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谷歌浏览器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，就能满足绝大多数需求。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2" y="1843435"/>
            <a:ext cx="1804988" cy="18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圆角矩形 17"/>
          <p:cNvSpPr/>
          <p:nvPr/>
        </p:nvSpPr>
        <p:spPr bwMode="auto">
          <a:xfrm>
            <a:off x="1836738" y="3635879"/>
            <a:ext cx="8958262" cy="2726821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火狐浏览器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的英文名称为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Mozilla Firefox”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（简称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Firefox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），是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Mozilla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公司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旗下的一款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火狐浏览器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是一个自由并开源的网页浏览器，其可开发程度很高。它现在的境况却难以和昔日相比。但它依然是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网页制作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中不可或缺的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调试工具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134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 bwMode="auto">
          <a:xfrm>
            <a:off x="1836738" y="3635879"/>
            <a:ext cx="8958262" cy="2726821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Google Chrome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又称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谷歌浏览器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，是由</a:t>
            </a: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Google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（谷歌）公司开发的开放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原始码网页浏览器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。该浏览器基于其它开放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原始码软件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所撰写，包括</a:t>
            </a:r>
            <a:r>
              <a:rPr lang="en-US" altLang="zh-CN" sz="2000" dirty="0" err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WebKit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Mozilla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，目标是提升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稳定性、速度和安全性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，并创造出简单有效的使用界面。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4" name="同侧圆角矩形 1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常见浏览器介绍</a:t>
              </a:r>
              <a:endParaRPr lang="zh-CN" altLang="en-US" sz="2000" dirty="0"/>
            </a:p>
          </p:txBody>
        </p:sp>
      </p:grpSp>
      <p:sp>
        <p:nvSpPr>
          <p:cNvPr id="3" name="矩形 2"/>
          <p:cNvSpPr/>
          <p:nvPr/>
        </p:nvSpPr>
        <p:spPr>
          <a:xfrm>
            <a:off x="1711827" y="1408146"/>
            <a:ext cx="975836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对于一般的网站，只要兼容</a:t>
            </a: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浏览器、火狐浏览器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谷歌浏览器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，就能满足绝大多数需求。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1922647"/>
            <a:ext cx="1636712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140" y="1851209"/>
            <a:ext cx="1779588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492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4" name="同侧圆角矩形 1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常见浏览器介绍</a:t>
              </a:r>
              <a:endParaRPr lang="zh-CN" altLang="en-US" sz="2000" dirty="0"/>
            </a:p>
          </p:txBody>
        </p:sp>
      </p:grpSp>
      <p:sp>
        <p:nvSpPr>
          <p:cNvPr id="3" name="矩形 2"/>
          <p:cNvSpPr/>
          <p:nvPr/>
        </p:nvSpPr>
        <p:spPr>
          <a:xfrm>
            <a:off x="1711827" y="1408146"/>
            <a:ext cx="975836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对于一般的网站，只要兼容</a:t>
            </a:r>
            <a:r>
              <a:rPr lang="en-US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IE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浏览器、火狐浏览器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18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谷歌浏览器</a:t>
            </a:r>
            <a:r>
              <a:rPr lang="zh-CN" altLang="zh-CN" sz="18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，就能满足绝大多数需求。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1922647"/>
            <a:ext cx="1636712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1922647"/>
            <a:ext cx="1635125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140" y="1851209"/>
            <a:ext cx="1779588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圆角矩形 17"/>
          <p:cNvSpPr/>
          <p:nvPr/>
        </p:nvSpPr>
        <p:spPr bwMode="auto">
          <a:xfrm>
            <a:off x="1836738" y="3635879"/>
            <a:ext cx="8958262" cy="2726821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78051" y="3908627"/>
            <a:ext cx="2279650" cy="2342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在谷歌浏览器中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调试网页代码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也非常简单，按</a:t>
            </a:r>
            <a:r>
              <a:rPr lang="zh-CN" altLang="en-US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F12”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快捷键，即可打开调试窗口。</a:t>
            </a:r>
            <a:endParaRPr lang="zh-CN" altLang="en-US" sz="2000" dirty="0"/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4" y="3983270"/>
            <a:ext cx="54864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787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48E86F9-97DF-1547-B35A-B4AE0E2566D5}"/>
                </a:ext>
              </a:extLst>
            </p:cNvPr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E7BEBC0-8E74-6A44-84C1-834478E6C533}"/>
                </a:ext>
              </a:extLst>
            </p:cNvPr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什么是浏览器内核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原创设计师QQ598969553          _3"/>
          <p:cNvSpPr/>
          <p:nvPr/>
        </p:nvSpPr>
        <p:spPr>
          <a:xfrm>
            <a:off x="4382509" y="2809783"/>
            <a:ext cx="6200775" cy="3718017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原创设计师QQ598969553          _4"/>
          <p:cNvSpPr/>
          <p:nvPr/>
        </p:nvSpPr>
        <p:spPr>
          <a:xfrm>
            <a:off x="4657572" y="2932533"/>
            <a:ext cx="56167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浏览器内核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是浏览器最核心的部分，负责对网页语法的解释并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渲染网页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（也就是显示网页效果），是渲染引擎（标准叫法）的通俗叫法。内核分类如下：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Trident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。只能用于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Gecko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火狐浏览器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。可以跨平台。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Webkit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内核：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Safari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老版本的谷歌浏览器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Presto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Blink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新版谷歌浏览器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4" name="同侧圆角矩形 1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常见浏览器介绍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4358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477642" y="3056245"/>
            <a:ext cx="8471471" cy="64633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1-3】</a:t>
            </a:r>
            <a:r>
              <a:rPr lang="en-US" altLang="zh-CN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Dreamweaver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工具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的使用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762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为了方便网页制作，我们通常会选择一些较便捷的辅助工具。例如，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HBuilder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Sublime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等。其中前面列举的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种软件，更偏向于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开发，而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工具则依靠其可视化的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网页制作模式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，极大地降低了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网站建设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的难度，使得不同技术水平的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，都能搭建出美观的页面。本节将简单介绍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9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264996"/>
            <a:ext cx="392398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Dreamweaver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界面的功能模块分布，能够知道在哪个模块编写代码。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Dreamweaver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各菜单命令的用法，能够准确地调出命令。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68028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标注 12"/>
          <p:cNvSpPr/>
          <p:nvPr/>
        </p:nvSpPr>
        <p:spPr bwMode="auto">
          <a:xfrm rot="16200000" flipH="1">
            <a:off x="577850" y="2024857"/>
            <a:ext cx="4600575" cy="3811587"/>
          </a:xfrm>
          <a:prstGeom prst="wedgeRoundRectCallou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1146830" y="2951225"/>
            <a:ext cx="3637101" cy="1884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双击运行桌面上的软件图标，进入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。在界面布局时，建议大家选择菜单栏中的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“窗口→工作区布局→经典”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选项。</a:t>
            </a: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63" y="1630364"/>
            <a:ext cx="54864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170251" y="210077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软件界面</a:t>
            </a:r>
            <a:endParaRPr lang="zh-CN" altLang="en-US" b="1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29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418" y="1780381"/>
            <a:ext cx="6450809" cy="430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标注 12"/>
          <p:cNvSpPr/>
          <p:nvPr/>
        </p:nvSpPr>
        <p:spPr bwMode="auto">
          <a:xfrm rot="16200000" flipH="1">
            <a:off x="577850" y="2024857"/>
            <a:ext cx="4600575" cy="3811587"/>
          </a:xfrm>
          <a:prstGeom prst="wedgeRoundRectCallou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1146830" y="2951225"/>
            <a:ext cx="3637101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选择菜单栏中的“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文件→新建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”选项，会出现“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新建文档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对话框。这时，在“文档类型”下拉选项中选择“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，即可创建一个空白的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文档。</a:t>
            </a:r>
          </a:p>
        </p:txBody>
      </p:sp>
      <p:sp>
        <p:nvSpPr>
          <p:cNvPr id="2" name="矩形 1"/>
          <p:cNvSpPr/>
          <p:nvPr/>
        </p:nvSpPr>
        <p:spPr>
          <a:xfrm>
            <a:off x="1801951" y="210077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新建文档对话框</a:t>
            </a:r>
            <a:endParaRPr lang="zh-CN" altLang="en-US" b="1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49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73160"/>
              </p:ext>
            </p:extLst>
          </p:nvPr>
        </p:nvGraphicFramePr>
        <p:xfrm>
          <a:off x="2217002" y="1515228"/>
          <a:ext cx="7828697" cy="4004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Visio" r:id="rId4" imgW="11041920" imgH="5662163" progId="Visio.Drawing.11">
                  <p:embed/>
                </p:oleObj>
              </mc:Choice>
              <mc:Fallback>
                <p:oleObj name="Visio" r:id="rId4" imgW="11041920" imgH="5662163" progId="Visio.Drawing.11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002" y="1515228"/>
                        <a:ext cx="7828697" cy="40046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3771900" y="5098277"/>
            <a:ext cx="6220618" cy="1489075"/>
            <a:chOff x="282222" y="2156708"/>
            <a:chExt cx="4713899" cy="1489603"/>
          </a:xfrm>
        </p:grpSpPr>
        <p:sp>
          <p:nvSpPr>
            <p:cNvPr id="12" name="圆角矩形标注 11"/>
            <p:cNvSpPr/>
            <p:nvPr/>
          </p:nvSpPr>
          <p:spPr bwMode="auto">
            <a:xfrm rot="10800000" flipH="1">
              <a:off x="282222" y="2156708"/>
              <a:ext cx="4673600" cy="148960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3"/>
            <p:cNvSpPr>
              <a:spLocks noChangeArrowheads="1"/>
            </p:cNvSpPr>
            <p:nvPr/>
          </p:nvSpPr>
          <p:spPr bwMode="auto">
            <a:xfrm>
              <a:off x="424121" y="2655173"/>
              <a:ext cx="4572000" cy="923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软件的操作界面，主要由六部分组成，包括</a:t>
              </a:r>
              <a:r>
                <a:rPr lang="zh-CN" altLang="en-US" sz="1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菜单栏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插入栏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文档工具栏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文档窗口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属性面板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</a:t>
              </a:r>
              <a:r>
                <a:rPr lang="zh-CN" altLang="en-US" sz="1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常用面板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6" name="矩形 15"/>
          <p:cNvSpPr/>
          <p:nvPr/>
        </p:nvSpPr>
        <p:spPr>
          <a:xfrm>
            <a:off x="4552950" y="5160300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软件操作界面</a:t>
            </a:r>
            <a:endParaRPr lang="zh-CN" altLang="en-US" b="1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9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 12"/>
          <p:cNvSpPr/>
          <p:nvPr/>
        </p:nvSpPr>
        <p:spPr>
          <a:xfrm>
            <a:off x="1019175" y="1960398"/>
            <a:ext cx="10440988" cy="19639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TextBox 38"/>
          <p:cNvSpPr txBox="1"/>
          <p:nvPr/>
        </p:nvSpPr>
        <p:spPr>
          <a:xfrm>
            <a:off x="1624075" y="2760365"/>
            <a:ext cx="929792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菜单栏由各种菜单命令构成，包括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个菜单项。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93"/>
          <p:cNvSpPr/>
          <p:nvPr/>
        </p:nvSpPr>
        <p:spPr>
          <a:xfrm>
            <a:off x="1024831" y="19603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8" name="矩形 93"/>
          <p:cNvSpPr/>
          <p:nvPr/>
        </p:nvSpPr>
        <p:spPr>
          <a:xfrm rot="10800000">
            <a:off x="11076120" y="35557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pic>
        <p:nvPicPr>
          <p:cNvPr id="19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4550823"/>
            <a:ext cx="10440988" cy="2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373056" y="2233940"/>
            <a:ext cx="1625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）菜单栏</a:t>
            </a:r>
          </a:p>
        </p:txBody>
      </p:sp>
    </p:spTree>
    <p:extLst>
      <p:ext uri="{BB962C8B-B14F-4D97-AF65-F5344CB8AC3E}">
        <p14:creationId xmlns:p14="http://schemas.microsoft.com/office/powerpoint/2010/main" val="372909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 12"/>
          <p:cNvSpPr/>
          <p:nvPr/>
        </p:nvSpPr>
        <p:spPr>
          <a:xfrm>
            <a:off x="1019175" y="1973098"/>
            <a:ext cx="10440988" cy="19639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TextBox 38"/>
          <p:cNvSpPr txBox="1"/>
          <p:nvPr/>
        </p:nvSpPr>
        <p:spPr>
          <a:xfrm>
            <a:off x="1611375" y="2773065"/>
            <a:ext cx="934872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建设网站时，对于一些经常使用的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，可以直接选择插入栏里的相关按钮，这些按钮一般都和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菜单中的命令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相对应。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93"/>
          <p:cNvSpPr/>
          <p:nvPr/>
        </p:nvSpPr>
        <p:spPr>
          <a:xfrm>
            <a:off x="1024831" y="19730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8" name="矩形 93"/>
          <p:cNvSpPr/>
          <p:nvPr/>
        </p:nvSpPr>
        <p:spPr>
          <a:xfrm rot="10800000">
            <a:off x="11076120" y="35684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73056" y="2246640"/>
            <a:ext cx="1625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）插入栏</a:t>
            </a:r>
          </a:p>
        </p:txBody>
      </p:sp>
      <p:pic>
        <p:nvPicPr>
          <p:cNvPr id="11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4505985"/>
            <a:ext cx="10440988" cy="1015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909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 12"/>
          <p:cNvSpPr/>
          <p:nvPr/>
        </p:nvSpPr>
        <p:spPr>
          <a:xfrm>
            <a:off x="1019175" y="1973098"/>
            <a:ext cx="10440988" cy="19639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TextBox 38"/>
          <p:cNvSpPr txBox="1"/>
          <p:nvPr/>
        </p:nvSpPr>
        <p:spPr>
          <a:xfrm>
            <a:off x="1611375" y="2773065"/>
            <a:ext cx="9348726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文档工具栏提供了各种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“文档”视图窗口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代码、拆分、设计视图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，还提供了各种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查看选项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和一些常用操作。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93"/>
          <p:cNvSpPr/>
          <p:nvPr/>
        </p:nvSpPr>
        <p:spPr>
          <a:xfrm>
            <a:off x="1024831" y="19730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8" name="矩形 93"/>
          <p:cNvSpPr/>
          <p:nvPr/>
        </p:nvSpPr>
        <p:spPr>
          <a:xfrm rot="10800000">
            <a:off x="11076120" y="35684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6574" y="2246640"/>
            <a:ext cx="2138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）文档工具栏</a:t>
            </a:r>
          </a:p>
        </p:txBody>
      </p:sp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4" y="4489317"/>
            <a:ext cx="10440989" cy="82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876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 12"/>
          <p:cNvSpPr/>
          <p:nvPr/>
        </p:nvSpPr>
        <p:spPr>
          <a:xfrm>
            <a:off x="1019175" y="1973098"/>
            <a:ext cx="10440988" cy="19639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TextBox 38"/>
          <p:cNvSpPr txBox="1"/>
          <p:nvPr/>
        </p:nvSpPr>
        <p:spPr>
          <a:xfrm>
            <a:off x="1611375" y="2773065"/>
            <a:ext cx="9348726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文档窗口是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最常用到的区域之一，此处会显示所有打开的文档。单击文档工具栏里的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“代码”“拆分”“设计”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三个选择按钮可变换区域的显示状。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93"/>
          <p:cNvSpPr/>
          <p:nvPr/>
        </p:nvSpPr>
        <p:spPr>
          <a:xfrm>
            <a:off x="1024831" y="19730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8" name="矩形 93"/>
          <p:cNvSpPr/>
          <p:nvPr/>
        </p:nvSpPr>
        <p:spPr>
          <a:xfrm rot="10800000">
            <a:off x="11076120" y="35684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44815" y="2246640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）文档窗口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077422"/>
              </p:ext>
            </p:extLst>
          </p:nvPr>
        </p:nvGraphicFramePr>
        <p:xfrm>
          <a:off x="3829116" y="3760457"/>
          <a:ext cx="526732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Visio" r:id="rId4" imgW="5987520" imgH="3380207" progId="Visio.Drawing.11">
                  <p:embed/>
                </p:oleObj>
              </mc:Choice>
              <mc:Fallback>
                <p:oleObj name="Visio" r:id="rId4" imgW="5987520" imgH="3380207" progId="Visio.Drawing.11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116" y="3760457"/>
                        <a:ext cx="5267325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925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 12"/>
          <p:cNvSpPr/>
          <p:nvPr/>
        </p:nvSpPr>
        <p:spPr>
          <a:xfrm>
            <a:off x="1019175" y="1973098"/>
            <a:ext cx="10440988" cy="19639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TextBox 38"/>
          <p:cNvSpPr txBox="1"/>
          <p:nvPr/>
        </p:nvSpPr>
        <p:spPr>
          <a:xfrm>
            <a:off x="1611375" y="2773065"/>
            <a:ext cx="9348726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属性面板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文档窗口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中所选中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的属性。在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中允许用户在属性面板中直接对元素的属性进行修改。选中的元素不同，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属性面板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中内容也不一样。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93"/>
          <p:cNvSpPr/>
          <p:nvPr/>
        </p:nvSpPr>
        <p:spPr>
          <a:xfrm>
            <a:off x="1024831" y="19730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8" name="矩形 93"/>
          <p:cNvSpPr/>
          <p:nvPr/>
        </p:nvSpPr>
        <p:spPr>
          <a:xfrm rot="10800000">
            <a:off x="11076120" y="35684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44817" y="2246640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）属性面板</a:t>
            </a:r>
          </a:p>
        </p:txBody>
      </p:sp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74" y="4115804"/>
            <a:ext cx="7824725" cy="11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74" y="5416417"/>
            <a:ext cx="7824725" cy="10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694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zh-CN" altLang="en-US" sz="2000" dirty="0"/>
          </a:p>
        </p:txBody>
      </p:sp>
      <p:sp>
        <p:nvSpPr>
          <p:cNvPr id="13" name="圆角矩形 12"/>
          <p:cNvSpPr/>
          <p:nvPr/>
        </p:nvSpPr>
        <p:spPr>
          <a:xfrm>
            <a:off x="1019175" y="1973098"/>
            <a:ext cx="10440988" cy="196390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TextBox 38"/>
          <p:cNvSpPr txBox="1"/>
          <p:nvPr/>
        </p:nvSpPr>
        <p:spPr>
          <a:xfrm>
            <a:off x="1611375" y="2773065"/>
            <a:ext cx="934872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常用面板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中集合了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网站编辑与建设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过程中一些常用的工具。用户可以根据需要自定义该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区域的功能面板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，通过这样的方式既能够很容易的使用所需面板，也不会使工作区域变得混乱。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93"/>
          <p:cNvSpPr/>
          <p:nvPr/>
        </p:nvSpPr>
        <p:spPr>
          <a:xfrm>
            <a:off x="1024831" y="19730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8" name="矩形 93"/>
          <p:cNvSpPr/>
          <p:nvPr/>
        </p:nvSpPr>
        <p:spPr>
          <a:xfrm rot="10800000">
            <a:off x="11076120" y="356843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44817" y="2246640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）常用面板</a:t>
            </a:r>
          </a:p>
        </p:txBody>
      </p:sp>
      <p:pic>
        <p:nvPicPr>
          <p:cNvPr id="1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588" y="4063315"/>
            <a:ext cx="5614987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583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5250" y="3342509"/>
            <a:ext cx="3923980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Dreamweaver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初始化设置方法，能够完成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Dreamweaver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软件的初始化设置。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0" name="同侧圆角矩形 9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Dreamweaver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初始化设置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6090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Dreamweaver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初始化设置</a:t>
              </a:r>
              <a:endParaRPr lang="zh-CN" altLang="en-US" sz="2000" dirty="0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2047875" y="1801813"/>
            <a:ext cx="3308350" cy="3892550"/>
            <a:chOff x="1048681" y="2129820"/>
            <a:chExt cx="3309342" cy="3893343"/>
          </a:xfrm>
        </p:grpSpPr>
        <p:grpSp>
          <p:nvGrpSpPr>
            <p:cNvPr id="11" name="组合 21"/>
            <p:cNvGrpSpPr>
              <a:grpSpLocks/>
            </p:cNvGrpSpPr>
            <p:nvPr/>
          </p:nvGrpSpPr>
          <p:grpSpPr bwMode="auto">
            <a:xfrm>
              <a:off x="1048681" y="2129820"/>
              <a:ext cx="3309342" cy="3893343"/>
              <a:chOff x="1048681" y="2129820"/>
              <a:chExt cx="3309342" cy="3893343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048681" y="2129820"/>
                <a:ext cx="3309342" cy="3893343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矩形 16"/>
              <p:cNvSpPr/>
              <p:nvPr/>
            </p:nvSpPr>
            <p:spPr>
              <a:xfrm>
                <a:off x="1213831" y="2285427"/>
                <a:ext cx="2979043" cy="2530991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8" name="任意多边形 17"/>
              <p:cNvSpPr/>
              <p:nvPr/>
            </p:nvSpPr>
            <p:spPr>
              <a:xfrm>
                <a:off x="1213831" y="4933916"/>
                <a:ext cx="2979043" cy="662122"/>
              </a:xfrm>
              <a:custGeom>
                <a:avLst/>
                <a:gdLst>
                  <a:gd name="connsiteX0" fmla="*/ 0 w 2978407"/>
                  <a:gd name="connsiteY0" fmla="*/ 0 h 661837"/>
                  <a:gd name="connsiteX1" fmla="*/ 2978407 w 2978407"/>
                  <a:gd name="connsiteY1" fmla="*/ 0 h 661837"/>
                  <a:gd name="connsiteX2" fmla="*/ 2978407 w 2978407"/>
                  <a:gd name="connsiteY2" fmla="*/ 661837 h 661837"/>
                  <a:gd name="connsiteX3" fmla="*/ 0 w 2978407"/>
                  <a:gd name="connsiteY3" fmla="*/ 661837 h 661837"/>
                  <a:gd name="connsiteX4" fmla="*/ 0 w 2978407"/>
                  <a:gd name="connsiteY4" fmla="*/ 0 h 66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661837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661837"/>
                    </a:lnTo>
                    <a:lnTo>
                      <a:pt x="0" y="6618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110490" tIns="110490" rIns="110490" bIns="110490" spcCol="1270" anchor="ctr"/>
              <a:lstStyle/>
              <a:p>
                <a:pPr algn="ctr" defTabSz="12890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2900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>
                <a:off x="1213831" y="4816417"/>
                <a:ext cx="2979043" cy="389016"/>
              </a:xfrm>
              <a:custGeom>
                <a:avLst/>
                <a:gdLst>
                  <a:gd name="connsiteX0" fmla="*/ 0 w 2978407"/>
                  <a:gd name="connsiteY0" fmla="*/ 0 h 389365"/>
                  <a:gd name="connsiteX1" fmla="*/ 2978407 w 2978407"/>
                  <a:gd name="connsiteY1" fmla="*/ 0 h 389365"/>
                  <a:gd name="connsiteX2" fmla="*/ 2978407 w 2978407"/>
                  <a:gd name="connsiteY2" fmla="*/ 389365 h 389365"/>
                  <a:gd name="connsiteX3" fmla="*/ 0 w 2978407"/>
                  <a:gd name="connsiteY3" fmla="*/ 389365 h 389365"/>
                  <a:gd name="connsiteX4" fmla="*/ 0 w 2978407"/>
                  <a:gd name="connsiteY4" fmla="*/ 0 h 38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389365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389365"/>
                    </a:lnTo>
                    <a:lnTo>
                      <a:pt x="0" y="38936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64770" tIns="64770" rIns="64770" bIns="64770" spcCol="1270" anchor="ctr"/>
              <a:lstStyle/>
              <a:p>
                <a:pPr algn="ctr" defTabSz="7556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700"/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1526662" y="5081583"/>
              <a:ext cx="2480419" cy="3694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设置工作区布局</a:t>
              </a:r>
              <a:endParaRPr lang="en-US" altLang="zh-CN" sz="1800" b="1" spc="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29"/>
            <p:cNvSpPr>
              <a:spLocks noChangeArrowheads="1"/>
            </p:cNvSpPr>
            <p:nvPr/>
          </p:nvSpPr>
          <p:spPr bwMode="auto">
            <a:xfrm>
              <a:off x="1394737" y="2415167"/>
              <a:ext cx="2612820" cy="1526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Dreamweaver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工具界面，选择菜单栏里的“窗口→工作区布局→经典”选项。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713" y="1801813"/>
            <a:ext cx="4641850" cy="389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22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Dreamweaver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初始化设置</a:t>
              </a:r>
              <a:endParaRPr lang="zh-CN" altLang="en-US" sz="2000" dirty="0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2797175" y="1954213"/>
            <a:ext cx="3308350" cy="3892550"/>
            <a:chOff x="1048681" y="2129820"/>
            <a:chExt cx="3309342" cy="3893343"/>
          </a:xfrm>
        </p:grpSpPr>
        <p:grpSp>
          <p:nvGrpSpPr>
            <p:cNvPr id="22" name="组合 21"/>
            <p:cNvGrpSpPr>
              <a:grpSpLocks/>
            </p:cNvGrpSpPr>
            <p:nvPr/>
          </p:nvGrpSpPr>
          <p:grpSpPr bwMode="auto">
            <a:xfrm>
              <a:off x="1048681" y="2129820"/>
              <a:ext cx="3309342" cy="3893343"/>
              <a:chOff x="1048681" y="2129820"/>
              <a:chExt cx="3309342" cy="3893343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048681" y="2129820"/>
                <a:ext cx="3309342" cy="3893343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" name="矩形 25"/>
              <p:cNvSpPr/>
              <p:nvPr/>
            </p:nvSpPr>
            <p:spPr>
              <a:xfrm>
                <a:off x="1213831" y="2285427"/>
                <a:ext cx="2979043" cy="2530991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" name="任意多边形 26"/>
              <p:cNvSpPr/>
              <p:nvPr/>
            </p:nvSpPr>
            <p:spPr>
              <a:xfrm>
                <a:off x="1213831" y="4933916"/>
                <a:ext cx="2979043" cy="662122"/>
              </a:xfrm>
              <a:custGeom>
                <a:avLst/>
                <a:gdLst>
                  <a:gd name="connsiteX0" fmla="*/ 0 w 2978407"/>
                  <a:gd name="connsiteY0" fmla="*/ 0 h 661837"/>
                  <a:gd name="connsiteX1" fmla="*/ 2978407 w 2978407"/>
                  <a:gd name="connsiteY1" fmla="*/ 0 h 661837"/>
                  <a:gd name="connsiteX2" fmla="*/ 2978407 w 2978407"/>
                  <a:gd name="connsiteY2" fmla="*/ 661837 h 661837"/>
                  <a:gd name="connsiteX3" fmla="*/ 0 w 2978407"/>
                  <a:gd name="connsiteY3" fmla="*/ 661837 h 661837"/>
                  <a:gd name="connsiteX4" fmla="*/ 0 w 2978407"/>
                  <a:gd name="connsiteY4" fmla="*/ 0 h 66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661837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661837"/>
                    </a:lnTo>
                    <a:lnTo>
                      <a:pt x="0" y="6618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110490" tIns="110490" rIns="110490" bIns="110490" spcCol="1270" anchor="ctr"/>
              <a:lstStyle/>
              <a:p>
                <a:pPr algn="ctr" defTabSz="12890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290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>
                <a:off x="1213831" y="4816417"/>
                <a:ext cx="2979043" cy="389016"/>
              </a:xfrm>
              <a:custGeom>
                <a:avLst/>
                <a:gdLst>
                  <a:gd name="connsiteX0" fmla="*/ 0 w 2978407"/>
                  <a:gd name="connsiteY0" fmla="*/ 0 h 389365"/>
                  <a:gd name="connsiteX1" fmla="*/ 2978407 w 2978407"/>
                  <a:gd name="connsiteY1" fmla="*/ 0 h 389365"/>
                  <a:gd name="connsiteX2" fmla="*/ 2978407 w 2978407"/>
                  <a:gd name="connsiteY2" fmla="*/ 389365 h 389365"/>
                  <a:gd name="connsiteX3" fmla="*/ 0 w 2978407"/>
                  <a:gd name="connsiteY3" fmla="*/ 389365 h 389365"/>
                  <a:gd name="connsiteX4" fmla="*/ 0 w 2978407"/>
                  <a:gd name="connsiteY4" fmla="*/ 0 h 38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389365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389365"/>
                    </a:lnTo>
                    <a:lnTo>
                      <a:pt x="0" y="38936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64770" tIns="64770" rIns="64770" bIns="64770" spcCol="1270" anchor="ctr"/>
              <a:lstStyle/>
              <a:p>
                <a:pPr algn="ctr" defTabSz="7556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700"/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1526662" y="5081583"/>
              <a:ext cx="2480419" cy="3694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2.</a:t>
              </a:r>
              <a:r>
                <a:rPr lang="zh-CN" altLang="en-US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添加必备面板</a:t>
              </a:r>
              <a:endParaRPr lang="en-US" altLang="zh-CN" sz="1800" b="1" spc="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1394737" y="2415167"/>
              <a:ext cx="2612820" cy="2308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设置为“经典”模式后，需要调出常用的三部分面板，分别为“插入菜单”“文件面板“属性面板”。这些面板均可以通过“窗口”菜单打开。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989" y="1954213"/>
            <a:ext cx="3225888" cy="389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60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Dreamweaver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初始化设置</a:t>
              </a:r>
              <a:endParaRPr lang="zh-CN" altLang="en-US" sz="2000" dirty="0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1666875" y="1954213"/>
            <a:ext cx="3308350" cy="3892550"/>
            <a:chOff x="1048681" y="2129820"/>
            <a:chExt cx="3309342" cy="3893343"/>
          </a:xfrm>
        </p:grpSpPr>
        <p:grpSp>
          <p:nvGrpSpPr>
            <p:cNvPr id="22" name="组合 21"/>
            <p:cNvGrpSpPr>
              <a:grpSpLocks/>
            </p:cNvGrpSpPr>
            <p:nvPr/>
          </p:nvGrpSpPr>
          <p:grpSpPr bwMode="auto">
            <a:xfrm>
              <a:off x="1048681" y="2129820"/>
              <a:ext cx="3309342" cy="3893343"/>
              <a:chOff x="1048681" y="2129820"/>
              <a:chExt cx="3309342" cy="3893343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048681" y="2129820"/>
                <a:ext cx="3309342" cy="3893343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" name="矩形 25"/>
              <p:cNvSpPr/>
              <p:nvPr/>
            </p:nvSpPr>
            <p:spPr>
              <a:xfrm>
                <a:off x="1213831" y="2285427"/>
                <a:ext cx="2979043" cy="2530991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" name="任意多边形 26"/>
              <p:cNvSpPr/>
              <p:nvPr/>
            </p:nvSpPr>
            <p:spPr>
              <a:xfrm>
                <a:off x="1213831" y="4933916"/>
                <a:ext cx="2979043" cy="662122"/>
              </a:xfrm>
              <a:custGeom>
                <a:avLst/>
                <a:gdLst>
                  <a:gd name="connsiteX0" fmla="*/ 0 w 2978407"/>
                  <a:gd name="connsiteY0" fmla="*/ 0 h 661837"/>
                  <a:gd name="connsiteX1" fmla="*/ 2978407 w 2978407"/>
                  <a:gd name="connsiteY1" fmla="*/ 0 h 661837"/>
                  <a:gd name="connsiteX2" fmla="*/ 2978407 w 2978407"/>
                  <a:gd name="connsiteY2" fmla="*/ 661837 h 661837"/>
                  <a:gd name="connsiteX3" fmla="*/ 0 w 2978407"/>
                  <a:gd name="connsiteY3" fmla="*/ 661837 h 661837"/>
                  <a:gd name="connsiteX4" fmla="*/ 0 w 2978407"/>
                  <a:gd name="connsiteY4" fmla="*/ 0 h 66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661837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661837"/>
                    </a:lnTo>
                    <a:lnTo>
                      <a:pt x="0" y="6618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110490" tIns="110490" rIns="110490" bIns="110490" spcCol="1270" anchor="ctr"/>
              <a:lstStyle/>
              <a:p>
                <a:pPr algn="ctr" defTabSz="12890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290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>
                <a:off x="1213831" y="4816417"/>
                <a:ext cx="2979043" cy="389016"/>
              </a:xfrm>
              <a:custGeom>
                <a:avLst/>
                <a:gdLst>
                  <a:gd name="connsiteX0" fmla="*/ 0 w 2978407"/>
                  <a:gd name="connsiteY0" fmla="*/ 0 h 389365"/>
                  <a:gd name="connsiteX1" fmla="*/ 2978407 w 2978407"/>
                  <a:gd name="connsiteY1" fmla="*/ 0 h 389365"/>
                  <a:gd name="connsiteX2" fmla="*/ 2978407 w 2978407"/>
                  <a:gd name="connsiteY2" fmla="*/ 389365 h 389365"/>
                  <a:gd name="connsiteX3" fmla="*/ 0 w 2978407"/>
                  <a:gd name="connsiteY3" fmla="*/ 389365 h 389365"/>
                  <a:gd name="connsiteX4" fmla="*/ 0 w 2978407"/>
                  <a:gd name="connsiteY4" fmla="*/ 0 h 38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389365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389365"/>
                    </a:lnTo>
                    <a:lnTo>
                      <a:pt x="0" y="38936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64770" tIns="64770" rIns="64770" bIns="64770" spcCol="1270" anchor="ctr"/>
              <a:lstStyle/>
              <a:p>
                <a:pPr algn="ctr" defTabSz="7556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700"/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1526662" y="5081583"/>
              <a:ext cx="2480419" cy="3694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3.</a:t>
              </a:r>
              <a:r>
                <a:rPr lang="zh-CN" altLang="en-US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设置新建文档</a:t>
              </a:r>
              <a:endParaRPr lang="en-US" altLang="zh-CN" sz="1800" b="1" spc="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1394737" y="2415167"/>
              <a:ext cx="2612820" cy="2265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选择“编辑→首选参数”选项（或按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Ctrl+U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组合键），即可打开“首选参数”面板。选中左侧分类中的“新建文档”选项，右侧就会出现对应的设置。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077" y="1954213"/>
            <a:ext cx="5519764" cy="389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82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Dreamweaver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初始化设置</a:t>
              </a:r>
              <a:endParaRPr lang="zh-CN" altLang="en-US" sz="2000" dirty="0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1793875" y="1954213"/>
            <a:ext cx="3308350" cy="3892550"/>
            <a:chOff x="1048681" y="2129820"/>
            <a:chExt cx="3309342" cy="3893343"/>
          </a:xfrm>
        </p:grpSpPr>
        <p:grpSp>
          <p:nvGrpSpPr>
            <p:cNvPr id="22" name="组合 21"/>
            <p:cNvGrpSpPr>
              <a:grpSpLocks/>
            </p:cNvGrpSpPr>
            <p:nvPr/>
          </p:nvGrpSpPr>
          <p:grpSpPr bwMode="auto">
            <a:xfrm>
              <a:off x="1048681" y="2129820"/>
              <a:ext cx="3309342" cy="3893343"/>
              <a:chOff x="1048681" y="2129820"/>
              <a:chExt cx="3309342" cy="3893343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048681" y="2129820"/>
                <a:ext cx="3309342" cy="3893343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" name="矩形 25"/>
              <p:cNvSpPr/>
              <p:nvPr/>
            </p:nvSpPr>
            <p:spPr>
              <a:xfrm>
                <a:off x="1213831" y="2285427"/>
                <a:ext cx="2979043" cy="2530991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" name="任意多边形 26"/>
              <p:cNvSpPr/>
              <p:nvPr/>
            </p:nvSpPr>
            <p:spPr>
              <a:xfrm>
                <a:off x="1213831" y="4933916"/>
                <a:ext cx="2979043" cy="662122"/>
              </a:xfrm>
              <a:custGeom>
                <a:avLst/>
                <a:gdLst>
                  <a:gd name="connsiteX0" fmla="*/ 0 w 2978407"/>
                  <a:gd name="connsiteY0" fmla="*/ 0 h 661837"/>
                  <a:gd name="connsiteX1" fmla="*/ 2978407 w 2978407"/>
                  <a:gd name="connsiteY1" fmla="*/ 0 h 661837"/>
                  <a:gd name="connsiteX2" fmla="*/ 2978407 w 2978407"/>
                  <a:gd name="connsiteY2" fmla="*/ 661837 h 661837"/>
                  <a:gd name="connsiteX3" fmla="*/ 0 w 2978407"/>
                  <a:gd name="connsiteY3" fmla="*/ 661837 h 661837"/>
                  <a:gd name="connsiteX4" fmla="*/ 0 w 2978407"/>
                  <a:gd name="connsiteY4" fmla="*/ 0 h 66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661837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661837"/>
                    </a:lnTo>
                    <a:lnTo>
                      <a:pt x="0" y="6618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110490" tIns="110490" rIns="110490" bIns="110490" spcCol="1270" anchor="ctr"/>
              <a:lstStyle/>
              <a:p>
                <a:pPr algn="ctr" defTabSz="12890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290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>
                <a:off x="1213831" y="4816417"/>
                <a:ext cx="2979043" cy="389016"/>
              </a:xfrm>
              <a:custGeom>
                <a:avLst/>
                <a:gdLst>
                  <a:gd name="connsiteX0" fmla="*/ 0 w 2978407"/>
                  <a:gd name="connsiteY0" fmla="*/ 0 h 389365"/>
                  <a:gd name="connsiteX1" fmla="*/ 2978407 w 2978407"/>
                  <a:gd name="connsiteY1" fmla="*/ 0 h 389365"/>
                  <a:gd name="connsiteX2" fmla="*/ 2978407 w 2978407"/>
                  <a:gd name="connsiteY2" fmla="*/ 389365 h 389365"/>
                  <a:gd name="connsiteX3" fmla="*/ 0 w 2978407"/>
                  <a:gd name="connsiteY3" fmla="*/ 389365 h 389365"/>
                  <a:gd name="connsiteX4" fmla="*/ 0 w 2978407"/>
                  <a:gd name="connsiteY4" fmla="*/ 0 h 38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389365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389365"/>
                    </a:lnTo>
                    <a:lnTo>
                      <a:pt x="0" y="38936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64770" tIns="64770" rIns="64770" bIns="64770" spcCol="1270" anchor="ctr"/>
              <a:lstStyle/>
              <a:p>
                <a:pPr algn="ctr" defTabSz="7556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700"/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1526662" y="5081583"/>
              <a:ext cx="2480419" cy="3694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4.</a:t>
              </a:r>
              <a:r>
                <a:rPr lang="zh-CN" altLang="en-US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设置代码提示</a:t>
              </a:r>
              <a:endParaRPr lang="en-US" altLang="zh-CN" sz="1800" b="1" spc="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1394737" y="2415167"/>
              <a:ext cx="2612820" cy="1895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在“首选参数”面板中可设置代码提示，选择“代码提示”菜单，然后选中“结束标签”选项中的第二项，单击“确定”按钮。</a:t>
              </a:r>
              <a:endPara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49" y="1954214"/>
            <a:ext cx="5515345" cy="389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557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Dreamweaver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初始化设置</a:t>
              </a:r>
              <a:endParaRPr lang="zh-CN" altLang="en-US" sz="2000" dirty="0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2212975" y="1557370"/>
            <a:ext cx="3308350" cy="3892550"/>
            <a:chOff x="1048681" y="2129820"/>
            <a:chExt cx="3309342" cy="3893343"/>
          </a:xfrm>
        </p:grpSpPr>
        <p:grpSp>
          <p:nvGrpSpPr>
            <p:cNvPr id="22" name="组合 21"/>
            <p:cNvGrpSpPr>
              <a:grpSpLocks/>
            </p:cNvGrpSpPr>
            <p:nvPr/>
          </p:nvGrpSpPr>
          <p:grpSpPr bwMode="auto">
            <a:xfrm>
              <a:off x="1048681" y="2129820"/>
              <a:ext cx="3309342" cy="3893343"/>
              <a:chOff x="1048681" y="2129820"/>
              <a:chExt cx="3309342" cy="3893343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048681" y="2129820"/>
                <a:ext cx="3309342" cy="3893343"/>
              </a:xfrm>
              <a:prstGeom prst="rect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" name="矩形 25"/>
              <p:cNvSpPr/>
              <p:nvPr/>
            </p:nvSpPr>
            <p:spPr>
              <a:xfrm>
                <a:off x="1213831" y="2285427"/>
                <a:ext cx="2979043" cy="2530991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" name="任意多边形 26"/>
              <p:cNvSpPr/>
              <p:nvPr/>
            </p:nvSpPr>
            <p:spPr>
              <a:xfrm>
                <a:off x="1213831" y="4933916"/>
                <a:ext cx="2979043" cy="662123"/>
              </a:xfrm>
              <a:custGeom>
                <a:avLst/>
                <a:gdLst>
                  <a:gd name="connsiteX0" fmla="*/ 0 w 2978407"/>
                  <a:gd name="connsiteY0" fmla="*/ 0 h 661837"/>
                  <a:gd name="connsiteX1" fmla="*/ 2978407 w 2978407"/>
                  <a:gd name="connsiteY1" fmla="*/ 0 h 661837"/>
                  <a:gd name="connsiteX2" fmla="*/ 2978407 w 2978407"/>
                  <a:gd name="connsiteY2" fmla="*/ 661837 h 661837"/>
                  <a:gd name="connsiteX3" fmla="*/ 0 w 2978407"/>
                  <a:gd name="connsiteY3" fmla="*/ 661837 h 661837"/>
                  <a:gd name="connsiteX4" fmla="*/ 0 w 2978407"/>
                  <a:gd name="connsiteY4" fmla="*/ 0 h 66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661837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661837"/>
                    </a:lnTo>
                    <a:lnTo>
                      <a:pt x="0" y="6618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110490" tIns="110490" rIns="110490" bIns="110490" spcCol="1270" anchor="ctr"/>
              <a:lstStyle/>
              <a:p>
                <a:pPr algn="ctr" defTabSz="12890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290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>
                <a:off x="1213831" y="4816417"/>
                <a:ext cx="2979043" cy="389017"/>
              </a:xfrm>
              <a:custGeom>
                <a:avLst/>
                <a:gdLst>
                  <a:gd name="connsiteX0" fmla="*/ 0 w 2978407"/>
                  <a:gd name="connsiteY0" fmla="*/ 0 h 389365"/>
                  <a:gd name="connsiteX1" fmla="*/ 2978407 w 2978407"/>
                  <a:gd name="connsiteY1" fmla="*/ 0 h 389365"/>
                  <a:gd name="connsiteX2" fmla="*/ 2978407 w 2978407"/>
                  <a:gd name="connsiteY2" fmla="*/ 389365 h 389365"/>
                  <a:gd name="connsiteX3" fmla="*/ 0 w 2978407"/>
                  <a:gd name="connsiteY3" fmla="*/ 389365 h 389365"/>
                  <a:gd name="connsiteX4" fmla="*/ 0 w 2978407"/>
                  <a:gd name="connsiteY4" fmla="*/ 0 h 38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8407" h="389365">
                    <a:moveTo>
                      <a:pt x="0" y="0"/>
                    </a:moveTo>
                    <a:lnTo>
                      <a:pt x="2978407" y="0"/>
                    </a:lnTo>
                    <a:lnTo>
                      <a:pt x="2978407" y="389365"/>
                    </a:lnTo>
                    <a:lnTo>
                      <a:pt x="0" y="389365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64770" tIns="64770" rIns="64770" bIns="64770" spcCol="1270" anchor="ctr"/>
              <a:lstStyle/>
              <a:p>
                <a:pPr algn="ctr" defTabSz="7556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700"/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1526662" y="5081584"/>
              <a:ext cx="2480419" cy="3694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5.</a:t>
              </a:r>
              <a:r>
                <a:rPr lang="zh-CN" altLang="en-US" sz="1800" b="1" spc="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浏览器设置</a:t>
              </a:r>
              <a:endParaRPr lang="en-US" altLang="zh-CN" sz="1800" b="1" spc="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1394737" y="2415167"/>
              <a:ext cx="2612820" cy="2354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Dreamweaver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可以关联浏览器，对编辑的网站页面进行预览。在“首选参数”面板左侧区域选择“在浏览器中预览”选项，在右侧区域单击按钮，即可打开 “添加浏览器”菜单，按照教材提示操作即可。</a:t>
              </a:r>
              <a:endParaRPr lang="zh-CN" altLang="zh-CN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463" y="1557370"/>
            <a:ext cx="4123056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0" y="3636944"/>
            <a:ext cx="4110269" cy="183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506537" y="5886194"/>
            <a:ext cx="9402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“设计”视图中的网页显示效果只能作为参考，最终以浏览器中的显示效果为准。</a:t>
            </a:r>
          </a:p>
        </p:txBody>
      </p:sp>
    </p:spTree>
    <p:extLst>
      <p:ext uri="{BB962C8B-B14F-4D97-AF65-F5344CB8AC3E}">
        <p14:creationId xmlns:p14="http://schemas.microsoft.com/office/powerpoint/2010/main" val="98085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5250" y="3418709"/>
            <a:ext cx="39239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Dreamweaver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软件文档的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基本操作方法。能够对文档进行进行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新建、保存、打开、关闭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10" name="同侧圆角矩形 9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30275" y="881033"/>
              <a:ext cx="36671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Dreamweaver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文档的基本操作</a:t>
              </a:r>
              <a:endParaRPr lang="zh-CN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99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22" name="同侧圆角矩形 2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930275" y="881033"/>
              <a:ext cx="36671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Dreamweaver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文档的基本操作</a:t>
              </a:r>
              <a:endParaRPr lang="zh-CN" altLang="en-US" sz="1800" dirty="0"/>
            </a:p>
          </p:txBody>
        </p:sp>
      </p:grpSp>
      <p:pic>
        <p:nvPicPr>
          <p:cNvPr id="9218" name="图片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3038475"/>
            <a:ext cx="4784725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2" y="3038475"/>
            <a:ext cx="5166485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标注 23"/>
          <p:cNvSpPr/>
          <p:nvPr/>
        </p:nvSpPr>
        <p:spPr bwMode="auto">
          <a:xfrm flipH="1">
            <a:off x="1019174" y="1491821"/>
            <a:ext cx="10419522" cy="1400968"/>
          </a:xfrm>
          <a:prstGeom prst="wedgeRoundRectCallou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36662" y="1954213"/>
            <a:ext cx="1007110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选择菜单栏中的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“文件→新建”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选项，会出现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“新建文档”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窗口。这时，在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“文档类型”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下拉选项中选择“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，即可创建一个空白的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文档。</a:t>
            </a:r>
          </a:p>
        </p:txBody>
      </p:sp>
      <p:sp>
        <p:nvSpPr>
          <p:cNvPr id="6" name="矩形 5"/>
          <p:cNvSpPr/>
          <p:nvPr/>
        </p:nvSpPr>
        <p:spPr>
          <a:xfrm>
            <a:off x="1102002" y="1546010"/>
            <a:ext cx="18742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）新建文档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3344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22" name="同侧圆角矩形 2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930275" y="881033"/>
              <a:ext cx="36671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Dreamweaver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文档的基本操作</a:t>
              </a:r>
              <a:endParaRPr lang="zh-CN" altLang="en-US" sz="1800" dirty="0"/>
            </a:p>
          </p:txBody>
        </p:sp>
      </p:grp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1823296"/>
            <a:ext cx="5460270" cy="42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6819897" y="1823297"/>
            <a:ext cx="4521200" cy="4298103"/>
            <a:chOff x="4605251" y="2211023"/>
            <a:chExt cx="4521295" cy="4299542"/>
          </a:xfrm>
        </p:grpSpPr>
        <p:sp>
          <p:nvSpPr>
            <p:cNvPr id="8" name="圆角矩形标注 7"/>
            <p:cNvSpPr/>
            <p:nvPr/>
          </p:nvSpPr>
          <p:spPr bwMode="auto">
            <a:xfrm rot="5400000" flipH="1">
              <a:off x="4716128" y="2100146"/>
              <a:ext cx="4299542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1"/>
            <p:cNvSpPr>
              <a:spLocks noChangeArrowheads="1"/>
            </p:cNvSpPr>
            <p:nvPr/>
          </p:nvSpPr>
          <p:spPr bwMode="auto">
            <a:xfrm>
              <a:off x="5099017" y="2813111"/>
              <a:ext cx="3736970" cy="3459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“文件→保存”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选项（或按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en-US" altLang="zh-CN" sz="18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Ctrl+S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组合键），如果是第一次保存，会打开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“另存为”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对话框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“文件→存储为”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命令（或按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en-US" altLang="zh-CN" sz="18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Ctrl+Shift+S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组合键），会再次弹出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“另存为”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对话框，在该对话框中设置保存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路径、文件名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和保存类型，单击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“确定”按钮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，即可将该文件另存为一个新的文件。</a:t>
              </a:r>
            </a:p>
          </p:txBody>
        </p:sp>
      </p:grpSp>
      <p:sp>
        <p:nvSpPr>
          <p:cNvPr id="14" name="矩形 13"/>
          <p:cNvSpPr/>
          <p:nvPr/>
        </p:nvSpPr>
        <p:spPr>
          <a:xfrm>
            <a:off x="7206266" y="1954213"/>
            <a:ext cx="18742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）保存文档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046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22" name="同侧圆角矩形 2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930275" y="881033"/>
              <a:ext cx="36671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Dreamweaver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文档的基本操作</a:t>
              </a:r>
              <a:endParaRPr lang="zh-CN" altLang="en-US" sz="1800" dirty="0"/>
            </a:p>
          </p:txBody>
        </p:sp>
      </p:grp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700" y="1563688"/>
            <a:ext cx="5878513" cy="464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标注 6"/>
          <p:cNvSpPr/>
          <p:nvPr/>
        </p:nvSpPr>
        <p:spPr bwMode="auto">
          <a:xfrm rot="16200000" flipH="1">
            <a:off x="1130724" y="1857655"/>
            <a:ext cx="4298103" cy="4521200"/>
          </a:xfrm>
          <a:prstGeom prst="wedgeRoundRectCallou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1411329" y="2835065"/>
            <a:ext cx="3846471" cy="253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如果想要打开电脑中已经存在的文件，可以选择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“文件→打开”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选项（或按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Ctrl+O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组合键），即可弹出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“打开”面板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。选中需要打开的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“文档”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，单击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“打开”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按钮，即可打开被选中的文件。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5328" y="2233586"/>
            <a:ext cx="18742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）打开文档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9714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22" name="同侧圆角矩形 2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930275" y="881033"/>
              <a:ext cx="36671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Dreamweaver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文档的基本操作</a:t>
              </a:r>
              <a:endParaRPr lang="zh-CN" altLang="en-US" sz="1800" dirty="0"/>
            </a:p>
          </p:txBody>
        </p:sp>
      </p:grp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4" y="1789112"/>
            <a:ext cx="5826125" cy="407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6819896" y="1772497"/>
            <a:ext cx="4521200" cy="4298103"/>
            <a:chOff x="4605250" y="2211023"/>
            <a:chExt cx="4521295" cy="4299542"/>
          </a:xfrm>
        </p:grpSpPr>
        <p:sp>
          <p:nvSpPr>
            <p:cNvPr id="8" name="圆角矩形标注 7"/>
            <p:cNvSpPr/>
            <p:nvPr/>
          </p:nvSpPr>
          <p:spPr bwMode="auto">
            <a:xfrm rot="5400000" flipH="1">
              <a:off x="4716127" y="2100146"/>
              <a:ext cx="4299542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1"/>
            <p:cNvSpPr>
              <a:spLocks noChangeArrowheads="1"/>
            </p:cNvSpPr>
            <p:nvPr/>
          </p:nvSpPr>
          <p:spPr bwMode="auto">
            <a:xfrm>
              <a:off x="4991628" y="3600774"/>
              <a:ext cx="3736970" cy="217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“文件→关闭”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选项（或按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en-US" altLang="zh-CN" sz="18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Ctrl+W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组合键）可关闭选中的文档。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单击需要关闭的“   ” 文档窗口标签栏按钮，可关闭该文档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7206266" y="2436813"/>
            <a:ext cx="18742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）关闭文档</a:t>
            </a:r>
            <a:endParaRPr lang="zh-CN" altLang="en-US" sz="2000" dirty="0"/>
          </a:p>
        </p:txBody>
      </p:sp>
      <p:pic>
        <p:nvPicPr>
          <p:cNvPr id="11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286" y="4549546"/>
            <a:ext cx="194431" cy="166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07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5250" y="3418709"/>
            <a:ext cx="39239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网页的创建方法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，能够创建一个包含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结构和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样式的简单网页。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10" name="同侧圆角矩形 9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30275" y="881033"/>
              <a:ext cx="366712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创建第一个网页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719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12" name="同侧圆角矩形 1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30275" y="881033"/>
              <a:ext cx="366712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创建第一个网页</a:t>
              </a:r>
              <a:endParaRPr lang="zh-CN" altLang="en-US" sz="2000" dirty="0"/>
            </a:p>
          </p:txBody>
        </p:sp>
      </p:grpSp>
      <p:cxnSp>
        <p:nvCxnSpPr>
          <p:cNvPr id="14" name="直接连接符 27">
            <a:extLst>
              <a:ext uri="{FF2B5EF4-FFF2-40B4-BE49-F238E27FC236}">
                <a16:creationId xmlns:a16="http://schemas.microsoft.com/office/drawing/2014/main" id="{6B2EEE94-8009-D440-85F8-33718EC82743}"/>
              </a:ext>
            </a:extLst>
          </p:cNvPr>
          <p:cNvCxnSpPr>
            <a:cxnSpLocks/>
          </p:cNvCxnSpPr>
          <p:nvPr/>
        </p:nvCxnSpPr>
        <p:spPr>
          <a:xfrm>
            <a:off x="2730907" y="15624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B99FB640-6E9F-CC43-B835-692D3640F1F0}"/>
              </a:ext>
            </a:extLst>
          </p:cNvPr>
          <p:cNvSpPr/>
          <p:nvPr/>
        </p:nvSpPr>
        <p:spPr>
          <a:xfrm>
            <a:off x="2671668" y="31403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36F020B-408F-4048-85B1-90D45349454B}"/>
              </a:ext>
            </a:extLst>
          </p:cNvPr>
          <p:cNvGrpSpPr/>
          <p:nvPr/>
        </p:nvGrpSpPr>
        <p:grpSpPr>
          <a:xfrm>
            <a:off x="939162" y="2941578"/>
            <a:ext cx="1697534" cy="515997"/>
            <a:chOff x="-2086" y="2141478"/>
            <a:chExt cx="1697534" cy="515997"/>
          </a:xfrm>
        </p:grpSpPr>
        <p:sp>
          <p:nvSpPr>
            <p:cNvPr id="17" name="箭头: 五边形 31">
              <a:extLst>
                <a:ext uri="{FF2B5EF4-FFF2-40B4-BE49-F238E27FC236}">
                  <a16:creationId xmlns:a16="http://schemas.microsoft.com/office/drawing/2014/main" id="{31B439B6-CA2A-8C4B-8828-55AD9022A8C8}"/>
                </a:ext>
              </a:extLst>
            </p:cNvPr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33D060C-A7DB-DC40-A03F-0B361E432D1E}"/>
                </a:ext>
              </a:extLst>
            </p:cNvPr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D675013B-DE0C-3540-B3CC-54189747E01B}"/>
              </a:ext>
            </a:extLst>
          </p:cNvPr>
          <p:cNvSpPr txBox="1"/>
          <p:nvPr/>
        </p:nvSpPr>
        <p:spPr>
          <a:xfrm>
            <a:off x="915848" y="3900683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0F99D9A-888F-6E44-87B0-4C47EAEC6706}"/>
              </a:ext>
            </a:extLst>
          </p:cNvPr>
          <p:cNvSpPr/>
          <p:nvPr/>
        </p:nvSpPr>
        <p:spPr>
          <a:xfrm>
            <a:off x="2671668" y="4110623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1">
            <a:extLst>
              <a:ext uri="{FF2B5EF4-FFF2-40B4-BE49-F238E27FC236}">
                <a16:creationId xmlns:a16="http://schemas.microsoft.com/office/drawing/2014/main" id="{2979AF33-A0E0-F54C-8314-2A2760889EE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177368" y="1492548"/>
            <a:ext cx="35856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0" hangingPunct="0">
              <a:defRPr/>
            </a:pPr>
            <a:r>
              <a:rPr lang="zh-CN" altLang="en-US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b="1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3091458" y="2455235"/>
            <a:ext cx="8260755" cy="2840095"/>
            <a:chOff x="456565" y="2774314"/>
            <a:chExt cx="6608524" cy="2272760"/>
          </a:xfrm>
        </p:grpSpPr>
        <p:pic>
          <p:nvPicPr>
            <p:cNvPr id="36" name="图片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565" y="2774314"/>
              <a:ext cx="3416315" cy="2266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图片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9874" y="3784059"/>
              <a:ext cx="3625215" cy="1263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1938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箭头: 五边形 31">
            <a:extLst>
              <a:ext uri="{FF2B5EF4-FFF2-40B4-BE49-F238E27FC236}">
                <a16:creationId xmlns:a16="http://schemas.microsoft.com/office/drawing/2014/main" id="{31B439B6-CA2A-8C4B-8828-55AD9022A8C8}"/>
              </a:ext>
            </a:extLst>
          </p:cNvPr>
          <p:cNvSpPr/>
          <p:nvPr/>
        </p:nvSpPr>
        <p:spPr>
          <a:xfrm>
            <a:off x="998398" y="3873762"/>
            <a:ext cx="1638298" cy="515997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30275" y="847725"/>
            <a:ext cx="3667125" cy="466725"/>
            <a:chOff x="930275" y="847725"/>
            <a:chExt cx="3667125" cy="466725"/>
          </a:xfrm>
        </p:grpSpPr>
        <p:sp>
          <p:nvSpPr>
            <p:cNvPr id="12" name="同侧圆角矩形 1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30275" y="881033"/>
              <a:ext cx="366712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创建第一个网页</a:t>
              </a:r>
              <a:endParaRPr lang="zh-CN" altLang="en-US" sz="2000" dirty="0"/>
            </a:p>
          </p:txBody>
        </p:sp>
      </p:grpSp>
      <p:cxnSp>
        <p:nvCxnSpPr>
          <p:cNvPr id="14" name="直接连接符 27">
            <a:extLst>
              <a:ext uri="{FF2B5EF4-FFF2-40B4-BE49-F238E27FC236}">
                <a16:creationId xmlns:a16="http://schemas.microsoft.com/office/drawing/2014/main" id="{6B2EEE94-8009-D440-85F8-33718EC82743}"/>
              </a:ext>
            </a:extLst>
          </p:cNvPr>
          <p:cNvCxnSpPr>
            <a:cxnSpLocks/>
          </p:cNvCxnSpPr>
          <p:nvPr/>
        </p:nvCxnSpPr>
        <p:spPr>
          <a:xfrm>
            <a:off x="2730907" y="15624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B99FB640-6E9F-CC43-B835-692D3640F1F0}"/>
              </a:ext>
            </a:extLst>
          </p:cNvPr>
          <p:cNvSpPr/>
          <p:nvPr/>
        </p:nvSpPr>
        <p:spPr>
          <a:xfrm>
            <a:off x="2671668" y="31403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3D060C-A7DB-DC40-A03F-0B361E432D1E}"/>
              </a:ext>
            </a:extLst>
          </p:cNvPr>
          <p:cNvSpPr txBox="1"/>
          <p:nvPr/>
        </p:nvSpPr>
        <p:spPr>
          <a:xfrm>
            <a:off x="939162" y="2968743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75013B-DE0C-3540-B3CC-54189747E01B}"/>
              </a:ext>
            </a:extLst>
          </p:cNvPr>
          <p:cNvSpPr txBox="1"/>
          <p:nvPr/>
        </p:nvSpPr>
        <p:spPr>
          <a:xfrm>
            <a:off x="890448" y="3900683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0F99D9A-888F-6E44-87B0-4C47EAEC6706}"/>
              </a:ext>
            </a:extLst>
          </p:cNvPr>
          <p:cNvSpPr/>
          <p:nvPr/>
        </p:nvSpPr>
        <p:spPr>
          <a:xfrm>
            <a:off x="2671668" y="4110623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1">
            <a:extLst>
              <a:ext uri="{FF2B5EF4-FFF2-40B4-BE49-F238E27FC236}">
                <a16:creationId xmlns:a16="http://schemas.microsoft.com/office/drawing/2014/main" id="{2979AF33-A0E0-F54C-8314-2A2760889E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77368" y="1492548"/>
            <a:ext cx="35856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0" hangingPunct="0">
              <a:defRPr/>
            </a:pPr>
            <a:r>
              <a:rPr lang="zh-CN" altLang="en-US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b="1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892139"/>
              </p:ext>
            </p:extLst>
          </p:nvPr>
        </p:nvGraphicFramePr>
        <p:xfrm>
          <a:off x="2429812" y="1418043"/>
          <a:ext cx="6434788" cy="4724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r:id="rId5" imgW="9435960" imgH="6957720" progId="Visio.Drawing.11">
                  <p:embed/>
                </p:oleObj>
              </mc:Choice>
              <mc:Fallback>
                <p:oleObj r:id="rId5" imgW="9435960" imgH="6957720" progId="Visio.Drawing.11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812" y="1418043"/>
                        <a:ext cx="6434788" cy="4724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图片 2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081" y="3387596"/>
            <a:ext cx="3304132" cy="154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606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98880" y="2102485"/>
            <a:ext cx="9794240" cy="33756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716785" y="2973030"/>
            <a:ext cx="9001000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了解网页相关名词和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Web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标准，对网页有一个简单地认识。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熟悉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HTML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CSS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的发展史，体验这些网页语言的用法。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掌握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Dreamweaver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工具的基本操作，能够熟练使用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Dreamweaver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工具创建简单的网页。希望读者以此为开端，认真完成对本书的学习。</a:t>
            </a:r>
          </a:p>
        </p:txBody>
      </p:sp>
      <p:sp>
        <p:nvSpPr>
          <p:cNvPr id="5" name="椭圆 4"/>
          <p:cNvSpPr/>
          <p:nvPr/>
        </p:nvSpPr>
        <p:spPr>
          <a:xfrm>
            <a:off x="442023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6" name="椭圆 5"/>
          <p:cNvSpPr/>
          <p:nvPr/>
        </p:nvSpPr>
        <p:spPr>
          <a:xfrm>
            <a:off x="513905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7" name="椭圆 6"/>
          <p:cNvSpPr/>
          <p:nvPr/>
        </p:nvSpPr>
        <p:spPr>
          <a:xfrm>
            <a:off x="585787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8" name="椭圆 7"/>
          <p:cNvSpPr/>
          <p:nvPr/>
        </p:nvSpPr>
        <p:spPr>
          <a:xfrm>
            <a:off x="657669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3411</Words>
  <Application>Microsoft Office PowerPoint</Application>
  <PresentationFormat>自定义</PresentationFormat>
  <Paragraphs>398</Paragraphs>
  <Slides>66</Slides>
  <Notes>66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Source Han Sans K Bold</vt:lpstr>
      <vt:lpstr>Microsoft YaHei</vt:lpstr>
      <vt:lpstr>Microsoft YaHei</vt:lpstr>
      <vt:lpstr>字魂105号-简雅黑</vt:lpstr>
      <vt:lpstr>Arial</vt:lpstr>
      <vt:lpstr>Calibri</vt:lpstr>
      <vt:lpstr>Wingdings</vt:lpstr>
      <vt:lpstr>webwppDefTheme</vt:lpstr>
      <vt:lpstr>Office 主题</vt:lpstr>
      <vt:lpstr>Visio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140</cp:revision>
  <dcterms:created xsi:type="dcterms:W3CDTF">2020-11-11T09:29:40Z</dcterms:created>
  <dcterms:modified xsi:type="dcterms:W3CDTF">2025-12-10T03:19:07Z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