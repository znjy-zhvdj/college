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tags/tag2.xml" ContentType="application/vnd.openxmlformats-officedocument.presentationml.tags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91"/>
  </p:notesMasterIdLst>
  <p:handoutMasterIdLst>
    <p:handoutMasterId r:id="rId92"/>
  </p:handoutMasterIdLst>
  <p:sldIdLst>
    <p:sldId id="325" r:id="rId3"/>
    <p:sldId id="264" r:id="rId4"/>
    <p:sldId id="327" r:id="rId5"/>
    <p:sldId id="309" r:id="rId6"/>
    <p:sldId id="259" r:id="rId7"/>
    <p:sldId id="416" r:id="rId8"/>
    <p:sldId id="418" r:id="rId9"/>
    <p:sldId id="419" r:id="rId10"/>
    <p:sldId id="422" r:id="rId11"/>
    <p:sldId id="420" r:id="rId12"/>
    <p:sldId id="421" r:id="rId13"/>
    <p:sldId id="424" r:id="rId14"/>
    <p:sldId id="423" r:id="rId15"/>
    <p:sldId id="428" r:id="rId16"/>
    <p:sldId id="426" r:id="rId17"/>
    <p:sldId id="425" r:id="rId18"/>
    <p:sldId id="427" r:id="rId19"/>
    <p:sldId id="429" r:id="rId20"/>
    <p:sldId id="430" r:id="rId21"/>
    <p:sldId id="431" r:id="rId22"/>
    <p:sldId id="432" r:id="rId23"/>
    <p:sldId id="433" r:id="rId24"/>
    <p:sldId id="434" r:id="rId25"/>
    <p:sldId id="435" r:id="rId26"/>
    <p:sldId id="436" r:id="rId27"/>
    <p:sldId id="437" r:id="rId28"/>
    <p:sldId id="438" r:id="rId29"/>
    <p:sldId id="439" r:id="rId30"/>
    <p:sldId id="440" r:id="rId31"/>
    <p:sldId id="441" r:id="rId32"/>
    <p:sldId id="442" r:id="rId33"/>
    <p:sldId id="443" r:id="rId34"/>
    <p:sldId id="444" r:id="rId35"/>
    <p:sldId id="445" r:id="rId36"/>
    <p:sldId id="446" r:id="rId37"/>
    <p:sldId id="447" r:id="rId38"/>
    <p:sldId id="449" r:id="rId39"/>
    <p:sldId id="448" r:id="rId40"/>
    <p:sldId id="450" r:id="rId41"/>
    <p:sldId id="451" r:id="rId42"/>
    <p:sldId id="452" r:id="rId43"/>
    <p:sldId id="453" r:id="rId44"/>
    <p:sldId id="454" r:id="rId45"/>
    <p:sldId id="455" r:id="rId46"/>
    <p:sldId id="456" r:id="rId47"/>
    <p:sldId id="457" r:id="rId48"/>
    <p:sldId id="458" r:id="rId49"/>
    <p:sldId id="459" r:id="rId50"/>
    <p:sldId id="460" r:id="rId51"/>
    <p:sldId id="461" r:id="rId52"/>
    <p:sldId id="462" r:id="rId53"/>
    <p:sldId id="463" r:id="rId54"/>
    <p:sldId id="464" r:id="rId55"/>
    <p:sldId id="465" r:id="rId56"/>
    <p:sldId id="466" r:id="rId57"/>
    <p:sldId id="467" r:id="rId58"/>
    <p:sldId id="469" r:id="rId59"/>
    <p:sldId id="468" r:id="rId60"/>
    <p:sldId id="470" r:id="rId61"/>
    <p:sldId id="471" r:id="rId62"/>
    <p:sldId id="472" r:id="rId63"/>
    <p:sldId id="473" r:id="rId64"/>
    <p:sldId id="474" r:id="rId65"/>
    <p:sldId id="475" r:id="rId66"/>
    <p:sldId id="476" r:id="rId67"/>
    <p:sldId id="477" r:id="rId68"/>
    <p:sldId id="478" r:id="rId69"/>
    <p:sldId id="479" r:id="rId70"/>
    <p:sldId id="480" r:id="rId71"/>
    <p:sldId id="481" r:id="rId72"/>
    <p:sldId id="482" r:id="rId73"/>
    <p:sldId id="483" r:id="rId74"/>
    <p:sldId id="484" r:id="rId75"/>
    <p:sldId id="485" r:id="rId76"/>
    <p:sldId id="486" r:id="rId77"/>
    <p:sldId id="487" r:id="rId78"/>
    <p:sldId id="488" r:id="rId79"/>
    <p:sldId id="489" r:id="rId80"/>
    <p:sldId id="490" r:id="rId81"/>
    <p:sldId id="491" r:id="rId82"/>
    <p:sldId id="494" r:id="rId83"/>
    <p:sldId id="492" r:id="rId84"/>
    <p:sldId id="493" r:id="rId85"/>
    <p:sldId id="496" r:id="rId86"/>
    <p:sldId id="497" r:id="rId87"/>
    <p:sldId id="498" r:id="rId88"/>
    <p:sldId id="499" r:id="rId89"/>
    <p:sldId id="348" r:id="rId90"/>
  </p:sldIdLst>
  <p:sldSz cx="12190413" cy="6859588"/>
  <p:notesSz cx="6858000" cy="9144000"/>
  <p:custDataLst>
    <p:tags r:id="rId93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35" userDrawn="1">
          <p15:clr>
            <a:srgbClr val="A4A3A4"/>
          </p15:clr>
        </p15:guide>
        <p15:guide id="3" pos="551" userDrawn="1">
          <p15:clr>
            <a:srgbClr val="A4A3A4"/>
          </p15:clr>
        </p15:guide>
        <p15:guide id="4" pos="10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6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69B2"/>
    <a:srgbClr val="595959"/>
    <a:srgbClr val="1369B2"/>
    <a:srgbClr val="0075CC"/>
    <a:srgbClr val="FF0000"/>
    <a:srgbClr val="F2F2F2"/>
    <a:srgbClr val="FAFAFA"/>
    <a:srgbClr val="006BBC"/>
    <a:srgbClr val="008DF6"/>
    <a:srgbClr val="005D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39" autoAdjust="0"/>
    <p:restoredTop sz="96379" autoAdjust="0"/>
  </p:normalViewPr>
  <p:slideViewPr>
    <p:cSldViewPr snapToGrid="0">
      <p:cViewPr varScale="1">
        <p:scale>
          <a:sx n="85" d="100"/>
          <a:sy n="85" d="100"/>
        </p:scale>
        <p:origin x="96" y="108"/>
      </p:cViewPr>
      <p:guideLst>
        <p:guide orient="horz" pos="1435"/>
        <p:guide pos="551"/>
        <p:guide pos="10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-3810" y="-90"/>
      </p:cViewPr>
      <p:guideLst>
        <p:guide orient="horz" pos="2866"/>
        <p:guide pos="2160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97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tags" Target="tags/tag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notesMaster" Target="notesMasters/notesMaster1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enn1" loCatId="relationship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77D14C5-CED9-4CFC-B338-DFB0C8090B9F}">
      <dgm:prSet phldrT="[Text]" custT="1"/>
      <dgm:spPr>
        <a:xfrm>
          <a:off x="929639" y="53339"/>
          <a:ext cx="2560320" cy="2560320"/>
        </a:xfrm>
        <a:solidFill>
          <a:srgbClr val="1369B2">
            <a:alpha val="69804"/>
          </a:srgbClr>
        </a:solidFill>
        <a:ln>
          <a:noFill/>
        </a:ln>
        <a:effectLst/>
      </dgm:spPr>
      <dgm:t>
        <a:bodyPr/>
        <a:lstStyle/>
        <a:p>
          <a:endParaRPr lang="en-US" altLang="zh-CN" sz="2800" dirty="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微软雅黑" pitchFamily="34" charset="-122"/>
            <a:ea typeface="微软雅黑" pitchFamily="34" charset="-122"/>
            <a:cs typeface="Arial" pitchFamily="34" charset="0"/>
          </a:endParaRPr>
        </a:p>
      </dgm:t>
    </dgm:pt>
    <dgm:pt modelId="{92DFCBC7-BC14-4697-8ECD-BF0D5B1EDA3B}" type="parTrans" cxnId="{7D461F02-AB37-447A-AC6B-D31C4D2EC6A9}">
      <dgm:prSet/>
      <dgm:spPr/>
      <dgm:t>
        <a:bodyPr/>
        <a:lstStyle/>
        <a:p>
          <a:endParaRPr lang="en-US"/>
        </a:p>
      </dgm:t>
    </dgm:pt>
    <dgm:pt modelId="{87E3C0DB-7BEE-424E-8E11-B838D238D595}" type="sibTrans" cxnId="{7D461F02-AB37-447A-AC6B-D31C4D2EC6A9}">
      <dgm:prSet/>
      <dgm:spPr/>
      <dgm:t>
        <a:bodyPr/>
        <a:lstStyle/>
        <a:p>
          <a:endParaRPr lang="en-US"/>
        </a:p>
      </dgm:t>
    </dgm:pt>
    <dgm:pt modelId="{3C67E77D-62FA-499D-B5E6-E79A091C5267}">
      <dgm:prSet phldrT="[Text]" custT="1"/>
      <dgm:spPr>
        <a:xfrm>
          <a:off x="1853488" y="1653539"/>
          <a:ext cx="2560320" cy="2560320"/>
        </a:xfrm>
        <a:solidFill>
          <a:srgbClr val="0075CC">
            <a:alpha val="69804"/>
          </a:srgbClr>
        </a:solidFill>
        <a:ln>
          <a:noFill/>
        </a:ln>
        <a:effectLst/>
      </dgm:spPr>
      <dgm:t>
        <a:bodyPr/>
        <a:lstStyle/>
        <a:p>
          <a:endParaRPr lang="en-US" sz="2800" dirty="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微软雅黑" pitchFamily="34" charset="-122"/>
            <a:ea typeface="微软雅黑" pitchFamily="34" charset="-122"/>
            <a:cs typeface="Arial" pitchFamily="34" charset="0"/>
          </a:endParaRPr>
        </a:p>
      </dgm:t>
    </dgm:pt>
    <dgm:pt modelId="{5337D229-E330-4525-B0FA-14EC5A80604A}" type="parTrans" cxnId="{32AA6160-4426-4C4D-93AE-E2F474E37AD9}">
      <dgm:prSet/>
      <dgm:spPr/>
      <dgm:t>
        <a:bodyPr/>
        <a:lstStyle/>
        <a:p>
          <a:endParaRPr lang="en-US"/>
        </a:p>
      </dgm:t>
    </dgm:pt>
    <dgm:pt modelId="{C056AC5D-B04E-4376-A1CB-3EAB7BE5AF5B}" type="sibTrans" cxnId="{32AA6160-4426-4C4D-93AE-E2F474E37AD9}">
      <dgm:prSet/>
      <dgm:spPr/>
      <dgm:t>
        <a:bodyPr/>
        <a:lstStyle/>
        <a:p>
          <a:endParaRPr lang="en-US"/>
        </a:p>
      </dgm:t>
    </dgm:pt>
    <dgm:pt modelId="{CC6B7442-0B72-4EF2-9F13-1325B51AFF9F}">
      <dgm:prSet phldrT="[Text]" custT="1"/>
      <dgm:spPr>
        <a:xfrm>
          <a:off x="5791" y="1653539"/>
          <a:ext cx="2560320" cy="2560320"/>
        </a:xfrm>
        <a:solidFill>
          <a:srgbClr val="0066FF">
            <a:alpha val="69804"/>
          </a:srgbClr>
        </a:solidFill>
        <a:ln>
          <a:noFill/>
        </a:ln>
        <a:effectLst/>
      </dgm:spPr>
      <dgm:t>
        <a:bodyPr/>
        <a:lstStyle/>
        <a:p>
          <a:endParaRPr lang="en-US" sz="2800" dirty="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微软雅黑" pitchFamily="34" charset="-122"/>
            <a:ea typeface="微软雅黑" pitchFamily="34" charset="-122"/>
            <a:cs typeface="Arial" pitchFamily="34" charset="0"/>
          </a:endParaRPr>
        </a:p>
      </dgm:t>
    </dgm:pt>
    <dgm:pt modelId="{E3D139E0-5DC2-4F8E-9F8F-B3F0EBCD4689}" type="parTrans" cxnId="{102D6D4D-90C9-40F4-A001-35DCC329B127}">
      <dgm:prSet/>
      <dgm:spPr/>
      <dgm:t>
        <a:bodyPr/>
        <a:lstStyle/>
        <a:p>
          <a:endParaRPr lang="en-US"/>
        </a:p>
      </dgm:t>
    </dgm:pt>
    <dgm:pt modelId="{FF80E1BA-0D6F-4EE8-9640-892A5897DBCD}" type="sibTrans" cxnId="{102D6D4D-90C9-40F4-A001-35DCC329B127}">
      <dgm:prSet/>
      <dgm:spPr/>
      <dgm:t>
        <a:bodyPr/>
        <a:lstStyle/>
        <a:p>
          <a:endParaRPr lang="en-US"/>
        </a:p>
      </dgm:t>
    </dgm:pt>
    <dgm:pt modelId="{E16D65B4-494C-45C0-82F5-A63E581063CB}" type="pres">
      <dgm:prSet presAssocID="{90119837-5B71-4D44-BB01-DB0B084933C8}" presName="compositeShape" presStyleCnt="0">
        <dgm:presLayoutVars>
          <dgm:chMax val="7"/>
          <dgm:dir/>
          <dgm:resizeHandles val="exact"/>
        </dgm:presLayoutVars>
      </dgm:prSet>
      <dgm:spPr/>
    </dgm:pt>
    <dgm:pt modelId="{7A12B315-EA92-4E8C-914E-FCF8B923D9BA}" type="pres">
      <dgm:prSet presAssocID="{477D14C5-CED9-4CFC-B338-DFB0C8090B9F}" presName="circ1" presStyleLbl="vennNode1" presStyleIdx="0" presStyleCnt="3"/>
      <dgm:spPr>
        <a:prstGeom prst="ellipse">
          <a:avLst/>
        </a:prstGeom>
      </dgm:spPr>
    </dgm:pt>
    <dgm:pt modelId="{1114C5CF-9DB7-4B7A-9D02-B353869E5D38}" type="pres">
      <dgm:prSet presAssocID="{477D14C5-CED9-4CFC-B338-DFB0C8090B9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469E5A2-93C2-49EF-825C-26E5802651A1}" type="pres">
      <dgm:prSet presAssocID="{3C67E77D-62FA-499D-B5E6-E79A091C5267}" presName="circ2" presStyleLbl="vennNode1" presStyleIdx="1" presStyleCnt="3"/>
      <dgm:spPr>
        <a:prstGeom prst="ellipse">
          <a:avLst/>
        </a:prstGeom>
      </dgm:spPr>
    </dgm:pt>
    <dgm:pt modelId="{EB02C228-AFBE-4EA8-ADAD-5E115CB980C7}" type="pres">
      <dgm:prSet presAssocID="{3C67E77D-62FA-499D-B5E6-E79A091C526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B11D8EC-23D3-4EEE-B141-81E29A0B04B6}" type="pres">
      <dgm:prSet presAssocID="{CC6B7442-0B72-4EF2-9F13-1325B51AFF9F}" presName="circ3" presStyleLbl="vennNode1" presStyleIdx="2" presStyleCnt="3"/>
      <dgm:spPr>
        <a:prstGeom prst="ellipse">
          <a:avLst/>
        </a:prstGeom>
      </dgm:spPr>
    </dgm:pt>
    <dgm:pt modelId="{99560A19-63A4-4F58-BF54-93D1A84B1A1C}" type="pres">
      <dgm:prSet presAssocID="{CC6B7442-0B72-4EF2-9F13-1325B51AFF9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D461F02-AB37-447A-AC6B-D31C4D2EC6A9}" srcId="{90119837-5B71-4D44-BB01-DB0B084933C8}" destId="{477D14C5-CED9-4CFC-B338-DFB0C8090B9F}" srcOrd="0" destOrd="0" parTransId="{92DFCBC7-BC14-4697-8ECD-BF0D5B1EDA3B}" sibTransId="{87E3C0DB-7BEE-424E-8E11-B838D238D595}"/>
    <dgm:cxn modelId="{A69E4D17-4191-493F-9E33-36BE53B0508F}" type="presOf" srcId="{90119837-5B71-4D44-BB01-DB0B084933C8}" destId="{E16D65B4-494C-45C0-82F5-A63E581063CB}" srcOrd="0" destOrd="0" presId="urn:microsoft.com/office/officeart/2005/8/layout/venn1"/>
    <dgm:cxn modelId="{4BB8701D-9B8B-4E76-86F2-73D613E0BB5F}" type="presOf" srcId="{CC6B7442-0B72-4EF2-9F13-1325B51AFF9F}" destId="{99560A19-63A4-4F58-BF54-93D1A84B1A1C}" srcOrd="1" destOrd="0" presId="urn:microsoft.com/office/officeart/2005/8/layout/venn1"/>
    <dgm:cxn modelId="{5092B62A-187E-4B22-8B2A-A84E6F0490AA}" type="presOf" srcId="{CC6B7442-0B72-4EF2-9F13-1325B51AFF9F}" destId="{2B11D8EC-23D3-4EEE-B141-81E29A0B04B6}" srcOrd="0" destOrd="0" presId="urn:microsoft.com/office/officeart/2005/8/layout/venn1"/>
    <dgm:cxn modelId="{971E6835-C073-493A-A697-8655257DB686}" type="presOf" srcId="{3C67E77D-62FA-499D-B5E6-E79A091C5267}" destId="{3469E5A2-93C2-49EF-825C-26E5802651A1}" srcOrd="0" destOrd="0" presId="urn:microsoft.com/office/officeart/2005/8/layout/venn1"/>
    <dgm:cxn modelId="{32AA6160-4426-4C4D-93AE-E2F474E37AD9}" srcId="{90119837-5B71-4D44-BB01-DB0B084933C8}" destId="{3C67E77D-62FA-499D-B5E6-E79A091C5267}" srcOrd="1" destOrd="0" parTransId="{5337D229-E330-4525-B0FA-14EC5A80604A}" sibTransId="{C056AC5D-B04E-4376-A1CB-3EAB7BE5AF5B}"/>
    <dgm:cxn modelId="{102D6D4D-90C9-40F4-A001-35DCC329B127}" srcId="{90119837-5B71-4D44-BB01-DB0B084933C8}" destId="{CC6B7442-0B72-4EF2-9F13-1325B51AFF9F}" srcOrd="2" destOrd="0" parTransId="{E3D139E0-5DC2-4F8E-9F8F-B3F0EBCD4689}" sibTransId="{FF80E1BA-0D6F-4EE8-9640-892A5897DBCD}"/>
    <dgm:cxn modelId="{18C72EA2-A21D-43A4-B5B6-F8220B5BB55A}" type="presOf" srcId="{477D14C5-CED9-4CFC-B338-DFB0C8090B9F}" destId="{7A12B315-EA92-4E8C-914E-FCF8B923D9BA}" srcOrd="0" destOrd="0" presId="urn:microsoft.com/office/officeart/2005/8/layout/venn1"/>
    <dgm:cxn modelId="{D60655CC-8C59-4E6C-B330-B8BFF0E074E8}" type="presOf" srcId="{3C67E77D-62FA-499D-B5E6-E79A091C5267}" destId="{EB02C228-AFBE-4EA8-ADAD-5E115CB980C7}" srcOrd="1" destOrd="0" presId="urn:microsoft.com/office/officeart/2005/8/layout/venn1"/>
    <dgm:cxn modelId="{3E54D7E4-4934-4B89-B37F-0E271A13A5AB}" type="presOf" srcId="{477D14C5-CED9-4CFC-B338-DFB0C8090B9F}" destId="{1114C5CF-9DB7-4B7A-9D02-B353869E5D38}" srcOrd="1" destOrd="0" presId="urn:microsoft.com/office/officeart/2005/8/layout/venn1"/>
    <dgm:cxn modelId="{FCEA315D-707C-4995-8059-4680A235A200}" type="presParOf" srcId="{E16D65B4-494C-45C0-82F5-A63E581063CB}" destId="{7A12B315-EA92-4E8C-914E-FCF8B923D9BA}" srcOrd="0" destOrd="0" presId="urn:microsoft.com/office/officeart/2005/8/layout/venn1"/>
    <dgm:cxn modelId="{4B400952-786A-48AF-AFEE-1B386C028442}" type="presParOf" srcId="{E16D65B4-494C-45C0-82F5-A63E581063CB}" destId="{1114C5CF-9DB7-4B7A-9D02-B353869E5D38}" srcOrd="1" destOrd="0" presId="urn:microsoft.com/office/officeart/2005/8/layout/venn1"/>
    <dgm:cxn modelId="{0D78B5D2-9E44-4066-9F14-A0E9FEB17D56}" type="presParOf" srcId="{E16D65B4-494C-45C0-82F5-A63E581063CB}" destId="{3469E5A2-93C2-49EF-825C-26E5802651A1}" srcOrd="2" destOrd="0" presId="urn:microsoft.com/office/officeart/2005/8/layout/venn1"/>
    <dgm:cxn modelId="{EB72BC14-720C-4349-9179-80A840F64FC6}" type="presParOf" srcId="{E16D65B4-494C-45C0-82F5-A63E581063CB}" destId="{EB02C228-AFBE-4EA8-ADAD-5E115CB980C7}" srcOrd="3" destOrd="0" presId="urn:microsoft.com/office/officeart/2005/8/layout/venn1"/>
    <dgm:cxn modelId="{C2D51C22-B285-4D59-B259-73513CBD6ACF}" type="presParOf" srcId="{E16D65B4-494C-45C0-82F5-A63E581063CB}" destId="{2B11D8EC-23D3-4EEE-B141-81E29A0B04B6}" srcOrd="4" destOrd="0" presId="urn:microsoft.com/office/officeart/2005/8/layout/venn1"/>
    <dgm:cxn modelId="{6300F4B6-203D-4129-99AB-619BED5E9D05}" type="presParOf" srcId="{E16D65B4-494C-45C0-82F5-A63E581063CB}" destId="{99560A19-63A4-4F58-BF54-93D1A84B1A1C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119837-5B71-4D44-BB01-DB0B084933C8}" type="doc">
      <dgm:prSet loTypeId="urn:microsoft.com/office/officeart/2005/8/layout/venn1" loCatId="relationship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77D14C5-CED9-4CFC-B338-DFB0C8090B9F}">
      <dgm:prSet phldrT="[Text]" custT="1"/>
      <dgm:spPr>
        <a:xfrm>
          <a:off x="929639" y="53339"/>
          <a:ext cx="2560320" cy="2560320"/>
        </a:xfrm>
        <a:solidFill>
          <a:srgbClr val="8BAB00">
            <a:alpha val="69804"/>
          </a:srgbClr>
        </a:solidFill>
        <a:ln>
          <a:noFill/>
        </a:ln>
        <a:effectLst/>
      </dgm:spPr>
      <dgm:t>
        <a:bodyPr/>
        <a:lstStyle/>
        <a:p>
          <a:endParaRPr lang="en-US" altLang="zh-CN" sz="2800" dirty="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微软雅黑" pitchFamily="34" charset="-122"/>
            <a:ea typeface="微软雅黑" pitchFamily="34" charset="-122"/>
            <a:cs typeface="Arial" pitchFamily="34" charset="0"/>
          </a:endParaRPr>
        </a:p>
      </dgm:t>
    </dgm:pt>
    <dgm:pt modelId="{92DFCBC7-BC14-4697-8ECD-BF0D5B1EDA3B}" type="parTrans" cxnId="{7D461F02-AB37-447A-AC6B-D31C4D2EC6A9}">
      <dgm:prSet/>
      <dgm:spPr/>
      <dgm:t>
        <a:bodyPr/>
        <a:lstStyle/>
        <a:p>
          <a:endParaRPr lang="en-US"/>
        </a:p>
      </dgm:t>
    </dgm:pt>
    <dgm:pt modelId="{87E3C0DB-7BEE-424E-8E11-B838D238D595}" type="sibTrans" cxnId="{7D461F02-AB37-447A-AC6B-D31C4D2EC6A9}">
      <dgm:prSet/>
      <dgm:spPr/>
      <dgm:t>
        <a:bodyPr/>
        <a:lstStyle/>
        <a:p>
          <a:endParaRPr lang="en-US"/>
        </a:p>
      </dgm:t>
    </dgm:pt>
    <dgm:pt modelId="{3C67E77D-62FA-499D-B5E6-E79A091C5267}">
      <dgm:prSet phldrT="[Text]" custT="1"/>
      <dgm:spPr>
        <a:xfrm>
          <a:off x="1853488" y="1653539"/>
          <a:ext cx="2560320" cy="2560320"/>
        </a:xfrm>
        <a:solidFill>
          <a:srgbClr val="FF9300">
            <a:alpha val="69804"/>
          </a:srgbClr>
        </a:solidFill>
        <a:ln>
          <a:noFill/>
        </a:ln>
        <a:effectLst/>
      </dgm:spPr>
      <dgm:t>
        <a:bodyPr/>
        <a:lstStyle/>
        <a:p>
          <a:endParaRPr lang="en-US" sz="2800" dirty="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微软雅黑" pitchFamily="34" charset="-122"/>
            <a:ea typeface="微软雅黑" pitchFamily="34" charset="-122"/>
            <a:cs typeface="Arial" pitchFamily="34" charset="0"/>
          </a:endParaRPr>
        </a:p>
      </dgm:t>
    </dgm:pt>
    <dgm:pt modelId="{5337D229-E330-4525-B0FA-14EC5A80604A}" type="parTrans" cxnId="{32AA6160-4426-4C4D-93AE-E2F474E37AD9}">
      <dgm:prSet/>
      <dgm:spPr/>
      <dgm:t>
        <a:bodyPr/>
        <a:lstStyle/>
        <a:p>
          <a:endParaRPr lang="en-US"/>
        </a:p>
      </dgm:t>
    </dgm:pt>
    <dgm:pt modelId="{C056AC5D-B04E-4376-A1CB-3EAB7BE5AF5B}" type="sibTrans" cxnId="{32AA6160-4426-4C4D-93AE-E2F474E37AD9}">
      <dgm:prSet/>
      <dgm:spPr/>
      <dgm:t>
        <a:bodyPr/>
        <a:lstStyle/>
        <a:p>
          <a:endParaRPr lang="en-US"/>
        </a:p>
      </dgm:t>
    </dgm:pt>
    <dgm:pt modelId="{CC6B7442-0B72-4EF2-9F13-1325B51AFF9F}">
      <dgm:prSet phldrT="[Text]" custT="1"/>
      <dgm:spPr>
        <a:xfrm>
          <a:off x="5791" y="1653539"/>
          <a:ext cx="2560320" cy="2560320"/>
        </a:xfrm>
        <a:solidFill>
          <a:srgbClr val="0066FF">
            <a:alpha val="69804"/>
          </a:srgbClr>
        </a:solidFill>
        <a:ln>
          <a:noFill/>
        </a:ln>
        <a:effectLst/>
      </dgm:spPr>
      <dgm:t>
        <a:bodyPr/>
        <a:lstStyle/>
        <a:p>
          <a:endParaRPr lang="en-US" sz="2800" dirty="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微软雅黑" pitchFamily="34" charset="-122"/>
            <a:ea typeface="微软雅黑" pitchFamily="34" charset="-122"/>
            <a:cs typeface="Arial" pitchFamily="34" charset="0"/>
          </a:endParaRPr>
        </a:p>
      </dgm:t>
    </dgm:pt>
    <dgm:pt modelId="{E3D139E0-5DC2-4F8E-9F8F-B3F0EBCD4689}" type="parTrans" cxnId="{102D6D4D-90C9-40F4-A001-35DCC329B127}">
      <dgm:prSet/>
      <dgm:spPr/>
      <dgm:t>
        <a:bodyPr/>
        <a:lstStyle/>
        <a:p>
          <a:endParaRPr lang="en-US"/>
        </a:p>
      </dgm:t>
    </dgm:pt>
    <dgm:pt modelId="{FF80E1BA-0D6F-4EE8-9640-892A5897DBCD}" type="sibTrans" cxnId="{102D6D4D-90C9-40F4-A001-35DCC329B127}">
      <dgm:prSet/>
      <dgm:spPr/>
      <dgm:t>
        <a:bodyPr/>
        <a:lstStyle/>
        <a:p>
          <a:endParaRPr lang="en-US"/>
        </a:p>
      </dgm:t>
    </dgm:pt>
    <dgm:pt modelId="{E16D65B4-494C-45C0-82F5-A63E581063CB}" type="pres">
      <dgm:prSet presAssocID="{90119837-5B71-4D44-BB01-DB0B084933C8}" presName="compositeShape" presStyleCnt="0">
        <dgm:presLayoutVars>
          <dgm:chMax val="7"/>
          <dgm:dir/>
          <dgm:resizeHandles val="exact"/>
        </dgm:presLayoutVars>
      </dgm:prSet>
      <dgm:spPr/>
    </dgm:pt>
    <dgm:pt modelId="{7A12B315-EA92-4E8C-914E-FCF8B923D9BA}" type="pres">
      <dgm:prSet presAssocID="{477D14C5-CED9-4CFC-B338-DFB0C8090B9F}" presName="circ1" presStyleLbl="vennNode1" presStyleIdx="0" presStyleCnt="3"/>
      <dgm:spPr>
        <a:prstGeom prst="ellipse">
          <a:avLst/>
        </a:prstGeom>
      </dgm:spPr>
    </dgm:pt>
    <dgm:pt modelId="{1114C5CF-9DB7-4B7A-9D02-B353869E5D38}" type="pres">
      <dgm:prSet presAssocID="{477D14C5-CED9-4CFC-B338-DFB0C8090B9F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3469E5A2-93C2-49EF-825C-26E5802651A1}" type="pres">
      <dgm:prSet presAssocID="{3C67E77D-62FA-499D-B5E6-E79A091C5267}" presName="circ2" presStyleLbl="vennNode1" presStyleIdx="1" presStyleCnt="3"/>
      <dgm:spPr>
        <a:prstGeom prst="ellipse">
          <a:avLst/>
        </a:prstGeom>
      </dgm:spPr>
    </dgm:pt>
    <dgm:pt modelId="{EB02C228-AFBE-4EA8-ADAD-5E115CB980C7}" type="pres">
      <dgm:prSet presAssocID="{3C67E77D-62FA-499D-B5E6-E79A091C526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B11D8EC-23D3-4EEE-B141-81E29A0B04B6}" type="pres">
      <dgm:prSet presAssocID="{CC6B7442-0B72-4EF2-9F13-1325B51AFF9F}" presName="circ3" presStyleLbl="vennNode1" presStyleIdx="2" presStyleCnt="3"/>
      <dgm:spPr>
        <a:prstGeom prst="ellipse">
          <a:avLst/>
        </a:prstGeom>
      </dgm:spPr>
    </dgm:pt>
    <dgm:pt modelId="{99560A19-63A4-4F58-BF54-93D1A84B1A1C}" type="pres">
      <dgm:prSet presAssocID="{CC6B7442-0B72-4EF2-9F13-1325B51AFF9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D461F02-AB37-447A-AC6B-D31C4D2EC6A9}" srcId="{90119837-5B71-4D44-BB01-DB0B084933C8}" destId="{477D14C5-CED9-4CFC-B338-DFB0C8090B9F}" srcOrd="0" destOrd="0" parTransId="{92DFCBC7-BC14-4697-8ECD-BF0D5B1EDA3B}" sibTransId="{87E3C0DB-7BEE-424E-8E11-B838D238D595}"/>
    <dgm:cxn modelId="{31818D2D-C87D-41A5-BCB7-3D2B1A40D555}" type="presOf" srcId="{CC6B7442-0B72-4EF2-9F13-1325B51AFF9F}" destId="{99560A19-63A4-4F58-BF54-93D1A84B1A1C}" srcOrd="1" destOrd="0" presId="urn:microsoft.com/office/officeart/2005/8/layout/venn1"/>
    <dgm:cxn modelId="{32AA6160-4426-4C4D-93AE-E2F474E37AD9}" srcId="{90119837-5B71-4D44-BB01-DB0B084933C8}" destId="{3C67E77D-62FA-499D-B5E6-E79A091C5267}" srcOrd="1" destOrd="0" parTransId="{5337D229-E330-4525-B0FA-14EC5A80604A}" sibTransId="{C056AC5D-B04E-4376-A1CB-3EAB7BE5AF5B}"/>
    <dgm:cxn modelId="{AC1AFC44-55BF-45CD-95A5-B70766D2A3C6}" type="presOf" srcId="{CC6B7442-0B72-4EF2-9F13-1325B51AFF9F}" destId="{2B11D8EC-23D3-4EEE-B141-81E29A0B04B6}" srcOrd="0" destOrd="0" presId="urn:microsoft.com/office/officeart/2005/8/layout/venn1"/>
    <dgm:cxn modelId="{102D6D4D-90C9-40F4-A001-35DCC329B127}" srcId="{90119837-5B71-4D44-BB01-DB0B084933C8}" destId="{CC6B7442-0B72-4EF2-9F13-1325B51AFF9F}" srcOrd="2" destOrd="0" parTransId="{E3D139E0-5DC2-4F8E-9F8F-B3F0EBCD4689}" sibTransId="{FF80E1BA-0D6F-4EE8-9640-892A5897DBCD}"/>
    <dgm:cxn modelId="{8D071C54-015B-4F93-B884-1F273B84F628}" type="presOf" srcId="{3C67E77D-62FA-499D-B5E6-E79A091C5267}" destId="{3469E5A2-93C2-49EF-825C-26E5802651A1}" srcOrd="0" destOrd="0" presId="urn:microsoft.com/office/officeart/2005/8/layout/venn1"/>
    <dgm:cxn modelId="{C43DB1A3-050B-4577-906E-428A50C69997}" type="presOf" srcId="{477D14C5-CED9-4CFC-B338-DFB0C8090B9F}" destId="{7A12B315-EA92-4E8C-914E-FCF8B923D9BA}" srcOrd="0" destOrd="0" presId="urn:microsoft.com/office/officeart/2005/8/layout/venn1"/>
    <dgm:cxn modelId="{BBFAE5A6-DA44-4A72-8ED1-B7558E4CF607}" type="presOf" srcId="{3C67E77D-62FA-499D-B5E6-E79A091C5267}" destId="{EB02C228-AFBE-4EA8-ADAD-5E115CB980C7}" srcOrd="1" destOrd="0" presId="urn:microsoft.com/office/officeart/2005/8/layout/venn1"/>
    <dgm:cxn modelId="{97AC42D2-C8F3-4A2C-9300-97D4C44570E9}" type="presOf" srcId="{90119837-5B71-4D44-BB01-DB0B084933C8}" destId="{E16D65B4-494C-45C0-82F5-A63E581063CB}" srcOrd="0" destOrd="0" presId="urn:microsoft.com/office/officeart/2005/8/layout/venn1"/>
    <dgm:cxn modelId="{5E41A1E4-7E8D-4D7F-8389-879C6FA321CC}" type="presOf" srcId="{477D14C5-CED9-4CFC-B338-DFB0C8090B9F}" destId="{1114C5CF-9DB7-4B7A-9D02-B353869E5D38}" srcOrd="1" destOrd="0" presId="urn:microsoft.com/office/officeart/2005/8/layout/venn1"/>
    <dgm:cxn modelId="{CF153FF3-06C9-44DF-8F9A-469CFB15C57D}" type="presParOf" srcId="{E16D65B4-494C-45C0-82F5-A63E581063CB}" destId="{7A12B315-EA92-4E8C-914E-FCF8B923D9BA}" srcOrd="0" destOrd="0" presId="urn:microsoft.com/office/officeart/2005/8/layout/venn1"/>
    <dgm:cxn modelId="{C13C00B2-B500-4D2A-BE07-63339285365A}" type="presParOf" srcId="{E16D65B4-494C-45C0-82F5-A63E581063CB}" destId="{1114C5CF-9DB7-4B7A-9D02-B353869E5D38}" srcOrd="1" destOrd="0" presId="urn:microsoft.com/office/officeart/2005/8/layout/venn1"/>
    <dgm:cxn modelId="{2B46D49E-00E2-45B8-B8DE-0D591071B4AD}" type="presParOf" srcId="{E16D65B4-494C-45C0-82F5-A63E581063CB}" destId="{3469E5A2-93C2-49EF-825C-26E5802651A1}" srcOrd="2" destOrd="0" presId="urn:microsoft.com/office/officeart/2005/8/layout/venn1"/>
    <dgm:cxn modelId="{2610D17D-A295-45B2-87F5-3492EEB7C8D9}" type="presParOf" srcId="{E16D65B4-494C-45C0-82F5-A63E581063CB}" destId="{EB02C228-AFBE-4EA8-ADAD-5E115CB980C7}" srcOrd="3" destOrd="0" presId="urn:microsoft.com/office/officeart/2005/8/layout/venn1"/>
    <dgm:cxn modelId="{8ABDA6C6-65B2-428C-8D16-0C0F434E9D7D}" type="presParOf" srcId="{E16D65B4-494C-45C0-82F5-A63E581063CB}" destId="{2B11D8EC-23D3-4EEE-B141-81E29A0B04B6}" srcOrd="4" destOrd="0" presId="urn:microsoft.com/office/officeart/2005/8/layout/venn1"/>
    <dgm:cxn modelId="{197A2F0C-2ED8-496D-BDB9-C4EC2D104DE6}" type="presParOf" srcId="{E16D65B4-494C-45C0-82F5-A63E581063CB}" destId="{99560A19-63A4-4F58-BF54-93D1A84B1A1C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7D4DE8-5DCC-4E0C-A934-0DBB3FCBFFAC}" type="doc">
      <dgm:prSet loTypeId="urn:microsoft.com/office/officeart/2005/8/layout/vList5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FD44A685-4D37-493B-B7F6-F5670E41FBDF}">
      <dgm:prSet phldrT="[文本]" custT="1"/>
      <dgm:spPr/>
      <dgm:t>
        <a:bodyPr/>
        <a:lstStyle/>
        <a:p>
          <a:r>
            <a:rPr 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max</a:t>
          </a:r>
          <a:endParaRPr lang="zh-CN" altLang="en-US" sz="2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617855A-FCE7-438C-B03B-9376CEEF1871}" type="parTrans" cxnId="{C4CE8F0C-5E36-483E-9F1E-ECB78DA97E49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D15D2877-EBDE-4B0D-A0D7-1FA90BBCE6BB}" type="sibTrans" cxnId="{C4CE8F0C-5E36-483E-9F1E-ECB78DA97E49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BC85BFC-82F1-4A88-B6DD-2124BFE58D67}">
      <dgm:prSet phldrT="[文本]" custT="1"/>
      <dgm:spPr/>
      <dgm:t>
        <a:bodyPr/>
        <a:lstStyle/>
        <a:p>
          <a:r>
            <a:rPr 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规定输入框所允许的最大输入值。</a:t>
          </a:r>
          <a:endParaRPr lang="zh-CN" altLang="en-US" sz="1200" dirty="0">
            <a:solidFill>
              <a:srgbClr val="595959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1B1CC49-F385-482B-A73F-361237DC1DAF}" type="parTrans" cxnId="{339C98BF-912E-4537-AB2B-6C31DB99206C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68A9158-687F-4BF9-9B73-EE577DA07379}" type="sibTrans" cxnId="{339C98BF-912E-4537-AB2B-6C31DB99206C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A4080CB-50D2-4DCE-9DD4-B60179B4E175}">
      <dgm:prSet phldrT="[文本]" custT="1"/>
      <dgm:spPr/>
      <dgm:t>
        <a:bodyPr/>
        <a:lstStyle/>
        <a:p>
          <a:r>
            <a:rPr 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min</a:t>
          </a:r>
          <a:endParaRPr lang="zh-CN" altLang="en-US" sz="2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FCF67AF-791E-473E-8E8C-44D9AC2AE492}" type="parTrans" cxnId="{F9F8ECDB-C432-4EF8-8679-8B7AAE7651B2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01E8151-07E5-4D3E-92ED-A37BE66FFB5C}" type="sibTrans" cxnId="{F9F8ECDB-C432-4EF8-8679-8B7AAE7651B2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F63CEDC-CC6B-4734-ABF7-84191A0FD0A8}">
      <dgm:prSet phldrT="[文本]" custT="1"/>
      <dgm:spPr/>
      <dgm:t>
        <a:bodyPr/>
        <a:lstStyle/>
        <a:p>
          <a:r>
            <a:rPr 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规定输入框所允许的最小输入值。</a:t>
          </a:r>
          <a:endParaRPr lang="zh-CN" altLang="en-US" sz="1200" dirty="0">
            <a:solidFill>
              <a:srgbClr val="595959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66170D2-3547-4990-AB43-F1479C21E687}" type="parTrans" cxnId="{61735D81-5648-44DB-A5D4-FE7216FE1D00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F19FD6D-AD40-4B83-98B6-919F2ADB05AD}" type="sibTrans" cxnId="{61735D81-5648-44DB-A5D4-FE7216FE1D00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2F73016-A9BF-4C2D-B37A-803D6EB6046E}">
      <dgm:prSet phldrT="[文本]" custT="1"/>
      <dgm:spPr/>
      <dgm:t>
        <a:bodyPr/>
        <a:lstStyle/>
        <a:p>
          <a:r>
            <a:rPr lang="en-US" sz="2000" b="1" dirty="0">
              <a:latin typeface="微软雅黑" panose="020B0503020204020204" pitchFamily="34" charset="-122"/>
              <a:ea typeface="微软雅黑" panose="020B0503020204020204" pitchFamily="34" charset="-122"/>
            </a:rPr>
            <a:t>step</a:t>
          </a:r>
          <a:endParaRPr lang="zh-CN" altLang="en-US" sz="2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F245195-45FD-433D-8FC0-C920EC3A8D6B}" type="parTrans" cxnId="{281D2AE3-1D2F-4FD6-8E02-976B2536C688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2BB2239-41A5-4962-81EF-2233E7EBD1C9}" type="sibTrans" cxnId="{281D2AE3-1D2F-4FD6-8E02-976B2536C688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51D649A-A8B7-4001-8A04-030751D04434}">
      <dgm:prSet phldrT="[文本]" custT="1"/>
      <dgm:spPr/>
      <dgm:t>
        <a:bodyPr/>
        <a:lstStyle/>
        <a:p>
          <a:r>
            <a:rPr 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为输入框规定合法的数字间隔，如果不设置，默认值是</a:t>
          </a:r>
          <a:r>
            <a:rPr lang="en-US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sz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  <a:endParaRPr lang="zh-CN" altLang="en-US" sz="1200" dirty="0">
            <a:solidFill>
              <a:srgbClr val="595959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26C1A34E-8CE5-4DFB-9639-C62EE459F877}" type="parTrans" cxnId="{DB551C95-C232-4160-930A-01FBBD2585C3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338FBAF-21ED-437E-9E96-F0BC8EB5517D}" type="sibTrans" cxnId="{DB551C95-C232-4160-930A-01FBBD2585C3}">
      <dgm:prSet/>
      <dgm:spPr/>
      <dgm:t>
        <a:bodyPr/>
        <a:lstStyle/>
        <a:p>
          <a:endParaRPr lang="zh-CN" altLang="en-US" sz="1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9282BE2-BD56-4C45-A634-C28E6DEE0AC6}" type="pres">
      <dgm:prSet presAssocID="{CB7D4DE8-5DCC-4E0C-A934-0DBB3FCBFFAC}" presName="Name0" presStyleCnt="0">
        <dgm:presLayoutVars>
          <dgm:dir/>
          <dgm:animLvl val="lvl"/>
          <dgm:resizeHandles val="exact"/>
        </dgm:presLayoutVars>
      </dgm:prSet>
      <dgm:spPr/>
    </dgm:pt>
    <dgm:pt modelId="{23B570F3-FF25-46E1-83A5-E2FDEDE8893C}" type="pres">
      <dgm:prSet presAssocID="{FD44A685-4D37-493B-B7F6-F5670E41FBDF}" presName="linNode" presStyleCnt="0"/>
      <dgm:spPr/>
    </dgm:pt>
    <dgm:pt modelId="{359258F3-69ED-427C-93C5-695CA15F7ED7}" type="pres">
      <dgm:prSet presAssocID="{FD44A685-4D37-493B-B7F6-F5670E41FBDF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0874C429-5902-4B9A-8628-190C2F710373}" type="pres">
      <dgm:prSet presAssocID="{FD44A685-4D37-493B-B7F6-F5670E41FBDF}" presName="descendantText" presStyleLbl="alignAccFollowNode1" presStyleIdx="0" presStyleCnt="3">
        <dgm:presLayoutVars>
          <dgm:bulletEnabled val="1"/>
        </dgm:presLayoutVars>
      </dgm:prSet>
      <dgm:spPr/>
    </dgm:pt>
    <dgm:pt modelId="{43B97C78-0DE3-4EFD-BDE4-70AF53831694}" type="pres">
      <dgm:prSet presAssocID="{D15D2877-EBDE-4B0D-A0D7-1FA90BBCE6BB}" presName="sp" presStyleCnt="0"/>
      <dgm:spPr/>
    </dgm:pt>
    <dgm:pt modelId="{0129308F-6CFC-4941-B2EF-4F4E6BA94AB6}" type="pres">
      <dgm:prSet presAssocID="{1A4080CB-50D2-4DCE-9DD4-B60179B4E175}" presName="linNode" presStyleCnt="0"/>
      <dgm:spPr/>
    </dgm:pt>
    <dgm:pt modelId="{DF80D7A3-CB95-4660-AE93-B0D052AC72FB}" type="pres">
      <dgm:prSet presAssocID="{1A4080CB-50D2-4DCE-9DD4-B60179B4E175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96A2322-33D9-4B30-85C1-A99B608713FC}" type="pres">
      <dgm:prSet presAssocID="{1A4080CB-50D2-4DCE-9DD4-B60179B4E175}" presName="descendantText" presStyleLbl="alignAccFollowNode1" presStyleIdx="1" presStyleCnt="3">
        <dgm:presLayoutVars>
          <dgm:bulletEnabled val="1"/>
        </dgm:presLayoutVars>
      </dgm:prSet>
      <dgm:spPr/>
    </dgm:pt>
    <dgm:pt modelId="{CDE0EE1B-DA78-4DE6-B33D-58662C6AADED}" type="pres">
      <dgm:prSet presAssocID="{901E8151-07E5-4D3E-92ED-A37BE66FFB5C}" presName="sp" presStyleCnt="0"/>
      <dgm:spPr/>
    </dgm:pt>
    <dgm:pt modelId="{2C13819A-83D6-4952-8C24-70FFA47F8072}" type="pres">
      <dgm:prSet presAssocID="{F2F73016-A9BF-4C2D-B37A-803D6EB6046E}" presName="linNode" presStyleCnt="0"/>
      <dgm:spPr/>
    </dgm:pt>
    <dgm:pt modelId="{6CDFDB81-6251-4ADC-88B3-F38A0B5700D1}" type="pres">
      <dgm:prSet presAssocID="{F2F73016-A9BF-4C2D-B37A-803D6EB6046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BDE86E03-60BB-4F76-953A-30EE5883D084}" type="pres">
      <dgm:prSet presAssocID="{F2F73016-A9BF-4C2D-B37A-803D6EB6046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4CE8F0C-5E36-483E-9F1E-ECB78DA97E49}" srcId="{CB7D4DE8-5DCC-4E0C-A934-0DBB3FCBFFAC}" destId="{FD44A685-4D37-493B-B7F6-F5670E41FBDF}" srcOrd="0" destOrd="0" parTransId="{9617855A-FCE7-438C-B03B-9376CEEF1871}" sibTransId="{D15D2877-EBDE-4B0D-A0D7-1FA90BBCE6BB}"/>
    <dgm:cxn modelId="{19AEC221-BC48-42D7-9562-FED8C9D5F2C5}" type="presOf" srcId="{FD44A685-4D37-493B-B7F6-F5670E41FBDF}" destId="{359258F3-69ED-427C-93C5-695CA15F7ED7}" srcOrd="0" destOrd="0" presId="urn:microsoft.com/office/officeart/2005/8/layout/vList5"/>
    <dgm:cxn modelId="{7DD4E825-C330-40CD-8374-572ACB7897B9}" type="presOf" srcId="{2F63CEDC-CC6B-4734-ABF7-84191A0FD0A8}" destId="{A96A2322-33D9-4B30-85C1-A99B608713FC}" srcOrd="0" destOrd="0" presId="urn:microsoft.com/office/officeart/2005/8/layout/vList5"/>
    <dgm:cxn modelId="{6F22C041-0398-449B-A29E-54C37D23E77F}" type="presOf" srcId="{CB7D4DE8-5DCC-4E0C-A934-0DBB3FCBFFAC}" destId="{49282BE2-BD56-4C45-A634-C28E6DEE0AC6}" srcOrd="0" destOrd="0" presId="urn:microsoft.com/office/officeart/2005/8/layout/vList5"/>
    <dgm:cxn modelId="{04A11C46-E5E4-4944-A28E-75DFED68B26C}" type="presOf" srcId="{1A4080CB-50D2-4DCE-9DD4-B60179B4E175}" destId="{DF80D7A3-CB95-4660-AE93-B0D052AC72FB}" srcOrd="0" destOrd="0" presId="urn:microsoft.com/office/officeart/2005/8/layout/vList5"/>
    <dgm:cxn modelId="{03560F4E-3F35-4F2D-B6AE-E75E2F2FC2ED}" type="presOf" srcId="{9BC85BFC-82F1-4A88-B6DD-2124BFE58D67}" destId="{0874C429-5902-4B9A-8628-190C2F710373}" srcOrd="0" destOrd="0" presId="urn:microsoft.com/office/officeart/2005/8/layout/vList5"/>
    <dgm:cxn modelId="{61735D81-5648-44DB-A5D4-FE7216FE1D00}" srcId="{1A4080CB-50D2-4DCE-9DD4-B60179B4E175}" destId="{2F63CEDC-CC6B-4734-ABF7-84191A0FD0A8}" srcOrd="0" destOrd="0" parTransId="{866170D2-3547-4990-AB43-F1479C21E687}" sibTransId="{1F19FD6D-AD40-4B83-98B6-919F2ADB05AD}"/>
    <dgm:cxn modelId="{DB551C95-C232-4160-930A-01FBBD2585C3}" srcId="{F2F73016-A9BF-4C2D-B37A-803D6EB6046E}" destId="{C51D649A-A8B7-4001-8A04-030751D04434}" srcOrd="0" destOrd="0" parTransId="{26C1A34E-8CE5-4DFB-9639-C62EE459F877}" sibTransId="{7338FBAF-21ED-437E-9E96-F0BC8EB5517D}"/>
    <dgm:cxn modelId="{DB34BFAE-EC95-461F-BB67-16DBA2AC9835}" type="presOf" srcId="{C51D649A-A8B7-4001-8A04-030751D04434}" destId="{BDE86E03-60BB-4F76-953A-30EE5883D084}" srcOrd="0" destOrd="0" presId="urn:microsoft.com/office/officeart/2005/8/layout/vList5"/>
    <dgm:cxn modelId="{339C98BF-912E-4537-AB2B-6C31DB99206C}" srcId="{FD44A685-4D37-493B-B7F6-F5670E41FBDF}" destId="{9BC85BFC-82F1-4A88-B6DD-2124BFE58D67}" srcOrd="0" destOrd="0" parTransId="{E1B1CC49-F385-482B-A73F-361237DC1DAF}" sibTransId="{F68A9158-687F-4BF9-9B73-EE577DA07379}"/>
    <dgm:cxn modelId="{578DB7D2-667E-425D-B9E6-8ACDEA35BF44}" type="presOf" srcId="{F2F73016-A9BF-4C2D-B37A-803D6EB6046E}" destId="{6CDFDB81-6251-4ADC-88B3-F38A0B5700D1}" srcOrd="0" destOrd="0" presId="urn:microsoft.com/office/officeart/2005/8/layout/vList5"/>
    <dgm:cxn modelId="{F9F8ECDB-C432-4EF8-8679-8B7AAE7651B2}" srcId="{CB7D4DE8-5DCC-4E0C-A934-0DBB3FCBFFAC}" destId="{1A4080CB-50D2-4DCE-9DD4-B60179B4E175}" srcOrd="1" destOrd="0" parTransId="{5FCF67AF-791E-473E-8E8C-44D9AC2AE492}" sibTransId="{901E8151-07E5-4D3E-92ED-A37BE66FFB5C}"/>
    <dgm:cxn modelId="{281D2AE3-1D2F-4FD6-8E02-976B2536C688}" srcId="{CB7D4DE8-5DCC-4E0C-A934-0DBB3FCBFFAC}" destId="{F2F73016-A9BF-4C2D-B37A-803D6EB6046E}" srcOrd="2" destOrd="0" parTransId="{AF245195-45FD-433D-8FC0-C920EC3A8D6B}" sibTransId="{C2BB2239-41A5-4962-81EF-2233E7EBD1C9}"/>
    <dgm:cxn modelId="{B67DA491-6DCB-4737-96DC-5797A848D869}" type="presParOf" srcId="{49282BE2-BD56-4C45-A634-C28E6DEE0AC6}" destId="{23B570F3-FF25-46E1-83A5-E2FDEDE8893C}" srcOrd="0" destOrd="0" presId="urn:microsoft.com/office/officeart/2005/8/layout/vList5"/>
    <dgm:cxn modelId="{412ECBF9-01BA-42ED-9D69-463C29C89EAD}" type="presParOf" srcId="{23B570F3-FF25-46E1-83A5-E2FDEDE8893C}" destId="{359258F3-69ED-427C-93C5-695CA15F7ED7}" srcOrd="0" destOrd="0" presId="urn:microsoft.com/office/officeart/2005/8/layout/vList5"/>
    <dgm:cxn modelId="{81305B59-749F-48D0-996A-59D7C044BC33}" type="presParOf" srcId="{23B570F3-FF25-46E1-83A5-E2FDEDE8893C}" destId="{0874C429-5902-4B9A-8628-190C2F710373}" srcOrd="1" destOrd="0" presId="urn:microsoft.com/office/officeart/2005/8/layout/vList5"/>
    <dgm:cxn modelId="{8961B10E-0735-4B9D-B512-53379C2AF7BB}" type="presParOf" srcId="{49282BE2-BD56-4C45-A634-C28E6DEE0AC6}" destId="{43B97C78-0DE3-4EFD-BDE4-70AF53831694}" srcOrd="1" destOrd="0" presId="urn:microsoft.com/office/officeart/2005/8/layout/vList5"/>
    <dgm:cxn modelId="{3098F64A-0C73-4726-9621-D5E2B66CE79F}" type="presParOf" srcId="{49282BE2-BD56-4C45-A634-C28E6DEE0AC6}" destId="{0129308F-6CFC-4941-B2EF-4F4E6BA94AB6}" srcOrd="2" destOrd="0" presId="urn:microsoft.com/office/officeart/2005/8/layout/vList5"/>
    <dgm:cxn modelId="{F81782C5-C58C-44A6-9261-CEB3479CF17B}" type="presParOf" srcId="{0129308F-6CFC-4941-B2EF-4F4E6BA94AB6}" destId="{DF80D7A3-CB95-4660-AE93-B0D052AC72FB}" srcOrd="0" destOrd="0" presId="urn:microsoft.com/office/officeart/2005/8/layout/vList5"/>
    <dgm:cxn modelId="{352EC714-1B68-43A8-902E-5A99F575A843}" type="presParOf" srcId="{0129308F-6CFC-4941-B2EF-4F4E6BA94AB6}" destId="{A96A2322-33D9-4B30-85C1-A99B608713FC}" srcOrd="1" destOrd="0" presId="urn:microsoft.com/office/officeart/2005/8/layout/vList5"/>
    <dgm:cxn modelId="{5259920A-05A7-4A0D-B67E-F6E711EDEC0A}" type="presParOf" srcId="{49282BE2-BD56-4C45-A634-C28E6DEE0AC6}" destId="{CDE0EE1B-DA78-4DE6-B33D-58662C6AADED}" srcOrd="3" destOrd="0" presId="urn:microsoft.com/office/officeart/2005/8/layout/vList5"/>
    <dgm:cxn modelId="{7B8D4304-3A44-44A9-8B9A-C7764110BF7F}" type="presParOf" srcId="{49282BE2-BD56-4C45-A634-C28E6DEE0AC6}" destId="{2C13819A-83D6-4952-8C24-70FFA47F8072}" srcOrd="4" destOrd="0" presId="urn:microsoft.com/office/officeart/2005/8/layout/vList5"/>
    <dgm:cxn modelId="{4C5166FB-8D71-4E31-AC7A-DD84958D8198}" type="presParOf" srcId="{2C13819A-83D6-4952-8C24-70FFA47F8072}" destId="{6CDFDB81-6251-4ADC-88B3-F38A0B5700D1}" srcOrd="0" destOrd="0" presId="urn:microsoft.com/office/officeart/2005/8/layout/vList5"/>
    <dgm:cxn modelId="{582AB65D-81BA-47AF-B311-E4E1176A8FE5}" type="presParOf" srcId="{2C13819A-83D6-4952-8C24-70FFA47F8072}" destId="{BDE86E03-60BB-4F76-953A-30EE5883D08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12B315-EA92-4E8C-914E-FCF8B923D9BA}">
      <dsp:nvSpPr>
        <dsp:cNvPr id="0" name=""/>
        <dsp:cNvSpPr/>
      </dsp:nvSpPr>
      <dsp:spPr>
        <a:xfrm>
          <a:off x="849053" y="35382"/>
          <a:ext cx="1698374" cy="1698374"/>
        </a:xfrm>
        <a:prstGeom prst="ellipse">
          <a:avLst/>
        </a:prstGeom>
        <a:solidFill>
          <a:srgbClr val="1369B2">
            <a:alpha val="69804"/>
          </a:srgb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2800" kern="1200" dirty="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微软雅黑" pitchFamily="34" charset="-122"/>
            <a:ea typeface="微软雅黑" pitchFamily="34" charset="-122"/>
            <a:cs typeface="Arial" pitchFamily="34" charset="0"/>
          </a:endParaRPr>
        </a:p>
      </dsp:txBody>
      <dsp:txXfrm>
        <a:off x="1075503" y="332598"/>
        <a:ext cx="1245474" cy="764268"/>
      </dsp:txXfrm>
    </dsp:sp>
    <dsp:sp modelId="{3469E5A2-93C2-49EF-825C-26E5802651A1}">
      <dsp:nvSpPr>
        <dsp:cNvPr id="0" name=""/>
        <dsp:cNvSpPr/>
      </dsp:nvSpPr>
      <dsp:spPr>
        <a:xfrm>
          <a:off x="1461883" y="1096866"/>
          <a:ext cx="1698374" cy="1698374"/>
        </a:xfrm>
        <a:prstGeom prst="ellipse">
          <a:avLst/>
        </a:prstGeom>
        <a:solidFill>
          <a:srgbClr val="0075CC">
            <a:alpha val="69804"/>
          </a:srgb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微软雅黑" pitchFamily="34" charset="-122"/>
            <a:ea typeface="微软雅黑" pitchFamily="34" charset="-122"/>
            <a:cs typeface="Arial" pitchFamily="34" charset="0"/>
          </a:endParaRPr>
        </a:p>
      </dsp:txBody>
      <dsp:txXfrm>
        <a:off x="1981302" y="1535613"/>
        <a:ext cx="1019024" cy="934105"/>
      </dsp:txXfrm>
    </dsp:sp>
    <dsp:sp modelId="{2B11D8EC-23D3-4EEE-B141-81E29A0B04B6}">
      <dsp:nvSpPr>
        <dsp:cNvPr id="0" name=""/>
        <dsp:cNvSpPr/>
      </dsp:nvSpPr>
      <dsp:spPr>
        <a:xfrm>
          <a:off x="236223" y="1096866"/>
          <a:ext cx="1698374" cy="1698374"/>
        </a:xfrm>
        <a:prstGeom prst="ellipse">
          <a:avLst/>
        </a:prstGeom>
        <a:solidFill>
          <a:srgbClr val="0066FF">
            <a:alpha val="69804"/>
          </a:srgb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微软雅黑" pitchFamily="34" charset="-122"/>
            <a:ea typeface="微软雅黑" pitchFamily="34" charset="-122"/>
            <a:cs typeface="Arial" pitchFamily="34" charset="0"/>
          </a:endParaRPr>
        </a:p>
      </dsp:txBody>
      <dsp:txXfrm>
        <a:off x="396153" y="1535613"/>
        <a:ext cx="1019024" cy="9341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12B315-EA92-4E8C-914E-FCF8B923D9BA}">
      <dsp:nvSpPr>
        <dsp:cNvPr id="0" name=""/>
        <dsp:cNvSpPr/>
      </dsp:nvSpPr>
      <dsp:spPr>
        <a:xfrm>
          <a:off x="849053" y="35382"/>
          <a:ext cx="1698374" cy="1698374"/>
        </a:xfrm>
        <a:prstGeom prst="ellipse">
          <a:avLst/>
        </a:prstGeom>
        <a:solidFill>
          <a:srgbClr val="8BAB00">
            <a:alpha val="69804"/>
          </a:srgb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2800" kern="1200" dirty="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微软雅黑" pitchFamily="34" charset="-122"/>
            <a:ea typeface="微软雅黑" pitchFamily="34" charset="-122"/>
            <a:cs typeface="Arial" pitchFamily="34" charset="0"/>
          </a:endParaRPr>
        </a:p>
      </dsp:txBody>
      <dsp:txXfrm>
        <a:off x="1075503" y="332598"/>
        <a:ext cx="1245474" cy="764268"/>
      </dsp:txXfrm>
    </dsp:sp>
    <dsp:sp modelId="{3469E5A2-93C2-49EF-825C-26E5802651A1}">
      <dsp:nvSpPr>
        <dsp:cNvPr id="0" name=""/>
        <dsp:cNvSpPr/>
      </dsp:nvSpPr>
      <dsp:spPr>
        <a:xfrm>
          <a:off x="1461883" y="1096866"/>
          <a:ext cx="1698374" cy="1698374"/>
        </a:xfrm>
        <a:prstGeom prst="ellipse">
          <a:avLst/>
        </a:prstGeom>
        <a:solidFill>
          <a:srgbClr val="FF9300">
            <a:alpha val="69804"/>
          </a:srgb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微软雅黑" pitchFamily="34" charset="-122"/>
            <a:ea typeface="微软雅黑" pitchFamily="34" charset="-122"/>
            <a:cs typeface="Arial" pitchFamily="34" charset="0"/>
          </a:endParaRPr>
        </a:p>
      </dsp:txBody>
      <dsp:txXfrm>
        <a:off x="1981302" y="1535613"/>
        <a:ext cx="1019024" cy="934105"/>
      </dsp:txXfrm>
    </dsp:sp>
    <dsp:sp modelId="{2B11D8EC-23D3-4EEE-B141-81E29A0B04B6}">
      <dsp:nvSpPr>
        <dsp:cNvPr id="0" name=""/>
        <dsp:cNvSpPr/>
      </dsp:nvSpPr>
      <dsp:spPr>
        <a:xfrm>
          <a:off x="236223" y="1096866"/>
          <a:ext cx="1698374" cy="1698374"/>
        </a:xfrm>
        <a:prstGeom prst="ellipse">
          <a:avLst/>
        </a:prstGeom>
        <a:solidFill>
          <a:srgbClr val="0066FF">
            <a:alpha val="69804"/>
          </a:srgb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>
            <a:solidFill>
              <a:sysClr val="window" lastClr="FFFFFF">
                <a:hueOff val="0"/>
                <a:satOff val="0"/>
                <a:lumOff val="0"/>
                <a:alphaOff val="0"/>
              </a:sysClr>
            </a:solidFill>
            <a:latin typeface="微软雅黑" pitchFamily="34" charset="-122"/>
            <a:ea typeface="微软雅黑" pitchFamily="34" charset="-122"/>
            <a:cs typeface="Arial" pitchFamily="34" charset="0"/>
          </a:endParaRPr>
        </a:p>
      </dsp:txBody>
      <dsp:txXfrm>
        <a:off x="396153" y="1535613"/>
        <a:ext cx="1019024" cy="9341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74C429-5902-4B9A-8628-190C2F710373}">
      <dsp:nvSpPr>
        <dsp:cNvPr id="0" name=""/>
        <dsp:cNvSpPr/>
      </dsp:nvSpPr>
      <dsp:spPr>
        <a:xfrm rot="5400000">
          <a:off x="2626994" y="-939977"/>
          <a:ext cx="756525" cy="2828477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规定输入框所允许的最大输入值。</a:t>
          </a:r>
          <a:endParaRPr lang="zh-CN" altLang="en-US" sz="1200" kern="1200" dirty="0">
            <a:solidFill>
              <a:srgbClr val="595959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-5400000">
        <a:off x="1591019" y="132929"/>
        <a:ext cx="2791546" cy="682663"/>
      </dsp:txXfrm>
    </dsp:sp>
    <dsp:sp modelId="{359258F3-69ED-427C-93C5-695CA15F7ED7}">
      <dsp:nvSpPr>
        <dsp:cNvPr id="0" name=""/>
        <dsp:cNvSpPr/>
      </dsp:nvSpPr>
      <dsp:spPr>
        <a:xfrm>
          <a:off x="0" y="1432"/>
          <a:ext cx="1591018" cy="94565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max</a:t>
          </a:r>
          <a:endParaRPr lang="zh-CN" altLang="en-US" sz="20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6163" y="47595"/>
        <a:ext cx="1498692" cy="853330"/>
      </dsp:txXfrm>
    </dsp:sp>
    <dsp:sp modelId="{A96A2322-33D9-4B30-85C1-A99B608713FC}">
      <dsp:nvSpPr>
        <dsp:cNvPr id="0" name=""/>
        <dsp:cNvSpPr/>
      </dsp:nvSpPr>
      <dsp:spPr>
        <a:xfrm rot="5400000">
          <a:off x="2626994" y="52962"/>
          <a:ext cx="756525" cy="2828477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规定输入框所允许的最小输入值。</a:t>
          </a:r>
          <a:endParaRPr lang="zh-CN" altLang="en-US" sz="1200" kern="1200" dirty="0">
            <a:solidFill>
              <a:srgbClr val="595959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-5400000">
        <a:off x="1591019" y="1125869"/>
        <a:ext cx="2791546" cy="682663"/>
      </dsp:txXfrm>
    </dsp:sp>
    <dsp:sp modelId="{DF80D7A3-CB95-4660-AE93-B0D052AC72FB}">
      <dsp:nvSpPr>
        <dsp:cNvPr id="0" name=""/>
        <dsp:cNvSpPr/>
      </dsp:nvSpPr>
      <dsp:spPr>
        <a:xfrm>
          <a:off x="0" y="994372"/>
          <a:ext cx="1591018" cy="94565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min</a:t>
          </a:r>
          <a:endParaRPr lang="zh-CN" altLang="en-US" sz="20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6163" y="1040535"/>
        <a:ext cx="1498692" cy="853330"/>
      </dsp:txXfrm>
    </dsp:sp>
    <dsp:sp modelId="{BDE86E03-60BB-4F76-953A-30EE5883D084}">
      <dsp:nvSpPr>
        <dsp:cNvPr id="0" name=""/>
        <dsp:cNvSpPr/>
      </dsp:nvSpPr>
      <dsp:spPr>
        <a:xfrm rot="5400000">
          <a:off x="2626994" y="1045902"/>
          <a:ext cx="756525" cy="2828477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sz="1200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为输入框规定合法的数字间隔，如果不设置，默认值是</a:t>
          </a:r>
          <a:r>
            <a:rPr lang="en-US" sz="1200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1</a:t>
          </a:r>
          <a:r>
            <a:rPr lang="zh-CN" sz="1200" kern="12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。</a:t>
          </a:r>
          <a:endParaRPr lang="zh-CN" altLang="en-US" sz="1200" kern="1200" dirty="0">
            <a:solidFill>
              <a:srgbClr val="595959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 rot="-5400000">
        <a:off x="1591019" y="2118809"/>
        <a:ext cx="2791546" cy="682663"/>
      </dsp:txXfrm>
    </dsp:sp>
    <dsp:sp modelId="{6CDFDB81-6251-4ADC-88B3-F38A0B5700D1}">
      <dsp:nvSpPr>
        <dsp:cNvPr id="0" name=""/>
        <dsp:cNvSpPr/>
      </dsp:nvSpPr>
      <dsp:spPr>
        <a:xfrm>
          <a:off x="0" y="1987312"/>
          <a:ext cx="1591018" cy="945656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微软雅黑" panose="020B0503020204020204" pitchFamily="34" charset="-122"/>
              <a:ea typeface="微软雅黑" panose="020B0503020204020204" pitchFamily="34" charset="-122"/>
            </a:rPr>
            <a:t>step</a:t>
          </a:r>
          <a:endParaRPr lang="zh-CN" altLang="en-US" sz="20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6163" y="2033475"/>
        <a:ext cx="1498692" cy="8533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872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134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0360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394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004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734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9651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445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6350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1484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52607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661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14553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6494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1398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6935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726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4086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6302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3805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9808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0611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8277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6810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9957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4626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8437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4961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3077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3498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4715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4598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9416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2350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4114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6568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12750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0283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83343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43536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18394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43113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16171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67488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00754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71192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9118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06296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36575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36824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59425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61639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36811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65196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36360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14756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304147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19445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43731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51793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95971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5860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30450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2831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09987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22255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67880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7318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18352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835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61661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82272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72710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78238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15972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31414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36339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69632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41087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936894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47856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698785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89861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724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2025/12/10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9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0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8"/>
          <p:cNvSpPr txBox="1"/>
          <p:nvPr/>
        </p:nvSpPr>
        <p:spPr>
          <a:xfrm>
            <a:off x="2239353" y="2877669"/>
            <a:ext cx="79575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1369B2"/>
                </a:solidFill>
                <a:latin typeface="微软雅黑" charset="0"/>
                <a:ea typeface="微软雅黑" charset="0"/>
                <a:cs typeface="+mn-ea"/>
                <a:sym typeface="思源黑体 CN Medium" panose="020B0600000000000000" pitchFamily="34" charset="-122"/>
              </a:rPr>
              <a:t>表格 </a:t>
            </a:r>
            <a:r>
              <a:rPr lang="en-US" altLang="zh-CN" sz="4000" dirty="0">
                <a:solidFill>
                  <a:srgbClr val="1369B2"/>
                </a:solidFill>
                <a:latin typeface="微软雅黑" charset="0"/>
                <a:ea typeface="微软雅黑" charset="0"/>
                <a:cs typeface="+mn-ea"/>
                <a:sym typeface="思源黑体 CN Medium" panose="020B0600000000000000" pitchFamily="34" charset="-122"/>
              </a:rPr>
              <a:t>&amp; </a:t>
            </a:r>
            <a:r>
              <a:rPr lang="zh-CN" altLang="en-US" sz="4000" dirty="0">
                <a:solidFill>
                  <a:srgbClr val="1369B2"/>
                </a:solidFill>
                <a:latin typeface="微软雅黑" charset="0"/>
                <a:ea typeface="微软雅黑" charset="0"/>
                <a:cs typeface="+mn-ea"/>
                <a:sym typeface="思源黑体 CN Medium" panose="020B0600000000000000" pitchFamily="34" charset="-122"/>
              </a:rPr>
              <a:t>表单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2482838" y="2028380"/>
            <a:ext cx="7293883" cy="688077"/>
            <a:chOff x="978872" y="1800499"/>
            <a:chExt cx="5471124" cy="515938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499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表格相关标签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，能够区分不同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表格标签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的作用。</a:t>
              </a:r>
              <a:endPara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2482838" y="2907889"/>
            <a:ext cx="7248475" cy="685959"/>
            <a:chOff x="978872" y="2570437"/>
            <a:chExt cx="5437064" cy="514350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表单的结构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，能够知道各部分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表单结构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的作用。</a:t>
              </a:r>
              <a:endPara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2482838" y="4662671"/>
            <a:ext cx="7248475" cy="688077"/>
            <a:chOff x="978872" y="3338787"/>
            <a:chExt cx="5437064" cy="515938"/>
          </a:xfrm>
        </p:grpSpPr>
        <p:sp>
          <p:nvSpPr>
            <p:cNvPr id="87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控制表格样式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的方法，能够在网页中设置不同的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表格样式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。</a:t>
              </a:r>
              <a:endPara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8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2482838" y="5542179"/>
            <a:ext cx="7248475" cy="685959"/>
            <a:chOff x="978872" y="4108725"/>
            <a:chExt cx="5437064" cy="514350"/>
          </a:xfrm>
        </p:grpSpPr>
        <p:sp>
          <p:nvSpPr>
            <p:cNvPr id="90" name="Pentagon 7"/>
            <p:cNvSpPr/>
            <p:nvPr/>
          </p:nvSpPr>
          <p:spPr bwMode="auto">
            <a:xfrm>
              <a:off x="978872" y="410872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CSS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控制表单样式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的方法，能够在网页中设置不同的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表单样式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。</a:t>
              </a:r>
              <a:endPara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91" name="MH_Others_1"/>
            <p:cNvSpPr/>
            <p:nvPr/>
          </p:nvSpPr>
          <p:spPr bwMode="auto">
            <a:xfrm>
              <a:off x="985222" y="4108725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482838" y="3785280"/>
            <a:ext cx="7248475" cy="685959"/>
            <a:chOff x="978872" y="2570437"/>
            <a:chExt cx="5437064" cy="514350"/>
          </a:xfrm>
        </p:grpSpPr>
        <p:sp>
          <p:nvSpPr>
            <p:cNvPr id="17" name="Pentagon 5"/>
            <p:cNvSpPr/>
            <p:nvPr/>
          </p:nvSpPr>
          <p:spPr bwMode="auto">
            <a:xfrm>
              <a:off x="978872" y="2570437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掌握不同类型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表单控件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的特点，能够区分它们之间的差异。</a:t>
              </a:r>
              <a:endParaRPr lang="en-GB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8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0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025958" y="1550231"/>
            <a:ext cx="6047883" cy="635241"/>
            <a:chOff x="3119265" y="2364759"/>
            <a:chExt cx="6047883" cy="635241"/>
          </a:xfrm>
        </p:grpSpPr>
        <p:grpSp>
          <p:nvGrpSpPr>
            <p:cNvPr id="45" name="组合 44"/>
            <p:cNvGrpSpPr/>
            <p:nvPr/>
          </p:nvGrpSpPr>
          <p:grpSpPr>
            <a:xfrm>
              <a:off x="3119265" y="2386938"/>
              <a:ext cx="1192190" cy="613062"/>
              <a:chOff x="2215144" y="982844"/>
              <a:chExt cx="1244730" cy="842780"/>
            </a:xfrm>
          </p:grpSpPr>
          <p:sp>
            <p:nvSpPr>
              <p:cNvPr id="46" name="平行四边形 45"/>
              <p:cNvSpPr/>
              <p:nvPr/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文本框 9"/>
              <p:cNvSpPr txBox="1"/>
              <p:nvPr/>
            </p:nvSpPr>
            <p:spPr>
              <a:xfrm>
                <a:off x="2393075" y="1005670"/>
                <a:ext cx="1066799" cy="803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01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4024817" y="2364759"/>
              <a:ext cx="5142331" cy="613062"/>
              <a:chOff x="4315150" y="953426"/>
              <a:chExt cx="3857250" cy="540057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4841196" y="1080292"/>
                <a:ext cx="2827147" cy="305017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【</a:t>
                </a:r>
                <a:r>
                  <a:rPr lang="zh-CN" alt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任务</a:t>
                </a:r>
                <a:r>
                  <a:rPr lang="en-US" altLang="zh-CN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6-1】</a:t>
                </a:r>
                <a:r>
                  <a:rPr lang="zh-CN" alt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认识</a:t>
                </a:r>
                <a:r>
                  <a:rPr lang="zh-CN" altLang="en-US" sz="18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表格</a:t>
                </a:r>
                <a:r>
                  <a:rPr lang="zh-CN" alt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相关标签</a:t>
                </a:r>
                <a:endParaRPr lang="en-GB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2" name="平行四边形 61"/>
              <p:cNvSpPr/>
              <p:nvPr/>
            </p:nvSpPr>
            <p:spPr>
              <a:xfrm>
                <a:off x="4315150" y="953426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1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3025958" y="2438412"/>
            <a:ext cx="6047883" cy="635232"/>
            <a:chOff x="3119265" y="3290510"/>
            <a:chExt cx="6047883" cy="635232"/>
          </a:xfrm>
        </p:grpSpPr>
        <p:grpSp>
          <p:nvGrpSpPr>
            <p:cNvPr id="48" name="组合 47"/>
            <p:cNvGrpSpPr/>
            <p:nvPr/>
          </p:nvGrpSpPr>
          <p:grpSpPr>
            <a:xfrm>
              <a:off x="3119265" y="3307336"/>
              <a:ext cx="1192190" cy="618406"/>
              <a:chOff x="2215144" y="2026500"/>
              <a:chExt cx="1244730" cy="850129"/>
            </a:xfrm>
          </p:grpSpPr>
          <p:sp>
            <p:nvSpPr>
              <p:cNvPr id="49" name="平行四边形 48"/>
              <p:cNvSpPr/>
              <p:nvPr/>
            </p:nvSpPr>
            <p:spPr>
              <a:xfrm>
                <a:off x="2215144" y="2033848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0" name="文本框 10"/>
              <p:cNvSpPr txBox="1"/>
              <p:nvPr/>
            </p:nvSpPr>
            <p:spPr>
              <a:xfrm>
                <a:off x="2393075" y="2026500"/>
                <a:ext cx="1066799" cy="80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02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4024817" y="3290510"/>
              <a:ext cx="5142331" cy="613062"/>
              <a:chOff x="4315150" y="1647579"/>
              <a:chExt cx="3857250" cy="540057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4841196" y="1783565"/>
                <a:ext cx="2827147" cy="305017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【</a:t>
                </a:r>
                <a:r>
                  <a:rPr lang="zh-CN" alt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任务</a:t>
                </a:r>
                <a:r>
                  <a:rPr lang="en-US" altLang="zh-CN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6-2】CSS</a:t>
                </a:r>
                <a:r>
                  <a:rPr lang="zh-CN" alt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控制</a:t>
                </a:r>
                <a:r>
                  <a:rPr lang="zh-CN" altLang="en-US" sz="18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表格样式</a:t>
                </a:r>
                <a:endParaRPr lang="en-GB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5" name="平行四边形 64"/>
              <p:cNvSpPr/>
              <p:nvPr/>
            </p:nvSpPr>
            <p:spPr>
              <a:xfrm>
                <a:off x="4315150" y="1647579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1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3025958" y="3371740"/>
            <a:ext cx="6047883" cy="636178"/>
            <a:chOff x="3119265" y="4216261"/>
            <a:chExt cx="6047883" cy="636178"/>
          </a:xfrm>
        </p:grpSpPr>
        <p:grpSp>
          <p:nvGrpSpPr>
            <p:cNvPr id="51" name="组合 50"/>
            <p:cNvGrpSpPr/>
            <p:nvPr/>
          </p:nvGrpSpPr>
          <p:grpSpPr>
            <a:xfrm>
              <a:off x="3119265" y="4237914"/>
              <a:ext cx="1192190" cy="614525"/>
              <a:chOff x="2215144" y="3084852"/>
              <a:chExt cx="1244730" cy="844793"/>
            </a:xfrm>
          </p:grpSpPr>
          <p:sp>
            <p:nvSpPr>
              <p:cNvPr id="52" name="平行四边形 51"/>
              <p:cNvSpPr/>
              <p:nvPr/>
            </p:nvSpPr>
            <p:spPr>
              <a:xfrm>
                <a:off x="2215144" y="3084852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文本框 11"/>
              <p:cNvSpPr txBox="1"/>
              <p:nvPr/>
            </p:nvSpPr>
            <p:spPr>
              <a:xfrm>
                <a:off x="2393075" y="3125750"/>
                <a:ext cx="1066799" cy="803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03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4024817" y="4216261"/>
              <a:ext cx="5142331" cy="613062"/>
              <a:chOff x="4315150" y="2341731"/>
              <a:chExt cx="3857250" cy="540057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4841197" y="2498986"/>
                <a:ext cx="3133455" cy="305017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【</a:t>
                </a:r>
                <a:r>
                  <a:rPr lang="zh-CN" alt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任务</a:t>
                </a:r>
                <a:r>
                  <a:rPr lang="en-US" altLang="zh-CN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6-3】</a:t>
                </a:r>
                <a:r>
                  <a:rPr lang="zh-CN" altLang="en-US" sz="18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表单</a:t>
                </a:r>
                <a:r>
                  <a:rPr lang="zh-CN" alt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概述</a:t>
                </a:r>
                <a:endParaRPr lang="en-GB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8" name="平行四边形 67"/>
              <p:cNvSpPr/>
              <p:nvPr/>
            </p:nvSpPr>
            <p:spPr>
              <a:xfrm>
                <a:off x="4315150" y="2341731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1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3025958" y="4306014"/>
            <a:ext cx="6047883" cy="635232"/>
            <a:chOff x="3119265" y="5156633"/>
            <a:chExt cx="6047883" cy="635232"/>
          </a:xfrm>
        </p:grpSpPr>
        <p:grpSp>
          <p:nvGrpSpPr>
            <p:cNvPr id="21" name="组合 20"/>
            <p:cNvGrpSpPr/>
            <p:nvPr/>
          </p:nvGrpSpPr>
          <p:grpSpPr>
            <a:xfrm>
              <a:off x="3119265" y="5173459"/>
              <a:ext cx="1192190" cy="618406"/>
              <a:chOff x="2215144" y="2026500"/>
              <a:chExt cx="1244730" cy="850129"/>
            </a:xfrm>
          </p:grpSpPr>
          <p:sp>
            <p:nvSpPr>
              <p:cNvPr id="22" name="平行四边形 21"/>
              <p:cNvSpPr/>
              <p:nvPr/>
            </p:nvSpPr>
            <p:spPr>
              <a:xfrm>
                <a:off x="2215144" y="2033848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3" name="文本框 10"/>
              <p:cNvSpPr txBox="1"/>
              <p:nvPr/>
            </p:nvSpPr>
            <p:spPr>
              <a:xfrm>
                <a:off x="2393075" y="2026500"/>
                <a:ext cx="1066799" cy="80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04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4024817" y="5156633"/>
              <a:ext cx="5142331" cy="613062"/>
              <a:chOff x="4315150" y="1647579"/>
              <a:chExt cx="3857250" cy="540057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4841196" y="1783565"/>
                <a:ext cx="2827147" cy="305017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【</a:t>
                </a:r>
                <a:r>
                  <a:rPr lang="zh-CN" alt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任务</a:t>
                </a:r>
                <a:r>
                  <a:rPr lang="en-US" altLang="zh-CN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6-4】</a:t>
                </a:r>
                <a:r>
                  <a:rPr lang="zh-CN" alt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基础</a:t>
                </a:r>
                <a:r>
                  <a:rPr lang="zh-CN" altLang="en-US" sz="18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表单控件</a:t>
                </a:r>
                <a:endParaRPr lang="en-GB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9" name="平行四边形 28"/>
              <p:cNvSpPr/>
              <p:nvPr/>
            </p:nvSpPr>
            <p:spPr>
              <a:xfrm>
                <a:off x="4315150" y="1647579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1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3025958" y="5239340"/>
            <a:ext cx="6047883" cy="635232"/>
            <a:chOff x="3119265" y="5156633"/>
            <a:chExt cx="6047883" cy="635232"/>
          </a:xfrm>
        </p:grpSpPr>
        <p:grpSp>
          <p:nvGrpSpPr>
            <p:cNvPr id="32" name="组合 31"/>
            <p:cNvGrpSpPr/>
            <p:nvPr/>
          </p:nvGrpSpPr>
          <p:grpSpPr>
            <a:xfrm>
              <a:off x="3119265" y="5173459"/>
              <a:ext cx="1192190" cy="618406"/>
              <a:chOff x="2215144" y="2026500"/>
              <a:chExt cx="1244730" cy="850129"/>
            </a:xfrm>
          </p:grpSpPr>
          <p:sp>
            <p:nvSpPr>
              <p:cNvPr id="36" name="平行四边形 35"/>
              <p:cNvSpPr/>
              <p:nvPr/>
            </p:nvSpPr>
            <p:spPr>
              <a:xfrm>
                <a:off x="2215144" y="2033848"/>
                <a:ext cx="1120898" cy="842781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文本框 10"/>
              <p:cNvSpPr txBox="1"/>
              <p:nvPr/>
            </p:nvSpPr>
            <p:spPr>
              <a:xfrm>
                <a:off x="2393075" y="2026500"/>
                <a:ext cx="1066799" cy="8038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05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4024817" y="5156633"/>
              <a:ext cx="5142331" cy="613062"/>
              <a:chOff x="4315150" y="1647579"/>
              <a:chExt cx="3857250" cy="540057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4841196" y="1783565"/>
                <a:ext cx="3133457" cy="305017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【</a:t>
                </a:r>
                <a:r>
                  <a:rPr lang="zh-CN" alt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任务</a:t>
                </a:r>
                <a:r>
                  <a:rPr lang="en-US" altLang="zh-CN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6-5】</a:t>
                </a:r>
                <a:r>
                  <a:rPr lang="zh-CN" alt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新增</a:t>
                </a:r>
                <a:r>
                  <a:rPr lang="zh-CN" altLang="en-US" sz="18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表单控件</a:t>
                </a:r>
                <a:r>
                  <a:rPr lang="zh-CN" alt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类型和属性</a:t>
                </a:r>
                <a:endParaRPr lang="en-GB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5" name="平行四边形 34"/>
              <p:cNvSpPr/>
              <p:nvPr/>
            </p:nvSpPr>
            <p:spPr>
              <a:xfrm>
                <a:off x="4315150" y="1647579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1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110C1137-96F3-436F-A00B-208C585E1692}"/>
              </a:ext>
            </a:extLst>
          </p:cNvPr>
          <p:cNvGrpSpPr/>
          <p:nvPr/>
        </p:nvGrpSpPr>
        <p:grpSpPr>
          <a:xfrm>
            <a:off x="3003380" y="6156105"/>
            <a:ext cx="6047883" cy="635241"/>
            <a:chOff x="3119265" y="2364759"/>
            <a:chExt cx="6047883" cy="635241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4AD371B3-D3D7-43E5-8923-00C7A2D62FE6}"/>
                </a:ext>
              </a:extLst>
            </p:cNvPr>
            <p:cNvGrpSpPr/>
            <p:nvPr/>
          </p:nvGrpSpPr>
          <p:grpSpPr>
            <a:xfrm>
              <a:off x="3119265" y="2386938"/>
              <a:ext cx="1192190" cy="613062"/>
              <a:chOff x="2215144" y="982844"/>
              <a:chExt cx="1244730" cy="842780"/>
            </a:xfrm>
          </p:grpSpPr>
          <p:sp>
            <p:nvSpPr>
              <p:cNvPr id="59" name="平行四边形 58">
                <a:extLst>
                  <a:ext uri="{FF2B5EF4-FFF2-40B4-BE49-F238E27FC236}">
                    <a16:creationId xmlns:a16="http://schemas.microsoft.com/office/drawing/2014/main" id="{465EE6BE-3724-46D3-85C9-EEE86BDEF134}"/>
                  </a:ext>
                </a:extLst>
              </p:cNvPr>
              <p:cNvSpPr/>
              <p:nvPr/>
            </p:nvSpPr>
            <p:spPr>
              <a:xfrm>
                <a:off x="2215144" y="982844"/>
                <a:ext cx="1120898" cy="842780"/>
              </a:xfrm>
              <a:prstGeom prst="parallelogram">
                <a:avLst>
                  <a:gd name="adj" fmla="val 48207"/>
                </a:avLst>
              </a:prstGeom>
              <a:solidFill>
                <a:srgbClr val="1369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69" name="文本框 9">
                <a:extLst>
                  <a:ext uri="{FF2B5EF4-FFF2-40B4-BE49-F238E27FC236}">
                    <a16:creationId xmlns:a16="http://schemas.microsoft.com/office/drawing/2014/main" id="{FCE4E3A3-F864-4BAC-B454-0B5629BC71E1}"/>
                  </a:ext>
                </a:extLst>
              </p:cNvPr>
              <p:cNvSpPr txBox="1"/>
              <p:nvPr/>
            </p:nvSpPr>
            <p:spPr>
              <a:xfrm>
                <a:off x="2393075" y="1005670"/>
                <a:ext cx="1066799" cy="803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06</a:t>
                </a:r>
                <a:endPara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B9C1DD52-4BEF-4CDF-82CD-2D5A1A2D7070}"/>
                </a:ext>
              </a:extLst>
            </p:cNvPr>
            <p:cNvGrpSpPr/>
            <p:nvPr/>
          </p:nvGrpSpPr>
          <p:grpSpPr>
            <a:xfrm>
              <a:off x="4024817" y="2364759"/>
              <a:ext cx="5142331" cy="613062"/>
              <a:chOff x="4315150" y="953426"/>
              <a:chExt cx="3857250" cy="540057"/>
            </a:xfrm>
          </p:grpSpPr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04565894-0ACD-446E-9A5A-FA92AC9A81D9}"/>
                  </a:ext>
                </a:extLst>
              </p:cNvPr>
              <p:cNvSpPr/>
              <p:nvPr/>
            </p:nvSpPr>
            <p:spPr>
              <a:xfrm>
                <a:off x="4841196" y="1080292"/>
                <a:ext cx="2827147" cy="305017"/>
              </a:xfrm>
              <a:prstGeom prst="rect">
                <a:avLst/>
              </a:prstGeom>
              <a:ln w="15875">
                <a:noFill/>
              </a:ln>
            </p:spPr>
            <p:txBody>
              <a:bodyPr wrap="square" lIns="68580" tIns="34290" rIns="68580" bIns="34290">
                <a:spAutoFit/>
              </a:bodyPr>
              <a:lstStyle/>
              <a:p>
                <a:r>
                  <a:rPr lang="en-US" altLang="zh-CN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【</a:t>
                </a:r>
                <a:r>
                  <a:rPr lang="zh-CN" alt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任务</a:t>
                </a:r>
                <a:r>
                  <a:rPr lang="en-US" altLang="zh-CN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6-6】CSS</a:t>
                </a:r>
                <a:r>
                  <a:rPr lang="zh-CN" alt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控制</a:t>
                </a:r>
                <a:r>
                  <a:rPr lang="zh-CN" altLang="en-US" sz="1800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表单</a:t>
                </a:r>
                <a:r>
                  <a:rPr lang="zh-CN" alt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Source Han Sans K Bold" panose="020B0800000000000000" pitchFamily="34" charset="-128"/>
                  </a:rPr>
                  <a:t>样式</a:t>
                </a:r>
                <a:endParaRPr lang="en-GB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58" name="平行四边形 57">
                <a:extLst>
                  <a:ext uri="{FF2B5EF4-FFF2-40B4-BE49-F238E27FC236}">
                    <a16:creationId xmlns:a16="http://schemas.microsoft.com/office/drawing/2014/main" id="{5549A4F2-D9F7-458B-9C5B-D6DAF7FB7C43}"/>
                  </a:ext>
                </a:extLst>
              </p:cNvPr>
              <p:cNvSpPr/>
              <p:nvPr/>
            </p:nvSpPr>
            <p:spPr>
              <a:xfrm>
                <a:off x="4315150" y="953426"/>
                <a:ext cx="3857250" cy="540057"/>
              </a:xfrm>
              <a:prstGeom prst="parallelogram">
                <a:avLst>
                  <a:gd name="adj" fmla="val 48207"/>
                </a:avLst>
              </a:prstGeom>
              <a:noFill/>
              <a:ln w="158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endParaRPr lang="zh-CN" altLang="en-US" sz="18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6-1】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认识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表格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相关标签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21780" y="2349500"/>
            <a:ext cx="6264696" cy="2200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在网页制作中，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至关重要，除了用来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统计数据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，还可以用来进行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网页数据排版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。通过排版，用户可以更方便的浏览这些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网页数据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。在网页中，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是由相关标签组成的，我们想要使用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，首先要认识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表格相关标签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。本节将对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表格相关标签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进行详细讲解。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表格的创建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掌握创建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语法格式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，能够知道语法格式中，各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标签的作用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4097804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表格的创建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743061" y="3395145"/>
            <a:ext cx="33766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虚尾箭头 28"/>
          <p:cNvSpPr>
            <a:spLocks noChangeArrowheads="1"/>
          </p:cNvSpPr>
          <p:nvPr/>
        </p:nvSpPr>
        <p:spPr bwMode="auto">
          <a:xfrm rot="5400000">
            <a:off x="5886010" y="4972702"/>
            <a:ext cx="454025" cy="41275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6693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786" y="0"/>
                </a:moveTo>
                <a:lnTo>
                  <a:pt x="11786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1786" y="16200"/>
                </a:lnTo>
                <a:lnTo>
                  <a:pt x="11786" y="21600"/>
                </a:lnTo>
                <a:lnTo>
                  <a:pt x="21600" y="10800"/>
                </a:lnTo>
                <a:lnTo>
                  <a:pt x="11786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1369B2"/>
          </a:solidFill>
          <a:ln w="19050" cap="flat" cmpd="sng">
            <a:noFill/>
            <a:miter lim="800000"/>
            <a:headEnd/>
            <a:tailEnd/>
          </a:ln>
          <a:effectLst/>
        </p:spPr>
        <p:txBody>
          <a:bodyPr lIns="90170" tIns="46990" rIns="90170" bIns="46990" anchor="ctr"/>
          <a:lstStyle/>
          <a:p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4712899" y="5546207"/>
            <a:ext cx="3001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4600900" y="5608028"/>
            <a:ext cx="3430747" cy="523220"/>
            <a:chOff x="3149103" y="4814888"/>
            <a:chExt cx="3509782" cy="523220"/>
          </a:xfrm>
          <a:noFill/>
        </p:grpSpPr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4492589" y="4838849"/>
              <a:ext cx="188986" cy="461665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zh-CN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3149103" y="4814888"/>
              <a:ext cx="3509782" cy="52322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表格是怎样形成的？</a:t>
              </a:r>
            </a:p>
          </p:txBody>
        </p:sp>
      </p:grpSp>
      <p:sp>
        <p:nvSpPr>
          <p:cNvPr id="18" name="TextBox 2"/>
          <p:cNvSpPr txBox="1">
            <a:spLocks noChangeArrowheads="1"/>
          </p:cNvSpPr>
          <p:nvPr/>
        </p:nvSpPr>
        <p:spPr bwMode="auto">
          <a:xfrm>
            <a:off x="4713253" y="3893651"/>
            <a:ext cx="2776538" cy="893763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>
              <a:defRPr/>
            </a:pPr>
            <a:r>
              <a:rPr lang="zh-CN" altLang="en-US" sz="2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说到表格，</a:t>
            </a:r>
            <a:r>
              <a:rPr lang="zh-CN" altLang="zh-CN" sz="2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其实大家并不陌生</a:t>
            </a:r>
            <a:endParaRPr lang="zh-CN" altLang="en-US" sz="26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3"/>
          <p:cNvSpPr txBox="1">
            <a:spLocks noChangeArrowheads="1"/>
          </p:cNvSpPr>
          <p:nvPr/>
        </p:nvSpPr>
        <p:spPr bwMode="auto">
          <a:xfrm>
            <a:off x="2419695" y="3839190"/>
            <a:ext cx="877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课程表</a:t>
            </a:r>
          </a:p>
        </p:txBody>
      </p:sp>
      <p:sp>
        <p:nvSpPr>
          <p:cNvPr id="20" name="TextBox 7"/>
          <p:cNvSpPr txBox="1">
            <a:spLocks noChangeArrowheads="1"/>
          </p:cNvSpPr>
          <p:nvPr/>
        </p:nvSpPr>
        <p:spPr bwMode="auto">
          <a:xfrm>
            <a:off x="8797830" y="3842980"/>
            <a:ext cx="877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排行榜</a:t>
            </a: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12536" y="2404545"/>
            <a:ext cx="2120900" cy="1266825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pic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22474" y="1752082"/>
            <a:ext cx="1979612" cy="1346200"/>
          </a:xfrm>
          <a:prstGeom prst="rect">
            <a:avLst/>
          </a:prstGeom>
          <a:ln w="57150">
            <a:solidFill>
              <a:schemeClr val="bg1">
                <a:lumMod val="9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3" name="TextBox 3"/>
          <p:cNvSpPr txBox="1">
            <a:spLocks noChangeArrowheads="1"/>
          </p:cNvSpPr>
          <p:nvPr/>
        </p:nvSpPr>
        <p:spPr bwMode="auto">
          <a:xfrm>
            <a:off x="5774083" y="3253401"/>
            <a:ext cx="6463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查票</a:t>
            </a:r>
          </a:p>
        </p:txBody>
      </p:sp>
      <p:pic>
        <p:nvPicPr>
          <p:cNvPr id="24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133961" y="2301357"/>
            <a:ext cx="2014538" cy="133032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104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表格的创建</a:t>
            </a:r>
            <a:endParaRPr lang="zh-CN" altLang="en-US" sz="2000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995500" y="1901252"/>
            <a:ext cx="67105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table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，离不开以下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对标签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2101524" y="2125149"/>
            <a:ext cx="7902575" cy="3646488"/>
            <a:chOff x="659902" y="2326533"/>
            <a:chExt cx="7903571" cy="3647345"/>
          </a:xfrm>
        </p:grpSpPr>
        <p:sp>
          <p:nvSpPr>
            <p:cNvPr id="12" name="直接连接符 11"/>
            <p:cNvSpPr/>
            <p:nvPr/>
          </p:nvSpPr>
          <p:spPr>
            <a:xfrm>
              <a:off x="659902" y="5172002"/>
              <a:ext cx="7446313" cy="0"/>
            </a:xfrm>
            <a:prstGeom prst="line">
              <a:avLst/>
            </a:prstGeom>
            <a:noFill/>
            <a:ln w="25400" cap="flat" cmpd="sng" algn="ctr">
              <a:solidFill>
                <a:srgbClr val="4BACC6"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直接连接符 12"/>
            <p:cNvSpPr/>
            <p:nvPr/>
          </p:nvSpPr>
          <p:spPr>
            <a:xfrm>
              <a:off x="659902" y="4298671"/>
              <a:ext cx="7446313" cy="0"/>
            </a:xfrm>
            <a:prstGeom prst="line">
              <a:avLst/>
            </a:prstGeom>
            <a:noFill/>
            <a:ln w="25400" cap="flat" cmpd="sng" algn="ctr">
              <a:solidFill>
                <a:srgbClr val="4BACC6"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直接连接符 13"/>
            <p:cNvSpPr/>
            <p:nvPr/>
          </p:nvSpPr>
          <p:spPr>
            <a:xfrm>
              <a:off x="659902" y="3393584"/>
              <a:ext cx="7446313" cy="0"/>
            </a:xfrm>
            <a:prstGeom prst="line">
              <a:avLst/>
            </a:prstGeom>
            <a:noFill/>
            <a:ln w="25400" cap="flat" cmpd="sng" algn="ctr">
              <a:solidFill>
                <a:srgbClr val="4BACC6"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任意多边形 14"/>
            <p:cNvSpPr/>
            <p:nvPr/>
          </p:nvSpPr>
          <p:spPr>
            <a:xfrm>
              <a:off x="2714386" y="2326533"/>
              <a:ext cx="5849087" cy="400144"/>
            </a:xfrm>
            <a:custGeom>
              <a:avLst/>
              <a:gdLst>
                <a:gd name="connsiteX0" fmla="*/ 0 w 5848642"/>
                <a:gd name="connsiteY0" fmla="*/ 0 h 400767"/>
                <a:gd name="connsiteX1" fmla="*/ 5848642 w 5848642"/>
                <a:gd name="connsiteY1" fmla="*/ 0 h 400767"/>
                <a:gd name="connsiteX2" fmla="*/ 5848642 w 5848642"/>
                <a:gd name="connsiteY2" fmla="*/ 400767 h 400767"/>
                <a:gd name="connsiteX3" fmla="*/ 0 w 5848642"/>
                <a:gd name="connsiteY3" fmla="*/ 400767 h 400767"/>
                <a:gd name="connsiteX4" fmla="*/ 0 w 5848642"/>
                <a:gd name="connsiteY4" fmla="*/ 0 h 40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48642" h="400767">
                  <a:moveTo>
                    <a:pt x="0" y="0"/>
                  </a:moveTo>
                  <a:lnTo>
                    <a:pt x="5848642" y="0"/>
                  </a:lnTo>
                  <a:lnTo>
                    <a:pt x="5848642" y="400767"/>
                  </a:lnTo>
                  <a:lnTo>
                    <a:pt x="0" y="40076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lIns="76200" tIns="76200" rIns="76200" bIns="76200" spcCol="1270" anchor="b"/>
            <a:lstStyle/>
            <a:p>
              <a:pPr defTabSz="1778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32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　</a:t>
              </a:r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659902" y="2993440"/>
              <a:ext cx="2054484" cy="400144"/>
            </a:xfrm>
            <a:custGeom>
              <a:avLst/>
              <a:gdLst>
                <a:gd name="connsiteX0" fmla="*/ 66808 w 2054928"/>
                <a:gd name="connsiteY0" fmla="*/ 0 h 400767"/>
                <a:gd name="connsiteX1" fmla="*/ 1988120 w 2054928"/>
                <a:gd name="connsiteY1" fmla="*/ 0 h 400767"/>
                <a:gd name="connsiteX2" fmla="*/ 2054928 w 2054928"/>
                <a:gd name="connsiteY2" fmla="*/ 66808 h 400767"/>
                <a:gd name="connsiteX3" fmla="*/ 2054928 w 2054928"/>
                <a:gd name="connsiteY3" fmla="*/ 400767 h 400767"/>
                <a:gd name="connsiteX4" fmla="*/ 2054928 w 2054928"/>
                <a:gd name="connsiteY4" fmla="*/ 400767 h 400767"/>
                <a:gd name="connsiteX5" fmla="*/ 0 w 2054928"/>
                <a:gd name="connsiteY5" fmla="*/ 400767 h 400767"/>
                <a:gd name="connsiteX6" fmla="*/ 0 w 2054928"/>
                <a:gd name="connsiteY6" fmla="*/ 400767 h 400767"/>
                <a:gd name="connsiteX7" fmla="*/ 0 w 2054928"/>
                <a:gd name="connsiteY7" fmla="*/ 66808 h 400767"/>
                <a:gd name="connsiteX8" fmla="*/ 66808 w 2054928"/>
                <a:gd name="connsiteY8" fmla="*/ 0 h 40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54928" h="400767">
                  <a:moveTo>
                    <a:pt x="66808" y="0"/>
                  </a:moveTo>
                  <a:lnTo>
                    <a:pt x="1988120" y="0"/>
                  </a:lnTo>
                  <a:cubicBezTo>
                    <a:pt x="2025017" y="0"/>
                    <a:pt x="2054928" y="29911"/>
                    <a:pt x="2054928" y="66808"/>
                  </a:cubicBezTo>
                  <a:lnTo>
                    <a:pt x="2054928" y="400767"/>
                  </a:lnTo>
                  <a:lnTo>
                    <a:pt x="2054928" y="400767"/>
                  </a:lnTo>
                  <a:lnTo>
                    <a:pt x="0" y="400767"/>
                  </a:lnTo>
                  <a:lnTo>
                    <a:pt x="0" y="400767"/>
                  </a:lnTo>
                  <a:lnTo>
                    <a:pt x="0" y="66808"/>
                  </a:lnTo>
                  <a:cubicBezTo>
                    <a:pt x="0" y="29911"/>
                    <a:pt x="29911" y="0"/>
                    <a:pt x="66808" y="0"/>
                  </a:cubicBezTo>
                  <a:close/>
                </a:path>
              </a:pathLst>
            </a:custGeom>
            <a:solidFill>
              <a:srgbClr val="4BACC6">
                <a:hueOff val="0"/>
                <a:satOff val="0"/>
                <a:lumOff val="0"/>
                <a:alphaOff val="0"/>
              </a:srgbClr>
            </a:solidFill>
            <a:ln w="25400" cap="flat" cmpd="sng" algn="ctr">
              <a:solidFill>
                <a:srgbClr val="4BACC6">
                  <a:hueOff val="0"/>
                  <a:satOff val="0"/>
                  <a:lumOff val="0"/>
                  <a:alphaOff val="0"/>
                </a:srgb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57667" tIns="57667" rIns="57667" bIns="38100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itchFamily="18" charset="0"/>
                </a:rPr>
                <a:t>table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&gt;&lt;/table&gt;</a:t>
              </a:r>
              <a:endParaRPr lang="zh-CN" altLang="en-US" sz="16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任意多边形 16"/>
            <p:cNvSpPr/>
            <p:nvPr/>
          </p:nvSpPr>
          <p:spPr>
            <a:xfrm>
              <a:off x="2714386" y="3898527"/>
              <a:ext cx="5849087" cy="400144"/>
            </a:xfrm>
            <a:custGeom>
              <a:avLst/>
              <a:gdLst>
                <a:gd name="connsiteX0" fmla="*/ 0 w 5848642"/>
                <a:gd name="connsiteY0" fmla="*/ 0 h 400767"/>
                <a:gd name="connsiteX1" fmla="*/ 5848642 w 5848642"/>
                <a:gd name="connsiteY1" fmla="*/ 0 h 400767"/>
                <a:gd name="connsiteX2" fmla="*/ 5848642 w 5848642"/>
                <a:gd name="connsiteY2" fmla="*/ 400767 h 400767"/>
                <a:gd name="connsiteX3" fmla="*/ 0 w 5848642"/>
                <a:gd name="connsiteY3" fmla="*/ 400767 h 400767"/>
                <a:gd name="connsiteX4" fmla="*/ 0 w 5848642"/>
                <a:gd name="connsiteY4" fmla="*/ 0 h 40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48642" h="400767">
                  <a:moveTo>
                    <a:pt x="0" y="0"/>
                  </a:moveTo>
                  <a:lnTo>
                    <a:pt x="5848642" y="0"/>
                  </a:lnTo>
                  <a:lnTo>
                    <a:pt x="5848642" y="400767"/>
                  </a:lnTo>
                  <a:lnTo>
                    <a:pt x="0" y="40076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lIns="76200" tIns="76200" rIns="76200" bIns="76200" spcCol="1270" anchor="b"/>
            <a:lstStyle/>
            <a:p>
              <a:pPr defTabSz="177800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320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任意多边形 17"/>
            <p:cNvSpPr/>
            <p:nvPr/>
          </p:nvSpPr>
          <p:spPr>
            <a:xfrm>
              <a:off x="659902" y="3898527"/>
              <a:ext cx="2054484" cy="400144"/>
            </a:xfrm>
            <a:custGeom>
              <a:avLst/>
              <a:gdLst>
                <a:gd name="connsiteX0" fmla="*/ 66808 w 2054928"/>
                <a:gd name="connsiteY0" fmla="*/ 0 h 400767"/>
                <a:gd name="connsiteX1" fmla="*/ 1988120 w 2054928"/>
                <a:gd name="connsiteY1" fmla="*/ 0 h 400767"/>
                <a:gd name="connsiteX2" fmla="*/ 2054928 w 2054928"/>
                <a:gd name="connsiteY2" fmla="*/ 66808 h 400767"/>
                <a:gd name="connsiteX3" fmla="*/ 2054928 w 2054928"/>
                <a:gd name="connsiteY3" fmla="*/ 400767 h 400767"/>
                <a:gd name="connsiteX4" fmla="*/ 2054928 w 2054928"/>
                <a:gd name="connsiteY4" fmla="*/ 400767 h 400767"/>
                <a:gd name="connsiteX5" fmla="*/ 0 w 2054928"/>
                <a:gd name="connsiteY5" fmla="*/ 400767 h 400767"/>
                <a:gd name="connsiteX6" fmla="*/ 0 w 2054928"/>
                <a:gd name="connsiteY6" fmla="*/ 400767 h 400767"/>
                <a:gd name="connsiteX7" fmla="*/ 0 w 2054928"/>
                <a:gd name="connsiteY7" fmla="*/ 66808 h 400767"/>
                <a:gd name="connsiteX8" fmla="*/ 66808 w 2054928"/>
                <a:gd name="connsiteY8" fmla="*/ 0 h 40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54928" h="400767">
                  <a:moveTo>
                    <a:pt x="66808" y="0"/>
                  </a:moveTo>
                  <a:lnTo>
                    <a:pt x="1988120" y="0"/>
                  </a:lnTo>
                  <a:cubicBezTo>
                    <a:pt x="2025017" y="0"/>
                    <a:pt x="2054928" y="29911"/>
                    <a:pt x="2054928" y="66808"/>
                  </a:cubicBezTo>
                  <a:lnTo>
                    <a:pt x="2054928" y="400767"/>
                  </a:lnTo>
                  <a:lnTo>
                    <a:pt x="2054928" y="400767"/>
                  </a:lnTo>
                  <a:lnTo>
                    <a:pt x="0" y="400767"/>
                  </a:lnTo>
                  <a:lnTo>
                    <a:pt x="0" y="400767"/>
                  </a:lnTo>
                  <a:lnTo>
                    <a:pt x="0" y="66808"/>
                  </a:lnTo>
                  <a:cubicBezTo>
                    <a:pt x="0" y="29911"/>
                    <a:pt x="29911" y="0"/>
                    <a:pt x="66808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25400" cap="flat" cmpd="sng" algn="ctr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57667" tIns="57667" rIns="57667" bIns="38100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</a:t>
              </a:r>
              <a:r>
                <a:rPr lang="en-US" altLang="zh-CN" sz="16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tr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&gt;&lt;/</a:t>
              </a:r>
              <a:r>
                <a:rPr lang="en-US" altLang="zh-CN" sz="16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tr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</a:t>
              </a:r>
              <a:endParaRPr lang="zh-CN" altLang="en-US" sz="16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659902" y="4039849"/>
              <a:ext cx="7903571" cy="801875"/>
            </a:xfrm>
            <a:custGeom>
              <a:avLst/>
              <a:gdLst>
                <a:gd name="connsiteX0" fmla="*/ 0 w 7903571"/>
                <a:gd name="connsiteY0" fmla="*/ 0 h 801655"/>
                <a:gd name="connsiteX1" fmla="*/ 7903571 w 7903571"/>
                <a:gd name="connsiteY1" fmla="*/ 0 h 801655"/>
                <a:gd name="connsiteX2" fmla="*/ 7903571 w 7903571"/>
                <a:gd name="connsiteY2" fmla="*/ 801655 h 801655"/>
                <a:gd name="connsiteX3" fmla="*/ 0 w 7903571"/>
                <a:gd name="connsiteY3" fmla="*/ 801655 h 801655"/>
                <a:gd name="connsiteX4" fmla="*/ 0 w 7903571"/>
                <a:gd name="connsiteY4" fmla="*/ 0 h 801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03571" h="801655">
                  <a:moveTo>
                    <a:pt x="0" y="0"/>
                  </a:moveTo>
                  <a:lnTo>
                    <a:pt x="7903571" y="0"/>
                  </a:lnTo>
                  <a:lnTo>
                    <a:pt x="7903571" y="801655"/>
                  </a:lnTo>
                  <a:lnTo>
                    <a:pt x="0" y="8016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lIns="108585" tIns="108585" rIns="108585" bIns="108585" spcCol="1270"/>
            <a:lstStyle/>
            <a:p>
              <a:pPr marL="285750" lvl="1" indent="-285750" defTabSz="19558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3600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任意多边形 19"/>
            <p:cNvSpPr/>
            <p:nvPr/>
          </p:nvSpPr>
          <p:spPr>
            <a:xfrm>
              <a:off x="2714386" y="4771858"/>
              <a:ext cx="5849087" cy="400144"/>
            </a:xfrm>
            <a:custGeom>
              <a:avLst/>
              <a:gdLst>
                <a:gd name="connsiteX0" fmla="*/ 0 w 5848642"/>
                <a:gd name="connsiteY0" fmla="*/ 0 h 400767"/>
                <a:gd name="connsiteX1" fmla="*/ 5848642 w 5848642"/>
                <a:gd name="connsiteY1" fmla="*/ 0 h 400767"/>
                <a:gd name="connsiteX2" fmla="*/ 5848642 w 5848642"/>
                <a:gd name="connsiteY2" fmla="*/ 400767 h 400767"/>
                <a:gd name="connsiteX3" fmla="*/ 0 w 5848642"/>
                <a:gd name="connsiteY3" fmla="*/ 400767 h 400767"/>
                <a:gd name="connsiteX4" fmla="*/ 0 w 5848642"/>
                <a:gd name="connsiteY4" fmla="*/ 0 h 40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48642" h="400767">
                  <a:moveTo>
                    <a:pt x="0" y="0"/>
                  </a:moveTo>
                  <a:lnTo>
                    <a:pt x="5848642" y="0"/>
                  </a:lnTo>
                  <a:lnTo>
                    <a:pt x="5848642" y="400767"/>
                  </a:lnTo>
                  <a:lnTo>
                    <a:pt x="0" y="40076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lIns="76200" tIns="76200" rIns="76200" bIns="76200" spcCol="1270" anchor="b"/>
            <a:lstStyle/>
            <a:p>
              <a:pPr defTabSz="1778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zh-CN" altLang="en-US" sz="320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　</a:t>
              </a:r>
            </a:p>
          </p:txBody>
        </p:sp>
        <p:sp>
          <p:nvSpPr>
            <p:cNvPr id="21" name="任意多边形 20"/>
            <p:cNvSpPr/>
            <p:nvPr/>
          </p:nvSpPr>
          <p:spPr>
            <a:xfrm>
              <a:off x="659902" y="4771858"/>
              <a:ext cx="2054484" cy="400144"/>
            </a:xfrm>
            <a:custGeom>
              <a:avLst/>
              <a:gdLst>
                <a:gd name="connsiteX0" fmla="*/ 66808 w 2054928"/>
                <a:gd name="connsiteY0" fmla="*/ 0 h 400767"/>
                <a:gd name="connsiteX1" fmla="*/ 1988120 w 2054928"/>
                <a:gd name="connsiteY1" fmla="*/ 0 h 400767"/>
                <a:gd name="connsiteX2" fmla="*/ 2054928 w 2054928"/>
                <a:gd name="connsiteY2" fmla="*/ 66808 h 400767"/>
                <a:gd name="connsiteX3" fmla="*/ 2054928 w 2054928"/>
                <a:gd name="connsiteY3" fmla="*/ 400767 h 400767"/>
                <a:gd name="connsiteX4" fmla="*/ 2054928 w 2054928"/>
                <a:gd name="connsiteY4" fmla="*/ 400767 h 400767"/>
                <a:gd name="connsiteX5" fmla="*/ 0 w 2054928"/>
                <a:gd name="connsiteY5" fmla="*/ 400767 h 400767"/>
                <a:gd name="connsiteX6" fmla="*/ 0 w 2054928"/>
                <a:gd name="connsiteY6" fmla="*/ 400767 h 400767"/>
                <a:gd name="connsiteX7" fmla="*/ 0 w 2054928"/>
                <a:gd name="connsiteY7" fmla="*/ 66808 h 400767"/>
                <a:gd name="connsiteX8" fmla="*/ 66808 w 2054928"/>
                <a:gd name="connsiteY8" fmla="*/ 0 h 40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54928" h="400767">
                  <a:moveTo>
                    <a:pt x="66808" y="0"/>
                  </a:moveTo>
                  <a:lnTo>
                    <a:pt x="1988120" y="0"/>
                  </a:lnTo>
                  <a:cubicBezTo>
                    <a:pt x="2025017" y="0"/>
                    <a:pt x="2054928" y="29911"/>
                    <a:pt x="2054928" y="66808"/>
                  </a:cubicBezTo>
                  <a:lnTo>
                    <a:pt x="2054928" y="400767"/>
                  </a:lnTo>
                  <a:lnTo>
                    <a:pt x="2054928" y="400767"/>
                  </a:lnTo>
                  <a:lnTo>
                    <a:pt x="0" y="400767"/>
                  </a:lnTo>
                  <a:lnTo>
                    <a:pt x="0" y="400767"/>
                  </a:lnTo>
                  <a:lnTo>
                    <a:pt x="0" y="66808"/>
                  </a:lnTo>
                  <a:cubicBezTo>
                    <a:pt x="0" y="29911"/>
                    <a:pt x="29911" y="0"/>
                    <a:pt x="66808" y="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25400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57667" tIns="57667" rIns="57667" bIns="38100" spcCol="1270" anchor="ctr"/>
            <a:lstStyle/>
            <a:p>
              <a:pPr algn="ctr" defTabSz="88900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&lt;td&gt;&lt;/td&gt;</a:t>
              </a:r>
              <a:endParaRPr lang="zh-CN" altLang="en-US" sz="16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659902" y="5172002"/>
              <a:ext cx="7903571" cy="801876"/>
            </a:xfrm>
            <a:custGeom>
              <a:avLst/>
              <a:gdLst>
                <a:gd name="connsiteX0" fmla="*/ 0 w 7903571"/>
                <a:gd name="connsiteY0" fmla="*/ 0 h 801655"/>
                <a:gd name="connsiteX1" fmla="*/ 7903571 w 7903571"/>
                <a:gd name="connsiteY1" fmla="*/ 0 h 801655"/>
                <a:gd name="connsiteX2" fmla="*/ 7903571 w 7903571"/>
                <a:gd name="connsiteY2" fmla="*/ 801655 h 801655"/>
                <a:gd name="connsiteX3" fmla="*/ 0 w 7903571"/>
                <a:gd name="connsiteY3" fmla="*/ 801655 h 801655"/>
                <a:gd name="connsiteX4" fmla="*/ 0 w 7903571"/>
                <a:gd name="connsiteY4" fmla="*/ 0 h 801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03571" h="801655">
                  <a:moveTo>
                    <a:pt x="0" y="0"/>
                  </a:moveTo>
                  <a:lnTo>
                    <a:pt x="7903571" y="0"/>
                  </a:lnTo>
                  <a:lnTo>
                    <a:pt x="7903571" y="801655"/>
                  </a:lnTo>
                  <a:lnTo>
                    <a:pt x="0" y="80165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lIns="108585" tIns="108585" rIns="108585" bIns="108585" spcCol="1270"/>
            <a:lstStyle/>
            <a:p>
              <a:pPr marL="285750" lvl="1" indent="-285750" defTabSz="195580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3600">
                <a:solidFill>
                  <a:sysClr val="window" lastClr="FFFFFF">
                    <a:hueOff val="0"/>
                    <a:satOff val="0"/>
                    <a:lumOff val="0"/>
                    <a:alphaOff val="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TextBox 11"/>
          <p:cNvSpPr txBox="1">
            <a:spLocks noChangeArrowheads="1"/>
          </p:cNvSpPr>
          <p:nvPr/>
        </p:nvSpPr>
        <p:spPr bwMode="auto">
          <a:xfrm>
            <a:off x="4709787" y="2774437"/>
            <a:ext cx="141577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定义一个表格</a:t>
            </a:r>
          </a:p>
        </p:txBody>
      </p:sp>
      <p:sp>
        <p:nvSpPr>
          <p:cNvPr id="24" name="TextBox 30"/>
          <p:cNvSpPr txBox="1">
            <a:spLocks noChangeArrowheads="1"/>
          </p:cNvSpPr>
          <p:nvPr/>
        </p:nvSpPr>
        <p:spPr bwMode="auto">
          <a:xfrm>
            <a:off x="4668512" y="3699949"/>
            <a:ext cx="453681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定义表格中的一行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，嵌套在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&lt;table&gt;&lt;/table&gt;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</a:p>
        </p:txBody>
      </p:sp>
      <p:sp>
        <p:nvSpPr>
          <p:cNvPr id="25" name="TextBox 38"/>
          <p:cNvSpPr txBox="1">
            <a:spLocks noChangeArrowheads="1"/>
          </p:cNvSpPr>
          <p:nvPr/>
        </p:nvSpPr>
        <p:spPr bwMode="auto">
          <a:xfrm>
            <a:off x="4668512" y="4573074"/>
            <a:ext cx="40655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定义表格中的单元格，嵌套在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&gt;&lt;/</a:t>
            </a:r>
            <a:r>
              <a:rPr lang="en-US" altLang="zh-CN" sz="16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endParaRPr lang="zh-CN" altLang="en-US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490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&lt;table&gt;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的常用属性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，能够使用这些属性，设置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不同样式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的表格。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sp>
        <p:nvSpPr>
          <p:cNvPr id="9" name="同侧圆角矩形 8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&lt;table&gt;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标签的属性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5485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&lt;table&gt;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标签的属性</a:t>
            </a:r>
            <a:endParaRPr lang="zh-CN" altLang="en-US" sz="2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366392"/>
              </p:ext>
            </p:extLst>
          </p:nvPr>
        </p:nvGraphicFramePr>
        <p:xfrm>
          <a:off x="1019175" y="1701797"/>
          <a:ext cx="10440988" cy="451610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16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6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6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77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属性名</a:t>
                      </a: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含义</a:t>
                      </a: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常用属性值</a:t>
                      </a:r>
                    </a:p>
                  </a:txBody>
                  <a:tcPr marL="65171" marR="6517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0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设置表格的边框（默认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border="0"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无边框）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像素值 </a:t>
                      </a:r>
                    </a:p>
                  </a:txBody>
                  <a:tcPr marL="65171" marR="6517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0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cellspacing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设置单元格与单元格边框之间的空白间距</a:t>
                      </a: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像素值（默认为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像素）</a:t>
                      </a:r>
                    </a:p>
                  </a:txBody>
                  <a:tcPr marL="65171" marR="6517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0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cellpadding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设置单元格内容与单元格边框之间的空白间距</a:t>
                      </a: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像素值（默认为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像素）</a:t>
                      </a:r>
                    </a:p>
                  </a:txBody>
                  <a:tcPr marL="65171" marR="6517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0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width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设置表格的宽度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像素值</a:t>
                      </a:r>
                    </a:p>
                  </a:txBody>
                  <a:tcPr marL="65171" marR="6517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0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height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设置表格的高度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像素值</a:t>
                      </a:r>
                    </a:p>
                  </a:txBody>
                  <a:tcPr marL="65171" marR="6517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0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align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设置表格在网页中的水平对齐方式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center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5171" marR="6517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607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bgcolor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设置表格的背景颜色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预定义的颜色值、十六进制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#RGB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r,g,b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5171" marR="6517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07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background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设置表格的背景图像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 marL="65171" marR="65171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itchFamily="34" charset="-122"/>
                          <a:ea typeface="微软雅黑" pitchFamily="34" charset="-122"/>
                        </a:rPr>
                        <a:t>地址</a:t>
                      </a:r>
                    </a:p>
                  </a:txBody>
                  <a:tcPr marL="65171" marR="65171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755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同侧圆角矩形 5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&lt;table&gt;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标签的属性</a:t>
            </a:r>
            <a:endParaRPr lang="zh-CN" altLang="en-US" sz="2000" dirty="0"/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730" y="2735483"/>
            <a:ext cx="4110037" cy="337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922954" y="1642269"/>
            <a:ext cx="89301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&lt;table&gt;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的属性在实体表格中的表现如下图所示：</a:t>
            </a: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4434892" y="2576733"/>
            <a:ext cx="0" cy="149225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直接连接符 10"/>
          <p:cNvCxnSpPr/>
          <p:nvPr/>
        </p:nvCxnSpPr>
        <p:spPr bwMode="auto">
          <a:xfrm>
            <a:off x="8451267" y="2576733"/>
            <a:ext cx="0" cy="149225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直接箭头连接符 11"/>
          <p:cNvCxnSpPr/>
          <p:nvPr/>
        </p:nvCxnSpPr>
        <p:spPr bwMode="auto">
          <a:xfrm flipV="1">
            <a:off x="4487280" y="2651345"/>
            <a:ext cx="3924300" cy="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arrow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21"/>
          <p:cNvSpPr txBox="1">
            <a:spLocks noChangeArrowheads="1"/>
          </p:cNvSpPr>
          <p:nvPr/>
        </p:nvSpPr>
        <p:spPr bwMode="auto">
          <a:xfrm>
            <a:off x="5963366" y="2286220"/>
            <a:ext cx="10118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width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8514767" y="2735483"/>
            <a:ext cx="184150" cy="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连接符 14"/>
          <p:cNvCxnSpPr/>
          <p:nvPr/>
        </p:nvCxnSpPr>
        <p:spPr bwMode="auto">
          <a:xfrm>
            <a:off x="8505242" y="6059708"/>
            <a:ext cx="184150" cy="0"/>
          </a:xfrm>
          <a:prstGeom prst="lin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直接箭头连接符 15"/>
          <p:cNvCxnSpPr/>
          <p:nvPr/>
        </p:nvCxnSpPr>
        <p:spPr bwMode="auto">
          <a:xfrm flipH="1">
            <a:off x="8597317" y="2776758"/>
            <a:ext cx="9525" cy="3241675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arrow"/>
            <a:tailEnd type="arrow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37"/>
          <p:cNvSpPr txBox="1">
            <a:spLocks noChangeArrowheads="1"/>
          </p:cNvSpPr>
          <p:nvPr/>
        </p:nvSpPr>
        <p:spPr bwMode="auto">
          <a:xfrm>
            <a:off x="8539297" y="4213445"/>
            <a:ext cx="11320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height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左大括号 17"/>
          <p:cNvSpPr>
            <a:spLocks/>
          </p:cNvSpPr>
          <p:nvPr/>
        </p:nvSpPr>
        <p:spPr bwMode="auto">
          <a:xfrm>
            <a:off x="4255505" y="2756120"/>
            <a:ext cx="149225" cy="179388"/>
          </a:xfrm>
          <a:prstGeom prst="leftBrace">
            <a:avLst>
              <a:gd name="adj1" fmla="val 8359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41"/>
          <p:cNvSpPr txBox="1">
            <a:spLocks noChangeArrowheads="1"/>
          </p:cNvSpPr>
          <p:nvPr/>
        </p:nvSpPr>
        <p:spPr bwMode="auto">
          <a:xfrm>
            <a:off x="3093370" y="2591341"/>
            <a:ext cx="11789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border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左大括号 19"/>
          <p:cNvSpPr>
            <a:spLocks/>
          </p:cNvSpPr>
          <p:nvPr/>
        </p:nvSpPr>
        <p:spPr bwMode="auto">
          <a:xfrm>
            <a:off x="4623805" y="3618133"/>
            <a:ext cx="149225" cy="179387"/>
          </a:xfrm>
          <a:prstGeom prst="leftBrace">
            <a:avLst>
              <a:gd name="adj1" fmla="val 8359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箭头连接符 20"/>
          <p:cNvCxnSpPr>
            <a:cxnSpLocks noChangeShapeType="1"/>
          </p:cNvCxnSpPr>
          <p:nvPr/>
        </p:nvCxnSpPr>
        <p:spPr bwMode="auto">
          <a:xfrm flipH="1">
            <a:off x="4072942" y="3707033"/>
            <a:ext cx="550864" cy="12066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48"/>
          <p:cNvSpPr txBox="1">
            <a:spLocks noChangeArrowheads="1"/>
          </p:cNvSpPr>
          <p:nvPr/>
        </p:nvSpPr>
        <p:spPr bwMode="auto">
          <a:xfrm>
            <a:off x="2165981" y="3454780"/>
            <a:ext cx="18041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cellspacing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左大括号 22"/>
          <p:cNvSpPr>
            <a:spLocks/>
          </p:cNvSpPr>
          <p:nvPr/>
        </p:nvSpPr>
        <p:spPr bwMode="auto">
          <a:xfrm>
            <a:off x="4844467" y="4502370"/>
            <a:ext cx="149225" cy="179388"/>
          </a:xfrm>
          <a:prstGeom prst="leftBrace">
            <a:avLst>
              <a:gd name="adj1" fmla="val 8359"/>
              <a:gd name="adj2" fmla="val 50000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箭头连接符 23"/>
          <p:cNvCxnSpPr>
            <a:cxnSpLocks noChangeShapeType="1"/>
          </p:cNvCxnSpPr>
          <p:nvPr/>
        </p:nvCxnSpPr>
        <p:spPr bwMode="auto">
          <a:xfrm flipH="1">
            <a:off x="4072942" y="4592858"/>
            <a:ext cx="763588" cy="7304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TextBox 52"/>
          <p:cNvSpPr txBox="1">
            <a:spLocks noChangeArrowheads="1"/>
          </p:cNvSpPr>
          <p:nvPr/>
        </p:nvSpPr>
        <p:spPr bwMode="auto">
          <a:xfrm>
            <a:off x="1924088" y="4318220"/>
            <a:ext cx="20445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cellspadding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126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的常用属性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，能够使用这些属性，设置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某行的样式。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9" name="同侧圆角矩形 8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 &lt;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tr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标签的属性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78249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6" name="同侧圆角矩形 5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 &lt;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tr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标签的属性</a:t>
              </a:r>
              <a:endParaRPr lang="zh-CN" altLang="en-US" sz="2000" dirty="0"/>
            </a:p>
          </p:txBody>
        </p:sp>
      </p:grp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919844"/>
              </p:ext>
            </p:extLst>
          </p:nvPr>
        </p:nvGraphicFramePr>
        <p:xfrm>
          <a:off x="1019175" y="1701800"/>
          <a:ext cx="10440988" cy="42121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93396">
                  <a:extLst>
                    <a:ext uri="{9D8B030D-6E8A-4147-A177-3AD203B41FA5}">
                      <a16:colId xmlns:a16="http://schemas.microsoft.com/office/drawing/2014/main" val="3664028854"/>
                    </a:ext>
                  </a:extLst>
                </a:gridCol>
                <a:gridCol w="3633850">
                  <a:extLst>
                    <a:ext uri="{9D8B030D-6E8A-4147-A177-3AD203B41FA5}">
                      <a16:colId xmlns:a16="http://schemas.microsoft.com/office/drawing/2014/main" val="2932000178"/>
                    </a:ext>
                  </a:extLst>
                </a:gridCol>
                <a:gridCol w="5213742">
                  <a:extLst>
                    <a:ext uri="{9D8B030D-6E8A-4147-A177-3AD203B41FA5}">
                      <a16:colId xmlns:a16="http://schemas.microsoft.com/office/drawing/2014/main" val="2078416330"/>
                    </a:ext>
                  </a:extLst>
                </a:gridCol>
              </a:tblGrid>
              <a:tr h="6017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属性名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常用属性值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771118"/>
                  </a:ext>
                </a:extLst>
              </a:tr>
              <a:tr h="6017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height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设置行高度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像素值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93134"/>
                  </a:ext>
                </a:extLst>
              </a:tr>
              <a:tr h="6017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align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设置一行内容的水平对齐方式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关键字，包含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center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464524"/>
                  </a:ext>
                </a:extLst>
              </a:tr>
              <a:tr h="6017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valign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设置一行内容的垂直对齐方式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关键字，包含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</a:t>
                      </a: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middle</a:t>
                      </a: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bottom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226864"/>
                  </a:ext>
                </a:extLst>
              </a:tr>
              <a:tr h="12034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bgcolor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设置行背景颜色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颜色的英文单词、十六进制颜色值（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# 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r,g,b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）、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r,g,b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562290"/>
                  </a:ext>
                </a:extLst>
              </a:tr>
              <a:tr h="60173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background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设置行背景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图像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图像的</a:t>
                      </a:r>
                      <a:r>
                        <a:rPr lang="en-US" sz="16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937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916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6" name="同侧圆角矩形 5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3. &lt;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tr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标签的属性</a:t>
              </a:r>
              <a:endParaRPr lang="zh-CN" altLang="en-US" sz="2000" dirty="0"/>
            </a:p>
          </p:txBody>
        </p:sp>
      </p:grpSp>
      <p:sp>
        <p:nvSpPr>
          <p:cNvPr id="26" name="矩形 25"/>
          <p:cNvSpPr/>
          <p:nvPr/>
        </p:nvSpPr>
        <p:spPr>
          <a:xfrm>
            <a:off x="1537772" y="2468004"/>
            <a:ext cx="10545763" cy="2243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注意：</a:t>
            </a:r>
            <a:endParaRPr lang="en-US" altLang="zh-CN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1.&lt;</a:t>
            </a:r>
            <a:r>
              <a:rPr lang="en-US" altLang="zh-CN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</a:t>
            </a:r>
            <a:r>
              <a:rPr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lang="zh-CN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标签无宽度属性</a:t>
            </a:r>
            <a:r>
              <a:rPr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width</a:t>
            </a:r>
            <a:r>
              <a:rPr lang="zh-CN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，其宽度取决于表格标签</a:t>
            </a:r>
            <a:r>
              <a:rPr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&lt;table&gt;</a:t>
            </a:r>
            <a:r>
              <a:rPr lang="zh-CN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</a:t>
            </a:r>
            <a:r>
              <a:rPr lang="zh-CN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可以对</a:t>
            </a:r>
            <a:r>
              <a:rPr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</a:t>
            </a:r>
            <a:r>
              <a:rPr lang="en-US" altLang="zh-CN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</a:t>
            </a:r>
            <a:r>
              <a:rPr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lang="zh-CN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标签应用</a:t>
            </a:r>
            <a:r>
              <a:rPr lang="en-US" altLang="zh-CN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valign</a:t>
            </a:r>
            <a:r>
              <a:rPr lang="zh-CN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属性，来设置一行内容的垂直对齐方式。</a:t>
            </a:r>
            <a:endParaRPr lang="en-US" altLang="zh-CN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</a:t>
            </a:r>
            <a:r>
              <a:rPr lang="zh-CN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不建议对</a:t>
            </a:r>
            <a:r>
              <a:rPr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</a:t>
            </a:r>
            <a:r>
              <a:rPr lang="en-US" altLang="zh-CN" kern="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tr</a:t>
            </a:r>
            <a:r>
              <a:rPr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&gt;</a:t>
            </a:r>
            <a:r>
              <a:rPr lang="zh-CN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标签应用</a:t>
            </a:r>
            <a:r>
              <a:rPr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background</a:t>
            </a:r>
            <a:r>
              <a:rPr lang="zh-CN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属性，以免出现兼容性问题。</a:t>
            </a:r>
          </a:p>
        </p:txBody>
      </p:sp>
    </p:spTree>
    <p:extLst>
      <p:ext uri="{BB962C8B-B14F-4D97-AF65-F5344CB8AC3E}">
        <p14:creationId xmlns:p14="http://schemas.microsoft.com/office/powerpoint/2010/main" val="1800154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&lt;td&gt;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的常用属性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，能够使用这些属性，设置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某各单元格的样式。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9" name="同侧圆角矩形 8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 &lt;td&gt;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标签的属性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48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9" name="同侧圆角矩形 8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 &lt;td&gt;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标签的属性</a:t>
              </a:r>
              <a:endParaRPr lang="zh-CN" altLang="en-US" sz="2000" dirty="0"/>
            </a:p>
          </p:txBody>
        </p:sp>
      </p:grp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691639"/>
              </p:ext>
            </p:extLst>
          </p:nvPr>
        </p:nvGraphicFramePr>
        <p:xfrm>
          <a:off x="1019175" y="1650670"/>
          <a:ext cx="10440988" cy="4512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0898">
                  <a:extLst>
                    <a:ext uri="{9D8B030D-6E8A-4147-A177-3AD203B41FA5}">
                      <a16:colId xmlns:a16="http://schemas.microsoft.com/office/drawing/2014/main" val="2600107370"/>
                    </a:ext>
                  </a:extLst>
                </a:gridCol>
                <a:gridCol w="4773880">
                  <a:extLst>
                    <a:ext uri="{9D8B030D-6E8A-4147-A177-3AD203B41FA5}">
                      <a16:colId xmlns:a16="http://schemas.microsoft.com/office/drawing/2014/main" val="1841336611"/>
                    </a:ext>
                  </a:extLst>
                </a:gridCol>
                <a:gridCol w="4026210">
                  <a:extLst>
                    <a:ext uri="{9D8B030D-6E8A-4147-A177-3AD203B41FA5}">
                      <a16:colId xmlns:a16="http://schemas.microsoft.com/office/drawing/2014/main" val="323723614"/>
                    </a:ext>
                  </a:extLst>
                </a:gridCol>
              </a:tblGrid>
              <a:tr h="4518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属性名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常用属性值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086222"/>
                  </a:ext>
                </a:extLst>
              </a:tr>
              <a:tr h="341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width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设置单元格的宽度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像素值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215431"/>
                  </a:ext>
                </a:extLst>
              </a:tr>
              <a:tr h="341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height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设置单元格的高度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像素值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4721737"/>
                  </a:ext>
                </a:extLst>
              </a:tr>
              <a:tr h="341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align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设置单元格内容的水平对齐方式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关键字，包括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left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center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right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609016"/>
                  </a:ext>
                </a:extLst>
              </a:tr>
              <a:tr h="34110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valign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设置单元格内容的垂直对齐方式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关键字，包括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</a:t>
                      </a: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middle</a:t>
                      </a: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、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bottom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130410"/>
                  </a:ext>
                </a:extLst>
              </a:tr>
              <a:tr h="68220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bgcolor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设置单元格的背景颜色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颜色的英文单词、十六进制颜色值（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# r,g,b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）、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rgb(r,g,b)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065203"/>
                  </a:ext>
                </a:extLst>
              </a:tr>
              <a:tr h="64975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background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设置单元格的背景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图像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图像</a:t>
                      </a: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</a:t>
                      </a: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883619"/>
                  </a:ext>
                </a:extLst>
              </a:tr>
              <a:tr h="68220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colspan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设置单元格横跨的列数（用于合并水平方向的单元格）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正整数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8331429"/>
                  </a:ext>
                </a:extLst>
              </a:tr>
              <a:tr h="68220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rowspan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设置单元格竖跨的行数（用于合并竖直方向的单元格）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正整数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433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3532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9" name="同侧圆角矩形 8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4. &lt;td&gt;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标签的属性</a:t>
              </a:r>
              <a:endParaRPr lang="zh-CN" altLang="en-US" sz="2000" dirty="0"/>
            </a:p>
          </p:txBody>
        </p:sp>
      </p:grpSp>
      <p:sp>
        <p:nvSpPr>
          <p:cNvPr id="2" name="矩形 1"/>
          <p:cNvSpPr/>
          <p:nvPr/>
        </p:nvSpPr>
        <p:spPr>
          <a:xfrm>
            <a:off x="1531916" y="2367662"/>
            <a:ext cx="9809493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32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注意：</a:t>
            </a:r>
            <a:endParaRPr lang="en-US" altLang="zh-CN" sz="3200" b="1" kern="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当对某一个</a:t>
            </a:r>
            <a:r>
              <a:rPr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&lt;td&gt;</a:t>
            </a:r>
            <a:r>
              <a:rPr lang="zh-CN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标签应用</a:t>
            </a:r>
            <a:r>
              <a:rPr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width</a:t>
            </a:r>
            <a:r>
              <a:rPr lang="zh-CN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属性设置宽度时，该列中的所有单元格均会以设置的宽度显示。当对某一个</a:t>
            </a:r>
            <a:r>
              <a:rPr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&lt;td&gt;</a:t>
            </a:r>
            <a:r>
              <a:rPr lang="zh-CN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标签应用</a:t>
            </a:r>
            <a:r>
              <a:rPr lang="en-US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height</a:t>
            </a:r>
            <a:r>
              <a:rPr lang="zh-CN" altLang="zh-CN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属性设置高度时，该行中的所有单元格均会以设置的高度显示。</a:t>
            </a:r>
          </a:p>
        </p:txBody>
      </p:sp>
    </p:spTree>
    <p:extLst>
      <p:ext uri="{BB962C8B-B14F-4D97-AF65-F5344CB8AC3E}">
        <p14:creationId xmlns:p14="http://schemas.microsoft.com/office/powerpoint/2010/main" val="91477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熟悉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的用法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，能够使用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设置表头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9" name="同侧圆角矩形 8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 &lt;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标签的属性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0168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9" name="同侧圆角矩形 8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5. &lt;</a:t>
              </a:r>
              <a:r>
                <a:rPr lang="en-US" altLang="zh-CN" sz="20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标签的属性</a:t>
              </a:r>
              <a:endParaRPr lang="zh-CN" altLang="en-US" sz="2000" dirty="0"/>
            </a:p>
          </p:txBody>
        </p:sp>
      </p:grpSp>
      <p:pic>
        <p:nvPicPr>
          <p:cNvPr id="13" name="Picture 2" descr="C:\Users\Administrator\Desktop\7.17\表格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377" y="2950196"/>
            <a:ext cx="2973387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矩形 1"/>
          <p:cNvSpPr>
            <a:spLocks noChangeArrowheads="1"/>
          </p:cNvSpPr>
          <p:nvPr/>
        </p:nvSpPr>
        <p:spPr bwMode="auto">
          <a:xfrm>
            <a:off x="4875314" y="2873933"/>
            <a:ext cx="3000375" cy="544513"/>
          </a:xfrm>
          <a:prstGeom prst="rect">
            <a:avLst/>
          </a:prstGeom>
          <a:noFill/>
          <a:ln w="19050" algn="ctr">
            <a:solidFill>
              <a:srgbClr val="1369B2"/>
            </a:solidFill>
            <a:prstDash val="sys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5" name="矩形 2"/>
          <p:cNvSpPr>
            <a:spLocks noChangeArrowheads="1"/>
          </p:cNvSpPr>
          <p:nvPr/>
        </p:nvSpPr>
        <p:spPr bwMode="auto">
          <a:xfrm>
            <a:off x="4887192" y="3455021"/>
            <a:ext cx="749300" cy="1497012"/>
          </a:xfrm>
          <a:prstGeom prst="rect">
            <a:avLst/>
          </a:prstGeom>
          <a:noFill/>
          <a:ln w="28575" algn="ctr">
            <a:solidFill>
              <a:srgbClr val="1369B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cxnSp>
        <p:nvCxnSpPr>
          <p:cNvPr id="17" name="直接箭头连接符 4"/>
          <p:cNvCxnSpPr>
            <a:cxnSpLocks noChangeShapeType="1"/>
          </p:cNvCxnSpPr>
          <p:nvPr/>
        </p:nvCxnSpPr>
        <p:spPr bwMode="auto">
          <a:xfrm flipH="1">
            <a:off x="4257964" y="3132758"/>
            <a:ext cx="473075" cy="0"/>
          </a:xfrm>
          <a:prstGeom prst="straightConnector1">
            <a:avLst/>
          </a:prstGeom>
          <a:noFill/>
          <a:ln w="28575" algn="ctr">
            <a:solidFill>
              <a:srgbClr val="1369B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3478502" y="2950196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表头</a:t>
            </a:r>
          </a:p>
        </p:txBody>
      </p:sp>
      <p:cxnSp>
        <p:nvCxnSpPr>
          <p:cNvPr id="19" name="直接箭头连接符 15"/>
          <p:cNvCxnSpPr>
            <a:cxnSpLocks noChangeShapeType="1"/>
          </p:cNvCxnSpPr>
          <p:nvPr/>
        </p:nvCxnSpPr>
        <p:spPr bwMode="auto">
          <a:xfrm flipH="1">
            <a:off x="4277014" y="4117008"/>
            <a:ext cx="473075" cy="0"/>
          </a:xfrm>
          <a:prstGeom prst="straightConnector1">
            <a:avLst/>
          </a:prstGeom>
          <a:noFill/>
          <a:ln w="28575" algn="ctr">
            <a:solidFill>
              <a:srgbClr val="1369B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6"/>
          <p:cNvSpPr txBox="1">
            <a:spLocks noChangeArrowheads="1"/>
          </p:cNvSpPr>
          <p:nvPr/>
        </p:nvSpPr>
        <p:spPr bwMode="auto">
          <a:xfrm>
            <a:off x="3497552" y="3934446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表头</a:t>
            </a:r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1489034" y="1552809"/>
            <a:ext cx="95193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en-US" altLang="zh-CN" sz="2000" dirty="0" err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th</a:t>
            </a:r>
            <a:r>
              <a:rPr lang="en-US" altLang="zh-CN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&gt;&lt;/</a:t>
            </a:r>
            <a:r>
              <a:rPr lang="en-US" altLang="zh-CN" sz="2000" dirty="0" err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th</a:t>
            </a:r>
            <a:r>
              <a:rPr lang="en-US" altLang="zh-CN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标签用来设置表头，</a:t>
            </a:r>
            <a:r>
              <a:rPr lang="zh-CN" altLang="zh-CN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其文本默认加粗居中显示</a:t>
            </a:r>
            <a:r>
              <a:rPr lang="zh-CN" altLang="en-US" sz="20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7372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76944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6-2】CSS</a:t>
            </a:r>
            <a:r>
              <a:rPr lang="zh-CN" altLang="en-US" sz="4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控制</a:t>
            </a:r>
            <a:r>
              <a:rPr lang="zh-CN" altLang="en-US" sz="44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表格样式</a:t>
            </a:r>
            <a:endParaRPr lang="en-GB" altLang="zh-CN" sz="44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0630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33656" y="2349500"/>
            <a:ext cx="6264696" cy="2200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虽然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布局逐渐被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DIV+CSS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所替代，但是作为传统的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在网页制作中的作用是不可取代的，它不仅是实现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数据显示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的最好方式，而且还可以通过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的控制，轻松的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对网页元素进行排版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。下面将对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控制表格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的样式进行讲解。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17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控制表格边框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控制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表格边框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的方法，能够运用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边框属性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，设置为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不同的边框样式。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4061399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控制表格边框</a:t>
            </a:r>
            <a:endParaRPr lang="zh-CN" altLang="en-US" sz="2000" dirty="0"/>
          </a:p>
        </p:txBody>
      </p:sp>
      <p:pic>
        <p:nvPicPr>
          <p:cNvPr id="9" name="Picture 7" descr="放大镜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49" y="1590780"/>
            <a:ext cx="1954213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907307" y="1756225"/>
            <a:ext cx="507222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以日历为例，分析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控制表格样式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虚尾箭头 28"/>
          <p:cNvSpPr>
            <a:spLocks noChangeArrowheads="1"/>
          </p:cNvSpPr>
          <p:nvPr/>
        </p:nvSpPr>
        <p:spPr bwMode="auto">
          <a:xfrm rot="5400000">
            <a:off x="5822931" y="2389733"/>
            <a:ext cx="433725" cy="394978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6693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786" y="0"/>
                </a:moveTo>
                <a:lnTo>
                  <a:pt x="11786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1786" y="16200"/>
                </a:lnTo>
                <a:lnTo>
                  <a:pt x="11786" y="21600"/>
                </a:lnTo>
                <a:lnTo>
                  <a:pt x="21600" y="10800"/>
                </a:lnTo>
                <a:lnTo>
                  <a:pt x="11786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1369B2"/>
          </a:solidFill>
          <a:ln w="19050" cap="flat" cmpd="sng">
            <a:noFill/>
            <a:miter lim="800000"/>
            <a:headEnd/>
            <a:tailEnd/>
          </a:ln>
          <a:effectLst/>
        </p:spPr>
        <p:txBody>
          <a:bodyPr lIns="90170" tIns="46990" rIns="90170" bIns="46990" anchor="ctr"/>
          <a:lstStyle/>
          <a:p>
            <a:endParaRPr lang="zh-CN" altLang="en-US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2916688" y="2981066"/>
            <a:ext cx="8007248" cy="3444875"/>
            <a:chOff x="1552388" y="3006725"/>
            <a:chExt cx="8007248" cy="3444875"/>
          </a:xfrm>
        </p:grpSpPr>
        <p:cxnSp>
          <p:nvCxnSpPr>
            <p:cNvPr id="14" name="直接箭头连接符 13"/>
            <p:cNvCxnSpPr>
              <a:cxnSpLocks noChangeShapeType="1"/>
            </p:cNvCxnSpPr>
            <p:nvPr/>
          </p:nvCxnSpPr>
          <p:spPr bwMode="auto">
            <a:xfrm flipV="1">
              <a:off x="6108700" y="3895106"/>
              <a:ext cx="754063" cy="1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5" name="TextBox 4"/>
            <p:cNvSpPr txBox="1">
              <a:spLocks noChangeArrowheads="1"/>
            </p:cNvSpPr>
            <p:nvPr/>
          </p:nvSpPr>
          <p:spPr bwMode="auto">
            <a:xfrm>
              <a:off x="6896100" y="3689350"/>
              <a:ext cx="1927266" cy="707886"/>
            </a:xfrm>
            <a:prstGeom prst="rect">
              <a:avLst/>
            </a:prstGeom>
            <a:noFill/>
            <a:ln w="9525">
              <a:noFill/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日历的边框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border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7" name="Picture 4" descr="C:\Users\Administrator\Desktop\17576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1013" y="3006725"/>
              <a:ext cx="3122612" cy="3444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右大括号 17"/>
            <p:cNvSpPr>
              <a:spLocks/>
            </p:cNvSpPr>
            <p:nvPr/>
          </p:nvSpPr>
          <p:spPr bwMode="auto">
            <a:xfrm>
              <a:off x="5994400" y="5064125"/>
              <a:ext cx="114300" cy="169862"/>
            </a:xfrm>
            <a:prstGeom prst="rightBrace">
              <a:avLst>
                <a:gd name="adj1" fmla="val 8229"/>
                <a:gd name="adj2" fmla="val 50000"/>
              </a:avLst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9" name="直接箭头连接符 18"/>
            <p:cNvCxnSpPr>
              <a:cxnSpLocks noChangeShapeType="1"/>
              <a:stCxn id="18" idx="1"/>
            </p:cNvCxnSpPr>
            <p:nvPr/>
          </p:nvCxnSpPr>
          <p:spPr bwMode="auto">
            <a:xfrm>
              <a:off x="6108700" y="5149056"/>
              <a:ext cx="754063" cy="794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" name="TextBox 32"/>
            <p:cNvSpPr txBox="1">
              <a:spLocks noChangeArrowheads="1"/>
            </p:cNvSpPr>
            <p:nvPr/>
          </p:nvSpPr>
          <p:spPr bwMode="auto">
            <a:xfrm>
              <a:off x="6896099" y="4906963"/>
              <a:ext cx="2663537" cy="707886"/>
            </a:xfrm>
            <a:prstGeom prst="rect">
              <a:avLst/>
            </a:prstGeom>
            <a:noFill/>
            <a:ln w="9525">
              <a:noFill/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日历的单元格边距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Box 49"/>
            <p:cNvSpPr txBox="1">
              <a:spLocks noChangeArrowheads="1"/>
            </p:cNvSpPr>
            <p:nvPr/>
          </p:nvSpPr>
          <p:spPr bwMode="auto">
            <a:xfrm>
              <a:off x="1552388" y="3806825"/>
              <a:ext cx="1381126" cy="461665"/>
            </a:xfrm>
            <a:prstGeom prst="rect">
              <a:avLst/>
            </a:prstGeom>
            <a:noFill/>
            <a:ln w="9525">
              <a:noFill/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height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左大括号 21"/>
            <p:cNvSpPr>
              <a:spLocks/>
            </p:cNvSpPr>
            <p:nvPr/>
          </p:nvSpPr>
          <p:spPr bwMode="auto">
            <a:xfrm>
              <a:off x="2903538" y="3767138"/>
              <a:ext cx="96837" cy="439737"/>
            </a:xfrm>
            <a:prstGeom prst="leftBrace">
              <a:avLst>
                <a:gd name="adj1" fmla="val 8367"/>
                <a:gd name="adj2" fmla="val 50000"/>
              </a:avLst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左大括号 22"/>
            <p:cNvSpPr>
              <a:spLocks/>
            </p:cNvSpPr>
            <p:nvPr/>
          </p:nvSpPr>
          <p:spPr bwMode="auto">
            <a:xfrm rot="16200000">
              <a:off x="3191669" y="4036219"/>
              <a:ext cx="128588" cy="469900"/>
            </a:xfrm>
            <a:prstGeom prst="leftBrace">
              <a:avLst>
                <a:gd name="adj1" fmla="val 8290"/>
                <a:gd name="adj2" fmla="val 50000"/>
              </a:avLst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4" name="直接箭头连接符 23"/>
            <p:cNvCxnSpPr>
              <a:cxnSpLocks noChangeShapeType="1"/>
            </p:cNvCxnSpPr>
            <p:nvPr/>
          </p:nvCxnSpPr>
          <p:spPr bwMode="auto">
            <a:xfrm flipH="1">
              <a:off x="2649538" y="4376738"/>
              <a:ext cx="596900" cy="473075"/>
            </a:xfrm>
            <a:prstGeom prst="straightConnector1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5" name="TextBox 57"/>
            <p:cNvSpPr txBox="1">
              <a:spLocks noChangeArrowheads="1"/>
            </p:cNvSpPr>
            <p:nvPr/>
          </p:nvSpPr>
          <p:spPr bwMode="auto">
            <a:xfrm>
              <a:off x="1564038" y="4683423"/>
              <a:ext cx="1422401" cy="461665"/>
            </a:xfrm>
            <a:prstGeom prst="rect">
              <a:avLst/>
            </a:prstGeom>
            <a:noFill/>
            <a:ln w="9525">
              <a:noFill/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width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0482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控制表格边框</a:t>
            </a:r>
            <a:endParaRPr lang="zh-CN" altLang="en-US" sz="2000" dirty="0"/>
          </a:p>
        </p:txBody>
      </p:sp>
      <p:sp>
        <p:nvSpPr>
          <p:cNvPr id="27" name="TextBox 8"/>
          <p:cNvSpPr txBox="1">
            <a:spLocks noChangeArrowheads="1"/>
          </p:cNvSpPr>
          <p:nvPr/>
        </p:nvSpPr>
        <p:spPr bwMode="auto">
          <a:xfrm>
            <a:off x="2910155" y="2653476"/>
            <a:ext cx="2862263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如下所示：</a:t>
            </a:r>
          </a:p>
        </p:txBody>
      </p: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3013342" y="3443551"/>
            <a:ext cx="6451291" cy="21698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table{</a:t>
            </a:r>
            <a:endParaRPr lang="zh-CN" altLang="zh-C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width:280px;</a:t>
            </a:r>
            <a:endParaRPr lang="zh-CN" altLang="zh-C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height:280px;</a:t>
            </a:r>
            <a:endParaRPr lang="zh-CN" altLang="zh-CN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border:1px solid #F00} 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td,th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 border:1px solid #F00; }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2914918" y="1999426"/>
            <a:ext cx="7062787" cy="540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22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在设置表格的边框时</a:t>
            </a:r>
            <a:r>
              <a:rPr lang="zh-CN" altLang="en-US" sz="22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，也要</a:t>
            </a:r>
            <a:r>
              <a:rPr lang="zh-CN" altLang="zh-CN" sz="22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给单元格设置相应的边框</a:t>
            </a:r>
            <a:r>
              <a:rPr lang="zh-CN" altLang="en-US" sz="22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1781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控制单元格边距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控制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单元格边距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的方法，能够运用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边距属性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，设置为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不同的边距样式。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310485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控制单元格边距</a:t>
            </a:r>
            <a:endParaRPr lang="zh-CN" altLang="en-US" sz="2000" dirty="0"/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895547" y="2659546"/>
            <a:ext cx="6350976" cy="142032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td{</a:t>
            </a:r>
            <a:endParaRPr lang="zh-CN" altLang="zh-CN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padding:20px;</a:t>
            </a:r>
            <a:endParaRPr lang="zh-CN" altLang="zh-CN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2841965" y="1536589"/>
            <a:ext cx="6955002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22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对单元格</a:t>
            </a:r>
            <a:r>
              <a:rPr lang="zh-CN" altLang="en-US" sz="22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r>
              <a:rPr lang="en-US" altLang="zh-CN" sz="22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&lt;td&gt;</a:t>
            </a:r>
            <a:r>
              <a:rPr lang="zh-CN" altLang="zh-CN" sz="22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应用</a:t>
            </a:r>
            <a:r>
              <a:rPr lang="en-US" altLang="zh-CN" sz="22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padding</a:t>
            </a:r>
            <a:r>
              <a:rPr lang="zh-CN" altLang="en-US" sz="22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属性。</a:t>
            </a:r>
          </a:p>
        </p:txBody>
      </p: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2836198" y="4264914"/>
            <a:ext cx="6410325" cy="1984003"/>
            <a:chOff x="1443055" y="5124230"/>
            <a:chExt cx="6624293" cy="1984228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443055" y="5327453"/>
              <a:ext cx="662429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7" name="矩形 20"/>
            <p:cNvSpPr>
              <a:spLocks noChangeArrowheads="1"/>
            </p:cNvSpPr>
            <p:nvPr/>
          </p:nvSpPr>
          <p:spPr bwMode="auto">
            <a:xfrm>
              <a:off x="3889353" y="5124230"/>
              <a:ext cx="1159623" cy="46171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1369B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结论</a:t>
              </a:r>
              <a:r>
                <a:rPr lang="en-US" altLang="zh-CN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zh-CN" altLang="en-US" dirty="0">
                <a:solidFill>
                  <a:srgbClr val="1369B2"/>
                </a:solidFill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1443055" y="7108458"/>
              <a:ext cx="662429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9" name="矩形 15"/>
            <p:cNvSpPr>
              <a:spLocks noChangeArrowheads="1"/>
            </p:cNvSpPr>
            <p:nvPr/>
          </p:nvSpPr>
          <p:spPr bwMode="auto">
            <a:xfrm>
              <a:off x="1443055" y="5619962"/>
              <a:ext cx="6624293" cy="1290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设置单元格内容与边框之间的距离，可以对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&lt;td&gt;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</a:t>
              </a:r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内边距样式属性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padding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，或对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&lt;table&gt;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应用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en-US" altLang="zh-CN" sz="18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cellpadding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TextBox 8"/>
          <p:cNvSpPr txBox="1">
            <a:spLocks noChangeArrowheads="1"/>
          </p:cNvSpPr>
          <p:nvPr/>
        </p:nvSpPr>
        <p:spPr bwMode="auto">
          <a:xfrm>
            <a:off x="2836198" y="2064388"/>
            <a:ext cx="2862263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如下所示：</a:t>
            </a:r>
          </a:p>
        </p:txBody>
      </p:sp>
    </p:spTree>
    <p:extLst>
      <p:ext uri="{BB962C8B-B14F-4D97-AF65-F5344CB8AC3E}">
        <p14:creationId xmlns:p14="http://schemas.microsoft.com/office/powerpoint/2010/main" val="4166733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控制单元格边距</a:t>
            </a:r>
            <a:endParaRPr lang="zh-CN" altLang="en-US" sz="2000" dirty="0"/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4552950" y="2497097"/>
            <a:ext cx="4492625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en-US" altLang="zh-CN" sz="1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zh-CN" sz="1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控制单元格边距时需要注意以下几点：</a:t>
            </a:r>
            <a:endParaRPr lang="zh-CN" altLang="en-US" sz="16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Picture 10" descr="注意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813" y="1966292"/>
            <a:ext cx="3354388" cy="342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" name="TextBox 1"/>
          <p:cNvSpPr txBox="1">
            <a:spLocks noChangeArrowheads="1"/>
          </p:cNvSpPr>
          <p:nvPr/>
        </p:nvSpPr>
        <p:spPr bwMode="auto">
          <a:xfrm>
            <a:off x="5055487" y="2990521"/>
            <a:ext cx="53308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200000"/>
              </a:lnSpc>
              <a:defRPr/>
            </a:pPr>
            <a:r>
              <a:rPr lang="zh-CN" altLang="zh-CN" sz="16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行</a:t>
            </a:r>
            <a:r>
              <a:rPr lang="zh-CN" altLang="en-US" sz="16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r>
              <a:rPr lang="en-US" altLang="zh-CN" sz="16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&lt;</a:t>
            </a:r>
            <a:r>
              <a:rPr lang="en-US" altLang="zh-CN" sz="1600" dirty="0" err="1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tr</a:t>
            </a:r>
            <a:r>
              <a:rPr lang="en-US" altLang="zh-CN" sz="16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&gt;</a:t>
            </a:r>
            <a:r>
              <a:rPr lang="zh-CN" altLang="zh-CN" sz="16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无内边距属性</a:t>
            </a:r>
            <a:r>
              <a:rPr lang="en-US" altLang="zh-CN" sz="16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padding</a:t>
            </a:r>
            <a:r>
              <a:rPr lang="zh-CN" altLang="zh-CN" sz="16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和外边距属性</a:t>
            </a:r>
            <a:r>
              <a:rPr lang="en-US" altLang="zh-CN" sz="16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margin</a:t>
            </a:r>
            <a:r>
              <a:rPr lang="zh-CN" altLang="en-US" sz="16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2"/>
          <p:cNvSpPr>
            <a:spLocks noChangeArrowheads="1"/>
          </p:cNvSpPr>
          <p:nvPr/>
        </p:nvSpPr>
        <p:spPr bwMode="auto">
          <a:xfrm>
            <a:off x="4698299" y="3228521"/>
            <a:ext cx="201613" cy="201612"/>
          </a:xfrm>
          <a:prstGeom prst="rect">
            <a:avLst/>
          </a:prstGeom>
          <a:solidFill>
            <a:srgbClr val="FACE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 bwMode="auto">
          <a:xfrm>
            <a:off x="4681537" y="2868572"/>
            <a:ext cx="4148138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直接连接符 20"/>
          <p:cNvCxnSpPr/>
          <p:nvPr/>
        </p:nvCxnSpPr>
        <p:spPr bwMode="auto">
          <a:xfrm>
            <a:off x="4693537" y="3642858"/>
            <a:ext cx="5335587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1"/>
          <p:cNvSpPr txBox="1">
            <a:spLocks noChangeArrowheads="1"/>
          </p:cNvSpPr>
          <p:nvPr/>
        </p:nvSpPr>
        <p:spPr bwMode="auto">
          <a:xfrm>
            <a:off x="5065012" y="3785096"/>
            <a:ext cx="533082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200000"/>
              </a:lnSpc>
              <a:defRPr/>
            </a:pPr>
            <a:r>
              <a:rPr lang="zh-CN" altLang="zh-CN" sz="16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外边距属性</a:t>
            </a:r>
            <a:r>
              <a:rPr lang="en-US" altLang="zh-CN" sz="16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margin</a:t>
            </a:r>
            <a:r>
              <a:rPr lang="zh-CN" altLang="en-US" sz="16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对单元格无效，</a:t>
            </a:r>
            <a:r>
              <a:rPr lang="zh-CN" altLang="zh-CN" sz="16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要想设置相邻单元格边框之间的距离，只能对</a:t>
            </a:r>
            <a:r>
              <a:rPr lang="en-US" altLang="zh-CN" sz="16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&lt;table&gt;</a:t>
            </a:r>
            <a:r>
              <a:rPr lang="zh-CN" altLang="en-US" sz="16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r>
              <a:rPr lang="zh-CN" altLang="zh-CN" sz="16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应用</a:t>
            </a:r>
            <a:r>
              <a:rPr lang="en-US" altLang="zh-CN" sz="16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HTML</a:t>
            </a:r>
            <a:r>
              <a:rPr lang="zh-CN" altLang="en-US" sz="16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r>
              <a:rPr lang="zh-CN" altLang="zh-CN" sz="16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属性</a:t>
            </a:r>
            <a:r>
              <a:rPr lang="en-US" altLang="zh-CN" sz="1600" dirty="0" err="1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cellspacing</a:t>
            </a:r>
            <a:r>
              <a:rPr lang="zh-CN" altLang="en-US" sz="1600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TextBox 12"/>
          <p:cNvSpPr txBox="1">
            <a:spLocks noChangeArrowheads="1"/>
          </p:cNvSpPr>
          <p:nvPr/>
        </p:nvSpPr>
        <p:spPr bwMode="auto">
          <a:xfrm>
            <a:off x="4647499" y="3174546"/>
            <a:ext cx="258763" cy="307975"/>
          </a:xfrm>
          <a:prstGeom prst="rect">
            <a:avLst/>
          </a:prstGeom>
          <a:solidFill>
            <a:srgbClr val="1369B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dirty="0">
                <a:solidFill>
                  <a:schemeClr val="bg1"/>
                </a:solidFill>
                <a:latin typeface="Aharoni" pitchFamily="2" charset="0"/>
                <a:cs typeface="Aharoni" pitchFamily="2" charset="0"/>
              </a:rPr>
              <a:t>A</a:t>
            </a:r>
            <a:endParaRPr lang="zh-CN" altLang="en-US" sz="1400" dirty="0">
              <a:solidFill>
                <a:schemeClr val="bg1"/>
              </a:solidFill>
              <a:latin typeface="Aharoni" pitchFamily="2" charset="0"/>
              <a:cs typeface="Aharoni" pitchFamily="2" charset="0"/>
            </a:endParaRPr>
          </a:p>
        </p:txBody>
      </p:sp>
      <p:sp>
        <p:nvSpPr>
          <p:cNvPr id="24" name="矩形 2"/>
          <p:cNvSpPr>
            <a:spLocks noChangeArrowheads="1"/>
          </p:cNvSpPr>
          <p:nvPr/>
        </p:nvSpPr>
        <p:spPr bwMode="auto">
          <a:xfrm>
            <a:off x="4696712" y="4038146"/>
            <a:ext cx="201612" cy="201612"/>
          </a:xfrm>
          <a:prstGeom prst="rect">
            <a:avLst/>
          </a:prstGeom>
          <a:solidFill>
            <a:srgbClr val="FACE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5" name="TextBox 33"/>
          <p:cNvSpPr txBox="1">
            <a:spLocks noChangeArrowheads="1"/>
          </p:cNvSpPr>
          <p:nvPr/>
        </p:nvSpPr>
        <p:spPr bwMode="auto">
          <a:xfrm>
            <a:off x="4645912" y="3984171"/>
            <a:ext cx="258762" cy="307975"/>
          </a:xfrm>
          <a:prstGeom prst="rect">
            <a:avLst/>
          </a:prstGeom>
          <a:solidFill>
            <a:srgbClr val="1369B2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>
                <a:solidFill>
                  <a:schemeClr val="bg1"/>
                </a:solidFill>
                <a:latin typeface="Aharoni" pitchFamily="2" charset="0"/>
                <a:cs typeface="Aharoni" pitchFamily="2" charset="0"/>
              </a:rPr>
              <a:t>B</a:t>
            </a:r>
            <a:endParaRPr lang="zh-CN" altLang="en-US" sz="1400">
              <a:solidFill>
                <a:schemeClr val="bg1"/>
              </a:solidFill>
              <a:latin typeface="Aharoni" pitchFamily="2" charset="0"/>
              <a:cs typeface="Aharoni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029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控制单元格的宽高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8841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控制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单元格宽高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的方法，能够为设置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表格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宽度和高度。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445282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控制单元格的宽高</a:t>
            </a:r>
            <a:endParaRPr lang="zh-CN" altLang="en-US" sz="2000" dirty="0"/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3054618" y="2621706"/>
            <a:ext cx="6099175" cy="15700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td{</a:t>
            </a:r>
            <a:endParaRPr lang="zh-CN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width:20px;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Height:20px;</a:t>
            </a:r>
            <a:endParaRPr lang="zh-CN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}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2950543" y="1521568"/>
            <a:ext cx="66643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24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对单元格</a:t>
            </a:r>
            <a:r>
              <a:rPr lang="zh-CN" altLang="en-US" sz="24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标签</a:t>
            </a:r>
            <a:r>
              <a:rPr lang="en-US" altLang="zh-CN" sz="24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&lt;td&gt;</a:t>
            </a:r>
            <a:r>
              <a:rPr lang="zh-CN" altLang="zh-CN" sz="24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应用</a:t>
            </a:r>
            <a:r>
              <a:rPr lang="en-US" altLang="zh-CN" sz="24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width</a:t>
            </a:r>
            <a:r>
              <a:rPr lang="zh-CN" altLang="en-US" sz="24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4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height</a:t>
            </a:r>
            <a:r>
              <a:rPr lang="zh-CN" altLang="en-US" sz="2400" b="1" dirty="0">
                <a:solidFill>
                  <a:srgbClr val="595959"/>
                </a:solidFill>
                <a:latin typeface="微软雅黑" pitchFamily="34" charset="-122"/>
                <a:ea typeface="微软雅黑" pitchFamily="34" charset="-122"/>
              </a:rPr>
              <a:t>属性。</a:t>
            </a:r>
            <a:endParaRPr lang="zh-CN" altLang="en-US" sz="2200" b="1" dirty="0">
              <a:solidFill>
                <a:srgbClr val="59595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3005405" y="4350294"/>
            <a:ext cx="6161088" cy="1851224"/>
            <a:chOff x="1699717" y="5114505"/>
            <a:chExt cx="6367631" cy="1851434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1750580" y="5327453"/>
              <a:ext cx="6316768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7" name="矩形 20"/>
            <p:cNvSpPr>
              <a:spLocks noChangeArrowheads="1"/>
            </p:cNvSpPr>
            <p:nvPr/>
          </p:nvSpPr>
          <p:spPr bwMode="auto">
            <a:xfrm>
              <a:off x="4233064" y="5114505"/>
              <a:ext cx="1159623" cy="46171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1369B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结论</a:t>
              </a:r>
              <a:r>
                <a:rPr lang="en-US" altLang="zh-CN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zh-CN" altLang="en-US" dirty="0">
                <a:solidFill>
                  <a:srgbClr val="1369B2"/>
                </a:solidFill>
              </a:endParaRP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1750580" y="6965939"/>
              <a:ext cx="6316768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9" name="矩形 15"/>
            <p:cNvSpPr>
              <a:spLocks noChangeArrowheads="1"/>
            </p:cNvSpPr>
            <p:nvPr/>
          </p:nvSpPr>
          <p:spPr bwMode="auto">
            <a:xfrm>
              <a:off x="1699717" y="5536828"/>
              <a:ext cx="6226317" cy="1338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对同一行中的单元格定义不同的高度，或对同一列中的单元格定义不同的宽度时，最终的宽度或高度将取其中的较大者。</a:t>
              </a:r>
              <a:endPara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TextBox 8"/>
          <p:cNvSpPr txBox="1">
            <a:spLocks noChangeArrowheads="1"/>
          </p:cNvSpPr>
          <p:nvPr/>
        </p:nvSpPr>
        <p:spPr bwMode="auto">
          <a:xfrm>
            <a:off x="2943073" y="2064388"/>
            <a:ext cx="2862263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如下所示：</a:t>
            </a:r>
          </a:p>
        </p:txBody>
      </p:sp>
    </p:spTree>
    <p:extLst>
      <p:ext uri="{BB962C8B-B14F-4D97-AF65-F5344CB8AC3E}">
        <p14:creationId xmlns:p14="http://schemas.microsoft.com/office/powerpoint/2010/main" val="312416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6-3】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表单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概述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38060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33656" y="2349500"/>
            <a:ext cx="6264696" cy="2431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是可以通过网络接收其他用户数据的平台。例如，注册页面的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账户密码输入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网上订单页面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等，都是以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的形式来收集用户信息，并将这些信息传递给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后台服务器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，实现网页与用户间的对话。本节将对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进行详细的讲解。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9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初识表单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了解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表单的结构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，能够说出表单的各部分构成模块。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955836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初识表单</a:t>
            </a:r>
            <a:endParaRPr lang="zh-CN" altLang="en-US" sz="2000" dirty="0"/>
          </a:p>
        </p:txBody>
      </p:sp>
      <p:sp>
        <p:nvSpPr>
          <p:cNvPr id="9" name="云形标注 8"/>
          <p:cNvSpPr/>
          <p:nvPr/>
        </p:nvSpPr>
        <p:spPr>
          <a:xfrm>
            <a:off x="1019175" y="1588271"/>
            <a:ext cx="6316134" cy="3098800"/>
          </a:xfrm>
          <a:prstGeom prst="cloudCallout">
            <a:avLst>
              <a:gd name="adj1" fmla="val 64873"/>
              <a:gd name="adj2" fmla="val 42348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76" t="1975" r="11457" b="7902"/>
          <a:stretch>
            <a:fillRect/>
          </a:stretch>
        </p:blipFill>
        <p:spPr bwMode="auto">
          <a:xfrm>
            <a:off x="8351340" y="1876139"/>
            <a:ext cx="2944985" cy="46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 12"/>
          <p:cNvSpPr/>
          <p:nvPr/>
        </p:nvSpPr>
        <p:spPr>
          <a:xfrm>
            <a:off x="2661502" y="2672744"/>
            <a:ext cx="475544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什么是表单？</a:t>
            </a:r>
          </a:p>
        </p:txBody>
      </p:sp>
    </p:spTree>
    <p:extLst>
      <p:ext uri="{BB962C8B-B14F-4D97-AF65-F5344CB8AC3E}">
        <p14:creationId xmlns:p14="http://schemas.microsoft.com/office/powerpoint/2010/main" val="32626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初识表单</a:t>
            </a:r>
            <a:endParaRPr lang="zh-CN" altLang="en-US" sz="2000" dirty="0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730338" y="3416300"/>
            <a:ext cx="33766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虚尾箭头 28"/>
          <p:cNvSpPr>
            <a:spLocks noChangeArrowheads="1"/>
          </p:cNvSpPr>
          <p:nvPr/>
        </p:nvSpPr>
        <p:spPr bwMode="auto">
          <a:xfrm rot="5400000">
            <a:off x="5846413" y="4934588"/>
            <a:ext cx="454025" cy="41275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6693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786" y="0"/>
                </a:moveTo>
                <a:lnTo>
                  <a:pt x="11786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1786" y="16200"/>
                </a:lnTo>
                <a:lnTo>
                  <a:pt x="11786" y="21600"/>
                </a:lnTo>
                <a:lnTo>
                  <a:pt x="21600" y="10800"/>
                </a:lnTo>
                <a:lnTo>
                  <a:pt x="11786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1369B2"/>
          </a:solidFill>
          <a:ln w="19050" cap="flat" cmpd="sng">
            <a:noFill/>
            <a:miter lim="800000"/>
            <a:headEnd/>
            <a:tailEnd/>
          </a:ln>
          <a:effectLst/>
        </p:spPr>
        <p:txBody>
          <a:bodyPr lIns="90170" tIns="46990" rIns="90170" bIns="4699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4700176" y="5567363"/>
            <a:ext cx="3001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1729963" y="5510359"/>
            <a:ext cx="8528049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zh-CN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2"/>
          <p:cNvSpPr txBox="1">
            <a:spLocks noChangeArrowheads="1"/>
          </p:cNvSpPr>
          <p:nvPr/>
        </p:nvSpPr>
        <p:spPr bwMode="auto">
          <a:xfrm>
            <a:off x="4824001" y="3870325"/>
            <a:ext cx="2533650" cy="89376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zh-CN" altLang="en-US" sz="2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互联网时代表单很常见</a:t>
            </a:r>
          </a:p>
        </p:txBody>
      </p:sp>
      <p:sp>
        <p:nvSpPr>
          <p:cNvPr id="13" name="TextBox 3"/>
          <p:cNvSpPr txBox="1">
            <a:spLocks noChangeArrowheads="1"/>
          </p:cNvSpPr>
          <p:nvPr/>
        </p:nvSpPr>
        <p:spPr bwMode="auto">
          <a:xfrm>
            <a:off x="2314163" y="3998913"/>
            <a:ext cx="6463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登录</a:t>
            </a:r>
          </a:p>
        </p:txBody>
      </p:sp>
      <p:sp>
        <p:nvSpPr>
          <p:cNvPr id="14" name="TextBox 7"/>
          <p:cNvSpPr txBox="1">
            <a:spLocks noChangeArrowheads="1"/>
          </p:cNvSpPr>
          <p:nvPr/>
        </p:nvSpPr>
        <p:spPr bwMode="auto">
          <a:xfrm>
            <a:off x="8712426" y="4012563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快递查询</a:t>
            </a:r>
          </a:p>
        </p:txBody>
      </p:sp>
      <p:sp>
        <p:nvSpPr>
          <p:cNvPr id="15" name="TextBox 3"/>
          <p:cNvSpPr txBox="1">
            <a:spLocks noChangeArrowheads="1"/>
          </p:cNvSpPr>
          <p:nvPr/>
        </p:nvSpPr>
        <p:spPr bwMode="auto">
          <a:xfrm>
            <a:off x="5673826" y="3310188"/>
            <a:ext cx="6463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</a:t>
            </a:r>
          </a:p>
        </p:txBody>
      </p:sp>
      <p:pic>
        <p:nvPicPr>
          <p:cNvPr id="16" name="Picture 3" descr="C:\Users\Administrator\Desktop\u=2136175227,98117462&amp;fm=23&amp;gp=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29963" y="2384425"/>
            <a:ext cx="1970088" cy="13858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140288" y="2441575"/>
            <a:ext cx="2117725" cy="13668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8" name="Picture 5" descr="C:\Users\Administrator\Desktop\蘑菇街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85938" y="1701800"/>
            <a:ext cx="1982788" cy="1479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Box 15"/>
          <p:cNvSpPr txBox="1">
            <a:spLocks noChangeArrowheads="1"/>
          </p:cNvSpPr>
          <p:nvPr/>
        </p:nvSpPr>
        <p:spPr bwMode="auto">
          <a:xfrm>
            <a:off x="4053986" y="5486400"/>
            <a:ext cx="3775393" cy="5232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想想表单的主要功能？</a:t>
            </a:r>
          </a:p>
        </p:txBody>
      </p:sp>
    </p:spTree>
    <p:extLst>
      <p:ext uri="{BB962C8B-B14F-4D97-AF65-F5344CB8AC3E}">
        <p14:creationId xmlns:p14="http://schemas.microsoft.com/office/powerpoint/2010/main" val="11173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初识表单</a:t>
            </a:r>
            <a:endParaRPr lang="zh-CN" altLang="en-US" sz="2000" dirty="0"/>
          </a:p>
        </p:txBody>
      </p:sp>
      <p:sp>
        <p:nvSpPr>
          <p:cNvPr id="6" name="矩形 1"/>
          <p:cNvSpPr>
            <a:spLocks noChangeArrowheads="1"/>
          </p:cNvSpPr>
          <p:nvPr/>
        </p:nvSpPr>
        <p:spPr bwMode="auto">
          <a:xfrm>
            <a:off x="1999961" y="1701800"/>
            <a:ext cx="457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电商注册页面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为例，分析</a:t>
            </a:r>
            <a:r>
              <a:rPr lang="zh-CN" altLang="en-US" sz="20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表单。</a:t>
            </a:r>
          </a:p>
        </p:txBody>
      </p:sp>
      <p:pic>
        <p:nvPicPr>
          <p:cNvPr id="7" name="Picture 2" descr="C:\Users\Administrator\Desktop\蘑菇街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234" y="2414985"/>
            <a:ext cx="4061938" cy="35070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4525569" y="3171518"/>
            <a:ext cx="573088" cy="1658937"/>
          </a:xfrm>
          <a:prstGeom prst="rect">
            <a:avLst/>
          </a:prstGeom>
          <a:noFill/>
          <a:ln w="19050" algn="ctr">
            <a:solidFill>
              <a:srgbClr val="1369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cxnSp>
        <p:nvCxnSpPr>
          <p:cNvPr id="9" name="直接箭头连接符 8"/>
          <p:cNvCxnSpPr>
            <a:cxnSpLocks noChangeShapeType="1"/>
          </p:cNvCxnSpPr>
          <p:nvPr/>
        </p:nvCxnSpPr>
        <p:spPr bwMode="auto">
          <a:xfrm flipH="1">
            <a:off x="3938194" y="4284951"/>
            <a:ext cx="595313" cy="0"/>
          </a:xfrm>
          <a:prstGeom prst="straightConnector1">
            <a:avLst/>
          </a:prstGeom>
          <a:noFill/>
          <a:ln w="28575" algn="ctr">
            <a:solidFill>
              <a:srgbClr val="1369B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TextBox 48"/>
          <p:cNvSpPr txBox="1">
            <a:spLocks noChangeArrowheads="1"/>
          </p:cNvSpPr>
          <p:nvPr/>
        </p:nvSpPr>
        <p:spPr bwMode="auto">
          <a:xfrm>
            <a:off x="2952357" y="4108738"/>
            <a:ext cx="998537" cy="338138"/>
          </a:xfrm>
          <a:prstGeom prst="rect">
            <a:avLst/>
          </a:prstGeom>
          <a:noFill/>
          <a:ln w="12700">
            <a:noFill/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提示信息</a:t>
            </a: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5127232" y="3171518"/>
            <a:ext cx="1887537" cy="2281237"/>
          </a:xfrm>
          <a:prstGeom prst="rect">
            <a:avLst/>
          </a:prstGeom>
          <a:noFill/>
          <a:ln w="19050" algn="ctr">
            <a:solidFill>
              <a:srgbClr val="1369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" name="TextBox 50"/>
          <p:cNvSpPr txBox="1">
            <a:spLocks noChangeArrowheads="1"/>
          </p:cNvSpPr>
          <p:nvPr/>
        </p:nvSpPr>
        <p:spPr bwMode="auto">
          <a:xfrm>
            <a:off x="8880082" y="4192280"/>
            <a:ext cx="874712" cy="338138"/>
          </a:xfrm>
          <a:prstGeom prst="rect">
            <a:avLst/>
          </a:prstGeom>
          <a:noFill/>
          <a:ln w="12700">
            <a:noFill/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表单域</a:t>
            </a:r>
          </a:p>
        </p:txBody>
      </p:sp>
      <p:cxnSp>
        <p:nvCxnSpPr>
          <p:cNvPr id="13" name="直接箭头连接符 12"/>
          <p:cNvCxnSpPr>
            <a:cxnSpLocks noChangeShapeType="1"/>
          </p:cNvCxnSpPr>
          <p:nvPr/>
        </p:nvCxnSpPr>
        <p:spPr bwMode="auto">
          <a:xfrm flipH="1">
            <a:off x="6049569" y="5452755"/>
            <a:ext cx="0" cy="588963"/>
          </a:xfrm>
          <a:prstGeom prst="straightConnector1">
            <a:avLst/>
          </a:prstGeom>
          <a:noFill/>
          <a:ln w="28575" algn="ctr">
            <a:solidFill>
              <a:srgbClr val="1369B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Box 52"/>
          <p:cNvSpPr txBox="1">
            <a:spLocks noChangeArrowheads="1"/>
          </p:cNvSpPr>
          <p:nvPr/>
        </p:nvSpPr>
        <p:spPr bwMode="auto">
          <a:xfrm>
            <a:off x="5543157" y="6076643"/>
            <a:ext cx="1030287" cy="338137"/>
          </a:xfrm>
          <a:prstGeom prst="rect">
            <a:avLst/>
          </a:prstGeom>
          <a:noFill/>
          <a:ln w="12700">
            <a:noFill/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6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表单控件</a:t>
            </a: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4092182" y="2936568"/>
            <a:ext cx="4060825" cy="2986087"/>
          </a:xfrm>
          <a:prstGeom prst="rect">
            <a:avLst/>
          </a:prstGeom>
          <a:noFill/>
          <a:ln w="19050" algn="ctr">
            <a:solidFill>
              <a:srgbClr val="1369B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000000"/>
              </a:solidFill>
            </a:endParaRPr>
          </a:p>
        </p:txBody>
      </p:sp>
      <p:cxnSp>
        <p:nvCxnSpPr>
          <p:cNvPr id="16" name="直接箭头连接符 15"/>
          <p:cNvCxnSpPr>
            <a:cxnSpLocks noChangeShapeType="1"/>
          </p:cNvCxnSpPr>
          <p:nvPr/>
        </p:nvCxnSpPr>
        <p:spPr bwMode="auto">
          <a:xfrm flipV="1">
            <a:off x="8197457" y="4325630"/>
            <a:ext cx="649287" cy="0"/>
          </a:xfrm>
          <a:prstGeom prst="straightConnector1">
            <a:avLst/>
          </a:prstGeom>
          <a:noFill/>
          <a:ln w="28575" algn="ctr">
            <a:solidFill>
              <a:srgbClr val="1369B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201857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初识表单</a:t>
            </a:r>
            <a:endParaRPr lang="zh-CN" altLang="en-US" sz="2000" dirty="0"/>
          </a:p>
        </p:txBody>
      </p:sp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334011"/>
              </p:ext>
            </p:extLst>
          </p:nvPr>
        </p:nvGraphicFramePr>
        <p:xfrm>
          <a:off x="4146889" y="2835226"/>
          <a:ext cx="3396481" cy="2830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282535" y="1899763"/>
            <a:ext cx="4545403" cy="1692771"/>
            <a:chOff x="989013" y="2327275"/>
            <a:chExt cx="3402012" cy="1692771"/>
          </a:xfrm>
        </p:grpSpPr>
        <p:sp>
          <p:nvSpPr>
            <p:cNvPr id="8" name="矩形 7"/>
            <p:cNvSpPr/>
            <p:nvPr/>
          </p:nvSpPr>
          <p:spPr bwMode="auto">
            <a:xfrm>
              <a:off x="3489325" y="2462213"/>
              <a:ext cx="46038" cy="892175"/>
            </a:xfrm>
            <a:prstGeom prst="rect">
              <a:avLst/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8"/>
            <p:cNvSpPr/>
            <p:nvPr/>
          </p:nvSpPr>
          <p:spPr bwMode="auto">
            <a:xfrm>
              <a:off x="3665538" y="2903538"/>
              <a:ext cx="725487" cy="565150"/>
            </a:xfrm>
            <a:custGeom>
              <a:avLst/>
              <a:gdLst>
                <a:gd name="connsiteX0" fmla="*/ 368135 w 368135"/>
                <a:gd name="connsiteY0" fmla="*/ 1199408 h 1199408"/>
                <a:gd name="connsiteX1" fmla="*/ 368135 w 368135"/>
                <a:gd name="connsiteY1" fmla="*/ 0 h 1199408"/>
                <a:gd name="connsiteX2" fmla="*/ 0 w 368135"/>
                <a:gd name="connsiteY2" fmla="*/ 0 h 1199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8135" h="1199408">
                  <a:moveTo>
                    <a:pt x="368135" y="1199408"/>
                  </a:moveTo>
                  <a:lnTo>
                    <a:pt x="368135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1369B2"/>
              </a:solidFill>
              <a:prstDash val="sysDot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10" name="TextBox 59"/>
            <p:cNvSpPr txBox="1">
              <a:spLocks noChangeArrowheads="1"/>
            </p:cNvSpPr>
            <p:nvPr/>
          </p:nvSpPr>
          <p:spPr bwMode="auto">
            <a:xfrm>
              <a:off x="989013" y="2327275"/>
              <a:ext cx="2482850" cy="16927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zh-CN" sz="2000" dirty="0">
                  <a:solidFill>
                    <a:srgbClr val="000000"/>
                  </a:solidFill>
                  <a:ea typeface="微软雅黑" panose="020B0503020204020204" pitchFamily="34" charset="-122"/>
                </a:rPr>
                <a:t>一个表单中通常需要包含一些说</a:t>
              </a:r>
              <a:r>
                <a:rPr lang="zh-CN" altLang="zh-CN" sz="2000" dirty="0">
                  <a:solidFill>
                    <a:srgbClr val="0075CC"/>
                  </a:solidFill>
                  <a:ea typeface="微软雅黑" panose="020B0503020204020204" pitchFamily="34" charset="-122"/>
                </a:rPr>
                <a:t>明性的文字</a:t>
              </a:r>
              <a:r>
                <a:rPr lang="zh-CN" altLang="zh-CN" sz="2000" dirty="0">
                  <a:solidFill>
                    <a:srgbClr val="000000"/>
                  </a:solidFill>
                  <a:ea typeface="微软雅黑" panose="020B0503020204020204" pitchFamily="34" charset="-122"/>
                </a:rPr>
                <a:t>，提示用户进行填写和操作。</a:t>
              </a:r>
              <a:endParaRPr lang="en-US" altLang="zh-CN" sz="2000" dirty="0">
                <a:solidFill>
                  <a:srgbClr val="000000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 bwMode="auto">
          <a:xfrm>
            <a:off x="3678463" y="3904776"/>
            <a:ext cx="49213" cy="955675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7820251" y="3215801"/>
            <a:ext cx="60325" cy="1225550"/>
          </a:xfrm>
          <a:prstGeom prst="rect">
            <a:avLst/>
          </a:prstGeom>
          <a:solidFill>
            <a:srgbClr val="1369B2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3" name="任意多边形 12"/>
          <p:cNvSpPr/>
          <p:nvPr/>
        </p:nvSpPr>
        <p:spPr bwMode="auto">
          <a:xfrm flipH="1">
            <a:off x="6739163" y="3747613"/>
            <a:ext cx="933450" cy="869950"/>
          </a:xfrm>
          <a:custGeom>
            <a:avLst/>
            <a:gdLst>
              <a:gd name="connsiteX0" fmla="*/ 368135 w 368135"/>
              <a:gd name="connsiteY0" fmla="*/ 1199408 h 1199408"/>
              <a:gd name="connsiteX1" fmla="*/ 368135 w 368135"/>
              <a:gd name="connsiteY1" fmla="*/ 0 h 1199408"/>
              <a:gd name="connsiteX2" fmla="*/ 0 w 368135"/>
              <a:gd name="connsiteY2" fmla="*/ 0 h 1199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135" h="1199408">
                <a:moveTo>
                  <a:pt x="368135" y="1199408"/>
                </a:moveTo>
                <a:lnTo>
                  <a:pt x="368135" y="0"/>
                </a:lnTo>
                <a:lnTo>
                  <a:pt x="0" y="0"/>
                </a:lnTo>
              </a:path>
            </a:pathLst>
          </a:custGeom>
          <a:ln w="6350">
            <a:solidFill>
              <a:srgbClr val="1369B2"/>
            </a:solidFill>
            <a:prstDash val="sysDot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14" name="TextBox 59"/>
          <p:cNvSpPr txBox="1">
            <a:spLocks noChangeArrowheads="1"/>
          </p:cNvSpPr>
          <p:nvPr/>
        </p:nvSpPr>
        <p:spPr bwMode="auto">
          <a:xfrm>
            <a:off x="1282535" y="3812701"/>
            <a:ext cx="2394341" cy="12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000000"/>
                </a:solidFill>
                <a:ea typeface="微软雅黑" panose="020B0503020204020204" pitchFamily="34" charset="-122"/>
              </a:rPr>
              <a:t>相当于一个容器，用来容纳所有的</a:t>
            </a:r>
            <a:r>
              <a:rPr lang="zh-CN" altLang="en-US" sz="2000" dirty="0">
                <a:solidFill>
                  <a:srgbClr val="0075CC"/>
                </a:solidFill>
                <a:ea typeface="微软雅黑" panose="020B0503020204020204" pitchFamily="34" charset="-122"/>
              </a:rPr>
              <a:t>表单控件</a:t>
            </a:r>
            <a:r>
              <a:rPr lang="zh-CN" altLang="en-US" sz="2000" dirty="0">
                <a:solidFill>
                  <a:srgbClr val="000000"/>
                </a:solidFill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0075CC"/>
                </a:solidFill>
                <a:ea typeface="微软雅黑" panose="020B0503020204020204" pitchFamily="34" charset="-122"/>
              </a:rPr>
              <a:t>提示信息</a:t>
            </a:r>
            <a:r>
              <a:rPr lang="zh-CN" altLang="en-US" sz="2000" dirty="0">
                <a:solidFill>
                  <a:srgbClr val="000000"/>
                </a:solidFill>
                <a:ea typeface="微软雅黑" panose="020B0503020204020204" pitchFamily="34" charset="-122"/>
              </a:rPr>
              <a:t>。</a:t>
            </a:r>
            <a:endParaRPr lang="en-US" altLang="zh-CN" sz="2000" dirty="0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TextBox 59"/>
          <p:cNvSpPr txBox="1">
            <a:spLocks noChangeArrowheads="1"/>
          </p:cNvSpPr>
          <p:nvPr/>
        </p:nvSpPr>
        <p:spPr bwMode="auto">
          <a:xfrm>
            <a:off x="7893275" y="3130076"/>
            <a:ext cx="310374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000000"/>
                </a:solidFill>
                <a:ea typeface="微软雅黑" panose="020B0503020204020204" pitchFamily="34" charset="-122"/>
              </a:rPr>
              <a:t>包含了具体的表单功能项，如</a:t>
            </a:r>
            <a:r>
              <a:rPr lang="zh-CN" altLang="en-US" sz="2000" dirty="0">
                <a:solidFill>
                  <a:srgbClr val="0075CC"/>
                </a:solidFill>
                <a:ea typeface="微软雅黑" panose="020B0503020204020204" pitchFamily="34" charset="-122"/>
              </a:rPr>
              <a:t>单行文本输入框、密码输入框、复选框、提交按钮、重置按钮</a:t>
            </a:r>
            <a:r>
              <a:rPr lang="zh-CN" altLang="en-US" sz="2000" dirty="0">
                <a:solidFill>
                  <a:srgbClr val="000000"/>
                </a:solidFill>
                <a:ea typeface="微软雅黑" panose="020B0503020204020204" pitchFamily="34" charset="-122"/>
              </a:rPr>
              <a:t>等。</a:t>
            </a:r>
            <a:endParaRPr lang="en-US" altLang="zh-CN" sz="2000" dirty="0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16" name="矩形 1"/>
          <p:cNvSpPr>
            <a:spLocks noChangeArrowheads="1"/>
          </p:cNvSpPr>
          <p:nvPr/>
        </p:nvSpPr>
        <p:spPr bwMode="auto">
          <a:xfrm>
            <a:off x="5110388" y="3184051"/>
            <a:ext cx="1643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提示信息</a:t>
            </a:r>
            <a:endParaRPr lang="en-US" altLang="zh-CN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矩形 19"/>
          <p:cNvSpPr>
            <a:spLocks noChangeArrowheads="1"/>
          </p:cNvSpPr>
          <p:nvPr/>
        </p:nvSpPr>
        <p:spPr bwMode="auto">
          <a:xfrm>
            <a:off x="5947001" y="4617563"/>
            <a:ext cx="1976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表单控件</a:t>
            </a:r>
            <a:endParaRPr lang="en-US" altLang="zh-CN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" name="矩形 20"/>
          <p:cNvSpPr>
            <a:spLocks noChangeArrowheads="1"/>
          </p:cNvSpPr>
          <p:nvPr/>
        </p:nvSpPr>
        <p:spPr bwMode="auto">
          <a:xfrm>
            <a:off x="4530951" y="4609626"/>
            <a:ext cx="1835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表单域</a:t>
            </a:r>
            <a:endParaRPr lang="en-US" altLang="zh-CN" sz="2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任意多边形 18"/>
          <p:cNvSpPr/>
          <p:nvPr/>
        </p:nvSpPr>
        <p:spPr bwMode="auto">
          <a:xfrm>
            <a:off x="3865788" y="4242913"/>
            <a:ext cx="871538" cy="366713"/>
          </a:xfrm>
          <a:custGeom>
            <a:avLst/>
            <a:gdLst>
              <a:gd name="connsiteX0" fmla="*/ 368135 w 368135"/>
              <a:gd name="connsiteY0" fmla="*/ 1199408 h 1199408"/>
              <a:gd name="connsiteX1" fmla="*/ 368135 w 368135"/>
              <a:gd name="connsiteY1" fmla="*/ 0 h 1199408"/>
              <a:gd name="connsiteX2" fmla="*/ 0 w 368135"/>
              <a:gd name="connsiteY2" fmla="*/ 0 h 1199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135" h="1199408">
                <a:moveTo>
                  <a:pt x="368135" y="1199408"/>
                </a:moveTo>
                <a:lnTo>
                  <a:pt x="368135" y="0"/>
                </a:lnTo>
                <a:lnTo>
                  <a:pt x="0" y="0"/>
                </a:lnTo>
              </a:path>
            </a:pathLst>
          </a:custGeom>
          <a:ln w="6350">
            <a:solidFill>
              <a:srgbClr val="006A96"/>
            </a:solidFill>
            <a:prstDash val="sysDot"/>
            <a:headEnd type="oval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535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创建表单</a:t>
              </a:r>
              <a:endParaRPr lang="zh-CN" altLang="en-US" sz="2000" dirty="0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zh-CN" altLang="en-US" sz="1800" dirty="0">
                <a:solidFill>
                  <a:srgbClr val="0075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创建表单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的方法，能够在网页中创建表单。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241808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1019175" y="1604798"/>
            <a:ext cx="10440988" cy="1126527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1" name="TextBox 38"/>
          <p:cNvSpPr txBox="1"/>
          <p:nvPr/>
        </p:nvSpPr>
        <p:spPr>
          <a:xfrm>
            <a:off x="1471674" y="1845965"/>
            <a:ext cx="9482075" cy="6305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想让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传送给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后台服务器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，就必须定义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表单域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</a:t>
            </a:r>
            <a:r>
              <a:rPr lang="en-US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&lt;form&gt;&lt;/form&gt;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被用于定义表单域</a:t>
            </a:r>
            <a:r>
              <a: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2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3" name="矩形 93"/>
          <p:cNvSpPr/>
          <p:nvPr/>
        </p:nvSpPr>
        <p:spPr>
          <a:xfrm rot="10800000">
            <a:off x="11076120" y="2347282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1019175" y="3076500"/>
            <a:ext cx="10440988" cy="133882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&lt;form action="</a:t>
            </a:r>
            <a:r>
              <a:rPr lang="en-US" altLang="zh-CN" sz="18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method="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提交方式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name="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表单名称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"&gt;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各种表单控件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&lt;/form&gt;</a:t>
            </a:r>
          </a:p>
        </p:txBody>
      </p: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1019175" y="4724872"/>
            <a:ext cx="10402116" cy="1507238"/>
            <a:chOff x="1747565" y="5088608"/>
            <a:chExt cx="6319580" cy="1507059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1750372" y="5327406"/>
              <a:ext cx="631677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7" name="矩形 20"/>
            <p:cNvSpPr>
              <a:spLocks noChangeArrowheads="1"/>
            </p:cNvSpPr>
            <p:nvPr/>
          </p:nvSpPr>
          <p:spPr bwMode="auto">
            <a:xfrm>
              <a:off x="4344754" y="5088608"/>
              <a:ext cx="1159623" cy="46161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1369B2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结论</a:t>
              </a:r>
              <a:r>
                <a:rPr lang="en-US" altLang="zh-CN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zh-CN" altLang="en-US" dirty="0">
                <a:solidFill>
                  <a:srgbClr val="1369B2"/>
                </a:solidFill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1750372" y="6595667"/>
              <a:ext cx="631677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9" name="矩形 15"/>
            <p:cNvSpPr>
              <a:spLocks noChangeArrowheads="1"/>
            </p:cNvSpPr>
            <p:nvPr/>
          </p:nvSpPr>
          <p:spPr bwMode="auto">
            <a:xfrm>
              <a:off x="1747565" y="5536828"/>
              <a:ext cx="6319580" cy="874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&lt;form&gt;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&lt;/form&gt;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之间的表单控件是由用户自定义的，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action</a:t>
              </a:r>
              <a:r>
                <a:rPr lang="zh-CN" altLang="zh-CN" sz="18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method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name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为表单标记</a:t>
              </a: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&lt;form&gt;</a:t>
              </a:r>
              <a:r>
                <a:rPr lang="zh-CN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的常用属性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32" name="同侧圆角矩形 31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创建表单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37489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32" name="同侧圆角矩形 31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创建表单</a:t>
              </a:r>
              <a:endParaRPr lang="zh-CN" altLang="en-US" sz="2000" dirty="0"/>
            </a:p>
          </p:txBody>
        </p:sp>
      </p:grpSp>
      <p:graphicFrame>
        <p:nvGraphicFramePr>
          <p:cNvPr id="1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9474338"/>
              </p:ext>
            </p:extLst>
          </p:nvPr>
        </p:nvGraphicFramePr>
        <p:xfrm>
          <a:off x="4263291" y="3420637"/>
          <a:ext cx="3396481" cy="2830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859622" y="2479883"/>
            <a:ext cx="4289425" cy="1063625"/>
            <a:chOff x="588963" y="2254250"/>
            <a:chExt cx="4289425" cy="1063625"/>
          </a:xfrm>
        </p:grpSpPr>
        <p:sp>
          <p:nvSpPr>
            <p:cNvPr id="18" name="矩形 17"/>
            <p:cNvSpPr/>
            <p:nvPr/>
          </p:nvSpPr>
          <p:spPr bwMode="auto">
            <a:xfrm>
              <a:off x="3771900" y="2298700"/>
              <a:ext cx="46038" cy="892175"/>
            </a:xfrm>
            <a:prstGeom prst="rect">
              <a:avLst/>
            </a:prstGeom>
            <a:solidFill>
              <a:srgbClr val="11970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9" name="任意多边形 18"/>
            <p:cNvSpPr/>
            <p:nvPr/>
          </p:nvSpPr>
          <p:spPr bwMode="auto">
            <a:xfrm>
              <a:off x="3948113" y="2752725"/>
              <a:ext cx="930275" cy="565150"/>
            </a:xfrm>
            <a:custGeom>
              <a:avLst/>
              <a:gdLst>
                <a:gd name="connsiteX0" fmla="*/ 368135 w 368135"/>
                <a:gd name="connsiteY0" fmla="*/ 1199408 h 1199408"/>
                <a:gd name="connsiteX1" fmla="*/ 368135 w 368135"/>
                <a:gd name="connsiteY1" fmla="*/ 0 h 1199408"/>
                <a:gd name="connsiteX2" fmla="*/ 0 w 368135"/>
                <a:gd name="connsiteY2" fmla="*/ 0 h 1199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8135" h="1199408">
                  <a:moveTo>
                    <a:pt x="368135" y="1199408"/>
                  </a:moveTo>
                  <a:lnTo>
                    <a:pt x="368135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119707"/>
              </a:solidFill>
              <a:prstDash val="sysDot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TextBox 59"/>
            <p:cNvSpPr txBox="1">
              <a:spLocks noChangeArrowheads="1"/>
            </p:cNvSpPr>
            <p:nvPr/>
          </p:nvSpPr>
          <p:spPr bwMode="auto">
            <a:xfrm>
              <a:off x="588963" y="2254250"/>
              <a:ext cx="3130550" cy="7325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1600" dirty="0">
                  <a:solidFill>
                    <a:srgbClr val="5F5F5F"/>
                  </a:solidFill>
                  <a:ea typeface="微软雅黑" panose="020B0503020204020204" pitchFamily="34" charset="-122"/>
                </a:rPr>
                <a:t>action</a:t>
              </a:r>
              <a:r>
                <a:rPr lang="zh-CN" altLang="zh-CN" sz="1600" dirty="0">
                  <a:solidFill>
                    <a:srgbClr val="5F5F5F"/>
                  </a:solidFill>
                  <a:ea typeface="微软雅黑" panose="020B0503020204020204" pitchFamily="34" charset="-122"/>
                </a:rPr>
                <a:t>属性用于指定接收并处理表单数据的服务器程序的</a:t>
              </a:r>
              <a:r>
                <a:rPr lang="en-US" altLang="zh-CN" sz="1600" dirty="0" err="1">
                  <a:solidFill>
                    <a:srgbClr val="5F5F5F"/>
                  </a:solidFill>
                  <a:ea typeface="微软雅黑" panose="020B0503020204020204" pitchFamily="34" charset="-122"/>
                </a:rPr>
                <a:t>url</a:t>
              </a:r>
              <a:r>
                <a:rPr lang="zh-CN" altLang="zh-CN" sz="1600" dirty="0">
                  <a:solidFill>
                    <a:srgbClr val="5F5F5F"/>
                  </a:solidFill>
                  <a:ea typeface="微软雅黑" panose="020B0503020204020204" pitchFamily="34" charset="-122"/>
                </a:rPr>
                <a:t>地址。</a:t>
              </a:r>
              <a:endParaRPr lang="en-US" altLang="zh-CN" sz="1600" dirty="0">
                <a:solidFill>
                  <a:srgbClr val="5F5F5F"/>
                </a:solidFill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/>
          <p:cNvGrpSpPr>
            <a:grpSpLocks/>
          </p:cNvGrpSpPr>
          <p:nvPr/>
        </p:nvGrpSpPr>
        <p:grpSpPr bwMode="auto">
          <a:xfrm>
            <a:off x="6855484" y="3800683"/>
            <a:ext cx="3436938" cy="1225550"/>
            <a:chOff x="5584825" y="3575050"/>
            <a:chExt cx="3436938" cy="1225550"/>
          </a:xfrm>
        </p:grpSpPr>
        <p:sp>
          <p:nvSpPr>
            <p:cNvPr id="36" name="矩形 35"/>
            <p:cNvSpPr/>
            <p:nvPr/>
          </p:nvSpPr>
          <p:spPr bwMode="auto">
            <a:xfrm>
              <a:off x="6665913" y="3575050"/>
              <a:ext cx="60325" cy="1225550"/>
            </a:xfrm>
            <a:prstGeom prst="rect">
              <a:avLst/>
            </a:prstGeom>
            <a:solidFill>
              <a:srgbClr val="C7720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37" name="任意多边形 36"/>
            <p:cNvSpPr/>
            <p:nvPr/>
          </p:nvSpPr>
          <p:spPr bwMode="auto">
            <a:xfrm flipH="1">
              <a:off x="5584825" y="4106863"/>
              <a:ext cx="933450" cy="693737"/>
            </a:xfrm>
            <a:custGeom>
              <a:avLst/>
              <a:gdLst>
                <a:gd name="connsiteX0" fmla="*/ 368135 w 368135"/>
                <a:gd name="connsiteY0" fmla="*/ 1199408 h 1199408"/>
                <a:gd name="connsiteX1" fmla="*/ 368135 w 368135"/>
                <a:gd name="connsiteY1" fmla="*/ 0 h 1199408"/>
                <a:gd name="connsiteX2" fmla="*/ 0 w 368135"/>
                <a:gd name="connsiteY2" fmla="*/ 0 h 1199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8135" h="1199408">
                  <a:moveTo>
                    <a:pt x="368135" y="1199408"/>
                  </a:moveTo>
                  <a:lnTo>
                    <a:pt x="368135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C73E01"/>
              </a:solidFill>
              <a:prstDash val="sysDot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38" name="TextBox 59"/>
            <p:cNvSpPr txBox="1">
              <a:spLocks noChangeArrowheads="1"/>
            </p:cNvSpPr>
            <p:nvPr/>
          </p:nvSpPr>
          <p:spPr bwMode="auto">
            <a:xfrm>
              <a:off x="6829425" y="3670300"/>
              <a:ext cx="2192338" cy="1052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zh-CN" sz="1600" dirty="0">
                  <a:solidFill>
                    <a:srgbClr val="5F5F5F"/>
                  </a:solidFill>
                  <a:ea typeface="微软雅黑" panose="020B0503020204020204" pitchFamily="34" charset="-122"/>
                </a:rPr>
                <a:t>用于设置表单数据的提交方式，其取值为</a:t>
              </a:r>
              <a:r>
                <a:rPr lang="en-US" altLang="zh-CN" sz="1600" dirty="0">
                  <a:solidFill>
                    <a:srgbClr val="5F5F5F"/>
                  </a:solidFill>
                  <a:ea typeface="微软雅黑" panose="020B0503020204020204" pitchFamily="34" charset="-122"/>
                </a:rPr>
                <a:t>get</a:t>
              </a:r>
              <a:r>
                <a:rPr lang="zh-CN" altLang="zh-CN" sz="1600" dirty="0">
                  <a:solidFill>
                    <a:srgbClr val="5F5F5F"/>
                  </a:solidFill>
                  <a:ea typeface="微软雅黑" panose="020B0503020204020204" pitchFamily="34" charset="-122"/>
                </a:rPr>
                <a:t>或</a:t>
              </a:r>
              <a:r>
                <a:rPr lang="en-US" altLang="zh-CN" sz="1600" dirty="0">
                  <a:solidFill>
                    <a:srgbClr val="5F5F5F"/>
                  </a:solidFill>
                  <a:ea typeface="微软雅黑" panose="020B0503020204020204" pitchFamily="34" charset="-122"/>
                </a:rPr>
                <a:t>post</a:t>
              </a:r>
              <a:r>
                <a:rPr lang="zh-CN" altLang="zh-CN" sz="1600" dirty="0">
                  <a:solidFill>
                    <a:srgbClr val="5F5F5F"/>
                  </a:solidFill>
                  <a:ea typeface="微软雅黑" panose="020B0503020204020204" pitchFamily="34" charset="-122"/>
                </a:rPr>
                <a:t>。</a:t>
              </a:r>
              <a:endParaRPr lang="en-US" altLang="zh-CN" sz="1600" dirty="0">
                <a:solidFill>
                  <a:srgbClr val="5F5F5F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矩形 1"/>
          <p:cNvSpPr>
            <a:spLocks noChangeArrowheads="1"/>
          </p:cNvSpPr>
          <p:nvPr/>
        </p:nvSpPr>
        <p:spPr bwMode="auto">
          <a:xfrm>
            <a:off x="5390222" y="3834021"/>
            <a:ext cx="13462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solidFill>
                  <a:srgbClr val="FFFFFF"/>
                </a:solidFill>
              </a:rPr>
              <a:t>action</a:t>
            </a:r>
            <a:endParaRPr lang="en-US" altLang="zh-CN" sz="2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矩形 19"/>
          <p:cNvSpPr>
            <a:spLocks noChangeArrowheads="1"/>
          </p:cNvSpPr>
          <p:nvPr/>
        </p:nvSpPr>
        <p:spPr bwMode="auto">
          <a:xfrm>
            <a:off x="6107772" y="5107196"/>
            <a:ext cx="14700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solidFill>
                  <a:srgbClr val="FFFFFF"/>
                </a:solidFill>
              </a:rPr>
              <a:t>method</a:t>
            </a:r>
            <a:endParaRPr lang="en-US" altLang="zh-CN" sz="2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矩形 20"/>
          <p:cNvSpPr>
            <a:spLocks noChangeArrowheads="1"/>
          </p:cNvSpPr>
          <p:nvPr/>
        </p:nvSpPr>
        <p:spPr bwMode="auto">
          <a:xfrm>
            <a:off x="4647272" y="5099258"/>
            <a:ext cx="14303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>
                <a:solidFill>
                  <a:srgbClr val="FFFFFF"/>
                </a:solidFill>
              </a:rPr>
              <a:t>name</a:t>
            </a:r>
            <a:endParaRPr lang="en-US" altLang="zh-CN" sz="2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42" name="组合 41"/>
          <p:cNvGrpSpPr>
            <a:grpSpLocks/>
          </p:cNvGrpSpPr>
          <p:nvPr/>
        </p:nvGrpSpPr>
        <p:grpSpPr bwMode="auto">
          <a:xfrm>
            <a:off x="1859622" y="4397583"/>
            <a:ext cx="2994025" cy="1336675"/>
            <a:chOff x="588963" y="4171950"/>
            <a:chExt cx="2994025" cy="1336675"/>
          </a:xfrm>
        </p:grpSpPr>
        <p:sp>
          <p:nvSpPr>
            <p:cNvPr id="43" name="矩形 42"/>
            <p:cNvSpPr/>
            <p:nvPr/>
          </p:nvSpPr>
          <p:spPr bwMode="auto">
            <a:xfrm>
              <a:off x="2524125" y="4264025"/>
              <a:ext cx="57150" cy="1133475"/>
            </a:xfrm>
            <a:prstGeom prst="rect">
              <a:avLst/>
            </a:prstGeom>
            <a:solidFill>
              <a:srgbClr val="005D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4" name="TextBox 59"/>
            <p:cNvSpPr txBox="1">
              <a:spLocks noChangeArrowheads="1"/>
            </p:cNvSpPr>
            <p:nvPr/>
          </p:nvSpPr>
          <p:spPr bwMode="auto">
            <a:xfrm>
              <a:off x="588963" y="4171950"/>
              <a:ext cx="1922462" cy="1336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 sz="1600" dirty="0">
                  <a:solidFill>
                    <a:srgbClr val="5F5F5F"/>
                  </a:solidFill>
                  <a:ea typeface="微软雅黑" panose="020B0503020204020204" pitchFamily="34" charset="-122"/>
                </a:rPr>
                <a:t>name</a:t>
              </a:r>
              <a:r>
                <a:rPr lang="zh-CN" altLang="zh-CN" sz="1600" dirty="0">
                  <a:solidFill>
                    <a:srgbClr val="5F5F5F"/>
                  </a:solidFill>
                  <a:ea typeface="微软雅黑" panose="020B0503020204020204" pitchFamily="34" charset="-122"/>
                </a:rPr>
                <a:t>属性用于指定表单的名称，以区分同一个页面中的多个表单。</a:t>
              </a:r>
              <a:endParaRPr lang="en-US" altLang="zh-CN" sz="1600" dirty="0">
                <a:solidFill>
                  <a:srgbClr val="5F5F5F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45" name="任意多边形 44"/>
            <p:cNvSpPr/>
            <p:nvPr/>
          </p:nvSpPr>
          <p:spPr bwMode="auto">
            <a:xfrm>
              <a:off x="2711450" y="4602163"/>
              <a:ext cx="871538" cy="187325"/>
            </a:xfrm>
            <a:custGeom>
              <a:avLst/>
              <a:gdLst>
                <a:gd name="connsiteX0" fmla="*/ 368135 w 368135"/>
                <a:gd name="connsiteY0" fmla="*/ 1199408 h 1199408"/>
                <a:gd name="connsiteX1" fmla="*/ 368135 w 368135"/>
                <a:gd name="connsiteY1" fmla="*/ 0 h 1199408"/>
                <a:gd name="connsiteX2" fmla="*/ 0 w 368135"/>
                <a:gd name="connsiteY2" fmla="*/ 0 h 1199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8135" h="1199408">
                  <a:moveTo>
                    <a:pt x="368135" y="1199408"/>
                  </a:moveTo>
                  <a:lnTo>
                    <a:pt x="368135" y="0"/>
                  </a:lnTo>
                  <a:lnTo>
                    <a:pt x="0" y="0"/>
                  </a:lnTo>
                </a:path>
              </a:pathLst>
            </a:custGeom>
            <a:ln w="6350">
              <a:solidFill>
                <a:srgbClr val="006A96"/>
              </a:solidFill>
              <a:prstDash val="sysDot"/>
              <a:headEnd type="oval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4263291" y="1770617"/>
            <a:ext cx="4183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表单标签</a:t>
            </a:r>
            <a:r>
              <a:rPr lang="en-US" altLang="zh-CN" b="1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&lt;form&gt;</a:t>
            </a:r>
            <a:r>
              <a:rPr lang="zh-CN" altLang="zh-CN" b="1" kern="1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的常用属性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3210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30845"/>
            <a:ext cx="7957137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6-4】</a:t>
            </a:r>
            <a:r>
              <a:rPr lang="zh-CN" altLang="en-US" sz="4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基础</a:t>
            </a:r>
            <a:r>
              <a:rPr lang="zh-CN" altLang="en-US" sz="4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表单控件</a:t>
            </a:r>
            <a:endParaRPr lang="en-GB" altLang="zh-CN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1290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33656" y="2652118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基础表单控件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是指网页设计中经常用到的表单控件，是表单的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核心部分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。只有掌握了这些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基础表单控件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的使用方法，才能创建功能多样的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。本节将对这些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基础表单控件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进行详细的讲解。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83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input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控件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的用法，能够在网页中设置不同类型的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input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控件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1427065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761722" y="3352800"/>
            <a:ext cx="33766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虚尾箭头 28"/>
          <p:cNvSpPr>
            <a:spLocks noChangeArrowheads="1"/>
          </p:cNvSpPr>
          <p:nvPr/>
        </p:nvSpPr>
        <p:spPr bwMode="auto">
          <a:xfrm rot="5400000">
            <a:off x="5901547" y="4811713"/>
            <a:ext cx="454025" cy="41275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6693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1786" y="0"/>
                </a:moveTo>
                <a:lnTo>
                  <a:pt x="11786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1786" y="16200"/>
                </a:lnTo>
                <a:lnTo>
                  <a:pt x="11786" y="21600"/>
                </a:lnTo>
                <a:lnTo>
                  <a:pt x="21600" y="10800"/>
                </a:lnTo>
                <a:lnTo>
                  <a:pt x="11786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1369B2"/>
          </a:solidFill>
          <a:ln w="19050" cap="flat" cmpd="sng">
            <a:noFill/>
            <a:miter lim="800000"/>
            <a:headEnd/>
            <a:tailEnd/>
          </a:ln>
          <a:effectLst/>
        </p:spPr>
        <p:txBody>
          <a:bodyPr lIns="90170" tIns="46990" rIns="90170" bIns="46990" anchor="ctr"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4824867" y="5503862"/>
            <a:ext cx="3001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>
            <a:grpSpLocks/>
          </p:cNvGrpSpPr>
          <p:nvPr/>
        </p:nvGrpSpPr>
        <p:grpSpPr bwMode="auto">
          <a:xfrm>
            <a:off x="1595892" y="5389562"/>
            <a:ext cx="8958262" cy="576263"/>
            <a:chOff x="4763" y="4781550"/>
            <a:chExt cx="9164638" cy="576263"/>
          </a:xfrm>
        </p:grpSpPr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4763" y="4781550"/>
              <a:ext cx="9164638" cy="5762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1" hangingPunct="1">
                <a:buFont typeface="Arial" panose="020B0604020202020204" pitchFamily="34" charset="0"/>
                <a:buNone/>
                <a:defRPr/>
              </a:pPr>
              <a:endParaRPr lang="zh-CN" altLang="zh-CN">
                <a:solidFill>
                  <a:srgbClr val="FFFF00"/>
                </a:solidFill>
              </a:endParaRP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2991443" y="4814888"/>
              <a:ext cx="349502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你还了解表单控件？</a:t>
              </a:r>
            </a:p>
          </p:txBody>
        </p:sp>
      </p:grpSp>
      <p:sp>
        <p:nvSpPr>
          <p:cNvPr id="18" name="TextBox 2"/>
          <p:cNvSpPr txBox="1">
            <a:spLocks noChangeArrowheads="1"/>
          </p:cNvSpPr>
          <p:nvPr/>
        </p:nvSpPr>
        <p:spPr bwMode="auto">
          <a:xfrm>
            <a:off x="4553419" y="3754062"/>
            <a:ext cx="3150279" cy="89255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2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控件常用在登录和注册模块</a:t>
            </a:r>
          </a:p>
        </p:txBody>
      </p: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5335" y="2219325"/>
            <a:ext cx="2047875" cy="1500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3747" y="2273300"/>
            <a:ext cx="1949450" cy="144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972" y="1701800"/>
            <a:ext cx="2378075" cy="153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05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sp>
        <p:nvSpPr>
          <p:cNvPr id="16" name="圆角矩形 15"/>
          <p:cNvSpPr/>
          <p:nvPr/>
        </p:nvSpPr>
        <p:spPr>
          <a:xfrm>
            <a:off x="1019175" y="1604798"/>
            <a:ext cx="10440988" cy="1126527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2" name="TextBox 38"/>
          <p:cNvSpPr txBox="1"/>
          <p:nvPr/>
        </p:nvSpPr>
        <p:spPr>
          <a:xfrm>
            <a:off x="1471674" y="1845965"/>
            <a:ext cx="9482075" cy="63055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浏览网页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时经常会看到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单行文本输入框</a:t>
            </a: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单选按钮</a:t>
            </a: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复选框</a:t>
            </a: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提交按钮</a:t>
            </a:r>
            <a:r>
              <a:rPr lang="zh-CN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重置按钮</a:t>
            </a:r>
            <a:r>
              <a:rPr lang="zh-CN" altLang="zh-CN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等，要想定义这些元素就需要使用</a:t>
            </a:r>
            <a:r>
              <a:rPr lang="en-US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zh-CN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r>
              <a:rPr lang="zh-CN" altLang="en-US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3" name="矩形 93"/>
          <p:cNvSpPr/>
          <p:nvPr/>
        </p:nvSpPr>
        <p:spPr>
          <a:xfrm>
            <a:off x="1024831" y="1604797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4" name="矩形 93"/>
          <p:cNvSpPr/>
          <p:nvPr/>
        </p:nvSpPr>
        <p:spPr>
          <a:xfrm rot="10800000">
            <a:off x="11076120" y="2347282"/>
            <a:ext cx="384043" cy="384043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25" name="Text Box 8"/>
          <p:cNvSpPr txBox="1">
            <a:spLocks noChangeArrowheads="1"/>
          </p:cNvSpPr>
          <p:nvPr/>
        </p:nvSpPr>
        <p:spPr bwMode="auto">
          <a:xfrm>
            <a:off x="1019175" y="3563042"/>
            <a:ext cx="10440987" cy="739775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&lt;input type="</a:t>
            </a:r>
            <a:r>
              <a:rPr lang="zh-CN" altLang="zh-CN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控件类型</a:t>
            </a:r>
            <a:r>
              <a:rPr lang="en-US" altLang="zh-CN" sz="28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"/&gt;</a:t>
            </a:r>
            <a:endParaRPr lang="en-US" altLang="zh-CN" sz="28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105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095018"/>
              </p:ext>
            </p:extLst>
          </p:nvPr>
        </p:nvGraphicFramePr>
        <p:xfrm>
          <a:off x="1019175" y="1627152"/>
          <a:ext cx="10440988" cy="4808403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397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68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76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6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693">
                <a:tc rowSpan="10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type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text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单行文本输入框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22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password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密码输入框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27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radio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单选按钮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75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checkbox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复选框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80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button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普通按钮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84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submit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提交按钮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384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reset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重置按钮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03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image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图像形式的提交按钮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0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hidden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隐藏域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109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file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文件域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5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name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由用户自定义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控件的名称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980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value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由用户自定义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input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控件中的默认文本值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861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正整数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input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控件在页面中的显示宽度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503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readonly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readonly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该控件内容为只读（不能编辑修改）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36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disabled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disabled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第一次加载页面时禁用该控件（显示为灰色）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109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checked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checked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定义选择控件默认被选中的项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036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maxlength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正整数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控件允许输入的最多字符数</a:t>
                      </a:r>
                    </a:p>
                  </a:txBody>
                  <a:tcPr marL="68586" marR="6858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69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grpSp>
        <p:nvGrpSpPr>
          <p:cNvPr id="2" name="组合 1"/>
          <p:cNvGrpSpPr/>
          <p:nvPr/>
        </p:nvGrpSpPr>
        <p:grpSpPr>
          <a:xfrm>
            <a:off x="1019175" y="1604797"/>
            <a:ext cx="10440988" cy="768086"/>
            <a:chOff x="1019175" y="1604797"/>
            <a:chExt cx="10440988" cy="768086"/>
          </a:xfrm>
        </p:grpSpPr>
        <p:sp>
          <p:nvSpPr>
            <p:cNvPr id="6" name="圆角矩形 5"/>
            <p:cNvSpPr/>
            <p:nvPr/>
          </p:nvSpPr>
          <p:spPr>
            <a:xfrm>
              <a:off x="1019175" y="1604798"/>
              <a:ext cx="10440988" cy="74248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" name="TextBox 38"/>
            <p:cNvSpPr txBox="1"/>
            <p:nvPr/>
          </p:nvSpPr>
          <p:spPr>
            <a:xfrm>
              <a:off x="1471674" y="1845965"/>
              <a:ext cx="9482075" cy="2981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&lt;input&gt;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拥有多个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type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属性值，用于定义不同的控件类型。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" name="矩形 93"/>
            <p:cNvSpPr/>
            <p:nvPr/>
          </p:nvSpPr>
          <p:spPr>
            <a:xfrm rot="10800000">
              <a:off x="11076120" y="198884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0" name="组合 55"/>
          <p:cNvGrpSpPr>
            <a:grpSpLocks/>
          </p:cNvGrpSpPr>
          <p:nvPr/>
        </p:nvGrpSpPr>
        <p:grpSpPr bwMode="auto">
          <a:xfrm>
            <a:off x="2786062" y="2831096"/>
            <a:ext cx="6157912" cy="3006725"/>
            <a:chOff x="1143000" y="2996175"/>
            <a:chExt cx="6157706" cy="3006955"/>
          </a:xfrm>
        </p:grpSpPr>
        <p:grpSp>
          <p:nvGrpSpPr>
            <p:cNvPr id="11" name="组合 5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447803" y="2996175"/>
              <a:chExt cx="6157706" cy="3006955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7461052" y="3318462"/>
                <a:ext cx="144457" cy="2684668"/>
              </a:xfrm>
              <a:prstGeom prst="rect">
                <a:avLst/>
              </a:prstGeom>
              <a:solidFill>
                <a:srgbClr val="1369B2"/>
              </a:solidFill>
            </p:spPr>
            <p:style>
              <a:lnRef idx="0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5" name="图文框 14"/>
              <p:cNvSpPr/>
              <p:nvPr/>
            </p:nvSpPr>
            <p:spPr>
              <a:xfrm>
                <a:off x="1654171" y="3318462"/>
                <a:ext cx="3773361" cy="2684668"/>
              </a:xfrm>
              <a:prstGeom prst="frame">
                <a:avLst>
                  <a:gd name="adj1" fmla="val 5450"/>
                </a:avLst>
              </a:prstGeom>
              <a:solidFill>
                <a:srgbClr val="1369B2"/>
              </a:solidFill>
            </p:spPr>
            <p:style>
              <a:lnRef idx="0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6" name="矩形 15"/>
              <p:cNvSpPr/>
              <p:nvPr/>
            </p:nvSpPr>
            <p:spPr>
              <a:xfrm>
                <a:off x="1447803" y="2996175"/>
                <a:ext cx="3632078" cy="2241721"/>
              </a:xfrm>
              <a:prstGeom prst="rect">
                <a:avLst/>
              </a:prstGeom>
              <a:solidFill>
                <a:srgbClr val="1369B2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7" name="任意多边形 16"/>
              <p:cNvSpPr/>
              <p:nvPr/>
            </p:nvSpPr>
            <p:spPr>
              <a:xfrm>
                <a:off x="1773229" y="5207731"/>
                <a:ext cx="3479684" cy="719193"/>
              </a:xfrm>
              <a:custGeom>
                <a:avLst/>
                <a:gdLst>
                  <a:gd name="connsiteX0" fmla="*/ 0 w 3480816"/>
                  <a:gd name="connsiteY0" fmla="*/ 0 h 318737"/>
                  <a:gd name="connsiteX1" fmla="*/ 3480816 w 3480816"/>
                  <a:gd name="connsiteY1" fmla="*/ 0 h 318737"/>
                  <a:gd name="connsiteX2" fmla="*/ 3480816 w 3480816"/>
                  <a:gd name="connsiteY2" fmla="*/ 318737 h 318737"/>
                  <a:gd name="connsiteX3" fmla="*/ 0 w 3480816"/>
                  <a:gd name="connsiteY3" fmla="*/ 318737 h 318737"/>
                  <a:gd name="connsiteX4" fmla="*/ 0 w 3480816"/>
                  <a:gd name="connsiteY4" fmla="*/ 0 h 318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0816" h="318737">
                    <a:moveTo>
                      <a:pt x="0" y="0"/>
                    </a:moveTo>
                    <a:lnTo>
                      <a:pt x="3480816" y="0"/>
                    </a:lnTo>
                    <a:lnTo>
                      <a:pt x="3480816" y="318737"/>
                    </a:lnTo>
                    <a:lnTo>
                      <a:pt x="0" y="31873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42240" tIns="53340" rIns="142240" bIns="53340" spcCol="1270" anchor="ctr"/>
              <a:lstStyle/>
              <a:p>
                <a:pPr defTabSz="622300" eaLnBrk="0" hangingPunct="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单行文本输入框</a:t>
                </a:r>
                <a:endParaRPr lang="en-US" altLang="zh-CN" sz="16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defTabSz="622300" eaLnBrk="0" hangingPunct="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altLang="zh-CN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&lt;input type="text" /&gt;</a:t>
                </a:r>
                <a:endParaRPr lang="zh-CN" altLang="en-US" sz="16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任意多边形 17"/>
              <p:cNvSpPr/>
              <p:nvPr/>
            </p:nvSpPr>
            <p:spPr>
              <a:xfrm>
                <a:off x="5581515" y="3318462"/>
                <a:ext cx="1725554" cy="2684668"/>
              </a:xfrm>
              <a:custGeom>
                <a:avLst/>
                <a:gdLst>
                  <a:gd name="connsiteX0" fmla="*/ 0 w 1725168"/>
                  <a:gd name="connsiteY0" fmla="*/ 0 h 2685210"/>
                  <a:gd name="connsiteX1" fmla="*/ 1725168 w 1725168"/>
                  <a:gd name="connsiteY1" fmla="*/ 0 h 2685210"/>
                  <a:gd name="connsiteX2" fmla="*/ 1725168 w 1725168"/>
                  <a:gd name="connsiteY2" fmla="*/ 2685210 h 2685210"/>
                  <a:gd name="connsiteX3" fmla="*/ 0 w 1725168"/>
                  <a:gd name="connsiteY3" fmla="*/ 2685210 h 2685210"/>
                  <a:gd name="connsiteX4" fmla="*/ 0 w 1725168"/>
                  <a:gd name="connsiteY4" fmla="*/ 0 h 2685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5168" h="2685210">
                    <a:moveTo>
                      <a:pt x="0" y="0"/>
                    </a:moveTo>
                    <a:lnTo>
                      <a:pt x="1725168" y="0"/>
                    </a:lnTo>
                    <a:lnTo>
                      <a:pt x="1725168" y="2685210"/>
                    </a:lnTo>
                    <a:lnTo>
                      <a:pt x="0" y="268521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0" tIns="0" rIns="0" bIns="0" spcCol="1270"/>
              <a:lstStyle/>
              <a:p>
                <a:pPr defTabSz="622300" eaLnBrk="0" hangingPunct="0">
                  <a:lnSpc>
                    <a:spcPct val="150000"/>
                  </a:lnSpc>
                  <a:spcAft>
                    <a:spcPct val="35000"/>
                  </a:spcAft>
                  <a:defRPr/>
                </a:pPr>
                <a:r>
                  <a:rPr lang="zh-CN" sz="14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单行文本输入框常用来输入简短的信息，如用户名、账号、证件号码等，常用的属性有</a:t>
                </a:r>
                <a:r>
                  <a:rPr lang="en-US" sz="14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name</a:t>
                </a:r>
                <a:r>
                  <a:rPr lang="zh-CN" sz="14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sz="14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value</a:t>
                </a:r>
                <a:r>
                  <a:rPr lang="zh-CN" sz="14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sz="1400" dirty="0" err="1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maxlength</a:t>
                </a:r>
                <a:r>
                  <a:rPr lang="zh-CN" sz="14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zh-CN" altLang="en-US" sz="1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2" name="矩形 15"/>
            <p:cNvSpPr>
              <a:spLocks noChangeArrowheads="1"/>
            </p:cNvSpPr>
            <p:nvPr/>
          </p:nvSpPr>
          <p:spPr bwMode="auto">
            <a:xfrm>
              <a:off x="1462681" y="3149790"/>
              <a:ext cx="3078010" cy="12900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&lt;input type="text" value="</a:t>
              </a:r>
              <a:r>
                <a:rPr lang="zh-CN" altLang="zh-CN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张三</a:t>
              </a:r>
              <a:r>
                <a:rPr lang="en-US" altLang="zh-CN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" </a:t>
              </a:r>
              <a:r>
                <a:rPr lang="en-US" altLang="zh-CN" sz="18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maxlength</a:t>
              </a:r>
              <a:r>
                <a:rPr lang="en-US" altLang="zh-CN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="6" /&gt;</a:t>
              </a:r>
              <a:endPara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9684" y="4580180"/>
              <a:ext cx="2581275" cy="341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0294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grpSp>
        <p:nvGrpSpPr>
          <p:cNvPr id="19" name="组合 42"/>
          <p:cNvGrpSpPr>
            <a:grpSpLocks/>
          </p:cNvGrpSpPr>
          <p:nvPr/>
        </p:nvGrpSpPr>
        <p:grpSpPr bwMode="auto">
          <a:xfrm>
            <a:off x="2781300" y="2995613"/>
            <a:ext cx="6157913" cy="3006725"/>
            <a:chOff x="1143000" y="2996175"/>
            <a:chExt cx="6157706" cy="3006955"/>
          </a:xfrm>
        </p:grpSpPr>
        <p:grpSp>
          <p:nvGrpSpPr>
            <p:cNvPr id="20" name="组合 16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143000" y="2996175"/>
              <a:chExt cx="6157706" cy="3006955"/>
            </a:xfrm>
          </p:grpSpPr>
          <p:grpSp>
            <p:nvGrpSpPr>
              <p:cNvPr id="22" name="组合 5"/>
              <p:cNvGrpSpPr>
                <a:grpSpLocks/>
              </p:cNvGrpSpPr>
              <p:nvPr/>
            </p:nvGrpSpPr>
            <p:grpSpPr bwMode="auto">
              <a:xfrm>
                <a:off x="1143000" y="2996175"/>
                <a:ext cx="6157706" cy="3006955"/>
                <a:chOff x="1447803" y="2996175"/>
                <a:chExt cx="6157706" cy="3006955"/>
              </a:xfrm>
            </p:grpSpPr>
            <p:sp>
              <p:nvSpPr>
                <p:cNvPr id="24" name="矩形 23"/>
                <p:cNvSpPr/>
                <p:nvPr/>
              </p:nvSpPr>
              <p:spPr>
                <a:xfrm>
                  <a:off x="7461051" y="3318462"/>
                  <a:ext cx="144458" cy="2684668"/>
                </a:xfrm>
                <a:prstGeom prst="rect">
                  <a:avLst/>
                </a:prstGeom>
                <a:solidFill>
                  <a:srgbClr val="13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5" name="图文框 24"/>
                <p:cNvSpPr/>
                <p:nvPr/>
              </p:nvSpPr>
              <p:spPr>
                <a:xfrm>
                  <a:off x="1654171" y="3318462"/>
                  <a:ext cx="3773361" cy="2684668"/>
                </a:xfrm>
                <a:prstGeom prst="frame">
                  <a:avLst>
                    <a:gd name="adj1" fmla="val 5450"/>
                  </a:avLst>
                </a:prstGeom>
                <a:solidFill>
                  <a:srgbClr val="13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6" name="矩形 25"/>
                <p:cNvSpPr/>
                <p:nvPr/>
              </p:nvSpPr>
              <p:spPr>
                <a:xfrm>
                  <a:off x="1447803" y="2996175"/>
                  <a:ext cx="3632078" cy="2241721"/>
                </a:xfrm>
                <a:prstGeom prst="rect">
                  <a:avLst/>
                </a:prstGeom>
                <a:solidFill>
                  <a:srgbClr val="1369B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7" name="任意多边形 26"/>
                <p:cNvSpPr/>
                <p:nvPr/>
              </p:nvSpPr>
              <p:spPr>
                <a:xfrm>
                  <a:off x="1773230" y="5207731"/>
                  <a:ext cx="3479683" cy="719193"/>
                </a:xfrm>
                <a:custGeom>
                  <a:avLst/>
                  <a:gdLst>
                    <a:gd name="connsiteX0" fmla="*/ 0 w 3480816"/>
                    <a:gd name="connsiteY0" fmla="*/ 0 h 318737"/>
                    <a:gd name="connsiteX1" fmla="*/ 3480816 w 3480816"/>
                    <a:gd name="connsiteY1" fmla="*/ 0 h 318737"/>
                    <a:gd name="connsiteX2" fmla="*/ 3480816 w 3480816"/>
                    <a:gd name="connsiteY2" fmla="*/ 318737 h 318737"/>
                    <a:gd name="connsiteX3" fmla="*/ 0 w 3480816"/>
                    <a:gd name="connsiteY3" fmla="*/ 318737 h 318737"/>
                    <a:gd name="connsiteX4" fmla="*/ 0 w 3480816"/>
                    <a:gd name="connsiteY4" fmla="*/ 0 h 318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80816" h="318737">
                      <a:moveTo>
                        <a:pt x="0" y="0"/>
                      </a:moveTo>
                      <a:lnTo>
                        <a:pt x="3480816" y="0"/>
                      </a:lnTo>
                      <a:lnTo>
                        <a:pt x="3480816" y="318737"/>
                      </a:lnTo>
                      <a:lnTo>
                        <a:pt x="0" y="3187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142240" tIns="53340" rIns="142240" bIns="53340" spcCol="1270" anchor="ctr"/>
                <a:lstStyle/>
                <a:p>
                  <a:pPr defTabSz="62230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zh-CN" altLang="en-US" sz="1600" b="1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密码输入框</a:t>
                  </a:r>
                  <a:endParaRPr lang="en-US" altLang="zh-CN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defTabSz="62230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&lt;input type="password" /&gt;</a:t>
                  </a:r>
                  <a:endParaRPr lang="zh-CN" altLang="en-US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5581514" y="3318462"/>
                  <a:ext cx="1725555" cy="2684668"/>
                </a:xfrm>
                <a:custGeom>
                  <a:avLst/>
                  <a:gdLst>
                    <a:gd name="connsiteX0" fmla="*/ 0 w 1725168"/>
                    <a:gd name="connsiteY0" fmla="*/ 0 h 2685210"/>
                    <a:gd name="connsiteX1" fmla="*/ 1725168 w 1725168"/>
                    <a:gd name="connsiteY1" fmla="*/ 0 h 2685210"/>
                    <a:gd name="connsiteX2" fmla="*/ 1725168 w 1725168"/>
                    <a:gd name="connsiteY2" fmla="*/ 2685210 h 2685210"/>
                    <a:gd name="connsiteX3" fmla="*/ 0 w 1725168"/>
                    <a:gd name="connsiteY3" fmla="*/ 2685210 h 2685210"/>
                    <a:gd name="connsiteX4" fmla="*/ 0 w 1725168"/>
                    <a:gd name="connsiteY4" fmla="*/ 0 h 26852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5168" h="2685210">
                      <a:moveTo>
                        <a:pt x="0" y="0"/>
                      </a:moveTo>
                      <a:lnTo>
                        <a:pt x="1725168" y="0"/>
                      </a:lnTo>
                      <a:lnTo>
                        <a:pt x="1725168" y="2685210"/>
                      </a:lnTo>
                      <a:lnTo>
                        <a:pt x="0" y="26852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0" tIns="0" rIns="0" bIns="0" spcCol="1270"/>
                <a:lstStyle/>
                <a:p>
                  <a:pPr defTabSz="622300" eaLnBrk="0" hangingPunct="0">
                    <a:lnSpc>
                      <a:spcPct val="150000"/>
                    </a:lnSpc>
                    <a:spcAft>
                      <a:spcPct val="35000"/>
                    </a:spcAft>
                    <a:defRPr/>
                  </a:pP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密码输入框用来输入密码，其内容将以圆点的形式显示。</a:t>
                  </a:r>
                </a:p>
              </p:txBody>
            </p:sp>
          </p:grpSp>
          <p:sp>
            <p:nvSpPr>
              <p:cNvPr id="23" name="矩形 15"/>
              <p:cNvSpPr>
                <a:spLocks noChangeArrowheads="1"/>
              </p:cNvSpPr>
              <p:nvPr/>
            </p:nvSpPr>
            <p:spPr bwMode="auto">
              <a:xfrm>
                <a:off x="1462681" y="3217524"/>
                <a:ext cx="3078010" cy="8744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1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&lt;input type="password" size="40" /&gt;</a:t>
                </a:r>
                <a:endParaRPr lang="zh-CN" altLang="en-US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21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78971" y="4356631"/>
              <a:ext cx="2960119" cy="2819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" name="组合 28"/>
          <p:cNvGrpSpPr/>
          <p:nvPr/>
        </p:nvGrpSpPr>
        <p:grpSpPr>
          <a:xfrm>
            <a:off x="1019175" y="1604797"/>
            <a:ext cx="10440988" cy="768086"/>
            <a:chOff x="1019175" y="1604797"/>
            <a:chExt cx="10440988" cy="768086"/>
          </a:xfrm>
        </p:grpSpPr>
        <p:sp>
          <p:nvSpPr>
            <p:cNvPr id="30" name="圆角矩形 29"/>
            <p:cNvSpPr/>
            <p:nvPr/>
          </p:nvSpPr>
          <p:spPr>
            <a:xfrm>
              <a:off x="1019175" y="1604798"/>
              <a:ext cx="10440988" cy="74248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2" name="TextBox 38"/>
            <p:cNvSpPr txBox="1"/>
            <p:nvPr/>
          </p:nvSpPr>
          <p:spPr>
            <a:xfrm>
              <a:off x="1471674" y="1845965"/>
              <a:ext cx="9482075" cy="2981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&lt;input&gt;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拥有多个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type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属性值，用于定义不同的控件类型。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4" name="矩形 93"/>
            <p:cNvSpPr/>
            <p:nvPr/>
          </p:nvSpPr>
          <p:spPr>
            <a:xfrm rot="10800000">
              <a:off x="11076120" y="198884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6305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grpSp>
        <p:nvGrpSpPr>
          <p:cNvPr id="19" name="组合 42"/>
          <p:cNvGrpSpPr>
            <a:grpSpLocks/>
          </p:cNvGrpSpPr>
          <p:nvPr/>
        </p:nvGrpSpPr>
        <p:grpSpPr bwMode="auto">
          <a:xfrm>
            <a:off x="2781300" y="2995613"/>
            <a:ext cx="6157913" cy="3006725"/>
            <a:chOff x="1143000" y="2996175"/>
            <a:chExt cx="6157706" cy="3006955"/>
          </a:xfrm>
        </p:grpSpPr>
        <p:grpSp>
          <p:nvGrpSpPr>
            <p:cNvPr id="20" name="组合 16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143000" y="2996175"/>
              <a:chExt cx="6157706" cy="3006955"/>
            </a:xfrm>
          </p:grpSpPr>
          <p:grpSp>
            <p:nvGrpSpPr>
              <p:cNvPr id="22" name="组合 5"/>
              <p:cNvGrpSpPr>
                <a:grpSpLocks/>
              </p:cNvGrpSpPr>
              <p:nvPr/>
            </p:nvGrpSpPr>
            <p:grpSpPr bwMode="auto">
              <a:xfrm>
                <a:off x="1143000" y="2996175"/>
                <a:ext cx="6157706" cy="3006955"/>
                <a:chOff x="1447803" y="2996175"/>
                <a:chExt cx="6157706" cy="3006955"/>
              </a:xfrm>
            </p:grpSpPr>
            <p:sp>
              <p:nvSpPr>
                <p:cNvPr id="24" name="矩形 23"/>
                <p:cNvSpPr/>
                <p:nvPr/>
              </p:nvSpPr>
              <p:spPr>
                <a:xfrm>
                  <a:off x="7461051" y="3318462"/>
                  <a:ext cx="144458" cy="2684668"/>
                </a:xfrm>
                <a:prstGeom prst="rect">
                  <a:avLst/>
                </a:prstGeom>
                <a:solidFill>
                  <a:srgbClr val="13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5" name="图文框 24"/>
                <p:cNvSpPr/>
                <p:nvPr/>
              </p:nvSpPr>
              <p:spPr>
                <a:xfrm>
                  <a:off x="1654171" y="3318462"/>
                  <a:ext cx="3773361" cy="2684668"/>
                </a:xfrm>
                <a:prstGeom prst="frame">
                  <a:avLst>
                    <a:gd name="adj1" fmla="val 5450"/>
                  </a:avLst>
                </a:prstGeom>
                <a:solidFill>
                  <a:srgbClr val="13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6" name="矩形 25"/>
                <p:cNvSpPr/>
                <p:nvPr/>
              </p:nvSpPr>
              <p:spPr>
                <a:xfrm>
                  <a:off x="1447803" y="2996175"/>
                  <a:ext cx="3632078" cy="2241721"/>
                </a:xfrm>
                <a:prstGeom prst="rect">
                  <a:avLst/>
                </a:prstGeom>
                <a:solidFill>
                  <a:srgbClr val="1369B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7" name="任意多边形 26"/>
                <p:cNvSpPr/>
                <p:nvPr/>
              </p:nvSpPr>
              <p:spPr>
                <a:xfrm>
                  <a:off x="1773230" y="5207731"/>
                  <a:ext cx="3479683" cy="719193"/>
                </a:xfrm>
                <a:custGeom>
                  <a:avLst/>
                  <a:gdLst>
                    <a:gd name="connsiteX0" fmla="*/ 0 w 3480816"/>
                    <a:gd name="connsiteY0" fmla="*/ 0 h 318737"/>
                    <a:gd name="connsiteX1" fmla="*/ 3480816 w 3480816"/>
                    <a:gd name="connsiteY1" fmla="*/ 0 h 318737"/>
                    <a:gd name="connsiteX2" fmla="*/ 3480816 w 3480816"/>
                    <a:gd name="connsiteY2" fmla="*/ 318737 h 318737"/>
                    <a:gd name="connsiteX3" fmla="*/ 0 w 3480816"/>
                    <a:gd name="connsiteY3" fmla="*/ 318737 h 318737"/>
                    <a:gd name="connsiteX4" fmla="*/ 0 w 3480816"/>
                    <a:gd name="connsiteY4" fmla="*/ 0 h 318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80816" h="318737">
                      <a:moveTo>
                        <a:pt x="0" y="0"/>
                      </a:moveTo>
                      <a:lnTo>
                        <a:pt x="3480816" y="0"/>
                      </a:lnTo>
                      <a:lnTo>
                        <a:pt x="3480816" y="318737"/>
                      </a:lnTo>
                      <a:lnTo>
                        <a:pt x="0" y="3187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142240" tIns="53340" rIns="142240" bIns="53340" spcCol="1270" anchor="ctr"/>
                <a:lstStyle/>
                <a:p>
                  <a:pPr defTabSz="62230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zh-CN" altLang="en-US" sz="1600" b="1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单选按钮</a:t>
                  </a:r>
                  <a:endParaRPr lang="en-US" altLang="zh-CN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defTabSz="62230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&lt;input type="radio" /&gt;</a:t>
                  </a:r>
                  <a:endParaRPr lang="zh-CN" altLang="en-US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5614851" y="3318462"/>
                  <a:ext cx="1725554" cy="2684668"/>
                </a:xfrm>
                <a:custGeom>
                  <a:avLst/>
                  <a:gdLst>
                    <a:gd name="connsiteX0" fmla="*/ 0 w 1725168"/>
                    <a:gd name="connsiteY0" fmla="*/ 0 h 2685210"/>
                    <a:gd name="connsiteX1" fmla="*/ 1725168 w 1725168"/>
                    <a:gd name="connsiteY1" fmla="*/ 0 h 2685210"/>
                    <a:gd name="connsiteX2" fmla="*/ 1725168 w 1725168"/>
                    <a:gd name="connsiteY2" fmla="*/ 2685210 h 2685210"/>
                    <a:gd name="connsiteX3" fmla="*/ 0 w 1725168"/>
                    <a:gd name="connsiteY3" fmla="*/ 2685210 h 2685210"/>
                    <a:gd name="connsiteX4" fmla="*/ 0 w 1725168"/>
                    <a:gd name="connsiteY4" fmla="*/ 0 h 26852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5168" h="2685210">
                      <a:moveTo>
                        <a:pt x="0" y="0"/>
                      </a:moveTo>
                      <a:lnTo>
                        <a:pt x="1725168" y="0"/>
                      </a:lnTo>
                      <a:lnTo>
                        <a:pt x="1725168" y="2685210"/>
                      </a:lnTo>
                      <a:lnTo>
                        <a:pt x="0" y="26852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0" tIns="0" rIns="0" bIns="0" spcCol="1270"/>
                <a:lstStyle/>
                <a:p>
                  <a:pPr defTabSz="622300" eaLnBrk="0" hangingPunct="0">
                    <a:lnSpc>
                      <a:spcPct val="150000"/>
                    </a:lnSpc>
                    <a:spcAft>
                      <a:spcPct val="35000"/>
                    </a:spcAft>
                    <a:defRPr/>
                  </a:pP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单选按钮用于单项选择，如选择性别、是否操作等。</a:t>
                  </a:r>
                </a:p>
              </p:txBody>
            </p:sp>
          </p:grpSp>
          <p:sp>
            <p:nvSpPr>
              <p:cNvPr id="23" name="矩形 15"/>
              <p:cNvSpPr>
                <a:spLocks noChangeArrowheads="1"/>
              </p:cNvSpPr>
              <p:nvPr/>
            </p:nvSpPr>
            <p:spPr bwMode="auto">
              <a:xfrm>
                <a:off x="1462681" y="3217524"/>
                <a:ext cx="3078010" cy="1290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1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&lt;input type="radio" name="sex" checked="checked" /&gt;</a:t>
                </a:r>
                <a:r>
                  <a:rPr lang="zh-CN" altLang="en-US" sz="1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男</a:t>
                </a:r>
              </a:p>
            </p:txBody>
          </p:sp>
        </p:grpSp>
        <p:pic>
          <p:nvPicPr>
            <p:cNvPr id="21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0572" y="4660525"/>
              <a:ext cx="931863" cy="29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" name="组合 28"/>
          <p:cNvGrpSpPr/>
          <p:nvPr/>
        </p:nvGrpSpPr>
        <p:grpSpPr>
          <a:xfrm>
            <a:off x="1019175" y="1604797"/>
            <a:ext cx="10440988" cy="768086"/>
            <a:chOff x="1019175" y="1604797"/>
            <a:chExt cx="10440988" cy="768086"/>
          </a:xfrm>
        </p:grpSpPr>
        <p:sp>
          <p:nvSpPr>
            <p:cNvPr id="30" name="圆角矩形 29"/>
            <p:cNvSpPr/>
            <p:nvPr/>
          </p:nvSpPr>
          <p:spPr>
            <a:xfrm>
              <a:off x="1019175" y="1604798"/>
              <a:ext cx="10440988" cy="74248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2" name="TextBox 38"/>
            <p:cNvSpPr txBox="1"/>
            <p:nvPr/>
          </p:nvSpPr>
          <p:spPr>
            <a:xfrm>
              <a:off x="1471674" y="1845965"/>
              <a:ext cx="9482075" cy="2981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&lt;input&gt;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拥有多个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type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属性值，用于定义不同的控件类型。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4" name="矩形 93"/>
            <p:cNvSpPr/>
            <p:nvPr/>
          </p:nvSpPr>
          <p:spPr>
            <a:xfrm rot="10800000">
              <a:off x="11076120" y="198884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5344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grpSp>
        <p:nvGrpSpPr>
          <p:cNvPr id="19" name="组合 42"/>
          <p:cNvGrpSpPr>
            <a:grpSpLocks/>
          </p:cNvGrpSpPr>
          <p:nvPr/>
        </p:nvGrpSpPr>
        <p:grpSpPr bwMode="auto">
          <a:xfrm>
            <a:off x="2781300" y="2995613"/>
            <a:ext cx="6157913" cy="3006725"/>
            <a:chOff x="1143000" y="2996175"/>
            <a:chExt cx="6157706" cy="3006955"/>
          </a:xfrm>
        </p:grpSpPr>
        <p:grpSp>
          <p:nvGrpSpPr>
            <p:cNvPr id="20" name="组合 16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143000" y="2996175"/>
              <a:chExt cx="6157706" cy="3006955"/>
            </a:xfrm>
          </p:grpSpPr>
          <p:grpSp>
            <p:nvGrpSpPr>
              <p:cNvPr id="22" name="组合 5"/>
              <p:cNvGrpSpPr>
                <a:grpSpLocks/>
              </p:cNvGrpSpPr>
              <p:nvPr/>
            </p:nvGrpSpPr>
            <p:grpSpPr bwMode="auto">
              <a:xfrm>
                <a:off x="1143000" y="2996175"/>
                <a:ext cx="6157706" cy="3006955"/>
                <a:chOff x="1447803" y="2996175"/>
                <a:chExt cx="6157706" cy="3006955"/>
              </a:xfrm>
            </p:grpSpPr>
            <p:sp>
              <p:nvSpPr>
                <p:cNvPr id="24" name="矩形 23"/>
                <p:cNvSpPr/>
                <p:nvPr/>
              </p:nvSpPr>
              <p:spPr>
                <a:xfrm>
                  <a:off x="7461051" y="3318462"/>
                  <a:ext cx="144458" cy="2684668"/>
                </a:xfrm>
                <a:prstGeom prst="rect">
                  <a:avLst/>
                </a:prstGeom>
                <a:solidFill>
                  <a:srgbClr val="13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5" name="图文框 24"/>
                <p:cNvSpPr/>
                <p:nvPr/>
              </p:nvSpPr>
              <p:spPr>
                <a:xfrm>
                  <a:off x="1654171" y="3318462"/>
                  <a:ext cx="3773361" cy="2684668"/>
                </a:xfrm>
                <a:prstGeom prst="frame">
                  <a:avLst>
                    <a:gd name="adj1" fmla="val 5450"/>
                  </a:avLst>
                </a:prstGeom>
                <a:solidFill>
                  <a:srgbClr val="13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6" name="矩形 25"/>
                <p:cNvSpPr/>
                <p:nvPr/>
              </p:nvSpPr>
              <p:spPr>
                <a:xfrm>
                  <a:off x="1447803" y="2996175"/>
                  <a:ext cx="3632078" cy="2241721"/>
                </a:xfrm>
                <a:prstGeom prst="rect">
                  <a:avLst/>
                </a:prstGeom>
                <a:solidFill>
                  <a:srgbClr val="1369B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7" name="任意多边形 26"/>
                <p:cNvSpPr/>
                <p:nvPr/>
              </p:nvSpPr>
              <p:spPr>
                <a:xfrm>
                  <a:off x="1773230" y="5207731"/>
                  <a:ext cx="3479683" cy="719193"/>
                </a:xfrm>
                <a:custGeom>
                  <a:avLst/>
                  <a:gdLst>
                    <a:gd name="connsiteX0" fmla="*/ 0 w 3480816"/>
                    <a:gd name="connsiteY0" fmla="*/ 0 h 318737"/>
                    <a:gd name="connsiteX1" fmla="*/ 3480816 w 3480816"/>
                    <a:gd name="connsiteY1" fmla="*/ 0 h 318737"/>
                    <a:gd name="connsiteX2" fmla="*/ 3480816 w 3480816"/>
                    <a:gd name="connsiteY2" fmla="*/ 318737 h 318737"/>
                    <a:gd name="connsiteX3" fmla="*/ 0 w 3480816"/>
                    <a:gd name="connsiteY3" fmla="*/ 318737 h 318737"/>
                    <a:gd name="connsiteX4" fmla="*/ 0 w 3480816"/>
                    <a:gd name="connsiteY4" fmla="*/ 0 h 318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80816" h="318737">
                      <a:moveTo>
                        <a:pt x="0" y="0"/>
                      </a:moveTo>
                      <a:lnTo>
                        <a:pt x="3480816" y="0"/>
                      </a:lnTo>
                      <a:lnTo>
                        <a:pt x="3480816" y="318737"/>
                      </a:lnTo>
                      <a:lnTo>
                        <a:pt x="0" y="3187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142240" tIns="53340" rIns="142240" bIns="53340" spcCol="1270" anchor="ctr"/>
                <a:lstStyle/>
                <a:p>
                  <a:pPr defTabSz="62230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zh-CN" altLang="en-US" sz="1600" b="1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复选框</a:t>
                  </a:r>
                  <a:endParaRPr lang="en-US" altLang="zh-CN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defTabSz="62230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&lt;input type="checkbox" /&gt;</a:t>
                  </a:r>
                  <a:endParaRPr lang="zh-CN" altLang="en-US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5614851" y="3318462"/>
                  <a:ext cx="1725554" cy="2684668"/>
                </a:xfrm>
                <a:custGeom>
                  <a:avLst/>
                  <a:gdLst>
                    <a:gd name="connsiteX0" fmla="*/ 0 w 1725168"/>
                    <a:gd name="connsiteY0" fmla="*/ 0 h 2685210"/>
                    <a:gd name="connsiteX1" fmla="*/ 1725168 w 1725168"/>
                    <a:gd name="connsiteY1" fmla="*/ 0 h 2685210"/>
                    <a:gd name="connsiteX2" fmla="*/ 1725168 w 1725168"/>
                    <a:gd name="connsiteY2" fmla="*/ 2685210 h 2685210"/>
                    <a:gd name="connsiteX3" fmla="*/ 0 w 1725168"/>
                    <a:gd name="connsiteY3" fmla="*/ 2685210 h 2685210"/>
                    <a:gd name="connsiteX4" fmla="*/ 0 w 1725168"/>
                    <a:gd name="connsiteY4" fmla="*/ 0 h 26852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5168" h="2685210">
                      <a:moveTo>
                        <a:pt x="0" y="0"/>
                      </a:moveTo>
                      <a:lnTo>
                        <a:pt x="1725168" y="0"/>
                      </a:lnTo>
                      <a:lnTo>
                        <a:pt x="1725168" y="2685210"/>
                      </a:lnTo>
                      <a:lnTo>
                        <a:pt x="0" y="26852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0" tIns="0" rIns="0" bIns="0" spcCol="1270"/>
                <a:lstStyle/>
                <a:p>
                  <a:pPr defTabSz="622300" eaLnBrk="0" hangingPunct="0">
                    <a:lnSpc>
                      <a:spcPct val="150000"/>
                    </a:lnSpc>
                    <a:spcAft>
                      <a:spcPct val="35000"/>
                    </a:spcAft>
                    <a:defRPr/>
                  </a:pP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复选框常用于多项选择，如选择兴趣、爱好等，可对其应用</a:t>
                  </a: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checked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属性，指定默认选中项。</a:t>
                  </a:r>
                </a:p>
              </p:txBody>
            </p:sp>
          </p:grpSp>
          <p:sp>
            <p:nvSpPr>
              <p:cNvPr id="23" name="矩形 15"/>
              <p:cNvSpPr>
                <a:spLocks noChangeArrowheads="1"/>
              </p:cNvSpPr>
              <p:nvPr/>
            </p:nvSpPr>
            <p:spPr bwMode="auto">
              <a:xfrm>
                <a:off x="1462681" y="3217524"/>
                <a:ext cx="3078010" cy="8744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18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&lt;input type="checkbox" /&gt;</a:t>
                </a:r>
                <a:r>
                  <a:rPr lang="zh-CN" altLang="en-US" sz="1800" b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唱歌</a:t>
                </a:r>
              </a:p>
            </p:txBody>
          </p:sp>
        </p:grpSp>
        <p:pic>
          <p:nvPicPr>
            <p:cNvPr id="21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3336" y="4278466"/>
              <a:ext cx="1093787" cy="314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" name="组合 28"/>
          <p:cNvGrpSpPr/>
          <p:nvPr/>
        </p:nvGrpSpPr>
        <p:grpSpPr>
          <a:xfrm>
            <a:off x="1019175" y="1604797"/>
            <a:ext cx="10440988" cy="768086"/>
            <a:chOff x="1019175" y="1604797"/>
            <a:chExt cx="10440988" cy="768086"/>
          </a:xfrm>
        </p:grpSpPr>
        <p:sp>
          <p:nvSpPr>
            <p:cNvPr id="30" name="圆角矩形 29"/>
            <p:cNvSpPr/>
            <p:nvPr/>
          </p:nvSpPr>
          <p:spPr>
            <a:xfrm>
              <a:off x="1019175" y="1604798"/>
              <a:ext cx="10440988" cy="74248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2" name="TextBox 38"/>
            <p:cNvSpPr txBox="1"/>
            <p:nvPr/>
          </p:nvSpPr>
          <p:spPr>
            <a:xfrm>
              <a:off x="1471674" y="1845965"/>
              <a:ext cx="9482075" cy="2981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&lt;input&gt;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拥有多个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type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属性值，用于定义不同的控件类型。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4" name="矩形 93"/>
            <p:cNvSpPr/>
            <p:nvPr/>
          </p:nvSpPr>
          <p:spPr>
            <a:xfrm rot="10800000">
              <a:off x="11076120" y="198884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269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grpSp>
        <p:nvGrpSpPr>
          <p:cNvPr id="19" name="组合 42"/>
          <p:cNvGrpSpPr>
            <a:grpSpLocks/>
          </p:cNvGrpSpPr>
          <p:nvPr/>
        </p:nvGrpSpPr>
        <p:grpSpPr bwMode="auto">
          <a:xfrm>
            <a:off x="2781300" y="2995613"/>
            <a:ext cx="6157913" cy="3006725"/>
            <a:chOff x="1143000" y="2996175"/>
            <a:chExt cx="6157706" cy="3006955"/>
          </a:xfrm>
        </p:grpSpPr>
        <p:grpSp>
          <p:nvGrpSpPr>
            <p:cNvPr id="20" name="组合 16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143000" y="2996175"/>
              <a:chExt cx="6157706" cy="3006955"/>
            </a:xfrm>
          </p:grpSpPr>
          <p:grpSp>
            <p:nvGrpSpPr>
              <p:cNvPr id="22" name="组合 5"/>
              <p:cNvGrpSpPr>
                <a:grpSpLocks/>
              </p:cNvGrpSpPr>
              <p:nvPr/>
            </p:nvGrpSpPr>
            <p:grpSpPr bwMode="auto">
              <a:xfrm>
                <a:off x="1143000" y="2996175"/>
                <a:ext cx="6157706" cy="3006955"/>
                <a:chOff x="1447803" y="2996175"/>
                <a:chExt cx="6157706" cy="3006955"/>
              </a:xfrm>
            </p:grpSpPr>
            <p:sp>
              <p:nvSpPr>
                <p:cNvPr id="24" name="矩形 23"/>
                <p:cNvSpPr/>
                <p:nvPr/>
              </p:nvSpPr>
              <p:spPr>
                <a:xfrm>
                  <a:off x="7461051" y="3318462"/>
                  <a:ext cx="144458" cy="2684668"/>
                </a:xfrm>
                <a:prstGeom prst="rect">
                  <a:avLst/>
                </a:prstGeom>
                <a:solidFill>
                  <a:srgbClr val="13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5" name="图文框 24"/>
                <p:cNvSpPr/>
                <p:nvPr/>
              </p:nvSpPr>
              <p:spPr>
                <a:xfrm>
                  <a:off x="1654171" y="3318462"/>
                  <a:ext cx="3773361" cy="2684668"/>
                </a:xfrm>
                <a:prstGeom prst="frame">
                  <a:avLst>
                    <a:gd name="adj1" fmla="val 5450"/>
                  </a:avLst>
                </a:prstGeom>
                <a:solidFill>
                  <a:srgbClr val="13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6" name="矩形 25"/>
                <p:cNvSpPr/>
                <p:nvPr/>
              </p:nvSpPr>
              <p:spPr>
                <a:xfrm>
                  <a:off x="1447803" y="2996175"/>
                  <a:ext cx="3632078" cy="2241721"/>
                </a:xfrm>
                <a:prstGeom prst="rect">
                  <a:avLst/>
                </a:prstGeom>
                <a:solidFill>
                  <a:srgbClr val="1369B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7" name="任意多边形 26"/>
                <p:cNvSpPr/>
                <p:nvPr/>
              </p:nvSpPr>
              <p:spPr>
                <a:xfrm>
                  <a:off x="1773230" y="5207731"/>
                  <a:ext cx="3479683" cy="719193"/>
                </a:xfrm>
                <a:custGeom>
                  <a:avLst/>
                  <a:gdLst>
                    <a:gd name="connsiteX0" fmla="*/ 0 w 3480816"/>
                    <a:gd name="connsiteY0" fmla="*/ 0 h 318737"/>
                    <a:gd name="connsiteX1" fmla="*/ 3480816 w 3480816"/>
                    <a:gd name="connsiteY1" fmla="*/ 0 h 318737"/>
                    <a:gd name="connsiteX2" fmla="*/ 3480816 w 3480816"/>
                    <a:gd name="connsiteY2" fmla="*/ 318737 h 318737"/>
                    <a:gd name="connsiteX3" fmla="*/ 0 w 3480816"/>
                    <a:gd name="connsiteY3" fmla="*/ 318737 h 318737"/>
                    <a:gd name="connsiteX4" fmla="*/ 0 w 3480816"/>
                    <a:gd name="connsiteY4" fmla="*/ 0 h 318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80816" h="318737">
                      <a:moveTo>
                        <a:pt x="0" y="0"/>
                      </a:moveTo>
                      <a:lnTo>
                        <a:pt x="3480816" y="0"/>
                      </a:lnTo>
                      <a:lnTo>
                        <a:pt x="3480816" y="318737"/>
                      </a:lnTo>
                      <a:lnTo>
                        <a:pt x="0" y="3187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142240" tIns="53340" rIns="142240" bIns="53340" spcCol="1270" anchor="ctr"/>
                <a:lstStyle/>
                <a:p>
                  <a:pPr defTabSz="62230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zh-CN" altLang="en-US" sz="1600" b="1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普通按钮</a:t>
                  </a:r>
                  <a:endParaRPr lang="en-US" altLang="zh-CN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defTabSz="62230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&lt;input type="button" /&gt;</a:t>
                  </a:r>
                  <a:endParaRPr lang="zh-CN" altLang="en-US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5614851" y="3318462"/>
                  <a:ext cx="1725554" cy="2684668"/>
                </a:xfrm>
                <a:custGeom>
                  <a:avLst/>
                  <a:gdLst>
                    <a:gd name="connsiteX0" fmla="*/ 0 w 1725168"/>
                    <a:gd name="connsiteY0" fmla="*/ 0 h 2685210"/>
                    <a:gd name="connsiteX1" fmla="*/ 1725168 w 1725168"/>
                    <a:gd name="connsiteY1" fmla="*/ 0 h 2685210"/>
                    <a:gd name="connsiteX2" fmla="*/ 1725168 w 1725168"/>
                    <a:gd name="connsiteY2" fmla="*/ 2685210 h 2685210"/>
                    <a:gd name="connsiteX3" fmla="*/ 0 w 1725168"/>
                    <a:gd name="connsiteY3" fmla="*/ 2685210 h 2685210"/>
                    <a:gd name="connsiteX4" fmla="*/ 0 w 1725168"/>
                    <a:gd name="connsiteY4" fmla="*/ 0 h 26852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5168" h="2685210">
                      <a:moveTo>
                        <a:pt x="0" y="0"/>
                      </a:moveTo>
                      <a:lnTo>
                        <a:pt x="1725168" y="0"/>
                      </a:lnTo>
                      <a:lnTo>
                        <a:pt x="1725168" y="2685210"/>
                      </a:lnTo>
                      <a:lnTo>
                        <a:pt x="0" y="26852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0" tIns="0" rIns="0" bIns="0" spcCol="1270"/>
                <a:lstStyle/>
                <a:p>
                  <a:pPr defTabSz="622300" eaLnBrk="0" hangingPunct="0">
                    <a:lnSpc>
                      <a:spcPct val="150000"/>
                    </a:lnSpc>
                    <a:spcAft>
                      <a:spcPct val="35000"/>
                    </a:spcAft>
                    <a:defRPr/>
                  </a:pP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普通按钮常常配合</a:t>
                  </a:r>
                  <a:r>
                    <a:rPr lang="en-US" altLang="zh-CN" sz="1400" dirty="0" err="1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javascript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脚本语言使用，读者了解即可。</a:t>
                  </a:r>
                </a:p>
              </p:txBody>
            </p:sp>
          </p:grpSp>
          <p:sp>
            <p:nvSpPr>
              <p:cNvPr id="23" name="矩形 15"/>
              <p:cNvSpPr>
                <a:spLocks noChangeArrowheads="1"/>
              </p:cNvSpPr>
              <p:nvPr/>
            </p:nvSpPr>
            <p:spPr bwMode="auto">
              <a:xfrm>
                <a:off x="1462681" y="3217524"/>
                <a:ext cx="3078010" cy="9613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&lt;input type="button" value="</a:t>
                </a: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普通按钮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" /&gt; 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21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15860" y="4271433"/>
              <a:ext cx="752475" cy="277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" name="组合 28"/>
          <p:cNvGrpSpPr/>
          <p:nvPr/>
        </p:nvGrpSpPr>
        <p:grpSpPr>
          <a:xfrm>
            <a:off x="1019175" y="1604797"/>
            <a:ext cx="10440988" cy="768086"/>
            <a:chOff x="1019175" y="1604797"/>
            <a:chExt cx="10440988" cy="768086"/>
          </a:xfrm>
        </p:grpSpPr>
        <p:sp>
          <p:nvSpPr>
            <p:cNvPr id="30" name="圆角矩形 29"/>
            <p:cNvSpPr/>
            <p:nvPr/>
          </p:nvSpPr>
          <p:spPr>
            <a:xfrm>
              <a:off x="1019175" y="1604798"/>
              <a:ext cx="10440988" cy="74248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2" name="TextBox 38"/>
            <p:cNvSpPr txBox="1"/>
            <p:nvPr/>
          </p:nvSpPr>
          <p:spPr>
            <a:xfrm>
              <a:off x="1471674" y="1845965"/>
              <a:ext cx="9482075" cy="2981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&lt;input&gt;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拥有多个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type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属性值，用于定义不同的控件类型。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4" name="矩形 93"/>
            <p:cNvSpPr/>
            <p:nvPr/>
          </p:nvSpPr>
          <p:spPr>
            <a:xfrm rot="10800000">
              <a:off x="11076120" y="198884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069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grpSp>
        <p:nvGrpSpPr>
          <p:cNvPr id="19" name="组合 42"/>
          <p:cNvGrpSpPr>
            <a:grpSpLocks/>
          </p:cNvGrpSpPr>
          <p:nvPr/>
        </p:nvGrpSpPr>
        <p:grpSpPr bwMode="auto">
          <a:xfrm>
            <a:off x="2786062" y="2995613"/>
            <a:ext cx="6157913" cy="3006725"/>
            <a:chOff x="1143000" y="2996175"/>
            <a:chExt cx="6157706" cy="3006955"/>
          </a:xfrm>
        </p:grpSpPr>
        <p:grpSp>
          <p:nvGrpSpPr>
            <p:cNvPr id="20" name="组合 16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143000" y="2996175"/>
              <a:chExt cx="6157706" cy="3006955"/>
            </a:xfrm>
          </p:grpSpPr>
          <p:grpSp>
            <p:nvGrpSpPr>
              <p:cNvPr id="22" name="组合 5"/>
              <p:cNvGrpSpPr>
                <a:grpSpLocks/>
              </p:cNvGrpSpPr>
              <p:nvPr/>
            </p:nvGrpSpPr>
            <p:grpSpPr bwMode="auto">
              <a:xfrm>
                <a:off x="1143000" y="2996175"/>
                <a:ext cx="6157706" cy="3006955"/>
                <a:chOff x="1447803" y="2996175"/>
                <a:chExt cx="6157706" cy="3006955"/>
              </a:xfrm>
            </p:grpSpPr>
            <p:sp>
              <p:nvSpPr>
                <p:cNvPr id="24" name="矩形 23"/>
                <p:cNvSpPr/>
                <p:nvPr/>
              </p:nvSpPr>
              <p:spPr>
                <a:xfrm>
                  <a:off x="7461051" y="3318462"/>
                  <a:ext cx="144458" cy="2684668"/>
                </a:xfrm>
                <a:prstGeom prst="rect">
                  <a:avLst/>
                </a:prstGeom>
                <a:solidFill>
                  <a:srgbClr val="13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5" name="图文框 24"/>
                <p:cNvSpPr/>
                <p:nvPr/>
              </p:nvSpPr>
              <p:spPr>
                <a:xfrm>
                  <a:off x="1654171" y="3318462"/>
                  <a:ext cx="3773361" cy="2684668"/>
                </a:xfrm>
                <a:prstGeom prst="frame">
                  <a:avLst>
                    <a:gd name="adj1" fmla="val 5450"/>
                  </a:avLst>
                </a:prstGeom>
                <a:solidFill>
                  <a:srgbClr val="13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6" name="矩形 25"/>
                <p:cNvSpPr/>
                <p:nvPr/>
              </p:nvSpPr>
              <p:spPr>
                <a:xfrm>
                  <a:off x="1447803" y="2996175"/>
                  <a:ext cx="3632078" cy="2241721"/>
                </a:xfrm>
                <a:prstGeom prst="rect">
                  <a:avLst/>
                </a:prstGeom>
                <a:solidFill>
                  <a:srgbClr val="1369B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7" name="任意多边形 26"/>
                <p:cNvSpPr/>
                <p:nvPr/>
              </p:nvSpPr>
              <p:spPr>
                <a:xfrm>
                  <a:off x="1773230" y="5207731"/>
                  <a:ext cx="3479683" cy="719193"/>
                </a:xfrm>
                <a:custGeom>
                  <a:avLst/>
                  <a:gdLst>
                    <a:gd name="connsiteX0" fmla="*/ 0 w 3480816"/>
                    <a:gd name="connsiteY0" fmla="*/ 0 h 318737"/>
                    <a:gd name="connsiteX1" fmla="*/ 3480816 w 3480816"/>
                    <a:gd name="connsiteY1" fmla="*/ 0 h 318737"/>
                    <a:gd name="connsiteX2" fmla="*/ 3480816 w 3480816"/>
                    <a:gd name="connsiteY2" fmla="*/ 318737 h 318737"/>
                    <a:gd name="connsiteX3" fmla="*/ 0 w 3480816"/>
                    <a:gd name="connsiteY3" fmla="*/ 318737 h 318737"/>
                    <a:gd name="connsiteX4" fmla="*/ 0 w 3480816"/>
                    <a:gd name="connsiteY4" fmla="*/ 0 h 318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80816" h="318737">
                      <a:moveTo>
                        <a:pt x="0" y="0"/>
                      </a:moveTo>
                      <a:lnTo>
                        <a:pt x="3480816" y="0"/>
                      </a:lnTo>
                      <a:lnTo>
                        <a:pt x="3480816" y="318737"/>
                      </a:lnTo>
                      <a:lnTo>
                        <a:pt x="0" y="3187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142240" tIns="53340" rIns="142240" bIns="53340" spcCol="1270" anchor="ctr"/>
                <a:lstStyle/>
                <a:p>
                  <a:pPr defTabSz="62230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zh-CN" altLang="en-US" sz="1600" b="1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提交按钮</a:t>
                  </a:r>
                  <a:endParaRPr lang="en-US" altLang="zh-CN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defTabSz="62230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&lt;input type="submit" /&gt;</a:t>
                  </a:r>
                  <a:endParaRPr lang="zh-CN" altLang="en-US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5614851" y="3318462"/>
                  <a:ext cx="1725554" cy="2684668"/>
                </a:xfrm>
                <a:custGeom>
                  <a:avLst/>
                  <a:gdLst>
                    <a:gd name="connsiteX0" fmla="*/ 0 w 1725168"/>
                    <a:gd name="connsiteY0" fmla="*/ 0 h 2685210"/>
                    <a:gd name="connsiteX1" fmla="*/ 1725168 w 1725168"/>
                    <a:gd name="connsiteY1" fmla="*/ 0 h 2685210"/>
                    <a:gd name="connsiteX2" fmla="*/ 1725168 w 1725168"/>
                    <a:gd name="connsiteY2" fmla="*/ 2685210 h 2685210"/>
                    <a:gd name="connsiteX3" fmla="*/ 0 w 1725168"/>
                    <a:gd name="connsiteY3" fmla="*/ 2685210 h 2685210"/>
                    <a:gd name="connsiteX4" fmla="*/ 0 w 1725168"/>
                    <a:gd name="connsiteY4" fmla="*/ 0 h 26852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5168" h="2685210">
                      <a:moveTo>
                        <a:pt x="0" y="0"/>
                      </a:moveTo>
                      <a:lnTo>
                        <a:pt x="1725168" y="0"/>
                      </a:lnTo>
                      <a:lnTo>
                        <a:pt x="1725168" y="2685210"/>
                      </a:lnTo>
                      <a:lnTo>
                        <a:pt x="0" y="26852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0" tIns="0" rIns="0" bIns="0" spcCol="1270"/>
                <a:lstStyle/>
                <a:p>
                  <a:pPr defTabSz="622300" eaLnBrk="0" hangingPunct="0">
                    <a:lnSpc>
                      <a:spcPct val="150000"/>
                    </a:lnSpc>
                    <a:spcAft>
                      <a:spcPct val="35000"/>
                    </a:spcAft>
                    <a:defRPr/>
                  </a:pP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提交按钮是表单中的核心控件，用户完成信息的输入后，一般都需要单击提交按钮才能完成表单数据的提交。</a:t>
                  </a:r>
                </a:p>
              </p:txBody>
            </p:sp>
          </p:grpSp>
          <p:sp>
            <p:nvSpPr>
              <p:cNvPr id="23" name="矩形 15"/>
              <p:cNvSpPr>
                <a:spLocks noChangeArrowheads="1"/>
              </p:cNvSpPr>
              <p:nvPr/>
            </p:nvSpPr>
            <p:spPr bwMode="auto">
              <a:xfrm>
                <a:off x="1462681" y="3217524"/>
                <a:ext cx="3312518" cy="4589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1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&lt;input type="submit" /&gt;</a:t>
                </a:r>
                <a:endParaRPr lang="zh-CN" altLang="en-US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21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2439" y="3885556"/>
              <a:ext cx="493713" cy="376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" name="组合 28"/>
          <p:cNvGrpSpPr/>
          <p:nvPr/>
        </p:nvGrpSpPr>
        <p:grpSpPr>
          <a:xfrm>
            <a:off x="1019175" y="1604797"/>
            <a:ext cx="10440988" cy="768086"/>
            <a:chOff x="1019175" y="1604797"/>
            <a:chExt cx="10440988" cy="768086"/>
          </a:xfrm>
        </p:grpSpPr>
        <p:sp>
          <p:nvSpPr>
            <p:cNvPr id="30" name="圆角矩形 29"/>
            <p:cNvSpPr/>
            <p:nvPr/>
          </p:nvSpPr>
          <p:spPr>
            <a:xfrm>
              <a:off x="1019175" y="1604798"/>
              <a:ext cx="10440988" cy="74248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2" name="TextBox 38"/>
            <p:cNvSpPr txBox="1"/>
            <p:nvPr/>
          </p:nvSpPr>
          <p:spPr>
            <a:xfrm>
              <a:off x="1471674" y="1845965"/>
              <a:ext cx="9482075" cy="2981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&lt;input&gt;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拥有多个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type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属性值，用于定义不同的控件类型。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4" name="矩形 93"/>
            <p:cNvSpPr/>
            <p:nvPr/>
          </p:nvSpPr>
          <p:spPr>
            <a:xfrm rot="10800000">
              <a:off x="11076120" y="198884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084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grpSp>
        <p:nvGrpSpPr>
          <p:cNvPr id="19" name="组合 42"/>
          <p:cNvGrpSpPr>
            <a:grpSpLocks/>
          </p:cNvGrpSpPr>
          <p:nvPr/>
        </p:nvGrpSpPr>
        <p:grpSpPr bwMode="auto">
          <a:xfrm>
            <a:off x="2781300" y="2995613"/>
            <a:ext cx="6157913" cy="3006725"/>
            <a:chOff x="1143000" y="2996175"/>
            <a:chExt cx="6157706" cy="3006955"/>
          </a:xfrm>
        </p:grpSpPr>
        <p:grpSp>
          <p:nvGrpSpPr>
            <p:cNvPr id="20" name="组合 16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143000" y="2996175"/>
              <a:chExt cx="6157706" cy="3006955"/>
            </a:xfrm>
          </p:grpSpPr>
          <p:grpSp>
            <p:nvGrpSpPr>
              <p:cNvPr id="22" name="组合 5"/>
              <p:cNvGrpSpPr>
                <a:grpSpLocks/>
              </p:cNvGrpSpPr>
              <p:nvPr/>
            </p:nvGrpSpPr>
            <p:grpSpPr bwMode="auto">
              <a:xfrm>
                <a:off x="1143000" y="2996175"/>
                <a:ext cx="6157706" cy="3006955"/>
                <a:chOff x="1447803" y="2996175"/>
                <a:chExt cx="6157706" cy="3006955"/>
              </a:xfrm>
            </p:grpSpPr>
            <p:sp>
              <p:nvSpPr>
                <p:cNvPr id="24" name="矩形 23"/>
                <p:cNvSpPr/>
                <p:nvPr/>
              </p:nvSpPr>
              <p:spPr>
                <a:xfrm>
                  <a:off x="7461051" y="3318462"/>
                  <a:ext cx="144458" cy="2684668"/>
                </a:xfrm>
                <a:prstGeom prst="rect">
                  <a:avLst/>
                </a:prstGeom>
                <a:solidFill>
                  <a:srgbClr val="13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5" name="图文框 24"/>
                <p:cNvSpPr/>
                <p:nvPr/>
              </p:nvSpPr>
              <p:spPr>
                <a:xfrm>
                  <a:off x="1654171" y="3318462"/>
                  <a:ext cx="3773361" cy="2684668"/>
                </a:xfrm>
                <a:prstGeom prst="frame">
                  <a:avLst>
                    <a:gd name="adj1" fmla="val 5450"/>
                  </a:avLst>
                </a:prstGeom>
                <a:solidFill>
                  <a:srgbClr val="13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6" name="矩形 25"/>
                <p:cNvSpPr/>
                <p:nvPr/>
              </p:nvSpPr>
              <p:spPr>
                <a:xfrm>
                  <a:off x="1447803" y="2996175"/>
                  <a:ext cx="3632078" cy="2241721"/>
                </a:xfrm>
                <a:prstGeom prst="rect">
                  <a:avLst/>
                </a:prstGeom>
                <a:solidFill>
                  <a:srgbClr val="1369B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7" name="任意多边形 26"/>
                <p:cNvSpPr/>
                <p:nvPr/>
              </p:nvSpPr>
              <p:spPr>
                <a:xfrm>
                  <a:off x="1773230" y="5207731"/>
                  <a:ext cx="3479683" cy="719193"/>
                </a:xfrm>
                <a:custGeom>
                  <a:avLst/>
                  <a:gdLst>
                    <a:gd name="connsiteX0" fmla="*/ 0 w 3480816"/>
                    <a:gd name="connsiteY0" fmla="*/ 0 h 318737"/>
                    <a:gd name="connsiteX1" fmla="*/ 3480816 w 3480816"/>
                    <a:gd name="connsiteY1" fmla="*/ 0 h 318737"/>
                    <a:gd name="connsiteX2" fmla="*/ 3480816 w 3480816"/>
                    <a:gd name="connsiteY2" fmla="*/ 318737 h 318737"/>
                    <a:gd name="connsiteX3" fmla="*/ 0 w 3480816"/>
                    <a:gd name="connsiteY3" fmla="*/ 318737 h 318737"/>
                    <a:gd name="connsiteX4" fmla="*/ 0 w 3480816"/>
                    <a:gd name="connsiteY4" fmla="*/ 0 h 318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80816" h="318737">
                      <a:moveTo>
                        <a:pt x="0" y="0"/>
                      </a:moveTo>
                      <a:lnTo>
                        <a:pt x="3480816" y="0"/>
                      </a:lnTo>
                      <a:lnTo>
                        <a:pt x="3480816" y="318737"/>
                      </a:lnTo>
                      <a:lnTo>
                        <a:pt x="0" y="3187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142240" tIns="53340" rIns="142240" bIns="53340" spcCol="1270" anchor="ctr"/>
                <a:lstStyle/>
                <a:p>
                  <a:pPr defTabSz="62230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zh-CN" altLang="en-US" sz="1600" b="1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重置按钮</a:t>
                  </a:r>
                  <a:endParaRPr lang="en-US" altLang="zh-CN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defTabSz="62230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&lt;input type="reset" /&gt;</a:t>
                  </a:r>
                  <a:endParaRPr lang="zh-CN" altLang="en-US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5614851" y="3318462"/>
                  <a:ext cx="1725554" cy="2684668"/>
                </a:xfrm>
                <a:custGeom>
                  <a:avLst/>
                  <a:gdLst>
                    <a:gd name="connsiteX0" fmla="*/ 0 w 1725168"/>
                    <a:gd name="connsiteY0" fmla="*/ 0 h 2685210"/>
                    <a:gd name="connsiteX1" fmla="*/ 1725168 w 1725168"/>
                    <a:gd name="connsiteY1" fmla="*/ 0 h 2685210"/>
                    <a:gd name="connsiteX2" fmla="*/ 1725168 w 1725168"/>
                    <a:gd name="connsiteY2" fmla="*/ 2685210 h 2685210"/>
                    <a:gd name="connsiteX3" fmla="*/ 0 w 1725168"/>
                    <a:gd name="connsiteY3" fmla="*/ 2685210 h 2685210"/>
                    <a:gd name="connsiteX4" fmla="*/ 0 w 1725168"/>
                    <a:gd name="connsiteY4" fmla="*/ 0 h 26852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5168" h="2685210">
                      <a:moveTo>
                        <a:pt x="0" y="0"/>
                      </a:moveTo>
                      <a:lnTo>
                        <a:pt x="1725168" y="0"/>
                      </a:lnTo>
                      <a:lnTo>
                        <a:pt x="1725168" y="2685210"/>
                      </a:lnTo>
                      <a:lnTo>
                        <a:pt x="0" y="26852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0" tIns="0" rIns="0" bIns="0" spcCol="1270"/>
                <a:lstStyle/>
                <a:p>
                  <a:pPr defTabSz="622300" eaLnBrk="0" hangingPunct="0">
                    <a:lnSpc>
                      <a:spcPct val="150000"/>
                    </a:lnSpc>
                    <a:spcAft>
                      <a:spcPct val="35000"/>
                    </a:spcAft>
                    <a:defRPr/>
                  </a:pP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当用户输入的信息有误时，可单击重置按钮取消已输入的所有表单信息。可以对其应用</a:t>
                  </a: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value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属性，改变重置按钮上的默认文本。</a:t>
                  </a:r>
                </a:p>
              </p:txBody>
            </p:sp>
          </p:grpSp>
          <p:sp>
            <p:nvSpPr>
              <p:cNvPr id="23" name="矩形 15"/>
              <p:cNvSpPr>
                <a:spLocks noChangeArrowheads="1"/>
              </p:cNvSpPr>
              <p:nvPr/>
            </p:nvSpPr>
            <p:spPr bwMode="auto">
              <a:xfrm>
                <a:off x="1462681" y="3217524"/>
                <a:ext cx="3312518" cy="499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&lt;input type="reset" /&gt; 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2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9747" y="3852689"/>
              <a:ext cx="484187" cy="26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" name="组合 28"/>
          <p:cNvGrpSpPr/>
          <p:nvPr/>
        </p:nvGrpSpPr>
        <p:grpSpPr>
          <a:xfrm>
            <a:off x="1019175" y="1604797"/>
            <a:ext cx="10440988" cy="768086"/>
            <a:chOff x="1019175" y="1604797"/>
            <a:chExt cx="10440988" cy="768086"/>
          </a:xfrm>
        </p:grpSpPr>
        <p:sp>
          <p:nvSpPr>
            <p:cNvPr id="30" name="圆角矩形 29"/>
            <p:cNvSpPr/>
            <p:nvPr/>
          </p:nvSpPr>
          <p:spPr>
            <a:xfrm>
              <a:off x="1019175" y="1604798"/>
              <a:ext cx="10440988" cy="74248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2" name="TextBox 38"/>
            <p:cNvSpPr txBox="1"/>
            <p:nvPr/>
          </p:nvSpPr>
          <p:spPr>
            <a:xfrm>
              <a:off x="1471674" y="1845965"/>
              <a:ext cx="9482075" cy="2981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&lt;input&gt;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拥有多个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type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属性值，用于定义不同的控件类型。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4" name="矩形 93"/>
            <p:cNvSpPr/>
            <p:nvPr/>
          </p:nvSpPr>
          <p:spPr>
            <a:xfrm rot="10800000">
              <a:off x="11076120" y="198884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803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grpSp>
        <p:nvGrpSpPr>
          <p:cNvPr id="19" name="组合 42"/>
          <p:cNvGrpSpPr>
            <a:grpSpLocks/>
          </p:cNvGrpSpPr>
          <p:nvPr/>
        </p:nvGrpSpPr>
        <p:grpSpPr bwMode="auto">
          <a:xfrm>
            <a:off x="2781300" y="2995613"/>
            <a:ext cx="6157913" cy="3006725"/>
            <a:chOff x="1143000" y="2996175"/>
            <a:chExt cx="6157706" cy="3006955"/>
          </a:xfrm>
        </p:grpSpPr>
        <p:grpSp>
          <p:nvGrpSpPr>
            <p:cNvPr id="20" name="组合 16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143000" y="2996175"/>
              <a:chExt cx="6157706" cy="3006955"/>
            </a:xfrm>
          </p:grpSpPr>
          <p:grpSp>
            <p:nvGrpSpPr>
              <p:cNvPr id="22" name="组合 5"/>
              <p:cNvGrpSpPr>
                <a:grpSpLocks/>
              </p:cNvGrpSpPr>
              <p:nvPr/>
            </p:nvGrpSpPr>
            <p:grpSpPr bwMode="auto">
              <a:xfrm>
                <a:off x="1143000" y="2996175"/>
                <a:ext cx="6157706" cy="3006955"/>
                <a:chOff x="1447803" y="2996175"/>
                <a:chExt cx="6157706" cy="3006955"/>
              </a:xfrm>
            </p:grpSpPr>
            <p:sp>
              <p:nvSpPr>
                <p:cNvPr id="24" name="矩形 23"/>
                <p:cNvSpPr/>
                <p:nvPr/>
              </p:nvSpPr>
              <p:spPr>
                <a:xfrm>
                  <a:off x="7461051" y="3318462"/>
                  <a:ext cx="144458" cy="2684668"/>
                </a:xfrm>
                <a:prstGeom prst="rect">
                  <a:avLst/>
                </a:prstGeom>
                <a:solidFill>
                  <a:srgbClr val="13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5" name="图文框 24"/>
                <p:cNvSpPr/>
                <p:nvPr/>
              </p:nvSpPr>
              <p:spPr>
                <a:xfrm>
                  <a:off x="1654171" y="3318462"/>
                  <a:ext cx="3773361" cy="2684668"/>
                </a:xfrm>
                <a:prstGeom prst="frame">
                  <a:avLst>
                    <a:gd name="adj1" fmla="val 5450"/>
                  </a:avLst>
                </a:prstGeom>
                <a:solidFill>
                  <a:srgbClr val="13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6" name="矩形 25"/>
                <p:cNvSpPr/>
                <p:nvPr/>
              </p:nvSpPr>
              <p:spPr>
                <a:xfrm>
                  <a:off x="1447803" y="2996175"/>
                  <a:ext cx="3632078" cy="2241721"/>
                </a:xfrm>
                <a:prstGeom prst="rect">
                  <a:avLst/>
                </a:prstGeom>
                <a:solidFill>
                  <a:srgbClr val="1369B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7" name="任意多边形 26"/>
                <p:cNvSpPr/>
                <p:nvPr/>
              </p:nvSpPr>
              <p:spPr>
                <a:xfrm>
                  <a:off x="1773230" y="5207731"/>
                  <a:ext cx="3479683" cy="719193"/>
                </a:xfrm>
                <a:custGeom>
                  <a:avLst/>
                  <a:gdLst>
                    <a:gd name="connsiteX0" fmla="*/ 0 w 3480816"/>
                    <a:gd name="connsiteY0" fmla="*/ 0 h 318737"/>
                    <a:gd name="connsiteX1" fmla="*/ 3480816 w 3480816"/>
                    <a:gd name="connsiteY1" fmla="*/ 0 h 318737"/>
                    <a:gd name="connsiteX2" fmla="*/ 3480816 w 3480816"/>
                    <a:gd name="connsiteY2" fmla="*/ 318737 h 318737"/>
                    <a:gd name="connsiteX3" fmla="*/ 0 w 3480816"/>
                    <a:gd name="connsiteY3" fmla="*/ 318737 h 318737"/>
                    <a:gd name="connsiteX4" fmla="*/ 0 w 3480816"/>
                    <a:gd name="connsiteY4" fmla="*/ 0 h 318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80816" h="318737">
                      <a:moveTo>
                        <a:pt x="0" y="0"/>
                      </a:moveTo>
                      <a:lnTo>
                        <a:pt x="3480816" y="0"/>
                      </a:lnTo>
                      <a:lnTo>
                        <a:pt x="3480816" y="318737"/>
                      </a:lnTo>
                      <a:lnTo>
                        <a:pt x="0" y="3187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142240" tIns="53340" rIns="142240" bIns="53340" spcCol="1270" anchor="ctr"/>
                <a:lstStyle/>
                <a:p>
                  <a:pPr defTabSz="62230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zh-CN" altLang="en-US" sz="1600" b="1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图像形式的提交按钮</a:t>
                  </a:r>
                  <a:endParaRPr lang="en-US" altLang="zh-CN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defTabSz="62230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&lt;input type="image" /&gt;</a:t>
                  </a:r>
                  <a:endParaRPr lang="zh-CN" altLang="en-US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5614851" y="3318462"/>
                  <a:ext cx="1725554" cy="2684668"/>
                </a:xfrm>
                <a:custGeom>
                  <a:avLst/>
                  <a:gdLst>
                    <a:gd name="connsiteX0" fmla="*/ 0 w 1725168"/>
                    <a:gd name="connsiteY0" fmla="*/ 0 h 2685210"/>
                    <a:gd name="connsiteX1" fmla="*/ 1725168 w 1725168"/>
                    <a:gd name="connsiteY1" fmla="*/ 0 h 2685210"/>
                    <a:gd name="connsiteX2" fmla="*/ 1725168 w 1725168"/>
                    <a:gd name="connsiteY2" fmla="*/ 2685210 h 2685210"/>
                    <a:gd name="connsiteX3" fmla="*/ 0 w 1725168"/>
                    <a:gd name="connsiteY3" fmla="*/ 2685210 h 2685210"/>
                    <a:gd name="connsiteX4" fmla="*/ 0 w 1725168"/>
                    <a:gd name="connsiteY4" fmla="*/ 0 h 26852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5168" h="2685210">
                      <a:moveTo>
                        <a:pt x="0" y="0"/>
                      </a:moveTo>
                      <a:lnTo>
                        <a:pt x="1725168" y="0"/>
                      </a:lnTo>
                      <a:lnTo>
                        <a:pt x="1725168" y="2685210"/>
                      </a:lnTo>
                      <a:lnTo>
                        <a:pt x="0" y="26852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0" tIns="0" rIns="0" bIns="0" spcCol="1270"/>
                <a:lstStyle/>
                <a:p>
                  <a:pPr defTabSz="622300" eaLnBrk="0" hangingPunct="0">
                    <a:lnSpc>
                      <a:spcPct val="150000"/>
                    </a:lnSpc>
                    <a:spcAft>
                      <a:spcPct val="35000"/>
                    </a:spcAft>
                    <a:defRPr/>
                  </a:pP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图像形式的提交按钮与普通的提交按钮在功能上基本相同，只是它用图像替代了默认的按钮，外观上更加美观。</a:t>
                  </a:r>
                </a:p>
              </p:txBody>
            </p:sp>
          </p:grpSp>
          <p:sp>
            <p:nvSpPr>
              <p:cNvPr id="23" name="矩形 15"/>
              <p:cNvSpPr>
                <a:spLocks noChangeArrowheads="1"/>
              </p:cNvSpPr>
              <p:nvPr/>
            </p:nvSpPr>
            <p:spPr bwMode="auto">
              <a:xfrm>
                <a:off x="1462681" y="3217524"/>
                <a:ext cx="3312518" cy="1423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fr-FR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&lt;input type="image" src="images/login.gif" /&gt;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21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4899" y="4240919"/>
              <a:ext cx="565150" cy="295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" name="组合 28"/>
          <p:cNvGrpSpPr/>
          <p:nvPr/>
        </p:nvGrpSpPr>
        <p:grpSpPr>
          <a:xfrm>
            <a:off x="1019175" y="1604797"/>
            <a:ext cx="10440988" cy="768086"/>
            <a:chOff x="1019175" y="1604797"/>
            <a:chExt cx="10440988" cy="768086"/>
          </a:xfrm>
        </p:grpSpPr>
        <p:sp>
          <p:nvSpPr>
            <p:cNvPr id="30" name="圆角矩形 29"/>
            <p:cNvSpPr/>
            <p:nvPr/>
          </p:nvSpPr>
          <p:spPr>
            <a:xfrm>
              <a:off x="1019175" y="1604798"/>
              <a:ext cx="10440988" cy="74248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2" name="TextBox 38"/>
            <p:cNvSpPr txBox="1"/>
            <p:nvPr/>
          </p:nvSpPr>
          <p:spPr>
            <a:xfrm>
              <a:off x="1471674" y="1845965"/>
              <a:ext cx="9482075" cy="2981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&lt;input&gt;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拥有多个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type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属性值，用于定义不同的控件类型。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4" name="矩形 93"/>
            <p:cNvSpPr/>
            <p:nvPr/>
          </p:nvSpPr>
          <p:spPr>
            <a:xfrm rot="10800000">
              <a:off x="11076120" y="198884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7434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grpSp>
        <p:nvGrpSpPr>
          <p:cNvPr id="19" name="组合 42"/>
          <p:cNvGrpSpPr>
            <a:grpSpLocks/>
          </p:cNvGrpSpPr>
          <p:nvPr/>
        </p:nvGrpSpPr>
        <p:grpSpPr bwMode="auto">
          <a:xfrm>
            <a:off x="2786062" y="2995613"/>
            <a:ext cx="6157913" cy="3006725"/>
            <a:chOff x="1143000" y="2996175"/>
            <a:chExt cx="6157706" cy="3006955"/>
          </a:xfrm>
        </p:grpSpPr>
        <p:grpSp>
          <p:nvGrpSpPr>
            <p:cNvPr id="20" name="组合 5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447803" y="2996175"/>
              <a:chExt cx="6157706" cy="3006955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7461051" y="3318462"/>
                <a:ext cx="144458" cy="2684668"/>
              </a:xfrm>
              <a:prstGeom prst="rect">
                <a:avLst/>
              </a:prstGeom>
              <a:solidFill>
                <a:srgbClr val="1369B2"/>
              </a:solidFill>
            </p:spPr>
            <p:style>
              <a:lnRef idx="0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3" name="图文框 22"/>
              <p:cNvSpPr/>
              <p:nvPr/>
            </p:nvSpPr>
            <p:spPr>
              <a:xfrm>
                <a:off x="1654171" y="3318462"/>
                <a:ext cx="3773361" cy="2684668"/>
              </a:xfrm>
              <a:prstGeom prst="frame">
                <a:avLst>
                  <a:gd name="adj1" fmla="val 5450"/>
                </a:avLst>
              </a:prstGeom>
              <a:solidFill>
                <a:srgbClr val="1369B2"/>
              </a:solidFill>
            </p:spPr>
            <p:style>
              <a:lnRef idx="0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4" name="矩形 23"/>
              <p:cNvSpPr/>
              <p:nvPr/>
            </p:nvSpPr>
            <p:spPr>
              <a:xfrm>
                <a:off x="1447803" y="2996175"/>
                <a:ext cx="3632078" cy="2241721"/>
              </a:xfrm>
              <a:prstGeom prst="rect">
                <a:avLst/>
              </a:prstGeom>
              <a:solidFill>
                <a:srgbClr val="1369B2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5" name="任意多边形 24"/>
              <p:cNvSpPr/>
              <p:nvPr/>
            </p:nvSpPr>
            <p:spPr>
              <a:xfrm>
                <a:off x="1773230" y="5207731"/>
                <a:ext cx="3479683" cy="719193"/>
              </a:xfrm>
              <a:custGeom>
                <a:avLst/>
                <a:gdLst>
                  <a:gd name="connsiteX0" fmla="*/ 0 w 3480816"/>
                  <a:gd name="connsiteY0" fmla="*/ 0 h 318737"/>
                  <a:gd name="connsiteX1" fmla="*/ 3480816 w 3480816"/>
                  <a:gd name="connsiteY1" fmla="*/ 0 h 318737"/>
                  <a:gd name="connsiteX2" fmla="*/ 3480816 w 3480816"/>
                  <a:gd name="connsiteY2" fmla="*/ 318737 h 318737"/>
                  <a:gd name="connsiteX3" fmla="*/ 0 w 3480816"/>
                  <a:gd name="connsiteY3" fmla="*/ 318737 h 318737"/>
                  <a:gd name="connsiteX4" fmla="*/ 0 w 3480816"/>
                  <a:gd name="connsiteY4" fmla="*/ 0 h 318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0816" h="318737">
                    <a:moveTo>
                      <a:pt x="0" y="0"/>
                    </a:moveTo>
                    <a:lnTo>
                      <a:pt x="3480816" y="0"/>
                    </a:lnTo>
                    <a:lnTo>
                      <a:pt x="3480816" y="318737"/>
                    </a:lnTo>
                    <a:lnTo>
                      <a:pt x="0" y="31873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42240" tIns="53340" rIns="142240" bIns="53340" spcCol="1270" anchor="ctr"/>
              <a:lstStyle/>
              <a:p>
                <a:pPr defTabSz="622300" eaLnBrk="0" hangingPunct="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zh-CN" altLang="en-US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隐藏域</a:t>
                </a:r>
                <a:endParaRPr lang="en-US" altLang="zh-CN" sz="16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defTabSz="622300" eaLnBrk="0" hangingPunct="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altLang="zh-CN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&lt;input type=" hidden" /&gt;</a:t>
                </a:r>
                <a:endParaRPr lang="zh-CN" altLang="en-US" sz="1600" b="1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任意多边形 25"/>
              <p:cNvSpPr/>
              <p:nvPr/>
            </p:nvSpPr>
            <p:spPr>
              <a:xfrm>
                <a:off x="5614851" y="3318462"/>
                <a:ext cx="1725554" cy="2684668"/>
              </a:xfrm>
              <a:custGeom>
                <a:avLst/>
                <a:gdLst>
                  <a:gd name="connsiteX0" fmla="*/ 0 w 1725168"/>
                  <a:gd name="connsiteY0" fmla="*/ 0 h 2685210"/>
                  <a:gd name="connsiteX1" fmla="*/ 1725168 w 1725168"/>
                  <a:gd name="connsiteY1" fmla="*/ 0 h 2685210"/>
                  <a:gd name="connsiteX2" fmla="*/ 1725168 w 1725168"/>
                  <a:gd name="connsiteY2" fmla="*/ 2685210 h 2685210"/>
                  <a:gd name="connsiteX3" fmla="*/ 0 w 1725168"/>
                  <a:gd name="connsiteY3" fmla="*/ 2685210 h 2685210"/>
                  <a:gd name="connsiteX4" fmla="*/ 0 w 1725168"/>
                  <a:gd name="connsiteY4" fmla="*/ 0 h 2685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5168" h="2685210">
                    <a:moveTo>
                      <a:pt x="0" y="0"/>
                    </a:moveTo>
                    <a:lnTo>
                      <a:pt x="1725168" y="0"/>
                    </a:lnTo>
                    <a:lnTo>
                      <a:pt x="1725168" y="2685210"/>
                    </a:lnTo>
                    <a:lnTo>
                      <a:pt x="0" y="268521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0" tIns="0" rIns="0" bIns="0" spcCol="1270"/>
              <a:lstStyle/>
              <a:p>
                <a:pPr defTabSz="622300" eaLnBrk="0" hangingPunct="0">
                  <a:lnSpc>
                    <a:spcPct val="150000"/>
                  </a:lnSpc>
                  <a:spcAft>
                    <a:spcPct val="35000"/>
                  </a:spcAft>
                  <a:defRPr/>
                </a:pPr>
                <a:r>
                  <a:rPr lang="zh-CN" altLang="en-US" sz="14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隐藏域对于用户是不可见的，通常用于后台的程序，读者了解即可。</a:t>
                </a:r>
              </a:p>
            </p:txBody>
          </p:sp>
        </p:grpSp>
        <p:sp>
          <p:nvSpPr>
            <p:cNvPr id="21" name="矩形 15"/>
            <p:cNvSpPr>
              <a:spLocks noChangeArrowheads="1"/>
            </p:cNvSpPr>
            <p:nvPr/>
          </p:nvSpPr>
          <p:spPr bwMode="auto">
            <a:xfrm>
              <a:off x="1462681" y="3341703"/>
              <a:ext cx="3312518" cy="4589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fr-FR" altLang="zh-CN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&lt;input type="hidden" /&gt; </a:t>
              </a:r>
              <a:endPara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019175" y="1604797"/>
            <a:ext cx="10440988" cy="768086"/>
            <a:chOff x="1019175" y="1604797"/>
            <a:chExt cx="10440988" cy="768086"/>
          </a:xfrm>
        </p:grpSpPr>
        <p:sp>
          <p:nvSpPr>
            <p:cNvPr id="28" name="圆角矩形 27"/>
            <p:cNvSpPr/>
            <p:nvPr/>
          </p:nvSpPr>
          <p:spPr>
            <a:xfrm>
              <a:off x="1019175" y="1604798"/>
              <a:ext cx="10440988" cy="74248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9" name="TextBox 38"/>
            <p:cNvSpPr txBox="1"/>
            <p:nvPr/>
          </p:nvSpPr>
          <p:spPr>
            <a:xfrm>
              <a:off x="1471674" y="1845965"/>
              <a:ext cx="9482075" cy="2981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&lt;input&gt;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拥有多个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type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属性值，用于定义不同的控件类型。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2" name="矩形 93"/>
            <p:cNvSpPr/>
            <p:nvPr/>
          </p:nvSpPr>
          <p:spPr>
            <a:xfrm rot="10800000">
              <a:off x="11076120" y="198884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320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grpSp>
        <p:nvGrpSpPr>
          <p:cNvPr id="19" name="组合 42"/>
          <p:cNvGrpSpPr>
            <a:grpSpLocks/>
          </p:cNvGrpSpPr>
          <p:nvPr/>
        </p:nvGrpSpPr>
        <p:grpSpPr bwMode="auto">
          <a:xfrm>
            <a:off x="2781300" y="2995613"/>
            <a:ext cx="6157913" cy="3006725"/>
            <a:chOff x="1143000" y="2996175"/>
            <a:chExt cx="6157706" cy="3006955"/>
          </a:xfrm>
        </p:grpSpPr>
        <p:grpSp>
          <p:nvGrpSpPr>
            <p:cNvPr id="20" name="组合 16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143000" y="2996175"/>
              <a:chExt cx="6157706" cy="3006955"/>
            </a:xfrm>
          </p:grpSpPr>
          <p:grpSp>
            <p:nvGrpSpPr>
              <p:cNvPr id="22" name="组合 5"/>
              <p:cNvGrpSpPr>
                <a:grpSpLocks/>
              </p:cNvGrpSpPr>
              <p:nvPr/>
            </p:nvGrpSpPr>
            <p:grpSpPr bwMode="auto">
              <a:xfrm>
                <a:off x="1143000" y="2996175"/>
                <a:ext cx="6157706" cy="3006955"/>
                <a:chOff x="1447803" y="2996175"/>
                <a:chExt cx="6157706" cy="3006955"/>
              </a:xfrm>
            </p:grpSpPr>
            <p:sp>
              <p:nvSpPr>
                <p:cNvPr id="24" name="矩形 23"/>
                <p:cNvSpPr/>
                <p:nvPr/>
              </p:nvSpPr>
              <p:spPr>
                <a:xfrm>
                  <a:off x="7461051" y="3318462"/>
                  <a:ext cx="144458" cy="2684668"/>
                </a:xfrm>
                <a:prstGeom prst="rect">
                  <a:avLst/>
                </a:prstGeom>
                <a:solidFill>
                  <a:srgbClr val="13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5" name="图文框 24"/>
                <p:cNvSpPr/>
                <p:nvPr/>
              </p:nvSpPr>
              <p:spPr>
                <a:xfrm>
                  <a:off x="1654171" y="3318462"/>
                  <a:ext cx="3773361" cy="2684668"/>
                </a:xfrm>
                <a:prstGeom prst="frame">
                  <a:avLst>
                    <a:gd name="adj1" fmla="val 5450"/>
                  </a:avLst>
                </a:prstGeom>
                <a:solidFill>
                  <a:srgbClr val="13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6" name="矩形 25"/>
                <p:cNvSpPr/>
                <p:nvPr/>
              </p:nvSpPr>
              <p:spPr>
                <a:xfrm>
                  <a:off x="1447803" y="2996175"/>
                  <a:ext cx="3632078" cy="2241721"/>
                </a:xfrm>
                <a:prstGeom prst="rect">
                  <a:avLst/>
                </a:prstGeom>
                <a:solidFill>
                  <a:srgbClr val="1369B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7" name="任意多边形 26"/>
                <p:cNvSpPr/>
                <p:nvPr/>
              </p:nvSpPr>
              <p:spPr>
                <a:xfrm>
                  <a:off x="1773230" y="5207731"/>
                  <a:ext cx="3479683" cy="719193"/>
                </a:xfrm>
                <a:custGeom>
                  <a:avLst/>
                  <a:gdLst>
                    <a:gd name="connsiteX0" fmla="*/ 0 w 3480816"/>
                    <a:gd name="connsiteY0" fmla="*/ 0 h 318737"/>
                    <a:gd name="connsiteX1" fmla="*/ 3480816 w 3480816"/>
                    <a:gd name="connsiteY1" fmla="*/ 0 h 318737"/>
                    <a:gd name="connsiteX2" fmla="*/ 3480816 w 3480816"/>
                    <a:gd name="connsiteY2" fmla="*/ 318737 h 318737"/>
                    <a:gd name="connsiteX3" fmla="*/ 0 w 3480816"/>
                    <a:gd name="connsiteY3" fmla="*/ 318737 h 318737"/>
                    <a:gd name="connsiteX4" fmla="*/ 0 w 3480816"/>
                    <a:gd name="connsiteY4" fmla="*/ 0 h 318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80816" h="318737">
                      <a:moveTo>
                        <a:pt x="0" y="0"/>
                      </a:moveTo>
                      <a:lnTo>
                        <a:pt x="3480816" y="0"/>
                      </a:lnTo>
                      <a:lnTo>
                        <a:pt x="3480816" y="318737"/>
                      </a:lnTo>
                      <a:lnTo>
                        <a:pt x="0" y="3187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142240" tIns="53340" rIns="142240" bIns="53340" spcCol="1270" anchor="ctr"/>
                <a:lstStyle/>
                <a:p>
                  <a:pPr defTabSz="62230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zh-CN" altLang="en-US" sz="1600" b="1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文件域</a:t>
                  </a:r>
                  <a:endParaRPr lang="en-US" altLang="zh-CN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defTabSz="622300" eaLnBrk="0" hangingPunct="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13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&lt;input type="file" /&gt;</a:t>
                  </a:r>
                  <a:endParaRPr lang="zh-CN" altLang="en-US" sz="1600" b="1" dirty="0">
                    <a:solidFill>
                      <a:srgbClr val="13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5614851" y="3318462"/>
                  <a:ext cx="1725554" cy="2684668"/>
                </a:xfrm>
                <a:custGeom>
                  <a:avLst/>
                  <a:gdLst>
                    <a:gd name="connsiteX0" fmla="*/ 0 w 1725168"/>
                    <a:gd name="connsiteY0" fmla="*/ 0 h 2685210"/>
                    <a:gd name="connsiteX1" fmla="*/ 1725168 w 1725168"/>
                    <a:gd name="connsiteY1" fmla="*/ 0 h 2685210"/>
                    <a:gd name="connsiteX2" fmla="*/ 1725168 w 1725168"/>
                    <a:gd name="connsiteY2" fmla="*/ 2685210 h 2685210"/>
                    <a:gd name="connsiteX3" fmla="*/ 0 w 1725168"/>
                    <a:gd name="connsiteY3" fmla="*/ 2685210 h 2685210"/>
                    <a:gd name="connsiteX4" fmla="*/ 0 w 1725168"/>
                    <a:gd name="connsiteY4" fmla="*/ 0 h 26852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5168" h="2685210">
                      <a:moveTo>
                        <a:pt x="0" y="0"/>
                      </a:moveTo>
                      <a:lnTo>
                        <a:pt x="1725168" y="0"/>
                      </a:lnTo>
                      <a:lnTo>
                        <a:pt x="1725168" y="2685210"/>
                      </a:lnTo>
                      <a:lnTo>
                        <a:pt x="0" y="26852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0" tIns="0" rIns="0" bIns="0" spcCol="1270"/>
                <a:lstStyle/>
                <a:p>
                  <a:pPr defTabSz="622300" eaLnBrk="0" hangingPunct="0">
                    <a:lnSpc>
                      <a:spcPct val="150000"/>
                    </a:lnSpc>
                    <a:spcAft>
                      <a:spcPct val="35000"/>
                    </a:spcAft>
                    <a:defRPr/>
                  </a:pP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当定义文件域时，页面中将出现一个文本框和一个“浏览</a:t>
                  </a: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...”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按钮，用户可以通过填写文件路径或直接选择文件的方式，将文件提交给后台服务器。</a:t>
                  </a:r>
                </a:p>
              </p:txBody>
            </p:sp>
          </p:grpSp>
          <p:sp>
            <p:nvSpPr>
              <p:cNvPr id="23" name="矩形 15"/>
              <p:cNvSpPr>
                <a:spLocks noChangeArrowheads="1"/>
              </p:cNvSpPr>
              <p:nvPr/>
            </p:nvSpPr>
            <p:spPr bwMode="auto">
              <a:xfrm>
                <a:off x="1462681" y="3341703"/>
                <a:ext cx="3312518" cy="4996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fr-FR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&lt;input type="file" /&gt;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21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9747" y="3973440"/>
              <a:ext cx="1693863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9" name="组合 28"/>
          <p:cNvGrpSpPr/>
          <p:nvPr/>
        </p:nvGrpSpPr>
        <p:grpSpPr>
          <a:xfrm>
            <a:off x="1019175" y="1604797"/>
            <a:ext cx="10440988" cy="768086"/>
            <a:chOff x="1019175" y="1604797"/>
            <a:chExt cx="10440988" cy="768086"/>
          </a:xfrm>
        </p:grpSpPr>
        <p:sp>
          <p:nvSpPr>
            <p:cNvPr id="30" name="圆角矩形 29"/>
            <p:cNvSpPr/>
            <p:nvPr/>
          </p:nvSpPr>
          <p:spPr>
            <a:xfrm>
              <a:off x="1019175" y="1604798"/>
              <a:ext cx="10440988" cy="74248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2" name="TextBox 38"/>
            <p:cNvSpPr txBox="1"/>
            <p:nvPr/>
          </p:nvSpPr>
          <p:spPr>
            <a:xfrm>
              <a:off x="1471674" y="1845965"/>
              <a:ext cx="9482075" cy="2981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&lt;input&gt;</a:t>
              </a:r>
              <a:r>
                <a:rPr lang="zh-CN" altLang="en-US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拥有多个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type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属性值，用于定义不同的控件类型。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34" name="矩形 93"/>
            <p:cNvSpPr/>
            <p:nvPr/>
          </p:nvSpPr>
          <p:spPr>
            <a:xfrm rot="10800000">
              <a:off x="11076120" y="198884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6337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textarea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textarea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控件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的用法，能够在网页中使用</a:t>
            </a:r>
            <a:r>
              <a:rPr lang="en-US" altLang="zh-CN" sz="18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textarea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控件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设置多行文本。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933526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textarea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686051" y="1850453"/>
            <a:ext cx="2471737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其基本语法格式如下：</a:t>
            </a:r>
            <a:endParaRPr lang="zh-CN" altLang="en-US" sz="18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797176" y="2447471"/>
            <a:ext cx="6142037" cy="120015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textarea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cols="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每行中的字符数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 rows="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显示的行数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"&gt;</a:t>
            </a:r>
            <a:endParaRPr lang="zh-CN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文本内容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&lt;/</a:t>
            </a:r>
            <a:r>
              <a:rPr lang="en-US" altLang="zh-CN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textarea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</a:t>
            </a:r>
            <a:endParaRPr lang="en-US" altLang="zh-CN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2703513" y="3969884"/>
            <a:ext cx="6326188" cy="1822450"/>
            <a:chOff x="1747565" y="5124230"/>
            <a:chExt cx="6367631" cy="1821268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1841842" y="5327298"/>
              <a:ext cx="618227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5" name="矩形 20"/>
            <p:cNvSpPr>
              <a:spLocks noChangeArrowheads="1"/>
            </p:cNvSpPr>
            <p:nvPr/>
          </p:nvSpPr>
          <p:spPr bwMode="auto">
            <a:xfrm>
              <a:off x="3963313" y="5124230"/>
              <a:ext cx="1590285" cy="3998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【</a:t>
              </a:r>
              <a:r>
                <a:rPr lang="zh-CN" altLang="en-US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结论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】</a:t>
              </a:r>
              <a:endParaRPr lang="zh-CN" altLang="en-US" sz="2000" dirty="0">
                <a:solidFill>
                  <a:srgbClr val="1369B2"/>
                </a:solidFill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1750761" y="6945498"/>
              <a:ext cx="6316498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8" name="矩形 15"/>
            <p:cNvSpPr>
              <a:spLocks noChangeArrowheads="1"/>
            </p:cNvSpPr>
            <p:nvPr/>
          </p:nvSpPr>
          <p:spPr bwMode="auto">
            <a:xfrm>
              <a:off x="1747565" y="5536828"/>
              <a:ext cx="6367631" cy="1156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cols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rows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为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</a:t>
              </a:r>
              <a:r>
                <a:rPr lang="en-US" altLang="zh-CN" sz="1600" dirty="0" err="1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textarea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标记的必须属性，其中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cols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用来定义多行文本输入框每行中的字符数，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rows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用来定义多行文本输入框显示的行数，取值均为正整数。</a:t>
              </a:r>
              <a:endParaRPr lang="zh-CN" altLang="en-US" sz="16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223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textarea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685059"/>
              </p:ext>
            </p:extLst>
          </p:nvPr>
        </p:nvGraphicFramePr>
        <p:xfrm>
          <a:off x="1019175" y="2186538"/>
          <a:ext cx="10440988" cy="2822576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767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0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796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属性值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7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name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由用户自定义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控件的名称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7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readonly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readonly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该控件内容为只读（不能编辑修改）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7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disabled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disabled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第一次加载页面时禁用该控件（显示为灰色）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474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select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select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控件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的用法，能够在网页中使用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select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控件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设置下拉列表。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562848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542027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select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pic>
        <p:nvPicPr>
          <p:cNvPr id="10" name="Picture 4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1579" y="2851248"/>
            <a:ext cx="2312988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4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204" y="3312234"/>
            <a:ext cx="2259013" cy="175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0854" y="3374941"/>
            <a:ext cx="20701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组合 14"/>
          <p:cNvGrpSpPr/>
          <p:nvPr/>
        </p:nvGrpSpPr>
        <p:grpSpPr>
          <a:xfrm>
            <a:off x="1019175" y="1604797"/>
            <a:ext cx="10440988" cy="768086"/>
            <a:chOff x="1019175" y="1604797"/>
            <a:chExt cx="10440988" cy="768086"/>
          </a:xfrm>
        </p:grpSpPr>
        <p:sp>
          <p:nvSpPr>
            <p:cNvPr id="17" name="圆角矩形 16"/>
            <p:cNvSpPr/>
            <p:nvPr/>
          </p:nvSpPr>
          <p:spPr>
            <a:xfrm>
              <a:off x="1019175" y="1604798"/>
              <a:ext cx="10440988" cy="742483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8" name="TextBox 38"/>
            <p:cNvSpPr txBox="1"/>
            <p:nvPr/>
          </p:nvSpPr>
          <p:spPr>
            <a:xfrm>
              <a:off x="1471674" y="1845965"/>
              <a:ext cx="948207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浏览网页</a:t>
              </a:r>
              <a:r>
                <a:rPr lang="zh-CN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时，经常会看到包含多个选项的</a:t>
              </a:r>
              <a:r>
                <a:rPr lang="zh-CN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下拉菜单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。这些下拉菜单就是使用</a:t>
              </a:r>
              <a:r>
                <a:rPr lang="en-US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select</a:t>
              </a:r>
              <a:r>
                <a:rPr lang="zh-CN" altLang="zh-CN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控件</a:t>
              </a:r>
              <a:r>
                <a:rPr lang="zh-CN" altLang="en-US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定义的</a:t>
              </a:r>
              <a:r>
                <a:rPr lang="zh-CN" altLang="en-US" sz="18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20" name="矩形 93"/>
            <p:cNvSpPr/>
            <p:nvPr/>
          </p:nvSpPr>
          <p:spPr>
            <a:xfrm rot="10800000">
              <a:off x="11076120" y="1988840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2092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select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2122293" y="2628965"/>
            <a:ext cx="7721600" cy="2876551"/>
            <a:chOff x="740681" y="2190785"/>
            <a:chExt cx="7723108" cy="2877031"/>
          </a:xfrm>
        </p:grpSpPr>
        <p:sp>
          <p:nvSpPr>
            <p:cNvPr id="11" name="矩形 10"/>
            <p:cNvSpPr/>
            <p:nvPr/>
          </p:nvSpPr>
          <p:spPr bwMode="auto">
            <a:xfrm>
              <a:off x="740681" y="2190785"/>
              <a:ext cx="7723108" cy="2877031"/>
            </a:xfrm>
            <a:prstGeom prst="rect">
              <a:avLst/>
            </a:prstGeom>
            <a:solidFill>
              <a:schemeClr val="bg1">
                <a:lumMod val="95000"/>
                <a:alpha val="90000"/>
              </a:schemeClr>
            </a:solidFill>
            <a:ln w="9525">
              <a:noFill/>
            </a:ln>
          </p:spPr>
          <p:style>
            <a:lnRef idx="2">
              <a:schemeClr val="accent4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矩形 5"/>
            <p:cNvSpPr>
              <a:spLocks noChangeArrowheads="1"/>
            </p:cNvSpPr>
            <p:nvPr/>
          </p:nvSpPr>
          <p:spPr bwMode="auto">
            <a:xfrm>
              <a:off x="1087131" y="2371872"/>
              <a:ext cx="7270498" cy="2668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&lt;select&gt;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&lt;option&gt;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选项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1&lt;/option&gt;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&lt;option&gt;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选项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2&lt;/option&gt;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&lt;option&gt;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选项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3&lt;/option&gt;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...</a:t>
              </a:r>
              <a:endPara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35000"/>
                </a:lnSpc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  &lt;/select&gt;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2015466" y="1947602"/>
            <a:ext cx="85487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定义下拉菜单的基本语法格式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如下：</a:t>
            </a:r>
          </a:p>
        </p:txBody>
      </p:sp>
    </p:spTree>
    <p:extLst>
      <p:ext uri="{BB962C8B-B14F-4D97-AF65-F5344CB8AC3E}">
        <p14:creationId xmlns:p14="http://schemas.microsoft.com/office/powerpoint/2010/main" val="299341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select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</a:t>
            </a:r>
            <a:endParaRPr lang="zh-CN" altLang="en-US" sz="2000" dirty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898780" y="1678603"/>
            <a:ext cx="37481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&lt;select&gt;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&lt;option&gt;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dirty="0">
              <a:solidFill>
                <a:srgbClr val="595959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7205832"/>
              </p:ext>
            </p:extLst>
          </p:nvPr>
        </p:nvGraphicFramePr>
        <p:xfrm>
          <a:off x="2011492" y="2351703"/>
          <a:ext cx="8130883" cy="3006725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725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7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1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标签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</a:t>
                      </a:r>
                    </a:p>
                  </a:txBody>
                  <a:tcPr marL="68556" marR="6855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常用属性</a:t>
                      </a:r>
                    </a:p>
                  </a:txBody>
                  <a:tcPr marL="68556" marR="6855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56" marR="6855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088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&lt;select&gt;</a:t>
                      </a:r>
                      <a:endParaRPr lang="zh-CN" sz="1600" b="1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56" marR="6855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size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56" marR="6855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指定下拉菜单的可见选项数（取值为正整数）。</a:t>
                      </a:r>
                    </a:p>
                  </a:txBody>
                  <a:tcPr marL="68556" marR="6855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013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multiple</a:t>
                      </a:r>
                      <a:endParaRPr lang="zh-CN" sz="16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56" marR="6855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multiple="multiple"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时，下拉菜单将具有多项选择的功能，方法为按住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Ctrl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键的同时选择多项。</a:t>
                      </a:r>
                    </a:p>
                  </a:txBody>
                  <a:tcPr marL="68556" marR="6855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3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</a:t>
                      </a:r>
                      <a:r>
                        <a:rPr lang="en-US" sz="1600" b="1" kern="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option</a:t>
                      </a:r>
                      <a:r>
                        <a:rPr 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&gt;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56" marR="6855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selected</a:t>
                      </a:r>
                      <a:endParaRPr 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56" marR="6855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定义</a:t>
                      </a:r>
                      <a:r>
                        <a:rPr lang="en-US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selected =" selected "</a:t>
                      </a:r>
                      <a:r>
                        <a:rPr 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时，当前项即为默认选中项。</a:t>
                      </a:r>
                    </a:p>
                  </a:txBody>
                  <a:tcPr marL="68556" marR="68556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25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86830"/>
            <a:ext cx="7957137" cy="64633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6-5】</a:t>
            </a:r>
            <a:r>
              <a:rPr lang="zh-CN" altLang="en-US" sz="36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新增表单控件</a:t>
            </a:r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类型和属性</a:t>
            </a:r>
            <a:endParaRPr lang="en-GB" altLang="zh-CN" sz="36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385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33656" y="2652118"/>
            <a:ext cx="6264696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中增加了许多新的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表单控件类型和属性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。通过这些新的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控件类型和属性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丰富表单功能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，让我们更好的对表单进行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控制和验证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。本节将对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HTML5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新增的表单类型和属性做详细讲解。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24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控件类型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掌握全新的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input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控件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类型，能够在网页中设置不同类型。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600172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43713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控件类型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7"/>
            <a:ext cx="10440988" cy="979783"/>
            <a:chOff x="1019175" y="1604797"/>
            <a:chExt cx="10440988" cy="979783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97978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5"/>
              <a:ext cx="9482075" cy="6305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中，增加了一些新的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input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控件类型，通过这些新的控件，可以丰富表单功能，更好的实现表单的控制和验证。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20053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2918112" y="2995613"/>
            <a:ext cx="6157913" cy="3006725"/>
            <a:chOff x="1143000" y="2996175"/>
            <a:chExt cx="6157706" cy="3006955"/>
          </a:xfrm>
        </p:grpSpPr>
        <p:grpSp>
          <p:nvGrpSpPr>
            <p:cNvPr id="18" name="组合 16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143000" y="2996175"/>
              <a:chExt cx="6157706" cy="3006955"/>
            </a:xfrm>
          </p:grpSpPr>
          <p:grpSp>
            <p:nvGrpSpPr>
              <p:cNvPr id="20" name="组合 5"/>
              <p:cNvGrpSpPr>
                <a:grpSpLocks/>
              </p:cNvGrpSpPr>
              <p:nvPr/>
            </p:nvGrpSpPr>
            <p:grpSpPr bwMode="auto">
              <a:xfrm>
                <a:off x="1143000" y="2996175"/>
                <a:ext cx="6157706" cy="3006955"/>
                <a:chOff x="1447803" y="2996175"/>
                <a:chExt cx="6157706" cy="3006955"/>
              </a:xfrm>
            </p:grpSpPr>
            <p:sp>
              <p:nvSpPr>
                <p:cNvPr id="22" name="矩形 21"/>
                <p:cNvSpPr/>
                <p:nvPr/>
              </p:nvSpPr>
              <p:spPr>
                <a:xfrm>
                  <a:off x="7461051" y="3318462"/>
                  <a:ext cx="144458" cy="2684668"/>
                </a:xfrm>
                <a:prstGeom prst="rect">
                  <a:avLst/>
                </a:prstGeom>
                <a:solidFill>
                  <a:srgbClr val="09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3" name="图文框 22"/>
                <p:cNvSpPr/>
                <p:nvPr/>
              </p:nvSpPr>
              <p:spPr>
                <a:xfrm>
                  <a:off x="1654171" y="3318462"/>
                  <a:ext cx="3773361" cy="2684668"/>
                </a:xfrm>
                <a:prstGeom prst="frame">
                  <a:avLst>
                    <a:gd name="adj1" fmla="val 5450"/>
                  </a:avLst>
                </a:prstGeom>
                <a:solidFill>
                  <a:srgbClr val="09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4" name="矩形 23"/>
                <p:cNvSpPr/>
                <p:nvPr/>
              </p:nvSpPr>
              <p:spPr>
                <a:xfrm>
                  <a:off x="1447803" y="2996175"/>
                  <a:ext cx="3632078" cy="2241721"/>
                </a:xfrm>
                <a:prstGeom prst="rect">
                  <a:avLst/>
                </a:prstGeom>
                <a:solidFill>
                  <a:srgbClr val="0969B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5" name="任意多边形 24"/>
                <p:cNvSpPr/>
                <p:nvPr/>
              </p:nvSpPr>
              <p:spPr>
                <a:xfrm>
                  <a:off x="1773230" y="5207731"/>
                  <a:ext cx="3479683" cy="719193"/>
                </a:xfrm>
                <a:custGeom>
                  <a:avLst/>
                  <a:gdLst>
                    <a:gd name="connsiteX0" fmla="*/ 0 w 3480816"/>
                    <a:gd name="connsiteY0" fmla="*/ 0 h 318737"/>
                    <a:gd name="connsiteX1" fmla="*/ 3480816 w 3480816"/>
                    <a:gd name="connsiteY1" fmla="*/ 0 h 318737"/>
                    <a:gd name="connsiteX2" fmla="*/ 3480816 w 3480816"/>
                    <a:gd name="connsiteY2" fmla="*/ 318737 h 318737"/>
                    <a:gd name="connsiteX3" fmla="*/ 0 w 3480816"/>
                    <a:gd name="connsiteY3" fmla="*/ 318737 h 318737"/>
                    <a:gd name="connsiteX4" fmla="*/ 0 w 3480816"/>
                    <a:gd name="connsiteY4" fmla="*/ 0 h 318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80816" h="318737">
                      <a:moveTo>
                        <a:pt x="0" y="0"/>
                      </a:moveTo>
                      <a:lnTo>
                        <a:pt x="3480816" y="0"/>
                      </a:lnTo>
                      <a:lnTo>
                        <a:pt x="3480816" y="318737"/>
                      </a:lnTo>
                      <a:lnTo>
                        <a:pt x="0" y="3187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142240" tIns="53340" rIns="142240" bIns="53340" spcCol="1270" anchor="ctr"/>
                <a:lstStyle/>
                <a:p>
                  <a:pPr defTabSz="62230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email</a:t>
                  </a:r>
                  <a:r>
                    <a:rPr lang="zh-CN" altLang="en-US" sz="16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类型</a:t>
                  </a:r>
                  <a:endParaRPr lang="en-US" altLang="zh-CN" sz="1600" b="1" dirty="0">
                    <a:solidFill>
                      <a:srgbClr val="09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defTabSz="62230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&lt;input type="email" /&gt;</a:t>
                  </a:r>
                  <a:endParaRPr lang="zh-CN" altLang="en-US" sz="1600" b="1" dirty="0">
                    <a:solidFill>
                      <a:srgbClr val="09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6" name="任意多边形 25"/>
                <p:cNvSpPr/>
                <p:nvPr/>
              </p:nvSpPr>
              <p:spPr>
                <a:xfrm>
                  <a:off x="5614851" y="3318462"/>
                  <a:ext cx="1725554" cy="2684668"/>
                </a:xfrm>
                <a:custGeom>
                  <a:avLst/>
                  <a:gdLst>
                    <a:gd name="connsiteX0" fmla="*/ 0 w 1725168"/>
                    <a:gd name="connsiteY0" fmla="*/ 0 h 2685210"/>
                    <a:gd name="connsiteX1" fmla="*/ 1725168 w 1725168"/>
                    <a:gd name="connsiteY1" fmla="*/ 0 h 2685210"/>
                    <a:gd name="connsiteX2" fmla="*/ 1725168 w 1725168"/>
                    <a:gd name="connsiteY2" fmla="*/ 2685210 h 2685210"/>
                    <a:gd name="connsiteX3" fmla="*/ 0 w 1725168"/>
                    <a:gd name="connsiteY3" fmla="*/ 2685210 h 2685210"/>
                    <a:gd name="connsiteX4" fmla="*/ 0 w 1725168"/>
                    <a:gd name="connsiteY4" fmla="*/ 0 h 26852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5168" h="2685210">
                      <a:moveTo>
                        <a:pt x="0" y="0"/>
                      </a:moveTo>
                      <a:lnTo>
                        <a:pt x="1725168" y="0"/>
                      </a:lnTo>
                      <a:lnTo>
                        <a:pt x="1725168" y="2685210"/>
                      </a:lnTo>
                      <a:lnTo>
                        <a:pt x="0" y="26852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0" tIns="0" rIns="0" bIns="0" spcCol="1270"/>
                <a:lstStyle/>
                <a:p>
                  <a:pPr defTabSz="622300" hangingPunct="1">
                    <a:lnSpc>
                      <a:spcPct val="15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email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类型的</a:t>
                  </a: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input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元素是一种专门用于输入</a:t>
                  </a: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E-mail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地址的文本输入框，用来验证</a:t>
                  </a: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email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输入框的内容是否符合</a:t>
                  </a: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Email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邮件地址格式；如果不符合，将提示相应的错误信息。</a:t>
                  </a:r>
                </a:p>
              </p:txBody>
            </p:sp>
          </p:grpSp>
          <p:sp>
            <p:nvSpPr>
              <p:cNvPr id="21" name="矩形 15"/>
              <p:cNvSpPr>
                <a:spLocks noChangeArrowheads="1"/>
              </p:cNvSpPr>
              <p:nvPr/>
            </p:nvSpPr>
            <p:spPr bwMode="auto">
              <a:xfrm>
                <a:off x="1462681" y="3070767"/>
                <a:ext cx="3312518" cy="1290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请输入您的邮箱：</a:t>
                </a:r>
                <a:r>
                  <a:rPr lang="en-US" altLang="zh-CN" sz="1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</a:t>
                </a:r>
                <a:r>
                  <a:rPr lang="fr-FR" altLang="zh-CN" sz="1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input type="email" name="formmail"/&gt;</a:t>
                </a:r>
                <a:endParaRPr lang="zh-CN" altLang="en-US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9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4476" y="4481336"/>
              <a:ext cx="2749246" cy="224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ACE6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4832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控件类型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7"/>
            <a:ext cx="10440988" cy="979783"/>
            <a:chOff x="1019175" y="1604797"/>
            <a:chExt cx="10440988" cy="979783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97978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5"/>
              <a:ext cx="9482075" cy="6305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中，增加了一些新的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input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控件类型，通过这些新的控件，可以丰富表单功能，更好的实现表单的控制和验证。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20053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2918019" y="2995613"/>
            <a:ext cx="6157913" cy="3006725"/>
            <a:chOff x="1143000" y="2996175"/>
            <a:chExt cx="6157706" cy="3006955"/>
          </a:xfrm>
        </p:grpSpPr>
        <p:grpSp>
          <p:nvGrpSpPr>
            <p:cNvPr id="12" name="组合 16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143000" y="2996175"/>
              <a:chExt cx="6157706" cy="3006955"/>
            </a:xfrm>
          </p:grpSpPr>
          <p:grpSp>
            <p:nvGrpSpPr>
              <p:cNvPr id="17" name="组合 5"/>
              <p:cNvGrpSpPr>
                <a:grpSpLocks/>
              </p:cNvGrpSpPr>
              <p:nvPr/>
            </p:nvGrpSpPr>
            <p:grpSpPr bwMode="auto">
              <a:xfrm>
                <a:off x="1143000" y="2996175"/>
                <a:ext cx="6157706" cy="3006955"/>
                <a:chOff x="1447803" y="2996175"/>
                <a:chExt cx="6157706" cy="3006955"/>
              </a:xfrm>
            </p:grpSpPr>
            <p:sp>
              <p:nvSpPr>
                <p:cNvPr id="19" name="矩形 18"/>
                <p:cNvSpPr/>
                <p:nvPr/>
              </p:nvSpPr>
              <p:spPr>
                <a:xfrm>
                  <a:off x="7461051" y="3318462"/>
                  <a:ext cx="144458" cy="2684668"/>
                </a:xfrm>
                <a:prstGeom prst="rect">
                  <a:avLst/>
                </a:prstGeom>
                <a:solidFill>
                  <a:srgbClr val="09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0" name="图文框 19"/>
                <p:cNvSpPr/>
                <p:nvPr/>
              </p:nvSpPr>
              <p:spPr>
                <a:xfrm>
                  <a:off x="1654171" y="3318462"/>
                  <a:ext cx="3773361" cy="2684668"/>
                </a:xfrm>
                <a:prstGeom prst="frame">
                  <a:avLst>
                    <a:gd name="adj1" fmla="val 5450"/>
                  </a:avLst>
                </a:prstGeom>
                <a:solidFill>
                  <a:srgbClr val="09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1" name="矩形 20"/>
                <p:cNvSpPr/>
                <p:nvPr/>
              </p:nvSpPr>
              <p:spPr>
                <a:xfrm>
                  <a:off x="1447803" y="2996175"/>
                  <a:ext cx="3632078" cy="2241721"/>
                </a:xfrm>
                <a:prstGeom prst="rect">
                  <a:avLst/>
                </a:prstGeom>
                <a:solidFill>
                  <a:srgbClr val="0969B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2" name="任意多边形 21"/>
                <p:cNvSpPr/>
                <p:nvPr/>
              </p:nvSpPr>
              <p:spPr>
                <a:xfrm>
                  <a:off x="1773230" y="5207731"/>
                  <a:ext cx="3479683" cy="719193"/>
                </a:xfrm>
                <a:custGeom>
                  <a:avLst/>
                  <a:gdLst>
                    <a:gd name="connsiteX0" fmla="*/ 0 w 3480816"/>
                    <a:gd name="connsiteY0" fmla="*/ 0 h 318737"/>
                    <a:gd name="connsiteX1" fmla="*/ 3480816 w 3480816"/>
                    <a:gd name="connsiteY1" fmla="*/ 0 h 318737"/>
                    <a:gd name="connsiteX2" fmla="*/ 3480816 w 3480816"/>
                    <a:gd name="connsiteY2" fmla="*/ 318737 h 318737"/>
                    <a:gd name="connsiteX3" fmla="*/ 0 w 3480816"/>
                    <a:gd name="connsiteY3" fmla="*/ 318737 h 318737"/>
                    <a:gd name="connsiteX4" fmla="*/ 0 w 3480816"/>
                    <a:gd name="connsiteY4" fmla="*/ 0 h 318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80816" h="318737">
                      <a:moveTo>
                        <a:pt x="0" y="0"/>
                      </a:moveTo>
                      <a:lnTo>
                        <a:pt x="3480816" y="0"/>
                      </a:lnTo>
                      <a:lnTo>
                        <a:pt x="3480816" y="318737"/>
                      </a:lnTo>
                      <a:lnTo>
                        <a:pt x="0" y="3187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142240" tIns="53340" rIns="142240" bIns="53340" spcCol="1270" anchor="ctr"/>
                <a:lstStyle/>
                <a:p>
                  <a:pPr defTabSz="62230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dirty="0" err="1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url</a:t>
                  </a:r>
                  <a:r>
                    <a:rPr lang="zh-CN" altLang="en-US" sz="1600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类型</a:t>
                  </a:r>
                  <a:endParaRPr lang="en-US" altLang="zh-CN" sz="1600" dirty="0">
                    <a:solidFill>
                      <a:srgbClr val="09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defTabSz="62230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&lt;input type="</a:t>
                  </a:r>
                  <a:r>
                    <a:rPr lang="en-US" altLang="zh-CN" sz="1600" dirty="0" err="1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url</a:t>
                  </a:r>
                  <a:r>
                    <a:rPr lang="en-US" altLang="zh-CN" sz="1600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" /&gt;</a:t>
                  </a:r>
                  <a:endParaRPr lang="zh-CN" altLang="en-US" sz="1600" dirty="0">
                    <a:solidFill>
                      <a:srgbClr val="09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" name="任意多边形 22"/>
                <p:cNvSpPr/>
                <p:nvPr/>
              </p:nvSpPr>
              <p:spPr>
                <a:xfrm>
                  <a:off x="5614851" y="3318462"/>
                  <a:ext cx="1725554" cy="2684668"/>
                </a:xfrm>
                <a:custGeom>
                  <a:avLst/>
                  <a:gdLst>
                    <a:gd name="connsiteX0" fmla="*/ 0 w 1725168"/>
                    <a:gd name="connsiteY0" fmla="*/ 0 h 2685210"/>
                    <a:gd name="connsiteX1" fmla="*/ 1725168 w 1725168"/>
                    <a:gd name="connsiteY1" fmla="*/ 0 h 2685210"/>
                    <a:gd name="connsiteX2" fmla="*/ 1725168 w 1725168"/>
                    <a:gd name="connsiteY2" fmla="*/ 2685210 h 2685210"/>
                    <a:gd name="connsiteX3" fmla="*/ 0 w 1725168"/>
                    <a:gd name="connsiteY3" fmla="*/ 2685210 h 2685210"/>
                    <a:gd name="connsiteX4" fmla="*/ 0 w 1725168"/>
                    <a:gd name="connsiteY4" fmla="*/ 0 h 26852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5168" h="2685210">
                      <a:moveTo>
                        <a:pt x="0" y="0"/>
                      </a:moveTo>
                      <a:lnTo>
                        <a:pt x="1725168" y="0"/>
                      </a:lnTo>
                      <a:lnTo>
                        <a:pt x="1725168" y="2685210"/>
                      </a:lnTo>
                      <a:lnTo>
                        <a:pt x="0" y="26852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0" tIns="0" rIns="0" bIns="0" spcCol="1270"/>
                <a:lstStyle/>
                <a:p>
                  <a:pPr defTabSz="622300" hangingPunct="1">
                    <a:lnSpc>
                      <a:spcPct val="15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400" dirty="0" err="1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url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类型的</a:t>
                  </a: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input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元素是一种用于输入</a:t>
                  </a: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URL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地址的文本框。</a:t>
                  </a:r>
                </a:p>
              </p:txBody>
            </p:sp>
          </p:grpSp>
          <p:sp>
            <p:nvSpPr>
              <p:cNvPr id="18" name="矩形 15"/>
              <p:cNvSpPr>
                <a:spLocks noChangeArrowheads="1"/>
              </p:cNvSpPr>
              <p:nvPr/>
            </p:nvSpPr>
            <p:spPr bwMode="auto">
              <a:xfrm>
                <a:off x="1462681" y="3070767"/>
                <a:ext cx="3312518" cy="12900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8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请输入个人网址：</a:t>
                </a:r>
                <a:r>
                  <a:rPr lang="en-US" altLang="zh-CN" sz="18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&lt;input type="</a:t>
                </a:r>
                <a:r>
                  <a:rPr lang="en-US" altLang="zh-CN" sz="18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url</a:t>
                </a:r>
                <a:r>
                  <a:rPr lang="en-US" altLang="zh-CN" sz="18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" name="</a:t>
                </a:r>
                <a:r>
                  <a:rPr lang="en-US" altLang="zh-CN" sz="18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user_url</a:t>
                </a:r>
                <a:r>
                  <a:rPr lang="en-US" altLang="zh-CN" sz="18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"/&gt;</a:t>
                </a:r>
                <a:endParaRPr lang="zh-CN" altLang="en-US" sz="1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6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8235" y="4516856"/>
              <a:ext cx="2849566" cy="2429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ACE6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9525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控件类型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7"/>
            <a:ext cx="10440988" cy="979783"/>
            <a:chOff x="1019175" y="1604797"/>
            <a:chExt cx="10440988" cy="979783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97978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5"/>
              <a:ext cx="9482075" cy="6305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中，增加了一些新的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input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控件类型，通过这些新的控件，可以丰富表单功能，更好的实现表单的控制和验证。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20053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2927350" y="2995613"/>
            <a:ext cx="6157913" cy="3006725"/>
            <a:chOff x="1143000" y="2996175"/>
            <a:chExt cx="6157706" cy="3006955"/>
          </a:xfrm>
        </p:grpSpPr>
        <p:grpSp>
          <p:nvGrpSpPr>
            <p:cNvPr id="12" name="组合 16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143000" y="2996175"/>
              <a:chExt cx="6157706" cy="3006955"/>
            </a:xfrm>
          </p:grpSpPr>
          <p:grpSp>
            <p:nvGrpSpPr>
              <p:cNvPr id="17" name="组合 5"/>
              <p:cNvGrpSpPr>
                <a:grpSpLocks/>
              </p:cNvGrpSpPr>
              <p:nvPr/>
            </p:nvGrpSpPr>
            <p:grpSpPr bwMode="auto">
              <a:xfrm>
                <a:off x="1143000" y="2996175"/>
                <a:ext cx="6157706" cy="3006955"/>
                <a:chOff x="1447803" y="2996175"/>
                <a:chExt cx="6157706" cy="3006955"/>
              </a:xfrm>
            </p:grpSpPr>
            <p:sp>
              <p:nvSpPr>
                <p:cNvPr id="19" name="矩形 18"/>
                <p:cNvSpPr/>
                <p:nvPr/>
              </p:nvSpPr>
              <p:spPr>
                <a:xfrm>
                  <a:off x="7461051" y="3318462"/>
                  <a:ext cx="144458" cy="2684668"/>
                </a:xfrm>
                <a:prstGeom prst="rect">
                  <a:avLst/>
                </a:prstGeom>
                <a:solidFill>
                  <a:srgbClr val="09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0" name="图文框 19"/>
                <p:cNvSpPr/>
                <p:nvPr/>
              </p:nvSpPr>
              <p:spPr>
                <a:xfrm>
                  <a:off x="1654171" y="3318462"/>
                  <a:ext cx="3773361" cy="2684668"/>
                </a:xfrm>
                <a:prstGeom prst="frame">
                  <a:avLst>
                    <a:gd name="adj1" fmla="val 5450"/>
                  </a:avLst>
                </a:prstGeom>
                <a:solidFill>
                  <a:srgbClr val="09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1" name="矩形 20"/>
                <p:cNvSpPr/>
                <p:nvPr/>
              </p:nvSpPr>
              <p:spPr>
                <a:xfrm>
                  <a:off x="1447803" y="2996175"/>
                  <a:ext cx="3632078" cy="2241721"/>
                </a:xfrm>
                <a:prstGeom prst="rect">
                  <a:avLst/>
                </a:prstGeom>
                <a:solidFill>
                  <a:srgbClr val="0969B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2" name="任意多边形 21"/>
                <p:cNvSpPr/>
                <p:nvPr/>
              </p:nvSpPr>
              <p:spPr>
                <a:xfrm>
                  <a:off x="1773230" y="5207731"/>
                  <a:ext cx="3479683" cy="719193"/>
                </a:xfrm>
                <a:custGeom>
                  <a:avLst/>
                  <a:gdLst>
                    <a:gd name="connsiteX0" fmla="*/ 0 w 3480816"/>
                    <a:gd name="connsiteY0" fmla="*/ 0 h 318737"/>
                    <a:gd name="connsiteX1" fmla="*/ 3480816 w 3480816"/>
                    <a:gd name="connsiteY1" fmla="*/ 0 h 318737"/>
                    <a:gd name="connsiteX2" fmla="*/ 3480816 w 3480816"/>
                    <a:gd name="connsiteY2" fmla="*/ 318737 h 318737"/>
                    <a:gd name="connsiteX3" fmla="*/ 0 w 3480816"/>
                    <a:gd name="connsiteY3" fmla="*/ 318737 h 318737"/>
                    <a:gd name="connsiteX4" fmla="*/ 0 w 3480816"/>
                    <a:gd name="connsiteY4" fmla="*/ 0 h 318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80816" h="318737">
                      <a:moveTo>
                        <a:pt x="0" y="0"/>
                      </a:moveTo>
                      <a:lnTo>
                        <a:pt x="3480816" y="0"/>
                      </a:lnTo>
                      <a:lnTo>
                        <a:pt x="3480816" y="318737"/>
                      </a:lnTo>
                      <a:lnTo>
                        <a:pt x="0" y="3187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142240" tIns="53340" rIns="142240" bIns="53340" spcCol="1270" anchor="ctr"/>
                <a:lstStyle/>
                <a:p>
                  <a:pPr defTabSz="62230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 err="1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tel</a:t>
                  </a:r>
                  <a:r>
                    <a:rPr lang="zh-CN" altLang="en-US" sz="16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类型</a:t>
                  </a:r>
                  <a:endParaRPr lang="en-US" altLang="zh-CN" sz="1600" b="1" dirty="0">
                    <a:solidFill>
                      <a:srgbClr val="09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defTabSz="62230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&lt;input type="</a:t>
                  </a:r>
                  <a:r>
                    <a:rPr lang="en-US" altLang="zh-CN" sz="1600" b="1" dirty="0" err="1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tel</a:t>
                  </a:r>
                  <a:r>
                    <a:rPr lang="en-US" altLang="zh-CN" sz="16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" /&gt;</a:t>
                  </a:r>
                  <a:endParaRPr lang="zh-CN" altLang="en-US" sz="1600" b="1" dirty="0">
                    <a:solidFill>
                      <a:srgbClr val="09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" name="任意多边形 22"/>
                <p:cNvSpPr/>
                <p:nvPr/>
              </p:nvSpPr>
              <p:spPr>
                <a:xfrm>
                  <a:off x="5614851" y="3318462"/>
                  <a:ext cx="1725554" cy="2684668"/>
                </a:xfrm>
                <a:custGeom>
                  <a:avLst/>
                  <a:gdLst>
                    <a:gd name="connsiteX0" fmla="*/ 0 w 1725168"/>
                    <a:gd name="connsiteY0" fmla="*/ 0 h 2685210"/>
                    <a:gd name="connsiteX1" fmla="*/ 1725168 w 1725168"/>
                    <a:gd name="connsiteY1" fmla="*/ 0 h 2685210"/>
                    <a:gd name="connsiteX2" fmla="*/ 1725168 w 1725168"/>
                    <a:gd name="connsiteY2" fmla="*/ 2685210 h 2685210"/>
                    <a:gd name="connsiteX3" fmla="*/ 0 w 1725168"/>
                    <a:gd name="connsiteY3" fmla="*/ 2685210 h 2685210"/>
                    <a:gd name="connsiteX4" fmla="*/ 0 w 1725168"/>
                    <a:gd name="connsiteY4" fmla="*/ 0 h 26852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5168" h="2685210">
                      <a:moveTo>
                        <a:pt x="0" y="0"/>
                      </a:moveTo>
                      <a:lnTo>
                        <a:pt x="1725168" y="0"/>
                      </a:lnTo>
                      <a:lnTo>
                        <a:pt x="1725168" y="2685210"/>
                      </a:lnTo>
                      <a:lnTo>
                        <a:pt x="0" y="26852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0" tIns="0" rIns="0" bIns="0" spcCol="1270"/>
                <a:lstStyle/>
                <a:p>
                  <a:pPr defTabSz="622300" hangingPunct="1">
                    <a:lnSpc>
                      <a:spcPct val="15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400" dirty="0" err="1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tel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类型用于提供输入电话号码的文本框，由于电话号码的格式千差万别，很难实现一个通用的格式。因此，</a:t>
                  </a:r>
                  <a:r>
                    <a:rPr lang="en-US" altLang="zh-CN" sz="1400" dirty="0" err="1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tel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类型通常会和</a:t>
                  </a: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pattern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属性配合使用。</a:t>
                  </a:r>
                </a:p>
              </p:txBody>
            </p:sp>
          </p:grpSp>
          <p:sp>
            <p:nvSpPr>
              <p:cNvPr id="18" name="矩形 15"/>
              <p:cNvSpPr>
                <a:spLocks noChangeArrowheads="1"/>
              </p:cNvSpPr>
              <p:nvPr/>
            </p:nvSpPr>
            <p:spPr bwMode="auto">
              <a:xfrm>
                <a:off x="1462681" y="3070767"/>
                <a:ext cx="3312518" cy="17055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请输入电话号码：</a:t>
                </a:r>
                <a:r>
                  <a:rPr lang="en-US" altLang="zh-CN" sz="1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&lt;input type="</a:t>
                </a:r>
                <a:r>
                  <a:rPr lang="en-US" altLang="zh-CN" sz="18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tel</a:t>
                </a:r>
                <a:r>
                  <a:rPr lang="en-US" altLang="zh-CN" sz="1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" name="</a:t>
                </a:r>
                <a:r>
                  <a:rPr lang="en-US" altLang="zh-CN" sz="18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telphone</a:t>
                </a:r>
                <a:r>
                  <a:rPr lang="en-US" altLang="zh-CN" sz="18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" pattern="^\d{11}$"/&gt;</a:t>
                </a:r>
                <a:endParaRPr lang="zh-CN" altLang="en-US" sz="1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1846" y="4851577"/>
              <a:ext cx="3041443" cy="240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ACE6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875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控件类型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7"/>
            <a:ext cx="10440988" cy="979783"/>
            <a:chOff x="1019175" y="1604797"/>
            <a:chExt cx="10440988" cy="979783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97978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5"/>
              <a:ext cx="9482075" cy="6305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中，增加了一些新的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input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控件类型，通过这些新的控件，可以丰富表单功能，更好的实现表单的控制和验证。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20053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2927350" y="2995613"/>
            <a:ext cx="6157913" cy="3006725"/>
            <a:chOff x="1143000" y="2996175"/>
            <a:chExt cx="6157706" cy="3006955"/>
          </a:xfrm>
        </p:grpSpPr>
        <p:grpSp>
          <p:nvGrpSpPr>
            <p:cNvPr id="12" name="组合 16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143000" y="2996175"/>
              <a:chExt cx="6157706" cy="3006955"/>
            </a:xfrm>
          </p:grpSpPr>
          <p:grpSp>
            <p:nvGrpSpPr>
              <p:cNvPr id="17" name="组合 5"/>
              <p:cNvGrpSpPr>
                <a:grpSpLocks/>
              </p:cNvGrpSpPr>
              <p:nvPr/>
            </p:nvGrpSpPr>
            <p:grpSpPr bwMode="auto">
              <a:xfrm>
                <a:off x="1143000" y="2996175"/>
                <a:ext cx="6157706" cy="3006955"/>
                <a:chOff x="1447803" y="2996175"/>
                <a:chExt cx="6157706" cy="3006955"/>
              </a:xfrm>
            </p:grpSpPr>
            <p:sp>
              <p:nvSpPr>
                <p:cNvPr id="19" name="矩形 18"/>
                <p:cNvSpPr/>
                <p:nvPr/>
              </p:nvSpPr>
              <p:spPr>
                <a:xfrm>
                  <a:off x="7461051" y="3318462"/>
                  <a:ext cx="144458" cy="2684668"/>
                </a:xfrm>
                <a:prstGeom prst="rect">
                  <a:avLst/>
                </a:prstGeom>
                <a:solidFill>
                  <a:srgbClr val="09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0" name="图文框 19"/>
                <p:cNvSpPr/>
                <p:nvPr/>
              </p:nvSpPr>
              <p:spPr>
                <a:xfrm>
                  <a:off x="1654171" y="3318462"/>
                  <a:ext cx="3773361" cy="2684668"/>
                </a:xfrm>
                <a:prstGeom prst="frame">
                  <a:avLst>
                    <a:gd name="adj1" fmla="val 5450"/>
                  </a:avLst>
                </a:prstGeom>
                <a:solidFill>
                  <a:srgbClr val="09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1" name="矩形 20"/>
                <p:cNvSpPr/>
                <p:nvPr/>
              </p:nvSpPr>
              <p:spPr>
                <a:xfrm>
                  <a:off x="1447803" y="2996175"/>
                  <a:ext cx="3632078" cy="2241721"/>
                </a:xfrm>
                <a:prstGeom prst="rect">
                  <a:avLst/>
                </a:prstGeom>
                <a:solidFill>
                  <a:srgbClr val="0969B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2" name="任意多边形 21"/>
                <p:cNvSpPr/>
                <p:nvPr/>
              </p:nvSpPr>
              <p:spPr>
                <a:xfrm>
                  <a:off x="1773230" y="5207731"/>
                  <a:ext cx="3479683" cy="719193"/>
                </a:xfrm>
                <a:custGeom>
                  <a:avLst/>
                  <a:gdLst>
                    <a:gd name="connsiteX0" fmla="*/ 0 w 3480816"/>
                    <a:gd name="connsiteY0" fmla="*/ 0 h 318737"/>
                    <a:gd name="connsiteX1" fmla="*/ 3480816 w 3480816"/>
                    <a:gd name="connsiteY1" fmla="*/ 0 h 318737"/>
                    <a:gd name="connsiteX2" fmla="*/ 3480816 w 3480816"/>
                    <a:gd name="connsiteY2" fmla="*/ 318737 h 318737"/>
                    <a:gd name="connsiteX3" fmla="*/ 0 w 3480816"/>
                    <a:gd name="connsiteY3" fmla="*/ 318737 h 318737"/>
                    <a:gd name="connsiteX4" fmla="*/ 0 w 3480816"/>
                    <a:gd name="connsiteY4" fmla="*/ 0 h 318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80816" h="318737">
                      <a:moveTo>
                        <a:pt x="0" y="0"/>
                      </a:moveTo>
                      <a:lnTo>
                        <a:pt x="3480816" y="0"/>
                      </a:lnTo>
                      <a:lnTo>
                        <a:pt x="3480816" y="318737"/>
                      </a:lnTo>
                      <a:lnTo>
                        <a:pt x="0" y="3187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142240" tIns="53340" rIns="142240" bIns="53340" spcCol="1270" anchor="ctr"/>
                <a:lstStyle/>
                <a:p>
                  <a:pPr defTabSz="62230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search </a:t>
                  </a:r>
                  <a:r>
                    <a:rPr lang="zh-CN" altLang="en-US" sz="16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类型</a:t>
                  </a:r>
                  <a:endParaRPr lang="en-US" altLang="zh-CN" sz="1600" b="1" dirty="0">
                    <a:solidFill>
                      <a:srgbClr val="09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defTabSz="62230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&lt;input type="search" /&gt;</a:t>
                  </a:r>
                  <a:endParaRPr lang="zh-CN" altLang="en-US" sz="1600" b="1" dirty="0">
                    <a:solidFill>
                      <a:srgbClr val="09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" name="任意多边形 22"/>
                <p:cNvSpPr/>
                <p:nvPr/>
              </p:nvSpPr>
              <p:spPr>
                <a:xfrm>
                  <a:off x="5614851" y="3318462"/>
                  <a:ext cx="1725554" cy="2684668"/>
                </a:xfrm>
                <a:custGeom>
                  <a:avLst/>
                  <a:gdLst>
                    <a:gd name="connsiteX0" fmla="*/ 0 w 1725168"/>
                    <a:gd name="connsiteY0" fmla="*/ 0 h 2685210"/>
                    <a:gd name="connsiteX1" fmla="*/ 1725168 w 1725168"/>
                    <a:gd name="connsiteY1" fmla="*/ 0 h 2685210"/>
                    <a:gd name="connsiteX2" fmla="*/ 1725168 w 1725168"/>
                    <a:gd name="connsiteY2" fmla="*/ 2685210 h 2685210"/>
                    <a:gd name="connsiteX3" fmla="*/ 0 w 1725168"/>
                    <a:gd name="connsiteY3" fmla="*/ 2685210 h 2685210"/>
                    <a:gd name="connsiteX4" fmla="*/ 0 w 1725168"/>
                    <a:gd name="connsiteY4" fmla="*/ 0 h 26852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5168" h="2685210">
                      <a:moveTo>
                        <a:pt x="0" y="0"/>
                      </a:moveTo>
                      <a:lnTo>
                        <a:pt x="1725168" y="0"/>
                      </a:lnTo>
                      <a:lnTo>
                        <a:pt x="1725168" y="2685210"/>
                      </a:lnTo>
                      <a:lnTo>
                        <a:pt x="0" y="26852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0" tIns="0" rIns="0" bIns="0" spcCol="1270"/>
                <a:lstStyle/>
                <a:p>
                  <a:pPr defTabSz="622300" hangingPunct="1">
                    <a:lnSpc>
                      <a:spcPct val="15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search 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类型是一种专门用于输入搜索关键词的文本框，它能自动记录一些字符。在用户输入内容后，其右侧会附带一个删除图标，单击这个图标按钮可以快速清除内容。</a:t>
                  </a:r>
                </a:p>
              </p:txBody>
            </p:sp>
          </p:grpSp>
          <p:sp>
            <p:nvSpPr>
              <p:cNvPr id="18" name="矩形 15"/>
              <p:cNvSpPr>
                <a:spLocks noChangeArrowheads="1"/>
              </p:cNvSpPr>
              <p:nvPr/>
            </p:nvSpPr>
            <p:spPr bwMode="auto">
              <a:xfrm>
                <a:off x="1462681" y="3070767"/>
                <a:ext cx="3312518" cy="1423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输入搜索关键词：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&lt;input type="search" name="</a:t>
                </a:r>
                <a:r>
                  <a:rPr lang="en-US" altLang="zh-CN" sz="2000" b="1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searchinfo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"/&gt;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46609" y="4512888"/>
              <a:ext cx="3047969" cy="266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ACE6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6882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控件类型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7"/>
            <a:ext cx="10440988" cy="979783"/>
            <a:chOff x="1019175" y="1604797"/>
            <a:chExt cx="10440988" cy="979783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97978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5"/>
              <a:ext cx="9482075" cy="6305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中，增加了一些新的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input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控件类型，通过这些新的控件，可以丰富表单功能，更好的实现表单的控制和验证。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20053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2927350" y="2995613"/>
            <a:ext cx="6157913" cy="3006725"/>
            <a:chOff x="1143000" y="2996175"/>
            <a:chExt cx="6157706" cy="3006955"/>
          </a:xfrm>
        </p:grpSpPr>
        <p:grpSp>
          <p:nvGrpSpPr>
            <p:cNvPr id="12" name="组合 16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143000" y="2996175"/>
              <a:chExt cx="6157706" cy="3006955"/>
            </a:xfrm>
          </p:grpSpPr>
          <p:grpSp>
            <p:nvGrpSpPr>
              <p:cNvPr id="17" name="组合 5"/>
              <p:cNvGrpSpPr>
                <a:grpSpLocks/>
              </p:cNvGrpSpPr>
              <p:nvPr/>
            </p:nvGrpSpPr>
            <p:grpSpPr bwMode="auto">
              <a:xfrm>
                <a:off x="1143000" y="2996175"/>
                <a:ext cx="6157706" cy="3006955"/>
                <a:chOff x="1447803" y="2996175"/>
                <a:chExt cx="6157706" cy="3006955"/>
              </a:xfrm>
            </p:grpSpPr>
            <p:sp>
              <p:nvSpPr>
                <p:cNvPr id="19" name="矩形 18"/>
                <p:cNvSpPr/>
                <p:nvPr/>
              </p:nvSpPr>
              <p:spPr>
                <a:xfrm>
                  <a:off x="7461051" y="3318462"/>
                  <a:ext cx="144458" cy="2684668"/>
                </a:xfrm>
                <a:prstGeom prst="rect">
                  <a:avLst/>
                </a:prstGeom>
                <a:solidFill>
                  <a:srgbClr val="09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0" name="图文框 19"/>
                <p:cNvSpPr/>
                <p:nvPr/>
              </p:nvSpPr>
              <p:spPr>
                <a:xfrm>
                  <a:off x="1654171" y="3318462"/>
                  <a:ext cx="3773361" cy="2684668"/>
                </a:xfrm>
                <a:prstGeom prst="frame">
                  <a:avLst>
                    <a:gd name="adj1" fmla="val 5450"/>
                  </a:avLst>
                </a:prstGeom>
                <a:solidFill>
                  <a:srgbClr val="09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1" name="矩形 20"/>
                <p:cNvSpPr/>
                <p:nvPr/>
              </p:nvSpPr>
              <p:spPr>
                <a:xfrm>
                  <a:off x="1447803" y="2996175"/>
                  <a:ext cx="3632078" cy="2241721"/>
                </a:xfrm>
                <a:prstGeom prst="rect">
                  <a:avLst/>
                </a:prstGeom>
                <a:solidFill>
                  <a:srgbClr val="0969B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2" name="任意多边形 21"/>
                <p:cNvSpPr/>
                <p:nvPr/>
              </p:nvSpPr>
              <p:spPr>
                <a:xfrm>
                  <a:off x="1773230" y="5207731"/>
                  <a:ext cx="3479683" cy="719193"/>
                </a:xfrm>
                <a:custGeom>
                  <a:avLst/>
                  <a:gdLst>
                    <a:gd name="connsiteX0" fmla="*/ 0 w 3480816"/>
                    <a:gd name="connsiteY0" fmla="*/ 0 h 318737"/>
                    <a:gd name="connsiteX1" fmla="*/ 3480816 w 3480816"/>
                    <a:gd name="connsiteY1" fmla="*/ 0 h 318737"/>
                    <a:gd name="connsiteX2" fmla="*/ 3480816 w 3480816"/>
                    <a:gd name="connsiteY2" fmla="*/ 318737 h 318737"/>
                    <a:gd name="connsiteX3" fmla="*/ 0 w 3480816"/>
                    <a:gd name="connsiteY3" fmla="*/ 318737 h 318737"/>
                    <a:gd name="connsiteX4" fmla="*/ 0 w 3480816"/>
                    <a:gd name="connsiteY4" fmla="*/ 0 h 318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80816" h="318737">
                      <a:moveTo>
                        <a:pt x="0" y="0"/>
                      </a:moveTo>
                      <a:lnTo>
                        <a:pt x="3480816" y="0"/>
                      </a:lnTo>
                      <a:lnTo>
                        <a:pt x="3480816" y="318737"/>
                      </a:lnTo>
                      <a:lnTo>
                        <a:pt x="0" y="3187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142240" tIns="53340" rIns="142240" bIns="53340" spcCol="1270" anchor="ctr"/>
                <a:lstStyle/>
                <a:p>
                  <a:pPr defTabSz="62230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color</a:t>
                  </a:r>
                  <a:r>
                    <a:rPr lang="zh-CN" altLang="en-US" sz="16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类型</a:t>
                  </a:r>
                  <a:endParaRPr lang="en-US" altLang="zh-CN" sz="1600" b="1" dirty="0">
                    <a:solidFill>
                      <a:srgbClr val="09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defTabSz="62230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&lt;input type="color" /&gt;</a:t>
                  </a:r>
                  <a:endParaRPr lang="zh-CN" altLang="en-US" sz="1600" b="1" dirty="0">
                    <a:solidFill>
                      <a:srgbClr val="09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" name="任意多边形 22"/>
                <p:cNvSpPr/>
                <p:nvPr/>
              </p:nvSpPr>
              <p:spPr>
                <a:xfrm>
                  <a:off x="5614851" y="3318462"/>
                  <a:ext cx="1725554" cy="2684668"/>
                </a:xfrm>
                <a:custGeom>
                  <a:avLst/>
                  <a:gdLst>
                    <a:gd name="connsiteX0" fmla="*/ 0 w 1725168"/>
                    <a:gd name="connsiteY0" fmla="*/ 0 h 2685210"/>
                    <a:gd name="connsiteX1" fmla="*/ 1725168 w 1725168"/>
                    <a:gd name="connsiteY1" fmla="*/ 0 h 2685210"/>
                    <a:gd name="connsiteX2" fmla="*/ 1725168 w 1725168"/>
                    <a:gd name="connsiteY2" fmla="*/ 2685210 h 2685210"/>
                    <a:gd name="connsiteX3" fmla="*/ 0 w 1725168"/>
                    <a:gd name="connsiteY3" fmla="*/ 2685210 h 2685210"/>
                    <a:gd name="connsiteX4" fmla="*/ 0 w 1725168"/>
                    <a:gd name="connsiteY4" fmla="*/ 0 h 26852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5168" h="2685210">
                      <a:moveTo>
                        <a:pt x="0" y="0"/>
                      </a:moveTo>
                      <a:lnTo>
                        <a:pt x="1725168" y="0"/>
                      </a:lnTo>
                      <a:lnTo>
                        <a:pt x="1725168" y="2685210"/>
                      </a:lnTo>
                      <a:lnTo>
                        <a:pt x="0" y="26852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0" tIns="0" rIns="0" bIns="0" spcCol="1270"/>
                <a:lstStyle/>
                <a:p>
                  <a:pPr defTabSz="622300" hangingPunct="1">
                    <a:lnSpc>
                      <a:spcPct val="15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color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类型用于提供设置颜色的文本框，用于实现一个</a:t>
                  </a: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RGB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颜色输入。其基本形式是</a:t>
                  </a: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#RRGGBB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，默认值为</a:t>
                  </a: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#000000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，通过</a:t>
                  </a: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value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属性值可以更改默认颜色。</a:t>
                  </a:r>
                </a:p>
              </p:txBody>
            </p:sp>
          </p:grpSp>
          <p:sp>
            <p:nvSpPr>
              <p:cNvPr id="18" name="矩形 15"/>
              <p:cNvSpPr>
                <a:spLocks noChangeArrowheads="1"/>
              </p:cNvSpPr>
              <p:nvPr/>
            </p:nvSpPr>
            <p:spPr bwMode="auto">
              <a:xfrm>
                <a:off x="1462681" y="3070767"/>
                <a:ext cx="3312518" cy="1423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请选取一种颜色：</a:t>
                </a: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&lt;input type="color" name="color1"/&gt;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4146" y="4506974"/>
              <a:ext cx="2637508" cy="2619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ACE6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08882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控件类型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7"/>
            <a:ext cx="10440988" cy="979783"/>
            <a:chOff x="1019175" y="1604797"/>
            <a:chExt cx="10440988" cy="979783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97978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5"/>
              <a:ext cx="9482075" cy="6305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中，增加了一些新的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input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控件类型，通过这些新的控件，可以丰富表单功能，更好的实现表单的控制和验证。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20053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2927350" y="2995613"/>
            <a:ext cx="6157913" cy="3006725"/>
            <a:chOff x="1143000" y="2996175"/>
            <a:chExt cx="6157706" cy="3006955"/>
          </a:xfrm>
        </p:grpSpPr>
        <p:grpSp>
          <p:nvGrpSpPr>
            <p:cNvPr id="12" name="组合 16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143000" y="2996175"/>
              <a:chExt cx="6157706" cy="3006955"/>
            </a:xfrm>
          </p:grpSpPr>
          <p:grpSp>
            <p:nvGrpSpPr>
              <p:cNvPr id="17" name="组合 5"/>
              <p:cNvGrpSpPr>
                <a:grpSpLocks/>
              </p:cNvGrpSpPr>
              <p:nvPr/>
            </p:nvGrpSpPr>
            <p:grpSpPr bwMode="auto">
              <a:xfrm>
                <a:off x="1143000" y="2996175"/>
                <a:ext cx="6157706" cy="3006955"/>
                <a:chOff x="1447803" y="2996175"/>
                <a:chExt cx="6157706" cy="3006955"/>
              </a:xfrm>
            </p:grpSpPr>
            <p:sp>
              <p:nvSpPr>
                <p:cNvPr id="19" name="矩形 18"/>
                <p:cNvSpPr/>
                <p:nvPr/>
              </p:nvSpPr>
              <p:spPr>
                <a:xfrm>
                  <a:off x="7461051" y="3318462"/>
                  <a:ext cx="144458" cy="2684668"/>
                </a:xfrm>
                <a:prstGeom prst="rect">
                  <a:avLst/>
                </a:prstGeom>
                <a:solidFill>
                  <a:srgbClr val="09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0" name="图文框 19"/>
                <p:cNvSpPr/>
                <p:nvPr/>
              </p:nvSpPr>
              <p:spPr>
                <a:xfrm>
                  <a:off x="1654171" y="3318462"/>
                  <a:ext cx="3773361" cy="2684668"/>
                </a:xfrm>
                <a:prstGeom prst="frame">
                  <a:avLst>
                    <a:gd name="adj1" fmla="val 5450"/>
                  </a:avLst>
                </a:prstGeom>
                <a:solidFill>
                  <a:srgbClr val="09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1" name="矩形 20"/>
                <p:cNvSpPr/>
                <p:nvPr/>
              </p:nvSpPr>
              <p:spPr>
                <a:xfrm>
                  <a:off x="1447803" y="2996175"/>
                  <a:ext cx="3632078" cy="2241721"/>
                </a:xfrm>
                <a:prstGeom prst="rect">
                  <a:avLst/>
                </a:prstGeom>
                <a:solidFill>
                  <a:srgbClr val="0969B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2" name="任意多边形 21"/>
                <p:cNvSpPr/>
                <p:nvPr/>
              </p:nvSpPr>
              <p:spPr>
                <a:xfrm>
                  <a:off x="1773230" y="5207731"/>
                  <a:ext cx="3479683" cy="719193"/>
                </a:xfrm>
                <a:custGeom>
                  <a:avLst/>
                  <a:gdLst>
                    <a:gd name="connsiteX0" fmla="*/ 0 w 3480816"/>
                    <a:gd name="connsiteY0" fmla="*/ 0 h 318737"/>
                    <a:gd name="connsiteX1" fmla="*/ 3480816 w 3480816"/>
                    <a:gd name="connsiteY1" fmla="*/ 0 h 318737"/>
                    <a:gd name="connsiteX2" fmla="*/ 3480816 w 3480816"/>
                    <a:gd name="connsiteY2" fmla="*/ 318737 h 318737"/>
                    <a:gd name="connsiteX3" fmla="*/ 0 w 3480816"/>
                    <a:gd name="connsiteY3" fmla="*/ 318737 h 318737"/>
                    <a:gd name="connsiteX4" fmla="*/ 0 w 3480816"/>
                    <a:gd name="connsiteY4" fmla="*/ 0 h 318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80816" h="318737">
                      <a:moveTo>
                        <a:pt x="0" y="0"/>
                      </a:moveTo>
                      <a:lnTo>
                        <a:pt x="3480816" y="0"/>
                      </a:lnTo>
                      <a:lnTo>
                        <a:pt x="3480816" y="318737"/>
                      </a:lnTo>
                      <a:lnTo>
                        <a:pt x="0" y="3187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142240" tIns="53340" rIns="142240" bIns="53340" spcCol="1270" anchor="ctr"/>
                <a:lstStyle/>
                <a:p>
                  <a:pPr defTabSz="62230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number</a:t>
                  </a:r>
                  <a:r>
                    <a:rPr lang="zh-CN" altLang="en-US" sz="16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类型</a:t>
                  </a:r>
                  <a:endParaRPr lang="en-US" altLang="zh-CN" sz="1600" b="1" dirty="0">
                    <a:solidFill>
                      <a:srgbClr val="09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defTabSz="62230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&lt;input type="number" /&gt;</a:t>
                  </a:r>
                  <a:endParaRPr lang="zh-CN" altLang="en-US" sz="1600" b="1" dirty="0">
                    <a:solidFill>
                      <a:srgbClr val="09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" name="任意多边形 22"/>
                <p:cNvSpPr/>
                <p:nvPr/>
              </p:nvSpPr>
              <p:spPr>
                <a:xfrm>
                  <a:off x="5614851" y="3250194"/>
                  <a:ext cx="1725554" cy="2684667"/>
                </a:xfrm>
                <a:custGeom>
                  <a:avLst/>
                  <a:gdLst>
                    <a:gd name="connsiteX0" fmla="*/ 0 w 1725168"/>
                    <a:gd name="connsiteY0" fmla="*/ 0 h 2685210"/>
                    <a:gd name="connsiteX1" fmla="*/ 1725168 w 1725168"/>
                    <a:gd name="connsiteY1" fmla="*/ 0 h 2685210"/>
                    <a:gd name="connsiteX2" fmla="*/ 1725168 w 1725168"/>
                    <a:gd name="connsiteY2" fmla="*/ 2685210 h 2685210"/>
                    <a:gd name="connsiteX3" fmla="*/ 0 w 1725168"/>
                    <a:gd name="connsiteY3" fmla="*/ 2685210 h 2685210"/>
                    <a:gd name="connsiteX4" fmla="*/ 0 w 1725168"/>
                    <a:gd name="connsiteY4" fmla="*/ 0 h 26852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5168" h="2685210">
                      <a:moveTo>
                        <a:pt x="0" y="0"/>
                      </a:moveTo>
                      <a:lnTo>
                        <a:pt x="1725168" y="0"/>
                      </a:lnTo>
                      <a:lnTo>
                        <a:pt x="1725168" y="2685210"/>
                      </a:lnTo>
                      <a:lnTo>
                        <a:pt x="0" y="26852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0" tIns="0" rIns="0" bIns="0" spcCol="1270"/>
                <a:lstStyle/>
                <a:p>
                  <a:pPr defTabSz="622300" hangingPunct="1">
                    <a:lnSpc>
                      <a:spcPct val="15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number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类型的</a:t>
                  </a: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input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元素用于提供输入数值的文本框。在提交表单时，会自动检查该输入框中的内容是否为数字。如果输入的内容不是数字或者数字不在限定范围内，则会出现错误提示。</a:t>
                  </a:r>
                </a:p>
              </p:txBody>
            </p:sp>
          </p:grpSp>
          <p:sp>
            <p:nvSpPr>
              <p:cNvPr id="18" name="矩形 15"/>
              <p:cNvSpPr>
                <a:spLocks noChangeArrowheads="1"/>
              </p:cNvSpPr>
              <p:nvPr/>
            </p:nvSpPr>
            <p:spPr bwMode="auto">
              <a:xfrm>
                <a:off x="1462681" y="3070767"/>
                <a:ext cx="3312518" cy="13849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请输入数值：</a:t>
                </a:r>
                <a:r>
                  <a:rPr lang="en-US" altLang="zh-CN" sz="14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&lt;input type="number" name="number1" value="1" min="1" max="20" step="4"/&gt;</a:t>
                </a:r>
                <a:endPara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4162" y="4509384"/>
              <a:ext cx="1514475" cy="250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ACE6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50796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控件类型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7"/>
            <a:ext cx="10440988" cy="979783"/>
            <a:chOff x="1019175" y="1604797"/>
            <a:chExt cx="10440988" cy="979783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97978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5"/>
              <a:ext cx="9482075" cy="6305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中，增加了一些新的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input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控件类型，通过这些新的控件，可以丰富表单功能，更好的实现表单的控制和验证。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20053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2927350" y="2995613"/>
            <a:ext cx="6157913" cy="3006725"/>
            <a:chOff x="1143000" y="2996175"/>
            <a:chExt cx="6157706" cy="3006955"/>
          </a:xfrm>
        </p:grpSpPr>
        <p:grpSp>
          <p:nvGrpSpPr>
            <p:cNvPr id="12" name="组合 5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447803" y="2996175"/>
              <a:chExt cx="6157706" cy="3006955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7461051" y="3318462"/>
                <a:ext cx="144458" cy="2684668"/>
              </a:xfrm>
              <a:prstGeom prst="rect">
                <a:avLst/>
              </a:prstGeom>
              <a:solidFill>
                <a:srgbClr val="0969B2"/>
              </a:solidFill>
            </p:spPr>
            <p:style>
              <a:lnRef idx="0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8" name="图文框 17"/>
              <p:cNvSpPr/>
              <p:nvPr/>
            </p:nvSpPr>
            <p:spPr>
              <a:xfrm>
                <a:off x="1654171" y="3318462"/>
                <a:ext cx="3773361" cy="2684668"/>
              </a:xfrm>
              <a:prstGeom prst="frame">
                <a:avLst>
                  <a:gd name="adj1" fmla="val 5450"/>
                </a:avLst>
              </a:prstGeom>
              <a:solidFill>
                <a:srgbClr val="0969B2"/>
              </a:solidFill>
            </p:spPr>
            <p:style>
              <a:lnRef idx="0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alpha val="4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alpha val="4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9" name="矩形 18"/>
              <p:cNvSpPr/>
              <p:nvPr/>
            </p:nvSpPr>
            <p:spPr>
              <a:xfrm>
                <a:off x="1447803" y="2996175"/>
                <a:ext cx="3632078" cy="2241721"/>
              </a:xfrm>
              <a:prstGeom prst="rect">
                <a:avLst/>
              </a:prstGeom>
              <a:solidFill>
                <a:srgbClr val="0969B2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0" name="任意多边形 19"/>
              <p:cNvSpPr/>
              <p:nvPr/>
            </p:nvSpPr>
            <p:spPr>
              <a:xfrm>
                <a:off x="1773230" y="5207731"/>
                <a:ext cx="3479683" cy="719193"/>
              </a:xfrm>
              <a:custGeom>
                <a:avLst/>
                <a:gdLst>
                  <a:gd name="connsiteX0" fmla="*/ 0 w 3480816"/>
                  <a:gd name="connsiteY0" fmla="*/ 0 h 318737"/>
                  <a:gd name="connsiteX1" fmla="*/ 3480816 w 3480816"/>
                  <a:gd name="connsiteY1" fmla="*/ 0 h 318737"/>
                  <a:gd name="connsiteX2" fmla="*/ 3480816 w 3480816"/>
                  <a:gd name="connsiteY2" fmla="*/ 318737 h 318737"/>
                  <a:gd name="connsiteX3" fmla="*/ 0 w 3480816"/>
                  <a:gd name="connsiteY3" fmla="*/ 318737 h 318737"/>
                  <a:gd name="connsiteX4" fmla="*/ 0 w 3480816"/>
                  <a:gd name="connsiteY4" fmla="*/ 0 h 318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0816" h="318737">
                    <a:moveTo>
                      <a:pt x="0" y="0"/>
                    </a:moveTo>
                    <a:lnTo>
                      <a:pt x="3480816" y="0"/>
                    </a:lnTo>
                    <a:lnTo>
                      <a:pt x="3480816" y="318737"/>
                    </a:lnTo>
                    <a:lnTo>
                      <a:pt x="0" y="318737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42240" tIns="53340" rIns="142240" bIns="53340" spcCol="1270" anchor="ctr"/>
              <a:lstStyle/>
              <a:p>
                <a:pPr defTabSz="6223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altLang="zh-CN" sz="1600" b="1" dirty="0">
                    <a:solidFill>
                      <a:srgbClr val="09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range</a:t>
                </a:r>
                <a:r>
                  <a:rPr lang="zh-CN" altLang="en-US" sz="1600" b="1" dirty="0">
                    <a:solidFill>
                      <a:srgbClr val="09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类型</a:t>
                </a:r>
                <a:endParaRPr lang="en-US" altLang="zh-CN" sz="1600" b="1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defTabSz="62230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altLang="zh-CN" sz="1600" b="1" dirty="0">
                    <a:solidFill>
                      <a:srgbClr val="09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&lt;input type="range" /&gt;</a:t>
                </a:r>
                <a:endParaRPr lang="zh-CN" altLang="en-US" sz="1600" b="1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任意多边形 20"/>
              <p:cNvSpPr/>
              <p:nvPr/>
            </p:nvSpPr>
            <p:spPr>
              <a:xfrm>
                <a:off x="5614851" y="3250194"/>
                <a:ext cx="1725554" cy="2684667"/>
              </a:xfrm>
              <a:custGeom>
                <a:avLst/>
                <a:gdLst>
                  <a:gd name="connsiteX0" fmla="*/ 0 w 1725168"/>
                  <a:gd name="connsiteY0" fmla="*/ 0 h 2685210"/>
                  <a:gd name="connsiteX1" fmla="*/ 1725168 w 1725168"/>
                  <a:gd name="connsiteY1" fmla="*/ 0 h 2685210"/>
                  <a:gd name="connsiteX2" fmla="*/ 1725168 w 1725168"/>
                  <a:gd name="connsiteY2" fmla="*/ 2685210 h 2685210"/>
                  <a:gd name="connsiteX3" fmla="*/ 0 w 1725168"/>
                  <a:gd name="connsiteY3" fmla="*/ 2685210 h 2685210"/>
                  <a:gd name="connsiteX4" fmla="*/ 0 w 1725168"/>
                  <a:gd name="connsiteY4" fmla="*/ 0 h 2685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25168" h="2685210">
                    <a:moveTo>
                      <a:pt x="0" y="0"/>
                    </a:moveTo>
                    <a:lnTo>
                      <a:pt x="1725168" y="0"/>
                    </a:lnTo>
                    <a:lnTo>
                      <a:pt x="1725168" y="2685210"/>
                    </a:lnTo>
                    <a:lnTo>
                      <a:pt x="0" y="268521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0" tIns="0" rIns="0" bIns="0" spcCol="1270"/>
              <a:lstStyle/>
              <a:p>
                <a:pPr defTabSz="622300" hangingPunct="1">
                  <a:lnSpc>
                    <a:spcPct val="150000"/>
                  </a:lnSpc>
                  <a:spcAft>
                    <a:spcPct val="35000"/>
                  </a:spcAft>
                  <a:defRPr/>
                </a:pPr>
                <a:r>
                  <a:rPr lang="en-US" altLang="zh-CN" sz="14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range</a:t>
                </a:r>
                <a:r>
                  <a:rPr lang="zh-CN" altLang="en-US" sz="14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类型的</a:t>
                </a:r>
                <a:r>
                  <a:rPr lang="en-US" altLang="zh-CN" sz="14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input</a:t>
                </a:r>
                <a:r>
                  <a:rPr lang="zh-CN" altLang="en-US" sz="14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元素用于提供一定范围内数值的输入范围，在网页中显示为滑动条。它的常用属性与</a:t>
                </a:r>
                <a:r>
                  <a:rPr lang="en-US" altLang="zh-CN" sz="14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number</a:t>
                </a:r>
                <a:r>
                  <a:rPr lang="zh-CN" altLang="en-US" sz="1400" dirty="0">
                    <a:solidFill>
                      <a:srgbClr val="595959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类型一样。</a:t>
                </a:r>
              </a:p>
            </p:txBody>
          </p:sp>
        </p:grpSp>
        <p:sp>
          <p:nvSpPr>
            <p:cNvPr id="16" name="矩形 15"/>
            <p:cNvSpPr>
              <a:spLocks noChangeArrowheads="1"/>
            </p:cNvSpPr>
            <p:nvPr/>
          </p:nvSpPr>
          <p:spPr bwMode="auto">
            <a:xfrm>
              <a:off x="1462681" y="3070767"/>
              <a:ext cx="3312518" cy="10618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请输入数值：</a:t>
              </a: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&lt;input type=“range" name="number1" value="1" min="1" max="20" step="4"/&gt;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2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控件类型</a:t>
            </a:r>
            <a:endParaRPr lang="zh-CN" altLang="en-US" sz="2000" dirty="0"/>
          </a:p>
        </p:txBody>
      </p:sp>
      <p:grpSp>
        <p:nvGrpSpPr>
          <p:cNvPr id="9" name="组合 8"/>
          <p:cNvGrpSpPr/>
          <p:nvPr/>
        </p:nvGrpSpPr>
        <p:grpSpPr>
          <a:xfrm>
            <a:off x="1019175" y="1604797"/>
            <a:ext cx="10440988" cy="979783"/>
            <a:chOff x="1019175" y="1604797"/>
            <a:chExt cx="10440988" cy="979783"/>
          </a:xfrm>
        </p:grpSpPr>
        <p:sp>
          <p:nvSpPr>
            <p:cNvPr id="10" name="圆角矩形 9"/>
            <p:cNvSpPr/>
            <p:nvPr/>
          </p:nvSpPr>
          <p:spPr>
            <a:xfrm>
              <a:off x="1019175" y="1604798"/>
              <a:ext cx="10440988" cy="979782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3" name="TextBox 38"/>
            <p:cNvSpPr txBox="1"/>
            <p:nvPr/>
          </p:nvSpPr>
          <p:spPr>
            <a:xfrm>
              <a:off x="1471674" y="1845965"/>
              <a:ext cx="9482075" cy="63055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中，增加了一些新的</a:t>
              </a:r>
              <a:r>
                <a:rPr lang="en-US" altLang="zh-CN" sz="16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input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控件类型，通过这些新的控件，可以丰富表单功能，更好的实现表单的控制和验证。</a:t>
              </a:r>
            </a:p>
          </p:txBody>
        </p:sp>
        <p:sp>
          <p:nvSpPr>
            <p:cNvPr id="14" name="矩形 93"/>
            <p:cNvSpPr/>
            <p:nvPr/>
          </p:nvSpPr>
          <p:spPr>
            <a:xfrm>
              <a:off x="1024831" y="160479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5" name="矩形 93"/>
            <p:cNvSpPr/>
            <p:nvPr/>
          </p:nvSpPr>
          <p:spPr>
            <a:xfrm rot="10800000">
              <a:off x="11076120" y="2200537"/>
              <a:ext cx="384043" cy="384043"/>
            </a:xfrm>
            <a:custGeom>
              <a:avLst/>
              <a:gdLst/>
              <a:ahLst/>
              <a:cxnLst/>
              <a:rect l="l" t="t" r="r" b="b"/>
              <a:pathLst>
                <a:path w="504056" h="504056">
                  <a:moveTo>
                    <a:pt x="0" y="0"/>
                  </a:moveTo>
                  <a:lnTo>
                    <a:pt x="504056" y="0"/>
                  </a:lnTo>
                  <a:lnTo>
                    <a:pt x="504056" y="144016"/>
                  </a:lnTo>
                  <a:lnTo>
                    <a:pt x="144016" y="144016"/>
                  </a:lnTo>
                  <a:lnTo>
                    <a:pt x="144016" y="504056"/>
                  </a:lnTo>
                  <a:lnTo>
                    <a:pt x="0" y="5040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2927350" y="2995613"/>
            <a:ext cx="6157913" cy="3006725"/>
            <a:chOff x="1143000" y="2996175"/>
            <a:chExt cx="6157706" cy="3006955"/>
          </a:xfrm>
        </p:grpSpPr>
        <p:grpSp>
          <p:nvGrpSpPr>
            <p:cNvPr id="12" name="组合 16"/>
            <p:cNvGrpSpPr>
              <a:grpSpLocks/>
            </p:cNvGrpSpPr>
            <p:nvPr/>
          </p:nvGrpSpPr>
          <p:grpSpPr bwMode="auto">
            <a:xfrm>
              <a:off x="1143000" y="2996175"/>
              <a:ext cx="6157706" cy="3006955"/>
              <a:chOff x="1143000" y="2996175"/>
              <a:chExt cx="6157706" cy="3006955"/>
            </a:xfrm>
          </p:grpSpPr>
          <p:grpSp>
            <p:nvGrpSpPr>
              <p:cNvPr id="17" name="组合 5"/>
              <p:cNvGrpSpPr>
                <a:grpSpLocks/>
              </p:cNvGrpSpPr>
              <p:nvPr/>
            </p:nvGrpSpPr>
            <p:grpSpPr bwMode="auto">
              <a:xfrm>
                <a:off x="1143000" y="2996175"/>
                <a:ext cx="6157706" cy="3006955"/>
                <a:chOff x="1447803" y="2996175"/>
                <a:chExt cx="6157706" cy="3006955"/>
              </a:xfrm>
            </p:grpSpPr>
            <p:sp>
              <p:nvSpPr>
                <p:cNvPr id="19" name="矩形 18"/>
                <p:cNvSpPr/>
                <p:nvPr/>
              </p:nvSpPr>
              <p:spPr>
                <a:xfrm>
                  <a:off x="7461051" y="3318462"/>
                  <a:ext cx="144458" cy="2684668"/>
                </a:xfrm>
                <a:prstGeom prst="rect">
                  <a:avLst/>
                </a:prstGeom>
                <a:solidFill>
                  <a:srgbClr val="09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0" name="图文框 19"/>
                <p:cNvSpPr/>
                <p:nvPr/>
              </p:nvSpPr>
              <p:spPr>
                <a:xfrm>
                  <a:off x="1654171" y="3318462"/>
                  <a:ext cx="3773361" cy="2684668"/>
                </a:xfrm>
                <a:prstGeom prst="frame">
                  <a:avLst>
                    <a:gd name="adj1" fmla="val 5450"/>
                  </a:avLst>
                </a:prstGeom>
                <a:solidFill>
                  <a:srgbClr val="0969B2"/>
                </a:solidFill>
              </p:spPr>
              <p:style>
                <a:lnRef idx="0">
                  <a:schemeClr val="accent4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alpha val="4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1" name="矩形 20"/>
                <p:cNvSpPr/>
                <p:nvPr/>
              </p:nvSpPr>
              <p:spPr>
                <a:xfrm>
                  <a:off x="1447803" y="2996175"/>
                  <a:ext cx="3632078" cy="2241721"/>
                </a:xfrm>
                <a:prstGeom prst="rect">
                  <a:avLst/>
                </a:prstGeom>
                <a:solidFill>
                  <a:srgbClr val="0969B2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4">
                    <a:tint val="5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>
                    <a:hueOff val="0"/>
                    <a:satOff val="0"/>
                    <a:lumOff val="0"/>
                    <a:alphaOff val="0"/>
                  </a:schemeClr>
                </a:fontRef>
              </p:style>
            </p:sp>
            <p:sp>
              <p:nvSpPr>
                <p:cNvPr id="22" name="任意多边形 21"/>
                <p:cNvSpPr/>
                <p:nvPr/>
              </p:nvSpPr>
              <p:spPr>
                <a:xfrm>
                  <a:off x="1773230" y="5207731"/>
                  <a:ext cx="3479683" cy="719193"/>
                </a:xfrm>
                <a:custGeom>
                  <a:avLst/>
                  <a:gdLst>
                    <a:gd name="connsiteX0" fmla="*/ 0 w 3480816"/>
                    <a:gd name="connsiteY0" fmla="*/ 0 h 318737"/>
                    <a:gd name="connsiteX1" fmla="*/ 3480816 w 3480816"/>
                    <a:gd name="connsiteY1" fmla="*/ 0 h 318737"/>
                    <a:gd name="connsiteX2" fmla="*/ 3480816 w 3480816"/>
                    <a:gd name="connsiteY2" fmla="*/ 318737 h 318737"/>
                    <a:gd name="connsiteX3" fmla="*/ 0 w 3480816"/>
                    <a:gd name="connsiteY3" fmla="*/ 318737 h 318737"/>
                    <a:gd name="connsiteX4" fmla="*/ 0 w 3480816"/>
                    <a:gd name="connsiteY4" fmla="*/ 0 h 318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480816" h="318737">
                      <a:moveTo>
                        <a:pt x="0" y="0"/>
                      </a:moveTo>
                      <a:lnTo>
                        <a:pt x="3480816" y="0"/>
                      </a:lnTo>
                      <a:lnTo>
                        <a:pt x="3480816" y="318737"/>
                      </a:lnTo>
                      <a:lnTo>
                        <a:pt x="0" y="3187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142240" tIns="53340" rIns="142240" bIns="53340" spcCol="1270" anchor="ctr"/>
                <a:lstStyle/>
                <a:p>
                  <a:pPr defTabSz="62230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6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Date pickers</a:t>
                  </a:r>
                  <a:r>
                    <a:rPr lang="zh-CN" altLang="en-US" sz="16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类型</a:t>
                  </a:r>
                  <a:endParaRPr lang="en-US" altLang="zh-CN" sz="1600" b="1" dirty="0">
                    <a:solidFill>
                      <a:srgbClr val="09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  <a:p>
                  <a:pPr defTabSz="622300">
                    <a:lnSpc>
                      <a:spcPct val="9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200" b="1" dirty="0">
                      <a:solidFill>
                        <a:srgbClr val="0969B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&lt;input type= date, month, week…" /&gt;</a:t>
                  </a:r>
                  <a:endParaRPr lang="zh-CN" altLang="en-US" sz="1200" b="1" dirty="0">
                    <a:solidFill>
                      <a:srgbClr val="0969B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23" name="任意多边形 22"/>
                <p:cNvSpPr/>
                <p:nvPr/>
              </p:nvSpPr>
              <p:spPr>
                <a:xfrm>
                  <a:off x="5614851" y="3250194"/>
                  <a:ext cx="1725554" cy="2684667"/>
                </a:xfrm>
                <a:custGeom>
                  <a:avLst/>
                  <a:gdLst>
                    <a:gd name="connsiteX0" fmla="*/ 0 w 1725168"/>
                    <a:gd name="connsiteY0" fmla="*/ 0 h 2685210"/>
                    <a:gd name="connsiteX1" fmla="*/ 1725168 w 1725168"/>
                    <a:gd name="connsiteY1" fmla="*/ 0 h 2685210"/>
                    <a:gd name="connsiteX2" fmla="*/ 1725168 w 1725168"/>
                    <a:gd name="connsiteY2" fmla="*/ 2685210 h 2685210"/>
                    <a:gd name="connsiteX3" fmla="*/ 0 w 1725168"/>
                    <a:gd name="connsiteY3" fmla="*/ 2685210 h 2685210"/>
                    <a:gd name="connsiteX4" fmla="*/ 0 w 1725168"/>
                    <a:gd name="connsiteY4" fmla="*/ 0 h 26852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25168" h="2685210">
                      <a:moveTo>
                        <a:pt x="0" y="0"/>
                      </a:moveTo>
                      <a:lnTo>
                        <a:pt x="1725168" y="0"/>
                      </a:lnTo>
                      <a:lnTo>
                        <a:pt x="1725168" y="2685210"/>
                      </a:lnTo>
                      <a:lnTo>
                        <a:pt x="0" y="268521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</p:spPr>
              <p:style>
                <a:lnRef idx="0">
                  <a:schemeClr val="dk1">
                    <a:alpha val="0"/>
                    <a:hueOff val="0"/>
                    <a:satOff val="0"/>
                    <a:lumOff val="0"/>
                    <a:alphaOff val="0"/>
                  </a:schemeClr>
                </a:lnRef>
                <a:fill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tx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lIns="0" tIns="0" rIns="0" bIns="0" spcCol="1270"/>
                <a:lstStyle/>
                <a:p>
                  <a:pPr defTabSz="622300" hangingPunct="1">
                    <a:lnSpc>
                      <a:spcPct val="150000"/>
                    </a:lnSpc>
                    <a:spcAft>
                      <a:spcPct val="35000"/>
                    </a:spcAft>
                    <a:defRPr/>
                  </a:pP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Date pickers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类型是指时间日期类型，</a:t>
                  </a:r>
                  <a:r>
                    <a:rPr lang="en-US" altLang="zh-CN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HTML5</a:t>
                  </a:r>
                  <a:r>
                    <a:rPr lang="zh-CN" altLang="en-US" sz="1400" dirty="0">
                      <a:solidFill>
                        <a:srgbClr val="595959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中提供了多个可供选取日期和时间的输入类型，用于验证输入的日期</a:t>
                  </a:r>
                </a:p>
              </p:txBody>
            </p:sp>
          </p:grpSp>
          <p:sp>
            <p:nvSpPr>
              <p:cNvPr id="18" name="矩形 15"/>
              <p:cNvSpPr>
                <a:spLocks noChangeArrowheads="1"/>
              </p:cNvSpPr>
              <p:nvPr/>
            </p:nvSpPr>
            <p:spPr bwMode="auto">
              <a:xfrm>
                <a:off x="1462681" y="3138501"/>
                <a:ext cx="3312518" cy="5078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en-US" altLang="zh-CN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&lt;input type="date"/&gt;</a:t>
                </a:r>
                <a:endPara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0200" y="3768196"/>
              <a:ext cx="1282700" cy="26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ACE6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矩形 1"/>
          <p:cNvSpPr/>
          <p:nvPr/>
        </p:nvSpPr>
        <p:spPr>
          <a:xfrm>
            <a:off x="1462273" y="6239045"/>
            <a:ext cx="90066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注意：对于浏览器不支持的</a:t>
            </a:r>
            <a:r>
              <a:rPr lang="en-US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input</a:t>
            </a:r>
            <a:r>
              <a:rPr lang="zh-CN" altLang="zh-CN" sz="1600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控件输入类型，将会在网页中显示为一个普通输入框。</a:t>
            </a:r>
          </a:p>
        </p:txBody>
      </p:sp>
    </p:spTree>
    <p:extLst>
      <p:ext uri="{BB962C8B-B14F-4D97-AF65-F5344CB8AC3E}">
        <p14:creationId xmlns:p14="http://schemas.microsoft.com/office/powerpoint/2010/main" val="353674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控件属性</a:t>
            </a: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掌握全新的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input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控件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属性，能够使用</a:t>
            </a:r>
            <a:r>
              <a:rPr lang="en-US" altLang="zh-CN" sz="1800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input</a:t>
            </a:r>
            <a:r>
              <a:rPr lang="zh-CN" altLang="en-US" sz="1800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控件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属性完成简单的页面交互。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600172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73066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控件属性</a:t>
            </a:r>
            <a:endParaRPr lang="zh-CN" altLang="en-US" sz="2000" dirty="0"/>
          </a:p>
        </p:txBody>
      </p: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608640" y="2278063"/>
            <a:ext cx="3430587" cy="3638550"/>
            <a:chOff x="1071876" y="3036708"/>
            <a:chExt cx="3430131" cy="3638302"/>
          </a:xfrm>
        </p:grpSpPr>
        <p:grpSp>
          <p:nvGrpSpPr>
            <p:cNvPr id="13" name="组合 4"/>
            <p:cNvGrpSpPr>
              <a:grpSpLocks/>
            </p:cNvGrpSpPr>
            <p:nvPr/>
          </p:nvGrpSpPr>
          <p:grpSpPr bwMode="auto">
            <a:xfrm>
              <a:off x="1071876" y="3036708"/>
              <a:ext cx="3430131" cy="3638302"/>
              <a:chOff x="868674" y="3036708"/>
              <a:chExt cx="3430131" cy="3638302"/>
            </a:xfrm>
          </p:grpSpPr>
          <p:sp>
            <p:nvSpPr>
              <p:cNvPr id="18" name="同侧圆角矩形 17"/>
              <p:cNvSpPr/>
              <p:nvPr/>
            </p:nvSpPr>
            <p:spPr>
              <a:xfrm>
                <a:off x="879785" y="3036708"/>
                <a:ext cx="3168229" cy="2365214"/>
              </a:xfrm>
              <a:prstGeom prst="round2SameRect">
                <a:avLst>
                  <a:gd name="adj1" fmla="val 8000"/>
                  <a:gd name="adj2" fmla="val 0"/>
                </a:avLst>
              </a:pr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9" name="任意多边形 18"/>
              <p:cNvSpPr/>
              <p:nvPr/>
            </p:nvSpPr>
            <p:spPr>
              <a:xfrm>
                <a:off x="868674" y="5405097"/>
                <a:ext cx="3168229" cy="1015931"/>
              </a:xfrm>
              <a:custGeom>
                <a:avLst/>
                <a:gdLst>
                  <a:gd name="connsiteX0" fmla="*/ 0 w 3168673"/>
                  <a:gd name="connsiteY0" fmla="*/ 0 h 1017099"/>
                  <a:gd name="connsiteX1" fmla="*/ 3168673 w 3168673"/>
                  <a:gd name="connsiteY1" fmla="*/ 0 h 1017099"/>
                  <a:gd name="connsiteX2" fmla="*/ 3168673 w 3168673"/>
                  <a:gd name="connsiteY2" fmla="*/ 1017099 h 1017099"/>
                  <a:gd name="connsiteX3" fmla="*/ 0 w 3168673"/>
                  <a:gd name="connsiteY3" fmla="*/ 1017099 h 1017099"/>
                  <a:gd name="connsiteX4" fmla="*/ 0 w 3168673"/>
                  <a:gd name="connsiteY4" fmla="*/ 0 h 1017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8673" h="1017099">
                    <a:moveTo>
                      <a:pt x="0" y="0"/>
                    </a:moveTo>
                    <a:lnTo>
                      <a:pt x="3168673" y="0"/>
                    </a:lnTo>
                    <a:lnTo>
                      <a:pt x="3168673" y="1017099"/>
                    </a:lnTo>
                    <a:lnTo>
                      <a:pt x="0" y="1017099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47650" tIns="0" rIns="1019764" bIns="0" spcCol="1270" anchor="ctr"/>
              <a:lstStyle/>
              <a:p>
                <a:pPr defTabSz="28892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3189290" y="5565423"/>
                <a:ext cx="1109515" cy="1109587"/>
              </a:xfrm>
              <a:prstGeom prst="ellipse">
                <a:avLst/>
              </a:pr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</p:grpSp>
        <p:sp>
          <p:nvSpPr>
            <p:cNvPr id="14" name="矩形 20"/>
            <p:cNvSpPr>
              <a:spLocks noChangeArrowheads="1"/>
            </p:cNvSpPr>
            <p:nvPr/>
          </p:nvSpPr>
          <p:spPr bwMode="auto">
            <a:xfrm>
              <a:off x="1314450" y="3239606"/>
              <a:ext cx="2738261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autofocus</a:t>
              </a:r>
              <a:r>
                <a:rPr lang="zh-CN" altLang="en-US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用于指定页面加载后是否</a:t>
              </a:r>
              <a:r>
                <a:rPr lang="zh-CN" altLang="en-US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自动获取焦点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，将标签的属性值指定为</a:t>
              </a:r>
              <a:r>
                <a:rPr lang="en-US" altLang="zh-CN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true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时，表示页面加载完毕后会自动获取该焦点。</a:t>
              </a:r>
            </a:p>
          </p:txBody>
        </p:sp>
        <p:sp>
          <p:nvSpPr>
            <p:cNvPr id="15" name="矩形 21"/>
            <p:cNvSpPr>
              <a:spLocks noChangeArrowheads="1"/>
            </p:cNvSpPr>
            <p:nvPr/>
          </p:nvSpPr>
          <p:spPr bwMode="auto">
            <a:xfrm>
              <a:off x="1308107" y="5735863"/>
              <a:ext cx="2450809" cy="400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autofocus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</a:p>
          </p:txBody>
        </p:sp>
        <p:sp>
          <p:nvSpPr>
            <p:cNvPr id="17" name="矩形 22"/>
            <p:cNvSpPr>
              <a:spLocks noChangeArrowheads="1"/>
            </p:cNvSpPr>
            <p:nvPr/>
          </p:nvSpPr>
          <p:spPr bwMode="auto">
            <a:xfrm>
              <a:off x="3713760" y="5800358"/>
              <a:ext cx="4700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3600" dirty="0">
                <a:solidFill>
                  <a:srgbClr val="0969B2"/>
                </a:solidFill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1340851" y="1543245"/>
            <a:ext cx="30101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autofocus</a:t>
            </a: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属性</a:t>
            </a:r>
            <a:endParaRPr lang="zh-CN" altLang="en-US" sz="2000" b="1" dirty="0">
              <a:solidFill>
                <a:srgbClr val="0969B2"/>
              </a:solidFill>
              <a:latin typeface="Arial" charset="0"/>
            </a:endParaRPr>
          </a:p>
        </p:txBody>
      </p:sp>
      <p:pic>
        <p:nvPicPr>
          <p:cNvPr id="102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138" y="3752846"/>
            <a:ext cx="5092712" cy="1909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643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控件属性</a:t>
            </a:r>
            <a:endParaRPr lang="zh-CN" altLang="en-US" sz="2000" dirty="0"/>
          </a:p>
        </p:txBody>
      </p:sp>
      <p:sp>
        <p:nvSpPr>
          <p:cNvPr id="21" name="矩形 20"/>
          <p:cNvSpPr/>
          <p:nvPr/>
        </p:nvSpPr>
        <p:spPr>
          <a:xfrm>
            <a:off x="1340851" y="1543245"/>
            <a:ext cx="23365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0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form</a:t>
            </a:r>
            <a:r>
              <a:rPr lang="zh-CN" altLang="en-US" sz="20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属性 </a:t>
            </a:r>
            <a:endParaRPr lang="zh-CN" altLang="en-US" sz="2000" dirty="0">
              <a:latin typeface="Arial" charset="0"/>
            </a:endParaRPr>
          </a:p>
        </p:txBody>
      </p:sp>
      <p:grpSp>
        <p:nvGrpSpPr>
          <p:cNvPr id="16" name="组合 15"/>
          <p:cNvGrpSpPr>
            <a:grpSpLocks/>
          </p:cNvGrpSpPr>
          <p:nvPr/>
        </p:nvGrpSpPr>
        <p:grpSpPr bwMode="auto">
          <a:xfrm>
            <a:off x="1637215" y="2297113"/>
            <a:ext cx="3430587" cy="3638550"/>
            <a:chOff x="1071876" y="3036708"/>
            <a:chExt cx="3430131" cy="3638302"/>
          </a:xfrm>
        </p:grpSpPr>
        <p:grpSp>
          <p:nvGrpSpPr>
            <p:cNvPr id="22" name="组合 4"/>
            <p:cNvGrpSpPr>
              <a:grpSpLocks/>
            </p:cNvGrpSpPr>
            <p:nvPr/>
          </p:nvGrpSpPr>
          <p:grpSpPr bwMode="auto">
            <a:xfrm>
              <a:off x="1071876" y="3036708"/>
              <a:ext cx="3430131" cy="3638302"/>
              <a:chOff x="868674" y="3036708"/>
              <a:chExt cx="3430131" cy="3638302"/>
            </a:xfrm>
          </p:grpSpPr>
          <p:sp>
            <p:nvSpPr>
              <p:cNvPr id="26" name="同侧圆角矩形 25"/>
              <p:cNvSpPr/>
              <p:nvPr/>
            </p:nvSpPr>
            <p:spPr>
              <a:xfrm>
                <a:off x="879785" y="3036708"/>
                <a:ext cx="3168229" cy="2365214"/>
              </a:xfrm>
              <a:prstGeom prst="round2SameRect">
                <a:avLst>
                  <a:gd name="adj1" fmla="val 8000"/>
                  <a:gd name="adj2" fmla="val 0"/>
                </a:avLst>
              </a:pr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7" name="任意多边形 26"/>
              <p:cNvSpPr/>
              <p:nvPr/>
            </p:nvSpPr>
            <p:spPr>
              <a:xfrm>
                <a:off x="868674" y="5405097"/>
                <a:ext cx="3168229" cy="1015931"/>
              </a:xfrm>
              <a:custGeom>
                <a:avLst/>
                <a:gdLst>
                  <a:gd name="connsiteX0" fmla="*/ 0 w 3168673"/>
                  <a:gd name="connsiteY0" fmla="*/ 0 h 1017099"/>
                  <a:gd name="connsiteX1" fmla="*/ 3168673 w 3168673"/>
                  <a:gd name="connsiteY1" fmla="*/ 0 h 1017099"/>
                  <a:gd name="connsiteX2" fmla="*/ 3168673 w 3168673"/>
                  <a:gd name="connsiteY2" fmla="*/ 1017099 h 1017099"/>
                  <a:gd name="connsiteX3" fmla="*/ 0 w 3168673"/>
                  <a:gd name="connsiteY3" fmla="*/ 1017099 h 1017099"/>
                  <a:gd name="connsiteX4" fmla="*/ 0 w 3168673"/>
                  <a:gd name="connsiteY4" fmla="*/ 0 h 1017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8673" h="1017099">
                    <a:moveTo>
                      <a:pt x="0" y="0"/>
                    </a:moveTo>
                    <a:lnTo>
                      <a:pt x="3168673" y="0"/>
                    </a:lnTo>
                    <a:lnTo>
                      <a:pt x="3168673" y="1017099"/>
                    </a:lnTo>
                    <a:lnTo>
                      <a:pt x="0" y="1017099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47650" tIns="0" rIns="1019764" bIns="0" spcCol="1270" anchor="ctr"/>
              <a:lstStyle/>
              <a:p>
                <a:pPr defTabSz="28892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3189290" y="5565424"/>
                <a:ext cx="1109515" cy="1109586"/>
              </a:xfrm>
              <a:prstGeom prst="ellipse">
                <a:avLst/>
              </a:pr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</p:grpSp>
        <p:sp>
          <p:nvSpPr>
            <p:cNvPr id="23" name="矩形 20"/>
            <p:cNvSpPr>
              <a:spLocks noChangeArrowheads="1"/>
            </p:cNvSpPr>
            <p:nvPr/>
          </p:nvSpPr>
          <p:spPr bwMode="auto">
            <a:xfrm>
              <a:off x="1314450" y="3239606"/>
              <a:ext cx="2738261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en-US" altLang="zh-CN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form</a:t>
              </a:r>
              <a:r>
                <a:rPr lang="zh-CN" altLang="en-US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，可以把表单内的</a:t>
              </a:r>
              <a:r>
                <a:rPr lang="zh-CN" altLang="en-US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写在页面中的任一位置，只需为这个元素指定</a:t>
              </a:r>
              <a:r>
                <a:rPr lang="en-US" altLang="zh-CN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form</a:t>
              </a:r>
              <a:r>
                <a:rPr lang="zh-CN" altLang="en-US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并设置属性值为该表单的</a:t>
              </a:r>
              <a:r>
                <a:rPr lang="en-US" altLang="zh-CN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即可。</a:t>
              </a:r>
            </a:p>
          </p:txBody>
        </p:sp>
        <p:sp>
          <p:nvSpPr>
            <p:cNvPr id="24" name="矩形 21"/>
            <p:cNvSpPr>
              <a:spLocks noChangeArrowheads="1"/>
            </p:cNvSpPr>
            <p:nvPr/>
          </p:nvSpPr>
          <p:spPr bwMode="auto">
            <a:xfrm>
              <a:off x="1308107" y="5735863"/>
              <a:ext cx="24508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form</a:t>
              </a:r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 </a:t>
              </a:r>
            </a:p>
          </p:txBody>
        </p:sp>
        <p:sp>
          <p:nvSpPr>
            <p:cNvPr id="25" name="矩形 22"/>
            <p:cNvSpPr>
              <a:spLocks noChangeArrowheads="1"/>
            </p:cNvSpPr>
            <p:nvPr/>
          </p:nvSpPr>
          <p:spPr bwMode="auto">
            <a:xfrm>
              <a:off x="3713760" y="5800358"/>
              <a:ext cx="4700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3600" dirty="0">
                <a:solidFill>
                  <a:srgbClr val="0969B2"/>
                </a:solidFill>
              </a:endParaRPr>
            </a:p>
          </p:txBody>
        </p:sp>
      </p:grpSp>
      <p:pic>
        <p:nvPicPr>
          <p:cNvPr id="2050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112" y="3248026"/>
            <a:ext cx="5056259" cy="243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9213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控件属性</a:t>
            </a:r>
            <a:endParaRPr lang="zh-CN" altLang="en-US" sz="2000" dirty="0"/>
          </a:p>
        </p:txBody>
      </p:sp>
      <p:sp>
        <p:nvSpPr>
          <p:cNvPr id="21" name="矩形 20"/>
          <p:cNvSpPr/>
          <p:nvPr/>
        </p:nvSpPr>
        <p:spPr>
          <a:xfrm>
            <a:off x="1340851" y="1543245"/>
            <a:ext cx="19832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0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list</a:t>
            </a:r>
            <a:r>
              <a:rPr lang="zh-CN" altLang="en-US" sz="20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属性</a:t>
            </a:r>
            <a:endParaRPr lang="zh-CN" altLang="en-US" sz="2000" dirty="0">
              <a:latin typeface="Arial" charset="0"/>
            </a:endParaRPr>
          </a:p>
        </p:txBody>
      </p: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1649413" y="2297113"/>
            <a:ext cx="3430587" cy="3638550"/>
            <a:chOff x="1071876" y="3036708"/>
            <a:chExt cx="3430131" cy="3638302"/>
          </a:xfrm>
        </p:grpSpPr>
        <p:grpSp>
          <p:nvGrpSpPr>
            <p:cNvPr id="16" name="组合 4"/>
            <p:cNvGrpSpPr>
              <a:grpSpLocks/>
            </p:cNvGrpSpPr>
            <p:nvPr/>
          </p:nvGrpSpPr>
          <p:grpSpPr bwMode="auto">
            <a:xfrm>
              <a:off x="1071876" y="3036708"/>
              <a:ext cx="3430131" cy="3638302"/>
              <a:chOff x="868674" y="3036708"/>
              <a:chExt cx="3430131" cy="3638302"/>
            </a:xfrm>
          </p:grpSpPr>
          <p:sp>
            <p:nvSpPr>
              <p:cNvPr id="20" name="同侧圆角矩形 19"/>
              <p:cNvSpPr/>
              <p:nvPr/>
            </p:nvSpPr>
            <p:spPr>
              <a:xfrm>
                <a:off x="879785" y="3036708"/>
                <a:ext cx="3168229" cy="2365214"/>
              </a:xfrm>
              <a:prstGeom prst="round2SameRect">
                <a:avLst>
                  <a:gd name="adj1" fmla="val 8000"/>
                  <a:gd name="adj2" fmla="val 0"/>
                </a:avLst>
              </a:pr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2" name="任意多边形 21"/>
              <p:cNvSpPr/>
              <p:nvPr/>
            </p:nvSpPr>
            <p:spPr>
              <a:xfrm>
                <a:off x="868674" y="5405097"/>
                <a:ext cx="3168229" cy="1015931"/>
              </a:xfrm>
              <a:custGeom>
                <a:avLst/>
                <a:gdLst>
                  <a:gd name="connsiteX0" fmla="*/ 0 w 3168673"/>
                  <a:gd name="connsiteY0" fmla="*/ 0 h 1017099"/>
                  <a:gd name="connsiteX1" fmla="*/ 3168673 w 3168673"/>
                  <a:gd name="connsiteY1" fmla="*/ 0 h 1017099"/>
                  <a:gd name="connsiteX2" fmla="*/ 3168673 w 3168673"/>
                  <a:gd name="connsiteY2" fmla="*/ 1017099 h 1017099"/>
                  <a:gd name="connsiteX3" fmla="*/ 0 w 3168673"/>
                  <a:gd name="connsiteY3" fmla="*/ 1017099 h 1017099"/>
                  <a:gd name="connsiteX4" fmla="*/ 0 w 3168673"/>
                  <a:gd name="connsiteY4" fmla="*/ 0 h 1017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8673" h="1017099">
                    <a:moveTo>
                      <a:pt x="0" y="0"/>
                    </a:moveTo>
                    <a:lnTo>
                      <a:pt x="3168673" y="0"/>
                    </a:lnTo>
                    <a:lnTo>
                      <a:pt x="3168673" y="1017099"/>
                    </a:lnTo>
                    <a:lnTo>
                      <a:pt x="0" y="1017099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47650" tIns="0" rIns="1019764" bIns="0" spcCol="1270" anchor="ctr"/>
              <a:lstStyle/>
              <a:p>
                <a:pPr defTabSz="28892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3189290" y="5565424"/>
                <a:ext cx="1109515" cy="1109586"/>
              </a:xfrm>
              <a:prstGeom prst="ellipse">
                <a:avLst/>
              </a:pr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</p:grpSp>
        <p:sp>
          <p:nvSpPr>
            <p:cNvPr id="17" name="矩形 20"/>
            <p:cNvSpPr>
              <a:spLocks noChangeArrowheads="1"/>
            </p:cNvSpPr>
            <p:nvPr/>
          </p:nvSpPr>
          <p:spPr bwMode="auto">
            <a:xfrm>
              <a:off x="1314450" y="3239606"/>
              <a:ext cx="2738261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list</a:t>
              </a:r>
              <a:r>
                <a:rPr lang="zh-CN" altLang="en-US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用于指定输入框所绑定的</a:t>
              </a:r>
              <a:r>
                <a:rPr lang="en-US" altLang="zh-CN" sz="1600" dirty="0" err="1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datalist</a:t>
              </a:r>
              <a:r>
                <a:rPr lang="zh-CN" altLang="en-US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，其值是某个</a:t>
              </a:r>
              <a:r>
                <a:rPr lang="en-US" altLang="zh-CN" sz="1600" dirty="0" err="1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datalist</a:t>
              </a:r>
              <a:r>
                <a:rPr lang="zh-CN" altLang="en-US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id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8" name="矩形 21"/>
            <p:cNvSpPr>
              <a:spLocks noChangeArrowheads="1"/>
            </p:cNvSpPr>
            <p:nvPr/>
          </p:nvSpPr>
          <p:spPr bwMode="auto">
            <a:xfrm>
              <a:off x="1308107" y="5735863"/>
              <a:ext cx="24508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list</a:t>
              </a:r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</a:p>
          </p:txBody>
        </p:sp>
        <p:sp>
          <p:nvSpPr>
            <p:cNvPr id="19" name="矩形 22"/>
            <p:cNvSpPr>
              <a:spLocks noChangeArrowheads="1"/>
            </p:cNvSpPr>
            <p:nvPr/>
          </p:nvSpPr>
          <p:spPr bwMode="auto">
            <a:xfrm>
              <a:off x="3713760" y="5800358"/>
              <a:ext cx="4700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3600" dirty="0">
                <a:solidFill>
                  <a:srgbClr val="0969B2"/>
                </a:solidFill>
              </a:endParaRPr>
            </a:p>
          </p:txBody>
        </p:sp>
      </p:grpSp>
      <p:pic>
        <p:nvPicPr>
          <p:cNvPr id="3074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310" y="2638425"/>
            <a:ext cx="4945702" cy="3068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381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控件属性</a:t>
            </a:r>
            <a:endParaRPr lang="zh-CN" altLang="en-US" sz="2000" dirty="0"/>
          </a:p>
        </p:txBody>
      </p:sp>
      <p:sp>
        <p:nvSpPr>
          <p:cNvPr id="21" name="矩形 20"/>
          <p:cNvSpPr/>
          <p:nvPr/>
        </p:nvSpPr>
        <p:spPr>
          <a:xfrm>
            <a:off x="1340851" y="1543245"/>
            <a:ext cx="27735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0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multiple</a:t>
            </a:r>
            <a:r>
              <a:rPr lang="zh-CN" altLang="en-US" sz="20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属性</a:t>
            </a:r>
            <a:endParaRPr lang="zh-CN" altLang="en-US" sz="2000" dirty="0">
              <a:latin typeface="Arial" charset="0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49413" y="2297113"/>
            <a:ext cx="3430587" cy="3638550"/>
            <a:chOff x="1071876" y="3036708"/>
            <a:chExt cx="3430131" cy="3638302"/>
          </a:xfrm>
        </p:grpSpPr>
        <p:grpSp>
          <p:nvGrpSpPr>
            <p:cNvPr id="7" name="组合 4"/>
            <p:cNvGrpSpPr>
              <a:grpSpLocks/>
            </p:cNvGrpSpPr>
            <p:nvPr/>
          </p:nvGrpSpPr>
          <p:grpSpPr bwMode="auto">
            <a:xfrm>
              <a:off x="1071876" y="3036708"/>
              <a:ext cx="3430131" cy="3638302"/>
              <a:chOff x="868674" y="3036708"/>
              <a:chExt cx="3430131" cy="3638302"/>
            </a:xfrm>
          </p:grpSpPr>
          <p:sp>
            <p:nvSpPr>
              <p:cNvPr id="11" name="同侧圆角矩形 10"/>
              <p:cNvSpPr/>
              <p:nvPr/>
            </p:nvSpPr>
            <p:spPr>
              <a:xfrm>
                <a:off x="879785" y="3036708"/>
                <a:ext cx="3168229" cy="2365214"/>
              </a:xfrm>
              <a:prstGeom prst="round2SameRect">
                <a:avLst>
                  <a:gd name="adj1" fmla="val 8000"/>
                  <a:gd name="adj2" fmla="val 0"/>
                </a:avLst>
              </a:pr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2" name="任意多边形 11"/>
              <p:cNvSpPr/>
              <p:nvPr/>
            </p:nvSpPr>
            <p:spPr>
              <a:xfrm>
                <a:off x="868674" y="5405097"/>
                <a:ext cx="3168229" cy="1015931"/>
              </a:xfrm>
              <a:custGeom>
                <a:avLst/>
                <a:gdLst>
                  <a:gd name="connsiteX0" fmla="*/ 0 w 3168673"/>
                  <a:gd name="connsiteY0" fmla="*/ 0 h 1017099"/>
                  <a:gd name="connsiteX1" fmla="*/ 3168673 w 3168673"/>
                  <a:gd name="connsiteY1" fmla="*/ 0 h 1017099"/>
                  <a:gd name="connsiteX2" fmla="*/ 3168673 w 3168673"/>
                  <a:gd name="connsiteY2" fmla="*/ 1017099 h 1017099"/>
                  <a:gd name="connsiteX3" fmla="*/ 0 w 3168673"/>
                  <a:gd name="connsiteY3" fmla="*/ 1017099 h 1017099"/>
                  <a:gd name="connsiteX4" fmla="*/ 0 w 3168673"/>
                  <a:gd name="connsiteY4" fmla="*/ 0 h 1017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8673" h="1017099">
                    <a:moveTo>
                      <a:pt x="0" y="0"/>
                    </a:moveTo>
                    <a:lnTo>
                      <a:pt x="3168673" y="0"/>
                    </a:lnTo>
                    <a:lnTo>
                      <a:pt x="3168673" y="1017099"/>
                    </a:lnTo>
                    <a:lnTo>
                      <a:pt x="0" y="1017099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47650" tIns="0" rIns="1019764" bIns="0" spcCol="1270" anchor="ctr"/>
              <a:lstStyle/>
              <a:p>
                <a:pPr defTabSz="28892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/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3189290" y="5565423"/>
                <a:ext cx="1109515" cy="1109587"/>
              </a:xfrm>
              <a:prstGeom prst="ellipse">
                <a:avLst/>
              </a:pr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</p:grpSp>
        <p:sp>
          <p:nvSpPr>
            <p:cNvPr id="8" name="矩形 20"/>
            <p:cNvSpPr>
              <a:spLocks noChangeArrowheads="1"/>
            </p:cNvSpPr>
            <p:nvPr/>
          </p:nvSpPr>
          <p:spPr bwMode="auto">
            <a:xfrm>
              <a:off x="1314450" y="3239606"/>
              <a:ext cx="2738261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multiple</a:t>
              </a:r>
              <a:r>
                <a:rPr lang="zh-CN" altLang="en-US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指定输入框可以选择多个值，该属性适用于</a:t>
              </a:r>
              <a:r>
                <a:rPr lang="en-US" altLang="zh-CN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email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file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类型的</a:t>
              </a:r>
              <a:r>
                <a:rPr lang="en-US" altLang="zh-CN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input</a:t>
              </a:r>
              <a:r>
                <a:rPr lang="zh-CN" altLang="en-US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元素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9" name="矩形 21"/>
            <p:cNvSpPr>
              <a:spLocks noChangeArrowheads="1"/>
            </p:cNvSpPr>
            <p:nvPr/>
          </p:nvSpPr>
          <p:spPr bwMode="auto">
            <a:xfrm>
              <a:off x="1308107" y="5735863"/>
              <a:ext cx="24508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multiple</a:t>
              </a:r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</a:p>
          </p:txBody>
        </p:sp>
        <p:sp>
          <p:nvSpPr>
            <p:cNvPr id="10" name="矩形 22"/>
            <p:cNvSpPr>
              <a:spLocks noChangeArrowheads="1"/>
            </p:cNvSpPr>
            <p:nvPr/>
          </p:nvSpPr>
          <p:spPr bwMode="auto">
            <a:xfrm>
              <a:off x="3713760" y="5800358"/>
              <a:ext cx="4700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3600" dirty="0">
                <a:solidFill>
                  <a:srgbClr val="0969B2"/>
                </a:solidFill>
              </a:endParaRPr>
            </a:p>
          </p:txBody>
        </p:sp>
      </p:grpSp>
      <p:pic>
        <p:nvPicPr>
          <p:cNvPr id="4098" name="图片 5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581" y="3162301"/>
            <a:ext cx="5053020" cy="2527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193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控件属性</a:t>
            </a:r>
            <a:endParaRPr lang="zh-CN" altLang="en-US" sz="2000" dirty="0"/>
          </a:p>
        </p:txBody>
      </p:sp>
      <p:sp>
        <p:nvSpPr>
          <p:cNvPr id="21" name="矩形 20"/>
          <p:cNvSpPr/>
          <p:nvPr/>
        </p:nvSpPr>
        <p:spPr>
          <a:xfrm>
            <a:off x="1340851" y="1543245"/>
            <a:ext cx="40162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0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min</a:t>
            </a:r>
            <a:r>
              <a:rPr lang="zh-CN" altLang="en-US" sz="20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0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max</a:t>
            </a:r>
            <a:r>
              <a:rPr lang="zh-CN" altLang="en-US" sz="20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sz="20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step</a:t>
            </a:r>
            <a:r>
              <a:rPr lang="zh-CN" altLang="en-US" sz="2000" b="1" spc="200" dirty="0">
                <a:solidFill>
                  <a:srgbClr val="1369B2"/>
                </a:solidFill>
                <a:latin typeface="微软雅黑" pitchFamily="34" charset="-122"/>
                <a:ea typeface="微软雅黑" pitchFamily="34" charset="-122"/>
              </a:rPr>
              <a:t>属性 </a:t>
            </a:r>
            <a:endParaRPr lang="zh-CN" altLang="en-US" sz="2000" dirty="0">
              <a:latin typeface="Arial" charset="0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30363" y="2295558"/>
            <a:ext cx="3429000" cy="3638550"/>
            <a:chOff x="1071876" y="3036708"/>
            <a:chExt cx="3430131" cy="3638302"/>
          </a:xfrm>
        </p:grpSpPr>
        <p:grpSp>
          <p:nvGrpSpPr>
            <p:cNvPr id="7" name="组合 4"/>
            <p:cNvGrpSpPr>
              <a:grpSpLocks/>
            </p:cNvGrpSpPr>
            <p:nvPr/>
          </p:nvGrpSpPr>
          <p:grpSpPr bwMode="auto">
            <a:xfrm>
              <a:off x="1071876" y="3036708"/>
              <a:ext cx="3430131" cy="3638302"/>
              <a:chOff x="868674" y="3036708"/>
              <a:chExt cx="3430131" cy="3638302"/>
            </a:xfrm>
          </p:grpSpPr>
          <p:sp>
            <p:nvSpPr>
              <p:cNvPr id="11" name="同侧圆角矩形 10"/>
              <p:cNvSpPr/>
              <p:nvPr/>
            </p:nvSpPr>
            <p:spPr>
              <a:xfrm>
                <a:off x="879790" y="3036708"/>
                <a:ext cx="3168108" cy="2365214"/>
              </a:xfrm>
              <a:prstGeom prst="round2SameRect">
                <a:avLst>
                  <a:gd name="adj1" fmla="val 8000"/>
                  <a:gd name="adj2" fmla="val 0"/>
                </a:avLst>
              </a:pr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2" name="任意多边形 11"/>
              <p:cNvSpPr/>
              <p:nvPr/>
            </p:nvSpPr>
            <p:spPr>
              <a:xfrm>
                <a:off x="868674" y="5405097"/>
                <a:ext cx="3168107" cy="1015931"/>
              </a:xfrm>
              <a:custGeom>
                <a:avLst/>
                <a:gdLst>
                  <a:gd name="connsiteX0" fmla="*/ 0 w 3168673"/>
                  <a:gd name="connsiteY0" fmla="*/ 0 h 1017099"/>
                  <a:gd name="connsiteX1" fmla="*/ 3168673 w 3168673"/>
                  <a:gd name="connsiteY1" fmla="*/ 0 h 1017099"/>
                  <a:gd name="connsiteX2" fmla="*/ 3168673 w 3168673"/>
                  <a:gd name="connsiteY2" fmla="*/ 1017099 h 1017099"/>
                  <a:gd name="connsiteX3" fmla="*/ 0 w 3168673"/>
                  <a:gd name="connsiteY3" fmla="*/ 1017099 h 1017099"/>
                  <a:gd name="connsiteX4" fmla="*/ 0 w 3168673"/>
                  <a:gd name="connsiteY4" fmla="*/ 0 h 1017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8673" h="1017099">
                    <a:moveTo>
                      <a:pt x="0" y="0"/>
                    </a:moveTo>
                    <a:lnTo>
                      <a:pt x="3168673" y="0"/>
                    </a:lnTo>
                    <a:lnTo>
                      <a:pt x="3168673" y="1017099"/>
                    </a:lnTo>
                    <a:lnTo>
                      <a:pt x="0" y="1017099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47650" tIns="0" rIns="1019764" bIns="0" spcCol="1270" anchor="ctr"/>
              <a:lstStyle/>
              <a:p>
                <a:pPr defTabSz="28892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/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3190365" y="5565423"/>
                <a:ext cx="1108440" cy="1109587"/>
              </a:xfrm>
              <a:prstGeom prst="ellipse">
                <a:avLst/>
              </a:pr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</p:grpSp>
        <p:sp>
          <p:nvSpPr>
            <p:cNvPr id="8" name="矩形 20"/>
            <p:cNvSpPr>
              <a:spLocks noChangeArrowheads="1"/>
            </p:cNvSpPr>
            <p:nvPr/>
          </p:nvSpPr>
          <p:spPr bwMode="auto">
            <a:xfrm>
              <a:off x="1314450" y="3171872"/>
              <a:ext cx="2738261" cy="203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HTML5</a:t>
              </a:r>
              <a:r>
                <a:rPr lang="zh-CN" altLang="en-US" sz="1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中的</a:t>
              </a:r>
              <a:r>
                <a:rPr lang="en-US" altLang="zh-CN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min</a:t>
              </a:r>
              <a:r>
                <a:rPr lang="zh-CN" altLang="en-US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max</a:t>
              </a:r>
              <a:r>
                <a:rPr lang="zh-CN" altLang="en-US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step</a:t>
              </a:r>
              <a:r>
                <a:rPr lang="zh-CN" altLang="en-US" sz="1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属性用于为包含数字或日期的</a:t>
              </a:r>
              <a:r>
                <a:rPr lang="en-US" altLang="zh-CN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input</a:t>
              </a:r>
              <a:r>
                <a:rPr lang="zh-CN" altLang="en-US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</a:t>
              </a:r>
              <a:r>
                <a:rPr lang="zh-CN" altLang="en-US" sz="1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类型规定限值，也就是给这些类型的输入框加一个数值的约束，适用于</a:t>
              </a:r>
              <a:r>
                <a:rPr lang="en-US" altLang="zh-CN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date</a:t>
              </a:r>
              <a:r>
                <a:rPr lang="zh-CN" altLang="en-US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pickers</a:t>
              </a:r>
              <a:r>
                <a:rPr lang="zh-CN" altLang="en-US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number</a:t>
              </a:r>
              <a:r>
                <a:rPr lang="zh-CN" altLang="en-US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range</a:t>
              </a:r>
              <a:r>
                <a:rPr lang="zh-CN" altLang="en-US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</a:t>
              </a:r>
              <a:r>
                <a:rPr lang="zh-CN" altLang="en-US" sz="1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9" name="矩形 21"/>
            <p:cNvSpPr>
              <a:spLocks noChangeArrowheads="1"/>
            </p:cNvSpPr>
            <p:nvPr/>
          </p:nvSpPr>
          <p:spPr bwMode="auto">
            <a:xfrm>
              <a:off x="1308107" y="5510083"/>
              <a:ext cx="2084865" cy="880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35000"/>
                </a:lnSpc>
              </a:pP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min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max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step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 </a:t>
              </a:r>
            </a:p>
          </p:txBody>
        </p:sp>
        <p:sp>
          <p:nvSpPr>
            <p:cNvPr id="10" name="矩形 22"/>
            <p:cNvSpPr>
              <a:spLocks noChangeArrowheads="1"/>
            </p:cNvSpPr>
            <p:nvPr/>
          </p:nvSpPr>
          <p:spPr bwMode="auto">
            <a:xfrm>
              <a:off x="3713760" y="5800358"/>
              <a:ext cx="4700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3600" dirty="0">
                <a:solidFill>
                  <a:srgbClr val="0969B2"/>
                </a:solidFill>
              </a:endParaRPr>
            </a:p>
          </p:txBody>
        </p:sp>
      </p:grpSp>
      <p:graphicFrame>
        <p:nvGraphicFramePr>
          <p:cNvPr id="14" name="图示 13"/>
          <p:cNvGraphicFramePr/>
          <p:nvPr>
            <p:extLst>
              <p:ext uri="{D42A27DB-BD31-4B8C-83A1-F6EECF244321}">
                <p14:modId xmlns:p14="http://schemas.microsoft.com/office/powerpoint/2010/main" val="585135038"/>
              </p:ext>
            </p:extLst>
          </p:nvPr>
        </p:nvGraphicFramePr>
        <p:xfrm>
          <a:off x="5465690" y="2831431"/>
          <a:ext cx="4419496" cy="29344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9142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控件属性</a:t>
            </a:r>
            <a:endParaRPr lang="zh-CN" altLang="en-US" sz="2000" dirty="0"/>
          </a:p>
        </p:txBody>
      </p:sp>
      <p:sp>
        <p:nvSpPr>
          <p:cNvPr id="21" name="矩形 20"/>
          <p:cNvSpPr/>
          <p:nvPr/>
        </p:nvSpPr>
        <p:spPr>
          <a:xfrm>
            <a:off x="1340851" y="1543245"/>
            <a:ext cx="24750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000" b="1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pattern</a:t>
            </a:r>
            <a:r>
              <a:rPr lang="zh-CN" altLang="en-US" sz="2000" b="1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b="1" dirty="0">
              <a:solidFill>
                <a:srgbClr val="0969B2"/>
              </a:solidFill>
              <a:latin typeface="Arial" charset="0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30363" y="2297113"/>
            <a:ext cx="3430587" cy="3638550"/>
            <a:chOff x="1071876" y="3036708"/>
            <a:chExt cx="3430131" cy="3638302"/>
          </a:xfrm>
        </p:grpSpPr>
        <p:grpSp>
          <p:nvGrpSpPr>
            <p:cNvPr id="7" name="组合 4"/>
            <p:cNvGrpSpPr>
              <a:grpSpLocks/>
            </p:cNvGrpSpPr>
            <p:nvPr/>
          </p:nvGrpSpPr>
          <p:grpSpPr bwMode="auto">
            <a:xfrm>
              <a:off x="1071876" y="3036708"/>
              <a:ext cx="3430131" cy="3638302"/>
              <a:chOff x="868674" y="3036708"/>
              <a:chExt cx="3430131" cy="3638302"/>
            </a:xfrm>
          </p:grpSpPr>
          <p:sp>
            <p:nvSpPr>
              <p:cNvPr id="11" name="同侧圆角矩形 10"/>
              <p:cNvSpPr/>
              <p:nvPr/>
            </p:nvSpPr>
            <p:spPr>
              <a:xfrm>
                <a:off x="870261" y="3036708"/>
                <a:ext cx="3168229" cy="2365214"/>
              </a:xfrm>
              <a:prstGeom prst="round2SameRect">
                <a:avLst>
                  <a:gd name="adj1" fmla="val 8000"/>
                  <a:gd name="adj2" fmla="val 0"/>
                </a:avLst>
              </a:pr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2" name="任意多边形 11"/>
              <p:cNvSpPr/>
              <p:nvPr/>
            </p:nvSpPr>
            <p:spPr>
              <a:xfrm>
                <a:off x="868674" y="5405097"/>
                <a:ext cx="3168229" cy="1015931"/>
              </a:xfrm>
              <a:custGeom>
                <a:avLst/>
                <a:gdLst>
                  <a:gd name="connsiteX0" fmla="*/ 0 w 3168673"/>
                  <a:gd name="connsiteY0" fmla="*/ 0 h 1017099"/>
                  <a:gd name="connsiteX1" fmla="*/ 3168673 w 3168673"/>
                  <a:gd name="connsiteY1" fmla="*/ 0 h 1017099"/>
                  <a:gd name="connsiteX2" fmla="*/ 3168673 w 3168673"/>
                  <a:gd name="connsiteY2" fmla="*/ 1017099 h 1017099"/>
                  <a:gd name="connsiteX3" fmla="*/ 0 w 3168673"/>
                  <a:gd name="connsiteY3" fmla="*/ 1017099 h 1017099"/>
                  <a:gd name="connsiteX4" fmla="*/ 0 w 3168673"/>
                  <a:gd name="connsiteY4" fmla="*/ 0 h 1017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8673" h="1017099">
                    <a:moveTo>
                      <a:pt x="0" y="0"/>
                    </a:moveTo>
                    <a:lnTo>
                      <a:pt x="3168673" y="0"/>
                    </a:lnTo>
                    <a:lnTo>
                      <a:pt x="3168673" y="1017099"/>
                    </a:lnTo>
                    <a:lnTo>
                      <a:pt x="0" y="1017099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47650" tIns="0" rIns="1019764" bIns="0" spcCol="1270" anchor="ctr"/>
              <a:lstStyle/>
              <a:p>
                <a:pPr defTabSz="28892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/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3189290" y="5565423"/>
                <a:ext cx="1109515" cy="1109587"/>
              </a:xfrm>
              <a:prstGeom prst="ellipse">
                <a:avLst/>
              </a:pr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</p:grpSp>
        <p:sp>
          <p:nvSpPr>
            <p:cNvPr id="8" name="矩形 20"/>
            <p:cNvSpPr>
              <a:spLocks noChangeArrowheads="1"/>
            </p:cNvSpPr>
            <p:nvPr/>
          </p:nvSpPr>
          <p:spPr bwMode="auto">
            <a:xfrm>
              <a:off x="1314450" y="3239606"/>
              <a:ext cx="2738261" cy="2031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pattern</a:t>
              </a:r>
              <a:r>
                <a:rPr lang="zh-CN" altLang="en-US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用于验证</a:t>
              </a:r>
              <a:r>
                <a:rPr lang="en-US" altLang="zh-CN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input</a:t>
              </a:r>
              <a:r>
                <a:rPr lang="zh-CN" altLang="en-US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类型</a:t>
              </a:r>
              <a:r>
                <a:rPr lang="zh-CN" altLang="en-US" sz="1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输入框中，用户输入的内容是否与所定义的正则表达式相匹配。</a:t>
              </a:r>
              <a:r>
                <a:rPr lang="en-US" altLang="zh-CN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pattern</a:t>
              </a:r>
              <a:r>
                <a:rPr lang="zh-CN" altLang="en-US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适用于的类型是：</a:t>
              </a:r>
              <a:r>
                <a:rPr lang="en-US" altLang="zh-CN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</a:t>
              </a:r>
              <a:r>
                <a:rPr lang="zh-CN" altLang="en-US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search</a:t>
              </a:r>
              <a:r>
                <a:rPr lang="zh-CN" altLang="en-US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400" dirty="0" err="1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url</a:t>
              </a:r>
              <a:r>
                <a:rPr lang="zh-CN" altLang="en-US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400" dirty="0" err="1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tel</a:t>
              </a:r>
              <a:r>
                <a:rPr lang="zh-CN" altLang="en-US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en-US" altLang="zh-CN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email</a:t>
              </a:r>
              <a:r>
                <a:rPr lang="zh-CN" altLang="en-US" sz="1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password</a:t>
              </a:r>
              <a:r>
                <a:rPr lang="zh-CN" altLang="en-US" sz="1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en-US" altLang="zh-CN" sz="1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&lt;input/&gt;</a:t>
              </a:r>
              <a:r>
                <a:rPr lang="zh-CN" altLang="en-US" sz="1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标签。</a:t>
              </a:r>
            </a:p>
          </p:txBody>
        </p:sp>
        <p:sp>
          <p:nvSpPr>
            <p:cNvPr id="9" name="矩形 21"/>
            <p:cNvSpPr>
              <a:spLocks noChangeArrowheads="1"/>
            </p:cNvSpPr>
            <p:nvPr/>
          </p:nvSpPr>
          <p:spPr bwMode="auto">
            <a:xfrm>
              <a:off x="1308107" y="5735863"/>
              <a:ext cx="24508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pattern</a:t>
              </a:r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</a:p>
          </p:txBody>
        </p:sp>
        <p:sp>
          <p:nvSpPr>
            <p:cNvPr id="10" name="矩形 22"/>
            <p:cNvSpPr>
              <a:spLocks noChangeArrowheads="1"/>
            </p:cNvSpPr>
            <p:nvPr/>
          </p:nvSpPr>
          <p:spPr bwMode="auto">
            <a:xfrm>
              <a:off x="3713760" y="5800358"/>
              <a:ext cx="4700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3600" dirty="0">
                <a:solidFill>
                  <a:srgbClr val="0969B2"/>
                </a:solidFill>
              </a:endParaRPr>
            </a:p>
          </p:txBody>
        </p:sp>
      </p:grpSp>
      <p:pic>
        <p:nvPicPr>
          <p:cNvPr id="5122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563" y="3943350"/>
            <a:ext cx="5646250" cy="173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498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控件属性</a:t>
            </a:r>
            <a:endParaRPr lang="zh-CN" altLang="en-US" sz="2000" dirty="0"/>
          </a:p>
        </p:txBody>
      </p:sp>
      <p:sp>
        <p:nvSpPr>
          <p:cNvPr id="21" name="矩形 20"/>
          <p:cNvSpPr/>
          <p:nvPr/>
        </p:nvSpPr>
        <p:spPr>
          <a:xfrm>
            <a:off x="1340851" y="1543245"/>
            <a:ext cx="24750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000" b="1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pattern</a:t>
            </a:r>
            <a:r>
              <a:rPr lang="zh-CN" altLang="en-US" sz="2000" b="1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b="1" dirty="0">
              <a:solidFill>
                <a:srgbClr val="0969B2"/>
              </a:solidFill>
              <a:latin typeface="Arial" charset="0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796896"/>
              </p:ext>
            </p:extLst>
          </p:nvPr>
        </p:nvGraphicFramePr>
        <p:xfrm>
          <a:off x="1630363" y="2551368"/>
          <a:ext cx="8647112" cy="3748094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4746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7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正则表达式</a:t>
                      </a: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7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^[0-9]*$</a:t>
                      </a:r>
                      <a:endParaRPr lang="zh-CN" sz="14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数字</a:t>
                      </a: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7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^\d{n}$</a:t>
                      </a:r>
                      <a:endParaRPr lang="zh-CN" sz="14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zh-CN" sz="14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位的数字</a:t>
                      </a: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7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^\d{n,}$</a:t>
                      </a:r>
                      <a:endParaRPr lang="zh-CN" sz="14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至少</a:t>
                      </a:r>
                      <a:r>
                        <a:rPr lang="en-US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</a:t>
                      </a:r>
                      <a:r>
                        <a:rPr lang="zh-CN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位的数字</a:t>
                      </a: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7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^\d{m,n}$</a:t>
                      </a:r>
                      <a:endParaRPr lang="zh-CN" sz="14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m-n</a:t>
                      </a:r>
                      <a:r>
                        <a:rPr lang="zh-CN" sz="14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位的数字</a:t>
                      </a: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7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^(0|[1-9][0-9]*)$</a:t>
                      </a:r>
                      <a:endParaRPr lang="zh-CN" sz="14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零和非零开头的数字</a:t>
                      </a: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7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^([1-9][0-9]*)+(.[0-9]{1,2})?$</a:t>
                      </a:r>
                      <a:endParaRPr lang="zh-CN" sz="14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非零开头的最多带两位小数的数字</a:t>
                      </a: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7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^(\-|\+)?\d+(\.\d+)?$</a:t>
                      </a:r>
                      <a:endParaRPr lang="zh-CN" sz="14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正数、负数、和小数</a:t>
                      </a: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7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^\d+$ </a:t>
                      </a: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^[1-9]\d*|0$</a:t>
                      </a:r>
                      <a:endParaRPr lang="zh-CN" sz="14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非负整数</a:t>
                      </a: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7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^-[1-9]\d*|0$ </a:t>
                      </a: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^((-\d+)|(0+))$</a:t>
                      </a:r>
                      <a:endParaRPr lang="zh-CN" sz="14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非正整数</a:t>
                      </a: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7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^[\u4e00-\u9fa5]{0,}$</a:t>
                      </a:r>
                      <a:endParaRPr lang="zh-CN" sz="14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汉字</a:t>
                      </a: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77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^[A-Za-z0-9]+$ </a:t>
                      </a: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^[A-Za-z0-9]{4,40}$</a:t>
                      </a:r>
                      <a:endParaRPr lang="zh-CN" sz="14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英文和数字</a:t>
                      </a: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77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^[A-Za-z]+$</a:t>
                      </a:r>
                      <a:endParaRPr lang="zh-CN" sz="14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</a:t>
                      </a: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个英文字母组成的字符串</a:t>
                      </a: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772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^[A-Za-z0-9]+$</a:t>
                      </a:r>
                      <a:endParaRPr lang="zh-CN" sz="14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由数字和</a:t>
                      </a:r>
                      <a:r>
                        <a:rPr lang="en-US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r>
                        <a:rPr lang="zh-CN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个英文字母组成的字符串</a:t>
                      </a:r>
                    </a:p>
                  </a:txBody>
                  <a:tcPr marL="68589" marR="68589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6" name="矩形 5"/>
          <p:cNvSpPr>
            <a:spLocks noChangeArrowheads="1"/>
          </p:cNvSpPr>
          <p:nvPr/>
        </p:nvSpPr>
        <p:spPr bwMode="auto">
          <a:xfrm>
            <a:off x="4410074" y="2061110"/>
            <a:ext cx="41885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常用的正则表达式和说明</a:t>
            </a:r>
          </a:p>
        </p:txBody>
      </p:sp>
    </p:spTree>
    <p:extLst>
      <p:ext uri="{BB962C8B-B14F-4D97-AF65-F5344CB8AC3E}">
        <p14:creationId xmlns:p14="http://schemas.microsoft.com/office/powerpoint/2010/main" val="2263553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控件属性</a:t>
            </a:r>
            <a:endParaRPr lang="zh-CN" altLang="en-US" sz="2000" dirty="0"/>
          </a:p>
        </p:txBody>
      </p:sp>
      <p:sp>
        <p:nvSpPr>
          <p:cNvPr id="21" name="矩形 20"/>
          <p:cNvSpPr/>
          <p:nvPr/>
        </p:nvSpPr>
        <p:spPr>
          <a:xfrm>
            <a:off x="1340851" y="1543245"/>
            <a:ext cx="24750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000" b="1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pattern</a:t>
            </a:r>
            <a:r>
              <a:rPr lang="zh-CN" altLang="en-US" sz="2000" b="1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</a:t>
            </a:r>
            <a:endParaRPr lang="zh-CN" altLang="en-US" sz="2000" b="1" dirty="0">
              <a:solidFill>
                <a:srgbClr val="0969B2"/>
              </a:solidFill>
              <a:latin typeface="Arial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979166"/>
              </p:ext>
            </p:extLst>
          </p:nvPr>
        </p:nvGraphicFramePr>
        <p:xfrm>
          <a:off x="1630363" y="2668588"/>
          <a:ext cx="8856662" cy="3635373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4372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72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正则表达式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6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^\w+$ </a:t>
                      </a:r>
                      <a:r>
                        <a:rPr lang="zh-CN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^\w{3,20}$</a:t>
                      </a:r>
                      <a:endParaRPr lang="zh-CN" sz="14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由数字、</a:t>
                      </a:r>
                      <a:r>
                        <a:rPr lang="en-US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r>
                        <a:rPr lang="zh-CN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个英文字母或者下划线组成的字符串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58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^[\u4E00-\u9FA5A-Za-z0-9_]+$</a:t>
                      </a:r>
                      <a:endParaRPr lang="zh-CN" sz="14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中文、英文、数字包括下划线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16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^\w+([-+.]\w+)*@\w+([-.]\w+)*\.\w+([-.]\w+)*$</a:t>
                      </a:r>
                      <a:endParaRPr lang="zh-CN" sz="14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Email</a:t>
                      </a:r>
                      <a:r>
                        <a:rPr lang="zh-CN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16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[a-zA-z]+://[^\s]* </a:t>
                      </a: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^http://([\w-]+\.)+[\w-]+(/[\w-./?%&amp;=]*)?$</a:t>
                      </a:r>
                      <a:endParaRPr lang="zh-CN" sz="14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URL</a:t>
                      </a:r>
                      <a:r>
                        <a:rPr lang="zh-CN" sz="14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地址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58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^\d{15}|\d{18}$</a:t>
                      </a:r>
                      <a:endParaRPr lang="zh-CN" sz="14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4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身份证号</a:t>
                      </a:r>
                      <a:r>
                        <a:rPr lang="en-US" sz="14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(15</a:t>
                      </a:r>
                      <a:r>
                        <a:rPr lang="zh-CN" sz="14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位、</a:t>
                      </a:r>
                      <a:r>
                        <a:rPr lang="en-US" sz="14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r>
                        <a:rPr lang="zh-CN" sz="14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位数字</a:t>
                      </a:r>
                      <a:r>
                        <a:rPr lang="en-US" sz="14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sz="14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161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^([0-9]){7,18}(x|X)?$ </a:t>
                      </a:r>
                      <a:r>
                        <a:rPr lang="zh-CN" sz="14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或</a:t>
                      </a:r>
                      <a:r>
                        <a:rPr lang="en-US" sz="14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^\d{8,18}|[0-9x]{8,18}|[0-9X]{8,18}?$</a:t>
                      </a:r>
                      <a:endParaRPr lang="zh-CN" sz="14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以数字、字母</a:t>
                      </a: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结尾的短身份证号码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116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^[a-zA-Z][a-zA-Z0-9_]{4,15}$</a:t>
                      </a:r>
                      <a:endParaRPr lang="zh-CN" sz="14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帐号是否合法</a:t>
                      </a: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字母开头，允许</a:t>
                      </a: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5-16</a:t>
                      </a:r>
                      <a:r>
                        <a:rPr lang="zh-CN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字节，允许字母数字下划线</a:t>
                      </a:r>
                      <a:r>
                        <a:rPr lang="en-US" sz="1400" kern="1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sz="1400" kern="1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116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^[a-</a:t>
                      </a:r>
                      <a:r>
                        <a:rPr lang="en-US" sz="1400" kern="1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zA</a:t>
                      </a:r>
                      <a:r>
                        <a:rPr lang="en-US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-Z]\w{5,17}$</a:t>
                      </a:r>
                      <a:endParaRPr lang="zh-CN" sz="14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密码</a:t>
                      </a:r>
                      <a:r>
                        <a:rPr lang="en-US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以字母开头，长度在</a:t>
                      </a:r>
                      <a:r>
                        <a:rPr lang="en-US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6~18</a:t>
                      </a:r>
                      <a:r>
                        <a:rPr lang="zh-CN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之间，只能包含字母、数字和下划线</a:t>
                      </a:r>
                      <a:r>
                        <a:rPr lang="en-US" sz="14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lang="zh-CN" sz="14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矩形 5"/>
          <p:cNvSpPr>
            <a:spLocks noChangeArrowheads="1"/>
          </p:cNvSpPr>
          <p:nvPr/>
        </p:nvSpPr>
        <p:spPr bwMode="auto">
          <a:xfrm>
            <a:off x="4410074" y="2160526"/>
            <a:ext cx="41885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常用的正则表达式和说明</a:t>
            </a:r>
          </a:p>
        </p:txBody>
      </p:sp>
    </p:spTree>
    <p:extLst>
      <p:ext uri="{BB962C8B-B14F-4D97-AF65-F5344CB8AC3E}">
        <p14:creationId xmlns:p14="http://schemas.microsoft.com/office/powerpoint/2010/main" val="312337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控件属性</a:t>
            </a:r>
            <a:endParaRPr lang="zh-CN" altLang="en-US" sz="2000" dirty="0"/>
          </a:p>
        </p:txBody>
      </p:sp>
      <p:sp>
        <p:nvSpPr>
          <p:cNvPr id="21" name="矩形 20"/>
          <p:cNvSpPr/>
          <p:nvPr/>
        </p:nvSpPr>
        <p:spPr>
          <a:xfrm>
            <a:off x="1340851" y="1543245"/>
            <a:ext cx="32928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placeholder</a:t>
            </a: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属性</a:t>
            </a:r>
            <a:endParaRPr lang="zh-CN" altLang="en-US" sz="2000" b="1" dirty="0">
              <a:solidFill>
                <a:srgbClr val="0969B2"/>
              </a:solidFill>
              <a:latin typeface="Arial" charset="0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30363" y="2278063"/>
            <a:ext cx="3430587" cy="3638550"/>
            <a:chOff x="1071876" y="3036708"/>
            <a:chExt cx="3430131" cy="3638302"/>
          </a:xfrm>
        </p:grpSpPr>
        <p:grpSp>
          <p:nvGrpSpPr>
            <p:cNvPr id="7" name="组合 4"/>
            <p:cNvGrpSpPr>
              <a:grpSpLocks/>
            </p:cNvGrpSpPr>
            <p:nvPr/>
          </p:nvGrpSpPr>
          <p:grpSpPr bwMode="auto">
            <a:xfrm>
              <a:off x="1071876" y="3036708"/>
              <a:ext cx="3430131" cy="3638302"/>
              <a:chOff x="868674" y="3036708"/>
              <a:chExt cx="3430131" cy="3638302"/>
            </a:xfrm>
          </p:grpSpPr>
          <p:sp>
            <p:nvSpPr>
              <p:cNvPr id="11" name="同侧圆角矩形 10"/>
              <p:cNvSpPr/>
              <p:nvPr/>
            </p:nvSpPr>
            <p:spPr>
              <a:xfrm>
                <a:off x="870261" y="3036708"/>
                <a:ext cx="3168229" cy="2365214"/>
              </a:xfrm>
              <a:prstGeom prst="round2SameRect">
                <a:avLst>
                  <a:gd name="adj1" fmla="val 8000"/>
                  <a:gd name="adj2" fmla="val 0"/>
                </a:avLst>
              </a:pr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2" name="任意多边形 11"/>
              <p:cNvSpPr/>
              <p:nvPr/>
            </p:nvSpPr>
            <p:spPr>
              <a:xfrm>
                <a:off x="868674" y="5405097"/>
                <a:ext cx="3168229" cy="1015931"/>
              </a:xfrm>
              <a:custGeom>
                <a:avLst/>
                <a:gdLst>
                  <a:gd name="connsiteX0" fmla="*/ 0 w 3168673"/>
                  <a:gd name="connsiteY0" fmla="*/ 0 h 1017099"/>
                  <a:gd name="connsiteX1" fmla="*/ 3168673 w 3168673"/>
                  <a:gd name="connsiteY1" fmla="*/ 0 h 1017099"/>
                  <a:gd name="connsiteX2" fmla="*/ 3168673 w 3168673"/>
                  <a:gd name="connsiteY2" fmla="*/ 1017099 h 1017099"/>
                  <a:gd name="connsiteX3" fmla="*/ 0 w 3168673"/>
                  <a:gd name="connsiteY3" fmla="*/ 1017099 h 1017099"/>
                  <a:gd name="connsiteX4" fmla="*/ 0 w 3168673"/>
                  <a:gd name="connsiteY4" fmla="*/ 0 h 1017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8673" h="1017099">
                    <a:moveTo>
                      <a:pt x="0" y="0"/>
                    </a:moveTo>
                    <a:lnTo>
                      <a:pt x="3168673" y="0"/>
                    </a:lnTo>
                    <a:lnTo>
                      <a:pt x="3168673" y="1017099"/>
                    </a:lnTo>
                    <a:lnTo>
                      <a:pt x="0" y="1017099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47650" tIns="0" rIns="1019764" bIns="0" spcCol="1270" anchor="ctr"/>
              <a:lstStyle/>
              <a:p>
                <a:pPr defTabSz="28892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/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3189290" y="5565424"/>
                <a:ext cx="1109515" cy="1109586"/>
              </a:xfrm>
              <a:prstGeom prst="ellipse">
                <a:avLst/>
              </a:pr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</p:grpSp>
        <p:sp>
          <p:nvSpPr>
            <p:cNvPr id="8" name="矩形 20"/>
            <p:cNvSpPr>
              <a:spLocks noChangeArrowheads="1"/>
            </p:cNvSpPr>
            <p:nvPr/>
          </p:nvSpPr>
          <p:spPr bwMode="auto">
            <a:xfrm>
              <a:off x="1314450" y="3239606"/>
              <a:ext cx="2738261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placeholder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属性用于为</a:t>
              </a:r>
              <a:r>
                <a:rPr lang="en-US" altLang="zh-CN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input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类型的输入框提供相关提示信息，以描述输入框期待用户输入何种内容。</a:t>
              </a:r>
            </a:p>
          </p:txBody>
        </p:sp>
        <p:sp>
          <p:nvSpPr>
            <p:cNvPr id="9" name="矩形 21"/>
            <p:cNvSpPr>
              <a:spLocks noChangeArrowheads="1"/>
            </p:cNvSpPr>
            <p:nvPr/>
          </p:nvSpPr>
          <p:spPr bwMode="auto">
            <a:xfrm>
              <a:off x="1308107" y="5735863"/>
              <a:ext cx="2450809" cy="400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placeholder</a:t>
              </a: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</a:p>
          </p:txBody>
        </p:sp>
        <p:sp>
          <p:nvSpPr>
            <p:cNvPr id="10" name="矩形 22"/>
            <p:cNvSpPr>
              <a:spLocks noChangeArrowheads="1"/>
            </p:cNvSpPr>
            <p:nvPr/>
          </p:nvSpPr>
          <p:spPr bwMode="auto">
            <a:xfrm>
              <a:off x="3713760" y="5800358"/>
              <a:ext cx="4700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lang="zh-CN" altLang="en-US" sz="3600" dirty="0">
                <a:solidFill>
                  <a:srgbClr val="0969B2"/>
                </a:solidFill>
              </a:endParaRPr>
            </a:p>
          </p:txBody>
        </p:sp>
      </p:grpSp>
      <p:pic>
        <p:nvPicPr>
          <p:cNvPr id="6146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213" y="4257676"/>
            <a:ext cx="5486400" cy="140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715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同侧圆角矩形 3"/>
          <p:cNvSpPr/>
          <p:nvPr/>
        </p:nvSpPr>
        <p:spPr>
          <a:xfrm rot="10800000">
            <a:off x="1019175" y="847725"/>
            <a:ext cx="3533775" cy="466725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9175" y="881033"/>
            <a:ext cx="35337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控件属性</a:t>
            </a:r>
            <a:endParaRPr lang="zh-CN" altLang="en-US" sz="2000" dirty="0"/>
          </a:p>
        </p:txBody>
      </p:sp>
      <p:sp>
        <p:nvSpPr>
          <p:cNvPr id="21" name="矩形 20"/>
          <p:cNvSpPr/>
          <p:nvPr/>
        </p:nvSpPr>
        <p:spPr>
          <a:xfrm>
            <a:off x="1340851" y="1543245"/>
            <a:ext cx="27982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required</a:t>
            </a:r>
            <a:r>
              <a:rPr lang="zh-CN" altLang="en-US" sz="2000" b="1" spc="200" dirty="0">
                <a:solidFill>
                  <a:srgbClr val="0969B2"/>
                </a:solidFill>
                <a:latin typeface="微软雅黑" pitchFamily="34" charset="-122"/>
                <a:ea typeface="微软雅黑" pitchFamily="34" charset="-122"/>
              </a:rPr>
              <a:t>属性</a:t>
            </a:r>
            <a:endParaRPr lang="zh-CN" altLang="en-US" sz="2000" b="1" dirty="0">
              <a:solidFill>
                <a:srgbClr val="0969B2"/>
              </a:solidFill>
              <a:latin typeface="Arial" charset="0"/>
            </a:endParaRPr>
          </a:p>
        </p:txBody>
      </p: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1630363" y="2278063"/>
            <a:ext cx="3430587" cy="3638550"/>
            <a:chOff x="1071876" y="3036708"/>
            <a:chExt cx="3430131" cy="3638302"/>
          </a:xfrm>
        </p:grpSpPr>
        <p:grpSp>
          <p:nvGrpSpPr>
            <p:cNvPr id="16" name="组合 4"/>
            <p:cNvGrpSpPr>
              <a:grpSpLocks/>
            </p:cNvGrpSpPr>
            <p:nvPr/>
          </p:nvGrpSpPr>
          <p:grpSpPr bwMode="auto">
            <a:xfrm>
              <a:off x="1071876" y="3036708"/>
              <a:ext cx="3430131" cy="3638302"/>
              <a:chOff x="868674" y="3036708"/>
              <a:chExt cx="3430131" cy="3638302"/>
            </a:xfrm>
          </p:grpSpPr>
          <p:sp>
            <p:nvSpPr>
              <p:cNvPr id="20" name="同侧圆角矩形 19"/>
              <p:cNvSpPr/>
              <p:nvPr/>
            </p:nvSpPr>
            <p:spPr>
              <a:xfrm>
                <a:off x="879785" y="3036708"/>
                <a:ext cx="3168229" cy="2365214"/>
              </a:xfrm>
              <a:prstGeom prst="round2SameRect">
                <a:avLst>
                  <a:gd name="adj1" fmla="val 8000"/>
                  <a:gd name="adj2" fmla="val 0"/>
                </a:avLst>
              </a:pr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22" name="任意多边形 21"/>
              <p:cNvSpPr/>
              <p:nvPr/>
            </p:nvSpPr>
            <p:spPr>
              <a:xfrm>
                <a:off x="868674" y="5405097"/>
                <a:ext cx="3168229" cy="1015931"/>
              </a:xfrm>
              <a:custGeom>
                <a:avLst/>
                <a:gdLst>
                  <a:gd name="connsiteX0" fmla="*/ 0 w 3168673"/>
                  <a:gd name="connsiteY0" fmla="*/ 0 h 1017099"/>
                  <a:gd name="connsiteX1" fmla="*/ 3168673 w 3168673"/>
                  <a:gd name="connsiteY1" fmla="*/ 0 h 1017099"/>
                  <a:gd name="connsiteX2" fmla="*/ 3168673 w 3168673"/>
                  <a:gd name="connsiteY2" fmla="*/ 1017099 h 1017099"/>
                  <a:gd name="connsiteX3" fmla="*/ 0 w 3168673"/>
                  <a:gd name="connsiteY3" fmla="*/ 1017099 h 1017099"/>
                  <a:gd name="connsiteX4" fmla="*/ 0 w 3168673"/>
                  <a:gd name="connsiteY4" fmla="*/ 0 h 1017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8673" h="1017099">
                    <a:moveTo>
                      <a:pt x="0" y="0"/>
                    </a:moveTo>
                    <a:lnTo>
                      <a:pt x="3168673" y="0"/>
                    </a:lnTo>
                    <a:lnTo>
                      <a:pt x="3168673" y="1017099"/>
                    </a:lnTo>
                    <a:lnTo>
                      <a:pt x="0" y="1017099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47650" tIns="0" rIns="1019764" bIns="0" spcCol="1270" anchor="ctr"/>
              <a:lstStyle/>
              <a:p>
                <a:pPr defTabSz="28892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3189290" y="5565423"/>
                <a:ext cx="1109515" cy="1109587"/>
              </a:xfrm>
              <a:prstGeom prst="ellipse">
                <a:avLst/>
              </a:pr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</p:grpSp>
        <p:sp>
          <p:nvSpPr>
            <p:cNvPr id="17" name="矩形 20"/>
            <p:cNvSpPr>
              <a:spLocks noChangeArrowheads="1"/>
            </p:cNvSpPr>
            <p:nvPr/>
          </p:nvSpPr>
          <p:spPr bwMode="auto">
            <a:xfrm>
              <a:off x="1314450" y="3239606"/>
              <a:ext cx="2738261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required</a:t>
              </a:r>
              <a:r>
                <a:rPr lang="zh-CN" altLang="en-US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用于规定输入框填写的内容不能为空，否则不允许用户</a:t>
              </a:r>
              <a:r>
                <a:rPr lang="zh-CN" altLang="en-US" sz="16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提交表单</a:t>
              </a:r>
              <a:r>
                <a:rPr lang="zh-CN" altLang="en-US" sz="16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  <p:sp>
          <p:nvSpPr>
            <p:cNvPr id="18" name="矩形 21"/>
            <p:cNvSpPr>
              <a:spLocks noChangeArrowheads="1"/>
            </p:cNvSpPr>
            <p:nvPr/>
          </p:nvSpPr>
          <p:spPr bwMode="auto">
            <a:xfrm>
              <a:off x="1308107" y="5735863"/>
              <a:ext cx="24508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required</a:t>
              </a:r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</a:t>
              </a:r>
            </a:p>
          </p:txBody>
        </p:sp>
        <p:sp>
          <p:nvSpPr>
            <p:cNvPr id="19" name="矩形 22"/>
            <p:cNvSpPr>
              <a:spLocks noChangeArrowheads="1"/>
            </p:cNvSpPr>
            <p:nvPr/>
          </p:nvSpPr>
          <p:spPr bwMode="auto">
            <a:xfrm>
              <a:off x="3713760" y="5800358"/>
              <a:ext cx="4700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endParaRPr lang="zh-CN" altLang="en-US" sz="3600" dirty="0">
                <a:solidFill>
                  <a:srgbClr val="0969B2"/>
                </a:solidFill>
              </a:endParaRPr>
            </a:p>
          </p:txBody>
        </p:sp>
      </p:grpSp>
      <p:pic>
        <p:nvPicPr>
          <p:cNvPr id="7170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5575" y="3933825"/>
            <a:ext cx="5473660" cy="1754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350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718942" y="3086830"/>
            <a:ext cx="7957137" cy="646331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【</a:t>
            </a:r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任务</a:t>
            </a:r>
            <a:r>
              <a:rPr lang="en-US" altLang="zh-CN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6-6】CSS</a:t>
            </a:r>
            <a:r>
              <a:rPr lang="zh-CN" altLang="en-US" sz="3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控制</a:t>
            </a:r>
            <a:r>
              <a:rPr lang="zh-CN" altLang="en-US" sz="3600" b="1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表单样式</a:t>
            </a:r>
            <a:endParaRPr lang="en-GB" altLang="zh-CN" sz="3600" b="1" dirty="0">
              <a:solidFill>
                <a:srgbClr val="09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30710" y="2897862"/>
            <a:ext cx="2016224" cy="1107996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06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8092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8479907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需求分析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TextBox 35"/>
          <p:cNvSpPr txBox="1">
            <a:spLocks noChangeArrowheads="1"/>
          </p:cNvSpPr>
          <p:nvPr/>
        </p:nvSpPr>
        <p:spPr bwMode="auto">
          <a:xfrm>
            <a:off x="5019278" y="2642593"/>
            <a:ext cx="6264696" cy="2200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702030404030204" pitchFamily="34" charset="0"/>
                <a:ea typeface="宋体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在制作</a:t>
            </a:r>
            <a:r>
              <a:rPr lang="zh-CN" altLang="en-US" sz="1800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时，既要注重</a:t>
            </a:r>
            <a:r>
              <a:rPr lang="zh-CN" altLang="en-US" sz="1800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的功能，也要注重</a:t>
            </a:r>
            <a:r>
              <a:rPr lang="zh-CN" altLang="en-US" sz="1800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的美观度。一个设计精美的</a:t>
            </a:r>
            <a:r>
              <a:rPr lang="zh-CN" altLang="en-US" sz="1800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能够给用户带来良好的使用体验。使用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可以轻松地控制</a:t>
            </a:r>
            <a:r>
              <a:rPr lang="zh-CN" altLang="en-US" sz="1800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控件的样式，让</a:t>
            </a:r>
            <a:r>
              <a:rPr lang="zh-CN" altLang="en-US" sz="1800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更加美观。</a:t>
            </a:r>
            <a:r>
              <a: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zh-CN" altLang="en-US" sz="1800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样式主要体现在控制</a:t>
            </a:r>
            <a:r>
              <a:rPr lang="zh-CN" altLang="en-US" sz="1800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控件的</a:t>
            </a:r>
            <a:r>
              <a:rPr lang="zh-CN" altLang="en-US" sz="1800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字体、边框、背景和内边距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等，本节将做具体介绍。</a:t>
            </a:r>
          </a:p>
        </p:txBody>
      </p:sp>
      <p:sp>
        <p:nvSpPr>
          <p:cNvPr id="5" name="矩形 4"/>
          <p:cNvSpPr/>
          <p:nvPr/>
        </p:nvSpPr>
        <p:spPr>
          <a:xfrm>
            <a:off x="1702718" y="5590034"/>
            <a:ext cx="9721080" cy="457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96" y="1629594"/>
            <a:ext cx="3715858" cy="400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6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4" name="同侧圆角矩形 3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控制表单样式</a:t>
              </a:r>
              <a:endParaRPr lang="zh-CN" altLang="en-US" sz="2000" dirty="0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1363" y="857056"/>
            <a:ext cx="5638800" cy="5638800"/>
          </a:xfrm>
          <a:prstGeom prst="rect">
            <a:avLst/>
          </a:prstGeom>
        </p:spPr>
      </p:pic>
      <p:sp>
        <p:nvSpPr>
          <p:cNvPr id="11" name="原创设计师QQ598969553          _3"/>
          <p:cNvSpPr/>
          <p:nvPr/>
        </p:nvSpPr>
        <p:spPr>
          <a:xfrm>
            <a:off x="1019175" y="2162734"/>
            <a:ext cx="4590731" cy="3724882"/>
          </a:xfrm>
          <a:prstGeom prst="roundRect">
            <a:avLst>
              <a:gd name="adj" fmla="val 9083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原创设计师QQ598969553          _4"/>
          <p:cNvSpPr/>
          <p:nvPr/>
        </p:nvSpPr>
        <p:spPr>
          <a:xfrm>
            <a:off x="1459786" y="3481692"/>
            <a:ext cx="37373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掌握</a:t>
            </a:r>
            <a:r>
              <a:rPr lang="en-US" altLang="zh-CN" sz="1800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CSS</a:t>
            </a:r>
            <a:r>
              <a:rPr lang="zh-CN" altLang="en-US" sz="1800" dirty="0">
                <a:solidFill>
                  <a:srgbClr val="09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控制表单样式</a:t>
            </a:r>
            <a:r>
              <a:rPr lang="zh-CN" altLang="en-US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的方法，能够为网页表单设置不同的样式。</a:t>
            </a:r>
            <a:endParaRPr lang="en-US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原创设计师QQ598969553          _7"/>
          <p:cNvSpPr txBox="1"/>
          <p:nvPr/>
        </p:nvSpPr>
        <p:spPr>
          <a:xfrm>
            <a:off x="1019176" y="2600172"/>
            <a:ext cx="45907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2800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</a:p>
        </p:txBody>
      </p:sp>
    </p:spTree>
    <p:extLst>
      <p:ext uri="{BB962C8B-B14F-4D97-AF65-F5344CB8AC3E}">
        <p14:creationId xmlns:p14="http://schemas.microsoft.com/office/powerpoint/2010/main" val="32591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知识储备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2069542" y="2097088"/>
            <a:ext cx="8033308" cy="977900"/>
            <a:chOff x="914400" y="2408084"/>
            <a:chExt cx="7192244" cy="978583"/>
          </a:xfrm>
        </p:grpSpPr>
        <p:sp>
          <p:nvSpPr>
            <p:cNvPr id="11" name="矩形 10"/>
            <p:cNvSpPr>
              <a:spLocks noChangeArrowheads="1"/>
            </p:cNvSpPr>
            <p:nvPr/>
          </p:nvSpPr>
          <p:spPr bwMode="auto">
            <a:xfrm>
              <a:off x="1278372" y="2551026"/>
              <a:ext cx="6464300" cy="581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2400" dirty="0">
                  <a:solidFill>
                    <a:srgbClr val="09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制作登录表单案例</a:t>
              </a:r>
              <a:r>
                <a:rPr lang="zh-CN" altLang="zh-CN" sz="24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圆角矩形标注 11"/>
            <p:cNvSpPr/>
            <p:nvPr/>
          </p:nvSpPr>
          <p:spPr bwMode="auto">
            <a:xfrm>
              <a:off x="914400" y="2408084"/>
              <a:ext cx="7192244" cy="978583"/>
            </a:xfrm>
            <a:prstGeom prst="wedgeRoundRectCallout">
              <a:avLst/>
            </a:prstGeom>
            <a:noFill/>
            <a:ln w="19050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Arial" charset="0"/>
              </a:endParaRPr>
            </a:p>
          </p:txBody>
        </p:sp>
      </p:grpSp>
      <p:pic>
        <p:nvPicPr>
          <p:cNvPr id="14" name="图片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9542" y="3481387"/>
            <a:ext cx="4636057" cy="2018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右箭头 14"/>
          <p:cNvSpPr>
            <a:spLocks noChangeArrowheads="1"/>
          </p:cNvSpPr>
          <p:nvPr/>
        </p:nvSpPr>
        <p:spPr bwMode="auto">
          <a:xfrm>
            <a:off x="6882606" y="4395787"/>
            <a:ext cx="508000" cy="520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9513" y="3481387"/>
            <a:ext cx="2573337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组合 16"/>
          <p:cNvGrpSpPr/>
          <p:nvPr/>
        </p:nvGrpSpPr>
        <p:grpSpPr>
          <a:xfrm>
            <a:off x="1019175" y="847725"/>
            <a:ext cx="3533775" cy="466725"/>
            <a:chOff x="1019175" y="847725"/>
            <a:chExt cx="3533775" cy="466725"/>
          </a:xfrm>
        </p:grpSpPr>
        <p:sp>
          <p:nvSpPr>
            <p:cNvPr id="18" name="同侧圆角矩形 17"/>
            <p:cNvSpPr/>
            <p:nvPr/>
          </p:nvSpPr>
          <p:spPr>
            <a:xfrm rot="10800000">
              <a:off x="1019175" y="847725"/>
              <a:ext cx="3533775" cy="466725"/>
            </a:xfrm>
            <a:prstGeom prst="round2Same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1019175" y="881033"/>
              <a:ext cx="35337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CSS</a:t>
              </a: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控制表单样式</a:t>
              </a:r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85685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f15e6573a385e41c33bb97e7105a62faa5c4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3281ba21-a5ab-4fdd-b307-51bdf98c0806}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2727</TotalTime>
  <Words>5350</Words>
  <Application>Microsoft Office PowerPoint</Application>
  <PresentationFormat>自定义</PresentationFormat>
  <Paragraphs>740</Paragraphs>
  <Slides>88</Slides>
  <Notes>88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88</vt:i4>
      </vt:variant>
    </vt:vector>
  </HeadingPairs>
  <TitlesOfParts>
    <vt:vector size="96" baseType="lpstr">
      <vt:lpstr>Source Han Sans K Bold</vt:lpstr>
      <vt:lpstr>微软雅黑</vt:lpstr>
      <vt:lpstr>字魂105号-简雅黑</vt:lpstr>
      <vt:lpstr>Aharoni</vt:lpstr>
      <vt:lpstr>Arial</vt:lpstr>
      <vt:lpstr>Calibri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PC</cp:lastModifiedBy>
  <cp:revision>418</cp:revision>
  <dcterms:created xsi:type="dcterms:W3CDTF">2020-11-11T09:29:40Z</dcterms:created>
  <dcterms:modified xsi:type="dcterms:W3CDTF">2025-12-10T02:55:39Z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