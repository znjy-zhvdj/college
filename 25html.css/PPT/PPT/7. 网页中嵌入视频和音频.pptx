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1"/>
  </p:notesMasterIdLst>
  <p:handoutMasterIdLst>
    <p:handoutMasterId r:id="rId22"/>
  </p:handoutMasterIdLst>
  <p:sldIdLst>
    <p:sldId id="325" r:id="rId3"/>
    <p:sldId id="264" r:id="rId4"/>
    <p:sldId id="259" r:id="rId5"/>
    <p:sldId id="348" r:id="rId6"/>
    <p:sldId id="495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  <p:sldId id="586" r:id="rId18"/>
    <p:sldId id="587" r:id="rId19"/>
    <p:sldId id="588" r:id="rId20"/>
  </p:sldIdLst>
  <p:sldSz cx="12190413" cy="6859588"/>
  <p:notesSz cx="6858000" cy="9144000"/>
  <p:custDataLst>
    <p:tags r:id="rId23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7">
          <p15:clr>
            <a:srgbClr val="A4A3A4"/>
          </p15:clr>
        </p15:guide>
        <p15:guide id="2" pos="6674">
          <p15:clr>
            <a:srgbClr val="A4A3A4"/>
          </p15:clr>
        </p15:guide>
        <p15:guide id="3" pos="6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/>
  <p:cmAuthor id="2" name="Administrator" initials="A" lastIdx="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8" autoAdjust="0"/>
    <p:restoredTop sz="96379" autoAdjust="0"/>
  </p:normalViewPr>
  <p:slideViewPr>
    <p:cSldViewPr snapToGrid="0">
      <p:cViewPr varScale="1">
        <p:scale>
          <a:sx n="84" d="100"/>
          <a:sy n="84" d="100"/>
        </p:scale>
        <p:origin x="144" y="78"/>
      </p:cViewPr>
      <p:guideLst>
        <p:guide orient="horz" pos="1027"/>
        <p:guide pos="6674"/>
        <p:guide pos="6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网页中嵌入视频和音频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061178" y="2436919"/>
            <a:ext cx="8068056" cy="688075"/>
            <a:chOff x="978872" y="1800500"/>
            <a:chExt cx="6051829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051829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了解网页中常见的音频和视频格式，能够说出不同音频和视频格式的兼容性。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061178" y="3654391"/>
            <a:ext cx="8028161" cy="685959"/>
            <a:chOff x="978872" y="4108725"/>
            <a:chExt cx="6021905" cy="514350"/>
          </a:xfrm>
        </p:grpSpPr>
        <p:sp>
          <p:nvSpPr>
            <p:cNvPr id="14" name="Pentagon 7"/>
            <p:cNvSpPr/>
            <p:nvPr/>
          </p:nvSpPr>
          <p:spPr bwMode="auto">
            <a:xfrm>
              <a:off x="978872" y="4108725"/>
              <a:ext cx="6021905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掌握网页中音频和视频的嵌入技术，能够在网页中嵌入音频和视频。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774333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在网络传输速度越来越快的今天，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音频和视频嵌入技术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已经被越来越广泛的应用在网页设计中，比起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的图片和文字，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音频和视频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可以为用户提供更直观、丰富的信息。本节将详细讲解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网页中嵌入视频和音频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的相关知识。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音频、视频嵌入技术概述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06287" y="3509987"/>
            <a:ext cx="4010322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使用第三方插件和使用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HTML5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中的标签嵌入视频和音频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的区别，能够说出它们的优缺点。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181995" y="1630363"/>
            <a:ext cx="4595812" cy="2757487"/>
            <a:chOff x="4315460" y="1074420"/>
            <a:chExt cx="4166723" cy="2757105"/>
          </a:xfrm>
        </p:grpSpPr>
        <p:sp>
          <p:nvSpPr>
            <p:cNvPr id="17" name="椭圆形标注 16"/>
            <p:cNvSpPr/>
            <p:nvPr/>
          </p:nvSpPr>
          <p:spPr bwMode="auto">
            <a:xfrm>
              <a:off x="4315460" y="1074420"/>
              <a:ext cx="4166723" cy="2757105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759317" y="1522725"/>
              <a:ext cx="3379585" cy="18579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出现之前并没有将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视频和音频嵌入到页面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的标准方式，多媒体内容在大多数情况下都是通过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第三方插件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集成在</a:t>
              </a:r>
              <a:r>
                <a:rPr lang="en-US" altLang="zh-CN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浏览器的应用程序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置于页面中。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178945" y="4530725"/>
            <a:ext cx="1546225" cy="1546225"/>
            <a:chOff x="3090862" y="3848100"/>
            <a:chExt cx="1765300" cy="1765300"/>
          </a:xfrm>
        </p:grpSpPr>
        <p:sp>
          <p:nvSpPr>
            <p:cNvPr id="15" name="泪滴形 14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412392" y="4340524"/>
              <a:ext cx="1147587" cy="667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</a:t>
              </a:r>
              <a:endPara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141095" y="4530725"/>
            <a:ext cx="1546225" cy="1546225"/>
            <a:chOff x="3090862" y="3848100"/>
            <a:chExt cx="1765300" cy="1765300"/>
          </a:xfrm>
        </p:grpSpPr>
        <p:sp>
          <p:nvSpPr>
            <p:cNvPr id="13" name="泪滴形 12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439333" y="4365924"/>
              <a:ext cx="1147587" cy="667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冗长</a:t>
              </a:r>
            </a:p>
          </p:txBody>
        </p:sp>
      </p:grpSp>
      <p:pic>
        <p:nvPicPr>
          <p:cNvPr id="102402" name="图片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534" y="2078730"/>
            <a:ext cx="4106536" cy="400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音频、视频嵌入技术概述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音频、视频嵌入技术概述</a:t>
            </a:r>
            <a:endParaRPr lang="zh-CN" altLang="en-US" sz="2000" dirty="0"/>
          </a:p>
        </p:txBody>
      </p:sp>
      <p:sp>
        <p:nvSpPr>
          <p:cNvPr id="19" name="圆"/>
          <p:cNvSpPr/>
          <p:nvPr/>
        </p:nvSpPr>
        <p:spPr>
          <a:xfrm>
            <a:off x="5458300" y="2498116"/>
            <a:ext cx="1131073" cy="1157904"/>
          </a:xfrm>
          <a:prstGeom prst="ellipse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 b="1" i="1" dirty="0">
              <a:solidFill>
                <a:srgbClr val="C00000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21" name="文本"/>
          <p:cNvSpPr/>
          <p:nvPr/>
        </p:nvSpPr>
        <p:spPr>
          <a:xfrm>
            <a:off x="5397563" y="2667162"/>
            <a:ext cx="98777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 i="1" spc="25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VS</a:t>
            </a:r>
            <a:endParaRPr lang="zh-CN" altLang="en-US" sz="5400" b="1" i="1" spc="250" dirty="0">
              <a:solidFill>
                <a:schemeClr val="bg1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pic>
        <p:nvPicPr>
          <p:cNvPr id="103426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111871"/>
            <a:ext cx="4102365" cy="2044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7" name="图片 2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702" y="2483317"/>
            <a:ext cx="4253571" cy="1031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1156391" y="4007122"/>
            <a:ext cx="1546225" cy="1546225"/>
            <a:chOff x="3090862" y="3848100"/>
            <a:chExt cx="1765300" cy="1765300"/>
          </a:xfrm>
        </p:grpSpPr>
        <p:sp>
          <p:nvSpPr>
            <p:cNvPr id="10" name="泪滴形 9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2392" y="4340524"/>
              <a:ext cx="1147587" cy="667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</a:t>
              </a:r>
              <a:endPara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118541" y="4007122"/>
            <a:ext cx="1546225" cy="1546225"/>
            <a:chOff x="3090862" y="3848100"/>
            <a:chExt cx="1765300" cy="1765300"/>
          </a:xfrm>
        </p:grpSpPr>
        <p:sp>
          <p:nvSpPr>
            <p:cNvPr id="13" name="泪滴形 12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439333" y="4365924"/>
              <a:ext cx="1147587" cy="667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冗长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841702" y="4007122"/>
            <a:ext cx="1546225" cy="1546225"/>
            <a:chOff x="3090862" y="3848100"/>
            <a:chExt cx="1765300" cy="1765300"/>
          </a:xfrm>
        </p:grpSpPr>
        <p:sp>
          <p:nvSpPr>
            <p:cNvPr id="16" name="泪滴形 15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1369B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412392" y="4340524"/>
              <a:ext cx="1151513" cy="667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  <a:endParaRPr lang="zh-CN" altLang="en-US" sz="3200" b="1" dirty="0">
                <a:solidFill>
                  <a:srgbClr val="1369B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803852" y="4007122"/>
            <a:ext cx="1546225" cy="1546225"/>
            <a:chOff x="3090862" y="3848100"/>
            <a:chExt cx="1765300" cy="1765300"/>
          </a:xfrm>
        </p:grpSpPr>
        <p:sp>
          <p:nvSpPr>
            <p:cNvPr id="22" name="泪滴形 21"/>
            <p:cNvSpPr/>
            <p:nvPr/>
          </p:nvSpPr>
          <p:spPr bwMode="auto">
            <a:xfrm>
              <a:off x="3090862" y="3848100"/>
              <a:ext cx="1765300" cy="1765300"/>
            </a:xfrm>
            <a:prstGeom prst="teardrop">
              <a:avLst/>
            </a:prstGeom>
            <a:noFill/>
            <a:ln w="28575" cap="flat" cmpd="sng" algn="ctr">
              <a:solidFill>
                <a:srgbClr val="1369B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439332" y="4365924"/>
              <a:ext cx="1147852" cy="667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精炼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音频、视频嵌入技术概述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提供的标签中，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用于为页面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添加视频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&lt;audio&gt;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用于为页面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添加音频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。到目前为止，绝大多数的浏览器已经支持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&lt;audio&gt;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3691" y="3187717"/>
          <a:ext cx="10053396" cy="2971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257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浏览器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及以上版本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Firefox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（火狐浏览器）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及以上版本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Opear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（欧朋浏览器）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10.5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及以上版本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Chrome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（谷歌浏览器）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及以上版本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2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Safari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（苹果浏览器）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及以上版本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嵌入视频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613750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嵌入视频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的方法，能够在网页中嵌入视频。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嵌入视频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文件，它支持三种视频格式。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461624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&lt;video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src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视频文件路径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controls="controls"&gt;&lt;/video&gt;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2801302" y="4962433"/>
            <a:ext cx="305397" cy="20909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2948940" y="5189029"/>
            <a:ext cx="0" cy="2839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877859" y="5490510"/>
            <a:ext cx="224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设置视频文件的路径</a:t>
            </a:r>
          </a:p>
        </p:txBody>
      </p:sp>
      <p:sp>
        <p:nvSpPr>
          <p:cNvPr id="46" name="矩形 45"/>
          <p:cNvSpPr/>
          <p:nvPr/>
        </p:nvSpPr>
        <p:spPr>
          <a:xfrm>
            <a:off x="4625882" y="4962433"/>
            <a:ext cx="889093" cy="20909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4391025" y="5473010"/>
            <a:ext cx="224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控制是否显示播放控件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5039227" y="5189029"/>
            <a:ext cx="0" cy="2839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1226207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ogg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883709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webm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8541211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mpeg4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嵌入视频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中还可以添加其他属性，进一步优化视频的播放效果。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3691" y="3223893"/>
          <a:ext cx="10053395" cy="3107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2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87"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8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autoplay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autoplay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当页面载入完成后自动播放视频。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8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视频结束时重新开始播放。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461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preload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auto/meta/none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如果出现该属性，则视频在页面加载时进行加载，并预备播放。如果使用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"autoplay"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，则忽略该属性。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97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当视频缓冲不足时，该属性值链接一个图像，并将该图像按照一定的比例显示出来。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嵌入音频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613750" y="348618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嵌入音频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的方法，能够在网页中嵌入音频。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嵌入音频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&lt;audio&gt;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音频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文件，它支持三种音频格式。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461624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&lt;audio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src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音频文件路径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controls="controls"&gt;&lt;/audio&gt;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2801302" y="4962433"/>
            <a:ext cx="305397" cy="20909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2948940" y="5189029"/>
            <a:ext cx="0" cy="2839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877859" y="5490510"/>
            <a:ext cx="224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设置音频文件的路径</a:t>
            </a:r>
          </a:p>
        </p:txBody>
      </p:sp>
      <p:sp>
        <p:nvSpPr>
          <p:cNvPr id="46" name="矩形 45"/>
          <p:cNvSpPr/>
          <p:nvPr/>
        </p:nvSpPr>
        <p:spPr>
          <a:xfrm>
            <a:off x="4625882" y="4962433"/>
            <a:ext cx="889093" cy="20909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4391025" y="5473010"/>
            <a:ext cx="224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为音频提供播放控件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5039227" y="5189029"/>
            <a:ext cx="0" cy="2839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1226207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ogg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883709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8541211" y="3062514"/>
            <a:ext cx="2534909" cy="1001486"/>
          </a:xfrm>
          <a:prstGeom prst="roundRect">
            <a:avLst/>
          </a:prstGeom>
          <a:solidFill>
            <a:srgbClr val="1369B2"/>
          </a:solidFill>
          <a:ln>
            <a:solidFill>
              <a:srgbClr val="1369B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wav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嵌入音频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&lt;audio&gt;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中还可以添加其他属性，来进一步优化音频的播放效果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3693" y="3383914"/>
          <a:ext cx="10053394" cy="29823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4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063"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6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autoplay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autoplay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当页面载入完成后自动播放音频。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6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音频结束时重新开始播放。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11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preload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auto/meta/none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如果出现该属性，则音频在页面加载时进行加载，并预备播放。如果使用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"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autoplay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属性，浏览器会忽略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preload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/>
        </p:nvSpPr>
        <p:spPr>
          <a:xfrm rot="10800000">
            <a:off x="1019174" y="847724"/>
            <a:ext cx="3863376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863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浏览器对音视频文件的兼容性</a:t>
            </a:r>
            <a:endParaRPr lang="zh-CN" altLang="en-US" sz="2000" dirty="0"/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613750" y="348618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各浏览器对视频和音频文件格式的兼容情况，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能够针对不同浏览器，选择兼容性最好的视频格式。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92539"/>
            <a:chOff x="1019175" y="1680487"/>
            <a:chExt cx="10440988" cy="1192539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14449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虽然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ogg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mpeg4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视频格式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以及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ogg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mp3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wav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音频格式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，但并不是所有的浏览器都支持这些格式，因此我们在嵌入视频音频文件格式时，就要考虑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浏览器的兼容性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88983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43691" y="3015048"/>
          <a:ext cx="10053397" cy="3388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8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9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7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851">
                <a:tc gridSpan="6"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视频文件格式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98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IE 9.0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Firefox 4.0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Opera 10.6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Chrome 6.0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Safari 3.0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ogg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mpeg4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9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WebM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97">
                <a:tc gridSpan="6"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音频文件格式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9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ogg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7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mp3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9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wav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同侧圆角矩形 11"/>
          <p:cNvSpPr/>
          <p:nvPr/>
        </p:nvSpPr>
        <p:spPr>
          <a:xfrm rot="10800000">
            <a:off x="1019174" y="847724"/>
            <a:ext cx="3863376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9175" y="881033"/>
            <a:ext cx="3863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浏览器对音视频文件的兼容性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817061"/>
            <a:chOff x="1019175" y="1680487"/>
            <a:chExt cx="10440988" cy="81706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319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&lt;source&gt;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标签或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&lt;audio&gt;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标签提供多个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备用文件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11350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2" name="同侧圆角矩形 11"/>
          <p:cNvSpPr/>
          <p:nvPr/>
        </p:nvSpPr>
        <p:spPr>
          <a:xfrm rot="10800000">
            <a:off x="1019174" y="847724"/>
            <a:ext cx="3863376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9175" y="881033"/>
            <a:ext cx="3863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浏览器对音视频文件的兼容性</a:t>
            </a:r>
            <a:endParaRPr lang="zh-CN" altLang="en-US" sz="2000" dirty="0"/>
          </a:p>
        </p:txBody>
      </p:sp>
      <p:grpSp>
        <p:nvGrpSpPr>
          <p:cNvPr id="11" name="组合 8"/>
          <p:cNvGrpSpPr/>
          <p:nvPr/>
        </p:nvGrpSpPr>
        <p:grpSpPr bwMode="auto">
          <a:xfrm>
            <a:off x="1143691" y="2665700"/>
            <a:ext cx="10070649" cy="3562572"/>
            <a:chOff x="920750" y="2283718"/>
            <a:chExt cx="8156200" cy="2432294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187036" y="2450369"/>
              <a:ext cx="5523616" cy="12941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&lt;video controls="controls"&gt;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&lt;source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src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视频文件地址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type="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媒体文件类型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格式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&lt;source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src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视频文件地址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type="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媒体文件类型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格式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……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&lt;/video&gt;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3612185" y="3381089"/>
            <a:ext cx="286955" cy="67332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705731" y="4054953"/>
            <a:ext cx="0" cy="8793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50862" y="5107331"/>
            <a:ext cx="2006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用于指定媒体文件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22" name="矩形 21"/>
          <p:cNvSpPr/>
          <p:nvPr/>
        </p:nvSpPr>
        <p:spPr>
          <a:xfrm>
            <a:off x="5458238" y="3381089"/>
            <a:ext cx="480745" cy="673326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5707060" y="4054953"/>
            <a:ext cx="0" cy="8793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985975" y="5123256"/>
            <a:ext cx="190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用于指定媒体文件的类型和格式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/>
        </p:nvSpPr>
        <p:spPr>
          <a:xfrm rot="10800000">
            <a:off x="1019174" y="847724"/>
            <a:ext cx="3863376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863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控制视频宽高</a:t>
            </a:r>
            <a:endParaRPr lang="zh-CN" altLang="en-US" sz="2000" dirty="0"/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613750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控制视频宽高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的方法，能够为网页中的视频设置宽高。</a:t>
            </a:r>
            <a:endParaRPr lang="en-US" altLang="zh-CN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/>
        </p:nvSpPr>
        <p:spPr>
          <a:xfrm rot="10800000">
            <a:off x="1019174" y="847724"/>
            <a:ext cx="3863376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863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控制视频宽高</a:t>
            </a:r>
            <a:endParaRPr lang="zh-CN" altLang="en-US" sz="2000" dirty="0"/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448564"/>
            <a:chOff x="1019175" y="1680487"/>
            <a:chExt cx="10440988" cy="1448564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44227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10645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给视频设置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宽度和高度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属性后，浏览器在加载页面时就会预先确定视频的尺寸，为视频保留合适大小的空间，保证页面布局的统一。为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添加宽、高的方法十分简单，可以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属性直接为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&lt;video&gt;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设置宽高。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74500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1105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874" y="3488800"/>
            <a:ext cx="4427627" cy="281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/>
        </p:nvSpPr>
        <p:spPr>
          <a:xfrm>
            <a:off x="5969479" y="3488800"/>
            <a:ext cx="53827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属性来缩放视频，这样的视频即使在页面上看起来很小，但它的原始大小依然没变，因此在实际工作中要运用视频处理软件（例如“格式工厂”）对视频进行压缩。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1088</Words>
  <Application>Microsoft Office PowerPoint</Application>
  <PresentationFormat>自定义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Source Han Sans K Bold</vt:lpstr>
      <vt:lpstr>微软雅黑</vt:lpstr>
      <vt:lpstr>字魂105号-简雅黑</vt:lpstr>
      <vt:lpstr>字魂58号-创中黑</vt:lpstr>
      <vt:lpstr>Arial</vt:lpstr>
      <vt:lpstr>Calibri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370</cp:revision>
  <dcterms:created xsi:type="dcterms:W3CDTF">2020-11-11T09:29:00Z</dcterms:created>
  <dcterms:modified xsi:type="dcterms:W3CDTF">2025-12-10T03:01:28Z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C2E28E74384C46B7AFE5EE501D961611</vt:lpwstr>
  </property>
</Properties>
</file>