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35"/>
  </p:notesMasterIdLst>
  <p:handoutMasterIdLst>
    <p:handoutMasterId r:id="rId36"/>
  </p:handoutMasterIdLst>
  <p:sldIdLst>
    <p:sldId id="325" r:id="rId3"/>
    <p:sldId id="264" r:id="rId4"/>
    <p:sldId id="327" r:id="rId5"/>
    <p:sldId id="309" r:id="rId6"/>
    <p:sldId id="259" r:id="rId7"/>
    <p:sldId id="348" r:id="rId8"/>
    <p:sldId id="349" r:id="rId9"/>
    <p:sldId id="416" r:id="rId10"/>
    <p:sldId id="422" r:id="rId11"/>
    <p:sldId id="417" r:id="rId12"/>
    <p:sldId id="423" r:id="rId13"/>
    <p:sldId id="418" r:id="rId14"/>
    <p:sldId id="419" r:id="rId15"/>
    <p:sldId id="424" r:id="rId16"/>
    <p:sldId id="420" r:id="rId17"/>
    <p:sldId id="369" r:id="rId18"/>
    <p:sldId id="370" r:id="rId19"/>
    <p:sldId id="371" r:id="rId20"/>
    <p:sldId id="421" r:id="rId21"/>
    <p:sldId id="425" r:id="rId22"/>
    <p:sldId id="426" r:id="rId23"/>
    <p:sldId id="427" r:id="rId24"/>
    <p:sldId id="430" r:id="rId25"/>
    <p:sldId id="428" r:id="rId26"/>
    <p:sldId id="429" r:id="rId27"/>
    <p:sldId id="431" r:id="rId28"/>
    <p:sldId id="432" r:id="rId29"/>
    <p:sldId id="433" r:id="rId30"/>
    <p:sldId id="434" r:id="rId31"/>
    <p:sldId id="375" r:id="rId32"/>
    <p:sldId id="435" r:id="rId33"/>
    <p:sldId id="436" r:id="rId34"/>
  </p:sldIdLst>
  <p:sldSz cx="12190413" cy="6859588"/>
  <p:notesSz cx="6858000" cy="9144000"/>
  <p:custDataLst>
    <p:tags r:id="rId3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1" userDrawn="1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1" clrIdx="0"/>
  <p:cmAuthor id="1" name="wang" initials="Jay" lastIdx="1" clrIdx="1"/>
  <p:cmAuthor id="2" name="JayChou" initials="Jay" lastIdx="19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0" autoAdjust="0"/>
    <p:restoredTop sz="96379" autoAdjust="0"/>
  </p:normalViewPr>
  <p:slideViewPr>
    <p:cSldViewPr snapToGrid="0">
      <p:cViewPr varScale="1">
        <p:scale>
          <a:sx n="86" d="100"/>
          <a:sy n="86" d="100"/>
        </p:scale>
        <p:origin x="480" y="84"/>
      </p:cViewPr>
      <p:guideLst>
        <p:guide orient="horz" pos="1231"/>
        <p:guide pos="7151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8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764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0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995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32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9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248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193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754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63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024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693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013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96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094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83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5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028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202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84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557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864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94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4319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090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6110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015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678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356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15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7.wmf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907834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、超链接</a:t>
            </a:r>
            <a:r>
              <a:rPr lang="en-US" altLang="zh-CN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3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endParaRPr lang="zh-CN" altLang="en-US" sz="3600" dirty="0">
              <a:solidFill>
                <a:srgbClr val="1369B2"/>
              </a:solidFill>
              <a:latin typeface="微软雅黑" charset="0"/>
              <a:ea typeface="微软雅黑" charset="0"/>
              <a:cs typeface="+mn-ea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667654" y="1992298"/>
            <a:ext cx="9107027" cy="688075"/>
            <a:chOff x="978872" y="1800500"/>
            <a:chExt cx="6328172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328172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有序列表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的特点，能够区分它们之间的差异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667654" y="2862580"/>
            <a:ext cx="9107027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掌握四种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链接伪类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的特点，能够区分不同链接伪类的作用。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667654" y="3730746"/>
            <a:ext cx="9107027" cy="688077"/>
            <a:chOff x="978872" y="3338787"/>
            <a:chExt cx="5869222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869222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列表嵌套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方法，能够使用无序列表、有序列表及定义列表对模块进行排列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667654" y="4601030"/>
            <a:ext cx="9107027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创建超链接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的方法，能够为网页添加超链接。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667654" y="5454470"/>
            <a:ext cx="9107027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页面布局类型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，能够使用这些布局类型完成简单的页面布局。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0517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225571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156149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282994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5-1】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列表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08745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5-2】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控制列表样式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134496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5-3】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超链接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5-1】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列表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标签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72801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为了便于用户阅读，网页中的信息经常以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列表的形式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呈现。例如，淘宝商城首页的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商品分类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，排列有序、条理清晰，呈现为列表的形式。在网页设计中，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种常用的列表，分别为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，下面将对这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种列表进行讲解。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无序列表，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能够说出无序列表的定义和特点。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无序列表的基本语法格式，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能够在网页中定义无序列表。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585682"/>
            <a:chOff x="1019175" y="1604797"/>
            <a:chExt cx="10440988" cy="15856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29080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71674" y="1845965"/>
              <a:ext cx="9482075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是网页中最常用的列表，之所以称为“无序列表”，是因为其各个列表项之间没有顺序级别之分，通常是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</a:t>
              </a: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8064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3242817"/>
            <a:ext cx="8497888" cy="2934463"/>
            <a:chOff x="920750" y="2283718"/>
            <a:chExt cx="8348541" cy="3392174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339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670745"/>
              <a:ext cx="2042870" cy="26181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&lt;ul&gt;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......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&lt;/ul&gt; 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3179785" y="3651121"/>
            <a:ext cx="3982177" cy="369332"/>
            <a:chOff x="3040655" y="4067711"/>
            <a:chExt cx="3980761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11"/>
              <a:ext cx="15691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定义无序列表</a:t>
              </a: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3362665" y="4056570"/>
            <a:ext cx="4443842" cy="1048830"/>
            <a:chOff x="3040655" y="4122797"/>
            <a:chExt cx="4442261" cy="1051770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3040655" y="4122797"/>
              <a:ext cx="2103991" cy="1051770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  <a:stCxn id="28" idx="3"/>
            </p:cNvCxnSpPr>
            <p:nvPr/>
          </p:nvCxnSpPr>
          <p:spPr bwMode="auto">
            <a:xfrm>
              <a:off x="5144646" y="4648682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452314" y="4463498"/>
              <a:ext cx="20306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描述具体的列表项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671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无序列表拥有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属性，用于指定不同的列表项目符号。但是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中不赞成使用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属性，一般通过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样式属性替代。 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中只能嵌套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&lt;li&gt;&lt;/li&gt;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之间相当于一个容器，可以嵌套其他元素。</a:t>
            </a: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3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06722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有序列表，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能够说出有序列表的定义和特点。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有序列表的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基本语法格式，能够在网页中设置定义列表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01425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884642"/>
            <a:chOff x="1019175" y="1604797"/>
            <a:chExt cx="10440988" cy="88464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86315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71674" y="1845965"/>
              <a:ext cx="948207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有序列表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即为有排列顺序的列表，其各个列表项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按照一定的顺序排列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10539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2709417"/>
            <a:ext cx="8497888" cy="3012461"/>
            <a:chOff x="920750" y="2283718"/>
            <a:chExt cx="8348541" cy="3482338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339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670745"/>
              <a:ext cx="2042870" cy="3095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&lt;ol&gt;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......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&lt;/ol&gt;</a:t>
              </a:r>
            </a:p>
            <a:p>
              <a:pPr>
                <a:lnSpc>
                  <a:spcPct val="150000"/>
                </a:lnSpc>
                <a:defRPr/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3179785" y="3117717"/>
            <a:ext cx="3982177" cy="369332"/>
            <a:chOff x="3040655" y="4067707"/>
            <a:chExt cx="3980760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07"/>
              <a:ext cx="1569101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定义有序列表</a:t>
              </a: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3362665" y="3523170"/>
            <a:ext cx="4443842" cy="1048830"/>
            <a:chOff x="3040655" y="4122797"/>
            <a:chExt cx="4442261" cy="1051770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3040655" y="4122797"/>
              <a:ext cx="2103991" cy="1051770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  <a:stCxn id="28" idx="3"/>
            </p:cNvCxnSpPr>
            <p:nvPr/>
          </p:nvCxnSpPr>
          <p:spPr bwMode="auto">
            <a:xfrm>
              <a:off x="5144646" y="4648682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452314" y="4463498"/>
              <a:ext cx="20306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描述具体的列表项</a:t>
              </a:r>
            </a:p>
          </p:txBody>
        </p:sp>
      </p:grpSp>
      <p:sp>
        <p:nvSpPr>
          <p:cNvPr id="21" name="矩形 20"/>
          <p:cNvSpPr/>
          <p:nvPr/>
        </p:nvSpPr>
        <p:spPr>
          <a:xfrm>
            <a:off x="1019175" y="5697906"/>
            <a:ext cx="103330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注意：有序列表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和列表项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拥有一些标签属性。例如，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等，但在网页中不会使用，一般通过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样式属性替代，读者了解即可。</a:t>
            </a:r>
          </a:p>
        </p:txBody>
      </p:sp>
    </p:spTree>
    <p:extLst>
      <p:ext uri="{BB962C8B-B14F-4D97-AF65-F5344CB8AC3E}">
        <p14:creationId xmlns:p14="http://schemas.microsoft.com/office/powerpoint/2010/main" val="37968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定义列表，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能够说出定义列表的作用和特点。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定义列表的基本语法格式，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能够在网页中添加定义列表。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785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052282"/>
            <a:chOff x="1019175" y="1604797"/>
            <a:chExt cx="10440988" cy="10522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04343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08874" y="1845965"/>
              <a:ext cx="966724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常用于对术语或名词进行解释和描述，与无序和有序列表不同，定义列表的列表项前没有任何项目符号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2730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2709417"/>
            <a:ext cx="8497888" cy="4367869"/>
            <a:chOff x="920750" y="2283718"/>
            <a:chExt cx="8348541" cy="5049160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4566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529808"/>
              <a:ext cx="2664929" cy="48030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&lt;dl&gt;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...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...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&lt;/dl&gt;</a:t>
              </a:r>
            </a:p>
            <a:p>
              <a:pPr>
                <a:lnSpc>
                  <a:spcPct val="150000"/>
                </a:lnSpc>
                <a:defRPr/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3179785" y="2965321"/>
            <a:ext cx="4443842" cy="369332"/>
            <a:chOff x="3040655" y="4067711"/>
            <a:chExt cx="4442262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11"/>
              <a:ext cx="2030603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用于指定定义列表</a:t>
              </a: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3179784" y="3341189"/>
            <a:ext cx="4946765" cy="369333"/>
            <a:chOff x="2857839" y="4093130"/>
            <a:chExt cx="4945006" cy="370368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2857839" y="4122797"/>
              <a:ext cx="2594474" cy="34070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</p:cNvCxnSpPr>
            <p:nvPr/>
          </p:nvCxnSpPr>
          <p:spPr bwMode="auto">
            <a:xfrm>
              <a:off x="5464574" y="4278315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772243" y="4093130"/>
              <a:ext cx="2030602" cy="370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用于指定术语名词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3179784" y="3778677"/>
            <a:ext cx="5870093" cy="686645"/>
            <a:chOff x="2857839" y="4122797"/>
            <a:chExt cx="5868006" cy="688569"/>
          </a:xfrm>
        </p:grpSpPr>
        <p:sp>
          <p:nvSpPr>
            <p:cNvPr id="32" name="矩形 29"/>
            <p:cNvSpPr>
              <a:spLocks noChangeArrowheads="1"/>
            </p:cNvSpPr>
            <p:nvPr/>
          </p:nvSpPr>
          <p:spPr bwMode="auto">
            <a:xfrm>
              <a:off x="2857839" y="4122797"/>
              <a:ext cx="2594474" cy="688569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箭头连接符 33"/>
            <p:cNvCxnSpPr>
              <a:cxnSpLocks noChangeShapeType="1"/>
            </p:cNvCxnSpPr>
            <p:nvPr/>
          </p:nvCxnSpPr>
          <p:spPr bwMode="auto">
            <a:xfrm>
              <a:off x="5464574" y="4476990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Box 40"/>
            <p:cNvSpPr txBox="1">
              <a:spLocks noChangeArrowheads="1"/>
            </p:cNvSpPr>
            <p:nvPr/>
          </p:nvSpPr>
          <p:spPr bwMode="auto">
            <a:xfrm>
              <a:off x="5772241" y="4291804"/>
              <a:ext cx="2953604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用于对名词进行解释和描述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19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052282"/>
            <a:chOff x="1019175" y="1604797"/>
            <a:chExt cx="10440988" cy="10522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04343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08874" y="1845965"/>
              <a:ext cx="966724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常用于对术语或名词进行解释和描述，与无序和有序列表不同，定义列表的列表项前没有任何项目符号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2730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5" name="圆角矩形 34"/>
          <p:cNvSpPr/>
          <p:nvPr/>
        </p:nvSpPr>
        <p:spPr bwMode="auto">
          <a:xfrm>
            <a:off x="1019175" y="3224399"/>
            <a:ext cx="3202305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在网页设计中，定义列表常用于实现</a:t>
            </a:r>
            <a:r>
              <a:rPr lang="zh-CN" altLang="en-US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图文混排效果</a:t>
            </a: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dt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插入图片</a:t>
            </a: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中放入对图片</a:t>
            </a:r>
            <a:r>
              <a:rPr lang="zh-CN" altLang="en-US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解释说明的文字</a:t>
            </a:r>
            <a:r>
              <a:rPr lang="zh-CN" altLang="en-US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693920" y="3931920"/>
            <a:ext cx="119872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133521"/>
              </p:ext>
            </p:extLst>
          </p:nvPr>
        </p:nvGraphicFramePr>
        <p:xfrm>
          <a:off x="4693919" y="3642360"/>
          <a:ext cx="6473303" cy="1899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r:id="rId4" imgW="6097410" imgH="1793755" progId="Visio.Drawing.11">
                  <p:embed/>
                </p:oleObj>
              </mc:Choice>
              <mc:Fallback>
                <p:oleObj r:id="rId4" imgW="6097410" imgH="179375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3919" y="3642360"/>
                        <a:ext cx="6473303" cy="18992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666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列表的嵌套应用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列表的嵌套应用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的定义，使用列表时能够对子列表项进行嵌套。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99164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2" y="847721"/>
            <a:ext cx="3533774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列表的嵌套应用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25501" y="1593646"/>
            <a:ext cx="2626482" cy="2220191"/>
            <a:chOff x="1024831" y="1604797"/>
            <a:chExt cx="2347451" cy="2220191"/>
          </a:xfrm>
        </p:grpSpPr>
        <p:sp>
          <p:nvSpPr>
            <p:cNvPr id="9" name="TextBox 38"/>
            <p:cNvSpPr txBox="1"/>
            <p:nvPr/>
          </p:nvSpPr>
          <p:spPr>
            <a:xfrm>
              <a:off x="1408874" y="1845965"/>
              <a:ext cx="1918595" cy="18031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在使用列表时，列表项中也有可能包含若干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子列表项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。我们要想在列表项中定义子列表项就需要将列表进行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2988239" y="344094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693920" y="3931920"/>
            <a:ext cx="119872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" name="组合 8"/>
          <p:cNvGrpSpPr/>
          <p:nvPr/>
        </p:nvGrpSpPr>
        <p:grpSpPr bwMode="auto">
          <a:xfrm>
            <a:off x="4953345" y="944533"/>
            <a:ext cx="6345336" cy="5656101"/>
            <a:chOff x="3831724" y="243751"/>
            <a:chExt cx="6253782" cy="6556265"/>
          </a:xfrm>
        </p:grpSpPr>
        <p:sp>
          <p:nvSpPr>
            <p:cNvPr id="14" name="矩形 13"/>
            <p:cNvSpPr/>
            <p:nvPr/>
          </p:nvSpPr>
          <p:spPr>
            <a:xfrm>
              <a:off x="3831724" y="243751"/>
              <a:ext cx="6253782" cy="6556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15676" y="330116"/>
              <a:ext cx="4816056" cy="6460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&lt;h2&gt;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服装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&lt;/h2&gt;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&lt;ul&gt;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男装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               &lt;!--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有序列表的嵌套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--&gt;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	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衬衫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	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西服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	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女装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&lt;ul&gt;          &lt;!--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无序列表的嵌套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--&gt; 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	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连衣裙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	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打底衫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  &lt;/ul&gt;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&lt;/li&gt;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&lt;/ul&gt;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304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5-2】</a:t>
            </a:r>
            <a:r>
              <a:rPr lang="en-US" altLang="zh-CN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CSS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 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控制列表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样式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53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列表的项目符号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，但该方式不符合结构、表现分离的网页设计原则，为此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列表样式属性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，用于单独控制列表项目符号，下面详细讲解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控制列表项目符号的方法。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list-style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13513" y="3435362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list-style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的语法格式，能够使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list-style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复合属性设置列表样式。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73028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list-style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1990725" y="3152927"/>
            <a:ext cx="8497886" cy="872605"/>
            <a:chOff x="920750" y="2340865"/>
            <a:chExt cx="8348541" cy="1008712"/>
          </a:xfrm>
        </p:grpSpPr>
        <p:sp>
          <p:nvSpPr>
            <p:cNvPr id="10" name="矩形 9"/>
            <p:cNvSpPr/>
            <p:nvPr/>
          </p:nvSpPr>
          <p:spPr>
            <a:xfrm>
              <a:off x="920750" y="2340865"/>
              <a:ext cx="8348541" cy="10087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002139" y="2529808"/>
              <a:ext cx="5426175" cy="483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list-style: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列表项目符号 列表项目符号的位置 列表项目图像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19175" y="1604797"/>
            <a:ext cx="10440988" cy="1128482"/>
            <a:chOff x="1019175" y="1604797"/>
            <a:chExt cx="10440988" cy="1128481"/>
          </a:xfrm>
        </p:grpSpPr>
        <p:sp>
          <p:nvSpPr>
            <p:cNvPr id="15" name="圆角矩形 14"/>
            <p:cNvSpPr/>
            <p:nvPr/>
          </p:nvSpPr>
          <p:spPr>
            <a:xfrm>
              <a:off x="1019175" y="1604798"/>
              <a:ext cx="10440988" cy="11079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TextBox 38"/>
            <p:cNvSpPr txBox="1"/>
            <p:nvPr/>
          </p:nvSpPr>
          <p:spPr>
            <a:xfrm>
              <a:off x="1471674" y="1845964"/>
              <a:ext cx="9482075" cy="695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同盒子模型的边框等属性一样，在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也是一个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列表相关的样式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综合定义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在一个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list-style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</a:p>
          </p:txBody>
        </p:sp>
        <p:sp>
          <p:nvSpPr>
            <p:cNvPr id="18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9" name="矩形 93"/>
            <p:cNvSpPr/>
            <p:nvPr/>
          </p:nvSpPr>
          <p:spPr>
            <a:xfrm rot="10800000">
              <a:off x="11076120" y="234923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990725" y="4465739"/>
            <a:ext cx="8497886" cy="1786508"/>
            <a:chOff x="2881339" y="4524990"/>
            <a:chExt cx="4950889" cy="1473193"/>
          </a:xfrm>
        </p:grpSpPr>
        <p:grpSp>
          <p:nvGrpSpPr>
            <p:cNvPr id="21" name="组合 140"/>
            <p:cNvGrpSpPr>
              <a:grpSpLocks/>
            </p:cNvGrpSpPr>
            <p:nvPr/>
          </p:nvGrpSpPr>
          <p:grpSpPr bwMode="auto">
            <a:xfrm>
              <a:off x="2881339" y="4524990"/>
              <a:ext cx="4950889" cy="1473193"/>
              <a:chOff x="581903" y="3950984"/>
              <a:chExt cx="3643222" cy="1303750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581903" y="4116792"/>
                <a:ext cx="3587762" cy="12270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4" name="矩形 142"/>
              <p:cNvSpPr>
                <a:spLocks noChangeArrowheads="1"/>
              </p:cNvSpPr>
              <p:nvPr/>
            </p:nvSpPr>
            <p:spPr bwMode="auto">
              <a:xfrm>
                <a:off x="1763252" y="3950984"/>
                <a:ext cx="979390" cy="336912"/>
              </a:xfrm>
              <a:prstGeom prst="rect">
                <a:avLst/>
              </a:prstGeom>
              <a:solidFill>
                <a:srgbClr val="1369B2"/>
              </a:solidFill>
              <a:ln w="25400">
                <a:solidFill>
                  <a:srgbClr val="1369B2"/>
                </a:solidFill>
                <a:miter lim="800000"/>
                <a:headEnd/>
                <a:tailEnd/>
              </a:ln>
            </p:spPr>
            <p:txBody>
              <a:bodyPr anchor="ctr" anchorCtr="1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提示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81903" y="5254734"/>
                <a:ext cx="3643222" cy="0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145"/>
            <p:cNvSpPr txBox="1">
              <a:spLocks noChangeArrowheads="1"/>
            </p:cNvSpPr>
            <p:nvPr/>
          </p:nvSpPr>
          <p:spPr bwMode="auto">
            <a:xfrm>
              <a:off x="3108326" y="5045285"/>
              <a:ext cx="4421549" cy="685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在实际网页制作过程中，为了更高效地控制列表项目符号，通常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list-style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的属性值定义为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，然后通过为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设置背景图像的方式实现不同的列表项目符号。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568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背景图像定义列表项目符号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9968" y="3435362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背景图像定义列表项目符号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的方法，能够在网页中使用背景图像定义列表项目符号。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03175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1487312-E749-4752-9750-07243E1D28D3}"/>
              </a:ext>
            </a:extLst>
          </p:cNvPr>
          <p:cNvSpPr/>
          <p:nvPr/>
        </p:nvSpPr>
        <p:spPr bwMode="auto">
          <a:xfrm>
            <a:off x="2060703" y="2734749"/>
            <a:ext cx="7493605" cy="3836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背景图像定义列表项目符号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1128482"/>
            <a:chOff x="1019175" y="1604797"/>
            <a:chExt cx="10440988" cy="112848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079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695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对列表项目符号的控制能力不强，没有办法准确控制项目符号的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，因此实际工作中常通过为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设置背景图像的方式实现对列表项目符号的控制。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4923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BB2BDED-DD12-4900-81EA-E0D57D9C2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995" y="3192548"/>
            <a:ext cx="5685020" cy="292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0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超链接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标签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60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一个网站通常由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构成，用户如果想从首页跳转到其他页面，就需要在首页相应的位置添加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。例如，当浏览淘宝网时，首先看到的是其首页，当单击导航栏中的导航项，页面会跳转到对应的子页面，这是因为导航项添加了超链接功能。下面，将对超链接标签的相关知识进行详细讲解。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6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35362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创建超链接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的方法，能够在网页中创建超链接。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521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747484"/>
            <a:chOff x="1019175" y="1604797"/>
            <a:chExt cx="10440988" cy="7474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74443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中创建超链接非常简单，只需用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&lt;a&gt;&lt;/a&gt;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标签嵌套需要链接的对象即可。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19682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7" name="组合 8"/>
          <p:cNvGrpSpPr/>
          <p:nvPr/>
        </p:nvGrpSpPr>
        <p:grpSpPr bwMode="auto">
          <a:xfrm>
            <a:off x="1990725" y="3928616"/>
            <a:ext cx="8497888" cy="993903"/>
            <a:chOff x="920750" y="2442271"/>
            <a:chExt cx="8348541" cy="1148930"/>
          </a:xfrm>
        </p:grpSpPr>
        <p:sp>
          <p:nvSpPr>
            <p:cNvPr id="18" name="矩形 17"/>
            <p:cNvSpPr/>
            <p:nvPr/>
          </p:nvSpPr>
          <p:spPr>
            <a:xfrm>
              <a:off x="920750" y="2442271"/>
              <a:ext cx="8348541" cy="11489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002139" y="2688361"/>
              <a:ext cx="6454602" cy="483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&lt;a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href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跳转目标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target="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目标窗口的弹出方式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文本或图像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&lt;/a&gt;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183083" y="2964664"/>
            <a:ext cx="4934323" cy="2651120"/>
            <a:chOff x="1774375" y="2793053"/>
            <a:chExt cx="4932569" cy="2658548"/>
          </a:xfrm>
        </p:grpSpPr>
        <p:sp>
          <p:nvSpPr>
            <p:cNvPr id="21" name="矩形 29"/>
            <p:cNvSpPr>
              <a:spLocks noChangeArrowheads="1"/>
            </p:cNvSpPr>
            <p:nvPr/>
          </p:nvSpPr>
          <p:spPr bwMode="auto">
            <a:xfrm>
              <a:off x="3040656" y="4067711"/>
              <a:ext cx="481935" cy="32484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箭头连接符 33"/>
            <p:cNvCxnSpPr>
              <a:cxnSpLocks noChangeShapeType="1"/>
              <a:stCxn id="21" idx="0"/>
            </p:cNvCxnSpPr>
            <p:nvPr/>
          </p:nvCxnSpPr>
          <p:spPr bwMode="auto">
            <a:xfrm flipV="1">
              <a:off x="3281624" y="3395864"/>
              <a:ext cx="0" cy="671847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Box 40"/>
            <p:cNvSpPr txBox="1">
              <a:spLocks noChangeArrowheads="1"/>
            </p:cNvSpPr>
            <p:nvPr/>
          </p:nvSpPr>
          <p:spPr bwMode="auto">
            <a:xfrm>
              <a:off x="1774375" y="2793053"/>
              <a:ext cx="3165125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用于指定链接目标的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27" name="矩形 29"/>
            <p:cNvSpPr>
              <a:spLocks noChangeArrowheads="1"/>
            </p:cNvSpPr>
            <p:nvPr/>
          </p:nvSpPr>
          <p:spPr bwMode="auto">
            <a:xfrm>
              <a:off x="4629503" y="4067040"/>
              <a:ext cx="656491" cy="32484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箭头连接符 33"/>
            <p:cNvCxnSpPr>
              <a:cxnSpLocks noChangeShapeType="1"/>
            </p:cNvCxnSpPr>
            <p:nvPr/>
          </p:nvCxnSpPr>
          <p:spPr bwMode="auto">
            <a:xfrm>
              <a:off x="4965045" y="4391881"/>
              <a:ext cx="0" cy="596987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3522590" y="5081234"/>
              <a:ext cx="3184354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用于指定链接页面的打开方式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08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暂时没有确定链接目标时，通常将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属性值定义为“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="#")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，表示超链接暂时为一个超链接。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在网页中，不仅可以为文本创建超链接，还可以为图像、表格、音频、视频等网页元素添加超链接。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535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35362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创建锚点链接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的方法，能够在网页中创建锚点链接。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28826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浏览网站时，为了提高信息的检索速度，常需要用到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语言中一种特殊的链接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锚点链接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。锚点链接属于超链接的一种。通过创建锚点链接，用户能够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快速定位到目标内容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2862" y="2890412"/>
            <a:ext cx="1874297" cy="3693268"/>
            <a:chOff x="748208" y="2890412"/>
            <a:chExt cx="1874297" cy="3693268"/>
          </a:xfrm>
        </p:grpSpPr>
        <p:cxnSp>
          <p:nvCxnSpPr>
            <p:cNvPr id="17" name="直接连接符 27">
              <a:extLst>
                <a:ext uri="{FF2B5EF4-FFF2-40B4-BE49-F238E27FC236}">
                  <a16:creationId xmlns:a16="http://schemas.microsoft.com/office/drawing/2014/main" id="{6B2EEE94-8009-D440-85F8-33718EC82743}"/>
                </a:ext>
              </a:extLst>
            </p:cNvPr>
            <p:cNvCxnSpPr>
              <a:cxnSpLocks/>
            </p:cNvCxnSpPr>
            <p:nvPr/>
          </p:nvCxnSpPr>
          <p:spPr>
            <a:xfrm>
              <a:off x="2563267" y="2890412"/>
              <a:ext cx="0" cy="3693268"/>
            </a:xfrm>
            <a:prstGeom prst="line">
              <a:avLst/>
            </a:prstGeom>
            <a:ln w="15875">
              <a:solidFill>
                <a:srgbClr val="414146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99FB640-6E9F-CC43-B835-692D3640F1F0}"/>
                </a:ext>
              </a:extLst>
            </p:cNvPr>
            <p:cNvSpPr/>
            <p:nvPr/>
          </p:nvSpPr>
          <p:spPr>
            <a:xfrm>
              <a:off x="2504028" y="4468343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36F020B-408F-4048-85B1-90D45349454B}"/>
                </a:ext>
              </a:extLst>
            </p:cNvPr>
            <p:cNvGrpSpPr/>
            <p:nvPr/>
          </p:nvGrpSpPr>
          <p:grpSpPr>
            <a:xfrm>
              <a:off x="771522" y="4269585"/>
              <a:ext cx="1697534" cy="515997"/>
              <a:chOff x="-2086" y="2141478"/>
              <a:chExt cx="1697534" cy="515997"/>
            </a:xfrm>
          </p:grpSpPr>
          <p:sp>
            <p:nvSpPr>
              <p:cNvPr id="20" name="箭头: 五边形 31">
                <a:extLst>
                  <a:ext uri="{FF2B5EF4-FFF2-40B4-BE49-F238E27FC236}">
                    <a16:creationId xmlns:a16="http://schemas.microsoft.com/office/drawing/2014/main" id="{31B439B6-CA2A-8C4B-8828-55AD9022A8C8}"/>
                  </a:ext>
                </a:extLst>
              </p:cNvPr>
              <p:cNvSpPr/>
              <p:nvPr/>
            </p:nvSpPr>
            <p:spPr>
              <a:xfrm>
                <a:off x="57150" y="2141478"/>
                <a:ext cx="1638298" cy="515997"/>
              </a:xfrm>
              <a:prstGeom prst="homePlat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33D060C-A7DB-DC40-A03F-0B361E432D1E}"/>
                  </a:ext>
                </a:extLst>
              </p:cNvPr>
              <p:cNvSpPr txBox="1"/>
              <p:nvPr/>
            </p:nvSpPr>
            <p:spPr>
              <a:xfrm>
                <a:off x="-2086" y="2168643"/>
                <a:ext cx="1490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675013B-DE0C-3540-B3CC-54189747E01B}"/>
                </a:ext>
              </a:extLst>
            </p:cNvPr>
            <p:cNvSpPr txBox="1"/>
            <p:nvPr/>
          </p:nvSpPr>
          <p:spPr>
            <a:xfrm>
              <a:off x="748208" y="5228690"/>
              <a:ext cx="1626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0F99D9A-888F-6E44-87B0-4C47EAEC6706}"/>
                </a:ext>
              </a:extLst>
            </p:cNvPr>
            <p:cNvSpPr/>
            <p:nvPr/>
          </p:nvSpPr>
          <p:spPr>
            <a:xfrm>
              <a:off x="2504028" y="5438630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06044" y="2844776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定义锚点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506347"/>
              </p:ext>
            </p:extLst>
          </p:nvPr>
        </p:nvGraphicFramePr>
        <p:xfrm>
          <a:off x="3156312" y="3418439"/>
          <a:ext cx="4575675" cy="311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Image" r:id="rId6" imgW="5866560" imgH="3860280" progId="Photoshop.Image.21">
                  <p:embed/>
                </p:oleObj>
              </mc:Choice>
              <mc:Fallback>
                <p:oleObj name="Image" r:id="rId6" imgW="5866560" imgH="3860280" progId="Photoshop.Image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56312" y="3418439"/>
                        <a:ext cx="4575675" cy="311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圆角矩形标注 31"/>
          <p:cNvSpPr/>
          <p:nvPr/>
        </p:nvSpPr>
        <p:spPr bwMode="auto">
          <a:xfrm rot="5400000" flipH="1">
            <a:off x="8415842" y="3421426"/>
            <a:ext cx="2563946" cy="3113332"/>
          </a:xfrm>
          <a:prstGeom prst="wedgeRoundRectCallout">
            <a:avLst>
              <a:gd name="adj1" fmla="val -22503"/>
              <a:gd name="adj2" fmla="val 75732"/>
              <a:gd name="adj3" fmla="val 16667"/>
            </a:avLst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159262" y="3859883"/>
            <a:ext cx="3300901" cy="18846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20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en-US" altLang="zh-CN" sz="2000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en-US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000" spc="2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=”#id</a:t>
            </a:r>
            <a:r>
              <a:rPr lang="zh-CN" altLang="en-US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“&gt;</a:t>
            </a:r>
            <a:r>
              <a:rPr lang="zh-CN" altLang="en-US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链接文本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&lt;/a&gt;”</a:t>
            </a:r>
            <a:r>
              <a:rPr lang="zh-CN" altLang="en-US" sz="20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创建链接文本。</a:t>
            </a:r>
            <a:endParaRPr lang="en-US" altLang="zh-CN" sz="2000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0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浏览网站时，为了提高信息的检索速度，常需要用到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语言中一种特殊的链接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锚点链接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。锚点链接属于超链接的一种。通过创建锚点链接，用户能够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快速定位到目标内容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2862" y="2890412"/>
            <a:ext cx="1874297" cy="3693268"/>
            <a:chOff x="748208" y="2890412"/>
            <a:chExt cx="1874297" cy="3693268"/>
          </a:xfrm>
        </p:grpSpPr>
        <p:cxnSp>
          <p:nvCxnSpPr>
            <p:cNvPr id="17" name="直接连接符 27">
              <a:extLst>
                <a:ext uri="{FF2B5EF4-FFF2-40B4-BE49-F238E27FC236}">
                  <a16:creationId xmlns:a16="http://schemas.microsoft.com/office/drawing/2014/main" id="{6B2EEE94-8009-D440-85F8-33718EC82743}"/>
                </a:ext>
              </a:extLst>
            </p:cNvPr>
            <p:cNvCxnSpPr>
              <a:cxnSpLocks/>
            </p:cNvCxnSpPr>
            <p:nvPr/>
          </p:nvCxnSpPr>
          <p:spPr>
            <a:xfrm>
              <a:off x="2563267" y="2890412"/>
              <a:ext cx="0" cy="3693268"/>
            </a:xfrm>
            <a:prstGeom prst="line">
              <a:avLst/>
            </a:prstGeom>
            <a:ln w="15875">
              <a:solidFill>
                <a:srgbClr val="414146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99FB640-6E9F-CC43-B835-692D3640F1F0}"/>
                </a:ext>
              </a:extLst>
            </p:cNvPr>
            <p:cNvSpPr/>
            <p:nvPr/>
          </p:nvSpPr>
          <p:spPr>
            <a:xfrm>
              <a:off x="2504028" y="4468343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36F020B-408F-4048-85B1-90D45349454B}"/>
                </a:ext>
              </a:extLst>
            </p:cNvPr>
            <p:cNvGrpSpPr/>
            <p:nvPr/>
          </p:nvGrpSpPr>
          <p:grpSpPr>
            <a:xfrm>
              <a:off x="771522" y="4296750"/>
              <a:ext cx="1697534" cy="1433712"/>
              <a:chOff x="-2086" y="2168643"/>
              <a:chExt cx="1697534" cy="1433712"/>
            </a:xfrm>
          </p:grpSpPr>
          <p:sp>
            <p:nvSpPr>
              <p:cNvPr id="20" name="箭头: 五边形 31">
                <a:extLst>
                  <a:ext uri="{FF2B5EF4-FFF2-40B4-BE49-F238E27FC236}">
                    <a16:creationId xmlns:a16="http://schemas.microsoft.com/office/drawing/2014/main" id="{31B439B6-CA2A-8C4B-8828-55AD9022A8C8}"/>
                  </a:ext>
                </a:extLst>
              </p:cNvPr>
              <p:cNvSpPr/>
              <p:nvPr/>
            </p:nvSpPr>
            <p:spPr>
              <a:xfrm>
                <a:off x="57150" y="3086358"/>
                <a:ext cx="1638298" cy="515997"/>
              </a:xfrm>
              <a:prstGeom prst="homePlat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33D060C-A7DB-DC40-A03F-0B361E432D1E}"/>
                  </a:ext>
                </a:extLst>
              </p:cNvPr>
              <p:cNvSpPr txBox="1"/>
              <p:nvPr/>
            </p:nvSpPr>
            <p:spPr>
              <a:xfrm>
                <a:off x="-2086" y="2168643"/>
                <a:ext cx="1490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</a:t>
                </a:r>
                <a:r>
                  <a:rPr lang="en-US" altLang="zh-CN" sz="2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675013B-DE0C-3540-B3CC-54189747E01B}"/>
                </a:ext>
              </a:extLst>
            </p:cNvPr>
            <p:cNvSpPr txBox="1"/>
            <p:nvPr/>
          </p:nvSpPr>
          <p:spPr>
            <a:xfrm>
              <a:off x="748208" y="5228690"/>
              <a:ext cx="1626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E0F99D9A-888F-6E44-87B0-4C47EAEC6706}"/>
                </a:ext>
              </a:extLst>
            </p:cNvPr>
            <p:cNvSpPr/>
            <p:nvPr/>
          </p:nvSpPr>
          <p:spPr>
            <a:xfrm>
              <a:off x="2504028" y="5438630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837420" y="2851261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链接到锚点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338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313" y="3427914"/>
            <a:ext cx="4447687" cy="292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圆角矩形标注 31"/>
          <p:cNvSpPr/>
          <p:nvPr/>
        </p:nvSpPr>
        <p:spPr bwMode="auto">
          <a:xfrm rot="5400000" flipH="1">
            <a:off x="8524245" y="3535196"/>
            <a:ext cx="2807236" cy="2835111"/>
          </a:xfrm>
          <a:prstGeom prst="wedgeRoundRectCallout">
            <a:avLst>
              <a:gd name="adj1" fmla="val -20833"/>
              <a:gd name="adj2" fmla="val 83174"/>
              <a:gd name="adj3" fmla="val 16667"/>
            </a:avLst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9545" y="4430477"/>
            <a:ext cx="277587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8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使用相应的</a:t>
            </a:r>
            <a:r>
              <a:rPr lang="en-US" altLang="zh-CN" sz="18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8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名标注</a:t>
            </a:r>
            <a:r>
              <a:rPr lang="zh-CN" altLang="en-US" sz="18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跳转目标的位置。</a:t>
            </a:r>
            <a:endParaRPr lang="en-US" altLang="zh-CN" sz="1800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988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355761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链接伪类控制超链接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的方法，能够为链接指定不同的状态。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69436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链接伪类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可以实现不同的链接状态。伪类并不是真正意义上的类，它的名称是由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系统定义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的，通常由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30417"/>
              </p:ext>
            </p:extLst>
          </p:nvPr>
        </p:nvGraphicFramePr>
        <p:xfrm>
          <a:off x="1234086" y="3234494"/>
          <a:ext cx="9886664" cy="2770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74234">
                  <a:extLst>
                    <a:ext uri="{9D8B030D-6E8A-4147-A177-3AD203B41FA5}">
                      <a16:colId xmlns:a16="http://schemas.microsoft.com/office/drawing/2014/main" val="2814064063"/>
                    </a:ext>
                  </a:extLst>
                </a:gridCol>
                <a:gridCol w="5512430">
                  <a:extLst>
                    <a:ext uri="{9D8B030D-6E8A-4147-A177-3AD203B41FA5}">
                      <a16:colId xmlns:a16="http://schemas.microsoft.com/office/drawing/2014/main" val="2291846329"/>
                    </a:ext>
                  </a:extLst>
                </a:gridCol>
              </a:tblGrid>
              <a:tr h="554013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超链接标签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的伪类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82308"/>
                  </a:ext>
                </a:extLst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a:link{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未访问时超链接的状态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963986"/>
                  </a:ext>
                </a:extLst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a:visited{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访问后超链接的状态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39549"/>
                  </a:ext>
                </a:extLst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a:hover{ CSS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鼠标经过、悬停时超链接的状态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06126"/>
                  </a:ext>
                </a:extLst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 active{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鼠标单击不动时超链接的状态</a:t>
                      </a: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026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76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同时使用链接的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种伪类时，需要按照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a:link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a:visited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a:hover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a:active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的顺序书写，否则定义的样式可能不起作用。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除了文本样式之外，链接伪类还可用于控制超链接的背景、边框等样式。</a:t>
            </a: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597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b676175a87a61a52b49888dc1caede85834b95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1966</Words>
  <Application>Microsoft Office PowerPoint</Application>
  <PresentationFormat>自定义</PresentationFormat>
  <Paragraphs>221</Paragraphs>
  <Slides>32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Source Han Sans K Bold</vt:lpstr>
      <vt:lpstr>微软雅黑</vt:lpstr>
      <vt:lpstr>字魂105号-简雅黑</vt:lpstr>
      <vt:lpstr>Arial</vt:lpstr>
      <vt:lpstr>Calibri</vt:lpstr>
      <vt:lpstr>Wingdings</vt:lpstr>
      <vt:lpstr>webwppDefTheme</vt:lpstr>
      <vt:lpstr>Office 主题</vt:lpstr>
      <vt:lpstr>Visio.Drawing.11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194</cp:revision>
  <dcterms:created xsi:type="dcterms:W3CDTF">2020-11-11T09:29:40Z</dcterms:created>
  <dcterms:modified xsi:type="dcterms:W3CDTF">2025-12-02T16:02:53Z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