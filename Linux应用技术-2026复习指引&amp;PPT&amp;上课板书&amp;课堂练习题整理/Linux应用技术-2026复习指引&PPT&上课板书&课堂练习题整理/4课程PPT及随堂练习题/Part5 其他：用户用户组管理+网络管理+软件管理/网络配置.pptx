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4.xml" ContentType="application/vnd.openxmlformats-officedocument.presentationml.notesSlide+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notesSlides/notesSlide5.xml" ContentType="application/vnd.openxmlformats-officedocument.presentationml.notesSlide+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handoutMasterIdLst>
    <p:handoutMasterId r:id="rId40"/>
  </p:handoutMasterIdLst>
  <p:sldIdLst>
    <p:sldId id="328" r:id="rId2"/>
    <p:sldId id="260" r:id="rId3"/>
    <p:sldId id="766" r:id="rId4"/>
    <p:sldId id="1722" r:id="rId5"/>
    <p:sldId id="1651" r:id="rId6"/>
    <p:sldId id="1653" r:id="rId7"/>
    <p:sldId id="1723" r:id="rId8"/>
    <p:sldId id="1650" r:id="rId9"/>
    <p:sldId id="1724" r:id="rId10"/>
    <p:sldId id="1726" r:id="rId11"/>
    <p:sldId id="1727" r:id="rId12"/>
    <p:sldId id="1658" r:id="rId13"/>
    <p:sldId id="1659" r:id="rId14"/>
    <p:sldId id="1698" r:id="rId15"/>
    <p:sldId id="1662" r:id="rId16"/>
    <p:sldId id="1664" r:id="rId17"/>
    <p:sldId id="1665" r:id="rId18"/>
    <p:sldId id="1666" r:id="rId19"/>
    <p:sldId id="1667" r:id="rId20"/>
    <p:sldId id="1668" r:id="rId21"/>
    <p:sldId id="1669" r:id="rId22"/>
    <p:sldId id="1670" r:id="rId23"/>
    <p:sldId id="1671" r:id="rId24"/>
    <p:sldId id="1674" r:id="rId25"/>
    <p:sldId id="1672" r:id="rId26"/>
    <p:sldId id="1673" r:id="rId27"/>
    <p:sldId id="1675" r:id="rId28"/>
    <p:sldId id="1688" r:id="rId29"/>
    <p:sldId id="1677" r:id="rId30"/>
    <p:sldId id="1678" r:id="rId31"/>
    <p:sldId id="1679" r:id="rId32"/>
    <p:sldId id="1680" r:id="rId33"/>
    <p:sldId id="1681" r:id="rId34"/>
    <p:sldId id="1682" r:id="rId35"/>
    <p:sldId id="1683" r:id="rId36"/>
    <p:sldId id="1684" r:id="rId37"/>
    <p:sldId id="1435" r:id="rId38"/>
  </p:sldIdLst>
  <p:sldSz cx="12192000" cy="6858000"/>
  <p:notesSz cx="7104063" cy="10234613"/>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1pPr>
    <a:lvl2pPr marL="4572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2pPr>
    <a:lvl3pPr marL="9144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3pPr>
    <a:lvl4pPr marL="13716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4pPr>
    <a:lvl5pPr marL="1828800" algn="l" rtl="0" fontAlgn="base">
      <a:spcBef>
        <a:spcPct val="0"/>
      </a:spcBef>
      <a:spcAft>
        <a:spcPct val="0"/>
      </a:spcAft>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5pPr>
    <a:lvl6pPr marL="22860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6pPr>
    <a:lvl7pPr marL="27432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7pPr>
    <a:lvl8pPr marL="32004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8pPr>
    <a:lvl9pPr marL="3657600" algn="l" defTabSz="914400" rtl="0" eaLnBrk="1" latinLnBrk="0" hangingPunct="1">
      <a:defRPr kern="1200">
        <a:solidFill>
          <a:schemeClr val="tx1"/>
        </a:solidFill>
        <a:latin typeface="Arial" panose="020B0604020202020204" pitchFamily="34" charset="0"/>
        <a:ea typeface="Arial Unicode MS" panose="020B0604020202020204" pitchFamily="34" charset="-122"/>
        <a:cs typeface="Arial Unicode MS" panose="020B0604020202020204" pitchFamily="34" charset="-122"/>
      </a:defRPr>
    </a:lvl9pPr>
  </p:defaultTextStyle>
  <p:extLst>
    <p:ext uri="{EFAFB233-063F-42B5-8137-9DF3F51BA10A}">
      <p15:sldGuideLst xmlns:p15="http://schemas.microsoft.com/office/powerpoint/2012/main" xmlns="">
        <p15:guide id="1" orient="horz" pos="2082">
          <p15:clr>
            <a:srgbClr val="A4A3A4"/>
          </p15:clr>
        </p15:guide>
        <p15:guide id="2" pos="3933">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00"/>
    <a:srgbClr val="0B9ACF"/>
    <a:srgbClr val="DE2126"/>
    <a:srgbClr val="CC0000"/>
    <a:srgbClr val="D92227"/>
    <a:srgbClr val="FFC000"/>
    <a:srgbClr val="0B9BD0"/>
    <a:srgbClr val="0D9CD0"/>
    <a:srgbClr val="E8A500"/>
    <a:srgbClr val="F6CE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769" autoAdjust="0"/>
    <p:restoredTop sz="94660" autoAdjust="0"/>
  </p:normalViewPr>
  <p:slideViewPr>
    <p:cSldViewPr snapToGrid="0">
      <p:cViewPr varScale="1">
        <p:scale>
          <a:sx n="67" d="100"/>
          <a:sy n="67" d="100"/>
        </p:scale>
        <p:origin x="-499" y="-91"/>
      </p:cViewPr>
      <p:guideLst>
        <p:guide orient="horz" pos="2082"/>
        <p:guide pos="3933"/>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fontAlgn="auto">
              <a:buFont typeface="Arial" panose="020B0604020202020204" pitchFamily="34" charset="0"/>
              <a:buNone/>
              <a:defRPr sz="1245" noProof="1"/>
            </a:lvl1pPr>
          </a:lstStyle>
          <a:p>
            <a:pPr>
              <a:defRPr/>
            </a:pPr>
            <a:endParaRPr lang="zh-CN" altLang="en-US"/>
          </a:p>
        </p:txBody>
      </p:sp>
      <p:sp>
        <p:nvSpPr>
          <p:cNvPr id="3" name="日期占位符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fontAlgn="auto">
              <a:buFont typeface="Arial" panose="020B0604020202020204" pitchFamily="34" charset="0"/>
              <a:buNone/>
              <a:defRPr sz="1245" noProof="1">
                <a:latin typeface="+mn-lt"/>
                <a:ea typeface="+mn-ea"/>
                <a:cs typeface="+mn-cs"/>
              </a:defRPr>
            </a:lvl1pPr>
          </a:lstStyle>
          <a:p>
            <a:pPr>
              <a:defRPr/>
            </a:pPr>
            <a:fld id="{5C5A39C2-DCDB-4A91-B843-CEA163FE8BB4}" type="datetimeFigureOut">
              <a:rPr lang="zh-CN" altLang="en-US"/>
              <a:pPr>
                <a:defRPr/>
              </a:pPr>
              <a:t>2021/10/25</a:t>
            </a:fld>
            <a:endParaRPr lang="zh-CN" altLang="en-US"/>
          </a:p>
        </p:txBody>
      </p:sp>
      <p:sp>
        <p:nvSpPr>
          <p:cNvPr id="4" name="页脚占位符 3"/>
          <p:cNvSpPr>
            <a:spLocks noGrp="1"/>
          </p:cNvSpPr>
          <p:nvPr>
            <p:ph type="ftr" sz="quarter" idx="2"/>
          </p:nvPr>
        </p:nvSpPr>
        <p:spPr>
          <a:xfrm>
            <a:off x="0" y="9720263"/>
            <a:ext cx="3078163" cy="514350"/>
          </a:xfrm>
          <a:prstGeom prst="rect">
            <a:avLst/>
          </a:prstGeom>
        </p:spPr>
        <p:txBody>
          <a:bodyPr vert="horz" lIns="91440" tIns="45720" rIns="91440" bIns="45720" rtlCol="0" anchor="b"/>
          <a:lstStyle>
            <a:lvl1pPr algn="l" fontAlgn="auto">
              <a:buFont typeface="Arial" panose="020B0604020202020204" pitchFamily="34" charset="0"/>
              <a:buNone/>
              <a:defRPr sz="1245" noProof="1"/>
            </a:lvl1pPr>
          </a:lstStyle>
          <a:p>
            <a:pPr>
              <a:defRPr/>
            </a:pPr>
            <a:endParaRPr lang="zh-CN" altLang="en-US"/>
          </a:p>
        </p:txBody>
      </p:sp>
      <p:sp>
        <p:nvSpPr>
          <p:cNvPr id="5" name="灯片编号占位符 4"/>
          <p:cNvSpPr>
            <a:spLocks noGrp="1"/>
          </p:cNvSpPr>
          <p:nvPr>
            <p:ph type="sldNum" sz="quarter" idx="3"/>
          </p:nvPr>
        </p:nvSpPr>
        <p:spPr>
          <a:xfrm>
            <a:off x="4024313" y="9720263"/>
            <a:ext cx="3078162" cy="514350"/>
          </a:xfrm>
          <a:prstGeom prst="rect">
            <a:avLst/>
          </a:prstGeom>
        </p:spPr>
        <p:txBody>
          <a:bodyPr vert="horz" wrap="square" lIns="91440" tIns="45720" rIns="91440" bIns="45720" numCol="1" anchor="b" anchorCtr="0" compatLnSpc="1"/>
          <a:lstStyle>
            <a:lvl1pPr algn="r">
              <a:buFont typeface="Arial" panose="020B0604020202020204" pitchFamily="34" charset="0"/>
              <a:buNone/>
              <a:defRPr sz="1200"/>
            </a:lvl1pPr>
          </a:lstStyle>
          <a:p>
            <a:pPr>
              <a:defRPr/>
            </a:pPr>
            <a:fld id="{6BAC33A3-47FB-4082-826B-926D997FCDB6}" type="slidenum">
              <a:rPr lang="zh-CN" altLang="en-US"/>
              <a:pPr>
                <a:defRPr/>
              </a:pPr>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fontAlgn="auto">
              <a:buFont typeface="Arial" panose="020B0604020202020204" pitchFamily="34" charset="0"/>
              <a:buNone/>
              <a:defRPr sz="1200" noProof="1"/>
            </a:lvl1pPr>
          </a:lstStyle>
          <a:p>
            <a:pPr>
              <a:defRPr/>
            </a:pPr>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fontAlgn="auto">
              <a:buFont typeface="Arial" panose="020B0604020202020204" pitchFamily="34" charset="0"/>
              <a:buNone/>
              <a:defRPr sz="1200" noProof="1">
                <a:latin typeface="+mn-lt"/>
                <a:ea typeface="+mn-ea"/>
                <a:cs typeface="+mn-cs"/>
              </a:defRPr>
            </a:lvl1pPr>
          </a:lstStyle>
          <a:p>
            <a:pPr>
              <a:defRPr/>
            </a:pPr>
            <a:fld id="{92D12AD9-1B21-46F8-893C-601AAB1B8675}" type="datetimeFigureOut">
              <a:rPr lang="zh-CN" altLang="en-US"/>
              <a:pPr>
                <a:defRPr/>
              </a:pPr>
              <a:t>2021/10/25</a:t>
            </a:fld>
            <a:endParaRPr lang="zh-CN" altLang="en-US"/>
          </a:p>
        </p:txBody>
      </p:sp>
      <p:sp>
        <p:nvSpPr>
          <p:cNvPr id="47108" name="幻灯片图像占位符 3"/>
          <p:cNvSpPr>
            <a:spLocks noGrp="1" noRot="1" noChangeAspect="1" noChangeArrowheads="1"/>
          </p:cNvSpPr>
          <p:nvPr>
            <p:ph type="sldImg" idx="4294967295"/>
          </p:nvPr>
        </p:nvSpPr>
        <p:spPr bwMode="auto">
          <a:xfrm>
            <a:off x="481013" y="1279525"/>
            <a:ext cx="6140450" cy="3454400"/>
          </a:xfrm>
          <a:prstGeom prst="rect">
            <a:avLst/>
          </a:prstGeom>
          <a:noFill/>
          <a:ln w="12700">
            <a:solidFill>
              <a:srgbClr val="000000"/>
            </a:solidFill>
            <a:round/>
          </a:ln>
        </p:spPr>
      </p:sp>
      <p:sp>
        <p:nvSpPr>
          <p:cNvPr id="8197" name="备注占位符 4"/>
          <p:cNvSpPr>
            <a:spLocks noGrp="1" noChangeArrowheads="1"/>
          </p:cNvSpPr>
          <p:nvPr>
            <p:ph type="body" sz="quarter" idx="9"/>
          </p:nvPr>
        </p:nvSpPr>
        <p:spPr bwMode="auto">
          <a:xfrm>
            <a:off x="709613" y="4926013"/>
            <a:ext cx="5683250" cy="4029075"/>
          </a:xfrm>
          <a:prstGeom prst="rect">
            <a:avLst/>
          </a:prstGeom>
          <a:noFill/>
          <a:ln w="9525">
            <a:noFill/>
            <a:miter lim="800000"/>
          </a:ln>
        </p:spPr>
        <p:txBody>
          <a:bodyPr vert="horz" wrap="square" lIns="91440" tIns="45720" rIns="91440" bIns="45720" numCol="1" anchor="t"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9720263"/>
            <a:ext cx="3078163" cy="514350"/>
          </a:xfrm>
          <a:prstGeom prst="rect">
            <a:avLst/>
          </a:prstGeom>
        </p:spPr>
        <p:txBody>
          <a:bodyPr vert="horz" lIns="91440" tIns="45720" rIns="91440" bIns="45720" rtlCol="0" anchor="b"/>
          <a:lstStyle>
            <a:lvl1pPr algn="l" fontAlgn="auto">
              <a:buFont typeface="Arial" panose="020B0604020202020204" pitchFamily="34" charset="0"/>
              <a:buNone/>
              <a:defRPr sz="1200" noProof="1"/>
            </a:lvl1pPr>
          </a:lstStyle>
          <a:p>
            <a:pPr>
              <a:defRPr/>
            </a:pPr>
            <a:endParaRPr lang="zh-CN" altLang="en-US"/>
          </a:p>
        </p:txBody>
      </p:sp>
      <p:sp>
        <p:nvSpPr>
          <p:cNvPr id="7" name="灯片编号占位符 6"/>
          <p:cNvSpPr>
            <a:spLocks noGrp="1"/>
          </p:cNvSpPr>
          <p:nvPr>
            <p:ph type="sldNum" sz="quarter" idx="5"/>
          </p:nvPr>
        </p:nvSpPr>
        <p:spPr>
          <a:xfrm>
            <a:off x="4024313" y="9720263"/>
            <a:ext cx="3078162" cy="514350"/>
          </a:xfrm>
          <a:prstGeom prst="rect">
            <a:avLst/>
          </a:prstGeom>
        </p:spPr>
        <p:txBody>
          <a:bodyPr vert="horz" wrap="square" lIns="91440" tIns="45720" rIns="91440" bIns="45720" numCol="1" anchor="b" anchorCtr="0" compatLnSpc="1"/>
          <a:lstStyle>
            <a:lvl1pPr algn="r">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fld id="{2FDB1411-5CFF-45D5-9989-BCF80D1790E1}" type="slidenum">
              <a:rPr lang="zh-CN" altLang="en-US"/>
              <a:pPr>
                <a:defRPr/>
              </a:pPr>
              <a:t>‹#›</a:t>
            </a:fld>
            <a:endParaRPr lang="zh-CN" altLang="en-US"/>
          </a:p>
        </p:txBody>
      </p:sp>
    </p:spTree>
    <p:extLst>
      <p:ext uri="{BB962C8B-B14F-4D97-AF65-F5344CB8AC3E}">
        <p14:creationId xmlns:p14="http://schemas.microsoft.com/office/powerpoint/2010/main" val="361961096"/>
      </p:ext>
    </p:extLst>
  </p:cSld>
  <p:clrMap bg1="lt1" tx1="dk1" bg2="lt2" tx2="dk2" accent1="accent1" accent2="accent2" accent3="accent3" accent4="accent4" accent5="accent5" accent6="accent6" hlink="hlink" folHlink="folHlink"/>
  <p:notesStyle>
    <a:lvl1pPr algn="l" rtl="0" eaLnBrk="0" fontAlgn="base" hangingPunct="0">
      <a:spcBef>
        <a:spcPct val="0"/>
      </a:spcBef>
      <a:spcAft>
        <a:spcPct val="0"/>
      </a:spcAft>
      <a:defRPr sz="1200" kern="1200">
        <a:solidFill>
          <a:schemeClr val="tx1"/>
        </a:solidFill>
        <a:latin typeface="+mn-lt"/>
        <a:ea typeface="+mn-ea"/>
        <a:cs typeface="+mn-cs"/>
      </a:defRPr>
    </a:lvl1pPr>
    <a:lvl2pPr marL="457200" algn="l" rtl="0" eaLnBrk="0" fontAlgn="base" hangingPunct="0">
      <a:spcBef>
        <a:spcPct val="0"/>
      </a:spcBef>
      <a:spcAft>
        <a:spcPct val="0"/>
      </a:spcAft>
      <a:defRPr sz="1200" kern="1200">
        <a:solidFill>
          <a:schemeClr val="tx1"/>
        </a:solidFill>
        <a:latin typeface="+mn-lt"/>
        <a:ea typeface="+mn-ea"/>
        <a:cs typeface="+mn-cs"/>
      </a:defRPr>
    </a:lvl2pPr>
    <a:lvl3pPr marL="914400" algn="l" rtl="0" eaLnBrk="0" fontAlgn="base" hangingPunct="0">
      <a:spcBef>
        <a:spcPct val="0"/>
      </a:spcBef>
      <a:spcAft>
        <a:spcPct val="0"/>
      </a:spcAft>
      <a:defRPr sz="1200" kern="1200">
        <a:solidFill>
          <a:schemeClr val="tx1"/>
        </a:solidFill>
        <a:latin typeface="+mn-lt"/>
        <a:ea typeface="+mn-ea"/>
        <a:cs typeface="+mn-cs"/>
      </a:defRPr>
    </a:lvl3pPr>
    <a:lvl4pPr marL="1371600" algn="l" rtl="0" eaLnBrk="0" fontAlgn="base" hangingPunct="0">
      <a:spcBef>
        <a:spcPct val="0"/>
      </a:spcBef>
      <a:spcAft>
        <a:spcPct val="0"/>
      </a:spcAft>
      <a:defRPr sz="1200" kern="1200">
        <a:solidFill>
          <a:schemeClr val="tx1"/>
        </a:solidFill>
        <a:latin typeface="+mn-lt"/>
        <a:ea typeface="+mn-ea"/>
        <a:cs typeface="+mn-cs"/>
      </a:defRPr>
    </a:lvl4pPr>
    <a:lvl5pPr marL="1828800" algn="l" rtl="0" eaLnBrk="0" fontAlgn="base" hangingPunct="0">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幻灯片图像占位符 1"/>
          <p:cNvSpPr>
            <a:spLocks noGrp="1" noRot="1" noChangeAspect="1" noChangeArrowheads="1" noTextEdit="1"/>
          </p:cNvSpPr>
          <p:nvPr>
            <p:ph type="sldImg" idx="4294967295"/>
          </p:nvPr>
        </p:nvSpPr>
        <p:spPr>
          <a:ln>
            <a:miter lim="800000"/>
          </a:ln>
        </p:spPr>
      </p:sp>
      <p:sp>
        <p:nvSpPr>
          <p:cNvPr id="48131" name="文本占位符 2"/>
          <p:cNvSpPr>
            <a:spLocks noGrp="1" noChangeArrowheads="1"/>
          </p:cNvSpPr>
          <p:nvPr>
            <p:ph type="body" idx="4294967295"/>
          </p:nvPr>
        </p:nvSpPr>
        <p:spPr>
          <a:noFill/>
        </p:spPr>
        <p:txBody>
          <a:bodyPr/>
          <a:lstStyle/>
          <a:p>
            <a:pPr eaLnBrk="1" hangingPunct="1"/>
            <a:endParaRPr lang="zh-CN" altLang="en-US"/>
          </a:p>
        </p:txBody>
      </p:sp>
      <p:sp>
        <p:nvSpPr>
          <p:cNvPr id="48132" name="灯片编号占位符 3"/>
          <p:cNvSpPr>
            <a:spLocks noGrp="1" noChangeArrowheads="1"/>
          </p:cNvSpPr>
          <p:nvPr>
            <p:ph type="sldNum" sz="quarter" idx="5"/>
          </p:nvPr>
        </p:nvSpPr>
        <p:spPr bwMode="auto">
          <a:noFill/>
          <a:ln>
            <a:miter lim="800000"/>
          </a:ln>
        </p:spPr>
        <p:txBody>
          <a:bodyPr/>
          <a:lstStyle/>
          <a:p>
            <a:fld id="{EEAFF227-7F20-4DA8-8FDA-44BEEE954114}"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idx="4294967295"/>
          </p:nvPr>
        </p:nvSpPr>
        <p:spPr>
          <a:ln>
            <a:miter lim="800000"/>
          </a:ln>
        </p:spPr>
      </p:sp>
      <p:sp>
        <p:nvSpPr>
          <p:cNvPr id="49155" name="文本占位符 2"/>
          <p:cNvSpPr>
            <a:spLocks noGrp="1" noChangeArrowheads="1"/>
          </p:cNvSpPr>
          <p:nvPr>
            <p:ph type="body" idx="4294967295"/>
          </p:nvPr>
        </p:nvSpPr>
        <p:spPr>
          <a:noFill/>
        </p:spPr>
        <p:txBody>
          <a:bodyPr/>
          <a:lstStyle/>
          <a:p>
            <a:pPr eaLnBrk="1" hangingPunct="1"/>
            <a:endParaRPr lang="zh-CN" altLang="en-US"/>
          </a:p>
        </p:txBody>
      </p:sp>
      <p:sp>
        <p:nvSpPr>
          <p:cNvPr id="49156" name="灯片编号占位符 3"/>
          <p:cNvSpPr>
            <a:spLocks noGrp="1" noChangeArrowheads="1"/>
          </p:cNvSpPr>
          <p:nvPr>
            <p:ph type="sldNum" sz="quarter" idx="5"/>
          </p:nvPr>
        </p:nvSpPr>
        <p:spPr bwMode="auto">
          <a:noFill/>
          <a:ln>
            <a:miter lim="800000"/>
          </a:ln>
        </p:spPr>
        <p:txBody>
          <a:bodyPr/>
          <a:lstStyle/>
          <a:p>
            <a:fld id="{CCEDD406-8F44-4401-9932-B6C8EF0C44BA}" type="slidenum">
              <a:rPr lang="zh-CN" altLang="en-US" smtClean="0"/>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3</a:t>
            </a:fld>
            <a:endParaRPr lang="en-US" altLang="zh-CN">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幻灯片图像占位符 1"/>
          <p:cNvSpPr>
            <a:spLocks noGrp="1" noRot="1" noChangeAspect="1" noChangeArrowheads="1" noTextEdit="1"/>
          </p:cNvSpPr>
          <p:nvPr>
            <p:ph type="sldImg" idx="4294967295"/>
          </p:nvPr>
        </p:nvSpPr>
        <p:spPr>
          <a:ln>
            <a:miter lim="800000"/>
          </a:ln>
        </p:spPr>
      </p:sp>
      <p:sp>
        <p:nvSpPr>
          <p:cNvPr id="50179" name="备注占位符 2"/>
          <p:cNvSpPr>
            <a:spLocks noGrp="1" noChangeArrowheads="1"/>
          </p:cNvSpPr>
          <p:nvPr>
            <p:ph type="body" idx="4294967295"/>
          </p:nvPr>
        </p:nvSpPr>
        <p:spPr>
          <a:noFill/>
        </p:spPr>
        <p:txBody>
          <a:bodyPr/>
          <a:lstStyle/>
          <a:p>
            <a:pPr eaLnBrk="1" hangingPunct="1"/>
            <a:endParaRPr lang="zh-CN" altLang="en-US"/>
          </a:p>
        </p:txBody>
      </p:sp>
      <p:sp>
        <p:nvSpPr>
          <p:cNvPr id="50180" name="灯片编号占位符 3"/>
          <p:cNvSpPr>
            <a:spLocks noGrp="1" noChangeArrowheads="1"/>
          </p:cNvSpPr>
          <p:nvPr>
            <p:ph type="sldNum" sz="quarter" idx="5"/>
          </p:nvPr>
        </p:nvSpPr>
        <p:spPr bwMode="auto">
          <a:xfrm>
            <a:off x="3884613" y="8685213"/>
            <a:ext cx="2971800" cy="457200"/>
          </a:xfrm>
          <a:noFill/>
          <a:ln>
            <a:miter lim="800000"/>
          </a:ln>
        </p:spPr>
        <p:txBody>
          <a:bodyPr/>
          <a:lstStyle/>
          <a:p>
            <a:fld id="{6F92B71E-25F2-4AA4-91FD-9D4A7105099D}" type="slidenum">
              <a:rPr lang="en-US" altLang="zh-CN" smtClean="0">
                <a:latin typeface="Arial" panose="020B0604020202020204" pitchFamily="34" charset="0"/>
              </a:rPr>
              <a:pPr/>
              <a:t>27</a:t>
            </a:fld>
            <a:endParaRPr lang="en-US" altLang="zh-CN">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4294967295"/>
          </p:nvPr>
        </p:nvSpPr>
        <p:spPr/>
      </p:sp>
      <p:sp>
        <p:nvSpPr>
          <p:cNvPr id="3" name="文本占位符 2"/>
          <p:cNvSpPr>
            <a:spLocks noGrp="1"/>
          </p:cNvSpPr>
          <p:nvPr>
            <p:ph type="body" idx="9"/>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ChangeArrowheads="1" noTextEdit="1"/>
          </p:cNvSpPr>
          <p:nvPr>
            <p:ph type="sldImg" idx="4294967295"/>
          </p:nvPr>
        </p:nvSpPr>
        <p:spPr>
          <a:ln>
            <a:miter lim="800000"/>
          </a:ln>
        </p:spPr>
      </p:sp>
      <p:sp>
        <p:nvSpPr>
          <p:cNvPr id="74755" name="文本占位符 2"/>
          <p:cNvSpPr>
            <a:spLocks noGrp="1" noChangeArrowheads="1"/>
          </p:cNvSpPr>
          <p:nvPr>
            <p:ph type="body" idx="4294967295"/>
          </p:nvPr>
        </p:nvSpPr>
        <p:spPr>
          <a:noFill/>
        </p:spPr>
        <p:txBody>
          <a:bodyPr/>
          <a:lstStyle/>
          <a:p>
            <a:pPr eaLnBrk="1" hangingPunct="1"/>
            <a:endParaRPr lang="zh-CN" altLang="en-US"/>
          </a:p>
        </p:txBody>
      </p:sp>
      <p:sp>
        <p:nvSpPr>
          <p:cNvPr id="74756" name="灯片编号占位符 3"/>
          <p:cNvSpPr>
            <a:spLocks noGrp="1" noChangeArrowheads="1"/>
          </p:cNvSpPr>
          <p:nvPr>
            <p:ph type="sldNum" sz="quarter" idx="5"/>
          </p:nvPr>
        </p:nvSpPr>
        <p:spPr bwMode="auto">
          <a:noFill/>
          <a:ln>
            <a:miter lim="800000"/>
          </a:ln>
        </p:spPr>
        <p:txBody>
          <a:bodyPr/>
          <a:lstStyle/>
          <a:p>
            <a:fld id="{65B7EC01-864E-40D4-8ACF-B22006FE1010}" type="slidenum">
              <a:rPr lang="zh-CN" altLang="en-US" smtClean="0"/>
              <a:pPr/>
              <a:t>37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extBox 5"/>
          <p:cNvSpPr txBox="1">
            <a:spLocks noChangeArrowheads="1"/>
          </p:cNvSpPr>
          <p:nvPr userDrawn="1"/>
        </p:nvSpPr>
        <p:spPr bwMode="auto">
          <a:xfrm>
            <a:off x="379413" y="1557338"/>
            <a:ext cx="277812" cy="4086225"/>
          </a:xfrm>
          <a:prstGeom prst="rect">
            <a:avLst/>
          </a:prstGeom>
          <a:noFill/>
          <a:ln w="9525">
            <a:noFill/>
            <a:miter lim="800000"/>
          </a:ln>
        </p:spPr>
        <p:txBody>
          <a:bodyPr vert="eaVert" lIns="0" tIns="0" rIns="0" bIns="0" anchor="ctr">
            <a:spAutoFit/>
          </a:bodyPr>
          <a:lstStyle/>
          <a:p>
            <a:pPr>
              <a:buFont typeface="Arial" panose="020B0604020202020204" pitchFamily="34" charset="0"/>
              <a:buNone/>
              <a:defRPr/>
            </a:pPr>
            <a:r>
              <a:rPr lang="zh-CN" altLang="en-US">
                <a:solidFill>
                  <a:schemeClr val="bg1"/>
                </a:solidFill>
                <a:latin typeface="Impact" panose="020B0806030902050204" pitchFamily="34" charset="0"/>
                <a:ea typeface="微软雅黑" panose="020B0503020204020204" pitchFamily="34" charset="-122"/>
              </a:rPr>
              <a:t>从零起步</a:t>
            </a:r>
            <a:r>
              <a:rPr lang="en-US" altLang="zh-CN">
                <a:solidFill>
                  <a:schemeClr val="bg1"/>
                </a:solidFill>
                <a:latin typeface="Impact" panose="020B0806030902050204" pitchFamily="34" charset="0"/>
                <a:ea typeface="微软雅黑" panose="020B0503020204020204" pitchFamily="34" charset="-122"/>
              </a:rPr>
              <a:t>—— </a:t>
            </a:r>
            <a:r>
              <a:rPr lang="en-US" altLang="en-US">
                <a:solidFill>
                  <a:schemeClr val="bg1"/>
                </a:solidFill>
                <a:latin typeface="Impact" panose="020B0806030902050204" pitchFamily="34" charset="0"/>
                <a:ea typeface="微软雅黑" panose="020B0503020204020204" pitchFamily="34" charset="-122"/>
              </a:rPr>
              <a:t>Premiere Pro CS6 </a:t>
            </a:r>
            <a:r>
              <a:rPr lang="zh-CN" altLang="en-US">
                <a:solidFill>
                  <a:schemeClr val="bg1"/>
                </a:solidFill>
                <a:latin typeface="Impact" panose="020B0806030902050204" pitchFamily="34" charset="0"/>
                <a:ea typeface="微软雅黑" panose="020B0503020204020204" pitchFamily="34" charset="-122"/>
              </a:rPr>
              <a:t>快速上手</a:t>
            </a:r>
            <a:endParaRPr lang="zh-CN" altLang="en-US">
              <a:solidFill>
                <a:schemeClr val="bg1"/>
              </a:solidFill>
              <a:latin typeface="微软雅黑" panose="020B0503020204020204" pitchFamily="34" charset="-122"/>
              <a:ea typeface="微软雅黑" panose="020B0503020204020204" pitchFamily="34" charset="-122"/>
            </a:endParaRPr>
          </a:p>
        </p:txBody>
      </p:sp>
      <p:sp>
        <p:nvSpPr>
          <p:cNvPr id="3" name="标题 1"/>
          <p:cNvSpPr>
            <a:spLocks noGrp="1"/>
          </p:cNvSpPr>
          <p:nvPr userDrawn="1"/>
        </p:nvSpPr>
        <p:spPr>
          <a:xfrm>
            <a:off x="3221038" y="321945"/>
            <a:ext cx="2047875" cy="52070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章前导读</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userDrawn="1"/>
        </p:nvSpPr>
        <p:spPr>
          <a:xfrm>
            <a:off x="3253740" y="281305"/>
            <a:ext cx="3367405" cy="55435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7.1  网络配置命令</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2" grpId="2"/>
      <p:bldP spid="2" grpId="3"/>
      <p:bldP spid="2" grpId="4"/>
      <p:bldP spid="2" grpId="5"/>
      <p:bldP spid="2" grpId="6"/>
    </p:bld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标题，文本与内容">
    <p:spTree>
      <p:nvGrpSpPr>
        <p:cNvPr id="1" name=""/>
        <p:cNvGrpSpPr/>
        <p:nvPr/>
      </p:nvGrpSpPr>
      <p:grpSpPr>
        <a:xfrm>
          <a:off x="0" y="0"/>
          <a:ext cx="0" cy="0"/>
          <a:chOff x="0" y="0"/>
          <a:chExt cx="0" cy="0"/>
        </a:xfrm>
      </p:grpSpPr>
      <p:sp>
        <p:nvSpPr>
          <p:cNvPr id="2" name="标题 1"/>
          <p:cNvSpPr>
            <a:spLocks noGrp="1"/>
          </p:cNvSpPr>
          <p:nvPr userDrawn="1"/>
        </p:nvSpPr>
        <p:spPr>
          <a:xfrm>
            <a:off x="3166110" y="257175"/>
            <a:ext cx="4222115" cy="627380"/>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effectLst/>
                <a:cs typeface="+mn-cs"/>
              </a:rPr>
              <a:t>7.2  常用网络配置文件</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面与封底">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664599" name="Rectangle 23"/>
          <p:cNvSpPr>
            <a:spLocks noChangeArrowheads="1"/>
          </p:cNvSpPr>
          <p:nvPr/>
        </p:nvSpPr>
        <p:spPr bwMode="gray">
          <a:xfrm>
            <a:off x="438150" y="163830"/>
            <a:ext cx="2317750" cy="814070"/>
          </a:xfrm>
          <a:prstGeom prst="rect">
            <a:avLst/>
          </a:prstGeom>
          <a:ln>
            <a:noFill/>
          </a:ln>
        </p:spPr>
        <p:style>
          <a:lnRef idx="1">
            <a:schemeClr val="dk1"/>
          </a:lnRef>
          <a:fillRef idx="2">
            <a:schemeClr val="dk1"/>
          </a:fillRef>
          <a:effectRef idx="1">
            <a:schemeClr val="dk1"/>
          </a:effectRef>
          <a:fontRef idx="minor">
            <a:schemeClr val="dk1"/>
          </a:fontRef>
        </p:style>
        <p:txBody>
          <a:bodyPr wrap="none" anchor="ctr"/>
          <a:lstStyle/>
          <a:p>
            <a:pPr fontAlgn="auto">
              <a:buFont typeface="Arial" panose="020B0604020202020204" pitchFamily="34" charset="0"/>
              <a:buNone/>
              <a:defRPr/>
            </a:pPr>
            <a:endParaRPr lang="zh-CN" altLang="en-US" noProof="1"/>
          </a:p>
        </p:txBody>
      </p:sp>
      <p:pic>
        <p:nvPicPr>
          <p:cNvPr id="1027" name="图片 3" descr="timg"/>
          <p:cNvPicPr>
            <a:picLocks noChangeAspect="1" noChangeArrowheads="1"/>
          </p:cNvPicPr>
          <p:nvPr/>
        </p:nvPicPr>
        <p:blipFill>
          <a:blip r:embed="rId6" cstate="print"/>
          <a:srcRect/>
          <a:stretch>
            <a:fillRect/>
          </a:stretch>
        </p:blipFill>
        <p:spPr bwMode="auto">
          <a:xfrm>
            <a:off x="527685" y="313373"/>
            <a:ext cx="541338" cy="504825"/>
          </a:xfrm>
          <a:prstGeom prst="rect">
            <a:avLst/>
          </a:prstGeom>
          <a:noFill/>
          <a:ln w="9525">
            <a:noFill/>
            <a:miter lim="800000"/>
            <a:headEnd/>
            <a:tailEnd/>
          </a:ln>
        </p:spPr>
      </p:pic>
      <p:sp>
        <p:nvSpPr>
          <p:cNvPr id="1028" name="TextBox 4"/>
          <p:cNvSpPr txBox="1">
            <a:spLocks noChangeArrowheads="1"/>
          </p:cNvSpPr>
          <p:nvPr/>
        </p:nvSpPr>
        <p:spPr bwMode="auto">
          <a:xfrm>
            <a:off x="923290" y="313690"/>
            <a:ext cx="1832610" cy="483235"/>
          </a:xfrm>
          <a:prstGeom prst="rect">
            <a:avLst/>
          </a:prstGeom>
          <a:noFill/>
          <a:ln w="9525">
            <a:noFill/>
            <a:miter lim="800000"/>
          </a:ln>
        </p:spPr>
        <p:txBody>
          <a:bodyPr wrap="square">
            <a:spAutoFit/>
          </a:bodyPr>
          <a:lstStyle/>
          <a:p>
            <a:pPr>
              <a:buFont typeface="Arial" panose="020B0604020202020204" pitchFamily="34" charset="0"/>
              <a:buNone/>
              <a:defRPr/>
            </a:pPr>
            <a:r>
              <a:rPr lang="en-US" altLang="zh-CN" sz="2400" b="1">
                <a:latin typeface="微软雅黑" panose="020B0503020204020204" pitchFamily="34" charset="-122"/>
                <a:ea typeface="微软雅黑" panose="020B0503020204020204" pitchFamily="34" charset="-122"/>
              </a:rPr>
              <a:t>  </a:t>
            </a:r>
            <a:r>
              <a:rPr lang="zh-CN" altLang="en-US" sz="2400" b="1">
                <a:ea typeface="微软雅黑" panose="020B0503020204020204" pitchFamily="34" charset="-122"/>
              </a:rPr>
              <a:t> 网络配置</a:t>
            </a:r>
          </a:p>
        </p:txBody>
      </p:sp>
      <p:sp>
        <p:nvSpPr>
          <p:cNvPr id="36" name="矩形 35"/>
          <p:cNvSpPr/>
          <p:nvPr/>
        </p:nvSpPr>
        <p:spPr>
          <a:xfrm>
            <a:off x="41275" y="152400"/>
            <a:ext cx="396875" cy="827088"/>
          </a:xfrm>
          <a:prstGeom prst="rect">
            <a:avLst/>
          </a:prstGeom>
          <a:ln>
            <a:noFill/>
          </a:ln>
        </p:spPr>
        <p:style>
          <a:lnRef idx="1">
            <a:schemeClr val="dk1"/>
          </a:lnRef>
          <a:fillRef idx="2">
            <a:schemeClr val="dk1"/>
          </a:fillRef>
          <a:effectRef idx="1">
            <a:schemeClr val="dk1"/>
          </a:effectRef>
          <a:fontRef idx="minor">
            <a:schemeClr val="dk1"/>
          </a:fontRef>
        </p:style>
        <p:txBody>
          <a:bodyPr anchor="ctr"/>
          <a:lstStyle/>
          <a:p>
            <a:pPr algn="ctr" fontAlgn="auto">
              <a:buFont typeface="Arial" panose="020B0604020202020204" pitchFamily="34" charset="0"/>
              <a:buNone/>
              <a:defRPr/>
            </a:pPr>
            <a:endParaRPr lang="zh-CN" altLang="en-US" noProof="1">
              <a:solidFill>
                <a:schemeClr val="tx1"/>
              </a:solidFill>
            </a:endParaRPr>
          </a:p>
        </p:txBody>
      </p:sp>
      <p:sp>
        <p:nvSpPr>
          <p:cNvPr id="1030" name="TextBox 4"/>
          <p:cNvSpPr txBox="1">
            <a:spLocks noChangeArrowheads="1"/>
          </p:cNvSpPr>
          <p:nvPr/>
        </p:nvSpPr>
        <p:spPr bwMode="auto">
          <a:xfrm>
            <a:off x="109221" y="98425"/>
            <a:ext cx="260985" cy="955675"/>
          </a:xfrm>
          <a:prstGeom prst="rect">
            <a:avLst/>
          </a:prstGeom>
          <a:noFill/>
          <a:ln w="9525">
            <a:noFill/>
            <a:miter lim="800000"/>
          </a:ln>
        </p:spPr>
        <p:txBody>
          <a:bodyPr vert="eaVert" lIns="0" tIns="0" rIns="0" bIns="0" anchor="ctr">
            <a:spAutoFit/>
          </a:bodyPr>
          <a:lstStyle/>
          <a:p>
            <a:pPr algn="ctr">
              <a:buFont typeface="Arial" panose="020B0604020202020204" pitchFamily="34" charset="0"/>
              <a:buNone/>
              <a:defRPr/>
            </a:pPr>
            <a:r>
              <a:rPr lang="zh-CN" altLang="en-US" sz="1600">
                <a:solidFill>
                  <a:srgbClr val="404040"/>
                </a:solidFill>
                <a:latin typeface="微软雅黑" panose="020B0503020204020204" pitchFamily="34" charset="-122"/>
                <a:ea typeface="微软雅黑" panose="020B0503020204020204" pitchFamily="34" charset="-122"/>
              </a:rPr>
              <a:t>第七章</a:t>
            </a:r>
          </a:p>
        </p:txBody>
      </p:sp>
      <p:sp>
        <p:nvSpPr>
          <p:cNvPr id="1031" name="饼形 9"/>
          <p:cNvSpPr>
            <a:spLocks noChangeArrowheads="1"/>
          </p:cNvSpPr>
          <p:nvPr/>
        </p:nvSpPr>
        <p:spPr bwMode="auto">
          <a:xfrm rot="-10440000">
            <a:off x="11614150" y="6323013"/>
            <a:ext cx="1189038" cy="1089025"/>
          </a:xfrm>
          <a:custGeom>
            <a:avLst/>
            <a:gdLst/>
            <a:ahLst/>
            <a:cxnLst>
              <a:cxn ang="0">
                <a:pos x="1184933" y="482865"/>
              </a:cxn>
              <a:cxn ang="0">
                <a:pos x="1188720" y="544195"/>
              </a:cxn>
              <a:cxn ang="0">
                <a:pos x="650440" y="1085999"/>
              </a:cxn>
              <a:cxn ang="0">
                <a:pos x="594360" y="544195"/>
              </a:cxn>
            </a:cxnLst>
            <a:rect l="0" t="0" r="r" b="b"/>
            <a:pathLst>
              <a:path w="1188720" h="1088390">
                <a:moveTo>
                  <a:pt x="1184933" y="482865"/>
                </a:moveTo>
                <a:cubicBezTo>
                  <a:pt x="1187451" y="502959"/>
                  <a:pt x="1188720" y="523442"/>
                  <a:pt x="1188720" y="544195"/>
                </a:cubicBezTo>
                <a:cubicBezTo>
                  <a:pt x="1188720" y="827482"/>
                  <a:pt x="952307" y="1060213"/>
                  <a:pt x="650440" y="1085999"/>
                </a:cubicBezTo>
                <a:lnTo>
                  <a:pt x="594360" y="544195"/>
                </a:lnTo>
                <a:close/>
              </a:path>
            </a:pathLst>
          </a:custGeom>
          <a:solidFill>
            <a:srgbClr val="00B0F0"/>
          </a:solidFill>
          <a:ln w="9525">
            <a:noFill/>
            <a:round/>
          </a:ln>
        </p:spPr>
        <p:txBody>
          <a:bodyPr/>
          <a:lstStyle/>
          <a:p>
            <a:pPr>
              <a:buFont typeface="Arial" panose="020B0604020202020204" pitchFamily="34" charset="0"/>
              <a:buNone/>
              <a:defRPr/>
            </a:pPr>
            <a:endParaRPr lang="zh-CN" altLang="en-US"/>
          </a:p>
        </p:txBody>
      </p:sp>
      <p:sp>
        <p:nvSpPr>
          <p:cNvPr id="11" name="文本框 10"/>
          <p:cNvSpPr txBox="1"/>
          <p:nvPr/>
        </p:nvSpPr>
        <p:spPr>
          <a:xfrm>
            <a:off x="11648440" y="6453505"/>
            <a:ext cx="659765" cy="365760"/>
          </a:xfrm>
          <a:prstGeom prst="rect">
            <a:avLst/>
          </a:prstGeom>
          <a:noFill/>
        </p:spPr>
        <p:txBody>
          <a:bodyPr wrap="square">
            <a:spAutoFit/>
          </a:bodyPr>
          <a:lstStyle/>
          <a:p>
            <a:pPr fontAlgn="auto">
              <a:buFont typeface="Arial" panose="020B0604020202020204" pitchFamily="34" charset="0"/>
              <a:buNone/>
              <a:defRPr/>
            </a:pPr>
            <a:fld id="{814D200E-B95F-4368-AFE5-0261574EA689}" type="slidenum">
              <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rPr>
              <a:pPr fontAlgn="auto">
                <a:buFont typeface="Arial" panose="020B0604020202020204" pitchFamily="34" charset="0"/>
                <a:buNone/>
                <a:defRPr/>
              </a:pPr>
              <a:t>‹#›</a:t>
            </a:fld>
            <a:endParaRPr lang="zh-CN" altLang="en-US" b="1" noProof="1">
              <a:effectLst>
                <a:innerShdw blurRad="63500" dist="50800" dir="18900000">
                  <a:prstClr val="black">
                    <a:alpha val="50000"/>
                  </a:prstClr>
                </a:innerShdw>
              </a:effectLst>
              <a:latin typeface="Times New Roman" panose="02020603050405020304" pitchFamily="18" charset="0"/>
              <a:ea typeface="楷体" panose="02010609060101010101" pitchFamily="49" charset="-122"/>
              <a:cs typeface="Arial Unicode MS" panose="020B0604020202020204" pitchFamily="34" charset="-122"/>
            </a:endParaRPr>
          </a:p>
        </p:txBody>
      </p:sp>
      <p:sp>
        <p:nvSpPr>
          <p:cNvPr id="1033" name="矩形 5"/>
          <p:cNvSpPr>
            <a:spLocks noChangeArrowheads="1"/>
          </p:cNvSpPr>
          <p:nvPr/>
        </p:nvSpPr>
        <p:spPr bwMode="auto">
          <a:xfrm>
            <a:off x="2912745" y="166370"/>
            <a:ext cx="8860790" cy="820420"/>
          </a:xfrm>
          <a:prstGeom prst="rect">
            <a:avLst/>
          </a:prstGeom>
          <a:gradFill rotWithShape="1">
            <a:gsLst>
              <a:gs pos="0">
                <a:srgbClr val="00B0F0"/>
              </a:gs>
              <a:gs pos="50000">
                <a:srgbClr val="0070C0"/>
              </a:gs>
              <a:gs pos="100000">
                <a:srgbClr val="00B0F0"/>
              </a:gs>
            </a:gsLst>
            <a:lin ang="15720000"/>
          </a:gradFill>
          <a:ln w="9525">
            <a:noFill/>
            <a:miter lim="800000"/>
          </a:ln>
        </p:spPr>
        <p:txBody>
          <a:bodyPr wrap="none" lIns="90000" tIns="46800" rIns="90000" bIns="46800" anchor="ctr"/>
          <a:lstStyle/>
          <a:p>
            <a:pPr algn="ctr">
              <a:buClr>
                <a:schemeClr val="accent1"/>
              </a:buClr>
              <a:buSzPct val="80000"/>
              <a:buFont typeface="Wingdings" panose="05000000000000000000" pitchFamily="2" charset="2"/>
              <a:buNone/>
              <a:defRPr/>
            </a:pPr>
            <a:endParaRPr lang="de-DE" altLang="en-US" sz="160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p:txStyles>
    <p:titleStyle>
      <a:lvl1pPr algn="l" rtl="0" eaLnBrk="0" fontAlgn="base" hangingPunct="0">
        <a:spcBef>
          <a:spcPct val="0"/>
        </a:spcBef>
        <a:spcAft>
          <a:spcPct val="0"/>
        </a:spcAft>
        <a:defRPr sz="2400">
          <a:solidFill>
            <a:schemeClr val="tx1"/>
          </a:solidFill>
          <a:effectLst>
            <a:outerShdw blurRad="38100" dist="19050" dir="2700000" algn="tl" rotWithShape="0">
              <a:schemeClr val="dk1">
                <a:alpha val="40000"/>
              </a:schemeClr>
            </a:outerShdw>
          </a:effectLst>
          <a:latin typeface="宋体" panose="02010600030101010101" pitchFamily="2" charset="-122"/>
          <a:ea typeface="宋体" panose="02010600030101010101" pitchFamily="2" charset="-122"/>
          <a:cs typeface="+mj-cs"/>
        </a:defRPr>
      </a:lvl1pPr>
      <a:lvl2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2pPr>
      <a:lvl3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3pPr>
      <a:lvl4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4pPr>
      <a:lvl5pPr algn="l" rtl="0" eaLnBrk="0" fontAlgn="base" hangingPunct="0">
        <a:spcBef>
          <a:spcPct val="0"/>
        </a:spcBef>
        <a:spcAft>
          <a:spcPct val="0"/>
        </a:spcAft>
        <a:defRPr sz="2400">
          <a:solidFill>
            <a:schemeClr val="tx1"/>
          </a:solidFill>
          <a:latin typeface="宋体" panose="02010600030101010101" pitchFamily="2" charset="-122"/>
          <a:ea typeface="宋体" panose="02010600030101010101" pitchFamily="2" charset="-122"/>
          <a:cs typeface="Arial Unicode MS" panose="020B0604020202020204" pitchFamily="34" charset="-128"/>
        </a:defRPr>
      </a:lvl5pPr>
      <a:lvl6pPr marL="4572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6pPr>
      <a:lvl7pPr marL="9144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7pPr>
      <a:lvl8pPr marL="13716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8pPr>
      <a:lvl9pPr marL="1828800" algn="l" rtl="0" eaLnBrk="1" fontAlgn="base" hangingPunct="1">
        <a:spcBef>
          <a:spcPct val="0"/>
        </a:spcBef>
        <a:spcAft>
          <a:spcPct val="0"/>
        </a:spcAft>
        <a:defRPr sz="2200">
          <a:solidFill>
            <a:schemeClr val="tx2"/>
          </a:solidFill>
          <a:latin typeface="Arial Black" panose="020B0A04020102020204" pitchFamily="34" charset="0"/>
          <a:ea typeface="Arial Unicode MS" panose="020B0604020202020204" pitchFamily="34" charset="-128"/>
          <a:cs typeface="Arial Unicode MS" panose="020B0604020202020204" pitchFamily="34" charset="-128"/>
        </a:defRPr>
      </a:lvl9pPr>
    </p:titleStyle>
    <p:bodyStyle>
      <a:lvl1pPr marL="342900" indent="-342900" algn="l" rtl="0" eaLnBrk="0" fontAlgn="base" hangingPunct="0">
        <a:spcBef>
          <a:spcPct val="75000"/>
        </a:spcBef>
        <a:spcAft>
          <a:spcPct val="0"/>
        </a:spcAft>
        <a:buClr>
          <a:schemeClr val="tx1"/>
        </a:buClr>
        <a:buSzPct val="80000"/>
        <a:buFont typeface="Wingdings" panose="05000000000000000000" pitchFamily="2" charset="2"/>
        <a:buChar char="•"/>
        <a:defRPr sz="3200">
          <a:solidFill>
            <a:schemeClr val="tx1"/>
          </a:solidFill>
          <a:latin typeface="宋体" panose="02010600030101010101" pitchFamily="2" charset="-122"/>
          <a:ea typeface="宋体" panose="02010600030101010101" pitchFamily="2" charset="-122"/>
          <a:cs typeface="+mn-cs"/>
        </a:defRPr>
      </a:lvl1pPr>
      <a:lvl2pPr marL="184150" indent="-182880" algn="l" rtl="0" eaLnBrk="0" fontAlgn="base" hangingPunct="0">
        <a:spcBef>
          <a:spcPct val="25000"/>
        </a:spcBef>
        <a:spcAft>
          <a:spcPct val="0"/>
        </a:spcAft>
        <a:buClr>
          <a:srgbClr val="F0AB00"/>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2pPr>
      <a:lvl3pPr marL="541655" indent="-195580" algn="l" rtl="0" eaLnBrk="0" fontAlgn="base" hangingPunct="0">
        <a:spcBef>
          <a:spcPct val="25000"/>
        </a:spcBef>
        <a:spcAft>
          <a:spcPct val="0"/>
        </a:spcAft>
        <a:buClr>
          <a:srgbClr val="666666"/>
        </a:buClr>
        <a:buSzPct val="80000"/>
        <a:buFont typeface="Wingdings" panose="05000000000000000000" pitchFamily="2" charset="2"/>
        <a:buChar char="n"/>
        <a:defRPr sz="1600">
          <a:solidFill>
            <a:schemeClr val="tx1"/>
          </a:solidFill>
          <a:latin typeface="宋体" panose="02010600030101010101" pitchFamily="2" charset="-122"/>
          <a:ea typeface="宋体" panose="02010600030101010101" pitchFamily="2" charset="-122"/>
          <a:cs typeface="+mn-cs"/>
        </a:defRPr>
      </a:lvl3pPr>
      <a:lvl4pPr marL="708025" indent="-165100" algn="l" rtl="0" eaLnBrk="0" fontAlgn="base" hangingPunct="0">
        <a:spcBef>
          <a:spcPct val="25000"/>
        </a:spcBef>
        <a:spcAft>
          <a:spcPct val="0"/>
        </a:spcAft>
        <a:buClr>
          <a:srgbClr val="666666"/>
        </a:buClr>
        <a:buSzPct val="80000"/>
        <a:buFont typeface="Arial" panose="020B0604020202020204" pitchFamily="34" charset="0"/>
        <a:buChar char="–"/>
        <a:defRPr sz="1600">
          <a:solidFill>
            <a:schemeClr val="tx1"/>
          </a:solidFill>
          <a:latin typeface="宋体" panose="02010600030101010101" pitchFamily="2" charset="-122"/>
          <a:ea typeface="宋体" panose="02010600030101010101" pitchFamily="2" charset="-122"/>
          <a:cs typeface="+mn-cs"/>
        </a:defRPr>
      </a:lvl4pPr>
      <a:lvl5pPr marL="904875" indent="-195580" algn="l" rtl="0" eaLnBrk="0" fontAlgn="base" hangingPunct="0">
        <a:spcBef>
          <a:spcPct val="15000"/>
        </a:spcBef>
        <a:spcAft>
          <a:spcPct val="0"/>
        </a:spcAft>
        <a:buClr>
          <a:srgbClr val="666666"/>
        </a:buClr>
        <a:buSzPct val="80000"/>
        <a:buFont typeface="Arial" panose="020B0604020202020204" pitchFamily="34" charset="0"/>
        <a:buChar char="–"/>
        <a:defRPr sz="1400">
          <a:solidFill>
            <a:schemeClr val="tx1"/>
          </a:solidFill>
          <a:latin typeface="宋体" panose="02010600030101010101" pitchFamily="2" charset="-122"/>
          <a:ea typeface="宋体" panose="02010600030101010101" pitchFamily="2" charset="-122"/>
          <a:cs typeface="+mn-cs"/>
        </a:defRPr>
      </a:lvl5pPr>
      <a:lvl6pPr marL="13620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6pPr>
      <a:lvl7pPr marL="18192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7pPr>
      <a:lvl8pPr marL="22764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8pPr>
      <a:lvl9pPr marL="2733675" indent="-195580" algn="l" rtl="0" eaLnBrk="1" fontAlgn="base" hangingPunct="1">
        <a:spcBef>
          <a:spcPct val="15000"/>
        </a:spcBef>
        <a:spcAft>
          <a:spcPct val="0"/>
        </a:spcAft>
        <a:buClr>
          <a:srgbClr val="666666"/>
        </a:buClr>
        <a:buSzPct val="80000"/>
        <a:buFont typeface="Arial" panose="020B0604020202020204" pitchFamily="34" charset="0"/>
        <a:buChar char="–"/>
        <a:defRPr sz="14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5.png"/><Relationship Id="rId5" Type="http://schemas.openxmlformats.org/officeDocument/2006/relationships/image" Target="../media/image4.jpe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xml"/><Relationship Id="rId1" Type="http://schemas.openxmlformats.org/officeDocument/2006/relationships/tags" Target="../tags/tag6.xml"/></Relationships>
</file>

<file path=ppt/slides/_rels/slide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ags" Target="../tags/tag9.xml"/><Relationship Id="rId1" Type="http://schemas.openxmlformats.org/officeDocument/2006/relationships/tags" Target="../tags/tag8.xml"/><Relationship Id="rId6" Type="http://schemas.openxmlformats.org/officeDocument/2006/relationships/image" Target="../media/image6.png"/><Relationship Id="rId5" Type="http://schemas.openxmlformats.org/officeDocument/2006/relationships/image" Target="../media/image4.jpeg"/><Relationship Id="rId4"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tags" Target="../tags/tag13.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image" Target="../media/image7.png"/><Relationship Id="rId5" Type="http://schemas.openxmlformats.org/officeDocument/2006/relationships/image" Target="../media/image4.jpeg"/><Relationship Id="rId4"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3.xml.rels><?xml version="1.0" encoding="UTF-8" standalone="yes"?>
<Relationships xmlns="http://schemas.openxmlformats.org/package/2006/relationships"><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 Id="rId5" Type="http://schemas.openxmlformats.org/officeDocument/2006/relationships/image" Target="../media/image9.png"/><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tags" Target="../tags/tag26.xml"/><Relationship Id="rId3" Type="http://schemas.openxmlformats.org/officeDocument/2006/relationships/tags" Target="../tags/tag21.xml"/><Relationship Id="rId7" Type="http://schemas.openxmlformats.org/officeDocument/2006/relationships/tags" Target="../tags/tag25.xml"/><Relationship Id="rId2" Type="http://schemas.openxmlformats.org/officeDocument/2006/relationships/tags" Target="../tags/tag20.xml"/><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Layout" Target="../slideLayouts/slideLayout2.xml"/><Relationship Id="rId5" Type="http://schemas.openxmlformats.org/officeDocument/2006/relationships/tags" Target="../tags/tag23.xml"/><Relationship Id="rId10" Type="http://schemas.openxmlformats.org/officeDocument/2006/relationships/tags" Target="../tags/tag28.xml"/><Relationship Id="rId4" Type="http://schemas.openxmlformats.org/officeDocument/2006/relationships/tags" Target="../tags/tag22.xml"/><Relationship Id="rId9" Type="http://schemas.openxmlformats.org/officeDocument/2006/relationships/tags" Target="../tags/tag27.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9.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1.xml"/><Relationship Id="rId1" Type="http://schemas.openxmlformats.org/officeDocument/2006/relationships/tags" Target="../tags/tag30.xml"/><Relationship Id="rId4"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33.xml"/></Relationships>
</file>

<file path=ppt/slides/_rels/slide20.xml.rels><?xml version="1.0" encoding="UTF-8" standalone="yes"?>
<Relationships xmlns="http://schemas.openxmlformats.org/package/2006/relationships"><Relationship Id="rId8" Type="http://schemas.openxmlformats.org/officeDocument/2006/relationships/tags" Target="../tags/tag41.xml"/><Relationship Id="rId13" Type="http://schemas.openxmlformats.org/officeDocument/2006/relationships/tags" Target="../tags/tag46.xml"/><Relationship Id="rId3" Type="http://schemas.openxmlformats.org/officeDocument/2006/relationships/tags" Target="../tags/tag36.xml"/><Relationship Id="rId7" Type="http://schemas.openxmlformats.org/officeDocument/2006/relationships/tags" Target="../tags/tag40.xml"/><Relationship Id="rId12" Type="http://schemas.openxmlformats.org/officeDocument/2006/relationships/tags" Target="../tags/tag45.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11" Type="http://schemas.openxmlformats.org/officeDocument/2006/relationships/tags" Target="../tags/tag44.xml"/><Relationship Id="rId5" Type="http://schemas.openxmlformats.org/officeDocument/2006/relationships/tags" Target="../tags/tag38.xml"/><Relationship Id="rId15" Type="http://schemas.openxmlformats.org/officeDocument/2006/relationships/slideLayout" Target="../slideLayouts/slideLayout2.xml"/><Relationship Id="rId10" Type="http://schemas.openxmlformats.org/officeDocument/2006/relationships/tags" Target="../tags/tag43.xml"/><Relationship Id="rId4" Type="http://schemas.openxmlformats.org/officeDocument/2006/relationships/tags" Target="../tags/tag37.xml"/><Relationship Id="rId9" Type="http://schemas.openxmlformats.org/officeDocument/2006/relationships/tags" Target="../tags/tag42.xml"/><Relationship Id="rId14" Type="http://schemas.openxmlformats.org/officeDocument/2006/relationships/tags" Target="../tags/tag47.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9.xml"/><Relationship Id="rId1" Type="http://schemas.openxmlformats.org/officeDocument/2006/relationships/tags" Target="../tags/tag4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 Id="rId4"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tags" Target="../tags/tag53.xml"/><Relationship Id="rId4"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6.xml"/></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5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slideLayout" Target="../slideLayouts/slideLayout3.xml"/><Relationship Id="rId1" Type="http://schemas.openxmlformats.org/officeDocument/2006/relationships/tags" Target="../tags/tag58.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59.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0.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3.xml"/><Relationship Id="rId1" Type="http://schemas.openxmlformats.org/officeDocument/2006/relationships/tags" Target="../tags/tag61.xml"/></Relationships>
</file>

<file path=ppt/slides/_rels/slide3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3.xml"/><Relationship Id="rId1" Type="http://schemas.openxmlformats.org/officeDocument/2006/relationships/tags" Target="../tags/tag62.xml"/></Relationships>
</file>

<file path=ppt/slides/_rels/slide3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5.xml"/><Relationship Id="rId1" Type="http://schemas.openxmlformats.org/officeDocument/2006/relationships/tags" Target="../tags/tag64.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tags" Target="../tags/tag67.xml"/><Relationship Id="rId1" Type="http://schemas.openxmlformats.org/officeDocument/2006/relationships/tags" Target="../tags/tag66.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3.xml"/><Relationship Id="rId1" Type="http://schemas.openxmlformats.org/officeDocument/2006/relationships/tags" Target="../tags/tag68.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5124" name="文本框 4"/>
          <p:cNvSpPr txBox="1">
            <a:spLocks noChangeArrowheads="1"/>
          </p:cNvSpPr>
          <p:nvPr/>
        </p:nvSpPr>
        <p:spPr bwMode="auto">
          <a:xfrm>
            <a:off x="1400175" y="2384425"/>
            <a:ext cx="9967913" cy="1108075"/>
          </a:xfrm>
          <a:prstGeom prst="rect">
            <a:avLst/>
          </a:prstGeom>
          <a:noFill/>
          <a:ln w="9525">
            <a:noFill/>
            <a:miter lim="800000"/>
          </a:ln>
        </p:spPr>
        <p:txBody>
          <a:bodyPr wrap="none">
            <a:spAutoFit/>
          </a:bodyPr>
          <a:lstStyle/>
          <a:p>
            <a:pPr algn="ctr">
              <a:defRPr/>
            </a:pPr>
            <a:r>
              <a:rPr lang="en-US" altLang="zh-CN" sz="6600" b="1" dirty="0">
                <a:solidFill>
                  <a:schemeClr val="bg1"/>
                </a:solidFill>
                <a:latin typeface="Times New Roman" panose="02020603050405020304" pitchFamily="18" charset="0"/>
                <a:ea typeface="微软雅黑" panose="020B0503020204020204" pitchFamily="34" charset="-122"/>
                <a:cs typeface="+mn-cs"/>
              </a:rPr>
              <a:t>Linux</a:t>
            </a:r>
            <a:r>
              <a:rPr lang="zh-CN" altLang="en-US" sz="6600" b="1" dirty="0">
                <a:solidFill>
                  <a:schemeClr val="bg1"/>
                </a:solidFill>
                <a:latin typeface="微软雅黑" panose="020B0503020204020204" pitchFamily="34" charset="-122"/>
                <a:ea typeface="微软雅黑" panose="020B0503020204020204" pitchFamily="34" charset="-122"/>
                <a:cs typeface="+mn-cs"/>
              </a:rPr>
              <a:t>操作系统及应用技术</a:t>
            </a:r>
          </a:p>
        </p:txBody>
      </p:sp>
      <p:sp>
        <p:nvSpPr>
          <p:cNvPr id="6" name="矩形 5"/>
          <p:cNvSpPr/>
          <p:nvPr/>
        </p:nvSpPr>
        <p:spPr>
          <a:xfrm>
            <a:off x="3712210" y="3968750"/>
            <a:ext cx="5147945" cy="577850"/>
          </a:xfrm>
          <a:prstGeom prst="rect">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zh-CN" sz="2600" dirty="0">
                <a:solidFill>
                  <a:schemeClr val="bg1">
                    <a:lumMod val="75000"/>
                  </a:schemeClr>
                </a:solidFill>
                <a:latin typeface="微软雅黑" panose="020B0503020204020204" pitchFamily="34" charset="-122"/>
                <a:ea typeface="微软雅黑" panose="020B0503020204020204" pitchFamily="34" charset="-122"/>
              </a:rPr>
              <a:t>第七</a:t>
            </a:r>
            <a:r>
              <a:rPr lang="zh-CN" sz="2600" dirty="0" smtClean="0">
                <a:solidFill>
                  <a:schemeClr val="bg1">
                    <a:lumMod val="75000"/>
                  </a:schemeClr>
                </a:solidFill>
                <a:latin typeface="微软雅黑" panose="020B0503020204020204" pitchFamily="34" charset="-122"/>
                <a:ea typeface="微软雅黑" panose="020B0503020204020204" pitchFamily="34" charset="-122"/>
              </a:rPr>
              <a:t>章</a:t>
            </a:r>
            <a:r>
              <a:rPr lang="en-US" altLang="zh-CN" sz="2600" dirty="0" smtClean="0">
                <a:solidFill>
                  <a:schemeClr val="bg1">
                    <a:lumMod val="75000"/>
                  </a:schemeClr>
                </a:solidFill>
                <a:latin typeface="微软雅黑" panose="020B0503020204020204" pitchFamily="34" charset="-122"/>
                <a:ea typeface="微软雅黑" panose="020B0503020204020204" pitchFamily="34" charset="-122"/>
              </a:rPr>
              <a:t> </a:t>
            </a:r>
            <a:endParaRPr sz="2600" dirty="0">
              <a:solidFill>
                <a:schemeClr val="bg1">
                  <a:lumMod val="75000"/>
                </a:schemeClr>
              </a:solidFill>
              <a:ea typeface="微软雅黑" panose="020B0503020204020204" pitchFamily="34" charset="-122"/>
            </a:endParaRPr>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6153" name="文本框 11"/>
          <p:cNvSpPr txBox="1">
            <a:spLocks noChangeArrowheads="1"/>
          </p:cNvSpPr>
          <p:nvPr/>
        </p:nvSpPr>
        <p:spPr bwMode="auto">
          <a:xfrm>
            <a:off x="8505825" y="5732463"/>
            <a:ext cx="2632075" cy="603250"/>
          </a:xfrm>
          <a:prstGeom prst="rect">
            <a:avLst/>
          </a:prstGeom>
          <a:noFill/>
          <a:ln w="9525">
            <a:noFill/>
            <a:miter lim="800000"/>
          </a:ln>
        </p:spPr>
        <p:txBody>
          <a:bodyPr>
            <a:spAutoFit/>
          </a:bodyPr>
          <a:lstStyle/>
          <a:p>
            <a:pPr>
              <a:lnSpc>
                <a:spcPct val="120000"/>
              </a:lnSpc>
              <a:defRPr/>
            </a:pPr>
            <a:r>
              <a:rPr lang="zh-CN" altLang="en-US" sz="2800" dirty="0">
                <a:solidFill>
                  <a:schemeClr val="bg2">
                    <a:lumMod val="10000"/>
                  </a:schemeClr>
                </a:solidFill>
                <a:latin typeface="Algerian" panose="04020705040A02060702" pitchFamily="82" charset="0"/>
                <a:ea typeface="+mn-ea"/>
                <a:cs typeface="+mn-cs"/>
              </a:rPr>
              <a:t>主讲人：</a:t>
            </a:r>
            <a:r>
              <a:rPr lang="en-US" sz="2800" dirty="0">
                <a:solidFill>
                  <a:schemeClr val="bg2">
                    <a:lumMod val="10000"/>
                  </a:schemeClr>
                </a:solidFill>
                <a:latin typeface="Algerian" panose="04020705040A02060702" pitchFamily="82" charset="0"/>
                <a:ea typeface="+mn-ea"/>
                <a:cs typeface="+mn-cs"/>
              </a:rPr>
              <a:t>XXX</a:t>
            </a:r>
            <a:r>
              <a:rPr lang="en-US" altLang="zh-CN" sz="2800" dirty="0">
                <a:solidFill>
                  <a:schemeClr val="bg2">
                    <a:lumMod val="10000"/>
                  </a:schemeClr>
                </a:solidFill>
                <a:latin typeface="Algerian" panose="04020705040A02060702" pitchFamily="82" charset="0"/>
                <a:ea typeface="+mn-ea"/>
                <a:cs typeface="+mn-cs"/>
              </a:rPr>
              <a:t>   </a:t>
            </a:r>
            <a:r>
              <a:rPr lang="en-US" altLang="zh-CN" sz="2000" dirty="0">
                <a:solidFill>
                  <a:schemeClr val="bg2">
                    <a:lumMod val="10000"/>
                  </a:schemeClr>
                </a:solidFill>
                <a:latin typeface="Algerian" panose="04020705040A02060702" pitchFamily="82" charset="0"/>
                <a:ea typeface="+mn-ea"/>
                <a:cs typeface="+mn-cs"/>
              </a:rPr>
              <a:t>           </a:t>
            </a:r>
            <a:endParaRPr lang="zh-CN" altLang="en-US" sz="2000" dirty="0">
              <a:solidFill>
                <a:schemeClr val="bg2">
                  <a:lumMod val="10000"/>
                </a:schemeClr>
              </a:solidFill>
              <a:latin typeface="Algerian" panose="04020705040A02060702" pitchFamily="82" charset="0"/>
              <a:ea typeface="+mn-ea"/>
              <a:cs typeface="+mn-cs"/>
            </a:endParaRPr>
          </a:p>
        </p:txBody>
      </p:sp>
      <p:sp>
        <p:nvSpPr>
          <p:cNvPr id="14" name="Freeform 74"/>
          <p:cNvSpPr>
            <a:spLocks noEditPoints="1"/>
          </p:cNvSpPr>
          <p:nvPr/>
        </p:nvSpPr>
        <p:spPr bwMode="auto">
          <a:xfrm>
            <a:off x="7970838" y="5732463"/>
            <a:ext cx="534987" cy="601662"/>
          </a:xfrm>
          <a:custGeom>
            <a:avLst/>
            <a:gdLst>
              <a:gd name="T0" fmla="*/ 16 w 91"/>
              <a:gd name="T1" fmla="*/ 108 h 118"/>
              <a:gd name="T2" fmla="*/ 12 w 91"/>
              <a:gd name="T3" fmla="*/ 108 h 118"/>
              <a:gd name="T4" fmla="*/ 2 w 91"/>
              <a:gd name="T5" fmla="*/ 92 h 118"/>
              <a:gd name="T6" fmla="*/ 9 w 91"/>
              <a:gd name="T7" fmla="*/ 65 h 118"/>
              <a:gd name="T8" fmla="*/ 15 w 91"/>
              <a:gd name="T9" fmla="*/ 54 h 118"/>
              <a:gd name="T10" fmla="*/ 15 w 91"/>
              <a:gd name="T11" fmla="*/ 54 h 118"/>
              <a:gd name="T12" fmla="*/ 16 w 91"/>
              <a:gd name="T13" fmla="*/ 54 h 118"/>
              <a:gd name="T14" fmla="*/ 32 w 91"/>
              <a:gd name="T15" fmla="*/ 50 h 118"/>
              <a:gd name="T16" fmla="*/ 35 w 91"/>
              <a:gd name="T17" fmla="*/ 52 h 118"/>
              <a:gd name="T18" fmla="*/ 43 w 91"/>
              <a:gd name="T19" fmla="*/ 71 h 118"/>
              <a:gd name="T20" fmla="*/ 19 w 91"/>
              <a:gd name="T21" fmla="*/ 71 h 118"/>
              <a:gd name="T22" fmla="*/ 16 w 91"/>
              <a:gd name="T23" fmla="*/ 74 h 118"/>
              <a:gd name="T24" fmla="*/ 16 w 91"/>
              <a:gd name="T25" fmla="*/ 108 h 118"/>
              <a:gd name="T26" fmla="*/ 21 w 91"/>
              <a:gd name="T27" fmla="*/ 76 h 118"/>
              <a:gd name="T28" fmla="*/ 21 w 91"/>
              <a:gd name="T29" fmla="*/ 107 h 118"/>
              <a:gd name="T30" fmla="*/ 71 w 91"/>
              <a:gd name="T31" fmla="*/ 107 h 118"/>
              <a:gd name="T32" fmla="*/ 71 w 91"/>
              <a:gd name="T33" fmla="*/ 76 h 118"/>
              <a:gd name="T34" fmla="*/ 21 w 91"/>
              <a:gd name="T35" fmla="*/ 76 h 118"/>
              <a:gd name="T36" fmla="*/ 29 w 91"/>
              <a:gd name="T37" fmla="*/ 33 h 118"/>
              <a:gd name="T38" fmla="*/ 30 w 91"/>
              <a:gd name="T39" fmla="*/ 17 h 118"/>
              <a:gd name="T40" fmla="*/ 48 w 91"/>
              <a:gd name="T41" fmla="*/ 17 h 118"/>
              <a:gd name="T42" fmla="*/ 58 w 91"/>
              <a:gd name="T43" fmla="*/ 20 h 118"/>
              <a:gd name="T44" fmla="*/ 59 w 91"/>
              <a:gd name="T45" fmla="*/ 33 h 118"/>
              <a:gd name="T46" fmla="*/ 64 w 91"/>
              <a:gd name="T47" fmla="*/ 26 h 118"/>
              <a:gd name="T48" fmla="*/ 62 w 91"/>
              <a:gd name="T49" fmla="*/ 9 h 118"/>
              <a:gd name="T50" fmla="*/ 48 w 91"/>
              <a:gd name="T51" fmla="*/ 3 h 118"/>
              <a:gd name="T52" fmla="*/ 27 w 91"/>
              <a:gd name="T53" fmla="*/ 7 h 118"/>
              <a:gd name="T54" fmla="*/ 25 w 91"/>
              <a:gd name="T55" fmla="*/ 29 h 118"/>
              <a:gd name="T56" fmla="*/ 29 w 91"/>
              <a:gd name="T57" fmla="*/ 33 h 118"/>
              <a:gd name="T58" fmla="*/ 14 w 91"/>
              <a:gd name="T59" fmla="*/ 112 h 118"/>
              <a:gd name="T60" fmla="*/ 78 w 91"/>
              <a:gd name="T61" fmla="*/ 112 h 118"/>
              <a:gd name="T62" fmla="*/ 74 w 91"/>
              <a:gd name="T63" fmla="*/ 118 h 118"/>
              <a:gd name="T64" fmla="*/ 17 w 91"/>
              <a:gd name="T65" fmla="*/ 118 h 118"/>
              <a:gd name="T66" fmla="*/ 14 w 91"/>
              <a:gd name="T67" fmla="*/ 112 h 118"/>
              <a:gd name="T68" fmla="*/ 81 w 91"/>
              <a:gd name="T69" fmla="*/ 65 h 118"/>
              <a:gd name="T70" fmla="*/ 88 w 91"/>
              <a:gd name="T71" fmla="*/ 92 h 118"/>
              <a:gd name="T72" fmla="*/ 79 w 91"/>
              <a:gd name="T73" fmla="*/ 108 h 118"/>
              <a:gd name="T74" fmla="*/ 76 w 91"/>
              <a:gd name="T75" fmla="*/ 108 h 118"/>
              <a:gd name="T76" fmla="*/ 76 w 91"/>
              <a:gd name="T77" fmla="*/ 75 h 118"/>
              <a:gd name="T78" fmla="*/ 72 w 91"/>
              <a:gd name="T79" fmla="*/ 71 h 118"/>
              <a:gd name="T80" fmla="*/ 48 w 91"/>
              <a:gd name="T81" fmla="*/ 71 h 118"/>
              <a:gd name="T82" fmla="*/ 56 w 91"/>
              <a:gd name="T83" fmla="*/ 52 h 118"/>
              <a:gd name="T84" fmla="*/ 59 w 91"/>
              <a:gd name="T85" fmla="*/ 50 h 118"/>
              <a:gd name="T86" fmla="*/ 75 w 91"/>
              <a:gd name="T87" fmla="*/ 54 h 118"/>
              <a:gd name="T88" fmla="*/ 76 w 91"/>
              <a:gd name="T89" fmla="*/ 54 h 118"/>
              <a:gd name="T90" fmla="*/ 76 w 91"/>
              <a:gd name="T91" fmla="*/ 55 h 118"/>
              <a:gd name="T92" fmla="*/ 81 w 91"/>
              <a:gd name="T93" fmla="*/ 65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91" h="118">
                <a:moveTo>
                  <a:pt x="16" y="108"/>
                </a:moveTo>
                <a:cubicBezTo>
                  <a:pt x="12" y="108"/>
                  <a:pt x="12" y="108"/>
                  <a:pt x="12" y="108"/>
                </a:cubicBezTo>
                <a:cubicBezTo>
                  <a:pt x="1" y="108"/>
                  <a:pt x="0" y="101"/>
                  <a:pt x="2" y="92"/>
                </a:cubicBezTo>
                <a:cubicBezTo>
                  <a:pt x="9" y="65"/>
                  <a:pt x="9" y="65"/>
                  <a:pt x="9" y="65"/>
                </a:cubicBezTo>
                <a:cubicBezTo>
                  <a:pt x="10" y="61"/>
                  <a:pt x="12" y="57"/>
                  <a:pt x="15" y="54"/>
                </a:cubicBezTo>
                <a:cubicBezTo>
                  <a:pt x="15" y="54"/>
                  <a:pt x="15" y="54"/>
                  <a:pt x="15" y="54"/>
                </a:cubicBezTo>
                <a:cubicBezTo>
                  <a:pt x="16" y="54"/>
                  <a:pt x="16" y="54"/>
                  <a:pt x="16" y="54"/>
                </a:cubicBezTo>
                <a:cubicBezTo>
                  <a:pt x="32" y="50"/>
                  <a:pt x="32" y="50"/>
                  <a:pt x="32" y="50"/>
                </a:cubicBezTo>
                <a:cubicBezTo>
                  <a:pt x="35" y="52"/>
                  <a:pt x="35" y="52"/>
                  <a:pt x="35" y="52"/>
                </a:cubicBezTo>
                <a:cubicBezTo>
                  <a:pt x="43" y="71"/>
                  <a:pt x="43" y="71"/>
                  <a:pt x="43" y="71"/>
                </a:cubicBezTo>
                <a:cubicBezTo>
                  <a:pt x="19" y="71"/>
                  <a:pt x="19" y="71"/>
                  <a:pt x="19" y="71"/>
                </a:cubicBezTo>
                <a:cubicBezTo>
                  <a:pt x="16" y="74"/>
                  <a:pt x="16" y="74"/>
                  <a:pt x="16" y="74"/>
                </a:cubicBezTo>
                <a:cubicBezTo>
                  <a:pt x="16" y="108"/>
                  <a:pt x="16" y="108"/>
                  <a:pt x="16" y="108"/>
                </a:cubicBezTo>
                <a:close/>
                <a:moveTo>
                  <a:pt x="21" y="76"/>
                </a:moveTo>
                <a:cubicBezTo>
                  <a:pt x="21" y="107"/>
                  <a:pt x="21" y="107"/>
                  <a:pt x="21" y="107"/>
                </a:cubicBezTo>
                <a:cubicBezTo>
                  <a:pt x="71" y="107"/>
                  <a:pt x="71" y="107"/>
                  <a:pt x="71" y="107"/>
                </a:cubicBezTo>
                <a:cubicBezTo>
                  <a:pt x="71" y="76"/>
                  <a:pt x="71" y="76"/>
                  <a:pt x="71" y="76"/>
                </a:cubicBezTo>
                <a:cubicBezTo>
                  <a:pt x="21" y="76"/>
                  <a:pt x="21" y="76"/>
                  <a:pt x="21" y="76"/>
                </a:cubicBezTo>
                <a:close/>
                <a:moveTo>
                  <a:pt x="29" y="33"/>
                </a:moveTo>
                <a:cubicBezTo>
                  <a:pt x="29" y="26"/>
                  <a:pt x="28" y="24"/>
                  <a:pt x="30" y="17"/>
                </a:cubicBezTo>
                <a:cubicBezTo>
                  <a:pt x="34" y="20"/>
                  <a:pt x="44" y="18"/>
                  <a:pt x="48" y="17"/>
                </a:cubicBezTo>
                <a:cubicBezTo>
                  <a:pt x="50" y="20"/>
                  <a:pt x="54" y="21"/>
                  <a:pt x="58" y="20"/>
                </a:cubicBezTo>
                <a:cubicBezTo>
                  <a:pt x="59" y="25"/>
                  <a:pt x="59" y="26"/>
                  <a:pt x="59" y="33"/>
                </a:cubicBezTo>
                <a:cubicBezTo>
                  <a:pt x="59" y="33"/>
                  <a:pt x="63" y="30"/>
                  <a:pt x="64" y="26"/>
                </a:cubicBezTo>
                <a:cubicBezTo>
                  <a:pt x="64" y="23"/>
                  <a:pt x="63" y="11"/>
                  <a:pt x="62" y="9"/>
                </a:cubicBezTo>
                <a:cubicBezTo>
                  <a:pt x="60" y="5"/>
                  <a:pt x="56" y="2"/>
                  <a:pt x="48" y="3"/>
                </a:cubicBezTo>
                <a:cubicBezTo>
                  <a:pt x="40" y="0"/>
                  <a:pt x="31" y="3"/>
                  <a:pt x="27" y="7"/>
                </a:cubicBezTo>
                <a:cubicBezTo>
                  <a:pt x="25" y="9"/>
                  <a:pt x="23" y="27"/>
                  <a:pt x="25" y="29"/>
                </a:cubicBezTo>
                <a:cubicBezTo>
                  <a:pt x="27" y="32"/>
                  <a:pt x="29" y="33"/>
                  <a:pt x="29" y="33"/>
                </a:cubicBezTo>
                <a:close/>
                <a:moveTo>
                  <a:pt x="14" y="112"/>
                </a:moveTo>
                <a:cubicBezTo>
                  <a:pt x="78" y="112"/>
                  <a:pt x="78" y="112"/>
                  <a:pt x="78" y="112"/>
                </a:cubicBezTo>
                <a:cubicBezTo>
                  <a:pt x="74" y="118"/>
                  <a:pt x="74" y="118"/>
                  <a:pt x="74" y="118"/>
                </a:cubicBezTo>
                <a:cubicBezTo>
                  <a:pt x="17" y="118"/>
                  <a:pt x="17" y="118"/>
                  <a:pt x="17" y="118"/>
                </a:cubicBezTo>
                <a:cubicBezTo>
                  <a:pt x="14" y="112"/>
                  <a:pt x="14" y="112"/>
                  <a:pt x="14" y="112"/>
                </a:cubicBezTo>
                <a:close/>
                <a:moveTo>
                  <a:pt x="81" y="65"/>
                </a:moveTo>
                <a:cubicBezTo>
                  <a:pt x="88" y="92"/>
                  <a:pt x="88" y="92"/>
                  <a:pt x="88" y="92"/>
                </a:cubicBezTo>
                <a:cubicBezTo>
                  <a:pt x="91" y="101"/>
                  <a:pt x="89" y="108"/>
                  <a:pt x="79" y="108"/>
                </a:cubicBezTo>
                <a:cubicBezTo>
                  <a:pt x="76" y="108"/>
                  <a:pt x="76" y="108"/>
                  <a:pt x="76" y="108"/>
                </a:cubicBezTo>
                <a:cubicBezTo>
                  <a:pt x="76" y="75"/>
                  <a:pt x="76" y="75"/>
                  <a:pt x="76" y="75"/>
                </a:cubicBezTo>
                <a:cubicBezTo>
                  <a:pt x="72" y="71"/>
                  <a:pt x="72" y="71"/>
                  <a:pt x="72" y="71"/>
                </a:cubicBezTo>
                <a:cubicBezTo>
                  <a:pt x="48" y="71"/>
                  <a:pt x="48" y="71"/>
                  <a:pt x="48" y="71"/>
                </a:cubicBezTo>
                <a:cubicBezTo>
                  <a:pt x="56" y="52"/>
                  <a:pt x="56" y="52"/>
                  <a:pt x="56" y="52"/>
                </a:cubicBezTo>
                <a:cubicBezTo>
                  <a:pt x="59" y="50"/>
                  <a:pt x="59" y="50"/>
                  <a:pt x="59" y="50"/>
                </a:cubicBezTo>
                <a:cubicBezTo>
                  <a:pt x="75" y="54"/>
                  <a:pt x="75" y="54"/>
                  <a:pt x="75" y="54"/>
                </a:cubicBezTo>
                <a:cubicBezTo>
                  <a:pt x="76" y="54"/>
                  <a:pt x="76" y="54"/>
                  <a:pt x="76" y="54"/>
                </a:cubicBezTo>
                <a:cubicBezTo>
                  <a:pt x="76" y="55"/>
                  <a:pt x="76" y="55"/>
                  <a:pt x="76" y="55"/>
                </a:cubicBezTo>
                <a:cubicBezTo>
                  <a:pt x="79" y="58"/>
                  <a:pt x="80" y="61"/>
                  <a:pt x="81" y="65"/>
                </a:cubicBezTo>
                <a:close/>
              </a:path>
            </a:pathLst>
          </a:custGeom>
          <a:solidFill>
            <a:schemeClr val="tx2">
              <a:lumMod val="50000"/>
            </a:schemeClr>
          </a:solidFill>
          <a:ln w="9525">
            <a:noFill/>
            <a:round/>
          </a:ln>
        </p:spPr>
        <p:txBody>
          <a:bodyPr/>
          <a:lstStyle/>
          <a:p>
            <a:pPr fontAlgn="auto">
              <a:spcBef>
                <a:spcPts val="0"/>
              </a:spcBef>
              <a:spcAft>
                <a:spcPts val="0"/>
              </a:spcAft>
              <a:defRPr/>
            </a:pPr>
            <a:endParaRPr lang="zh-CN" altLang="en-US">
              <a:latin typeface="+mn-lt"/>
              <a:ea typeface="+mn-ea"/>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61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ChangeArrowheads="1"/>
          </p:cNvSpPr>
          <p:nvPr/>
        </p:nvSpPr>
        <p:spPr bwMode="auto">
          <a:xfrm>
            <a:off x="1022985" y="2124075"/>
            <a:ext cx="5001260" cy="3383280"/>
          </a:xfrm>
          <a:prstGeom prst="rect">
            <a:avLst/>
          </a:prstGeom>
          <a:noFill/>
          <a:ln w="9525">
            <a:noFill/>
            <a:miter lim="800000"/>
          </a:ln>
        </p:spPr>
        <p:txBody>
          <a:bodyPr wrap="square">
            <a:spAutoFit/>
          </a:bodyPr>
          <a:lstStyle/>
          <a:p>
            <a:pPr indent="457200">
              <a:lnSpc>
                <a:spcPct val="150000"/>
              </a:lnSpc>
              <a:buFont typeface="Arial" panose="020B0604020202020204" pitchFamily="34" charset="0"/>
              <a:buNone/>
            </a:pPr>
            <a:r>
              <a:rPr lang="zh-CN" altLang="en-US" sz="2400">
                <a:latin typeface="微软雅黑" panose="020B0503020204020204" pitchFamily="34" charset="-122"/>
                <a:ea typeface="微软雅黑" panose="020B0503020204020204" pitchFamily="34" charset="-122"/>
              </a:rPr>
              <a:t>Liunx的网络配置可以通过桌面图形界面或相关命令来进行设置，对于熟练的使用者往往通过直接修改相应的配置文件来进行网络配置。本章将详细讲述Liunx的网络配置命令及相关配置文件。</a:t>
            </a:r>
          </a:p>
        </p:txBody>
      </p:sp>
      <p:sp>
        <p:nvSpPr>
          <p:cNvPr id="19" name="矩形 18"/>
          <p:cNvSpPr/>
          <p:nvPr/>
        </p:nvSpPr>
        <p:spPr>
          <a:xfrm flipV="1">
            <a:off x="37147" y="6096000"/>
            <a:ext cx="12117388" cy="93663"/>
          </a:xfrm>
          <a:prstGeom prst="rect">
            <a:avLst/>
          </a:prstGeom>
          <a:solidFill>
            <a:srgbClr val="00B0F0">
              <a:alpha val="82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pic>
        <p:nvPicPr>
          <p:cNvPr id="3" name="图片 2" descr="GW79W~_M68X0091{]F)HD[A"/>
          <p:cNvPicPr>
            <a:picLocks noChangeAspect="1"/>
          </p:cNvPicPr>
          <p:nvPr/>
        </p:nvPicPr>
        <p:blipFill>
          <a:blip r:embed="rId3" cstate="print"/>
          <a:stretch>
            <a:fillRect/>
          </a:stretch>
        </p:blipFill>
        <p:spPr>
          <a:xfrm>
            <a:off x="6741795" y="2185035"/>
            <a:ext cx="4436110" cy="313309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22" presetClass="entr" presetSubtype="2"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wipe(right)">
                                      <p:cBhvr>
                                        <p:cTn id="10" dur="500"/>
                                        <p:tgtEl>
                                          <p:spTgt spid="19"/>
                                        </p:tgtEl>
                                      </p:cBhvr>
                                    </p:animEffect>
                                  </p:childTnLst>
                                </p:cTn>
                              </p:par>
                            </p:childTnLst>
                          </p:cTn>
                        </p:par>
                        <p:par>
                          <p:cTn id="11" fill="hold">
                            <p:stCondLst>
                              <p:cond delay="500"/>
                            </p:stCondLst>
                            <p:childTnLst>
                              <p:par>
                                <p:cTn id="12" presetID="17" presetClass="entr" presetSubtype="10" fill="hold" grpId="0" nodeType="afterEffect">
                                  <p:stCondLst>
                                    <p:cond delay="0"/>
                                  </p:stCondLst>
                                  <p:childTnLst>
                                    <p:set>
                                      <p:cBhvr>
                                        <p:cTn id="13" dur="1" fill="hold">
                                          <p:stCondLst>
                                            <p:cond delay="0"/>
                                          </p:stCondLst>
                                        </p:cTn>
                                        <p:tgtEl>
                                          <p:spTgt spid="18"/>
                                        </p:tgtEl>
                                        <p:attrNameLst>
                                          <p:attrName>style.visibility</p:attrName>
                                        </p:attrNameLst>
                                      </p:cBhvr>
                                      <p:to>
                                        <p:strVal val="visible"/>
                                      </p:to>
                                    </p:set>
                                    <p:anim calcmode="lin" valueType="num">
                                      <p:cBhvr>
                                        <p:cTn id="14" dur="500" fill="hold"/>
                                        <p:tgtEl>
                                          <p:spTgt spid="18"/>
                                        </p:tgtEl>
                                        <p:attrNameLst>
                                          <p:attrName>ppt_w</p:attrName>
                                        </p:attrNameLst>
                                      </p:cBhvr>
                                      <p:tavLst>
                                        <p:tav tm="0">
                                          <p:val>
                                            <p:fltVal val="0"/>
                                          </p:val>
                                        </p:tav>
                                        <p:tav tm="100000">
                                          <p:val>
                                            <p:strVal val="#ppt_w"/>
                                          </p:val>
                                        </p:tav>
                                      </p:tavLst>
                                    </p:anim>
                                    <p:anim calcmode="lin" valueType="num">
                                      <p:cBhvr>
                                        <p:cTn id="15" dur="500" fill="hold"/>
                                        <p:tgtEl>
                                          <p:spTgt spid="18"/>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bldLvl="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2098040" y="1931670"/>
            <a:ext cx="8077835" cy="372173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4699635" y="13354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sp>
        <p:nvSpPr>
          <p:cNvPr id="3" name="标题 1"/>
          <p:cNvSpPr>
            <a:spLocks noGrp="1"/>
          </p:cNvSpPr>
          <p:nvPr/>
        </p:nvSpPr>
        <p:spPr>
          <a:xfrm>
            <a:off x="3335655" y="28892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20" name="Group 5"/>
          <p:cNvGrpSpPr/>
          <p:nvPr/>
        </p:nvGrpSpPr>
        <p:grpSpPr bwMode="auto">
          <a:xfrm>
            <a:off x="3016250" y="2706370"/>
            <a:ext cx="6120000" cy="79200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sz="2400">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sz="2400">
                  <a:ea typeface="华文细黑" panose="02010600040101010101" pitchFamily="2" charset="-122"/>
                </a:endParaRPr>
              </a:p>
            </p:txBody>
          </p:sp>
        </p:grpSp>
        <p:sp>
          <p:nvSpPr>
            <p:cNvPr id="24" name="Text Box 9"/>
            <p:cNvSpPr txBox="1">
              <a:spLocks noChangeArrowheads="1"/>
            </p:cNvSpPr>
            <p:nvPr/>
          </p:nvSpPr>
          <p:spPr bwMode="auto">
            <a:xfrm>
              <a:off x="983" y="1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400" b="1">
                  <a:latin typeface="微软雅黑" panose="020B0503020204020204" pitchFamily="34" charset="-122"/>
                  <a:ea typeface="微软雅黑" panose="020B0503020204020204" pitchFamily="34" charset="-122"/>
                  <a:sym typeface="Arial Unicode MS" panose="020B0604020202020204" pitchFamily="34" charset="-122"/>
                </a:rPr>
                <a:t>7.1  网络配置命令</a:t>
              </a:r>
            </a:p>
          </p:txBody>
        </p:sp>
      </p:grpSp>
      <p:grpSp>
        <p:nvGrpSpPr>
          <p:cNvPr id="25" name="Group 5"/>
          <p:cNvGrpSpPr/>
          <p:nvPr/>
        </p:nvGrpSpPr>
        <p:grpSpPr bwMode="auto">
          <a:xfrm>
            <a:off x="2969895" y="4172585"/>
            <a:ext cx="6120000" cy="79200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87"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000" b="1" dirty="0">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7.2  常用网络配置文件</a:t>
              </a:r>
            </a:p>
          </p:txBody>
        </p:sp>
      </p:grpSp>
    </p:spTree>
  </p:cSld>
  <p:clrMapOvr>
    <a:masterClrMapping/>
  </p:clrMapOvr>
  <p:transition>
    <p:randomBar dir="vert"/>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52" presetClass="entr" presetSubtype="0" fill="hold" grpId="0" nodeType="afterEffect">
                                  <p:stCondLst>
                                    <p:cond delay="0"/>
                                  </p:stCondLst>
                                  <p:childTnLst>
                                    <p:set>
                                      <p:cBhvr>
                                        <p:cTn id="10" dur="1" fill="hold">
                                          <p:stCondLst>
                                            <p:cond delay="0"/>
                                          </p:stCondLst>
                                        </p:cTn>
                                        <p:tgtEl>
                                          <p:spTgt spid="6147"/>
                                        </p:tgtEl>
                                        <p:attrNameLst>
                                          <p:attrName>style.visibility</p:attrName>
                                        </p:attrNameLst>
                                      </p:cBhvr>
                                      <p:to>
                                        <p:strVal val="visible"/>
                                      </p:to>
                                    </p:set>
                                    <p:animScale>
                                      <p:cBhvr>
                                        <p:cTn id="11" dur="500" decel="50000" fill="hold">
                                          <p:stCondLst>
                                            <p:cond delay="0"/>
                                          </p:stCondLst>
                                        </p:cTn>
                                        <p:tgtEl>
                                          <p:spTgt spid="614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2" dur="500" decel="50000" fill="hold">
                                          <p:stCondLst>
                                            <p:cond delay="0"/>
                                          </p:stCondLst>
                                        </p:cTn>
                                        <p:tgtEl>
                                          <p:spTgt spid="6147"/>
                                        </p:tgtEl>
                                        <p:attrNameLst>
                                          <p:attrName>ppt_x</p:attrName>
                                          <p:attrName>ppt_y</p:attrName>
                                        </p:attrNameLst>
                                      </p:cBhvr>
                                      <p:rCtr x="0" y="0"/>
                                    </p:animMotion>
                                    <p:animEffect transition="in" filter="fade">
                                      <p:cBhvr>
                                        <p:cTn id="13" dur="500"/>
                                        <p:tgtEl>
                                          <p:spTgt spid="6147"/>
                                        </p:tgtEl>
                                      </p:cBhvr>
                                    </p:animEffect>
                                  </p:childTnLst>
                                </p:cTn>
                              </p:par>
                            </p:childTnLst>
                          </p:cTn>
                        </p:par>
                        <p:par>
                          <p:cTn id="14" fill="hold">
                            <p:stCondLst>
                              <p:cond delay="1000"/>
                            </p:stCondLst>
                            <p:childTnLst>
                              <p:par>
                                <p:cTn id="15" presetID="52" presetClass="entr" presetSubtype="0" fill="hold" grpId="3" nodeType="afterEffect">
                                  <p:stCondLst>
                                    <p:cond delay="0"/>
                                  </p:stCondLst>
                                  <p:childTnLst>
                                    <p:set>
                                      <p:cBhvr>
                                        <p:cTn id="16" dur="1" fill="hold">
                                          <p:stCondLst>
                                            <p:cond delay="0"/>
                                          </p:stCondLst>
                                        </p:cTn>
                                        <p:tgtEl>
                                          <p:spTgt spid="6148"/>
                                        </p:tgtEl>
                                        <p:attrNameLst>
                                          <p:attrName>style.visibility</p:attrName>
                                        </p:attrNameLst>
                                      </p:cBhvr>
                                      <p:to>
                                        <p:strVal val="visible"/>
                                      </p:to>
                                    </p:set>
                                    <p:animScale>
                                      <p:cBhvr>
                                        <p:cTn id="17" dur="1000" decel="50000" fill="hold">
                                          <p:stCondLst>
                                            <p:cond delay="0"/>
                                          </p:stCondLst>
                                        </p:cTn>
                                        <p:tgtEl>
                                          <p:spTgt spid="61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8" dur="1000" decel="50000" fill="hold">
                                          <p:stCondLst>
                                            <p:cond delay="0"/>
                                          </p:stCondLst>
                                        </p:cTn>
                                        <p:tgtEl>
                                          <p:spTgt spid="6148"/>
                                        </p:tgtEl>
                                        <p:attrNameLst>
                                          <p:attrName>ppt_x</p:attrName>
                                          <p:attrName>ppt_y</p:attrName>
                                        </p:attrNameLst>
                                      </p:cBhvr>
                                      <p:rCtr x="0" y="0"/>
                                    </p:animMotion>
                                    <p:animEffect transition="in" filter="fade">
                                      <p:cBhvr>
                                        <p:cTn id="19" dur="1000"/>
                                        <p:tgtEl>
                                          <p:spTgt spid="6148"/>
                                        </p:tgtEl>
                                      </p:cBhvr>
                                    </p:animEffect>
                                  </p:childTnLst>
                                </p:cTn>
                              </p:par>
                            </p:childTnLst>
                          </p:cTn>
                        </p:par>
                        <p:par>
                          <p:cTn id="20" fill="hold">
                            <p:stCondLst>
                              <p:cond delay="2000"/>
                            </p:stCondLst>
                            <p:childTnLst>
                              <p:par>
                                <p:cTn id="21" presetID="52" presetClass="entr" presetSubtype="0" fill="hold" nodeType="afterEffect">
                                  <p:stCondLst>
                                    <p:cond delay="0"/>
                                  </p:stCondLst>
                                  <p:childTnLst>
                                    <p:set>
                                      <p:cBhvr>
                                        <p:cTn id="22" dur="1" fill="hold">
                                          <p:stCondLst>
                                            <p:cond delay="0"/>
                                          </p:stCondLst>
                                        </p:cTn>
                                        <p:tgtEl>
                                          <p:spTgt spid="20"/>
                                        </p:tgtEl>
                                        <p:attrNameLst>
                                          <p:attrName>style.visibility</p:attrName>
                                        </p:attrNameLst>
                                      </p:cBhvr>
                                      <p:to>
                                        <p:strVal val="visible"/>
                                      </p:to>
                                    </p:set>
                                    <p:animScale>
                                      <p:cBhvr>
                                        <p:cTn id="23" dur="500" decel="50000" fill="hold">
                                          <p:stCondLst>
                                            <p:cond delay="0"/>
                                          </p:stCondLst>
                                        </p:cTn>
                                        <p:tgtEl>
                                          <p:spTgt spid="2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4" dur="500" decel="50000" fill="hold">
                                          <p:stCondLst>
                                            <p:cond delay="0"/>
                                          </p:stCondLst>
                                        </p:cTn>
                                        <p:tgtEl>
                                          <p:spTgt spid="20"/>
                                        </p:tgtEl>
                                        <p:attrNameLst>
                                          <p:attrName>ppt_x</p:attrName>
                                          <p:attrName>ppt_y</p:attrName>
                                        </p:attrNameLst>
                                      </p:cBhvr>
                                      <p:rCtr x="0" y="0"/>
                                    </p:animMotion>
                                    <p:animEffect transition="in" filter="fade">
                                      <p:cBhvr>
                                        <p:cTn id="25" dur="500"/>
                                        <p:tgtEl>
                                          <p:spTgt spid="20"/>
                                        </p:tgtEl>
                                      </p:cBhvr>
                                    </p:animEffect>
                                  </p:childTnLst>
                                </p:cTn>
                              </p:par>
                            </p:childTnLst>
                          </p:cTn>
                        </p:par>
                        <p:par>
                          <p:cTn id="26" fill="hold">
                            <p:stCondLst>
                              <p:cond delay="2500"/>
                            </p:stCondLst>
                            <p:childTnLst>
                              <p:par>
                                <p:cTn id="27" presetID="52" presetClass="entr" presetSubtype="0" fill="hold" nodeType="afterEffect">
                                  <p:stCondLst>
                                    <p:cond delay="0"/>
                                  </p:stCondLst>
                                  <p:childTnLst>
                                    <p:set>
                                      <p:cBhvr>
                                        <p:cTn id="28" dur="1" fill="hold">
                                          <p:stCondLst>
                                            <p:cond delay="0"/>
                                          </p:stCondLst>
                                        </p:cTn>
                                        <p:tgtEl>
                                          <p:spTgt spid="25"/>
                                        </p:tgtEl>
                                        <p:attrNameLst>
                                          <p:attrName>style.visibility</p:attrName>
                                        </p:attrNameLst>
                                      </p:cBhvr>
                                      <p:to>
                                        <p:strVal val="visible"/>
                                      </p:to>
                                    </p:set>
                                    <p:animScale>
                                      <p:cBhvr>
                                        <p:cTn id="29" dur="500" decel="50000" fill="hold">
                                          <p:stCondLst>
                                            <p:cond delay="0"/>
                                          </p:stCondLst>
                                        </p:cTn>
                                        <p:tgtEl>
                                          <p:spTgt spid="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30" dur="500" decel="50000" fill="hold">
                                          <p:stCondLst>
                                            <p:cond delay="0"/>
                                          </p:stCondLst>
                                        </p:cTn>
                                        <p:tgtEl>
                                          <p:spTgt spid="25"/>
                                        </p:tgtEl>
                                        <p:attrNameLst>
                                          <p:attrName>ppt_x</p:attrName>
                                          <p:attrName>ppt_y</p:attrName>
                                        </p:attrNameLst>
                                      </p:cBhvr>
                                      <p:rCtr x="0" y="0"/>
                                    </p:animMotion>
                                    <p:animEffect transition="in" filter="fade">
                                      <p:cBhvr>
                                        <p:cTn id="31"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ldLvl="0" animBg="1"/>
      <p:bldP spid="6148" grpId="0" bldLvl="0"/>
      <p:bldP spid="6148" grpId="1" bldLvl="0"/>
      <p:bldP spid="6148" grpId="2" bldLvl="0"/>
      <p:bldP spid="6148" grpId="3" bldLvl="0" animBg="1"/>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2541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1．ifconfig命令</a:t>
            </a:r>
          </a:p>
        </p:txBody>
      </p:sp>
      <p:grpSp>
        <p:nvGrpSpPr>
          <p:cNvPr id="71" name="组合 70"/>
          <p:cNvGrpSpPr/>
          <p:nvPr/>
        </p:nvGrpSpPr>
        <p:grpSpPr>
          <a:xfrm>
            <a:off x="3325495" y="1177290"/>
            <a:ext cx="4267200" cy="748368"/>
            <a:chOff x="5466414" y="1311371"/>
            <a:chExt cx="4840044" cy="919865"/>
          </a:xfrm>
        </p:grpSpPr>
        <p:sp>
          <p:nvSpPr>
            <p:cNvPr id="72" name="TextBox 71"/>
            <p:cNvSpPr txBox="1"/>
            <p:nvPr/>
          </p:nvSpPr>
          <p:spPr>
            <a:xfrm>
              <a:off x="5551403" y="1311371"/>
              <a:ext cx="4755055" cy="841398"/>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功能1  </a:t>
              </a:r>
              <a:r>
                <a:rPr lang="en-US" altLang="zh-CN" sz="24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显示网卡的配置信息</a:t>
              </a:r>
            </a:p>
          </p:txBody>
        </p:sp>
        <p:cxnSp>
          <p:nvCxnSpPr>
            <p:cNvPr id="73" name="直接连接符 72"/>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流程图: 联系 73"/>
            <p:cNvSpPr/>
            <p:nvPr/>
          </p:nvSpPr>
          <p:spPr>
            <a:xfrm>
              <a:off x="5466414" y="206164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3" name="组合 12"/>
          <p:cNvGrpSpPr/>
          <p:nvPr/>
        </p:nvGrpSpPr>
        <p:grpSpPr>
          <a:xfrm>
            <a:off x="6831330" y="5123815"/>
            <a:ext cx="4291330" cy="1290955"/>
            <a:chOff x="2263" y="8100"/>
            <a:chExt cx="6758" cy="1813"/>
          </a:xfrm>
        </p:grpSpPr>
        <p:grpSp>
          <p:nvGrpSpPr>
            <p:cNvPr id="14" name="组合 12"/>
            <p:cNvGrpSpPr/>
            <p:nvPr/>
          </p:nvGrpSpPr>
          <p:grpSpPr bwMode="auto">
            <a:xfrm>
              <a:off x="2263" y="8100"/>
              <a:ext cx="6758" cy="1813"/>
              <a:chOff x="1196575" y="1372060"/>
              <a:chExt cx="5647795" cy="2346185"/>
            </a:xfrm>
          </p:grpSpPr>
          <p:sp>
            <p:nvSpPr>
              <p:cNvPr id="17" name="矩形 16"/>
              <p:cNvSpPr/>
              <p:nvPr/>
            </p:nvSpPr>
            <p:spPr>
              <a:xfrm>
                <a:off x="1196575" y="1455152"/>
                <a:ext cx="564779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8" name="矩形 6"/>
              <p:cNvSpPr>
                <a:spLocks noChangeArrowheads="1"/>
              </p:cNvSpPr>
              <p:nvPr/>
            </p:nvSpPr>
            <p:spPr bwMode="auto">
              <a:xfrm>
                <a:off x="1226662" y="1372060"/>
                <a:ext cx="5306979" cy="142871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7</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1</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若要显示当前系统所有网络设备接口信息，则运行命令</a:t>
                </a:r>
              </a:p>
            </p:txBody>
          </p:sp>
        </p:grpSp>
        <p:sp>
          <p:nvSpPr>
            <p:cNvPr id="19" name="MH_Text_1"/>
            <p:cNvSpPr txBox="1">
              <a:spLocks noChangeArrowheads="1"/>
            </p:cNvSpPr>
            <p:nvPr>
              <p:custDataLst>
                <p:tags r:id="rId2"/>
              </p:custDataLst>
            </p:nvPr>
          </p:nvSpPr>
          <p:spPr bwMode="auto">
            <a:xfrm>
              <a:off x="2365" y="9146"/>
              <a:ext cx="6472" cy="70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[root@localhost  ~]# ifconfig –a </a:t>
              </a:r>
            </a:p>
          </p:txBody>
        </p:sp>
      </p:grpSp>
      <p:grpSp>
        <p:nvGrpSpPr>
          <p:cNvPr id="20" name="组合 19"/>
          <p:cNvGrpSpPr/>
          <p:nvPr/>
        </p:nvGrpSpPr>
        <p:grpSpPr>
          <a:xfrm>
            <a:off x="593725" y="3593465"/>
            <a:ext cx="5321935" cy="2867025"/>
            <a:chOff x="13227" y="6981"/>
            <a:chExt cx="5268" cy="2898"/>
          </a:xfrm>
        </p:grpSpPr>
        <p:grpSp>
          <p:nvGrpSpPr>
            <p:cNvPr id="21" name="组合 14"/>
            <p:cNvGrpSpPr/>
            <p:nvPr/>
          </p:nvGrpSpPr>
          <p:grpSpPr bwMode="auto">
            <a:xfrm>
              <a:off x="13357" y="7586"/>
              <a:ext cx="5138" cy="2293"/>
              <a:chOff x="1166778" y="1762785"/>
              <a:chExt cx="9858444" cy="1737653"/>
            </a:xfrm>
          </p:grpSpPr>
          <p:grpSp>
            <p:nvGrpSpPr>
              <p:cNvPr id="22" name="组合 12"/>
              <p:cNvGrpSpPr/>
              <p:nvPr/>
            </p:nvGrpSpPr>
            <p:grpSpPr bwMode="auto">
              <a:xfrm>
                <a:off x="1166778" y="1762785"/>
                <a:ext cx="9858444" cy="1737653"/>
                <a:chOff x="1166778" y="1762785"/>
                <a:chExt cx="9858444" cy="1737653"/>
              </a:xfrm>
            </p:grpSpPr>
            <p:sp>
              <p:nvSpPr>
                <p:cNvPr id="23" name="矩形 22"/>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4" name="矩形 6"/>
                <p:cNvSpPr>
                  <a:spLocks noChangeArrowheads="1"/>
                </p:cNvSpPr>
                <p:nvPr/>
              </p:nvSpPr>
              <p:spPr bwMode="auto">
                <a:xfrm>
                  <a:off x="2455861" y="1762785"/>
                  <a:ext cx="4380122" cy="35021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25" name="MH_Text_1"/>
              <p:cNvSpPr txBox="1">
                <a:spLocks noChangeArrowheads="1"/>
              </p:cNvSpPr>
              <p:nvPr>
                <p:custDataLst>
                  <p:tags r:id="rId1"/>
                </p:custDataLst>
              </p:nvPr>
            </p:nvSpPr>
            <p:spPr bwMode="auto">
              <a:xfrm>
                <a:off x="1198135" y="2051711"/>
                <a:ext cx="9654405" cy="1437332"/>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第1块以太网卡的设备名为eth0，其对应的配置文件名为ifcfg-eth0；第2块以太网卡的设备名为eth1，对应配置文件名则为ifcfg-eth1，其余依此类推。所有网卡设备的配置文件位于</a:t>
                </a:r>
                <a:r>
                  <a:rPr lang="zh-CN" altLang="en-US" sz="1800" b="1" dirty="0">
                    <a:solidFill>
                      <a:srgbClr val="FF0000"/>
                    </a:solidFill>
                    <a:latin typeface="微软雅黑" panose="020B0503020204020204" pitchFamily="34" charset="-122"/>
                    <a:ea typeface="微软雅黑" panose="020B0503020204020204" pitchFamily="34" charset="-122"/>
                    <a:sym typeface="+mn-ea"/>
                  </a:rPr>
                  <a:t>/etc/sysconfig/network-scripts</a:t>
                </a: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目录中。</a:t>
                </a:r>
              </a:p>
            </p:txBody>
          </p:sp>
        </p:grpSp>
        <p:pic>
          <p:nvPicPr>
            <p:cNvPr id="26" name="图片 4" descr="www.tuweimei.comComp_9747389_aloyhm04q205BMmtimdiv2o2HN82PIep.jpg"/>
            <p:cNvPicPr>
              <a:picLocks noGrp="1"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3227" y="6981"/>
              <a:ext cx="1063" cy="1172"/>
            </a:xfrm>
            <a:prstGeom prst="rect">
              <a:avLst/>
            </a:prstGeom>
            <a:noFill/>
            <a:ln w="9525">
              <a:noFill/>
              <a:miter lim="800000"/>
              <a:headEnd/>
              <a:tailEnd/>
            </a:ln>
          </p:spPr>
        </p:pic>
      </p:grpSp>
      <p:grpSp>
        <p:nvGrpSpPr>
          <p:cNvPr id="31" name="组合 30"/>
          <p:cNvGrpSpPr/>
          <p:nvPr/>
        </p:nvGrpSpPr>
        <p:grpSpPr>
          <a:xfrm>
            <a:off x="3695065" y="2385060"/>
            <a:ext cx="5860415" cy="472440"/>
            <a:chOff x="1483" y="2676"/>
            <a:chExt cx="9229" cy="744"/>
          </a:xfrm>
        </p:grpSpPr>
        <p:sp>
          <p:nvSpPr>
            <p:cNvPr id="35" name="TextBox 29"/>
            <p:cNvSpPr txBox="1"/>
            <p:nvPr/>
          </p:nvSpPr>
          <p:spPr>
            <a:xfrm>
              <a:off x="1723" y="2676"/>
              <a:ext cx="8906"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dirty="0">
                  <a:solidFill>
                    <a:srgbClr val="0066FF"/>
                  </a:solidFill>
                  <a:latin typeface="微软雅黑" panose="020B0503020204020204" pitchFamily="34" charset="-122"/>
                  <a:ea typeface="微软雅黑" panose="020B0503020204020204" pitchFamily="34" charset="-122"/>
                  <a:sym typeface="+mn-ea"/>
                </a:rPr>
                <a:t> </a:t>
              </a:r>
              <a:r>
                <a:rPr lang="zh-CN" altLang="en-US" sz="1800" b="1" dirty="0">
                  <a:solidFill>
                    <a:srgbClr val="0066FF"/>
                  </a:solidFill>
                  <a:latin typeface="微软雅黑" panose="020B0503020204020204" pitchFamily="34" charset="-122"/>
                  <a:ea typeface="微软雅黑" panose="020B0503020204020204" pitchFamily="34" charset="-122"/>
                  <a:sym typeface="+mn-ea"/>
                </a:rPr>
                <a:t> ifconfig    显示当前已激活（未禁用）网卡配置信息</a:t>
              </a:r>
            </a:p>
          </p:txBody>
        </p:sp>
        <p:grpSp>
          <p:nvGrpSpPr>
            <p:cNvPr id="36" name="组合 35"/>
            <p:cNvGrpSpPr/>
            <p:nvPr/>
          </p:nvGrpSpPr>
          <p:grpSpPr>
            <a:xfrm>
              <a:off x="1483" y="2917"/>
              <a:ext cx="9229" cy="503"/>
              <a:chOff x="1483" y="2917"/>
              <a:chExt cx="9229" cy="503"/>
            </a:xfrm>
          </p:grpSpPr>
          <p:sp>
            <p:nvSpPr>
              <p:cNvPr id="37" name="燕尾形 36"/>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flipV="1">
                <a:off x="1483" y="3408"/>
                <a:ext cx="9229" cy="12"/>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40" name="组合 39"/>
          <p:cNvGrpSpPr/>
          <p:nvPr/>
        </p:nvGrpSpPr>
        <p:grpSpPr>
          <a:xfrm>
            <a:off x="3695065" y="2969260"/>
            <a:ext cx="5845175" cy="474980"/>
            <a:chOff x="1483" y="2676"/>
            <a:chExt cx="9205" cy="748"/>
          </a:xfrm>
        </p:grpSpPr>
        <p:sp>
          <p:nvSpPr>
            <p:cNvPr id="41" name="TextBox 29"/>
            <p:cNvSpPr txBox="1"/>
            <p:nvPr/>
          </p:nvSpPr>
          <p:spPr>
            <a:xfrm>
              <a:off x="2011" y="2676"/>
              <a:ext cx="8618" cy="662"/>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1800" b="1">
                  <a:solidFill>
                    <a:srgbClr val="0066FF"/>
                  </a:solidFill>
                  <a:latin typeface="微软雅黑" panose="020B0503020204020204" pitchFamily="34" charset="-122"/>
                  <a:ea typeface="微软雅黑" panose="020B0503020204020204" pitchFamily="34" charset="-122"/>
                  <a:sym typeface="+mn-ea"/>
                </a:rPr>
                <a:t>ifconfig  -a 显示当前系统中所有网卡的配置信息</a:t>
              </a:r>
            </a:p>
          </p:txBody>
        </p:sp>
        <p:grpSp>
          <p:nvGrpSpPr>
            <p:cNvPr id="42" name="组合 41"/>
            <p:cNvGrpSpPr/>
            <p:nvPr/>
          </p:nvGrpSpPr>
          <p:grpSpPr>
            <a:xfrm>
              <a:off x="1483" y="2917"/>
              <a:ext cx="9205" cy="507"/>
              <a:chOff x="1483" y="2917"/>
              <a:chExt cx="9205" cy="507"/>
            </a:xfrm>
          </p:grpSpPr>
          <p:sp>
            <p:nvSpPr>
              <p:cNvPr id="43" name="燕尾形 42"/>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燕尾形 43"/>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5" name="直接连接符 44"/>
              <p:cNvCxnSpPr/>
              <p:nvPr/>
            </p:nvCxnSpPr>
            <p:spPr>
              <a:xfrm>
                <a:off x="1483" y="3420"/>
                <a:ext cx="9205" cy="4"/>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46" name="组合 45"/>
          <p:cNvGrpSpPr/>
          <p:nvPr/>
        </p:nvGrpSpPr>
        <p:grpSpPr>
          <a:xfrm>
            <a:off x="3695065" y="3553460"/>
            <a:ext cx="5990590" cy="472440"/>
            <a:chOff x="1483" y="2676"/>
            <a:chExt cx="9434" cy="744"/>
          </a:xfrm>
        </p:grpSpPr>
        <p:sp>
          <p:nvSpPr>
            <p:cNvPr id="47" name="TextBox 29"/>
            <p:cNvSpPr txBox="1"/>
            <p:nvPr/>
          </p:nvSpPr>
          <p:spPr>
            <a:xfrm>
              <a:off x="1843" y="2676"/>
              <a:ext cx="9074"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en-US" altLang="zh-CN" sz="2000" b="1">
                  <a:solidFill>
                    <a:srgbClr val="0066FF"/>
                  </a:solidFill>
                  <a:latin typeface="微软雅黑" panose="020B0503020204020204" pitchFamily="34" charset="-122"/>
                  <a:ea typeface="微软雅黑" panose="020B0503020204020204" pitchFamily="34" charset="-122"/>
                  <a:sym typeface="+mn-ea"/>
                </a:rPr>
                <a:t>  </a:t>
              </a:r>
              <a:r>
                <a:rPr lang="zh-CN" altLang="en-US" sz="1800" b="1">
                  <a:solidFill>
                    <a:srgbClr val="0066FF"/>
                  </a:solidFill>
                  <a:latin typeface="微软雅黑" panose="020B0503020204020204" pitchFamily="34" charset="-122"/>
                  <a:ea typeface="微软雅黑" panose="020B0503020204020204" pitchFamily="34" charset="-122"/>
                  <a:sym typeface="+mn-ea"/>
                </a:rPr>
                <a:t>ifconfig  网卡设备名    显示指定网卡设备的配置信息</a:t>
              </a:r>
            </a:p>
          </p:txBody>
        </p:sp>
        <p:grpSp>
          <p:nvGrpSpPr>
            <p:cNvPr id="49" name="组合 48"/>
            <p:cNvGrpSpPr/>
            <p:nvPr/>
          </p:nvGrpSpPr>
          <p:grpSpPr>
            <a:xfrm>
              <a:off x="1483" y="2917"/>
              <a:ext cx="9277" cy="503"/>
              <a:chOff x="1483" y="2917"/>
              <a:chExt cx="9277" cy="503"/>
            </a:xfrm>
          </p:grpSpPr>
          <p:sp>
            <p:nvSpPr>
              <p:cNvPr id="55" name="燕尾形 54"/>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6" name="燕尾形 55"/>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7" name="直接连接符 56"/>
              <p:cNvCxnSpPr/>
              <p:nvPr/>
            </p:nvCxnSpPr>
            <p:spPr>
              <a:xfrm flipV="1">
                <a:off x="1483" y="3416"/>
                <a:ext cx="9277" cy="4"/>
              </a:xfrm>
              <a:prstGeom prst="line">
                <a:avLst/>
              </a:prstGeom>
            </p:spPr>
            <p:style>
              <a:lnRef idx="1">
                <a:schemeClr val="accent6"/>
              </a:lnRef>
              <a:fillRef idx="0">
                <a:schemeClr val="accent6"/>
              </a:fillRef>
              <a:effectRef idx="0">
                <a:schemeClr val="accent6"/>
              </a:effectRef>
              <a:fontRef idx="minor">
                <a:schemeClr val="tx1"/>
              </a:fontRef>
            </p:style>
          </p:cxnSp>
        </p:grpSp>
      </p:grpSp>
      <p:sp>
        <p:nvSpPr>
          <p:cNvPr id="58" name="矩形 57"/>
          <p:cNvSpPr/>
          <p:nvPr/>
        </p:nvSpPr>
        <p:spPr>
          <a:xfrm>
            <a:off x="948055" y="2857500"/>
            <a:ext cx="970915" cy="487680"/>
          </a:xfrm>
          <a:prstGeom prst="rect">
            <a:avLst/>
          </a:prstGeom>
          <a:ln w="76200" cmpd="dbl"/>
        </p:spPr>
        <p:style>
          <a:lnRef idx="2">
            <a:schemeClr val="accent6"/>
          </a:lnRef>
          <a:fillRef idx="1">
            <a:schemeClr val="lt1"/>
          </a:fillRef>
          <a:effectRef idx="0">
            <a:schemeClr val="accent6"/>
          </a:effectRef>
          <a:fontRef idx="minor">
            <a:schemeClr val="dk1"/>
          </a:fontRef>
        </p:style>
        <p:txBody>
          <a:bodyPr wrap="square">
            <a:spAutoFit/>
          </a:bodyPr>
          <a:lstStyle/>
          <a:p>
            <a:pPr indent="0" algn="l" eaLnBrk="1" latinLnBrk="0" hangingPunct="1">
              <a:lnSpc>
                <a:spcPct val="130000"/>
              </a:lnSpc>
              <a:buFont typeface="Arial" panose="020B0604020202020204" pitchFamily="34" charset="0"/>
              <a:buNone/>
            </a:pPr>
            <a:r>
              <a:rPr lang="en-US" altLang="zh-CN"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root</a:t>
            </a: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 </a:t>
            </a:r>
            <a:endParaRPr lang="zh-CN" altLang="en-US" sz="2000" dirty="0">
              <a:solidFill>
                <a:schemeClr val="tx1">
                  <a:lumMod val="65000"/>
                  <a:lumOff val="35000"/>
                </a:schemeClr>
              </a:solidFill>
              <a:latin typeface="微软雅黑" panose="020B0503020204020204" pitchFamily="34" charset="-122"/>
              <a:ea typeface="微软雅黑" panose="020B0503020204020204" pitchFamily="34" charset="-122"/>
            </a:endParaRPr>
          </a:p>
        </p:txBody>
      </p:sp>
      <p:grpSp>
        <p:nvGrpSpPr>
          <p:cNvPr id="65" name="组合 64"/>
          <p:cNvGrpSpPr/>
          <p:nvPr/>
        </p:nvGrpSpPr>
        <p:grpSpPr>
          <a:xfrm>
            <a:off x="579067" y="1871117"/>
            <a:ext cx="2254303" cy="548640"/>
            <a:chOff x="1524713" y="1340768"/>
            <a:chExt cx="2254303" cy="548640"/>
          </a:xfrm>
        </p:grpSpPr>
        <p:cxnSp>
          <p:nvCxnSpPr>
            <p:cNvPr id="66" name="直接连接符 65"/>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67" name="矩形 66"/>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使用权限：</a:t>
              </a:r>
            </a:p>
          </p:txBody>
        </p:sp>
        <p:sp>
          <p:nvSpPr>
            <p:cNvPr id="69" name="椭圆 6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76" name="组合 75"/>
          <p:cNvGrpSpPr/>
          <p:nvPr/>
        </p:nvGrpSpPr>
        <p:grpSpPr>
          <a:xfrm>
            <a:off x="3607382" y="1871117"/>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pic>
        <p:nvPicPr>
          <p:cNvPr id="81" name="图片 80" descr="320651773818793763ae03a0473bed57"/>
          <p:cNvPicPr>
            <a:picLocks noChangeAspect="1"/>
          </p:cNvPicPr>
          <p:nvPr/>
        </p:nvPicPr>
        <p:blipFill>
          <a:blip r:embed="rId6" cstate="print"/>
          <a:stretch>
            <a:fillRect/>
          </a:stretch>
        </p:blipFill>
        <p:spPr>
          <a:xfrm>
            <a:off x="9210040" y="959485"/>
            <a:ext cx="2823845" cy="179324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2" presetClass="entr" presetSubtype="3"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 calcmode="lin" valueType="num">
                                      <p:cBhvr additive="base">
                                        <p:cTn id="10" dur="500" fill="hold"/>
                                        <p:tgtEl>
                                          <p:spTgt spid="71"/>
                                        </p:tgtEl>
                                        <p:attrNameLst>
                                          <p:attrName>ppt_x</p:attrName>
                                        </p:attrNameLst>
                                      </p:cBhvr>
                                      <p:tavLst>
                                        <p:tav tm="0">
                                          <p:val>
                                            <p:strVal val="1+#ppt_w/2"/>
                                          </p:val>
                                        </p:tav>
                                        <p:tav tm="100000">
                                          <p:val>
                                            <p:strVal val="#ppt_x"/>
                                          </p:val>
                                        </p:tav>
                                      </p:tavLst>
                                    </p:anim>
                                    <p:anim calcmode="lin" valueType="num">
                                      <p:cBhvr additive="base">
                                        <p:cTn id="11" dur="500" fill="hold"/>
                                        <p:tgtEl>
                                          <p:spTgt spid="71"/>
                                        </p:tgtEl>
                                        <p:attrNameLst>
                                          <p:attrName>ppt_y</p:attrName>
                                        </p:attrNameLst>
                                      </p:cBhvr>
                                      <p:tavLst>
                                        <p:tav tm="0">
                                          <p:val>
                                            <p:strVal val="0-#ppt_h/2"/>
                                          </p:val>
                                        </p:tav>
                                        <p:tav tm="100000">
                                          <p:val>
                                            <p:strVal val="#ppt_y"/>
                                          </p:val>
                                        </p:tav>
                                      </p:tavLst>
                                    </p:anim>
                                  </p:childTnLst>
                                </p:cTn>
                              </p:par>
                            </p:childTnLst>
                          </p:cTn>
                        </p:par>
                        <p:par>
                          <p:cTn id="12" fill="hold">
                            <p:stCondLst>
                              <p:cond delay="500"/>
                            </p:stCondLst>
                            <p:childTnLst>
                              <p:par>
                                <p:cTn id="13" presetID="31" presetClass="entr" presetSubtype="0" fill="hold" nodeType="afterEffect">
                                  <p:stCondLst>
                                    <p:cond delay="0"/>
                                  </p:stCondLst>
                                  <p:iterate type="lt">
                                    <p:tmPct val="5000"/>
                                  </p:iterate>
                                  <p:childTnLst>
                                    <p:set>
                                      <p:cBhvr>
                                        <p:cTn id="14" dur="1" fill="hold">
                                          <p:stCondLst>
                                            <p:cond delay="0"/>
                                          </p:stCondLst>
                                        </p:cTn>
                                        <p:tgtEl>
                                          <p:spTgt spid="65"/>
                                        </p:tgtEl>
                                        <p:attrNameLst>
                                          <p:attrName>style.visibility</p:attrName>
                                        </p:attrNameLst>
                                      </p:cBhvr>
                                      <p:to>
                                        <p:strVal val="visible"/>
                                      </p:to>
                                    </p:set>
                                    <p:anim calcmode="lin" valueType="num">
                                      <p:cBhvr>
                                        <p:cTn id="15" dur="1000" fill="hold"/>
                                        <p:tgtEl>
                                          <p:spTgt spid="65"/>
                                        </p:tgtEl>
                                        <p:attrNameLst>
                                          <p:attrName>ppt_w</p:attrName>
                                        </p:attrNameLst>
                                      </p:cBhvr>
                                      <p:tavLst>
                                        <p:tav tm="0">
                                          <p:val>
                                            <p:fltVal val="0"/>
                                          </p:val>
                                        </p:tav>
                                        <p:tav tm="100000">
                                          <p:val>
                                            <p:strVal val="#ppt_w"/>
                                          </p:val>
                                        </p:tav>
                                      </p:tavLst>
                                    </p:anim>
                                    <p:anim calcmode="lin" valueType="num">
                                      <p:cBhvr>
                                        <p:cTn id="16" dur="1000" fill="hold"/>
                                        <p:tgtEl>
                                          <p:spTgt spid="65"/>
                                        </p:tgtEl>
                                        <p:attrNameLst>
                                          <p:attrName>ppt_h</p:attrName>
                                        </p:attrNameLst>
                                      </p:cBhvr>
                                      <p:tavLst>
                                        <p:tav tm="0">
                                          <p:val>
                                            <p:fltVal val="0"/>
                                          </p:val>
                                        </p:tav>
                                        <p:tav tm="100000">
                                          <p:val>
                                            <p:strVal val="#ppt_h"/>
                                          </p:val>
                                        </p:tav>
                                      </p:tavLst>
                                    </p:anim>
                                    <p:anim calcmode="lin" valueType="num">
                                      <p:cBhvr>
                                        <p:cTn id="17" dur="1000" fill="hold"/>
                                        <p:tgtEl>
                                          <p:spTgt spid="65"/>
                                        </p:tgtEl>
                                        <p:attrNameLst>
                                          <p:attrName>style.rotation</p:attrName>
                                        </p:attrNameLst>
                                      </p:cBhvr>
                                      <p:tavLst>
                                        <p:tav tm="0">
                                          <p:val>
                                            <p:fltVal val="90"/>
                                          </p:val>
                                        </p:tav>
                                        <p:tav tm="100000">
                                          <p:val>
                                            <p:fltVal val="0"/>
                                          </p:val>
                                        </p:tav>
                                      </p:tavLst>
                                    </p:anim>
                                    <p:animEffect transition="in" filter="fade">
                                      <p:cBhvr>
                                        <p:cTn id="18" dur="1000"/>
                                        <p:tgtEl>
                                          <p:spTgt spid="65"/>
                                        </p:tgtEl>
                                      </p:cBhvr>
                                    </p:animEffect>
                                  </p:childTnLst>
                                </p:cTn>
                              </p:par>
                            </p:childTnLst>
                          </p:cTn>
                        </p:par>
                        <p:par>
                          <p:cTn id="19" fill="hold">
                            <p:stCondLst>
                              <p:cond delay="1500"/>
                            </p:stCondLst>
                            <p:childTnLst>
                              <p:par>
                                <p:cTn id="20" presetID="2" presetClass="entr" presetSubtype="4" fill="hold" grpId="0" nodeType="afterEffect">
                                  <p:stCondLst>
                                    <p:cond delay="0"/>
                                  </p:stCondLst>
                                  <p:childTnLst>
                                    <p:set>
                                      <p:cBhvr>
                                        <p:cTn id="21" dur="1" fill="hold">
                                          <p:stCondLst>
                                            <p:cond delay="0"/>
                                          </p:stCondLst>
                                        </p:cTn>
                                        <p:tgtEl>
                                          <p:spTgt spid="58"/>
                                        </p:tgtEl>
                                        <p:attrNameLst>
                                          <p:attrName>style.visibility</p:attrName>
                                        </p:attrNameLst>
                                      </p:cBhvr>
                                      <p:to>
                                        <p:strVal val="visible"/>
                                      </p:to>
                                    </p:set>
                                    <p:anim calcmode="lin" valueType="num">
                                      <p:cBhvr additive="base">
                                        <p:cTn id="22" dur="500" fill="hold"/>
                                        <p:tgtEl>
                                          <p:spTgt spid="58"/>
                                        </p:tgtEl>
                                        <p:attrNameLst>
                                          <p:attrName>ppt_x</p:attrName>
                                        </p:attrNameLst>
                                      </p:cBhvr>
                                      <p:tavLst>
                                        <p:tav tm="0">
                                          <p:val>
                                            <p:strVal val="#ppt_x"/>
                                          </p:val>
                                        </p:tav>
                                        <p:tav tm="100000">
                                          <p:val>
                                            <p:strVal val="#ppt_x"/>
                                          </p:val>
                                        </p:tav>
                                      </p:tavLst>
                                    </p:anim>
                                    <p:anim calcmode="lin" valueType="num">
                                      <p:cBhvr additive="base">
                                        <p:cTn id="23" dur="500" fill="hold"/>
                                        <p:tgtEl>
                                          <p:spTgt spid="58"/>
                                        </p:tgtEl>
                                        <p:attrNameLst>
                                          <p:attrName>ppt_y</p:attrName>
                                        </p:attrNameLst>
                                      </p:cBhvr>
                                      <p:tavLst>
                                        <p:tav tm="0">
                                          <p:val>
                                            <p:strVal val="1+#ppt_h/2"/>
                                          </p:val>
                                        </p:tav>
                                        <p:tav tm="100000">
                                          <p:val>
                                            <p:strVal val="#ppt_y"/>
                                          </p:val>
                                        </p:tav>
                                      </p:tavLst>
                                    </p:anim>
                                  </p:childTnLst>
                                </p:cTn>
                              </p:par>
                            </p:childTnLst>
                          </p:cTn>
                        </p:par>
                        <p:par>
                          <p:cTn id="24" fill="hold">
                            <p:stCondLst>
                              <p:cond delay="2000"/>
                            </p:stCondLst>
                            <p:childTnLst>
                              <p:par>
                                <p:cTn id="25" presetID="31" presetClass="entr" presetSubtype="0" fill="hold" nodeType="afterEffect">
                                  <p:stCondLst>
                                    <p:cond delay="0"/>
                                  </p:stCondLst>
                                  <p:iterate type="lt">
                                    <p:tmPct val="5000"/>
                                  </p:iterate>
                                  <p:childTnLst>
                                    <p:set>
                                      <p:cBhvr>
                                        <p:cTn id="26" dur="1" fill="hold">
                                          <p:stCondLst>
                                            <p:cond delay="0"/>
                                          </p:stCondLst>
                                        </p:cTn>
                                        <p:tgtEl>
                                          <p:spTgt spid="76"/>
                                        </p:tgtEl>
                                        <p:attrNameLst>
                                          <p:attrName>style.visibility</p:attrName>
                                        </p:attrNameLst>
                                      </p:cBhvr>
                                      <p:to>
                                        <p:strVal val="visible"/>
                                      </p:to>
                                    </p:set>
                                    <p:anim calcmode="lin" valueType="num">
                                      <p:cBhvr>
                                        <p:cTn id="27" dur="1000" fill="hold"/>
                                        <p:tgtEl>
                                          <p:spTgt spid="76"/>
                                        </p:tgtEl>
                                        <p:attrNameLst>
                                          <p:attrName>ppt_w</p:attrName>
                                        </p:attrNameLst>
                                      </p:cBhvr>
                                      <p:tavLst>
                                        <p:tav tm="0">
                                          <p:val>
                                            <p:fltVal val="0"/>
                                          </p:val>
                                        </p:tav>
                                        <p:tav tm="100000">
                                          <p:val>
                                            <p:strVal val="#ppt_w"/>
                                          </p:val>
                                        </p:tav>
                                      </p:tavLst>
                                    </p:anim>
                                    <p:anim calcmode="lin" valueType="num">
                                      <p:cBhvr>
                                        <p:cTn id="28" dur="1000" fill="hold"/>
                                        <p:tgtEl>
                                          <p:spTgt spid="76"/>
                                        </p:tgtEl>
                                        <p:attrNameLst>
                                          <p:attrName>ppt_h</p:attrName>
                                        </p:attrNameLst>
                                      </p:cBhvr>
                                      <p:tavLst>
                                        <p:tav tm="0">
                                          <p:val>
                                            <p:fltVal val="0"/>
                                          </p:val>
                                        </p:tav>
                                        <p:tav tm="100000">
                                          <p:val>
                                            <p:strVal val="#ppt_h"/>
                                          </p:val>
                                        </p:tav>
                                      </p:tavLst>
                                    </p:anim>
                                    <p:anim calcmode="lin" valueType="num">
                                      <p:cBhvr>
                                        <p:cTn id="29" dur="1000" fill="hold"/>
                                        <p:tgtEl>
                                          <p:spTgt spid="76"/>
                                        </p:tgtEl>
                                        <p:attrNameLst>
                                          <p:attrName>style.rotation</p:attrName>
                                        </p:attrNameLst>
                                      </p:cBhvr>
                                      <p:tavLst>
                                        <p:tav tm="0">
                                          <p:val>
                                            <p:fltVal val="90"/>
                                          </p:val>
                                        </p:tav>
                                        <p:tav tm="100000">
                                          <p:val>
                                            <p:fltVal val="0"/>
                                          </p:val>
                                        </p:tav>
                                      </p:tavLst>
                                    </p:anim>
                                    <p:animEffect transition="in" filter="fade">
                                      <p:cBhvr>
                                        <p:cTn id="30" dur="1000"/>
                                        <p:tgtEl>
                                          <p:spTgt spid="76"/>
                                        </p:tgtEl>
                                      </p:cBhvr>
                                    </p:animEffect>
                                  </p:childTnLst>
                                </p:cTn>
                              </p:par>
                            </p:childTnLst>
                          </p:cTn>
                        </p:par>
                        <p:par>
                          <p:cTn id="31" fill="hold">
                            <p:stCondLst>
                              <p:cond delay="3000"/>
                            </p:stCondLst>
                            <p:childTnLst>
                              <p:par>
                                <p:cTn id="32" presetID="2" presetClass="entr" presetSubtype="8" fill="hold" nodeType="afterEffect">
                                  <p:stCondLst>
                                    <p:cond delay="0"/>
                                  </p:stCondLst>
                                  <p:childTnLst>
                                    <p:set>
                                      <p:cBhvr>
                                        <p:cTn id="33" dur="1" fill="hold">
                                          <p:stCondLst>
                                            <p:cond delay="0"/>
                                          </p:stCondLst>
                                        </p:cTn>
                                        <p:tgtEl>
                                          <p:spTgt spid="31"/>
                                        </p:tgtEl>
                                        <p:attrNameLst>
                                          <p:attrName>style.visibility</p:attrName>
                                        </p:attrNameLst>
                                      </p:cBhvr>
                                      <p:to>
                                        <p:strVal val="visible"/>
                                      </p:to>
                                    </p:set>
                                    <p:anim calcmode="lin" valueType="num">
                                      <p:cBhvr additive="base">
                                        <p:cTn id="34" dur="500" fill="hold"/>
                                        <p:tgtEl>
                                          <p:spTgt spid="31"/>
                                        </p:tgtEl>
                                        <p:attrNameLst>
                                          <p:attrName>ppt_x</p:attrName>
                                        </p:attrNameLst>
                                      </p:cBhvr>
                                      <p:tavLst>
                                        <p:tav tm="0">
                                          <p:val>
                                            <p:strVal val="0-#ppt_w/2"/>
                                          </p:val>
                                        </p:tav>
                                        <p:tav tm="100000">
                                          <p:val>
                                            <p:strVal val="#ppt_x"/>
                                          </p:val>
                                        </p:tav>
                                      </p:tavLst>
                                    </p:anim>
                                    <p:anim calcmode="lin" valueType="num">
                                      <p:cBhvr additive="base">
                                        <p:cTn id="35" dur="500" fill="hold"/>
                                        <p:tgtEl>
                                          <p:spTgt spid="31"/>
                                        </p:tgtEl>
                                        <p:attrNameLst>
                                          <p:attrName>ppt_y</p:attrName>
                                        </p:attrNameLst>
                                      </p:cBhvr>
                                      <p:tavLst>
                                        <p:tav tm="0">
                                          <p:val>
                                            <p:strVal val="#ppt_y"/>
                                          </p:val>
                                        </p:tav>
                                        <p:tav tm="100000">
                                          <p:val>
                                            <p:strVal val="#ppt_y"/>
                                          </p:val>
                                        </p:tav>
                                      </p:tavLst>
                                    </p:anim>
                                  </p:childTnLst>
                                </p:cTn>
                              </p:par>
                              <p:par>
                                <p:cTn id="36" presetID="2" presetClass="entr" presetSubtype="8" fill="hold" nodeType="withEffect">
                                  <p:stCondLst>
                                    <p:cond delay="0"/>
                                  </p:stCondLst>
                                  <p:childTnLst>
                                    <p:set>
                                      <p:cBhvr>
                                        <p:cTn id="37" dur="1" fill="hold">
                                          <p:stCondLst>
                                            <p:cond delay="0"/>
                                          </p:stCondLst>
                                        </p:cTn>
                                        <p:tgtEl>
                                          <p:spTgt spid="40"/>
                                        </p:tgtEl>
                                        <p:attrNameLst>
                                          <p:attrName>style.visibility</p:attrName>
                                        </p:attrNameLst>
                                      </p:cBhvr>
                                      <p:to>
                                        <p:strVal val="visible"/>
                                      </p:to>
                                    </p:set>
                                    <p:anim calcmode="lin" valueType="num">
                                      <p:cBhvr additive="base">
                                        <p:cTn id="38" dur="500" fill="hold"/>
                                        <p:tgtEl>
                                          <p:spTgt spid="40"/>
                                        </p:tgtEl>
                                        <p:attrNameLst>
                                          <p:attrName>ppt_x</p:attrName>
                                        </p:attrNameLst>
                                      </p:cBhvr>
                                      <p:tavLst>
                                        <p:tav tm="0">
                                          <p:val>
                                            <p:strVal val="0-#ppt_w/2"/>
                                          </p:val>
                                        </p:tav>
                                        <p:tav tm="100000">
                                          <p:val>
                                            <p:strVal val="#ppt_x"/>
                                          </p:val>
                                        </p:tav>
                                      </p:tavLst>
                                    </p:anim>
                                    <p:anim calcmode="lin" valueType="num">
                                      <p:cBhvr additive="base">
                                        <p:cTn id="39" dur="500" fill="hold"/>
                                        <p:tgtEl>
                                          <p:spTgt spid="40"/>
                                        </p:tgtEl>
                                        <p:attrNameLst>
                                          <p:attrName>ppt_y</p:attrName>
                                        </p:attrNameLst>
                                      </p:cBhvr>
                                      <p:tavLst>
                                        <p:tav tm="0">
                                          <p:val>
                                            <p:strVal val="#ppt_y"/>
                                          </p:val>
                                        </p:tav>
                                        <p:tav tm="100000">
                                          <p:val>
                                            <p:strVal val="#ppt_y"/>
                                          </p:val>
                                        </p:tav>
                                      </p:tavLst>
                                    </p:anim>
                                  </p:childTnLst>
                                </p:cTn>
                              </p:par>
                              <p:par>
                                <p:cTn id="40" presetID="2" presetClass="entr" presetSubtype="8"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anim calcmode="lin" valueType="num">
                                      <p:cBhvr additive="base">
                                        <p:cTn id="42" dur="500" fill="hold"/>
                                        <p:tgtEl>
                                          <p:spTgt spid="46"/>
                                        </p:tgtEl>
                                        <p:attrNameLst>
                                          <p:attrName>ppt_x</p:attrName>
                                        </p:attrNameLst>
                                      </p:cBhvr>
                                      <p:tavLst>
                                        <p:tav tm="0">
                                          <p:val>
                                            <p:strVal val="0-#ppt_w/2"/>
                                          </p:val>
                                        </p:tav>
                                        <p:tav tm="100000">
                                          <p:val>
                                            <p:strVal val="#ppt_x"/>
                                          </p:val>
                                        </p:tav>
                                      </p:tavLst>
                                    </p:anim>
                                    <p:anim calcmode="lin" valueType="num">
                                      <p:cBhvr additive="base">
                                        <p:cTn id="43" dur="500" fill="hold"/>
                                        <p:tgtEl>
                                          <p:spTgt spid="46"/>
                                        </p:tgtEl>
                                        <p:attrNameLst>
                                          <p:attrName>ppt_y</p:attrName>
                                        </p:attrNameLst>
                                      </p:cBhvr>
                                      <p:tavLst>
                                        <p:tav tm="0">
                                          <p:val>
                                            <p:strVal val="#ppt_y"/>
                                          </p:val>
                                        </p:tav>
                                        <p:tav tm="100000">
                                          <p:val>
                                            <p:strVal val="#ppt_y"/>
                                          </p:val>
                                        </p:tav>
                                      </p:tavLst>
                                    </p:anim>
                                  </p:childTnLst>
                                </p:cTn>
                              </p:par>
                            </p:childTnLst>
                          </p:cTn>
                        </p:par>
                        <p:par>
                          <p:cTn id="44" fill="hold">
                            <p:stCondLst>
                              <p:cond delay="3500"/>
                            </p:stCondLst>
                            <p:childTnLst>
                              <p:par>
                                <p:cTn id="45" presetID="2" presetClass="entr" presetSubtype="2" fill="hold" nodeType="afterEffect">
                                  <p:stCondLst>
                                    <p:cond delay="0"/>
                                  </p:stCondLst>
                                  <p:childTnLst>
                                    <p:set>
                                      <p:cBhvr>
                                        <p:cTn id="46" dur="1" fill="hold">
                                          <p:stCondLst>
                                            <p:cond delay="0"/>
                                          </p:stCondLst>
                                        </p:cTn>
                                        <p:tgtEl>
                                          <p:spTgt spid="81"/>
                                        </p:tgtEl>
                                        <p:attrNameLst>
                                          <p:attrName>style.visibility</p:attrName>
                                        </p:attrNameLst>
                                      </p:cBhvr>
                                      <p:to>
                                        <p:strVal val="visible"/>
                                      </p:to>
                                    </p:set>
                                    <p:anim calcmode="lin" valueType="num">
                                      <p:cBhvr additive="base">
                                        <p:cTn id="47" dur="500" fill="hold"/>
                                        <p:tgtEl>
                                          <p:spTgt spid="81"/>
                                        </p:tgtEl>
                                        <p:attrNameLst>
                                          <p:attrName>ppt_x</p:attrName>
                                        </p:attrNameLst>
                                      </p:cBhvr>
                                      <p:tavLst>
                                        <p:tav tm="0">
                                          <p:val>
                                            <p:strVal val="1+#ppt_w/2"/>
                                          </p:val>
                                        </p:tav>
                                        <p:tav tm="100000">
                                          <p:val>
                                            <p:strVal val="#ppt_x"/>
                                          </p:val>
                                        </p:tav>
                                      </p:tavLst>
                                    </p:anim>
                                    <p:anim calcmode="lin" valueType="num">
                                      <p:cBhvr additive="base">
                                        <p:cTn id="48" dur="500" fill="hold"/>
                                        <p:tgtEl>
                                          <p:spTgt spid="81"/>
                                        </p:tgtEl>
                                        <p:attrNameLst>
                                          <p:attrName>ppt_y</p:attrName>
                                        </p:attrNameLst>
                                      </p:cBhvr>
                                      <p:tavLst>
                                        <p:tav tm="0">
                                          <p:val>
                                            <p:strVal val="#ppt_y"/>
                                          </p:val>
                                        </p:tav>
                                        <p:tav tm="100000">
                                          <p:val>
                                            <p:strVal val="#ppt_y"/>
                                          </p:val>
                                        </p:tav>
                                      </p:tavLst>
                                    </p:anim>
                                  </p:childTnLst>
                                </p:cTn>
                              </p:par>
                            </p:childTnLst>
                          </p:cTn>
                        </p:par>
                        <p:par>
                          <p:cTn id="49" fill="hold">
                            <p:stCondLst>
                              <p:cond delay="4000"/>
                            </p:stCondLst>
                            <p:childTnLst>
                              <p:par>
                                <p:cTn id="50" presetID="18" presetClass="entr" presetSubtype="6" fill="hold" nodeType="after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strips(downRight)">
                                      <p:cBhvr>
                                        <p:cTn id="52" dur="500"/>
                                        <p:tgtEl>
                                          <p:spTgt spid="20"/>
                                        </p:tgtEl>
                                      </p:cBhvr>
                                    </p:animEffect>
                                  </p:childTnLst>
                                </p:cTn>
                              </p:par>
                            </p:childTnLst>
                          </p:cTn>
                        </p:par>
                        <p:par>
                          <p:cTn id="53" fill="hold">
                            <p:stCondLst>
                              <p:cond delay="4500"/>
                            </p:stCondLst>
                            <p:childTnLst>
                              <p:par>
                                <p:cTn id="54" presetID="18" presetClass="entr" presetSubtype="6" fill="hold" nodeType="afterEffect">
                                  <p:stCondLst>
                                    <p:cond delay="0"/>
                                  </p:stCondLst>
                                  <p:childTnLst>
                                    <p:set>
                                      <p:cBhvr>
                                        <p:cTn id="55" dur="1" fill="hold">
                                          <p:stCondLst>
                                            <p:cond delay="0"/>
                                          </p:stCondLst>
                                        </p:cTn>
                                        <p:tgtEl>
                                          <p:spTgt spid="13"/>
                                        </p:tgtEl>
                                        <p:attrNameLst>
                                          <p:attrName>style.visibility</p:attrName>
                                        </p:attrNameLst>
                                      </p:cBhvr>
                                      <p:to>
                                        <p:strVal val="visible"/>
                                      </p:to>
                                    </p:set>
                                    <p:animEffect transition="in" filter="strips(downRight)">
                                      <p:cBhvr>
                                        <p:cTn id="56"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58"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79730" y="1056640"/>
            <a:ext cx="11216005" cy="5474970"/>
            <a:chOff x="598" y="1664"/>
            <a:chExt cx="17663" cy="8622"/>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298167" y="1628892"/>
                <a:ext cx="9467081" cy="2056809"/>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eno16777736: flags=4099&lt;UP,BROADCAST,MULTICAST&gt;  mtu 1500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ether 00:0c:29:fa:55:89  txqueuelen 1000  (Ethernet)</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errors 0  dropped 0  overruns 0  frame 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errors 0  dropped 0  overruns 0  carrier 0  collisions 0</a:t>
                </a:r>
              </a:p>
              <a:p>
                <a:pPr indent="0" algn="l" eaLnBrk="1" fontAlgn="auto" latinLnBrk="0" hangingPunct="1">
                  <a:lnSpc>
                    <a:spcPct val="130000"/>
                  </a:lnSpc>
                  <a:buFont typeface="Arial" panose="020B0604020202020204" pitchFamily="34" charset="0"/>
                  <a:buNone/>
                  <a:defRPr/>
                </a:pPr>
                <a:endParaRPr lang="zh-CN" altLang="en-US" sz="16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lo: flags=73&lt;UP,LOOPBACK,RUNNING&gt;  mtu 65536</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inet 127.0.0.1  netmask 255.0.0.0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inet6 ::1  prefixlen 128  scopeid 0x10&lt;host&gt;</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loop  txqueuelen 0  (Local Loopback)</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packets 458  bytes 38840 (37.9 KiB)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errors 0  dropped 0  overruns 0  frame 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packets 458  bytes 38840 (37.9 KiB)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errors 0  dropped 0  overruns 0  carrier 0  collisions 0</a:t>
                </a:r>
              </a:p>
              <a:p>
                <a:pPr indent="0" algn="l" eaLnBrk="1" fontAlgn="auto" latinLnBrk="0" hangingPunct="1">
                  <a:lnSpc>
                    <a:spcPct val="130000"/>
                  </a:lnSpc>
                  <a:buFont typeface="Arial" panose="020B0604020202020204" pitchFamily="34" charset="0"/>
                  <a:buNone/>
                  <a:defRPr/>
                </a:pPr>
                <a:endParaRPr lang="zh-CN" altLang="en-US" sz="16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
          <p:nvSpPr>
            <p:cNvPr id="3" name="矩形 6"/>
            <p:cNvSpPr>
              <a:spLocks noChangeArrowheads="1"/>
            </p:cNvSpPr>
            <p:nvPr/>
          </p:nvSpPr>
          <p:spPr bwMode="auto">
            <a:xfrm>
              <a:off x="623" y="1664"/>
              <a:ext cx="17638"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命令运行后返回结果如下：</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79730" y="1056640"/>
            <a:ext cx="8107045" cy="5475605"/>
            <a:chOff x="598" y="1664"/>
            <a:chExt cx="17663" cy="862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210303" y="1628892"/>
                <a:ext cx="9467081" cy="2056809"/>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virbr0: flags=4099&lt;UP,BROADCAST,MULTICAST&gt;  mtu 1500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inet 192.168.122.1  netmask 255.255.255.0  broadcast 192.168.122.255</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ether 52:54:00:32:95:52  txqueuelen 0  (Ethernet)</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errors 0  dropped 0  overruns 0  frame 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errors 0  dropped 0  overruns 0  carrier 0  collisions 0</a:t>
                </a:r>
              </a:p>
              <a:p>
                <a:pPr indent="0" algn="l" eaLnBrk="1" fontAlgn="auto" latinLnBrk="0" hangingPunct="1">
                  <a:lnSpc>
                    <a:spcPct val="130000"/>
                  </a:lnSpc>
                  <a:buFont typeface="Arial" panose="020B0604020202020204" pitchFamily="34" charset="0"/>
                  <a:buNone/>
                  <a:defRPr/>
                </a:pPr>
                <a:endParaRPr lang="zh-CN" altLang="en-US" sz="16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virbr0-nic: flags=4098&lt;BROADCAST,MULTICAST&gt;  mtu 1500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ether 52:54:00:32:95:52  txqueuelen 500  (Ethernet)</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RX errors 0  dropped 0  overruns 0  frame 0</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packets 0  bytes 0 (0.0 B)</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TX errors 0  dropped 0  overruns 0  carrier 0  collisions 0</a:t>
                </a:r>
              </a:p>
              <a:p>
                <a:pPr indent="0" algn="l" eaLnBrk="1" fontAlgn="auto" latinLnBrk="0" hangingPunct="1">
                  <a:lnSpc>
                    <a:spcPct val="130000"/>
                  </a:lnSpc>
                  <a:buFont typeface="Arial" panose="020B0604020202020204" pitchFamily="34" charset="0"/>
                  <a:buNone/>
                  <a:defRPr/>
                </a:pPr>
                <a:endParaRPr lang="zh-CN" altLang="en-US" sz="1600" b="1" dirty="0">
                  <a:solidFill>
                    <a:srgbClr val="0070C0"/>
                  </a:solidFill>
                  <a:latin typeface="微软雅黑" panose="020B0503020204020204" pitchFamily="34" charset="-122"/>
                  <a:ea typeface="微软雅黑" panose="020B0503020204020204" pitchFamily="34" charset="-122"/>
                  <a:cs typeface="+mn-cs"/>
                  <a:sym typeface="+mn-ea"/>
                </a:endParaRPr>
              </a:p>
            </p:txBody>
          </p:sp>
        </p:grpSp>
        <p:sp>
          <p:nvSpPr>
            <p:cNvPr id="3" name="矩形 6"/>
            <p:cNvSpPr>
              <a:spLocks noChangeArrowheads="1"/>
            </p:cNvSpPr>
            <p:nvPr/>
          </p:nvSpPr>
          <p:spPr bwMode="auto">
            <a:xfrm>
              <a:off x="623" y="1664"/>
              <a:ext cx="17638"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命令运行后返回结果如下：</a:t>
              </a:r>
            </a:p>
          </p:txBody>
        </p:sp>
      </p:grpSp>
      <p:grpSp>
        <p:nvGrpSpPr>
          <p:cNvPr id="9" name="组合 8"/>
          <p:cNvGrpSpPr/>
          <p:nvPr/>
        </p:nvGrpSpPr>
        <p:grpSpPr>
          <a:xfrm>
            <a:off x="8637270" y="1099185"/>
            <a:ext cx="3065780" cy="5474970"/>
            <a:chOff x="13602" y="1731"/>
            <a:chExt cx="4828" cy="8622"/>
          </a:xfrm>
        </p:grpSpPr>
        <p:sp>
          <p:nvSpPr>
            <p:cNvPr id="10242" name="AutoShape 2"/>
            <p:cNvSpPr/>
            <p:nvPr/>
          </p:nvSpPr>
          <p:spPr>
            <a:xfrm>
              <a:off x="13602" y="1731"/>
              <a:ext cx="4828" cy="8622"/>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pitchFamily="34" charset="-122"/>
                <a:ea typeface="微软雅黑" panose="020B0503020204020204" pitchFamily="34" charset="-122"/>
                <a:sym typeface="+mn-ea"/>
              </a:endParaRPr>
            </a:p>
            <a:p>
              <a:pPr indent="457200" fontAlgn="auto">
                <a:lnSpc>
                  <a:spcPct val="150000"/>
                </a:lnSpc>
                <a:spcAft>
                  <a:spcPts val="600"/>
                </a:spcAft>
              </a:pPr>
              <a:endParaRPr lang="en-US" altLang="zh-CN" sz="1800" dirty="0">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3703" y="2132"/>
              <a:ext cx="4616" cy="8064"/>
            </a:xfrm>
            <a:prstGeom prst="rect">
              <a:avLst/>
            </a:prstGeom>
            <a:noFill/>
          </p:spPr>
          <p:txBody>
            <a:bodyPr wrap="square" rtlCol="0">
              <a:spAutoFit/>
            </a:bodyPr>
            <a:lstStyle/>
            <a:p>
              <a:pPr indent="457200" eaLnBrk="1" latinLnBrk="0" hangingPunct="1">
                <a:lnSpc>
                  <a:spcPct val="150000"/>
                </a:lnSpc>
              </a:pPr>
              <a:r>
                <a:rPr lang="zh-CN" altLang="en-US" sz="2000" dirty="0">
                  <a:latin typeface="微软雅黑" panose="020B0503020204020204" pitchFamily="34" charset="-122"/>
                  <a:ea typeface="微软雅黑" panose="020B0503020204020204" pitchFamily="34" charset="-122"/>
                </a:rPr>
                <a:t>其中eth0表示</a:t>
              </a:r>
              <a:r>
                <a:rPr lang="zh-CN" altLang="en-US" sz="2000" b="1" dirty="0">
                  <a:solidFill>
                    <a:srgbClr val="0070C0"/>
                  </a:solidFill>
                  <a:latin typeface="微软雅黑" panose="020B0503020204020204" pitchFamily="34" charset="-122"/>
                  <a:ea typeface="微软雅黑" panose="020B0503020204020204" pitchFamily="34" charset="-122"/>
                </a:rPr>
                <a:t>第一块网卡设备</a:t>
              </a:r>
              <a:r>
                <a:rPr lang="zh-CN" altLang="en-US" sz="2000" dirty="0">
                  <a:latin typeface="微软雅黑" panose="020B0503020204020204" pitchFamily="34" charset="-122"/>
                  <a:ea typeface="微软雅黑" panose="020B0503020204020204" pitchFamily="34" charset="-122"/>
                </a:rPr>
                <a:t>；lo表示</a:t>
              </a:r>
              <a:r>
                <a:rPr lang="zh-CN" altLang="en-US" sz="2000" b="1" dirty="0">
                  <a:solidFill>
                    <a:srgbClr val="0070C0"/>
                  </a:solidFill>
                  <a:latin typeface="微软雅黑" panose="020B0503020204020204" pitchFamily="34" charset="-122"/>
                  <a:ea typeface="微软雅黑" panose="020B0503020204020204" pitchFamily="34" charset="-122"/>
                </a:rPr>
                <a:t>环路地址信息</a:t>
              </a:r>
              <a:r>
                <a:rPr lang="zh-CN" altLang="en-US" sz="2000" dirty="0">
                  <a:latin typeface="微软雅黑" panose="020B0503020204020204" pitchFamily="34" charset="-122"/>
                  <a:ea typeface="微软雅黑" panose="020B0503020204020204" pitchFamily="34" charset="-122"/>
                </a:rPr>
                <a:t>。通过ifconfig命令可以查看到网卡的IP地址、子网掩码、MTU（最大传输单元）、MAC地址、跳数、发送数据包的个数、接收数据包的个数及其错误个数、丢弃个数等信息。</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strips(downRight)">
                                      <p:cBhvr>
                                        <p:cTn id="7" dur="500"/>
                                        <p:tgtEl>
                                          <p:spTgt spid="2"/>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Righ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2541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1．ifconfig命令</a:t>
            </a:r>
          </a:p>
        </p:txBody>
      </p:sp>
      <p:grpSp>
        <p:nvGrpSpPr>
          <p:cNvPr id="71" name="组合 70"/>
          <p:cNvGrpSpPr/>
          <p:nvPr/>
        </p:nvGrpSpPr>
        <p:grpSpPr>
          <a:xfrm>
            <a:off x="3353435" y="1168400"/>
            <a:ext cx="4267200" cy="748368"/>
            <a:chOff x="5466414" y="1311371"/>
            <a:chExt cx="4840044" cy="919865"/>
          </a:xfrm>
        </p:grpSpPr>
        <p:sp>
          <p:nvSpPr>
            <p:cNvPr id="72" name="TextBox 71"/>
            <p:cNvSpPr txBox="1"/>
            <p:nvPr/>
          </p:nvSpPr>
          <p:spPr>
            <a:xfrm>
              <a:off x="5551403" y="1311371"/>
              <a:ext cx="4755055" cy="841398"/>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4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为网卡指定临时IP地址</a:t>
              </a:r>
            </a:p>
          </p:txBody>
        </p:sp>
        <p:cxnSp>
          <p:nvCxnSpPr>
            <p:cNvPr id="73" name="直接连接符 72"/>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流程图: 联系 73"/>
            <p:cNvSpPr/>
            <p:nvPr/>
          </p:nvSpPr>
          <p:spPr>
            <a:xfrm>
              <a:off x="5466414" y="206164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415290" y="3034030"/>
            <a:ext cx="5860415" cy="457200"/>
            <a:chOff x="1483" y="2724"/>
            <a:chExt cx="9229" cy="720"/>
          </a:xfrm>
        </p:grpSpPr>
        <p:sp>
          <p:nvSpPr>
            <p:cNvPr id="35" name="TextBox 29"/>
            <p:cNvSpPr txBox="1"/>
            <p:nvPr/>
          </p:nvSpPr>
          <p:spPr>
            <a:xfrm>
              <a:off x="1771" y="2724"/>
              <a:ext cx="8906"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dirty="0">
                  <a:solidFill>
                    <a:srgbClr val="0066FF"/>
                  </a:solidFill>
                  <a:latin typeface="微软雅黑" panose="020B0503020204020204" pitchFamily="34" charset="-122"/>
                  <a:ea typeface="微软雅黑" panose="020B0503020204020204" pitchFamily="34" charset="-122"/>
                  <a:sym typeface="+mn-ea"/>
                </a:rPr>
                <a:t> </a:t>
              </a:r>
              <a:r>
                <a:rPr lang="zh-CN" altLang="en-US" sz="1800" b="1" dirty="0">
                  <a:solidFill>
                    <a:srgbClr val="0066FF"/>
                  </a:solidFill>
                  <a:latin typeface="微软雅黑" panose="020B0503020204020204" pitchFamily="34" charset="-122"/>
                  <a:ea typeface="微软雅黑" panose="020B0503020204020204" pitchFamily="34" charset="-122"/>
                  <a:sym typeface="+mn-ea"/>
                </a:rPr>
                <a:t>ifconfig  网卡设备名  IP地址  netmask  子网掩码</a:t>
              </a:r>
            </a:p>
          </p:txBody>
        </p:sp>
        <p:grpSp>
          <p:nvGrpSpPr>
            <p:cNvPr id="36" name="组合 35"/>
            <p:cNvGrpSpPr/>
            <p:nvPr/>
          </p:nvGrpSpPr>
          <p:grpSpPr>
            <a:xfrm>
              <a:off x="1483" y="2917"/>
              <a:ext cx="9229" cy="503"/>
              <a:chOff x="1483" y="2917"/>
              <a:chExt cx="9229" cy="503"/>
            </a:xfrm>
          </p:grpSpPr>
          <p:sp>
            <p:nvSpPr>
              <p:cNvPr id="37" name="燕尾形 36"/>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flipV="1">
                <a:off x="1483" y="3408"/>
                <a:ext cx="9229" cy="12"/>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460957" y="2056537"/>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3" name="组合 2"/>
          <p:cNvGrpSpPr/>
          <p:nvPr/>
        </p:nvGrpSpPr>
        <p:grpSpPr>
          <a:xfrm>
            <a:off x="357506" y="3661410"/>
            <a:ext cx="5751533" cy="2326640"/>
            <a:chOff x="13227" y="6981"/>
            <a:chExt cx="6014" cy="2898"/>
          </a:xfrm>
        </p:grpSpPr>
        <p:grpSp>
          <p:nvGrpSpPr>
            <p:cNvPr id="7" name="组合 14"/>
            <p:cNvGrpSpPr/>
            <p:nvPr/>
          </p:nvGrpSpPr>
          <p:grpSpPr bwMode="auto">
            <a:xfrm>
              <a:off x="13357" y="7586"/>
              <a:ext cx="5884" cy="2293"/>
              <a:chOff x="1166776" y="1762785"/>
              <a:chExt cx="11289141" cy="1737653"/>
            </a:xfrm>
          </p:grpSpPr>
          <p:grpSp>
            <p:nvGrpSpPr>
              <p:cNvPr id="9" name="组合 12"/>
              <p:cNvGrpSpPr/>
              <p:nvPr/>
            </p:nvGrpSpPr>
            <p:grpSpPr bwMode="auto">
              <a:xfrm>
                <a:off x="1166776" y="1762785"/>
                <a:ext cx="11289141" cy="1737653"/>
                <a:chOff x="1166776" y="1762785"/>
                <a:chExt cx="11289141" cy="1737653"/>
              </a:xfrm>
            </p:grpSpPr>
            <p:sp>
              <p:nvSpPr>
                <p:cNvPr id="10" name="矩形 9"/>
                <p:cNvSpPr/>
                <p:nvPr/>
              </p:nvSpPr>
              <p:spPr>
                <a:xfrm>
                  <a:off x="1166776" y="1786456"/>
                  <a:ext cx="11289141"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3" name="矩形 6"/>
                <p:cNvSpPr>
                  <a:spLocks noChangeArrowheads="1"/>
                </p:cNvSpPr>
                <p:nvPr/>
              </p:nvSpPr>
              <p:spPr bwMode="auto">
                <a:xfrm>
                  <a:off x="2455861" y="1762785"/>
                  <a:ext cx="4380122" cy="431553"/>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14" name="MH_Text_1"/>
              <p:cNvSpPr txBox="1">
                <a:spLocks noChangeArrowheads="1"/>
              </p:cNvSpPr>
              <p:nvPr>
                <p:custDataLst>
                  <p:tags r:id="rId1"/>
                </p:custDataLst>
              </p:nvPr>
            </p:nvSpPr>
            <p:spPr bwMode="auto">
              <a:xfrm>
                <a:off x="1351492" y="2197933"/>
                <a:ext cx="10848961" cy="1231126"/>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通过ifconfig命令添加或修改ip地址只是临时有效。当重启network服务或重启计算机后，之前用ifconfig创建的ip地址将无效。</a:t>
                </a:r>
              </a:p>
            </p:txBody>
          </p:sp>
        </p:grpSp>
        <p:pic>
          <p:nvPicPr>
            <p:cNvPr id="17"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3227" y="6981"/>
              <a:ext cx="1063" cy="1172"/>
            </a:xfrm>
            <a:prstGeom prst="rect">
              <a:avLst/>
            </a:prstGeom>
            <a:noFill/>
            <a:ln w="9525">
              <a:noFill/>
              <a:miter lim="800000"/>
              <a:headEnd/>
              <a:tailEnd/>
            </a:ln>
          </p:spPr>
        </p:pic>
      </p:grpSp>
      <p:sp>
        <p:nvSpPr>
          <p:cNvPr id="18" name="圆角矩形 17"/>
          <p:cNvSpPr/>
          <p:nvPr/>
        </p:nvSpPr>
        <p:spPr>
          <a:xfrm>
            <a:off x="6439535" y="2063115"/>
            <a:ext cx="5368290" cy="4341495"/>
          </a:xfrm>
          <a:prstGeom prst="roundRect">
            <a:avLst>
              <a:gd name="adj" fmla="val 6689"/>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40000"/>
              </a:lnSpc>
            </a:pPr>
            <a:r>
              <a:rPr lang="zh-CN" altLang="en-US" sz="1800" dirty="0">
                <a:solidFill>
                  <a:schemeClr val="tx1"/>
                </a:solidFill>
                <a:latin typeface="微软雅黑" panose="020B0503020204020204" pitchFamily="34" charset="-122"/>
                <a:ea typeface="微软雅黑" panose="020B0503020204020204" pitchFamily="34" charset="-122"/>
                <a:sym typeface="+mn-ea"/>
              </a:rPr>
              <a:t>Linux也支持</a:t>
            </a:r>
            <a:r>
              <a:rPr lang="zh-CN" altLang="en-US" sz="1800" b="1" dirty="0">
                <a:solidFill>
                  <a:srgbClr val="0070C0"/>
                </a:solidFill>
                <a:latin typeface="微软雅黑" panose="020B0503020204020204" pitchFamily="34" charset="-122"/>
                <a:ea typeface="微软雅黑" panose="020B0503020204020204" pitchFamily="34" charset="-122"/>
                <a:sym typeface="+mn-ea"/>
              </a:rPr>
              <a:t>IP别名</a:t>
            </a:r>
            <a:r>
              <a:rPr lang="zh-CN" altLang="en-US" sz="1800" dirty="0">
                <a:solidFill>
                  <a:schemeClr val="tx1"/>
                </a:solidFill>
                <a:latin typeface="微软雅黑" panose="020B0503020204020204" pitchFamily="34" charset="-122"/>
                <a:ea typeface="微软雅黑" panose="020B0503020204020204" pitchFamily="34" charset="-122"/>
                <a:sym typeface="+mn-ea"/>
              </a:rPr>
              <a:t>，</a:t>
            </a:r>
            <a:r>
              <a:rPr lang="zh-CN" altLang="en-US" sz="1800" dirty="0">
                <a:solidFill>
                  <a:srgbClr val="FF0000"/>
                </a:solidFill>
                <a:latin typeface="微软雅黑" panose="020B0503020204020204" pitchFamily="34" charset="-122"/>
                <a:ea typeface="微软雅黑" panose="020B0503020204020204" pitchFamily="34" charset="-122"/>
                <a:sym typeface="+mn-ea"/>
              </a:rPr>
              <a:t>即可以在一个网络接口上配置多个IP地址</a:t>
            </a:r>
            <a:r>
              <a:rPr lang="zh-CN" altLang="en-US" sz="1800" dirty="0">
                <a:solidFill>
                  <a:schemeClr val="tx1"/>
                </a:solidFill>
                <a:latin typeface="微软雅黑" panose="020B0503020204020204" pitchFamily="34" charset="-122"/>
                <a:ea typeface="微软雅黑" panose="020B0503020204020204" pitchFamily="34" charset="-122"/>
                <a:sym typeface="+mn-ea"/>
              </a:rPr>
              <a:t>。Linux通过创建虚拟网卡来实现创建IP别名，虚拟网卡的设备名为ethN:M，对应的配置文件为ifcfg-ethN:M。比如：在第一块网卡上创建的第一块虚拟网卡，其设备名为eth0:0，对应的配置文件名为ifcfg-eth0:0；在第一块网卡上创建的第二块虚拟网卡的设备名为eth0:1，其余依次类推，Linux最多支持255个IP别名。虚拟网卡的配置文件可通过更名复制ifcfg-eth0配置文件来获得，然后通过修改配置文件来指定该虚拟网卡要设置的IP地址。</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2" presetClass="entr" presetSubtype="3"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 calcmode="lin" valueType="num">
                                      <p:cBhvr additive="base">
                                        <p:cTn id="10" dur="500" fill="hold"/>
                                        <p:tgtEl>
                                          <p:spTgt spid="71"/>
                                        </p:tgtEl>
                                        <p:attrNameLst>
                                          <p:attrName>ppt_x</p:attrName>
                                        </p:attrNameLst>
                                      </p:cBhvr>
                                      <p:tavLst>
                                        <p:tav tm="0">
                                          <p:val>
                                            <p:strVal val="1+#ppt_w/2"/>
                                          </p:val>
                                        </p:tav>
                                        <p:tav tm="100000">
                                          <p:val>
                                            <p:strVal val="#ppt_x"/>
                                          </p:val>
                                        </p:tav>
                                      </p:tavLst>
                                    </p:anim>
                                    <p:anim calcmode="lin" valueType="num">
                                      <p:cBhvr additive="base">
                                        <p:cTn id="11" dur="500" fill="hold"/>
                                        <p:tgtEl>
                                          <p:spTgt spid="71"/>
                                        </p:tgtEl>
                                        <p:attrNameLst>
                                          <p:attrName>ppt_y</p:attrName>
                                        </p:attrNameLst>
                                      </p:cBhvr>
                                      <p:tavLst>
                                        <p:tav tm="0">
                                          <p:val>
                                            <p:strVal val="0-#ppt_h/2"/>
                                          </p:val>
                                        </p:tav>
                                        <p:tav tm="100000">
                                          <p:val>
                                            <p:strVal val="#ppt_y"/>
                                          </p:val>
                                        </p:tav>
                                      </p:tavLst>
                                    </p:anim>
                                  </p:childTnLst>
                                </p:cTn>
                              </p:par>
                            </p:childTnLst>
                          </p:cTn>
                        </p:par>
                        <p:par>
                          <p:cTn id="12" fill="hold">
                            <p:stCondLst>
                              <p:cond delay="500"/>
                            </p:stCondLst>
                            <p:childTnLst>
                              <p:par>
                                <p:cTn id="13" presetID="31" presetClass="entr" presetSubtype="0" fill="hold" nodeType="afterEffect">
                                  <p:stCondLst>
                                    <p:cond delay="0"/>
                                  </p:stCondLst>
                                  <p:iterate type="lt">
                                    <p:tmPct val="5000"/>
                                  </p:iterate>
                                  <p:childTnLst>
                                    <p:set>
                                      <p:cBhvr>
                                        <p:cTn id="14" dur="1" fill="hold">
                                          <p:stCondLst>
                                            <p:cond delay="0"/>
                                          </p:stCondLst>
                                        </p:cTn>
                                        <p:tgtEl>
                                          <p:spTgt spid="76"/>
                                        </p:tgtEl>
                                        <p:attrNameLst>
                                          <p:attrName>style.visibility</p:attrName>
                                        </p:attrNameLst>
                                      </p:cBhvr>
                                      <p:to>
                                        <p:strVal val="visible"/>
                                      </p:to>
                                    </p:set>
                                    <p:anim calcmode="lin" valueType="num">
                                      <p:cBhvr>
                                        <p:cTn id="15" dur="1000" fill="hold"/>
                                        <p:tgtEl>
                                          <p:spTgt spid="76"/>
                                        </p:tgtEl>
                                        <p:attrNameLst>
                                          <p:attrName>ppt_w</p:attrName>
                                        </p:attrNameLst>
                                      </p:cBhvr>
                                      <p:tavLst>
                                        <p:tav tm="0">
                                          <p:val>
                                            <p:fltVal val="0"/>
                                          </p:val>
                                        </p:tav>
                                        <p:tav tm="100000">
                                          <p:val>
                                            <p:strVal val="#ppt_w"/>
                                          </p:val>
                                        </p:tav>
                                      </p:tavLst>
                                    </p:anim>
                                    <p:anim calcmode="lin" valueType="num">
                                      <p:cBhvr>
                                        <p:cTn id="16" dur="1000" fill="hold"/>
                                        <p:tgtEl>
                                          <p:spTgt spid="76"/>
                                        </p:tgtEl>
                                        <p:attrNameLst>
                                          <p:attrName>ppt_h</p:attrName>
                                        </p:attrNameLst>
                                      </p:cBhvr>
                                      <p:tavLst>
                                        <p:tav tm="0">
                                          <p:val>
                                            <p:fltVal val="0"/>
                                          </p:val>
                                        </p:tav>
                                        <p:tav tm="100000">
                                          <p:val>
                                            <p:strVal val="#ppt_h"/>
                                          </p:val>
                                        </p:tav>
                                      </p:tavLst>
                                    </p:anim>
                                    <p:anim calcmode="lin" valueType="num">
                                      <p:cBhvr>
                                        <p:cTn id="17" dur="1000" fill="hold"/>
                                        <p:tgtEl>
                                          <p:spTgt spid="76"/>
                                        </p:tgtEl>
                                        <p:attrNameLst>
                                          <p:attrName>style.rotation</p:attrName>
                                        </p:attrNameLst>
                                      </p:cBhvr>
                                      <p:tavLst>
                                        <p:tav tm="0">
                                          <p:val>
                                            <p:fltVal val="90"/>
                                          </p:val>
                                        </p:tav>
                                        <p:tav tm="100000">
                                          <p:val>
                                            <p:fltVal val="0"/>
                                          </p:val>
                                        </p:tav>
                                      </p:tavLst>
                                    </p:anim>
                                    <p:animEffect transition="in" filter="fade">
                                      <p:cBhvr>
                                        <p:cTn id="18" dur="1000"/>
                                        <p:tgtEl>
                                          <p:spTgt spid="76"/>
                                        </p:tgtEl>
                                      </p:cBhvr>
                                    </p:animEffect>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fill="hold"/>
                                        <p:tgtEl>
                                          <p:spTgt spid="31"/>
                                        </p:tgtEl>
                                        <p:attrNameLst>
                                          <p:attrName>ppt_x</p:attrName>
                                        </p:attrNameLst>
                                      </p:cBhvr>
                                      <p:tavLst>
                                        <p:tav tm="0">
                                          <p:val>
                                            <p:strVal val="0-#ppt_w/2"/>
                                          </p:val>
                                        </p:tav>
                                        <p:tav tm="100000">
                                          <p:val>
                                            <p:strVal val="#ppt_x"/>
                                          </p:val>
                                        </p:tav>
                                      </p:tavLst>
                                    </p:anim>
                                    <p:anim calcmode="lin" valueType="num">
                                      <p:cBhvr additive="base">
                                        <p:cTn id="23" dur="500" fill="hold"/>
                                        <p:tgtEl>
                                          <p:spTgt spid="31"/>
                                        </p:tgtEl>
                                        <p:attrNameLst>
                                          <p:attrName>ppt_y</p:attrName>
                                        </p:attrNameLst>
                                      </p:cBhvr>
                                      <p:tavLst>
                                        <p:tav tm="0">
                                          <p:val>
                                            <p:strVal val="#ppt_y"/>
                                          </p:val>
                                        </p:tav>
                                        <p:tav tm="100000">
                                          <p:val>
                                            <p:strVal val="#ppt_y"/>
                                          </p:val>
                                        </p:tav>
                                      </p:tavLst>
                                    </p:anim>
                                  </p:childTnLst>
                                </p:cTn>
                              </p:par>
                            </p:childTnLst>
                          </p:cTn>
                        </p:par>
                        <p:par>
                          <p:cTn id="24" fill="hold">
                            <p:stCondLst>
                              <p:cond delay="2000"/>
                            </p:stCondLst>
                            <p:childTnLst>
                              <p:par>
                                <p:cTn id="25" presetID="18" presetClass="entr" presetSubtype="6" fill="hold" nodeType="after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strips(downRight)">
                                      <p:cBhvr>
                                        <p:cTn id="27" dur="500"/>
                                        <p:tgtEl>
                                          <p:spTgt spid="3"/>
                                        </p:tgtEl>
                                      </p:cBhvr>
                                    </p:animEffect>
                                  </p:childTnLst>
                                </p:cTn>
                              </p:par>
                            </p:childTnLst>
                          </p:cTn>
                        </p:par>
                        <p:par>
                          <p:cTn id="28" fill="hold">
                            <p:stCondLst>
                              <p:cond delay="2500"/>
                            </p:stCondLst>
                            <p:childTnLst>
                              <p:par>
                                <p:cTn id="29" presetID="23" presetClass="entr" presetSubtype="16" fill="hold" grpId="2" nodeType="afterEffect">
                                  <p:stCondLst>
                                    <p:cond delay="0"/>
                                  </p:stCondLst>
                                  <p:childTnLst>
                                    <p:set>
                                      <p:cBhvr>
                                        <p:cTn id="30" dur="1" fill="hold">
                                          <p:stCondLst>
                                            <p:cond delay="0"/>
                                          </p:stCondLst>
                                        </p:cTn>
                                        <p:tgtEl>
                                          <p:spTgt spid="18"/>
                                        </p:tgtEl>
                                        <p:attrNameLst>
                                          <p:attrName>style.visibility</p:attrName>
                                        </p:attrNameLst>
                                      </p:cBhvr>
                                      <p:to>
                                        <p:strVal val="visible"/>
                                      </p:to>
                                    </p:set>
                                    <p:anim calcmode="lin" valueType="num">
                                      <p:cBhvr>
                                        <p:cTn id="31" dur="500" fill="hold"/>
                                        <p:tgtEl>
                                          <p:spTgt spid="18"/>
                                        </p:tgtEl>
                                        <p:attrNameLst>
                                          <p:attrName>ppt_w</p:attrName>
                                        </p:attrNameLst>
                                      </p:cBhvr>
                                      <p:tavLst>
                                        <p:tav tm="0">
                                          <p:val>
                                            <p:fltVal val="0"/>
                                          </p:val>
                                        </p:tav>
                                        <p:tav tm="100000">
                                          <p:val>
                                            <p:strVal val="#ppt_w"/>
                                          </p:val>
                                        </p:tav>
                                      </p:tavLst>
                                    </p:anim>
                                    <p:anim calcmode="lin" valueType="num">
                                      <p:cBhvr>
                                        <p:cTn id="32" dur="500" fill="hold"/>
                                        <p:tgtEl>
                                          <p:spTgt spid="1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18" grpId="0" animBg="1"/>
      <p:bldP spid="18" grpId="1" animBg="1"/>
      <p:bldP spid="18" grpId="2" bldLvl="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13"/>
          <p:cNvSpPr>
            <a:spLocks noChangeArrowheads="1"/>
          </p:cNvSpPr>
          <p:nvPr/>
        </p:nvSpPr>
        <p:spPr bwMode="gray">
          <a:xfrm>
            <a:off x="540385" y="1116965"/>
            <a:ext cx="11111230" cy="5307330"/>
          </a:xfrm>
          <a:prstGeom prst="roundRect">
            <a:avLst>
              <a:gd name="adj" fmla="val 4639"/>
            </a:avLst>
          </a:prstGeom>
          <a:gradFill>
            <a:gsLst>
              <a:gs pos="33000">
                <a:srgbClr val="F9F9F9"/>
              </a:gs>
              <a:gs pos="100000">
                <a:srgbClr val="D7D7D7"/>
              </a:gs>
            </a:gsLst>
            <a:lin ang="5400000" scaled="0"/>
          </a:gradFill>
          <a:ln w="3175" cap="flat" cmpd="sng" algn="ctr">
            <a:solidFill>
              <a:srgbClr val="EAEAEA"/>
            </a:solidFill>
            <a:prstDash val="solid"/>
          </a:ln>
          <a:effectLst>
            <a:outerShdw blurRad="76200" dist="63500" dir="2700000" algn="tl" rotWithShape="0">
              <a:prstClr val="black">
                <a:alpha val="40000"/>
              </a:prstClr>
            </a:outerShdw>
          </a:effectLst>
        </p:spPr>
        <p:txBody>
          <a:bodyPr anchor="ctr"/>
          <a:lstStyle/>
          <a:p>
            <a:pPr algn="ctr" fontAlgn="base">
              <a:lnSpc>
                <a:spcPct val="120000"/>
              </a:lnSpc>
              <a:spcBef>
                <a:spcPct val="0"/>
              </a:spcBef>
              <a:spcAft>
                <a:spcPct val="0"/>
              </a:spcAft>
              <a:defRPr/>
            </a:pPr>
            <a:endParaRPr lang="zh-CN" altLang="en-US" sz="1800" kern="0">
              <a:solidFill>
                <a:srgbClr val="4D4D4D"/>
              </a:solidFill>
              <a:latin typeface="微软雅黑" panose="020B0503020204020204" pitchFamily="34" charset="-122"/>
              <a:ea typeface="微软雅黑" panose="020B0503020204020204" pitchFamily="34" charset="-122"/>
            </a:endParaRPr>
          </a:p>
        </p:txBody>
      </p:sp>
      <p:grpSp>
        <p:nvGrpSpPr>
          <p:cNvPr id="10" name="组合 9"/>
          <p:cNvGrpSpPr/>
          <p:nvPr/>
        </p:nvGrpSpPr>
        <p:grpSpPr>
          <a:xfrm>
            <a:off x="1047115" y="1466850"/>
            <a:ext cx="10210800" cy="4735830"/>
            <a:chOff x="2057" y="2046"/>
            <a:chExt cx="16080" cy="7458"/>
          </a:xfrm>
        </p:grpSpPr>
        <p:grpSp>
          <p:nvGrpSpPr>
            <p:cNvPr id="11" name="组合 10"/>
            <p:cNvGrpSpPr/>
            <p:nvPr/>
          </p:nvGrpSpPr>
          <p:grpSpPr>
            <a:xfrm>
              <a:off x="2057" y="2046"/>
              <a:ext cx="16080" cy="7458"/>
              <a:chOff x="2235" y="8164"/>
              <a:chExt cx="11796" cy="1749"/>
            </a:xfrm>
          </p:grpSpPr>
          <p:grpSp>
            <p:nvGrpSpPr>
              <p:cNvPr id="12" name="组合 12"/>
              <p:cNvGrpSpPr/>
              <p:nvPr/>
            </p:nvGrpSpPr>
            <p:grpSpPr bwMode="auto">
              <a:xfrm>
                <a:off x="2235" y="8164"/>
                <a:ext cx="11796" cy="1749"/>
                <a:chOff x="1173177" y="1455151"/>
                <a:chExt cx="9858444" cy="2263093"/>
              </a:xfrm>
            </p:grpSpPr>
            <p:sp>
              <p:nvSpPr>
                <p:cNvPr id="13" name="矩形 12"/>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4" name="矩形 6"/>
                <p:cNvSpPr>
                  <a:spLocks noChangeArrowheads="1"/>
                </p:cNvSpPr>
                <p:nvPr/>
              </p:nvSpPr>
              <p:spPr bwMode="auto">
                <a:xfrm>
                  <a:off x="1173177" y="1455278"/>
                  <a:ext cx="9858444" cy="37566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7</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2</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将第一块网卡的ip地址设为192.168.122.200，同时将其子网掩码设为255.255.255.0。则使用命令：</a:t>
                  </a:r>
                </a:p>
              </p:txBody>
            </p:sp>
          </p:grpSp>
          <p:sp>
            <p:nvSpPr>
              <p:cNvPr id="15" name="MH_Text_1"/>
              <p:cNvSpPr txBox="1">
                <a:spLocks noChangeArrowheads="1"/>
              </p:cNvSpPr>
              <p:nvPr>
                <p:custDataLst>
                  <p:tags r:id="rId2"/>
                </p:custDataLst>
              </p:nvPr>
            </p:nvSpPr>
            <p:spPr bwMode="auto">
              <a:xfrm>
                <a:off x="2329" y="8457"/>
                <a:ext cx="11335" cy="236"/>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ifconfig eno16777736 192.168.122.200 netmask 255.255.255.0 </a:t>
                </a:r>
              </a:p>
            </p:txBody>
          </p:sp>
        </p:grpSp>
        <p:grpSp>
          <p:nvGrpSpPr>
            <p:cNvPr id="9" name="组合 8"/>
            <p:cNvGrpSpPr/>
            <p:nvPr/>
          </p:nvGrpSpPr>
          <p:grpSpPr>
            <a:xfrm>
              <a:off x="2294" y="4186"/>
              <a:ext cx="15064" cy="5029"/>
              <a:chOff x="2294" y="4186"/>
              <a:chExt cx="15064" cy="5029"/>
            </a:xfrm>
          </p:grpSpPr>
          <p:sp>
            <p:nvSpPr>
              <p:cNvPr id="16" name="矩形 6"/>
              <p:cNvSpPr>
                <a:spLocks noChangeArrowheads="1"/>
              </p:cNvSpPr>
              <p:nvPr/>
            </p:nvSpPr>
            <p:spPr bwMode="auto">
              <a:xfrm>
                <a:off x="2303" y="4186"/>
                <a:ext cx="12870"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运行后再使用ifconfig eno16777736命令验证，结果如下：</a:t>
                </a:r>
              </a:p>
            </p:txBody>
          </p:sp>
          <p:sp>
            <p:nvSpPr>
              <p:cNvPr id="17" name="MH_Text_1"/>
              <p:cNvSpPr txBox="1">
                <a:spLocks noChangeArrowheads="1"/>
              </p:cNvSpPr>
              <p:nvPr>
                <p:custDataLst>
                  <p:tags r:id="rId1"/>
                </p:custDataLst>
              </p:nvPr>
            </p:nvSpPr>
            <p:spPr bwMode="auto">
              <a:xfrm>
                <a:off x="2294" y="4889"/>
                <a:ext cx="15065" cy="4327"/>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inet 192.168.122.200  netmask 255.255.255.0  broadcast 192.168.122.255</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ether 00:0c:29:fa:55:89  txqueuelen 1000  (Ethernet)</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RX packets 0  bytes 0 (0.0 B)</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RX errors 0  dropped 0  overruns 0  frame 0</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TX packets 0  bytes 0 (0.0 B)</a:t>
                </a:r>
              </a:p>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TX errors 0  dropped 0 overruns 0  carrier 0  collisions 0 </a:t>
                </a: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strips(downRigh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2541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1．ifconfig命令</a:t>
            </a:r>
          </a:p>
        </p:txBody>
      </p:sp>
      <p:grpSp>
        <p:nvGrpSpPr>
          <p:cNvPr id="48" name="组合 47"/>
          <p:cNvGrpSpPr/>
          <p:nvPr/>
        </p:nvGrpSpPr>
        <p:grpSpPr>
          <a:xfrm>
            <a:off x="428624" y="4086225"/>
            <a:ext cx="4727460" cy="1791970"/>
            <a:chOff x="13227" y="6981"/>
            <a:chExt cx="5858" cy="2898"/>
          </a:xfrm>
        </p:grpSpPr>
        <p:grpSp>
          <p:nvGrpSpPr>
            <p:cNvPr id="6" name="组合 14"/>
            <p:cNvGrpSpPr/>
            <p:nvPr/>
          </p:nvGrpSpPr>
          <p:grpSpPr bwMode="auto">
            <a:xfrm>
              <a:off x="13357" y="7586"/>
              <a:ext cx="5728" cy="2293"/>
              <a:chOff x="1166778" y="1762785"/>
              <a:chExt cx="10990768" cy="1737653"/>
            </a:xfrm>
          </p:grpSpPr>
          <p:grpSp>
            <p:nvGrpSpPr>
              <p:cNvPr id="50" name="组合 12"/>
              <p:cNvGrpSpPr/>
              <p:nvPr/>
            </p:nvGrpSpPr>
            <p:grpSpPr bwMode="auto">
              <a:xfrm>
                <a:off x="1166778" y="1762785"/>
                <a:ext cx="10990768" cy="1737653"/>
                <a:chOff x="1166778" y="1762785"/>
                <a:chExt cx="10990768" cy="1737653"/>
              </a:xfrm>
            </p:grpSpPr>
            <p:sp>
              <p:nvSpPr>
                <p:cNvPr id="51" name="矩形 50"/>
                <p:cNvSpPr/>
                <p:nvPr/>
              </p:nvSpPr>
              <p:spPr>
                <a:xfrm>
                  <a:off x="1166778" y="1786456"/>
                  <a:ext cx="10990768"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2455861" y="1762785"/>
                  <a:ext cx="4380122" cy="56031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53" name="MH_Text_1"/>
              <p:cNvSpPr txBox="1">
                <a:spLocks noChangeArrowheads="1"/>
              </p:cNvSpPr>
              <p:nvPr>
                <p:custDataLst>
                  <p:tags r:id="rId3"/>
                </p:custDataLst>
              </p:nvPr>
            </p:nvSpPr>
            <p:spPr bwMode="auto">
              <a:xfrm>
                <a:off x="1228682" y="2350756"/>
                <a:ext cx="10747963" cy="1078172"/>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以上两条命令功能一致，后者用法简捷，使用较多。</a:t>
                </a:r>
              </a:p>
            </p:txBody>
          </p:sp>
        </p:grpSp>
        <p:pic>
          <p:nvPicPr>
            <p:cNvPr id="54" name="图片 4" descr="www.tuweimei.comComp_9747389_aloyhm04q205BMmtimdiv2o2HN82PIep.jpg"/>
            <p:cNvPicPr>
              <a:picLocks noGrp="1"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3227" y="6981"/>
              <a:ext cx="1095" cy="1508"/>
            </a:xfrm>
            <a:prstGeom prst="rect">
              <a:avLst/>
            </a:prstGeom>
            <a:noFill/>
            <a:ln w="9525">
              <a:noFill/>
              <a:miter lim="800000"/>
              <a:headEnd/>
              <a:tailEnd/>
            </a:ln>
          </p:spPr>
        </p:pic>
      </p:grpSp>
      <p:grpSp>
        <p:nvGrpSpPr>
          <p:cNvPr id="22" name="组合 21"/>
          <p:cNvGrpSpPr/>
          <p:nvPr/>
        </p:nvGrpSpPr>
        <p:grpSpPr>
          <a:xfrm>
            <a:off x="5741670" y="4073525"/>
            <a:ext cx="5113654" cy="1807845"/>
            <a:chOff x="2005" y="6905"/>
            <a:chExt cx="8053" cy="2847"/>
          </a:xfrm>
        </p:grpSpPr>
        <p:grpSp>
          <p:nvGrpSpPr>
            <p:cNvPr id="14" name="组合 13"/>
            <p:cNvGrpSpPr/>
            <p:nvPr/>
          </p:nvGrpSpPr>
          <p:grpSpPr>
            <a:xfrm>
              <a:off x="2005" y="6905"/>
              <a:ext cx="8053" cy="2847"/>
              <a:chOff x="2107" y="8164"/>
              <a:chExt cx="7931" cy="1749"/>
            </a:xfrm>
          </p:grpSpPr>
          <p:grpSp>
            <p:nvGrpSpPr>
              <p:cNvPr id="16" name="组合 12"/>
              <p:cNvGrpSpPr/>
              <p:nvPr/>
            </p:nvGrpSpPr>
            <p:grpSpPr bwMode="auto">
              <a:xfrm>
                <a:off x="2107" y="8164"/>
                <a:ext cx="7931" cy="1749"/>
                <a:chOff x="1065937" y="1455151"/>
                <a:chExt cx="6627988" cy="2263093"/>
              </a:xfrm>
            </p:grpSpPr>
            <p:sp>
              <p:nvSpPr>
                <p:cNvPr id="17" name="矩形 16"/>
                <p:cNvSpPr/>
                <p:nvPr/>
              </p:nvSpPr>
              <p:spPr>
                <a:xfrm>
                  <a:off x="1196801" y="1455151"/>
                  <a:ext cx="6497124"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0" name="矩形 6"/>
                <p:cNvSpPr>
                  <a:spLocks noChangeArrowheads="1"/>
                </p:cNvSpPr>
                <p:nvPr/>
              </p:nvSpPr>
              <p:spPr bwMode="auto">
                <a:xfrm>
                  <a:off x="1065937" y="1455151"/>
                  <a:ext cx="6580252" cy="57233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7</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3</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若要禁用eth0网卡，则实现命令为：</a:t>
                  </a:r>
                </a:p>
              </p:txBody>
            </p:sp>
          </p:grpSp>
          <p:sp>
            <p:nvSpPr>
              <p:cNvPr id="18" name="MH_Text_1"/>
              <p:cNvSpPr txBox="1">
                <a:spLocks noChangeArrowheads="1"/>
              </p:cNvSpPr>
              <p:nvPr>
                <p:custDataLst>
                  <p:tags r:id="rId2"/>
                </p:custDataLst>
              </p:nvPr>
            </p:nvSpPr>
            <p:spPr bwMode="auto">
              <a:xfrm>
                <a:off x="2332" y="8621"/>
                <a:ext cx="7540" cy="42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[root@localhost  ~]#ifconfig eth0 down </a:t>
                </a:r>
              </a:p>
            </p:txBody>
          </p:sp>
        </p:grpSp>
        <p:grpSp>
          <p:nvGrpSpPr>
            <p:cNvPr id="21" name="组合 20"/>
            <p:cNvGrpSpPr/>
            <p:nvPr/>
          </p:nvGrpSpPr>
          <p:grpSpPr>
            <a:xfrm>
              <a:off x="2360" y="8239"/>
              <a:ext cx="7528" cy="1314"/>
              <a:chOff x="2360" y="8239"/>
              <a:chExt cx="7528" cy="1314"/>
            </a:xfrm>
          </p:grpSpPr>
          <p:sp>
            <p:nvSpPr>
              <p:cNvPr id="19" name="MH_Text_1"/>
              <p:cNvSpPr txBox="1">
                <a:spLocks noChangeArrowheads="1"/>
              </p:cNvSpPr>
              <p:nvPr>
                <p:custDataLst>
                  <p:tags r:id="rId1"/>
                </p:custDataLst>
              </p:nvPr>
            </p:nvSpPr>
            <p:spPr bwMode="auto">
              <a:xfrm>
                <a:off x="2360" y="8863"/>
                <a:ext cx="7528" cy="69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[root@localhost  ~]#ifdown eth0 </a:t>
                </a:r>
              </a:p>
            </p:txBody>
          </p:sp>
          <p:sp>
            <p:nvSpPr>
              <p:cNvPr id="20" name="矩形 6"/>
              <p:cNvSpPr>
                <a:spLocks noChangeArrowheads="1"/>
              </p:cNvSpPr>
              <p:nvPr/>
            </p:nvSpPr>
            <p:spPr bwMode="auto">
              <a:xfrm>
                <a:off x="2544" y="8239"/>
                <a:ext cx="7103"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或</a:t>
                </a:r>
              </a:p>
            </p:txBody>
          </p:sp>
        </p:grpSp>
      </p:grpSp>
      <p:grpSp>
        <p:nvGrpSpPr>
          <p:cNvPr id="71" name="组合 70"/>
          <p:cNvGrpSpPr/>
          <p:nvPr/>
        </p:nvGrpSpPr>
        <p:grpSpPr>
          <a:xfrm>
            <a:off x="3350895" y="1131570"/>
            <a:ext cx="3112770" cy="748368"/>
            <a:chOff x="5466414" y="1311371"/>
            <a:chExt cx="3530639" cy="919865"/>
          </a:xfrm>
        </p:grpSpPr>
        <p:sp>
          <p:nvSpPr>
            <p:cNvPr id="72" name="TextBox 71"/>
            <p:cNvSpPr txBox="1"/>
            <p:nvPr/>
          </p:nvSpPr>
          <p:spPr>
            <a:xfrm>
              <a:off x="5551403" y="1311371"/>
              <a:ext cx="3445650" cy="841398"/>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4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禁用网卡</a:t>
              </a:r>
              <a:endPar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cxnSp>
          <p:nvCxnSpPr>
            <p:cNvPr id="73" name="直接连接符 72"/>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流程图: 联系 73"/>
            <p:cNvSpPr/>
            <p:nvPr/>
          </p:nvSpPr>
          <p:spPr>
            <a:xfrm>
              <a:off x="5466414" y="206164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nvGrpSpPr>
        <p:grpSpPr>
          <a:xfrm>
            <a:off x="415290" y="2690495"/>
            <a:ext cx="4145622" cy="457200"/>
            <a:chOff x="1483" y="2724"/>
            <a:chExt cx="6478" cy="720"/>
          </a:xfrm>
        </p:grpSpPr>
        <p:sp>
          <p:nvSpPr>
            <p:cNvPr id="35"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ifconfig  网卡设备名  down</a:t>
              </a:r>
            </a:p>
          </p:txBody>
        </p:sp>
        <p:grpSp>
          <p:nvGrpSpPr>
            <p:cNvPr id="2" name="组合 1"/>
            <p:cNvGrpSpPr/>
            <p:nvPr/>
          </p:nvGrpSpPr>
          <p:grpSpPr>
            <a:xfrm>
              <a:off x="1483" y="2917"/>
              <a:ext cx="6067" cy="514"/>
              <a:chOff x="1483" y="2917"/>
              <a:chExt cx="6067" cy="514"/>
            </a:xfrm>
          </p:grpSpPr>
          <p:sp>
            <p:nvSpPr>
              <p:cNvPr id="37" name="燕尾形 36"/>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460957" y="1888897"/>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23" name="组合 22"/>
          <p:cNvGrpSpPr/>
          <p:nvPr/>
        </p:nvGrpSpPr>
        <p:grpSpPr>
          <a:xfrm>
            <a:off x="405130" y="3305175"/>
            <a:ext cx="4145622" cy="457200"/>
            <a:chOff x="1483" y="2724"/>
            <a:chExt cx="6478" cy="720"/>
          </a:xfrm>
        </p:grpSpPr>
        <p:sp>
          <p:nvSpPr>
            <p:cNvPr id="24"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en-US" altLang="zh-CN" sz="2000" b="1">
                  <a:solidFill>
                    <a:srgbClr val="0066FF"/>
                  </a:solidFill>
                  <a:latin typeface="微软雅黑" panose="020B0503020204020204" pitchFamily="34" charset="-122"/>
                  <a:ea typeface="微软雅黑" panose="020B0503020204020204" pitchFamily="34" charset="-122"/>
                  <a:sym typeface="+mn-ea"/>
                </a:rPr>
                <a:t> </a:t>
              </a:r>
              <a:r>
                <a:rPr lang="zh-CN" altLang="en-US" sz="2000" b="1">
                  <a:solidFill>
                    <a:srgbClr val="0066FF"/>
                  </a:solidFill>
                  <a:latin typeface="微软雅黑" panose="020B0503020204020204" pitchFamily="34" charset="-122"/>
                  <a:ea typeface="微软雅黑" panose="020B0503020204020204" pitchFamily="34" charset="-122"/>
                  <a:sym typeface="+mn-ea"/>
                </a:rPr>
                <a:t>或</a:t>
              </a:r>
              <a:r>
                <a:rPr lang="en-US" altLang="zh-CN" sz="2000" b="1">
                  <a:solidFill>
                    <a:srgbClr val="0066FF"/>
                  </a:solidFill>
                  <a:latin typeface="微软雅黑" panose="020B0503020204020204" pitchFamily="34" charset="-122"/>
                  <a:ea typeface="微软雅黑" panose="020B0503020204020204" pitchFamily="34" charset="-122"/>
                  <a:sym typeface="+mn-ea"/>
                </a:rPr>
                <a:t>    </a:t>
              </a:r>
              <a:r>
                <a:rPr lang="zh-CN" altLang="en-US" sz="2000" b="1">
                  <a:solidFill>
                    <a:srgbClr val="0066FF"/>
                  </a:solidFill>
                  <a:latin typeface="微软雅黑" panose="020B0503020204020204" pitchFamily="34" charset="-122"/>
                  <a:ea typeface="微软雅黑" panose="020B0503020204020204" pitchFamily="34" charset="-122"/>
                  <a:sym typeface="+mn-ea"/>
                </a:rPr>
                <a:t>ifdown  网卡设备名</a:t>
              </a:r>
            </a:p>
          </p:txBody>
        </p:sp>
        <p:grpSp>
          <p:nvGrpSpPr>
            <p:cNvPr id="25" name="组合 24"/>
            <p:cNvGrpSpPr/>
            <p:nvPr/>
          </p:nvGrpSpPr>
          <p:grpSpPr>
            <a:xfrm>
              <a:off x="1483" y="2917"/>
              <a:ext cx="6067" cy="514"/>
              <a:chOff x="1483" y="2917"/>
              <a:chExt cx="6067" cy="514"/>
            </a:xfrm>
          </p:grpSpPr>
          <p:sp>
            <p:nvSpPr>
              <p:cNvPr id="26" name="燕尾形 25"/>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8" name="直接连接符 27"/>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pic>
        <p:nvPicPr>
          <p:cNvPr id="29" name="图片 28" descr="2112feeb56e8bfae54e7cb8612d7a358"/>
          <p:cNvPicPr>
            <a:picLocks noChangeAspect="1"/>
          </p:cNvPicPr>
          <p:nvPr/>
        </p:nvPicPr>
        <p:blipFill>
          <a:blip r:embed="rId6" cstate="print"/>
          <a:stretch>
            <a:fillRect/>
          </a:stretch>
        </p:blipFill>
        <p:spPr>
          <a:xfrm>
            <a:off x="7261225" y="875030"/>
            <a:ext cx="3886200" cy="30613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2" presetClass="entr" presetSubtype="3" fill="hold" nodeType="withEffect">
                                  <p:stCondLst>
                                    <p:cond delay="0"/>
                                  </p:stCondLst>
                                  <p:childTnLst>
                                    <p:set>
                                      <p:cBhvr>
                                        <p:cTn id="9" dur="1" fill="hold">
                                          <p:stCondLst>
                                            <p:cond delay="0"/>
                                          </p:stCondLst>
                                        </p:cTn>
                                        <p:tgtEl>
                                          <p:spTgt spid="71"/>
                                        </p:tgtEl>
                                        <p:attrNameLst>
                                          <p:attrName>style.visibility</p:attrName>
                                        </p:attrNameLst>
                                      </p:cBhvr>
                                      <p:to>
                                        <p:strVal val="visible"/>
                                      </p:to>
                                    </p:set>
                                    <p:anim calcmode="lin" valueType="num">
                                      <p:cBhvr additive="base">
                                        <p:cTn id="10" dur="500" fill="hold"/>
                                        <p:tgtEl>
                                          <p:spTgt spid="71"/>
                                        </p:tgtEl>
                                        <p:attrNameLst>
                                          <p:attrName>ppt_x</p:attrName>
                                        </p:attrNameLst>
                                      </p:cBhvr>
                                      <p:tavLst>
                                        <p:tav tm="0">
                                          <p:val>
                                            <p:strVal val="1+#ppt_w/2"/>
                                          </p:val>
                                        </p:tav>
                                        <p:tav tm="100000">
                                          <p:val>
                                            <p:strVal val="#ppt_x"/>
                                          </p:val>
                                        </p:tav>
                                      </p:tavLst>
                                    </p:anim>
                                    <p:anim calcmode="lin" valueType="num">
                                      <p:cBhvr additive="base">
                                        <p:cTn id="11" dur="500" fill="hold"/>
                                        <p:tgtEl>
                                          <p:spTgt spid="71"/>
                                        </p:tgtEl>
                                        <p:attrNameLst>
                                          <p:attrName>ppt_y</p:attrName>
                                        </p:attrNameLst>
                                      </p:cBhvr>
                                      <p:tavLst>
                                        <p:tav tm="0">
                                          <p:val>
                                            <p:strVal val="0-#ppt_h/2"/>
                                          </p:val>
                                        </p:tav>
                                        <p:tav tm="100000">
                                          <p:val>
                                            <p:strVal val="#ppt_y"/>
                                          </p:val>
                                        </p:tav>
                                      </p:tavLst>
                                    </p:anim>
                                  </p:childTnLst>
                                </p:cTn>
                              </p:par>
                            </p:childTnLst>
                          </p:cTn>
                        </p:par>
                        <p:par>
                          <p:cTn id="12" fill="hold">
                            <p:stCondLst>
                              <p:cond delay="500"/>
                            </p:stCondLst>
                            <p:childTnLst>
                              <p:par>
                                <p:cTn id="13" presetID="31" presetClass="entr" presetSubtype="0" fill="hold" nodeType="afterEffect">
                                  <p:stCondLst>
                                    <p:cond delay="0"/>
                                  </p:stCondLst>
                                  <p:iterate type="lt">
                                    <p:tmPct val="5000"/>
                                  </p:iterate>
                                  <p:childTnLst>
                                    <p:set>
                                      <p:cBhvr>
                                        <p:cTn id="14" dur="1" fill="hold">
                                          <p:stCondLst>
                                            <p:cond delay="0"/>
                                          </p:stCondLst>
                                        </p:cTn>
                                        <p:tgtEl>
                                          <p:spTgt spid="76"/>
                                        </p:tgtEl>
                                        <p:attrNameLst>
                                          <p:attrName>style.visibility</p:attrName>
                                        </p:attrNameLst>
                                      </p:cBhvr>
                                      <p:to>
                                        <p:strVal val="visible"/>
                                      </p:to>
                                    </p:set>
                                    <p:anim calcmode="lin" valueType="num">
                                      <p:cBhvr>
                                        <p:cTn id="15" dur="1000" fill="hold"/>
                                        <p:tgtEl>
                                          <p:spTgt spid="76"/>
                                        </p:tgtEl>
                                        <p:attrNameLst>
                                          <p:attrName>ppt_w</p:attrName>
                                        </p:attrNameLst>
                                      </p:cBhvr>
                                      <p:tavLst>
                                        <p:tav tm="0">
                                          <p:val>
                                            <p:fltVal val="0"/>
                                          </p:val>
                                        </p:tav>
                                        <p:tav tm="100000">
                                          <p:val>
                                            <p:strVal val="#ppt_w"/>
                                          </p:val>
                                        </p:tav>
                                      </p:tavLst>
                                    </p:anim>
                                    <p:anim calcmode="lin" valueType="num">
                                      <p:cBhvr>
                                        <p:cTn id="16" dur="1000" fill="hold"/>
                                        <p:tgtEl>
                                          <p:spTgt spid="76"/>
                                        </p:tgtEl>
                                        <p:attrNameLst>
                                          <p:attrName>ppt_h</p:attrName>
                                        </p:attrNameLst>
                                      </p:cBhvr>
                                      <p:tavLst>
                                        <p:tav tm="0">
                                          <p:val>
                                            <p:fltVal val="0"/>
                                          </p:val>
                                        </p:tav>
                                        <p:tav tm="100000">
                                          <p:val>
                                            <p:strVal val="#ppt_h"/>
                                          </p:val>
                                        </p:tav>
                                      </p:tavLst>
                                    </p:anim>
                                    <p:anim calcmode="lin" valueType="num">
                                      <p:cBhvr>
                                        <p:cTn id="17" dur="1000" fill="hold"/>
                                        <p:tgtEl>
                                          <p:spTgt spid="76"/>
                                        </p:tgtEl>
                                        <p:attrNameLst>
                                          <p:attrName>style.rotation</p:attrName>
                                        </p:attrNameLst>
                                      </p:cBhvr>
                                      <p:tavLst>
                                        <p:tav tm="0">
                                          <p:val>
                                            <p:fltVal val="90"/>
                                          </p:val>
                                        </p:tav>
                                        <p:tav tm="100000">
                                          <p:val>
                                            <p:fltVal val="0"/>
                                          </p:val>
                                        </p:tav>
                                      </p:tavLst>
                                    </p:anim>
                                    <p:animEffect transition="in" filter="fade">
                                      <p:cBhvr>
                                        <p:cTn id="18" dur="1000"/>
                                        <p:tgtEl>
                                          <p:spTgt spid="76"/>
                                        </p:tgtEl>
                                      </p:cBhvr>
                                    </p:animEffect>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fill="hold"/>
                                        <p:tgtEl>
                                          <p:spTgt spid="31"/>
                                        </p:tgtEl>
                                        <p:attrNameLst>
                                          <p:attrName>ppt_x</p:attrName>
                                        </p:attrNameLst>
                                      </p:cBhvr>
                                      <p:tavLst>
                                        <p:tav tm="0">
                                          <p:val>
                                            <p:strVal val="0-#ppt_w/2"/>
                                          </p:val>
                                        </p:tav>
                                        <p:tav tm="100000">
                                          <p:val>
                                            <p:strVal val="#ppt_x"/>
                                          </p:val>
                                        </p:tav>
                                      </p:tavLst>
                                    </p:anim>
                                    <p:anim calcmode="lin" valueType="num">
                                      <p:cBhvr additive="base">
                                        <p:cTn id="23" dur="500" fill="hold"/>
                                        <p:tgtEl>
                                          <p:spTgt spid="31"/>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0-#ppt_w/2"/>
                                          </p:val>
                                        </p:tav>
                                        <p:tav tm="100000">
                                          <p:val>
                                            <p:strVal val="#ppt_x"/>
                                          </p:val>
                                        </p:tav>
                                      </p:tavLst>
                                    </p:anim>
                                    <p:anim calcmode="lin" valueType="num">
                                      <p:cBhvr additive="base">
                                        <p:cTn id="27" dur="500" fill="hold"/>
                                        <p:tgtEl>
                                          <p:spTgt spid="23"/>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37" presetClass="entr" presetSubtype="0" fill="hold" nodeType="after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1000"/>
                                        <p:tgtEl>
                                          <p:spTgt spid="29"/>
                                        </p:tgtEl>
                                      </p:cBhvr>
                                    </p:animEffect>
                                    <p:anim calcmode="lin" valueType="num">
                                      <p:cBhvr>
                                        <p:cTn id="32" dur="1000" fill="hold"/>
                                        <p:tgtEl>
                                          <p:spTgt spid="29"/>
                                        </p:tgtEl>
                                        <p:attrNameLst>
                                          <p:attrName>ppt_x</p:attrName>
                                        </p:attrNameLst>
                                      </p:cBhvr>
                                      <p:tavLst>
                                        <p:tav tm="0">
                                          <p:val>
                                            <p:strVal val="#ppt_x"/>
                                          </p:val>
                                        </p:tav>
                                        <p:tav tm="100000">
                                          <p:val>
                                            <p:strVal val="#ppt_x"/>
                                          </p:val>
                                        </p:tav>
                                      </p:tavLst>
                                    </p:anim>
                                    <p:anim calcmode="lin" valueType="num">
                                      <p:cBhvr>
                                        <p:cTn id="33" dur="900" decel="100000" fill="hold"/>
                                        <p:tgtEl>
                                          <p:spTgt spid="29"/>
                                        </p:tgtEl>
                                        <p:attrNameLst>
                                          <p:attrName>ppt_y</p:attrName>
                                        </p:attrNameLst>
                                      </p:cBhvr>
                                      <p:tavLst>
                                        <p:tav tm="0">
                                          <p:val>
                                            <p:strVal val="#ppt_y+1"/>
                                          </p:val>
                                        </p:tav>
                                        <p:tav tm="100000">
                                          <p:val>
                                            <p:strVal val="#ppt_y-.03"/>
                                          </p:val>
                                        </p:tav>
                                      </p:tavLst>
                                    </p:anim>
                                    <p:anim calcmode="lin" valueType="num">
                                      <p:cBhvr>
                                        <p:cTn id="34" dur="100" accel="100000" fill="hold">
                                          <p:stCondLst>
                                            <p:cond delay="900"/>
                                          </p:stCondLst>
                                        </p:cTn>
                                        <p:tgtEl>
                                          <p:spTgt spid="29"/>
                                        </p:tgtEl>
                                        <p:attrNameLst>
                                          <p:attrName>ppt_y</p:attrName>
                                        </p:attrNameLst>
                                      </p:cBhvr>
                                      <p:tavLst>
                                        <p:tav tm="0">
                                          <p:val>
                                            <p:strVal val="#ppt_y-.03"/>
                                          </p:val>
                                        </p:tav>
                                        <p:tav tm="100000">
                                          <p:val>
                                            <p:strVal val="#ppt_y"/>
                                          </p:val>
                                        </p:tav>
                                      </p:tavLst>
                                    </p:anim>
                                  </p:childTnLst>
                                </p:cTn>
                              </p:par>
                            </p:childTnLst>
                          </p:cTn>
                        </p:par>
                        <p:par>
                          <p:cTn id="35" fill="hold">
                            <p:stCondLst>
                              <p:cond delay="3000"/>
                            </p:stCondLst>
                            <p:childTnLst>
                              <p:par>
                                <p:cTn id="36" presetID="18" presetClass="entr" presetSubtype="6"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strips(downRight)">
                                      <p:cBhvr>
                                        <p:cTn id="38" dur="500"/>
                                        <p:tgtEl>
                                          <p:spTgt spid="48"/>
                                        </p:tgtEl>
                                      </p:cBhvr>
                                    </p:animEffect>
                                  </p:childTnLst>
                                </p:cTn>
                              </p:par>
                            </p:childTnLst>
                          </p:cTn>
                        </p:par>
                        <p:par>
                          <p:cTn id="39" fill="hold">
                            <p:stCondLst>
                              <p:cond delay="3500"/>
                            </p:stCondLst>
                            <p:childTnLst>
                              <p:par>
                                <p:cTn id="40" presetID="18" presetClass="entr" presetSubtype="6" fill="hold" nodeType="after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strips(downRight)">
                                      <p:cBhvr>
                                        <p:cTn id="42"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2541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1．ifconfig命令</a:t>
            </a:r>
          </a:p>
        </p:txBody>
      </p:sp>
      <p:grpSp>
        <p:nvGrpSpPr>
          <p:cNvPr id="48" name="组合 47"/>
          <p:cNvGrpSpPr/>
          <p:nvPr/>
        </p:nvGrpSpPr>
        <p:grpSpPr>
          <a:xfrm>
            <a:off x="441325" y="3921124"/>
            <a:ext cx="4854968" cy="2034980"/>
            <a:chOff x="13227" y="6981"/>
            <a:chExt cx="6016" cy="3291"/>
          </a:xfrm>
        </p:grpSpPr>
        <p:grpSp>
          <p:nvGrpSpPr>
            <p:cNvPr id="6" name="组合 14"/>
            <p:cNvGrpSpPr/>
            <p:nvPr/>
          </p:nvGrpSpPr>
          <p:grpSpPr bwMode="auto">
            <a:xfrm>
              <a:off x="13357" y="7586"/>
              <a:ext cx="5886" cy="2686"/>
              <a:chOff x="1166778" y="1762785"/>
              <a:chExt cx="11291787" cy="2035710"/>
            </a:xfrm>
          </p:grpSpPr>
          <p:grpSp>
            <p:nvGrpSpPr>
              <p:cNvPr id="50" name="组合 12"/>
              <p:cNvGrpSpPr/>
              <p:nvPr/>
            </p:nvGrpSpPr>
            <p:grpSpPr bwMode="auto">
              <a:xfrm>
                <a:off x="1166778" y="1762785"/>
                <a:ext cx="11291787" cy="2035710"/>
                <a:chOff x="1166778" y="1762785"/>
                <a:chExt cx="11291787" cy="2035710"/>
              </a:xfrm>
            </p:grpSpPr>
            <p:sp>
              <p:nvSpPr>
                <p:cNvPr id="51" name="矩形 50"/>
                <p:cNvSpPr/>
                <p:nvPr/>
              </p:nvSpPr>
              <p:spPr>
                <a:xfrm>
                  <a:off x="1166778" y="1786456"/>
                  <a:ext cx="11291787" cy="201203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2455861" y="1762785"/>
                  <a:ext cx="4380122" cy="56031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53" name="MH_Text_1"/>
              <p:cNvSpPr txBox="1">
                <a:spLocks noChangeArrowheads="1"/>
              </p:cNvSpPr>
              <p:nvPr>
                <p:custDataLst>
                  <p:tags r:id="rId3"/>
                </p:custDataLst>
              </p:nvPr>
            </p:nvSpPr>
            <p:spPr bwMode="auto">
              <a:xfrm>
                <a:off x="1198478" y="2350825"/>
                <a:ext cx="10776108" cy="1292247"/>
              </a:xfrm>
              <a:prstGeom prst="rect">
                <a:avLst/>
              </a:prstGeom>
              <a:solidFill>
                <a:srgbClr val="F2F2F2"/>
              </a:solidFill>
              <a:ln w="9525">
                <a:noFill/>
                <a:miter lim="800000"/>
              </a:ln>
            </p:spPr>
            <p:txBody>
              <a:bodyPr/>
              <a:lstStyle/>
              <a:p>
                <a:pPr indent="457200" eaLnBrk="1" latinLnBrk="0" hangingPunct="1">
                  <a:lnSpc>
                    <a:spcPct val="130000"/>
                  </a:lnSpc>
                </a:pPr>
                <a:r>
                  <a:rPr lang="zh-CN" altLang="en-US"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以上两条命令功能一致，后者用法简捷，使用较多。</a:t>
                </a:r>
              </a:p>
            </p:txBody>
          </p:sp>
        </p:grpSp>
        <p:pic>
          <p:nvPicPr>
            <p:cNvPr id="54" name="图片 4" descr="www.tuweimei.comComp_9747389_aloyhm04q205BMmtimdiv2o2HN82PIep.jpg"/>
            <p:cNvPicPr>
              <a:picLocks noGrp="1" noChangeAspect="1" noChangeArrowheads="1"/>
            </p:cNvPicPr>
            <p:nvPr/>
          </p:nvPicPr>
          <p:blipFill>
            <a:blip r:embed="rId5" cstate="print">
              <a:clrChange>
                <a:clrFrom>
                  <a:srgbClr val="FFFFFF"/>
                </a:clrFrom>
                <a:clrTo>
                  <a:srgbClr val="FFFFFF">
                    <a:alpha val="0"/>
                  </a:srgbClr>
                </a:clrTo>
              </a:clrChange>
            </a:blip>
            <a:srcRect/>
            <a:stretch>
              <a:fillRect/>
            </a:stretch>
          </p:blipFill>
          <p:spPr bwMode="auto">
            <a:xfrm>
              <a:off x="13227" y="6981"/>
              <a:ext cx="1095" cy="1508"/>
            </a:xfrm>
            <a:prstGeom prst="rect">
              <a:avLst/>
            </a:prstGeom>
            <a:noFill/>
            <a:ln w="9525">
              <a:noFill/>
              <a:miter lim="800000"/>
              <a:headEnd/>
              <a:tailEnd/>
            </a:ln>
          </p:spPr>
        </p:pic>
      </p:grpSp>
      <p:grpSp>
        <p:nvGrpSpPr>
          <p:cNvPr id="31" name="组合 30"/>
          <p:cNvGrpSpPr/>
          <p:nvPr/>
        </p:nvGrpSpPr>
        <p:grpSpPr>
          <a:xfrm>
            <a:off x="415290" y="2690495"/>
            <a:ext cx="4145622" cy="457200"/>
            <a:chOff x="1483" y="2724"/>
            <a:chExt cx="6478" cy="720"/>
          </a:xfrm>
        </p:grpSpPr>
        <p:sp>
          <p:nvSpPr>
            <p:cNvPr id="35"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ifconfig  网卡设备名  up</a:t>
              </a:r>
            </a:p>
          </p:txBody>
        </p:sp>
        <p:grpSp>
          <p:nvGrpSpPr>
            <p:cNvPr id="2" name="组合 1"/>
            <p:cNvGrpSpPr/>
            <p:nvPr/>
          </p:nvGrpSpPr>
          <p:grpSpPr>
            <a:xfrm>
              <a:off x="1483" y="2917"/>
              <a:ext cx="6067" cy="514"/>
              <a:chOff x="1483" y="2917"/>
              <a:chExt cx="6067" cy="514"/>
            </a:xfrm>
          </p:grpSpPr>
          <p:sp>
            <p:nvSpPr>
              <p:cNvPr id="37" name="燕尾形 36"/>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460957" y="1888897"/>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23" name="组合 22"/>
          <p:cNvGrpSpPr/>
          <p:nvPr/>
        </p:nvGrpSpPr>
        <p:grpSpPr>
          <a:xfrm>
            <a:off x="405130" y="3305175"/>
            <a:ext cx="4145622" cy="457200"/>
            <a:chOff x="1483" y="2724"/>
            <a:chExt cx="6478" cy="720"/>
          </a:xfrm>
        </p:grpSpPr>
        <p:sp>
          <p:nvSpPr>
            <p:cNvPr id="24"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en-US" altLang="zh-CN" sz="2000" b="1">
                  <a:solidFill>
                    <a:srgbClr val="0066FF"/>
                  </a:solidFill>
                  <a:latin typeface="微软雅黑" panose="020B0503020204020204" pitchFamily="34" charset="-122"/>
                  <a:ea typeface="微软雅黑" panose="020B0503020204020204" pitchFamily="34" charset="-122"/>
                  <a:sym typeface="+mn-ea"/>
                </a:rPr>
                <a:t> </a:t>
              </a:r>
              <a:r>
                <a:rPr lang="zh-CN" altLang="en-US" sz="2000" b="1">
                  <a:solidFill>
                    <a:srgbClr val="0066FF"/>
                  </a:solidFill>
                  <a:latin typeface="微软雅黑" panose="020B0503020204020204" pitchFamily="34" charset="-122"/>
                  <a:ea typeface="微软雅黑" panose="020B0503020204020204" pitchFamily="34" charset="-122"/>
                  <a:sym typeface="+mn-ea"/>
                </a:rPr>
                <a:t>或</a:t>
              </a:r>
              <a:r>
                <a:rPr lang="en-US" altLang="zh-CN" sz="2000" b="1">
                  <a:solidFill>
                    <a:srgbClr val="0066FF"/>
                  </a:solidFill>
                  <a:latin typeface="微软雅黑" panose="020B0503020204020204" pitchFamily="34" charset="-122"/>
                  <a:ea typeface="微软雅黑" panose="020B0503020204020204" pitchFamily="34" charset="-122"/>
                  <a:sym typeface="+mn-ea"/>
                </a:rPr>
                <a:t>    </a:t>
              </a:r>
              <a:r>
                <a:rPr lang="zh-CN" altLang="en-US" sz="2000" b="1">
                  <a:solidFill>
                    <a:srgbClr val="0066FF"/>
                  </a:solidFill>
                  <a:latin typeface="微软雅黑" panose="020B0503020204020204" pitchFamily="34" charset="-122"/>
                  <a:ea typeface="微软雅黑" panose="020B0503020204020204" pitchFamily="34" charset="-122"/>
                  <a:sym typeface="+mn-ea"/>
                </a:rPr>
                <a:t>ifup  网卡设备名</a:t>
              </a:r>
            </a:p>
          </p:txBody>
        </p:sp>
        <p:grpSp>
          <p:nvGrpSpPr>
            <p:cNvPr id="25" name="组合 24"/>
            <p:cNvGrpSpPr/>
            <p:nvPr/>
          </p:nvGrpSpPr>
          <p:grpSpPr>
            <a:xfrm>
              <a:off x="1483" y="2917"/>
              <a:ext cx="6067" cy="514"/>
              <a:chOff x="1483" y="2917"/>
              <a:chExt cx="6067" cy="514"/>
            </a:xfrm>
          </p:grpSpPr>
          <p:sp>
            <p:nvSpPr>
              <p:cNvPr id="26" name="燕尾形 25"/>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7" name="燕尾形 26"/>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8" name="直接连接符 27"/>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3" name="组合 2"/>
          <p:cNvGrpSpPr/>
          <p:nvPr/>
        </p:nvGrpSpPr>
        <p:grpSpPr>
          <a:xfrm>
            <a:off x="3344545" y="1177290"/>
            <a:ext cx="3429000" cy="748665"/>
            <a:chOff x="5466414" y="1311371"/>
            <a:chExt cx="4840044" cy="919865"/>
          </a:xfrm>
        </p:grpSpPr>
        <p:sp>
          <p:nvSpPr>
            <p:cNvPr id="4" name="TextBox 71"/>
            <p:cNvSpPr txBox="1"/>
            <p:nvPr/>
          </p:nvSpPr>
          <p:spPr>
            <a:xfrm>
              <a:off x="5551403" y="1311371"/>
              <a:ext cx="4755055" cy="841398"/>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400" b="1" dirty="0">
                  <a:solidFill>
                    <a:schemeClr val="tx1">
                      <a:lumMod val="65000"/>
                      <a:lumOff val="35000"/>
                    </a:schemeClr>
                  </a:solidFill>
                  <a:latin typeface="微软雅黑" panose="020B0503020204020204" pitchFamily="34" charset="-122"/>
                  <a:ea typeface="微软雅黑" panose="020B0503020204020204" pitchFamily="34" charset="-122"/>
                </a:rPr>
                <a:t>4</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4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重新启用网卡</a:t>
              </a:r>
              <a:endParaRPr lang="zh-CN" altLang="zh-CN" sz="20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endParaRPr>
            </a:p>
          </p:txBody>
        </p:sp>
        <p:cxnSp>
          <p:nvCxnSpPr>
            <p:cNvPr id="5" name="直接连接符 4"/>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流程图: 联系 6"/>
            <p:cNvSpPr/>
            <p:nvPr/>
          </p:nvSpPr>
          <p:spPr>
            <a:xfrm>
              <a:off x="5466414" y="206164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8" name="直接连接符 7"/>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9" name="组合 8"/>
          <p:cNvGrpSpPr/>
          <p:nvPr/>
        </p:nvGrpSpPr>
        <p:grpSpPr>
          <a:xfrm>
            <a:off x="5903595" y="4086225"/>
            <a:ext cx="5167630" cy="1807845"/>
            <a:chOff x="2005" y="6905"/>
            <a:chExt cx="8138" cy="2847"/>
          </a:xfrm>
        </p:grpSpPr>
        <p:grpSp>
          <p:nvGrpSpPr>
            <p:cNvPr id="10" name="组合 9"/>
            <p:cNvGrpSpPr/>
            <p:nvPr/>
          </p:nvGrpSpPr>
          <p:grpSpPr>
            <a:xfrm>
              <a:off x="2005" y="6905"/>
              <a:ext cx="8138" cy="2847"/>
              <a:chOff x="2107" y="8164"/>
              <a:chExt cx="8014" cy="1749"/>
            </a:xfrm>
          </p:grpSpPr>
          <p:grpSp>
            <p:nvGrpSpPr>
              <p:cNvPr id="11" name="组合 12"/>
              <p:cNvGrpSpPr/>
              <p:nvPr/>
            </p:nvGrpSpPr>
            <p:grpSpPr bwMode="auto">
              <a:xfrm>
                <a:off x="2107" y="8164"/>
                <a:ext cx="8014" cy="1749"/>
                <a:chOff x="1065937" y="1455151"/>
                <a:chExt cx="6697948" cy="2263093"/>
              </a:xfrm>
            </p:grpSpPr>
            <p:sp>
              <p:nvSpPr>
                <p:cNvPr id="12" name="矩形 11"/>
                <p:cNvSpPr/>
                <p:nvPr/>
              </p:nvSpPr>
              <p:spPr>
                <a:xfrm>
                  <a:off x="1196801" y="1455151"/>
                  <a:ext cx="6280663"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3" name="矩形 6"/>
                <p:cNvSpPr>
                  <a:spLocks noChangeArrowheads="1"/>
                </p:cNvSpPr>
                <p:nvPr/>
              </p:nvSpPr>
              <p:spPr bwMode="auto">
                <a:xfrm>
                  <a:off x="1065937" y="1455151"/>
                  <a:ext cx="6697948" cy="57233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7</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a:solidFill>
                        <a:srgbClr val="FF0000"/>
                      </a:solidFill>
                      <a:latin typeface="微软雅黑" panose="020B0503020204020204" pitchFamily="34" charset="-122"/>
                      <a:ea typeface="微软雅黑" panose="020B0503020204020204" pitchFamily="34" charset="-122"/>
                      <a:cs typeface="华康俪金黑W8(P)"/>
                    </a:rPr>
                    <a:t>4</a:t>
                  </a:r>
                  <a:r>
                    <a:rPr lang="zh-CN" altLang="en-US" sz="20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若要启用eth0网卡，则实现命令为：</a:t>
                  </a:r>
                </a:p>
              </p:txBody>
            </p:sp>
          </p:grpSp>
          <p:sp>
            <p:nvSpPr>
              <p:cNvPr id="15" name="MH_Text_1"/>
              <p:cNvSpPr txBox="1">
                <a:spLocks noChangeArrowheads="1"/>
              </p:cNvSpPr>
              <p:nvPr>
                <p:custDataLst>
                  <p:tags r:id="rId2"/>
                </p:custDataLst>
              </p:nvPr>
            </p:nvSpPr>
            <p:spPr bwMode="auto">
              <a:xfrm>
                <a:off x="2332" y="8621"/>
                <a:ext cx="7374" cy="42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[root@localhost  ~]# ifconfig eth0 up </a:t>
                </a:r>
              </a:p>
            </p:txBody>
          </p:sp>
        </p:grpSp>
        <p:grpSp>
          <p:nvGrpSpPr>
            <p:cNvPr id="32" name="组合 31"/>
            <p:cNvGrpSpPr/>
            <p:nvPr/>
          </p:nvGrpSpPr>
          <p:grpSpPr>
            <a:xfrm>
              <a:off x="2360" y="8239"/>
              <a:ext cx="7363" cy="1314"/>
              <a:chOff x="2360" y="8239"/>
              <a:chExt cx="7363" cy="1314"/>
            </a:xfrm>
          </p:grpSpPr>
          <p:sp>
            <p:nvSpPr>
              <p:cNvPr id="34" name="MH_Text_1"/>
              <p:cNvSpPr txBox="1">
                <a:spLocks noChangeArrowheads="1"/>
              </p:cNvSpPr>
              <p:nvPr>
                <p:custDataLst>
                  <p:tags r:id="rId1"/>
                </p:custDataLst>
              </p:nvPr>
            </p:nvSpPr>
            <p:spPr bwMode="auto">
              <a:xfrm>
                <a:off x="2360" y="8863"/>
                <a:ext cx="7363" cy="69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[root@localhost  ~]# ifup eth0 </a:t>
                </a:r>
              </a:p>
            </p:txBody>
          </p:sp>
          <p:sp>
            <p:nvSpPr>
              <p:cNvPr id="36" name="矩形 6"/>
              <p:cNvSpPr>
                <a:spLocks noChangeArrowheads="1"/>
              </p:cNvSpPr>
              <p:nvPr/>
            </p:nvSpPr>
            <p:spPr bwMode="auto">
              <a:xfrm>
                <a:off x="2544" y="8239"/>
                <a:ext cx="7178"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009900"/>
                    </a:solidFill>
                    <a:latin typeface="微软雅黑" panose="020B0503020204020204" pitchFamily="34" charset="-122"/>
                    <a:ea typeface="微软雅黑" panose="020B0503020204020204" pitchFamily="34" charset="-122"/>
                    <a:cs typeface="华康俪金黑W8(P)"/>
                  </a:rPr>
                  <a:t>或</a:t>
                </a:r>
              </a:p>
            </p:txBody>
          </p:sp>
        </p:grpSp>
      </p:grpSp>
      <p:pic>
        <p:nvPicPr>
          <p:cNvPr id="40" name="图片 39" descr="0032017558161674_b"/>
          <p:cNvPicPr>
            <a:picLocks noChangeAspect="1"/>
          </p:cNvPicPr>
          <p:nvPr/>
        </p:nvPicPr>
        <p:blipFill>
          <a:blip r:embed="rId6" cstate="print"/>
          <a:stretch>
            <a:fillRect/>
          </a:stretch>
        </p:blipFill>
        <p:spPr>
          <a:xfrm>
            <a:off x="7695491" y="1181100"/>
            <a:ext cx="2811853" cy="2705735"/>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par>
                                <p:cTn id="8" presetID="2" presetClass="entr" presetSubtype="3"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 calcmode="lin" valueType="num">
                                      <p:cBhvr additive="base">
                                        <p:cTn id="10" dur="500" fill="hold"/>
                                        <p:tgtEl>
                                          <p:spTgt spid="3"/>
                                        </p:tgtEl>
                                        <p:attrNameLst>
                                          <p:attrName>ppt_x</p:attrName>
                                        </p:attrNameLst>
                                      </p:cBhvr>
                                      <p:tavLst>
                                        <p:tav tm="0">
                                          <p:val>
                                            <p:strVal val="1+#ppt_w/2"/>
                                          </p:val>
                                        </p:tav>
                                        <p:tav tm="100000">
                                          <p:val>
                                            <p:strVal val="#ppt_x"/>
                                          </p:val>
                                        </p:tav>
                                      </p:tavLst>
                                    </p:anim>
                                    <p:anim calcmode="lin" valueType="num">
                                      <p:cBhvr additive="base">
                                        <p:cTn id="11" dur="500" fill="hold"/>
                                        <p:tgtEl>
                                          <p:spTgt spid="3"/>
                                        </p:tgtEl>
                                        <p:attrNameLst>
                                          <p:attrName>ppt_y</p:attrName>
                                        </p:attrNameLst>
                                      </p:cBhvr>
                                      <p:tavLst>
                                        <p:tav tm="0">
                                          <p:val>
                                            <p:strVal val="0-#ppt_h/2"/>
                                          </p:val>
                                        </p:tav>
                                        <p:tav tm="100000">
                                          <p:val>
                                            <p:strVal val="#ppt_y"/>
                                          </p:val>
                                        </p:tav>
                                      </p:tavLst>
                                    </p:anim>
                                  </p:childTnLst>
                                </p:cTn>
                              </p:par>
                            </p:childTnLst>
                          </p:cTn>
                        </p:par>
                        <p:par>
                          <p:cTn id="12" fill="hold">
                            <p:stCondLst>
                              <p:cond delay="500"/>
                            </p:stCondLst>
                            <p:childTnLst>
                              <p:par>
                                <p:cTn id="13" presetID="31" presetClass="entr" presetSubtype="0" fill="hold" nodeType="afterEffect">
                                  <p:stCondLst>
                                    <p:cond delay="0"/>
                                  </p:stCondLst>
                                  <p:iterate type="lt">
                                    <p:tmPct val="5000"/>
                                  </p:iterate>
                                  <p:childTnLst>
                                    <p:set>
                                      <p:cBhvr>
                                        <p:cTn id="14" dur="1" fill="hold">
                                          <p:stCondLst>
                                            <p:cond delay="0"/>
                                          </p:stCondLst>
                                        </p:cTn>
                                        <p:tgtEl>
                                          <p:spTgt spid="76"/>
                                        </p:tgtEl>
                                        <p:attrNameLst>
                                          <p:attrName>style.visibility</p:attrName>
                                        </p:attrNameLst>
                                      </p:cBhvr>
                                      <p:to>
                                        <p:strVal val="visible"/>
                                      </p:to>
                                    </p:set>
                                    <p:anim calcmode="lin" valueType="num">
                                      <p:cBhvr>
                                        <p:cTn id="15" dur="1000" fill="hold"/>
                                        <p:tgtEl>
                                          <p:spTgt spid="76"/>
                                        </p:tgtEl>
                                        <p:attrNameLst>
                                          <p:attrName>ppt_w</p:attrName>
                                        </p:attrNameLst>
                                      </p:cBhvr>
                                      <p:tavLst>
                                        <p:tav tm="0">
                                          <p:val>
                                            <p:fltVal val="0"/>
                                          </p:val>
                                        </p:tav>
                                        <p:tav tm="100000">
                                          <p:val>
                                            <p:strVal val="#ppt_w"/>
                                          </p:val>
                                        </p:tav>
                                      </p:tavLst>
                                    </p:anim>
                                    <p:anim calcmode="lin" valueType="num">
                                      <p:cBhvr>
                                        <p:cTn id="16" dur="1000" fill="hold"/>
                                        <p:tgtEl>
                                          <p:spTgt spid="76"/>
                                        </p:tgtEl>
                                        <p:attrNameLst>
                                          <p:attrName>ppt_h</p:attrName>
                                        </p:attrNameLst>
                                      </p:cBhvr>
                                      <p:tavLst>
                                        <p:tav tm="0">
                                          <p:val>
                                            <p:fltVal val="0"/>
                                          </p:val>
                                        </p:tav>
                                        <p:tav tm="100000">
                                          <p:val>
                                            <p:strVal val="#ppt_h"/>
                                          </p:val>
                                        </p:tav>
                                      </p:tavLst>
                                    </p:anim>
                                    <p:anim calcmode="lin" valueType="num">
                                      <p:cBhvr>
                                        <p:cTn id="17" dur="1000" fill="hold"/>
                                        <p:tgtEl>
                                          <p:spTgt spid="76"/>
                                        </p:tgtEl>
                                        <p:attrNameLst>
                                          <p:attrName>style.rotation</p:attrName>
                                        </p:attrNameLst>
                                      </p:cBhvr>
                                      <p:tavLst>
                                        <p:tav tm="0">
                                          <p:val>
                                            <p:fltVal val="90"/>
                                          </p:val>
                                        </p:tav>
                                        <p:tav tm="100000">
                                          <p:val>
                                            <p:fltVal val="0"/>
                                          </p:val>
                                        </p:tav>
                                      </p:tavLst>
                                    </p:anim>
                                    <p:animEffect transition="in" filter="fade">
                                      <p:cBhvr>
                                        <p:cTn id="18" dur="1000"/>
                                        <p:tgtEl>
                                          <p:spTgt spid="76"/>
                                        </p:tgtEl>
                                      </p:cBhvr>
                                    </p:animEffect>
                                  </p:childTnLst>
                                </p:cTn>
                              </p:par>
                            </p:childTnLst>
                          </p:cTn>
                        </p:par>
                        <p:par>
                          <p:cTn id="19" fill="hold">
                            <p:stCondLst>
                              <p:cond delay="1500"/>
                            </p:stCondLst>
                            <p:childTnLst>
                              <p:par>
                                <p:cTn id="20" presetID="2" presetClass="entr" presetSubtype="8" fill="hold" nodeType="afterEffect">
                                  <p:stCondLst>
                                    <p:cond delay="0"/>
                                  </p:stCondLst>
                                  <p:childTnLst>
                                    <p:set>
                                      <p:cBhvr>
                                        <p:cTn id="21" dur="1" fill="hold">
                                          <p:stCondLst>
                                            <p:cond delay="0"/>
                                          </p:stCondLst>
                                        </p:cTn>
                                        <p:tgtEl>
                                          <p:spTgt spid="31"/>
                                        </p:tgtEl>
                                        <p:attrNameLst>
                                          <p:attrName>style.visibility</p:attrName>
                                        </p:attrNameLst>
                                      </p:cBhvr>
                                      <p:to>
                                        <p:strVal val="visible"/>
                                      </p:to>
                                    </p:set>
                                    <p:anim calcmode="lin" valueType="num">
                                      <p:cBhvr additive="base">
                                        <p:cTn id="22" dur="500" fill="hold"/>
                                        <p:tgtEl>
                                          <p:spTgt spid="31"/>
                                        </p:tgtEl>
                                        <p:attrNameLst>
                                          <p:attrName>ppt_x</p:attrName>
                                        </p:attrNameLst>
                                      </p:cBhvr>
                                      <p:tavLst>
                                        <p:tav tm="0">
                                          <p:val>
                                            <p:strVal val="0-#ppt_w/2"/>
                                          </p:val>
                                        </p:tav>
                                        <p:tav tm="100000">
                                          <p:val>
                                            <p:strVal val="#ppt_x"/>
                                          </p:val>
                                        </p:tav>
                                      </p:tavLst>
                                    </p:anim>
                                    <p:anim calcmode="lin" valueType="num">
                                      <p:cBhvr additive="base">
                                        <p:cTn id="23" dur="500" fill="hold"/>
                                        <p:tgtEl>
                                          <p:spTgt spid="31"/>
                                        </p:tgtEl>
                                        <p:attrNameLst>
                                          <p:attrName>ppt_y</p:attrName>
                                        </p:attrNameLst>
                                      </p:cBhvr>
                                      <p:tavLst>
                                        <p:tav tm="0">
                                          <p:val>
                                            <p:strVal val="#ppt_y"/>
                                          </p:val>
                                        </p:tav>
                                        <p:tav tm="100000">
                                          <p:val>
                                            <p:strVal val="#ppt_y"/>
                                          </p:val>
                                        </p:tav>
                                      </p:tavLst>
                                    </p:anim>
                                  </p:childTnLst>
                                </p:cTn>
                              </p:par>
                              <p:par>
                                <p:cTn id="24" presetID="2" presetClass="entr" presetSubtype="8" fill="hold" nodeType="withEffect">
                                  <p:stCondLst>
                                    <p:cond delay="0"/>
                                  </p:st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fill="hold"/>
                                        <p:tgtEl>
                                          <p:spTgt spid="23"/>
                                        </p:tgtEl>
                                        <p:attrNameLst>
                                          <p:attrName>ppt_x</p:attrName>
                                        </p:attrNameLst>
                                      </p:cBhvr>
                                      <p:tavLst>
                                        <p:tav tm="0">
                                          <p:val>
                                            <p:strVal val="0-#ppt_w/2"/>
                                          </p:val>
                                        </p:tav>
                                        <p:tav tm="100000">
                                          <p:val>
                                            <p:strVal val="#ppt_x"/>
                                          </p:val>
                                        </p:tav>
                                      </p:tavLst>
                                    </p:anim>
                                    <p:anim calcmode="lin" valueType="num">
                                      <p:cBhvr additive="base">
                                        <p:cTn id="27" dur="500" fill="hold"/>
                                        <p:tgtEl>
                                          <p:spTgt spid="23"/>
                                        </p:tgtEl>
                                        <p:attrNameLst>
                                          <p:attrName>ppt_y</p:attrName>
                                        </p:attrNameLst>
                                      </p:cBhvr>
                                      <p:tavLst>
                                        <p:tav tm="0">
                                          <p:val>
                                            <p:strVal val="#ppt_y"/>
                                          </p:val>
                                        </p:tav>
                                        <p:tav tm="100000">
                                          <p:val>
                                            <p:strVal val="#ppt_y"/>
                                          </p:val>
                                        </p:tav>
                                      </p:tavLst>
                                    </p:anim>
                                  </p:childTnLst>
                                </p:cTn>
                              </p:par>
                            </p:childTnLst>
                          </p:cTn>
                        </p:par>
                        <p:par>
                          <p:cTn id="28" fill="hold">
                            <p:stCondLst>
                              <p:cond delay="2000"/>
                            </p:stCondLst>
                            <p:childTnLst>
                              <p:par>
                                <p:cTn id="29" presetID="2" presetClass="entr" presetSubtype="2" fill="hold" nodeType="afterEffect">
                                  <p:stCondLst>
                                    <p:cond delay="0"/>
                                  </p:stCondLst>
                                  <p:childTnLst>
                                    <p:set>
                                      <p:cBhvr>
                                        <p:cTn id="30" dur="1" fill="hold">
                                          <p:stCondLst>
                                            <p:cond delay="0"/>
                                          </p:stCondLst>
                                        </p:cTn>
                                        <p:tgtEl>
                                          <p:spTgt spid="40"/>
                                        </p:tgtEl>
                                        <p:attrNameLst>
                                          <p:attrName>style.visibility</p:attrName>
                                        </p:attrNameLst>
                                      </p:cBhvr>
                                      <p:to>
                                        <p:strVal val="visible"/>
                                      </p:to>
                                    </p:set>
                                    <p:anim calcmode="lin" valueType="num">
                                      <p:cBhvr additive="base">
                                        <p:cTn id="31" dur="500" fill="hold"/>
                                        <p:tgtEl>
                                          <p:spTgt spid="40"/>
                                        </p:tgtEl>
                                        <p:attrNameLst>
                                          <p:attrName>ppt_x</p:attrName>
                                        </p:attrNameLst>
                                      </p:cBhvr>
                                      <p:tavLst>
                                        <p:tav tm="0">
                                          <p:val>
                                            <p:strVal val="1+#ppt_w/2"/>
                                          </p:val>
                                        </p:tav>
                                        <p:tav tm="100000">
                                          <p:val>
                                            <p:strVal val="#ppt_x"/>
                                          </p:val>
                                        </p:tav>
                                      </p:tavLst>
                                    </p:anim>
                                    <p:anim calcmode="lin" valueType="num">
                                      <p:cBhvr additive="base">
                                        <p:cTn id="32" dur="500" fill="hold"/>
                                        <p:tgtEl>
                                          <p:spTgt spid="40"/>
                                        </p:tgtEl>
                                        <p:attrNameLst>
                                          <p:attrName>ppt_y</p:attrName>
                                        </p:attrNameLst>
                                      </p:cBhvr>
                                      <p:tavLst>
                                        <p:tav tm="0">
                                          <p:val>
                                            <p:strVal val="#ppt_y"/>
                                          </p:val>
                                        </p:tav>
                                        <p:tav tm="100000">
                                          <p:val>
                                            <p:strVal val="#ppt_y"/>
                                          </p:val>
                                        </p:tav>
                                      </p:tavLst>
                                    </p:anim>
                                  </p:childTnLst>
                                </p:cTn>
                              </p:par>
                            </p:childTnLst>
                          </p:cTn>
                        </p:par>
                        <p:par>
                          <p:cTn id="33" fill="hold">
                            <p:stCondLst>
                              <p:cond delay="2500"/>
                            </p:stCondLst>
                            <p:childTnLst>
                              <p:par>
                                <p:cTn id="34" presetID="18" presetClass="entr" presetSubtype="6" fill="hold" nodeType="after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strips(downRight)">
                                      <p:cBhvr>
                                        <p:cTn id="36" dur="500"/>
                                        <p:tgtEl>
                                          <p:spTgt spid="48"/>
                                        </p:tgtEl>
                                      </p:cBhvr>
                                    </p:animEffect>
                                  </p:childTnLst>
                                </p:cTn>
                              </p:par>
                            </p:childTnLst>
                          </p:cTn>
                        </p:par>
                        <p:par>
                          <p:cTn id="37" fill="hold">
                            <p:stCondLst>
                              <p:cond delay="3000"/>
                            </p:stCondLst>
                            <p:childTnLst>
                              <p:par>
                                <p:cTn id="38" presetID="18" presetClass="entr" presetSubtype="6" fill="hold" nodeType="afterEffect">
                                  <p:stCondLst>
                                    <p:cond delay="0"/>
                                  </p:stCondLst>
                                  <p:childTnLst>
                                    <p:set>
                                      <p:cBhvr>
                                        <p:cTn id="39" dur="1" fill="hold">
                                          <p:stCondLst>
                                            <p:cond delay="0"/>
                                          </p:stCondLst>
                                        </p:cTn>
                                        <p:tgtEl>
                                          <p:spTgt spid="9"/>
                                        </p:tgtEl>
                                        <p:attrNameLst>
                                          <p:attrName>style.visibility</p:attrName>
                                        </p:attrNameLst>
                                      </p:cBhvr>
                                      <p:to>
                                        <p:strVal val="visible"/>
                                      </p:to>
                                    </p:set>
                                    <p:animEffect transition="in" filter="strips(downRight)">
                                      <p:cBhvr>
                                        <p:cTn id="4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2541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2．netconfig命令</a:t>
            </a:r>
          </a:p>
        </p:txBody>
      </p:sp>
      <p:grpSp>
        <p:nvGrpSpPr>
          <p:cNvPr id="22" name="组合 21"/>
          <p:cNvGrpSpPr/>
          <p:nvPr/>
        </p:nvGrpSpPr>
        <p:grpSpPr>
          <a:xfrm>
            <a:off x="855978" y="4352290"/>
            <a:ext cx="10248900" cy="1381760"/>
            <a:chOff x="2153" y="6905"/>
            <a:chExt cx="11978" cy="2847"/>
          </a:xfrm>
        </p:grpSpPr>
        <p:grpSp>
          <p:nvGrpSpPr>
            <p:cNvPr id="16" name="组合 12"/>
            <p:cNvGrpSpPr/>
            <p:nvPr/>
          </p:nvGrpSpPr>
          <p:grpSpPr bwMode="auto">
            <a:xfrm>
              <a:off x="2153" y="6905"/>
              <a:ext cx="11978" cy="2847"/>
              <a:chOff x="1188097" y="1455151"/>
              <a:chExt cx="9858444" cy="2263093"/>
            </a:xfrm>
          </p:grpSpPr>
          <p:sp>
            <p:nvSpPr>
              <p:cNvPr id="17" name="矩形 16"/>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0" name="矩形 6"/>
              <p:cNvSpPr>
                <a:spLocks noChangeArrowheads="1"/>
              </p:cNvSpPr>
              <p:nvPr/>
            </p:nvSpPr>
            <p:spPr bwMode="auto">
              <a:xfrm>
                <a:off x="1188097" y="1455278"/>
                <a:ext cx="9858444" cy="128755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【例</a:t>
                </a:r>
                <a:r>
                  <a:rPr lang="en-US" altLang="zh-CN" sz="2000" b="1" dirty="0">
                    <a:solidFill>
                      <a:srgbClr val="FF0000"/>
                    </a:solidFill>
                    <a:latin typeface="微软雅黑" panose="020B0503020204020204" pitchFamily="34" charset="-122"/>
                    <a:ea typeface="微软雅黑" panose="020B0503020204020204" pitchFamily="34" charset="-122"/>
                    <a:cs typeface="华康俪金黑W8(P)"/>
                  </a:rPr>
                  <a:t>7</a:t>
                </a: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a:t>
                </a:r>
                <a:r>
                  <a:rPr lang="en-US" altLang="zh-CN" sz="2000" b="1" dirty="0">
                    <a:solidFill>
                      <a:srgbClr val="FF0000"/>
                    </a:solidFill>
                    <a:latin typeface="微软雅黑" panose="020B0503020204020204" pitchFamily="34" charset="-122"/>
                    <a:ea typeface="微软雅黑" panose="020B0503020204020204" pitchFamily="34" charset="-122"/>
                    <a:cs typeface="华康俪金黑W8(P)"/>
                  </a:rPr>
                  <a:t>5</a:t>
                </a: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使用netconfig命令以对话框方式为eth0网卡配置ip地址为192.168.3.3，子网掩码为255.255.255.0，网关为192.168.3.1，DNS1为8.8.8.8，DNS2为8.8.4.4。操作命令如下：</a:t>
                </a:r>
              </a:p>
            </p:txBody>
          </p:sp>
        </p:grpSp>
        <p:sp>
          <p:nvSpPr>
            <p:cNvPr id="19" name="MH_Text_1"/>
            <p:cNvSpPr txBox="1">
              <a:spLocks noChangeArrowheads="1"/>
            </p:cNvSpPr>
            <p:nvPr>
              <p:custDataLst>
                <p:tags r:id="rId1"/>
              </p:custDataLst>
            </p:nvPr>
          </p:nvSpPr>
          <p:spPr bwMode="auto">
            <a:xfrm>
              <a:off x="2262" y="8501"/>
              <a:ext cx="11589" cy="1095"/>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netconfig --device eth0 </a:t>
              </a:r>
            </a:p>
          </p:txBody>
        </p:sp>
      </p:grpSp>
      <p:sp>
        <p:nvSpPr>
          <p:cNvPr id="24" name="矩形 23"/>
          <p:cNvSpPr/>
          <p:nvPr/>
        </p:nvSpPr>
        <p:spPr>
          <a:xfrm>
            <a:off x="868045" y="5744845"/>
            <a:ext cx="6052820" cy="548640"/>
          </a:xfrm>
          <a:prstGeom prst="rect">
            <a:avLst/>
          </a:prstGeom>
        </p:spPr>
        <p:txBody>
          <a:bodyPr wrap="square">
            <a:spAutoFit/>
          </a:bodyPr>
          <a:lstStyle/>
          <a:p>
            <a:pPr indent="457200">
              <a:lnSpc>
                <a:spcPct val="150000"/>
              </a:lnSpc>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sym typeface="+mn-ea"/>
              </a:rPr>
              <a:t>设置eth0网卡ip地址，此时的--device可以省略。</a:t>
            </a:r>
          </a:p>
        </p:txBody>
      </p:sp>
      <p:grpSp>
        <p:nvGrpSpPr>
          <p:cNvPr id="31" name="组合 30"/>
          <p:cNvGrpSpPr/>
          <p:nvPr/>
        </p:nvGrpSpPr>
        <p:grpSpPr>
          <a:xfrm>
            <a:off x="2061210" y="3666490"/>
            <a:ext cx="4145622" cy="457200"/>
            <a:chOff x="1483" y="2724"/>
            <a:chExt cx="6478" cy="720"/>
          </a:xfrm>
        </p:grpSpPr>
        <p:sp>
          <p:nvSpPr>
            <p:cNvPr id="35"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ifconfig  网卡设备名  down</a:t>
              </a:r>
            </a:p>
          </p:txBody>
        </p:sp>
        <p:grpSp>
          <p:nvGrpSpPr>
            <p:cNvPr id="3" name="组合 2"/>
            <p:cNvGrpSpPr/>
            <p:nvPr/>
          </p:nvGrpSpPr>
          <p:grpSpPr>
            <a:xfrm>
              <a:off x="1483" y="2917"/>
              <a:ext cx="6067" cy="514"/>
              <a:chOff x="1483" y="2917"/>
              <a:chExt cx="6067" cy="514"/>
            </a:xfrm>
          </p:grpSpPr>
          <p:sp>
            <p:nvSpPr>
              <p:cNvPr id="37" name="燕尾形 36"/>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539062" y="3590062"/>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sp>
        <p:nvSpPr>
          <p:cNvPr id="7" name="矩形 6"/>
          <p:cNvSpPr/>
          <p:nvPr/>
        </p:nvSpPr>
        <p:spPr>
          <a:xfrm>
            <a:off x="547370" y="1981835"/>
            <a:ext cx="11066145" cy="1516380"/>
          </a:xfrm>
          <a:prstGeom prst="rect">
            <a:avLst/>
          </a:prstGeom>
        </p:spPr>
        <p:txBody>
          <a:bodyPr wrap="square">
            <a:spAutoFit/>
          </a:bodyPr>
          <a:lstStyle/>
          <a:p>
            <a:pPr indent="457200">
              <a:lnSpc>
                <a:spcPct val="130000"/>
              </a:lnSpc>
            </a:pPr>
            <a:r>
              <a:rPr lang="zh-CN" altLang="en-US" sz="1800" dirty="0">
                <a:latin typeface="微软雅黑" panose="020B0503020204020204" pitchFamily="34" charset="-122"/>
                <a:ea typeface="微软雅黑" panose="020B0503020204020204" pitchFamily="34" charset="-122"/>
              </a:rPr>
              <a:t>netconfig命令以对话框的方式，配置一个永久ip地址、网关及DNS服务器信息。RHEL7.2默认安装好之后是没有自动开启网络连接的。通过netconfig命令设置的ip信息会直接写到</a:t>
            </a:r>
            <a:r>
              <a:rPr lang="zh-CN" altLang="en-US" sz="1800" b="1" dirty="0">
                <a:solidFill>
                  <a:srgbClr val="0070C0"/>
                </a:solidFill>
                <a:latin typeface="微软雅黑" panose="020B0503020204020204" pitchFamily="34" charset="-122"/>
                <a:ea typeface="微软雅黑" panose="020B0503020204020204" pitchFamily="34" charset="-122"/>
              </a:rPr>
              <a:t>网卡配置文件</a:t>
            </a:r>
            <a:r>
              <a:rPr lang="zh-CN" altLang="en-US" sz="1800" dirty="0">
                <a:latin typeface="微软雅黑" panose="020B0503020204020204" pitchFamily="34" charset="-122"/>
                <a:ea typeface="微软雅黑" panose="020B0503020204020204" pitchFamily="34" charset="-122"/>
              </a:rPr>
              <a:t>（/etc/sysconfig/network-scripts/ifcfg-eth0）和</a:t>
            </a:r>
            <a:r>
              <a:rPr lang="zh-CN" altLang="en-US" sz="1800" b="1" dirty="0">
                <a:solidFill>
                  <a:srgbClr val="0070C0"/>
                </a:solidFill>
                <a:latin typeface="微软雅黑" panose="020B0503020204020204" pitchFamily="34" charset="-122"/>
                <a:ea typeface="微软雅黑" panose="020B0503020204020204" pitchFamily="34" charset="-122"/>
              </a:rPr>
              <a:t>DNS客户端配置文件</a:t>
            </a:r>
            <a:r>
              <a:rPr lang="zh-CN" altLang="en-US" sz="1800" dirty="0">
                <a:latin typeface="微软雅黑" panose="020B0503020204020204" pitchFamily="34" charset="-122"/>
                <a:ea typeface="微软雅黑" panose="020B0503020204020204" pitchFamily="34" charset="-122"/>
              </a:rPr>
              <a:t>（/etc/resolv.conf）中。但不会立即生效，设置完成后还需重启network服务或重启计算机系统。</a:t>
            </a:r>
          </a:p>
        </p:txBody>
      </p:sp>
      <p:cxnSp>
        <p:nvCxnSpPr>
          <p:cNvPr id="9" name="直接连接符 8"/>
          <p:cNvCxnSpPr/>
          <p:nvPr/>
        </p:nvCxnSpPr>
        <p:spPr>
          <a:xfrm flipH="1">
            <a:off x="538480" y="1920240"/>
            <a:ext cx="10906760" cy="635"/>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flipH="1">
            <a:off x="538480" y="3566160"/>
            <a:ext cx="11043920" cy="635"/>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533400" y="1935480"/>
            <a:ext cx="5715" cy="163068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Left)">
                                      <p:cBhvr>
                                        <p:cTn id="11" dur="500"/>
                                        <p:tgtEl>
                                          <p:spTgt spid="9"/>
                                        </p:tgtEl>
                                      </p:cBhvr>
                                    </p:animEffect>
                                  </p:childTnLst>
                                </p:cTn>
                              </p:par>
                              <p:par>
                                <p:cTn id="12" presetID="12" presetClass="entr" presetSubtype="8" fill="hold" nodeType="withEffect">
                                  <p:stCondLst>
                                    <p:cond delay="0"/>
                                  </p:stCondLst>
                                  <p:childTnLst>
                                    <p:set>
                                      <p:cBhvr>
                                        <p:cTn id="13" dur="1" fill="hold">
                                          <p:stCondLst>
                                            <p:cond delay="0"/>
                                          </p:stCondLst>
                                        </p:cTn>
                                        <p:tgtEl>
                                          <p:spTgt spid="13"/>
                                        </p:tgtEl>
                                        <p:attrNameLst>
                                          <p:attrName>style.visibility</p:attrName>
                                        </p:attrNameLst>
                                      </p:cBhvr>
                                      <p:to>
                                        <p:strVal val="visible"/>
                                      </p:to>
                                    </p:set>
                                    <p:animEffect transition="in" filter="slide(fromLeft)">
                                      <p:cBhvr>
                                        <p:cTn id="14" dur="500"/>
                                        <p:tgtEl>
                                          <p:spTgt spid="13"/>
                                        </p:tgtEl>
                                      </p:cBhvr>
                                    </p:animEffect>
                                  </p:childTnLst>
                                </p:cTn>
                              </p:par>
                              <p:par>
                                <p:cTn id="15" presetID="12" presetClass="entr" presetSubtype="8"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slide(fromLeft)">
                                      <p:cBhvr>
                                        <p:cTn id="17" dur="500"/>
                                        <p:tgtEl>
                                          <p:spTgt spid="10"/>
                                        </p:tgtEl>
                                      </p:cBhvr>
                                    </p:animEffect>
                                  </p:childTnLst>
                                </p:cTn>
                              </p:par>
                            </p:childTnLst>
                          </p:cTn>
                        </p:par>
                        <p:par>
                          <p:cTn id="18" fill="hold">
                            <p:stCondLst>
                              <p:cond delay="1000"/>
                            </p:stCondLst>
                            <p:childTnLst>
                              <p:par>
                                <p:cTn id="19" presetID="21" presetClass="entr" presetSubtype="4" fill="hold" grpId="0" nodeType="after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heel(4)">
                                      <p:cBhvr>
                                        <p:cTn id="21" dur="2000"/>
                                        <p:tgtEl>
                                          <p:spTgt spid="7"/>
                                        </p:tgtEl>
                                      </p:cBhvr>
                                    </p:animEffect>
                                  </p:childTnLst>
                                </p:cTn>
                              </p:par>
                            </p:childTnLst>
                          </p:cTn>
                        </p:par>
                        <p:par>
                          <p:cTn id="22" fill="hold">
                            <p:stCondLst>
                              <p:cond delay="3000"/>
                            </p:stCondLst>
                            <p:childTnLst>
                              <p:par>
                                <p:cTn id="23" presetID="31" presetClass="entr" presetSubtype="0" fill="hold" nodeType="afterEffect">
                                  <p:stCondLst>
                                    <p:cond delay="0"/>
                                  </p:stCondLst>
                                  <p:iterate type="lt">
                                    <p:tmPct val="5000"/>
                                  </p:iterate>
                                  <p:childTnLst>
                                    <p:set>
                                      <p:cBhvr>
                                        <p:cTn id="24" dur="1" fill="hold">
                                          <p:stCondLst>
                                            <p:cond delay="0"/>
                                          </p:stCondLst>
                                        </p:cTn>
                                        <p:tgtEl>
                                          <p:spTgt spid="76"/>
                                        </p:tgtEl>
                                        <p:attrNameLst>
                                          <p:attrName>style.visibility</p:attrName>
                                        </p:attrNameLst>
                                      </p:cBhvr>
                                      <p:to>
                                        <p:strVal val="visible"/>
                                      </p:to>
                                    </p:set>
                                    <p:anim calcmode="lin" valueType="num">
                                      <p:cBhvr>
                                        <p:cTn id="25" dur="1000" fill="hold"/>
                                        <p:tgtEl>
                                          <p:spTgt spid="76"/>
                                        </p:tgtEl>
                                        <p:attrNameLst>
                                          <p:attrName>ppt_w</p:attrName>
                                        </p:attrNameLst>
                                      </p:cBhvr>
                                      <p:tavLst>
                                        <p:tav tm="0">
                                          <p:val>
                                            <p:fltVal val="0"/>
                                          </p:val>
                                        </p:tav>
                                        <p:tav tm="100000">
                                          <p:val>
                                            <p:strVal val="#ppt_w"/>
                                          </p:val>
                                        </p:tav>
                                      </p:tavLst>
                                    </p:anim>
                                    <p:anim calcmode="lin" valueType="num">
                                      <p:cBhvr>
                                        <p:cTn id="26" dur="1000" fill="hold"/>
                                        <p:tgtEl>
                                          <p:spTgt spid="76"/>
                                        </p:tgtEl>
                                        <p:attrNameLst>
                                          <p:attrName>ppt_h</p:attrName>
                                        </p:attrNameLst>
                                      </p:cBhvr>
                                      <p:tavLst>
                                        <p:tav tm="0">
                                          <p:val>
                                            <p:fltVal val="0"/>
                                          </p:val>
                                        </p:tav>
                                        <p:tav tm="100000">
                                          <p:val>
                                            <p:strVal val="#ppt_h"/>
                                          </p:val>
                                        </p:tav>
                                      </p:tavLst>
                                    </p:anim>
                                    <p:anim calcmode="lin" valueType="num">
                                      <p:cBhvr>
                                        <p:cTn id="27" dur="1000" fill="hold"/>
                                        <p:tgtEl>
                                          <p:spTgt spid="76"/>
                                        </p:tgtEl>
                                        <p:attrNameLst>
                                          <p:attrName>style.rotation</p:attrName>
                                        </p:attrNameLst>
                                      </p:cBhvr>
                                      <p:tavLst>
                                        <p:tav tm="0">
                                          <p:val>
                                            <p:fltVal val="90"/>
                                          </p:val>
                                        </p:tav>
                                        <p:tav tm="100000">
                                          <p:val>
                                            <p:fltVal val="0"/>
                                          </p:val>
                                        </p:tav>
                                      </p:tavLst>
                                    </p:anim>
                                    <p:animEffect transition="in" filter="fade">
                                      <p:cBhvr>
                                        <p:cTn id="28" dur="1000"/>
                                        <p:tgtEl>
                                          <p:spTgt spid="76"/>
                                        </p:tgtEl>
                                      </p:cBhvr>
                                    </p:animEffect>
                                  </p:childTnLst>
                                </p:cTn>
                              </p:par>
                            </p:childTnLst>
                          </p:cTn>
                        </p:par>
                        <p:par>
                          <p:cTn id="29" fill="hold">
                            <p:stCondLst>
                              <p:cond delay="4000"/>
                            </p:stCondLst>
                            <p:childTnLst>
                              <p:par>
                                <p:cTn id="30" presetID="2" presetClass="entr" presetSubtype="8" fill="hold" nodeType="afterEffect">
                                  <p:stCondLst>
                                    <p:cond delay="0"/>
                                  </p:stCondLst>
                                  <p:childTnLst>
                                    <p:set>
                                      <p:cBhvr>
                                        <p:cTn id="31" dur="1" fill="hold">
                                          <p:stCondLst>
                                            <p:cond delay="0"/>
                                          </p:stCondLst>
                                        </p:cTn>
                                        <p:tgtEl>
                                          <p:spTgt spid="31"/>
                                        </p:tgtEl>
                                        <p:attrNameLst>
                                          <p:attrName>style.visibility</p:attrName>
                                        </p:attrNameLst>
                                      </p:cBhvr>
                                      <p:to>
                                        <p:strVal val="visible"/>
                                      </p:to>
                                    </p:set>
                                    <p:anim calcmode="lin" valueType="num">
                                      <p:cBhvr additive="base">
                                        <p:cTn id="32" dur="500" fill="hold"/>
                                        <p:tgtEl>
                                          <p:spTgt spid="31"/>
                                        </p:tgtEl>
                                        <p:attrNameLst>
                                          <p:attrName>ppt_x</p:attrName>
                                        </p:attrNameLst>
                                      </p:cBhvr>
                                      <p:tavLst>
                                        <p:tav tm="0">
                                          <p:val>
                                            <p:strVal val="0-#ppt_w/2"/>
                                          </p:val>
                                        </p:tav>
                                        <p:tav tm="100000">
                                          <p:val>
                                            <p:strVal val="#ppt_x"/>
                                          </p:val>
                                        </p:tav>
                                      </p:tavLst>
                                    </p:anim>
                                    <p:anim calcmode="lin" valueType="num">
                                      <p:cBhvr additive="base">
                                        <p:cTn id="33" dur="500" fill="hold"/>
                                        <p:tgtEl>
                                          <p:spTgt spid="31"/>
                                        </p:tgtEl>
                                        <p:attrNameLst>
                                          <p:attrName>ppt_y</p:attrName>
                                        </p:attrNameLst>
                                      </p:cBhvr>
                                      <p:tavLst>
                                        <p:tav tm="0">
                                          <p:val>
                                            <p:strVal val="#ppt_y"/>
                                          </p:val>
                                        </p:tav>
                                        <p:tav tm="100000">
                                          <p:val>
                                            <p:strVal val="#ppt_y"/>
                                          </p:val>
                                        </p:tav>
                                      </p:tavLst>
                                    </p:anim>
                                  </p:childTnLst>
                                </p:cTn>
                              </p:par>
                            </p:childTnLst>
                          </p:cTn>
                        </p:par>
                        <p:par>
                          <p:cTn id="34" fill="hold">
                            <p:stCondLst>
                              <p:cond delay="4500"/>
                            </p:stCondLst>
                            <p:childTnLst>
                              <p:par>
                                <p:cTn id="35" presetID="18" presetClass="entr" presetSubtype="6" fill="hold" nodeType="after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strips(downRight)">
                                      <p:cBhvr>
                                        <p:cTn id="37" dur="500"/>
                                        <p:tgtEl>
                                          <p:spTgt spid="22"/>
                                        </p:tgtEl>
                                      </p:cBhvr>
                                    </p:animEffect>
                                  </p:childTnLst>
                                </p:cTn>
                              </p:par>
                            </p:childTnLst>
                          </p:cTn>
                        </p:par>
                        <p:par>
                          <p:cTn id="38" fill="hold">
                            <p:stCondLst>
                              <p:cond delay="5000"/>
                            </p:stCondLst>
                            <p:childTnLst>
                              <p:par>
                                <p:cTn id="39" presetID="22" presetClass="entr" presetSubtype="8" fill="hold" grpId="0" nodeType="afterEffect">
                                  <p:stCondLst>
                                    <p:cond delay="0"/>
                                  </p:stCondLst>
                                  <p:childTnLst>
                                    <p:set>
                                      <p:cBhvr>
                                        <p:cTn id="40" dur="1" fill="hold">
                                          <p:stCondLst>
                                            <p:cond delay="0"/>
                                          </p:stCondLst>
                                        </p:cTn>
                                        <p:tgtEl>
                                          <p:spTgt spid="24"/>
                                        </p:tgtEl>
                                        <p:attrNameLst>
                                          <p:attrName>style.visibility</p:attrName>
                                        </p:attrNameLst>
                                      </p:cBhvr>
                                      <p:to>
                                        <p:strVal val="visible"/>
                                      </p:to>
                                    </p:set>
                                    <p:animEffect transition="in" filter="wipe(left)">
                                      <p:cBhvr>
                                        <p:cTn id="41"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4" grpId="0"/>
      <p:bldP spid="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646430" y="120840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2．netconfig命令</a:t>
            </a:r>
          </a:p>
        </p:txBody>
      </p:sp>
      <p:sp>
        <p:nvSpPr>
          <p:cNvPr id="23" name="矩形 22"/>
          <p:cNvSpPr/>
          <p:nvPr/>
        </p:nvSpPr>
        <p:spPr>
          <a:xfrm>
            <a:off x="3228975" y="1208405"/>
            <a:ext cx="3575050" cy="548640"/>
          </a:xfrm>
          <a:prstGeom prst="rect">
            <a:avLst/>
          </a:prstGeom>
        </p:spPr>
        <p:txBody>
          <a:bodyPr wrap="square">
            <a:spAutoFit/>
          </a:bodyPr>
          <a:lstStyle/>
          <a:p>
            <a:pPr indent="457200">
              <a:lnSpc>
                <a:spcPct val="150000"/>
              </a:lnSpc>
              <a:buFont typeface="Arial" panose="020B0604020202020204" pitchFamily="34" charset="0"/>
              <a:buNone/>
            </a:pPr>
            <a:r>
              <a:rPr lang="zh-CN" altLang="en-US" sz="2000">
                <a:latin typeface="微软雅黑" panose="020B0503020204020204" pitchFamily="34" charset="-122"/>
                <a:ea typeface="微软雅黑" panose="020B0503020204020204" pitchFamily="34" charset="-122"/>
                <a:sym typeface="+mn-ea"/>
              </a:rPr>
              <a:t>通过以下步骤完成设置：</a:t>
            </a:r>
          </a:p>
        </p:txBody>
      </p:sp>
      <p:pic>
        <p:nvPicPr>
          <p:cNvPr id="3" name="图片 -2147482624"/>
          <p:cNvPicPr>
            <a:picLocks noChangeAspect="1"/>
          </p:cNvPicPr>
          <p:nvPr/>
        </p:nvPicPr>
        <p:blipFill>
          <a:blip r:embed="rId3" cstate="print"/>
          <a:srcRect/>
          <a:stretch>
            <a:fillRect/>
          </a:stretch>
        </p:blipFill>
        <p:spPr>
          <a:xfrm>
            <a:off x="6229985" y="2056765"/>
            <a:ext cx="4117340" cy="1847850"/>
          </a:xfrm>
          <a:prstGeom prst="rect">
            <a:avLst/>
          </a:prstGeom>
          <a:noFill/>
          <a:ln w="9525">
            <a:solidFill>
              <a:schemeClr val="accent1"/>
            </a:solidFill>
          </a:ln>
        </p:spPr>
      </p:pic>
      <p:sp>
        <p:nvSpPr>
          <p:cNvPr id="4" name="Text Box 44"/>
          <p:cNvSpPr txBox="1">
            <a:spLocks noChangeArrowheads="1"/>
          </p:cNvSpPr>
          <p:nvPr/>
        </p:nvSpPr>
        <p:spPr bwMode="auto">
          <a:xfrm>
            <a:off x="6550025" y="3866515"/>
            <a:ext cx="3611245" cy="50292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457200">
              <a:lnSpc>
                <a:spcPct val="150000"/>
              </a:lnSpc>
              <a:buFont typeface="Arial" panose="020B0604020202020204" pitchFamily="34" charset="0"/>
              <a:buNone/>
            </a:pPr>
            <a:r>
              <a:rPr lang="zh-CN" altLang="en-US" sz="1800" dirty="0">
                <a:solidFill>
                  <a:schemeClr val="tx1"/>
                </a:solidFill>
                <a:sym typeface="Arial Unicode MS" panose="020B0604020202020204" pitchFamily="34" charset="-122"/>
              </a:rPr>
              <a:t>图7-1  更改网卡配置文件</a:t>
            </a:r>
          </a:p>
        </p:txBody>
      </p:sp>
      <p:grpSp>
        <p:nvGrpSpPr>
          <p:cNvPr id="9" name="组合 8"/>
          <p:cNvGrpSpPr/>
          <p:nvPr/>
        </p:nvGrpSpPr>
        <p:grpSpPr>
          <a:xfrm>
            <a:off x="1614805" y="5496560"/>
            <a:ext cx="8868410" cy="879475"/>
            <a:chOff x="2153" y="6905"/>
            <a:chExt cx="11978" cy="2847"/>
          </a:xfrm>
        </p:grpSpPr>
        <p:grpSp>
          <p:nvGrpSpPr>
            <p:cNvPr id="10" name="组合 12"/>
            <p:cNvGrpSpPr/>
            <p:nvPr/>
          </p:nvGrpSpPr>
          <p:grpSpPr bwMode="auto">
            <a:xfrm>
              <a:off x="2153" y="6905"/>
              <a:ext cx="11978" cy="2847"/>
              <a:chOff x="1188097" y="1455151"/>
              <a:chExt cx="9858444" cy="2263093"/>
            </a:xfrm>
          </p:grpSpPr>
          <p:sp>
            <p:nvSpPr>
              <p:cNvPr id="13" name="矩形 12"/>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14" name="矩形 6"/>
              <p:cNvSpPr>
                <a:spLocks noChangeArrowheads="1"/>
              </p:cNvSpPr>
              <p:nvPr/>
            </p:nvSpPr>
            <p:spPr bwMode="auto">
              <a:xfrm>
                <a:off x="1188097" y="1455278"/>
                <a:ext cx="9858444" cy="108170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可查看/etc/sysconfig/network-scripts/ifcfg-eth0配置文件，验证是否修改成功。</a:t>
                </a:r>
              </a:p>
            </p:txBody>
          </p:sp>
        </p:grpSp>
        <p:sp>
          <p:nvSpPr>
            <p:cNvPr id="18" name="MH_Text_1"/>
            <p:cNvSpPr txBox="1">
              <a:spLocks noChangeArrowheads="1"/>
            </p:cNvSpPr>
            <p:nvPr>
              <p:custDataLst>
                <p:tags r:id="rId1"/>
              </p:custDataLst>
            </p:nvPr>
          </p:nvSpPr>
          <p:spPr bwMode="auto">
            <a:xfrm>
              <a:off x="2262" y="8091"/>
              <a:ext cx="11589" cy="1262"/>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cat /etc/sysconfig/network-scripts/ifcfg-eth0 </a:t>
              </a:r>
            </a:p>
          </p:txBody>
        </p:sp>
      </p:grpSp>
      <p:grpSp>
        <p:nvGrpSpPr>
          <p:cNvPr id="27" name="组合 26"/>
          <p:cNvGrpSpPr/>
          <p:nvPr/>
        </p:nvGrpSpPr>
        <p:grpSpPr>
          <a:xfrm>
            <a:off x="684093" y="1967860"/>
            <a:ext cx="886838" cy="714378"/>
            <a:chOff x="3758308" y="2656863"/>
            <a:chExt cx="886838" cy="714378"/>
          </a:xfrm>
        </p:grpSpPr>
        <p:sp>
          <p:nvSpPr>
            <p:cNvPr id="28" name="等腰三角形 27"/>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29" name="等腰三角形 28"/>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grpSp>
        <p:nvGrpSpPr>
          <p:cNvPr id="30" name="组合 29"/>
          <p:cNvGrpSpPr/>
          <p:nvPr/>
        </p:nvGrpSpPr>
        <p:grpSpPr>
          <a:xfrm>
            <a:off x="1618503" y="2115498"/>
            <a:ext cx="1962150" cy="483235"/>
            <a:chOff x="4840601" y="2730826"/>
            <a:chExt cx="1962150" cy="483235"/>
          </a:xfrm>
        </p:grpSpPr>
        <p:cxnSp>
          <p:nvCxnSpPr>
            <p:cNvPr id="31" name="Straight Connector 10"/>
            <p:cNvCxnSpPr/>
            <p:nvPr/>
          </p:nvCxnSpPr>
          <p:spPr>
            <a:xfrm>
              <a:off x="4970888" y="3205493"/>
              <a:ext cx="1753870" cy="635"/>
            </a:xfrm>
            <a:prstGeom prst="line">
              <a:avLst/>
            </a:prstGeom>
            <a:ln>
              <a:solidFill>
                <a:srgbClr val="00B0F0"/>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sp>
          <p:nvSpPr>
            <p:cNvPr id="11" name="Rectangle 12"/>
            <p:cNvSpPr>
              <a:spLocks noChangeArrowheads="1"/>
            </p:cNvSpPr>
            <p:nvPr/>
          </p:nvSpPr>
          <p:spPr bwMode="auto">
            <a:xfrm>
              <a:off x="4840601" y="2730826"/>
              <a:ext cx="1962150"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400" b="1" dirty="0">
                  <a:solidFill>
                    <a:srgbClr val="FC6204"/>
                  </a:solidFill>
                  <a:latin typeface="微软雅黑" panose="020B0503020204020204" pitchFamily="34" charset="-122"/>
                  <a:ea typeface="微软雅黑" panose="020B0503020204020204" pitchFamily="34" charset="-122"/>
                </a:rPr>
                <a:t>STEP 1 </a:t>
              </a:r>
            </a:p>
          </p:txBody>
        </p:sp>
      </p:grpSp>
      <p:sp>
        <p:nvSpPr>
          <p:cNvPr id="35" name="圆角矩形 34"/>
          <p:cNvSpPr/>
          <p:nvPr/>
        </p:nvSpPr>
        <p:spPr>
          <a:xfrm>
            <a:off x="671830" y="2903220"/>
            <a:ext cx="4787900" cy="111061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40000"/>
              </a:lnSpc>
            </a:pPr>
            <a:r>
              <a:rPr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编辑配置文件ifcfg-eno16777736，如图7-1所示添加修改内容。</a:t>
            </a:r>
          </a:p>
        </p:txBody>
      </p:sp>
      <p:grpSp>
        <p:nvGrpSpPr>
          <p:cNvPr id="12" name="组合 11"/>
          <p:cNvGrpSpPr/>
          <p:nvPr/>
        </p:nvGrpSpPr>
        <p:grpSpPr>
          <a:xfrm>
            <a:off x="643453" y="4518020"/>
            <a:ext cx="886838" cy="714378"/>
            <a:chOff x="3758308" y="2656863"/>
            <a:chExt cx="886838" cy="714378"/>
          </a:xfrm>
        </p:grpSpPr>
        <p:sp>
          <p:nvSpPr>
            <p:cNvPr id="17" name="等腰三角形 16"/>
            <p:cNvSpPr/>
            <p:nvPr/>
          </p:nvSpPr>
          <p:spPr>
            <a:xfrm rot="5400000">
              <a:off x="3951695" y="2677789"/>
              <a:ext cx="714378" cy="672525"/>
            </a:xfrm>
            <a:prstGeom prst="triangle">
              <a:avLst>
                <a:gd name="adj" fmla="val 52770"/>
              </a:avLst>
            </a:prstGeom>
            <a:solidFill>
              <a:schemeClr val="tx2">
                <a:lumMod val="60000"/>
                <a:lumOff val="40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sp>
          <p:nvSpPr>
            <p:cNvPr id="19" name="等腰三角形 18"/>
            <p:cNvSpPr/>
            <p:nvPr/>
          </p:nvSpPr>
          <p:spPr>
            <a:xfrm rot="5400000">
              <a:off x="3737382" y="2677789"/>
              <a:ext cx="714378" cy="672525"/>
            </a:xfrm>
            <a:prstGeom prst="triangle">
              <a:avLst>
                <a:gd name="adj" fmla="val 52770"/>
              </a:avLst>
            </a:prstGeom>
            <a:solidFill>
              <a:schemeClr val="bg1">
                <a:lumMod val="85000"/>
              </a:schemeClr>
            </a:solidFill>
            <a:ln w="12700">
              <a:solidFill>
                <a:schemeClr val="bg1"/>
              </a:solidFill>
            </a:ln>
            <a:effectLst>
              <a:outerShdw blurRad="50800" dist="38100" dir="2700000" algn="tl" rotWithShape="0">
                <a:prstClr val="black">
                  <a:alpha val="40000"/>
                </a:prstClr>
              </a:outerShdw>
            </a:effectLst>
          </p:spPr>
          <p:txBody>
            <a:bodyPr wrap="square" rtlCol="0" anchor="ctr">
              <a:spAutoFit/>
            </a:bodyPr>
            <a:lstStyle/>
            <a:p>
              <a:pPr algn="ctr"/>
              <a:endParaRPr lang="zh-CN" altLang="en-US" sz="1600" b="1">
                <a:solidFill>
                  <a:schemeClr val="bg1"/>
                </a:solidFill>
                <a:latin typeface="微软雅黑" panose="020B0503020204020204" pitchFamily="34" charset="-122"/>
                <a:ea typeface="微软雅黑" panose="020B0503020204020204" pitchFamily="34" charset="-122"/>
                <a:cs typeface="Lao UI" panose="020B0502040204020203" pitchFamily="34" charset="0"/>
              </a:endParaRPr>
            </a:p>
          </p:txBody>
        </p:sp>
      </p:grpSp>
      <p:grpSp>
        <p:nvGrpSpPr>
          <p:cNvPr id="20" name="组合 19"/>
          <p:cNvGrpSpPr/>
          <p:nvPr/>
        </p:nvGrpSpPr>
        <p:grpSpPr>
          <a:xfrm>
            <a:off x="1577863" y="4665658"/>
            <a:ext cx="1962150" cy="483235"/>
            <a:chOff x="4840601" y="2730826"/>
            <a:chExt cx="1962150" cy="483235"/>
          </a:xfrm>
        </p:grpSpPr>
        <p:cxnSp>
          <p:nvCxnSpPr>
            <p:cNvPr id="21" name="Straight Connector 10"/>
            <p:cNvCxnSpPr/>
            <p:nvPr/>
          </p:nvCxnSpPr>
          <p:spPr>
            <a:xfrm>
              <a:off x="4970888" y="3205493"/>
              <a:ext cx="1753870" cy="635"/>
            </a:xfrm>
            <a:prstGeom prst="line">
              <a:avLst/>
            </a:prstGeom>
            <a:ln>
              <a:solidFill>
                <a:srgbClr val="00B0F0"/>
              </a:solidFill>
              <a:prstDash val="sysDash"/>
              <a:headEnd type="oval"/>
              <a:tailEnd type="oval"/>
            </a:ln>
          </p:spPr>
          <p:style>
            <a:lnRef idx="1">
              <a:schemeClr val="accent5"/>
            </a:lnRef>
            <a:fillRef idx="0">
              <a:schemeClr val="accent5"/>
            </a:fillRef>
            <a:effectRef idx="0">
              <a:schemeClr val="accent5"/>
            </a:effectRef>
            <a:fontRef idx="minor">
              <a:schemeClr val="tx1"/>
            </a:fontRef>
          </p:style>
        </p:cxnSp>
        <p:sp>
          <p:nvSpPr>
            <p:cNvPr id="22" name="Rectangle 12"/>
            <p:cNvSpPr>
              <a:spLocks noChangeArrowheads="1"/>
            </p:cNvSpPr>
            <p:nvPr/>
          </p:nvSpPr>
          <p:spPr bwMode="auto">
            <a:xfrm>
              <a:off x="4840601" y="2730826"/>
              <a:ext cx="1962150" cy="483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a:r>
                <a:rPr lang="zh-CN" altLang="en-US" sz="2400" b="1" dirty="0">
                  <a:solidFill>
                    <a:srgbClr val="FC6204"/>
                  </a:solidFill>
                  <a:latin typeface="微软雅黑" panose="020B0503020204020204" pitchFamily="34" charset="-122"/>
                  <a:ea typeface="微软雅黑" panose="020B0503020204020204" pitchFamily="34" charset="-122"/>
                </a:rPr>
                <a:t>STEP </a:t>
              </a:r>
              <a:r>
                <a:rPr lang="en-US" altLang="zh-CN" sz="2400" b="1" dirty="0">
                  <a:solidFill>
                    <a:srgbClr val="FC6204"/>
                  </a:solidFill>
                  <a:latin typeface="微软雅黑" panose="020B0503020204020204" pitchFamily="34" charset="-122"/>
                  <a:ea typeface="微软雅黑" panose="020B0503020204020204" pitchFamily="34" charset="-122"/>
                </a:rPr>
                <a:t>2</a:t>
              </a:r>
              <a:r>
                <a:rPr lang="zh-CN" altLang="en-US" sz="2400" b="1" dirty="0">
                  <a:solidFill>
                    <a:srgbClr val="FC6204"/>
                  </a:solidFill>
                  <a:latin typeface="微软雅黑" panose="020B0503020204020204" pitchFamily="34" charset="-122"/>
                  <a:ea typeface="微软雅黑" panose="020B0503020204020204" pitchFamily="34" charset="-122"/>
                </a:rPr>
                <a:t> </a:t>
              </a:r>
            </a:p>
          </p:txBody>
        </p:sp>
      </p:grpSp>
      <p:sp>
        <p:nvSpPr>
          <p:cNvPr id="24" name="圆角矩形 23"/>
          <p:cNvSpPr/>
          <p:nvPr/>
        </p:nvSpPr>
        <p:spPr>
          <a:xfrm>
            <a:off x="3661410" y="4665345"/>
            <a:ext cx="6418580" cy="607060"/>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40000"/>
              </a:lnSpc>
            </a:pPr>
            <a:r>
              <a:rPr sz="2000" dirty="0">
                <a:solidFill>
                  <a:schemeClr val="tx1">
                    <a:lumMod val="85000"/>
                    <a:lumOff val="15000"/>
                  </a:schemeClr>
                </a:solidFill>
                <a:latin typeface="微软雅黑" panose="020B0503020204020204" pitchFamily="34" charset="-122"/>
                <a:ea typeface="微软雅黑" panose="020B0503020204020204" pitchFamily="34" charset="-122"/>
                <a:sym typeface="+mn-ea"/>
              </a:rPr>
              <a:t>输入service network restart命令重启网络。</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2" presetClass="entr" presetSubtype="2" fill="hold" grpId="0" nodeType="afterEffect">
                                  <p:stCondLst>
                                    <p:cond delay="0"/>
                                  </p:stCondLst>
                                  <p:childTnLst>
                                    <p:set>
                                      <p:cBhvr>
                                        <p:cTn id="10" dur="1" fill="hold">
                                          <p:stCondLst>
                                            <p:cond delay="0"/>
                                          </p:stCondLst>
                                        </p:cTn>
                                        <p:tgtEl>
                                          <p:spTgt spid="23"/>
                                        </p:tgtEl>
                                        <p:attrNameLst>
                                          <p:attrName>style.visibility</p:attrName>
                                        </p:attrNameLst>
                                      </p:cBhvr>
                                      <p:to>
                                        <p:strVal val="visible"/>
                                      </p:to>
                                    </p:set>
                                    <p:anim calcmode="lin" valueType="num">
                                      <p:cBhvr additive="base">
                                        <p:cTn id="11" dur="500" fill="hold"/>
                                        <p:tgtEl>
                                          <p:spTgt spid="23"/>
                                        </p:tgtEl>
                                        <p:attrNameLst>
                                          <p:attrName>ppt_x</p:attrName>
                                        </p:attrNameLst>
                                      </p:cBhvr>
                                      <p:tavLst>
                                        <p:tav tm="0">
                                          <p:val>
                                            <p:strVal val="1+#ppt_w/2"/>
                                          </p:val>
                                        </p:tav>
                                        <p:tav tm="100000">
                                          <p:val>
                                            <p:strVal val="#ppt_x"/>
                                          </p:val>
                                        </p:tav>
                                      </p:tavLst>
                                    </p:anim>
                                    <p:anim calcmode="lin" valueType="num">
                                      <p:cBhvr additive="base">
                                        <p:cTn id="12" dur="500" fill="hold"/>
                                        <p:tgtEl>
                                          <p:spTgt spid="23"/>
                                        </p:tgtEl>
                                        <p:attrNameLst>
                                          <p:attrName>ppt_y</p:attrName>
                                        </p:attrNameLst>
                                      </p:cBhvr>
                                      <p:tavLst>
                                        <p:tav tm="0">
                                          <p:val>
                                            <p:strVal val="#ppt_y"/>
                                          </p:val>
                                        </p:tav>
                                        <p:tav tm="100000">
                                          <p:val>
                                            <p:strVal val="#ppt_y"/>
                                          </p:val>
                                        </p:tav>
                                      </p:tavLst>
                                    </p:anim>
                                  </p:childTnLst>
                                </p:cTn>
                              </p:par>
                            </p:childTnLst>
                          </p:cTn>
                        </p:par>
                        <p:par>
                          <p:cTn id="13" fill="hold">
                            <p:stCondLst>
                              <p:cond delay="1000"/>
                            </p:stCondLst>
                            <p:childTnLst>
                              <p:par>
                                <p:cTn id="14" presetID="2" presetClass="entr" presetSubtype="8"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 calcmode="lin" valueType="num">
                                      <p:cBhvr additive="base">
                                        <p:cTn id="16" dur="100" fill="hold"/>
                                        <p:tgtEl>
                                          <p:spTgt spid="27"/>
                                        </p:tgtEl>
                                        <p:attrNameLst>
                                          <p:attrName>ppt_x</p:attrName>
                                        </p:attrNameLst>
                                      </p:cBhvr>
                                      <p:tavLst>
                                        <p:tav tm="0">
                                          <p:val>
                                            <p:strVal val="0-#ppt_w/2"/>
                                          </p:val>
                                        </p:tav>
                                        <p:tav tm="100000">
                                          <p:val>
                                            <p:strVal val="#ppt_x"/>
                                          </p:val>
                                        </p:tav>
                                      </p:tavLst>
                                    </p:anim>
                                    <p:anim calcmode="lin" valueType="num">
                                      <p:cBhvr additive="base">
                                        <p:cTn id="17" dur="100" fill="hold"/>
                                        <p:tgtEl>
                                          <p:spTgt spid="27"/>
                                        </p:tgtEl>
                                        <p:attrNameLst>
                                          <p:attrName>ppt_y</p:attrName>
                                        </p:attrNameLst>
                                      </p:cBhvr>
                                      <p:tavLst>
                                        <p:tav tm="0">
                                          <p:val>
                                            <p:strVal val="#ppt_y"/>
                                          </p:val>
                                        </p:tav>
                                        <p:tav tm="100000">
                                          <p:val>
                                            <p:strVal val="#ppt_y"/>
                                          </p:val>
                                        </p:tav>
                                      </p:tavLst>
                                    </p:anim>
                                  </p:childTnLst>
                                </p:cTn>
                              </p:par>
                            </p:childTnLst>
                          </p:cTn>
                        </p:par>
                        <p:par>
                          <p:cTn id="18" fill="hold">
                            <p:stCondLst>
                              <p:cond delay="1500"/>
                            </p:stCondLst>
                            <p:childTnLst>
                              <p:par>
                                <p:cTn id="19" presetID="23" presetClass="entr" presetSubtype="36" fill="hold" nodeType="afterEffect">
                                  <p:stCondLst>
                                    <p:cond delay="0"/>
                                  </p:stCondLst>
                                  <p:childTnLst>
                                    <p:set>
                                      <p:cBhvr>
                                        <p:cTn id="20" dur="1" fill="hold">
                                          <p:stCondLst>
                                            <p:cond delay="0"/>
                                          </p:stCondLst>
                                        </p:cTn>
                                        <p:tgtEl>
                                          <p:spTgt spid="30"/>
                                        </p:tgtEl>
                                        <p:attrNameLst>
                                          <p:attrName>style.visibility</p:attrName>
                                        </p:attrNameLst>
                                      </p:cBhvr>
                                      <p:to>
                                        <p:strVal val="visible"/>
                                      </p:to>
                                    </p:set>
                                    <p:anim calcmode="lin" valueType="num">
                                      <p:cBhvr>
                                        <p:cTn id="21" dur="500" fill="hold"/>
                                        <p:tgtEl>
                                          <p:spTgt spid="30"/>
                                        </p:tgtEl>
                                        <p:attrNameLst>
                                          <p:attrName>ppt_w</p:attrName>
                                        </p:attrNameLst>
                                      </p:cBhvr>
                                      <p:tavLst>
                                        <p:tav tm="0">
                                          <p:val>
                                            <p:strVal val="(6*min(max(#ppt_w*#ppt_h,.3),1)-7.4)/-.7*#ppt_w"/>
                                          </p:val>
                                        </p:tav>
                                        <p:tav tm="100000">
                                          <p:val>
                                            <p:strVal val="#ppt_w"/>
                                          </p:val>
                                        </p:tav>
                                      </p:tavLst>
                                    </p:anim>
                                    <p:anim calcmode="lin" valueType="num">
                                      <p:cBhvr>
                                        <p:cTn id="22" dur="500" fill="hold"/>
                                        <p:tgtEl>
                                          <p:spTgt spid="30"/>
                                        </p:tgtEl>
                                        <p:attrNameLst>
                                          <p:attrName>ppt_h</p:attrName>
                                        </p:attrNameLst>
                                      </p:cBhvr>
                                      <p:tavLst>
                                        <p:tav tm="0">
                                          <p:val>
                                            <p:strVal val="(6*min(max(#ppt_w*#ppt_h,.3),1)-7.4)/-.7*#ppt_h"/>
                                          </p:val>
                                        </p:tav>
                                        <p:tav tm="100000">
                                          <p:val>
                                            <p:strVal val="#ppt_h"/>
                                          </p:val>
                                        </p:tav>
                                      </p:tavLst>
                                    </p:anim>
                                    <p:anim calcmode="lin" valueType="num">
                                      <p:cBhvr>
                                        <p:cTn id="23" dur="500" fill="hold"/>
                                        <p:tgtEl>
                                          <p:spTgt spid="30"/>
                                        </p:tgtEl>
                                        <p:attrNameLst>
                                          <p:attrName>ppt_x</p:attrName>
                                        </p:attrNameLst>
                                      </p:cBhvr>
                                      <p:tavLst>
                                        <p:tav tm="0">
                                          <p:val>
                                            <p:fltVal val="0.5"/>
                                          </p:val>
                                        </p:tav>
                                        <p:tav tm="100000">
                                          <p:val>
                                            <p:strVal val="#ppt_x"/>
                                          </p:val>
                                        </p:tav>
                                      </p:tavLst>
                                    </p:anim>
                                    <p:anim calcmode="lin" valueType="num">
                                      <p:cBhvr>
                                        <p:cTn id="24" dur="500" fill="hold"/>
                                        <p:tgtEl>
                                          <p:spTgt spid="30"/>
                                        </p:tgtEl>
                                        <p:attrNameLst>
                                          <p:attrName>ppt_y</p:attrName>
                                        </p:attrNameLst>
                                      </p:cBhvr>
                                      <p:tavLst>
                                        <p:tav tm="0">
                                          <p:val>
                                            <p:strVal val="1+(6*min(max(#ppt_w*#ppt_h,.3),1)-7.4)/-.7*#ppt_h/2"/>
                                          </p:val>
                                        </p:tav>
                                        <p:tav tm="100000">
                                          <p:val>
                                            <p:strVal val="#ppt_y"/>
                                          </p:val>
                                        </p:tav>
                                      </p:tavLst>
                                    </p:anim>
                                  </p:childTnLst>
                                </p:cTn>
                              </p:par>
                            </p:childTnLst>
                          </p:cTn>
                        </p:par>
                        <p:par>
                          <p:cTn id="25" fill="hold">
                            <p:stCondLst>
                              <p:cond delay="2000"/>
                            </p:stCondLst>
                            <p:childTnLst>
                              <p:par>
                                <p:cTn id="26" presetID="23" presetClass="entr" presetSubtype="16" fill="hold" grpId="2" nodeType="afterEffect">
                                  <p:stCondLst>
                                    <p:cond delay="0"/>
                                  </p:stCondLst>
                                  <p:childTnLst>
                                    <p:set>
                                      <p:cBhvr>
                                        <p:cTn id="27" dur="1" fill="hold">
                                          <p:stCondLst>
                                            <p:cond delay="0"/>
                                          </p:stCondLst>
                                        </p:cTn>
                                        <p:tgtEl>
                                          <p:spTgt spid="35"/>
                                        </p:tgtEl>
                                        <p:attrNameLst>
                                          <p:attrName>style.visibility</p:attrName>
                                        </p:attrNameLst>
                                      </p:cBhvr>
                                      <p:to>
                                        <p:strVal val="visible"/>
                                      </p:to>
                                    </p:set>
                                    <p:anim calcmode="lin" valueType="num">
                                      <p:cBhvr>
                                        <p:cTn id="28" dur="500" fill="hold"/>
                                        <p:tgtEl>
                                          <p:spTgt spid="35"/>
                                        </p:tgtEl>
                                        <p:attrNameLst>
                                          <p:attrName>ppt_w</p:attrName>
                                        </p:attrNameLst>
                                      </p:cBhvr>
                                      <p:tavLst>
                                        <p:tav tm="0">
                                          <p:val>
                                            <p:fltVal val="0"/>
                                          </p:val>
                                        </p:tav>
                                        <p:tav tm="100000">
                                          <p:val>
                                            <p:strVal val="#ppt_w"/>
                                          </p:val>
                                        </p:tav>
                                      </p:tavLst>
                                    </p:anim>
                                    <p:anim calcmode="lin" valueType="num">
                                      <p:cBhvr>
                                        <p:cTn id="29" dur="500" fill="hold"/>
                                        <p:tgtEl>
                                          <p:spTgt spid="35"/>
                                        </p:tgtEl>
                                        <p:attrNameLst>
                                          <p:attrName>ppt_h</p:attrName>
                                        </p:attrNameLst>
                                      </p:cBhvr>
                                      <p:tavLst>
                                        <p:tav tm="0">
                                          <p:val>
                                            <p:fltVal val="0"/>
                                          </p:val>
                                        </p:tav>
                                        <p:tav tm="100000">
                                          <p:val>
                                            <p:strVal val="#ppt_h"/>
                                          </p:val>
                                        </p:tav>
                                      </p:tavLst>
                                    </p:anim>
                                  </p:childTnLst>
                                </p:cTn>
                              </p:par>
                            </p:childTnLst>
                          </p:cTn>
                        </p:par>
                        <p:par>
                          <p:cTn id="30" fill="hold">
                            <p:stCondLst>
                              <p:cond delay="2500"/>
                            </p:stCondLst>
                            <p:childTnLst>
                              <p:par>
                                <p:cTn id="31" presetID="23" presetClass="entr" presetSubtype="16" fill="hold" nodeType="afterEffect">
                                  <p:stCondLst>
                                    <p:cond delay="0"/>
                                  </p:stCondLst>
                                  <p:childTnLst>
                                    <p:set>
                                      <p:cBhvr>
                                        <p:cTn id="32" dur="1" fill="hold">
                                          <p:stCondLst>
                                            <p:cond delay="0"/>
                                          </p:stCondLst>
                                        </p:cTn>
                                        <p:tgtEl>
                                          <p:spTgt spid="3"/>
                                        </p:tgtEl>
                                        <p:attrNameLst>
                                          <p:attrName>style.visibility</p:attrName>
                                        </p:attrNameLst>
                                      </p:cBhvr>
                                      <p:to>
                                        <p:strVal val="visible"/>
                                      </p:to>
                                    </p:set>
                                    <p:anim calcmode="lin" valueType="num">
                                      <p:cBhvr>
                                        <p:cTn id="33" dur="500" fill="hold"/>
                                        <p:tgtEl>
                                          <p:spTgt spid="3"/>
                                        </p:tgtEl>
                                        <p:attrNameLst>
                                          <p:attrName>ppt_w</p:attrName>
                                        </p:attrNameLst>
                                      </p:cBhvr>
                                      <p:tavLst>
                                        <p:tav tm="0">
                                          <p:val>
                                            <p:fltVal val="0"/>
                                          </p:val>
                                        </p:tav>
                                        <p:tav tm="100000">
                                          <p:val>
                                            <p:strVal val="#ppt_w"/>
                                          </p:val>
                                        </p:tav>
                                      </p:tavLst>
                                    </p:anim>
                                    <p:anim calcmode="lin" valueType="num">
                                      <p:cBhvr>
                                        <p:cTn id="34" dur="500" fill="hold"/>
                                        <p:tgtEl>
                                          <p:spTgt spid="3"/>
                                        </p:tgtEl>
                                        <p:attrNameLst>
                                          <p:attrName>ppt_h</p:attrName>
                                        </p:attrNameLst>
                                      </p:cBhvr>
                                      <p:tavLst>
                                        <p:tav tm="0">
                                          <p:val>
                                            <p:fltVal val="0"/>
                                          </p:val>
                                        </p:tav>
                                        <p:tav tm="100000">
                                          <p:val>
                                            <p:strVal val="#ppt_h"/>
                                          </p:val>
                                        </p:tav>
                                      </p:tavLst>
                                    </p:anim>
                                  </p:childTnLst>
                                </p:cTn>
                              </p:par>
                              <p:par>
                                <p:cTn id="35" presetID="23" presetClass="entr" presetSubtype="16" fill="hold" grpId="2" nodeType="withEffect">
                                  <p:stCondLst>
                                    <p:cond delay="0"/>
                                  </p:stCondLst>
                                  <p:childTnLst>
                                    <p:set>
                                      <p:cBhvr>
                                        <p:cTn id="36" dur="1" fill="hold">
                                          <p:stCondLst>
                                            <p:cond delay="0"/>
                                          </p:stCondLst>
                                        </p:cTn>
                                        <p:tgtEl>
                                          <p:spTgt spid="4"/>
                                        </p:tgtEl>
                                        <p:attrNameLst>
                                          <p:attrName>style.visibility</p:attrName>
                                        </p:attrNameLst>
                                      </p:cBhvr>
                                      <p:to>
                                        <p:strVal val="visible"/>
                                      </p:to>
                                    </p:set>
                                    <p:anim calcmode="lin" valueType="num">
                                      <p:cBhvr>
                                        <p:cTn id="37" dur="500" fill="hold"/>
                                        <p:tgtEl>
                                          <p:spTgt spid="4"/>
                                        </p:tgtEl>
                                        <p:attrNameLst>
                                          <p:attrName>ppt_w</p:attrName>
                                        </p:attrNameLst>
                                      </p:cBhvr>
                                      <p:tavLst>
                                        <p:tav tm="0">
                                          <p:val>
                                            <p:fltVal val="0"/>
                                          </p:val>
                                        </p:tav>
                                        <p:tav tm="100000">
                                          <p:val>
                                            <p:strVal val="#ppt_w"/>
                                          </p:val>
                                        </p:tav>
                                      </p:tavLst>
                                    </p:anim>
                                    <p:anim calcmode="lin" valueType="num">
                                      <p:cBhvr>
                                        <p:cTn id="38" dur="500" fill="hold"/>
                                        <p:tgtEl>
                                          <p:spTgt spid="4"/>
                                        </p:tgtEl>
                                        <p:attrNameLst>
                                          <p:attrName>ppt_h</p:attrName>
                                        </p:attrNameLst>
                                      </p:cBhvr>
                                      <p:tavLst>
                                        <p:tav tm="0">
                                          <p:val>
                                            <p:fltVal val="0"/>
                                          </p:val>
                                        </p:tav>
                                        <p:tav tm="100000">
                                          <p:val>
                                            <p:strVal val="#ppt_h"/>
                                          </p:val>
                                        </p:tav>
                                      </p:tavLst>
                                    </p:anim>
                                  </p:childTnLst>
                                </p:cTn>
                              </p:par>
                            </p:childTnLst>
                          </p:cTn>
                        </p:par>
                        <p:par>
                          <p:cTn id="39" fill="hold">
                            <p:stCondLst>
                              <p:cond delay="3000"/>
                            </p:stCondLst>
                            <p:childTnLst>
                              <p:par>
                                <p:cTn id="40" presetID="2" presetClass="entr" presetSubtype="8" fill="hold" nodeType="afterEffect">
                                  <p:stCondLst>
                                    <p:cond delay="0"/>
                                  </p:stCondLst>
                                  <p:childTnLst>
                                    <p:set>
                                      <p:cBhvr>
                                        <p:cTn id="41" dur="1" fill="hold">
                                          <p:stCondLst>
                                            <p:cond delay="0"/>
                                          </p:stCondLst>
                                        </p:cTn>
                                        <p:tgtEl>
                                          <p:spTgt spid="12"/>
                                        </p:tgtEl>
                                        <p:attrNameLst>
                                          <p:attrName>style.visibility</p:attrName>
                                        </p:attrNameLst>
                                      </p:cBhvr>
                                      <p:to>
                                        <p:strVal val="visible"/>
                                      </p:to>
                                    </p:set>
                                    <p:anim calcmode="lin" valueType="num">
                                      <p:cBhvr additive="base">
                                        <p:cTn id="42" dur="100" fill="hold"/>
                                        <p:tgtEl>
                                          <p:spTgt spid="12"/>
                                        </p:tgtEl>
                                        <p:attrNameLst>
                                          <p:attrName>ppt_x</p:attrName>
                                        </p:attrNameLst>
                                      </p:cBhvr>
                                      <p:tavLst>
                                        <p:tav tm="0">
                                          <p:val>
                                            <p:strVal val="0-#ppt_w/2"/>
                                          </p:val>
                                        </p:tav>
                                        <p:tav tm="100000">
                                          <p:val>
                                            <p:strVal val="#ppt_x"/>
                                          </p:val>
                                        </p:tav>
                                      </p:tavLst>
                                    </p:anim>
                                    <p:anim calcmode="lin" valueType="num">
                                      <p:cBhvr additive="base">
                                        <p:cTn id="43" dur="100" fill="hold"/>
                                        <p:tgtEl>
                                          <p:spTgt spid="12"/>
                                        </p:tgtEl>
                                        <p:attrNameLst>
                                          <p:attrName>ppt_y</p:attrName>
                                        </p:attrNameLst>
                                      </p:cBhvr>
                                      <p:tavLst>
                                        <p:tav tm="0">
                                          <p:val>
                                            <p:strVal val="#ppt_y"/>
                                          </p:val>
                                        </p:tav>
                                        <p:tav tm="100000">
                                          <p:val>
                                            <p:strVal val="#ppt_y"/>
                                          </p:val>
                                        </p:tav>
                                      </p:tavLst>
                                    </p:anim>
                                  </p:childTnLst>
                                </p:cTn>
                              </p:par>
                            </p:childTnLst>
                          </p:cTn>
                        </p:par>
                        <p:par>
                          <p:cTn id="44" fill="hold">
                            <p:stCondLst>
                              <p:cond delay="3500"/>
                            </p:stCondLst>
                            <p:childTnLst>
                              <p:par>
                                <p:cTn id="45" presetID="23" presetClass="entr" presetSubtype="36" fill="hold" nodeType="afterEffect">
                                  <p:stCondLst>
                                    <p:cond delay="0"/>
                                  </p:stCondLst>
                                  <p:childTnLst>
                                    <p:set>
                                      <p:cBhvr>
                                        <p:cTn id="46" dur="1" fill="hold">
                                          <p:stCondLst>
                                            <p:cond delay="0"/>
                                          </p:stCondLst>
                                        </p:cTn>
                                        <p:tgtEl>
                                          <p:spTgt spid="20"/>
                                        </p:tgtEl>
                                        <p:attrNameLst>
                                          <p:attrName>style.visibility</p:attrName>
                                        </p:attrNameLst>
                                      </p:cBhvr>
                                      <p:to>
                                        <p:strVal val="visible"/>
                                      </p:to>
                                    </p:set>
                                    <p:anim calcmode="lin" valueType="num">
                                      <p:cBhvr>
                                        <p:cTn id="47" dur="500" fill="hold"/>
                                        <p:tgtEl>
                                          <p:spTgt spid="20"/>
                                        </p:tgtEl>
                                        <p:attrNameLst>
                                          <p:attrName>ppt_w</p:attrName>
                                        </p:attrNameLst>
                                      </p:cBhvr>
                                      <p:tavLst>
                                        <p:tav tm="0">
                                          <p:val>
                                            <p:strVal val="(6*min(max(#ppt_w*#ppt_h,.3),1)-7.4)/-.7*#ppt_w"/>
                                          </p:val>
                                        </p:tav>
                                        <p:tav tm="100000">
                                          <p:val>
                                            <p:strVal val="#ppt_w"/>
                                          </p:val>
                                        </p:tav>
                                      </p:tavLst>
                                    </p:anim>
                                    <p:anim calcmode="lin" valueType="num">
                                      <p:cBhvr>
                                        <p:cTn id="48" dur="500" fill="hold"/>
                                        <p:tgtEl>
                                          <p:spTgt spid="20"/>
                                        </p:tgtEl>
                                        <p:attrNameLst>
                                          <p:attrName>ppt_h</p:attrName>
                                        </p:attrNameLst>
                                      </p:cBhvr>
                                      <p:tavLst>
                                        <p:tav tm="0">
                                          <p:val>
                                            <p:strVal val="(6*min(max(#ppt_w*#ppt_h,.3),1)-7.4)/-.7*#ppt_h"/>
                                          </p:val>
                                        </p:tav>
                                        <p:tav tm="100000">
                                          <p:val>
                                            <p:strVal val="#ppt_h"/>
                                          </p:val>
                                        </p:tav>
                                      </p:tavLst>
                                    </p:anim>
                                    <p:anim calcmode="lin" valueType="num">
                                      <p:cBhvr>
                                        <p:cTn id="49" dur="500" fill="hold"/>
                                        <p:tgtEl>
                                          <p:spTgt spid="20"/>
                                        </p:tgtEl>
                                        <p:attrNameLst>
                                          <p:attrName>ppt_x</p:attrName>
                                        </p:attrNameLst>
                                      </p:cBhvr>
                                      <p:tavLst>
                                        <p:tav tm="0">
                                          <p:val>
                                            <p:fltVal val="0.5"/>
                                          </p:val>
                                        </p:tav>
                                        <p:tav tm="100000">
                                          <p:val>
                                            <p:strVal val="#ppt_x"/>
                                          </p:val>
                                        </p:tav>
                                      </p:tavLst>
                                    </p:anim>
                                    <p:anim calcmode="lin" valueType="num">
                                      <p:cBhvr>
                                        <p:cTn id="50" dur="500" fill="hold"/>
                                        <p:tgtEl>
                                          <p:spTgt spid="20"/>
                                        </p:tgtEl>
                                        <p:attrNameLst>
                                          <p:attrName>ppt_y</p:attrName>
                                        </p:attrNameLst>
                                      </p:cBhvr>
                                      <p:tavLst>
                                        <p:tav tm="0">
                                          <p:val>
                                            <p:strVal val="1+(6*min(max(#ppt_w*#ppt_h,.3),1)-7.4)/-.7*#ppt_h/2"/>
                                          </p:val>
                                        </p:tav>
                                        <p:tav tm="100000">
                                          <p:val>
                                            <p:strVal val="#ppt_y"/>
                                          </p:val>
                                        </p:tav>
                                      </p:tavLst>
                                    </p:anim>
                                  </p:childTnLst>
                                </p:cTn>
                              </p:par>
                            </p:childTnLst>
                          </p:cTn>
                        </p:par>
                        <p:par>
                          <p:cTn id="51" fill="hold">
                            <p:stCondLst>
                              <p:cond delay="4000"/>
                            </p:stCondLst>
                            <p:childTnLst>
                              <p:par>
                                <p:cTn id="52" presetID="23" presetClass="entr" presetSubtype="16" fill="hold" grpId="2" nodeType="afterEffect">
                                  <p:stCondLst>
                                    <p:cond delay="0"/>
                                  </p:stCondLst>
                                  <p:childTnLst>
                                    <p:set>
                                      <p:cBhvr>
                                        <p:cTn id="53" dur="1" fill="hold">
                                          <p:stCondLst>
                                            <p:cond delay="0"/>
                                          </p:stCondLst>
                                        </p:cTn>
                                        <p:tgtEl>
                                          <p:spTgt spid="24"/>
                                        </p:tgtEl>
                                        <p:attrNameLst>
                                          <p:attrName>style.visibility</p:attrName>
                                        </p:attrNameLst>
                                      </p:cBhvr>
                                      <p:to>
                                        <p:strVal val="visible"/>
                                      </p:to>
                                    </p:set>
                                    <p:anim calcmode="lin" valueType="num">
                                      <p:cBhvr>
                                        <p:cTn id="54" dur="500" fill="hold"/>
                                        <p:tgtEl>
                                          <p:spTgt spid="24"/>
                                        </p:tgtEl>
                                        <p:attrNameLst>
                                          <p:attrName>ppt_w</p:attrName>
                                        </p:attrNameLst>
                                      </p:cBhvr>
                                      <p:tavLst>
                                        <p:tav tm="0">
                                          <p:val>
                                            <p:fltVal val="0"/>
                                          </p:val>
                                        </p:tav>
                                        <p:tav tm="100000">
                                          <p:val>
                                            <p:strVal val="#ppt_w"/>
                                          </p:val>
                                        </p:tav>
                                      </p:tavLst>
                                    </p:anim>
                                    <p:anim calcmode="lin" valueType="num">
                                      <p:cBhvr>
                                        <p:cTn id="55" dur="500" fill="hold"/>
                                        <p:tgtEl>
                                          <p:spTgt spid="24"/>
                                        </p:tgtEl>
                                        <p:attrNameLst>
                                          <p:attrName>ppt_h</p:attrName>
                                        </p:attrNameLst>
                                      </p:cBhvr>
                                      <p:tavLst>
                                        <p:tav tm="0">
                                          <p:val>
                                            <p:fltVal val="0"/>
                                          </p:val>
                                        </p:tav>
                                        <p:tav tm="100000">
                                          <p:val>
                                            <p:strVal val="#ppt_h"/>
                                          </p:val>
                                        </p:tav>
                                      </p:tavLst>
                                    </p:anim>
                                  </p:childTnLst>
                                </p:cTn>
                              </p:par>
                            </p:childTnLst>
                          </p:cTn>
                        </p:par>
                        <p:par>
                          <p:cTn id="56" fill="hold">
                            <p:stCondLst>
                              <p:cond delay="4500"/>
                            </p:stCondLst>
                            <p:childTnLst>
                              <p:par>
                                <p:cTn id="57" presetID="18" presetClass="entr" presetSubtype="6" fill="hold" nodeType="afterEffect">
                                  <p:stCondLst>
                                    <p:cond delay="0"/>
                                  </p:stCondLst>
                                  <p:childTnLst>
                                    <p:set>
                                      <p:cBhvr>
                                        <p:cTn id="58" dur="1" fill="hold">
                                          <p:stCondLst>
                                            <p:cond delay="0"/>
                                          </p:stCondLst>
                                        </p:cTn>
                                        <p:tgtEl>
                                          <p:spTgt spid="9"/>
                                        </p:tgtEl>
                                        <p:attrNameLst>
                                          <p:attrName>style.visibility</p:attrName>
                                        </p:attrNameLst>
                                      </p:cBhvr>
                                      <p:to>
                                        <p:strVal val="visible"/>
                                      </p:to>
                                    </p:set>
                                    <p:animEffect transition="in" filter="strips(downRight)">
                                      <p:cBhvr>
                                        <p:cTn id="5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3" grpId="0"/>
      <p:bldP spid="4" grpId="1" animBg="1"/>
      <p:bldP spid="4" grpId="2" animBg="1"/>
      <p:bldP spid="35" grpId="0" animBg="1"/>
      <p:bldP spid="35" grpId="1" animBg="1"/>
      <p:bldP spid="35" grpId="2" bldLvl="0" animBg="1"/>
      <p:bldP spid="24" grpId="0" animBg="1"/>
      <p:bldP spid="24" grpId="1" animBg="1"/>
      <p:bldP spid="24" grpId="2"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377190" y="1254125"/>
            <a:ext cx="5803265" cy="5235575"/>
            <a:chOff x="594" y="1975"/>
            <a:chExt cx="9139" cy="8245"/>
          </a:xfrm>
        </p:grpSpPr>
        <p:sp>
          <p:nvSpPr>
            <p:cNvPr id="33" name="矩形 32"/>
            <p:cNvSpPr/>
            <p:nvPr/>
          </p:nvSpPr>
          <p:spPr>
            <a:xfrm>
              <a:off x="594" y="1975"/>
              <a:ext cx="4067" cy="794"/>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2．netconfig命令</a:t>
              </a:r>
            </a:p>
          </p:txBody>
        </p:sp>
        <p:sp>
          <p:nvSpPr>
            <p:cNvPr id="23" name="矩形 22"/>
            <p:cNvSpPr/>
            <p:nvPr/>
          </p:nvSpPr>
          <p:spPr>
            <a:xfrm>
              <a:off x="4103" y="1977"/>
              <a:ext cx="5630" cy="792"/>
            </a:xfrm>
            <a:prstGeom prst="rect">
              <a:avLst/>
            </a:prstGeom>
          </p:spPr>
          <p:txBody>
            <a:bodyPr wrap="square">
              <a:spAutoFit/>
            </a:bodyPr>
            <a:lstStyle/>
            <a:p>
              <a:pPr indent="457200">
                <a:lnSpc>
                  <a:spcPct val="150000"/>
                </a:lnSpc>
                <a:buFont typeface="Arial" panose="020B0604020202020204" pitchFamily="34" charset="0"/>
                <a:buNone/>
              </a:pPr>
              <a:r>
                <a:rPr lang="zh-CN" altLang="en-US" sz="1800">
                  <a:latin typeface="微软雅黑" panose="020B0503020204020204" pitchFamily="34" charset="-122"/>
                  <a:ea typeface="微软雅黑" panose="020B0503020204020204" pitchFamily="34" charset="-122"/>
                  <a:sym typeface="+mn-ea"/>
                </a:rPr>
                <a:t>显示结果如图7-2所示。</a:t>
              </a:r>
            </a:p>
          </p:txBody>
        </p:sp>
        <p:sp>
          <p:nvSpPr>
            <p:cNvPr id="3" name="Text Box 44"/>
            <p:cNvSpPr txBox="1">
              <a:spLocks noChangeArrowheads="1"/>
            </p:cNvSpPr>
            <p:nvPr/>
          </p:nvSpPr>
          <p:spPr bwMode="auto">
            <a:xfrm>
              <a:off x="2106" y="9428"/>
              <a:ext cx="5687" cy="79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457200">
                <a:lnSpc>
                  <a:spcPct val="150000"/>
                </a:lnSpc>
                <a:buFont typeface="Arial" panose="020B0604020202020204" pitchFamily="34" charset="0"/>
                <a:buNone/>
              </a:pPr>
              <a:r>
                <a:rPr lang="zh-CN" altLang="en-US" sz="1800" dirty="0">
                  <a:solidFill>
                    <a:schemeClr val="tx1"/>
                  </a:solidFill>
                  <a:sym typeface="Arial Unicode MS" panose="020B0604020202020204" pitchFamily="34" charset="-122"/>
                </a:rPr>
                <a:t>图7-2  网卡配置文件</a:t>
              </a:r>
            </a:p>
          </p:txBody>
        </p:sp>
        <p:pic>
          <p:nvPicPr>
            <p:cNvPr id="2" name="图片 -2147482619"/>
            <p:cNvPicPr>
              <a:picLocks noChangeAspect="1"/>
            </p:cNvPicPr>
            <p:nvPr/>
          </p:nvPicPr>
          <p:blipFill>
            <a:blip r:embed="rId5" cstate="print"/>
            <a:srcRect/>
            <a:stretch>
              <a:fillRect/>
            </a:stretch>
          </p:blipFill>
          <p:spPr>
            <a:xfrm>
              <a:off x="1928" y="3074"/>
              <a:ext cx="6342" cy="6354"/>
            </a:xfrm>
            <a:prstGeom prst="rect">
              <a:avLst/>
            </a:prstGeom>
            <a:noFill/>
            <a:ln w="9525">
              <a:solidFill>
                <a:schemeClr val="accent1"/>
              </a:solidFill>
            </a:ln>
          </p:spPr>
        </p:pic>
      </p:grpSp>
      <p:grpSp>
        <p:nvGrpSpPr>
          <p:cNvPr id="8" name="组合 7"/>
          <p:cNvGrpSpPr/>
          <p:nvPr/>
        </p:nvGrpSpPr>
        <p:grpSpPr>
          <a:xfrm>
            <a:off x="6180455" y="1517650"/>
            <a:ext cx="5358765" cy="4635500"/>
            <a:chOff x="9733" y="2390"/>
            <a:chExt cx="8439" cy="7300"/>
          </a:xfrm>
        </p:grpSpPr>
        <p:grpSp>
          <p:nvGrpSpPr>
            <p:cNvPr id="16" name="组合 15"/>
            <p:cNvGrpSpPr/>
            <p:nvPr/>
          </p:nvGrpSpPr>
          <p:grpSpPr>
            <a:xfrm>
              <a:off x="9733" y="2390"/>
              <a:ext cx="8378" cy="7300"/>
              <a:chOff x="2161" y="3075"/>
              <a:chExt cx="14707" cy="6824"/>
            </a:xfrm>
          </p:grpSpPr>
          <p:grpSp>
            <p:nvGrpSpPr>
              <p:cNvPr id="17" name="组合 14"/>
              <p:cNvGrpSpPr/>
              <p:nvPr/>
            </p:nvGrpSpPr>
            <p:grpSpPr bwMode="auto">
              <a:xfrm>
                <a:off x="2161" y="3075"/>
                <a:ext cx="14706" cy="6824"/>
                <a:chOff x="1166778" y="1786420"/>
                <a:chExt cx="13504529" cy="1714018"/>
              </a:xfrm>
            </p:grpSpPr>
            <p:grpSp>
              <p:nvGrpSpPr>
                <p:cNvPr id="4" name="组合 12"/>
                <p:cNvGrpSpPr/>
                <p:nvPr/>
              </p:nvGrpSpPr>
              <p:grpSpPr bwMode="auto">
                <a:xfrm>
                  <a:off x="1166778" y="1786420"/>
                  <a:ext cx="13504529" cy="1714018"/>
                  <a:chOff x="1166778" y="1786420"/>
                  <a:chExt cx="13504529" cy="1714018"/>
                </a:xfrm>
              </p:grpSpPr>
              <p:sp>
                <p:nvSpPr>
                  <p:cNvPr id="19" name="矩形 18"/>
                  <p:cNvSpPr/>
                  <p:nvPr/>
                </p:nvSpPr>
                <p:spPr>
                  <a:xfrm>
                    <a:off x="1166778" y="1786456"/>
                    <a:ext cx="13504529"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0" name="矩形 6"/>
                  <p:cNvSpPr>
                    <a:spLocks noChangeArrowheads="1"/>
                  </p:cNvSpPr>
                  <p:nvPr/>
                </p:nvSpPr>
                <p:spPr bwMode="auto">
                  <a:xfrm>
                    <a:off x="1391065" y="1786420"/>
                    <a:ext cx="12666957" cy="15543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b="1">
                        <a:solidFill>
                          <a:srgbClr val="009900"/>
                        </a:solidFill>
                        <a:latin typeface="微软雅黑" panose="020B0503020204020204" pitchFamily="34" charset="-122"/>
                        <a:ea typeface="微软雅黑" panose="020B0503020204020204" pitchFamily="34" charset="-122"/>
                        <a:cs typeface="华康俪金黑W8(P)"/>
                      </a:rPr>
                      <a:t>通过以下命令查看/etc/resolv.conf配置文件：</a:t>
                    </a:r>
                  </a:p>
                </p:txBody>
              </p:sp>
            </p:grpSp>
            <p:sp>
              <p:nvSpPr>
                <p:cNvPr id="21" name="MH_Text_1"/>
                <p:cNvSpPr txBox="1">
                  <a:spLocks noChangeArrowheads="1"/>
                </p:cNvSpPr>
                <p:nvPr>
                  <p:custDataLst>
                    <p:tags r:id="rId3"/>
                  </p:custDataLst>
                </p:nvPr>
              </p:nvSpPr>
              <p:spPr bwMode="auto">
                <a:xfrm>
                  <a:off x="1263504" y="1968864"/>
                  <a:ext cx="13311077" cy="194714"/>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 cat /etc/resolv.conf</a:t>
                  </a:r>
                </a:p>
              </p:txBody>
            </p:sp>
          </p:grpSp>
          <p:sp>
            <p:nvSpPr>
              <p:cNvPr id="24" name="矩形 6"/>
              <p:cNvSpPr>
                <a:spLocks noChangeArrowheads="1"/>
              </p:cNvSpPr>
              <p:nvPr/>
            </p:nvSpPr>
            <p:spPr bwMode="auto">
              <a:xfrm>
                <a:off x="2476" y="4668"/>
                <a:ext cx="14293" cy="61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b="1" dirty="0">
                    <a:solidFill>
                      <a:srgbClr val="009900"/>
                    </a:solidFill>
                    <a:latin typeface="微软雅黑" panose="020B0503020204020204" pitchFamily="34" charset="-122"/>
                    <a:ea typeface="微软雅黑" panose="020B0503020204020204" pitchFamily="34" charset="-122"/>
                    <a:cs typeface="华康俪金黑W8(P)"/>
                  </a:rPr>
                  <a:t>显示结果如下：</a:t>
                </a:r>
              </a:p>
            </p:txBody>
          </p:sp>
          <p:sp>
            <p:nvSpPr>
              <p:cNvPr id="25" name="MH_Text_1"/>
              <p:cNvSpPr txBox="1">
                <a:spLocks noChangeArrowheads="1"/>
              </p:cNvSpPr>
              <p:nvPr>
                <p:custDataLst>
                  <p:tags r:id="rId2"/>
                </p:custDataLst>
              </p:nvPr>
            </p:nvSpPr>
            <p:spPr bwMode="auto">
              <a:xfrm>
                <a:off x="2373" y="5371"/>
                <a:ext cx="14495" cy="871"/>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nameserver 172.16.100.1</a:t>
                </a:r>
              </a:p>
            </p:txBody>
          </p:sp>
        </p:grpSp>
        <p:grpSp>
          <p:nvGrpSpPr>
            <p:cNvPr id="7" name="组合 6"/>
            <p:cNvGrpSpPr/>
            <p:nvPr/>
          </p:nvGrpSpPr>
          <p:grpSpPr>
            <a:xfrm>
              <a:off x="9842" y="5554"/>
              <a:ext cx="8330" cy="1460"/>
              <a:chOff x="9842" y="5554"/>
              <a:chExt cx="8330" cy="1460"/>
            </a:xfrm>
          </p:grpSpPr>
          <p:sp>
            <p:nvSpPr>
              <p:cNvPr id="5" name="矩形 6"/>
              <p:cNvSpPr>
                <a:spLocks noChangeArrowheads="1"/>
              </p:cNvSpPr>
              <p:nvPr/>
            </p:nvSpPr>
            <p:spPr bwMode="auto">
              <a:xfrm>
                <a:off x="10030" y="5554"/>
                <a:ext cx="8142"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b="1">
                    <a:solidFill>
                      <a:srgbClr val="009900"/>
                    </a:solidFill>
                    <a:latin typeface="微软雅黑" panose="020B0503020204020204" pitchFamily="34" charset="-122"/>
                    <a:ea typeface="微软雅黑" panose="020B0503020204020204" pitchFamily="34" charset="-122"/>
                    <a:cs typeface="华康俪金黑W8(P)"/>
                  </a:rPr>
                  <a:t>通过以下命令重启network服务：</a:t>
                </a:r>
              </a:p>
            </p:txBody>
          </p:sp>
          <p:sp>
            <p:nvSpPr>
              <p:cNvPr id="11" name="MH_Text_1"/>
              <p:cNvSpPr txBox="1">
                <a:spLocks noChangeArrowheads="1"/>
              </p:cNvSpPr>
              <p:nvPr>
                <p:custDataLst>
                  <p:tags r:id="rId1"/>
                </p:custDataLst>
              </p:nvPr>
            </p:nvSpPr>
            <p:spPr bwMode="auto">
              <a:xfrm>
                <a:off x="9842" y="6216"/>
                <a:ext cx="8208" cy="798"/>
              </a:xfrm>
              <a:prstGeom prst="rect">
                <a:avLst/>
              </a:prstGeom>
              <a:solidFill>
                <a:srgbClr val="F2F2F2"/>
              </a:solidFill>
              <a:ln w="9525">
                <a:noFill/>
                <a:miter lim="800000"/>
              </a:ln>
            </p:spPr>
            <p:txBody>
              <a:bodyPr/>
              <a:lstStyle/>
              <a:p>
                <a:pPr indent="457200" eaLnBrk="1" latinLnBrk="0" hangingPunct="1">
                  <a:lnSpc>
                    <a:spcPct val="120000"/>
                  </a:lnSpc>
                  <a:buFont typeface="Arial" panose="020B0604020202020204" pitchFamily="34" charset="0"/>
                  <a:buNone/>
                </a:pPr>
                <a:r>
                  <a:rPr lang="zh-CN" altLang="en-US" b="1" dirty="0">
                    <a:solidFill>
                      <a:srgbClr val="0070C0"/>
                    </a:solidFill>
                    <a:latin typeface="微软雅黑" panose="020B0503020204020204" pitchFamily="34" charset="-122"/>
                    <a:ea typeface="微软雅黑" panose="020B0503020204020204" pitchFamily="34" charset="-122"/>
                    <a:cs typeface="+mn-cs"/>
                    <a:sym typeface="+mn-ea"/>
                  </a:rPr>
                  <a:t># service network restart</a:t>
                </a:r>
              </a:p>
            </p:txBody>
          </p:sp>
        </p:grpSp>
      </p:grpSp>
      <p:sp>
        <p:nvSpPr>
          <p:cNvPr id="10" name="圆角矩形 9"/>
          <p:cNvSpPr/>
          <p:nvPr/>
        </p:nvSpPr>
        <p:spPr>
          <a:xfrm>
            <a:off x="6280150" y="4591050"/>
            <a:ext cx="5081905" cy="136842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30000"/>
              </a:lnSpc>
            </a:pPr>
            <a:r>
              <a:rPr lang="zh-CN" altLang="en-US" sz="1800" dirty="0">
                <a:solidFill>
                  <a:schemeClr val="tx1"/>
                </a:solidFill>
                <a:latin typeface="微软雅黑" panose="020B0503020204020204" pitchFamily="34" charset="-122"/>
                <a:ea typeface="微软雅黑" panose="020B0503020204020204" pitchFamily="34" charset="-122"/>
                <a:sym typeface="+mn-ea"/>
              </a:rPr>
              <a:t>重启network服务后，刚刚设置的静态永久ip地址已生效。可采用ifconfig eth0或ping 172.16.100.98进行查看或测试ip地址的有效性。</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trips(downRight)">
                                      <p:cBhvr>
                                        <p:cTn id="7" dur="500"/>
                                        <p:tgtEl>
                                          <p:spTgt spid="6"/>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strips(downRight)">
                                      <p:cBhvr>
                                        <p:cTn id="11" dur="500"/>
                                        <p:tgtEl>
                                          <p:spTgt spid="8"/>
                                        </p:tgtEl>
                                      </p:cBhvr>
                                    </p:animEffect>
                                  </p:childTnLst>
                                </p:cTn>
                              </p:par>
                            </p:childTnLst>
                          </p:cTn>
                        </p:par>
                        <p:par>
                          <p:cTn id="12" fill="hold">
                            <p:stCondLst>
                              <p:cond delay="1000"/>
                            </p:stCondLst>
                            <p:childTnLst>
                              <p:par>
                                <p:cTn id="13" presetID="23" presetClass="entr" presetSubtype="16" fill="hold" grpId="2" nodeType="after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 fill="hold"/>
                                        <p:tgtEl>
                                          <p:spTgt spid="10"/>
                                        </p:tgtEl>
                                        <p:attrNameLst>
                                          <p:attrName>ppt_w</p:attrName>
                                        </p:attrNameLst>
                                      </p:cBhvr>
                                      <p:tavLst>
                                        <p:tav tm="0">
                                          <p:val>
                                            <p:fltVal val="0"/>
                                          </p:val>
                                        </p:tav>
                                        <p:tav tm="100000">
                                          <p:val>
                                            <p:strVal val="#ppt_w"/>
                                          </p:val>
                                        </p:tav>
                                      </p:tavLst>
                                    </p:anim>
                                    <p:anim calcmode="lin" valueType="num">
                                      <p:cBhvr>
                                        <p:cTn id="16" dur="500" fill="hold"/>
                                        <p:tgtEl>
                                          <p:spTgt spid="1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0" grpId="1" animBg="1"/>
      <p:bldP spid="10" grpId="2" bldLvl="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381635" y="11779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3．ethtool命令</a:t>
            </a:r>
          </a:p>
        </p:txBody>
      </p:sp>
      <p:grpSp>
        <p:nvGrpSpPr>
          <p:cNvPr id="3" name="组合 2"/>
          <p:cNvGrpSpPr/>
          <p:nvPr/>
        </p:nvGrpSpPr>
        <p:grpSpPr>
          <a:xfrm>
            <a:off x="1634490" y="3526155"/>
            <a:ext cx="8780145" cy="467995"/>
            <a:chOff x="2213609" y="1428736"/>
            <a:chExt cx="10566030" cy="660400"/>
          </a:xfrm>
        </p:grpSpPr>
        <p:sp>
          <p:nvSpPr>
            <p:cNvPr id="6" name="MH_SubTitle_1"/>
            <p:cNvSpPr/>
            <p:nvPr>
              <p:custDataLst>
                <p:tags r:id="rId9"/>
              </p:custDataLst>
            </p:nvPr>
          </p:nvSpPr>
          <p:spPr>
            <a:xfrm>
              <a:off x="3595742" y="1453751"/>
              <a:ext cx="9183897" cy="604533"/>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lstStyle/>
            <a:p>
              <a:pPr>
                <a:lnSpc>
                  <a:spcPct val="130000"/>
                </a:lnSpc>
                <a:defRPr/>
              </a:pPr>
              <a:r>
                <a:rPr lang="en-US" sz="2000" b="1" dirty="0">
                  <a:solidFill>
                    <a:schemeClr val="tx1"/>
                  </a:solidFill>
                  <a:latin typeface="微软雅黑" panose="020B0503020204020204" pitchFamily="34" charset="-122"/>
                  <a:ea typeface="微软雅黑" panose="020B0503020204020204" pitchFamily="34" charset="-122"/>
                </a:rPr>
                <a:t>                    </a:t>
              </a:r>
              <a:r>
                <a:rPr altLang="en-US" sz="2000" b="1" dirty="0">
                  <a:solidFill>
                    <a:schemeClr val="tx1"/>
                  </a:solidFill>
                  <a:latin typeface="微软雅黑" panose="020B0503020204020204" pitchFamily="34" charset="-122"/>
                  <a:ea typeface="微软雅黑" panose="020B0503020204020204" pitchFamily="34" charset="-122"/>
                </a:rPr>
                <a:t>  </a:t>
              </a:r>
              <a:r>
                <a:rPr sz="2000" dirty="0">
                  <a:latin typeface="微软雅黑" panose="020B0503020204020204" pitchFamily="34" charset="-122"/>
                  <a:ea typeface="微软雅黑" panose="020B0503020204020204" pitchFamily="34" charset="-122"/>
                  <a:sym typeface="+mn-ea"/>
                </a:rPr>
                <a:t>查询网卡的相关信息</a:t>
              </a:r>
            </a:p>
          </p:txBody>
        </p:sp>
        <p:sp>
          <p:nvSpPr>
            <p:cNvPr id="7" name="MH_Other_1"/>
            <p:cNvSpPr/>
            <p:nvPr>
              <p:custDataLst>
                <p:tags r:id="rId10"/>
              </p:custDataLst>
            </p:nvPr>
          </p:nvSpPr>
          <p:spPr>
            <a:xfrm>
              <a:off x="2213609" y="1428736"/>
              <a:ext cx="3638162" cy="660400"/>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–I</a:t>
              </a:r>
            </a:p>
          </p:txBody>
        </p:sp>
      </p:grpSp>
      <p:grpSp>
        <p:nvGrpSpPr>
          <p:cNvPr id="13" name="组合 12"/>
          <p:cNvGrpSpPr/>
          <p:nvPr/>
        </p:nvGrpSpPr>
        <p:grpSpPr>
          <a:xfrm>
            <a:off x="1634490" y="4090670"/>
            <a:ext cx="8800465" cy="467995"/>
            <a:chOff x="2213609" y="2349487"/>
            <a:chExt cx="10566030" cy="658812"/>
          </a:xfrm>
        </p:grpSpPr>
        <p:sp>
          <p:nvSpPr>
            <p:cNvPr id="8" name="MH_SubTitle_2"/>
            <p:cNvSpPr/>
            <p:nvPr>
              <p:custDataLst>
                <p:tags r:id="rId7"/>
              </p:custDataLst>
            </p:nvPr>
          </p:nvSpPr>
          <p:spPr>
            <a:xfrm>
              <a:off x="3595742" y="2375274"/>
              <a:ext cx="9183897" cy="604743"/>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查询网卡网口注册性信息</a:t>
              </a:r>
            </a:p>
          </p:txBody>
        </p:sp>
        <p:sp>
          <p:nvSpPr>
            <p:cNvPr id="9" name="MH_Other_2"/>
            <p:cNvSpPr/>
            <p:nvPr>
              <p:custDataLst>
                <p:tags r:id="rId8"/>
              </p:custDataLst>
            </p:nvPr>
          </p:nvSpPr>
          <p:spPr>
            <a:xfrm>
              <a:off x="2213609" y="2349487"/>
              <a:ext cx="3628999" cy="658812"/>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–d</a:t>
              </a:r>
            </a:p>
          </p:txBody>
        </p:sp>
      </p:grpSp>
      <p:grpSp>
        <p:nvGrpSpPr>
          <p:cNvPr id="14" name="组合 13"/>
          <p:cNvGrpSpPr/>
          <p:nvPr/>
        </p:nvGrpSpPr>
        <p:grpSpPr>
          <a:xfrm>
            <a:off x="1634490" y="4655185"/>
            <a:ext cx="8780145" cy="467995"/>
            <a:chOff x="2231339" y="3270238"/>
            <a:chExt cx="10566029" cy="658812"/>
          </a:xfrm>
        </p:grpSpPr>
        <p:sp>
          <p:nvSpPr>
            <p:cNvPr id="10" name="MH_SubTitle_3"/>
            <p:cNvSpPr/>
            <p:nvPr>
              <p:custDataLst>
                <p:tags r:id="rId5"/>
              </p:custDataLst>
            </p:nvPr>
          </p:nvSpPr>
          <p:spPr>
            <a:xfrm>
              <a:off x="3595742" y="3294361"/>
              <a:ext cx="9201626" cy="60640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defRPr/>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 重置网卡网口到自适应模式</a:t>
              </a:r>
            </a:p>
          </p:txBody>
        </p:sp>
        <p:sp>
          <p:nvSpPr>
            <p:cNvPr id="17" name="MH_Other_3"/>
            <p:cNvSpPr/>
            <p:nvPr>
              <p:custDataLst>
                <p:tags r:id="rId6"/>
              </p:custDataLst>
            </p:nvPr>
          </p:nvSpPr>
          <p:spPr>
            <a:xfrm>
              <a:off x="2231339" y="3270238"/>
              <a:ext cx="3638162" cy="658812"/>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–r </a:t>
              </a:r>
            </a:p>
          </p:txBody>
        </p:sp>
      </p:grpSp>
      <p:grpSp>
        <p:nvGrpSpPr>
          <p:cNvPr id="18" name="组合 17"/>
          <p:cNvGrpSpPr/>
          <p:nvPr/>
        </p:nvGrpSpPr>
        <p:grpSpPr>
          <a:xfrm>
            <a:off x="1634490" y="5219700"/>
            <a:ext cx="8780778" cy="467995"/>
            <a:chOff x="2249839" y="4189401"/>
            <a:chExt cx="10659301" cy="668807"/>
          </a:xfrm>
        </p:grpSpPr>
        <p:sp>
          <p:nvSpPr>
            <p:cNvPr id="19" name="MH_SubTitle_4"/>
            <p:cNvSpPr/>
            <p:nvPr>
              <p:custDataLst>
                <p:tags r:id="rId3"/>
              </p:custDataLst>
            </p:nvPr>
          </p:nvSpPr>
          <p:spPr>
            <a:xfrm>
              <a:off x="3688242" y="4251313"/>
              <a:ext cx="9220898" cy="606895"/>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查询网卡网口收发包统计</a:t>
              </a:r>
            </a:p>
          </p:txBody>
        </p:sp>
        <p:sp>
          <p:nvSpPr>
            <p:cNvPr id="20" name="MH_Other_4"/>
            <p:cNvSpPr/>
            <p:nvPr>
              <p:custDataLst>
                <p:tags r:id="rId4"/>
              </p:custDataLst>
            </p:nvPr>
          </p:nvSpPr>
          <p:spPr>
            <a:xfrm>
              <a:off x="2249839" y="4189401"/>
              <a:ext cx="3669242" cy="660640"/>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–S</a:t>
              </a:r>
            </a:p>
          </p:txBody>
        </p:sp>
      </p:grpSp>
      <p:grpSp>
        <p:nvGrpSpPr>
          <p:cNvPr id="37" name="组合 36"/>
          <p:cNvGrpSpPr/>
          <p:nvPr/>
        </p:nvGrpSpPr>
        <p:grpSpPr>
          <a:xfrm>
            <a:off x="635000" y="3541395"/>
            <a:ext cx="851535" cy="2740660"/>
            <a:chOff x="976" y="3009"/>
            <a:chExt cx="1341" cy="6894"/>
          </a:xfrm>
        </p:grpSpPr>
        <p:sp>
          <p:nvSpPr>
            <p:cNvPr id="21" name="Text Box 44"/>
            <p:cNvSpPr txBox="1">
              <a:spLocks noChangeArrowheads="1"/>
            </p:cNvSpPr>
            <p:nvPr/>
          </p:nvSpPr>
          <p:spPr bwMode="auto">
            <a:xfrm>
              <a:off x="976" y="5778"/>
              <a:ext cx="689" cy="2081"/>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95000"/>
                </a:lnSpc>
              </a:pPr>
              <a:r>
                <a:rPr lang="zh-CN" altLang="en-US" sz="2400" b="1" dirty="0">
                  <a:solidFill>
                    <a:srgbClr val="0070C0"/>
                  </a:solidFill>
                </a:rPr>
                <a:t>参数</a:t>
              </a:r>
            </a:p>
          </p:txBody>
        </p:sp>
        <p:sp>
          <p:nvSpPr>
            <p:cNvPr id="36" name="左大括号 35"/>
            <p:cNvSpPr/>
            <p:nvPr/>
          </p:nvSpPr>
          <p:spPr>
            <a:xfrm>
              <a:off x="1850" y="3009"/>
              <a:ext cx="467" cy="6894"/>
            </a:xfrm>
            <a:prstGeom prst="leftBrace">
              <a:avLst/>
            </a:prstGeom>
            <a:solidFill>
              <a:schemeClr val="bg1"/>
            </a:solidFill>
            <a:ln w="28575"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22" name="组合 21"/>
          <p:cNvGrpSpPr/>
          <p:nvPr/>
        </p:nvGrpSpPr>
        <p:grpSpPr>
          <a:xfrm>
            <a:off x="1609089" y="5784215"/>
            <a:ext cx="8825866" cy="467995"/>
            <a:chOff x="2305339" y="4161121"/>
            <a:chExt cx="10714035" cy="688680"/>
          </a:xfrm>
        </p:grpSpPr>
        <p:sp>
          <p:nvSpPr>
            <p:cNvPr id="27" name="MH_SubTitle_4"/>
            <p:cNvSpPr/>
            <p:nvPr>
              <p:custDataLst>
                <p:tags r:id="rId1"/>
              </p:custDataLst>
            </p:nvPr>
          </p:nvSpPr>
          <p:spPr>
            <a:xfrm>
              <a:off x="4930853" y="4161121"/>
              <a:ext cx="8088521" cy="606896"/>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设置网卡速率10/100/1000M</a:t>
              </a:r>
            </a:p>
          </p:txBody>
        </p:sp>
        <p:sp>
          <p:nvSpPr>
            <p:cNvPr id="28" name="MH_Other_4"/>
            <p:cNvSpPr/>
            <p:nvPr>
              <p:custDataLst>
                <p:tags r:id="rId2"/>
              </p:custDataLst>
            </p:nvPr>
          </p:nvSpPr>
          <p:spPr>
            <a:xfrm>
              <a:off x="2305339" y="4189154"/>
              <a:ext cx="3700076" cy="660647"/>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1800" b="1" dirty="0">
                  <a:solidFill>
                    <a:srgbClr val="FFFFFF"/>
                  </a:solidFill>
                </a:rPr>
                <a:t>–s [speed 10|100|1000] </a:t>
              </a:r>
            </a:p>
          </p:txBody>
        </p:sp>
      </p:grpSp>
      <p:sp>
        <p:nvSpPr>
          <p:cNvPr id="29" name="圆角矩形 28"/>
          <p:cNvSpPr/>
          <p:nvPr/>
        </p:nvSpPr>
        <p:spPr>
          <a:xfrm>
            <a:off x="641351" y="1779905"/>
            <a:ext cx="10636250" cy="91122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sym typeface="+mn-ea"/>
              </a:rPr>
              <a:t>ethtool是一个查询和设置网卡参数的命令。通常用来查看和修改网卡传输速率、半双工、全双工、网卡连接状态、自适应工作方式等。</a:t>
            </a:r>
          </a:p>
        </p:txBody>
      </p:sp>
      <p:grpSp>
        <p:nvGrpSpPr>
          <p:cNvPr id="31" name="组合 30"/>
          <p:cNvGrpSpPr/>
          <p:nvPr/>
        </p:nvGrpSpPr>
        <p:grpSpPr>
          <a:xfrm>
            <a:off x="2061210" y="2858770"/>
            <a:ext cx="4145622" cy="457200"/>
            <a:chOff x="1483" y="2724"/>
            <a:chExt cx="6478" cy="720"/>
          </a:xfrm>
        </p:grpSpPr>
        <p:sp>
          <p:nvSpPr>
            <p:cNvPr id="35" name="TextBox 29"/>
            <p:cNvSpPr txBox="1"/>
            <p:nvPr/>
          </p:nvSpPr>
          <p:spPr>
            <a:xfrm>
              <a:off x="1963" y="2724"/>
              <a:ext cx="5998"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ethtool [参数选项] 网卡设备名</a:t>
              </a:r>
            </a:p>
          </p:txBody>
        </p:sp>
        <p:grpSp>
          <p:nvGrpSpPr>
            <p:cNvPr id="2" name="组合 1"/>
            <p:cNvGrpSpPr/>
            <p:nvPr/>
          </p:nvGrpSpPr>
          <p:grpSpPr>
            <a:xfrm>
              <a:off x="1483" y="2917"/>
              <a:ext cx="6067" cy="514"/>
              <a:chOff x="1483" y="2917"/>
              <a:chExt cx="6067" cy="514"/>
            </a:xfrm>
          </p:grpSpPr>
          <p:sp>
            <p:nvSpPr>
              <p:cNvPr id="23" name="燕尾形 22"/>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17"/>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a:off x="1483" y="3420"/>
                <a:ext cx="6067" cy="11"/>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539062" y="2782342"/>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31" presetClass="entr" presetSubtype="0" fill="hold" nodeType="afterEffect">
                                  <p:stCondLst>
                                    <p:cond delay="0"/>
                                  </p:stCondLst>
                                  <p:iterate type="lt">
                                    <p:tmPct val="5000"/>
                                  </p:iterate>
                                  <p:childTnLst>
                                    <p:set>
                                      <p:cBhvr>
                                        <p:cTn id="15" dur="1" fill="hold">
                                          <p:stCondLst>
                                            <p:cond delay="0"/>
                                          </p:stCondLst>
                                        </p:cTn>
                                        <p:tgtEl>
                                          <p:spTgt spid="76"/>
                                        </p:tgtEl>
                                        <p:attrNameLst>
                                          <p:attrName>style.visibility</p:attrName>
                                        </p:attrNameLst>
                                      </p:cBhvr>
                                      <p:to>
                                        <p:strVal val="visible"/>
                                      </p:to>
                                    </p:set>
                                    <p:anim calcmode="lin" valueType="num">
                                      <p:cBhvr>
                                        <p:cTn id="16" dur="1000" fill="hold"/>
                                        <p:tgtEl>
                                          <p:spTgt spid="76"/>
                                        </p:tgtEl>
                                        <p:attrNameLst>
                                          <p:attrName>ppt_w</p:attrName>
                                        </p:attrNameLst>
                                      </p:cBhvr>
                                      <p:tavLst>
                                        <p:tav tm="0">
                                          <p:val>
                                            <p:fltVal val="0"/>
                                          </p:val>
                                        </p:tav>
                                        <p:tav tm="100000">
                                          <p:val>
                                            <p:strVal val="#ppt_w"/>
                                          </p:val>
                                        </p:tav>
                                      </p:tavLst>
                                    </p:anim>
                                    <p:anim calcmode="lin" valueType="num">
                                      <p:cBhvr>
                                        <p:cTn id="17" dur="1000" fill="hold"/>
                                        <p:tgtEl>
                                          <p:spTgt spid="76"/>
                                        </p:tgtEl>
                                        <p:attrNameLst>
                                          <p:attrName>ppt_h</p:attrName>
                                        </p:attrNameLst>
                                      </p:cBhvr>
                                      <p:tavLst>
                                        <p:tav tm="0">
                                          <p:val>
                                            <p:fltVal val="0"/>
                                          </p:val>
                                        </p:tav>
                                        <p:tav tm="100000">
                                          <p:val>
                                            <p:strVal val="#ppt_h"/>
                                          </p:val>
                                        </p:tav>
                                      </p:tavLst>
                                    </p:anim>
                                    <p:anim calcmode="lin" valueType="num">
                                      <p:cBhvr>
                                        <p:cTn id="18" dur="1000" fill="hold"/>
                                        <p:tgtEl>
                                          <p:spTgt spid="76"/>
                                        </p:tgtEl>
                                        <p:attrNameLst>
                                          <p:attrName>style.rotation</p:attrName>
                                        </p:attrNameLst>
                                      </p:cBhvr>
                                      <p:tavLst>
                                        <p:tav tm="0">
                                          <p:val>
                                            <p:fltVal val="90"/>
                                          </p:val>
                                        </p:tav>
                                        <p:tav tm="100000">
                                          <p:val>
                                            <p:fltVal val="0"/>
                                          </p:val>
                                        </p:tav>
                                      </p:tavLst>
                                    </p:anim>
                                    <p:animEffect transition="in" filter="fade">
                                      <p:cBhvr>
                                        <p:cTn id="19" dur="1000"/>
                                        <p:tgtEl>
                                          <p:spTgt spid="76"/>
                                        </p:tgtEl>
                                      </p:cBhvr>
                                    </p:animEffect>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0-#ppt_w/2"/>
                                          </p:val>
                                        </p:tav>
                                        <p:tav tm="100000">
                                          <p:val>
                                            <p:strVal val="#ppt_x"/>
                                          </p:val>
                                        </p:tav>
                                      </p:tavLst>
                                    </p:anim>
                                    <p:anim calcmode="lin" valueType="num">
                                      <p:cBhvr additive="base">
                                        <p:cTn id="24" dur="500" fill="hold"/>
                                        <p:tgtEl>
                                          <p:spTgt spid="31"/>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left)">
                                      <p:cBhvr>
                                        <p:cTn id="28" dur="500"/>
                                        <p:tgtEl>
                                          <p:spTgt spid="37"/>
                                        </p:tgtEl>
                                      </p:cBhvr>
                                    </p:animEffect>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additive="base">
                                        <p:cTn id="32" dur="500" fill="hold"/>
                                        <p:tgtEl>
                                          <p:spTgt spid="3"/>
                                        </p:tgtEl>
                                        <p:attrNameLst>
                                          <p:attrName>ppt_x</p:attrName>
                                        </p:attrNameLst>
                                      </p:cBhvr>
                                      <p:tavLst>
                                        <p:tav tm="0">
                                          <p:val>
                                            <p:strVal val="#ppt_x"/>
                                          </p:val>
                                        </p:tav>
                                        <p:tav tm="100000">
                                          <p:val>
                                            <p:strVal val="#ppt_x"/>
                                          </p:val>
                                        </p:tav>
                                      </p:tavLst>
                                    </p:anim>
                                    <p:anim calcmode="lin" valueType="num">
                                      <p:cBhvr additive="base">
                                        <p:cTn id="33" dur="500" fill="hold"/>
                                        <p:tgtEl>
                                          <p:spTgt spid="3"/>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ppt_x"/>
                                          </p:val>
                                        </p:tav>
                                        <p:tav tm="100000">
                                          <p:val>
                                            <p:strVal val="#ppt_x"/>
                                          </p:val>
                                        </p:tav>
                                      </p:tavLst>
                                    </p:anim>
                                    <p:anim calcmode="lin" valueType="num">
                                      <p:cBhvr additive="base">
                                        <p:cTn id="43" dur="50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4500"/>
                            </p:stCondLst>
                            <p:childTnLst>
                              <p:par>
                                <p:cTn id="45" presetID="2" presetClass="entr" presetSubtype="4" fill="hold" nodeType="afterEffect">
                                  <p:stCondLst>
                                    <p:cond delay="0"/>
                                  </p:stCondLst>
                                  <p:childTnLst>
                                    <p:set>
                                      <p:cBhvr>
                                        <p:cTn id="46" dur="1" fill="hold">
                                          <p:stCondLst>
                                            <p:cond delay="0"/>
                                          </p:stCondLst>
                                        </p:cTn>
                                        <p:tgtEl>
                                          <p:spTgt spid="18"/>
                                        </p:tgtEl>
                                        <p:attrNameLst>
                                          <p:attrName>style.visibility</p:attrName>
                                        </p:attrNameLst>
                                      </p:cBhvr>
                                      <p:to>
                                        <p:strVal val="visible"/>
                                      </p:to>
                                    </p:set>
                                    <p:anim calcmode="lin" valueType="num">
                                      <p:cBhvr additive="base">
                                        <p:cTn id="47" dur="500" fill="hold"/>
                                        <p:tgtEl>
                                          <p:spTgt spid="18"/>
                                        </p:tgtEl>
                                        <p:attrNameLst>
                                          <p:attrName>ppt_x</p:attrName>
                                        </p:attrNameLst>
                                      </p:cBhvr>
                                      <p:tavLst>
                                        <p:tav tm="0">
                                          <p:val>
                                            <p:strVal val="#ppt_x"/>
                                          </p:val>
                                        </p:tav>
                                        <p:tav tm="100000">
                                          <p:val>
                                            <p:strVal val="#ppt_x"/>
                                          </p:val>
                                        </p:tav>
                                      </p:tavLst>
                                    </p:anim>
                                    <p:anim calcmode="lin" valueType="num">
                                      <p:cBhvr additive="base">
                                        <p:cTn id="48" dur="500" fill="hold"/>
                                        <p:tgtEl>
                                          <p:spTgt spid="18"/>
                                        </p:tgtEl>
                                        <p:attrNameLst>
                                          <p:attrName>ppt_y</p:attrName>
                                        </p:attrNameLst>
                                      </p:cBhvr>
                                      <p:tavLst>
                                        <p:tav tm="0">
                                          <p:val>
                                            <p:strVal val="1+#ppt_h/2"/>
                                          </p:val>
                                        </p:tav>
                                        <p:tav tm="100000">
                                          <p:val>
                                            <p:strVal val="#ppt_y"/>
                                          </p:val>
                                        </p:tav>
                                      </p:tavLst>
                                    </p:anim>
                                  </p:childTnLst>
                                </p:cTn>
                              </p:par>
                            </p:childTnLst>
                          </p:cTn>
                        </p:par>
                        <p:par>
                          <p:cTn id="49" fill="hold">
                            <p:stCondLst>
                              <p:cond delay="5000"/>
                            </p:stCondLst>
                            <p:childTnLst>
                              <p:par>
                                <p:cTn id="50" presetID="2" presetClass="entr" presetSubtype="4" fill="hold" nodeType="afterEffect">
                                  <p:stCondLst>
                                    <p:cond delay="0"/>
                                  </p:stCondLst>
                                  <p:childTnLst>
                                    <p:set>
                                      <p:cBhvr>
                                        <p:cTn id="51" dur="1" fill="hold">
                                          <p:stCondLst>
                                            <p:cond delay="0"/>
                                          </p:stCondLst>
                                        </p:cTn>
                                        <p:tgtEl>
                                          <p:spTgt spid="22"/>
                                        </p:tgtEl>
                                        <p:attrNameLst>
                                          <p:attrName>style.visibility</p:attrName>
                                        </p:attrNameLst>
                                      </p:cBhvr>
                                      <p:to>
                                        <p:strVal val="visible"/>
                                      </p:to>
                                    </p:set>
                                    <p:anim calcmode="lin" valueType="num">
                                      <p:cBhvr additive="base">
                                        <p:cTn id="52" dur="500" fill="hold"/>
                                        <p:tgtEl>
                                          <p:spTgt spid="22"/>
                                        </p:tgtEl>
                                        <p:attrNameLst>
                                          <p:attrName>ppt_x</p:attrName>
                                        </p:attrNameLst>
                                      </p:cBhvr>
                                      <p:tavLst>
                                        <p:tav tm="0">
                                          <p:val>
                                            <p:strVal val="#ppt_x"/>
                                          </p:val>
                                        </p:tav>
                                        <p:tav tm="100000">
                                          <p:val>
                                            <p:strVal val="#ppt_x"/>
                                          </p:val>
                                        </p:tav>
                                      </p:tavLst>
                                    </p:anim>
                                    <p:anim calcmode="lin" valueType="num">
                                      <p:cBhvr additive="base">
                                        <p:cTn id="5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9" grpId="0" animBg="1"/>
      <p:bldP spid="29" grpId="1" animBg="1"/>
      <p:bldP spid="29" grpId="2"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79730" y="1056640"/>
            <a:ext cx="10726420" cy="5433060"/>
            <a:chOff x="598" y="1664"/>
            <a:chExt cx="17663" cy="8664"/>
          </a:xfrm>
        </p:grpSpPr>
        <p:grpSp>
          <p:nvGrpSpPr>
            <p:cNvPr id="5" name="组合 14"/>
            <p:cNvGrpSpPr/>
            <p:nvPr/>
          </p:nvGrpSpPr>
          <p:grpSpPr bwMode="auto">
            <a:xfrm>
              <a:off x="598" y="1664"/>
              <a:ext cx="17663" cy="8664"/>
              <a:chOff x="1196575" y="1455151"/>
              <a:chExt cx="9699365" cy="227372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298208" y="1610613"/>
                <a:ext cx="9467389" cy="2118261"/>
              </a:xfrm>
              <a:prstGeom prst="rect">
                <a:avLst/>
              </a:prstGeom>
              <a:solidFill>
                <a:srgbClr val="F2F2F2"/>
              </a:solidFill>
              <a:ln w="9525">
                <a:noFill/>
                <a:miter lim="800000"/>
              </a:ln>
            </p:spPr>
            <p:txBody>
              <a:bodyPr/>
              <a:lstStyle/>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ethtool eno16777736</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Settings for eno16777736:</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Supported ports: [ MII ]</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Supported link modes:   10baseT/Half 10baseT/Full</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100baseT/Half 100baseT/Full</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1000baseT/Half 1000baseT/Full</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Supports auto-negotiation: Yes</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Advertised link modes:  10baseT/Half 10baseT/Full</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100baseT/Half 100baseT/Full</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1000baseT/Half 1000baseT/Full</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Advertised auto-negotiation: Yes</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Speed: 100Mb/s		//传输速率为100Mb/s</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Duplex: Full			//工作方式为全双工</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Port: Twisted Pair</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PHYAD: 1</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Transceiver: internal</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Auto-negotiation: on	//自适应打开</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Supports Wake-on: g</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Wake-on: d</a:t>
                </a:r>
              </a:p>
              <a:p>
                <a:pPr indent="0" algn="l" eaLnBrk="1" fontAlgn="auto" latinLnBrk="0" hangingPunct="1">
                  <a:lnSpc>
                    <a:spcPct val="9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        Current message level: 0x000000ff (255)</a:t>
                </a:r>
              </a:p>
              <a:p>
                <a:pPr indent="0" algn="l" eaLnBrk="1" fontAlgn="auto" latinLnBrk="0" hangingPunct="1">
                  <a:lnSpc>
                    <a:spcPct val="9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Link detected: yes		//网线连接正常，即有网线连接</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6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【例7-6】</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查看网卡eth1的相关参数信息。</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443230" y="1056640"/>
            <a:ext cx="10726420" cy="5510049"/>
            <a:chOff x="598" y="1664"/>
            <a:chExt cx="17663" cy="862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2"/>
                </p:custDataLst>
              </p:nvPr>
            </p:nvSpPr>
            <p:spPr bwMode="auto">
              <a:xfrm>
                <a:off x="1298208" y="1641888"/>
                <a:ext cx="9467389" cy="2050993"/>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ethtool -s eno167777737 autoneg off speed 10 duplex half</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ethtool eno167777737</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Settings for eno16777737:</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Supported ports: [ MII ]</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Supported link modes:   10baseT/Half 10baseT/Full</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100baseT/Half 100baseT/Full</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1000baseT/Half 1000baseT/Full</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Supports auto-negotiation: Yes</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Advertised link modes:  Not reported</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Advertised auto-negotiation: No	//自适应关闭</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Speed: 10Mb/s			//传输速率为10Mb/s</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Duplex: Half				//工作模式为半双工</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Port: Twisted Pair</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PHYAD: 1</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Transceiver: internal</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Auto-negotiation: off</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Supports Wake-on: g</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Wake-on: d</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Current message level: 0x000000ff (255)</a:t>
                </a:r>
              </a:p>
              <a:p>
                <a:pPr indent="0" algn="l" eaLnBrk="1" fontAlgn="auto" latinLnBrk="0" hangingPunct="1">
                  <a:lnSpc>
                    <a:spcPct val="10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Link detected: yes</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64"/>
              <a:ext cx="17638" cy="65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又如，设置eno167777737网卡，自适应关闭，传输速率为10Mb/s，工作模式为半双工。</a:t>
              </a:r>
            </a:p>
          </p:txBody>
        </p:sp>
      </p:grpSp>
      <p:grpSp>
        <p:nvGrpSpPr>
          <p:cNvPr id="48" name="组合 47"/>
          <p:cNvGrpSpPr/>
          <p:nvPr/>
        </p:nvGrpSpPr>
        <p:grpSpPr>
          <a:xfrm>
            <a:off x="6879590" y="4724400"/>
            <a:ext cx="4251325" cy="1791970"/>
            <a:chOff x="13227" y="6981"/>
            <a:chExt cx="5268" cy="2898"/>
          </a:xfrm>
        </p:grpSpPr>
        <p:grpSp>
          <p:nvGrpSpPr>
            <p:cNvPr id="6" name="组合 14"/>
            <p:cNvGrpSpPr/>
            <p:nvPr/>
          </p:nvGrpSpPr>
          <p:grpSpPr bwMode="auto">
            <a:xfrm>
              <a:off x="13357" y="7586"/>
              <a:ext cx="5138" cy="2293"/>
              <a:chOff x="1166778" y="1762785"/>
              <a:chExt cx="9858444" cy="1737653"/>
            </a:xfrm>
          </p:grpSpPr>
          <p:grpSp>
            <p:nvGrpSpPr>
              <p:cNvPr id="50" name="组合 12"/>
              <p:cNvGrpSpPr/>
              <p:nvPr/>
            </p:nvGrpSpPr>
            <p:grpSpPr bwMode="auto">
              <a:xfrm>
                <a:off x="1166778" y="1762785"/>
                <a:ext cx="9858444" cy="1737653"/>
                <a:chOff x="1166778" y="1762785"/>
                <a:chExt cx="9858444" cy="1737653"/>
              </a:xfrm>
            </p:grpSpPr>
            <p:sp>
              <p:nvSpPr>
                <p:cNvPr id="51" name="矩形 50"/>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2455861" y="1762785"/>
                  <a:ext cx="4380122" cy="56031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53" name="MH_Text_1"/>
              <p:cNvSpPr txBox="1">
                <a:spLocks noChangeArrowheads="1"/>
              </p:cNvSpPr>
              <p:nvPr>
                <p:custDataLst>
                  <p:tags r:id="rId1"/>
                </p:custDataLst>
              </p:nvPr>
            </p:nvSpPr>
            <p:spPr bwMode="auto">
              <a:xfrm>
                <a:off x="1198483" y="2350756"/>
                <a:ext cx="9654950" cy="1078172"/>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如果为no时，表示此网卡没有激活、启用或网线没有连接。</a:t>
                </a:r>
              </a:p>
            </p:txBody>
          </p:sp>
        </p:grpSp>
        <p:pic>
          <p:nvPicPr>
            <p:cNvPr id="54" name="图片 4" descr="www.tuweimei.comComp_9747389_aloyhm04q205BMmtimdiv2o2HN82PIep.jpg"/>
            <p:cNvPicPr>
              <a:picLocks noGrp="1" noChangeAspect="1" noChangeArrowheads="1"/>
            </p:cNvPicPr>
            <p:nvPr/>
          </p:nvPicPr>
          <p:blipFill>
            <a:blip r:embed="rId4" cstate="print">
              <a:clrChange>
                <a:clrFrom>
                  <a:srgbClr val="FFFFFF"/>
                </a:clrFrom>
                <a:clrTo>
                  <a:srgbClr val="FFFFFF">
                    <a:alpha val="0"/>
                  </a:srgbClr>
                </a:clrTo>
              </a:clrChange>
            </a:blip>
            <a:srcRect/>
            <a:stretch>
              <a:fillRect/>
            </a:stretch>
          </p:blipFill>
          <p:spPr bwMode="auto">
            <a:xfrm>
              <a:off x="13227" y="6981"/>
              <a:ext cx="1095" cy="1508"/>
            </a:xfrm>
            <a:prstGeom prst="rect">
              <a:avLst/>
            </a:prstGeom>
            <a:noFill/>
            <a:ln w="9525">
              <a:noFill/>
              <a:miter lim="800000"/>
              <a:headEnd/>
              <a:tailEnd/>
            </a:ln>
          </p:spPr>
        </p:pic>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strips(downRight)">
                                      <p:cBhvr>
                                        <p:cTn id="11"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939800" y="3295015"/>
            <a:ext cx="10067290" cy="3194050"/>
            <a:chOff x="1639711" y="4186226"/>
            <a:chExt cx="11350034" cy="2914087"/>
          </a:xfrm>
        </p:grpSpPr>
        <p:sp>
          <p:nvSpPr>
            <p:cNvPr id="49" name="Text Box 44"/>
            <p:cNvSpPr txBox="1">
              <a:spLocks noChangeArrowheads="1"/>
            </p:cNvSpPr>
            <p:nvPr/>
          </p:nvSpPr>
          <p:spPr bwMode="auto">
            <a:xfrm>
              <a:off x="1639711" y="5266122"/>
              <a:ext cx="591882" cy="754882"/>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95000"/>
                </a:lnSpc>
              </a:pPr>
              <a:r>
                <a:rPr lang="zh-CN" altLang="en-US" sz="2400" b="1" dirty="0">
                  <a:solidFill>
                    <a:srgbClr val="D24726"/>
                  </a:solidFill>
                </a:rPr>
                <a:t>参数</a:t>
              </a:r>
            </a:p>
          </p:txBody>
        </p:sp>
        <p:sp>
          <p:nvSpPr>
            <p:cNvPr id="24" name="矩形 23"/>
            <p:cNvSpPr/>
            <p:nvPr/>
          </p:nvSpPr>
          <p:spPr>
            <a:xfrm>
              <a:off x="2843864" y="4186226"/>
              <a:ext cx="10145881" cy="2914087"/>
            </a:xfrm>
            <a:prstGeom prst="rect">
              <a:avLst/>
            </a:prstGeom>
          </p:spPr>
          <p:txBody>
            <a:bodyPr wrap="square">
              <a:spAutoFit/>
            </a:bodyPr>
            <a:lstStyle/>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-V</a:t>
              </a:r>
              <a:r>
                <a:rPr sz="1800" dirty="0">
                  <a:solidFill>
                    <a:schemeClr val="tx1"/>
                  </a:solidFill>
                  <a:latin typeface="微软雅黑" panose="020B0503020204020204" pitchFamily="34" charset="-122"/>
                  <a:ea typeface="微软雅黑" panose="020B0503020204020204" pitchFamily="34" charset="-122"/>
                </a:rPr>
                <a:t>		显示mii-tool命令的版本</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-v	</a:t>
              </a:r>
              <a:r>
                <a:rPr sz="1800" dirty="0">
                  <a:solidFill>
                    <a:schemeClr val="tx1"/>
                  </a:solidFill>
                  <a:latin typeface="微软雅黑" panose="020B0503020204020204" pitchFamily="34" charset="-122"/>
                  <a:ea typeface="微软雅黑" panose="020B0503020204020204" pitchFamily="34" charset="-122"/>
                </a:rPr>
                <a:t>	显示网络接口的信息</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-R</a:t>
              </a:r>
              <a:r>
                <a:rPr sz="1800" dirty="0">
                  <a:solidFill>
                    <a:schemeClr val="tx1"/>
                  </a:solidFill>
                  <a:latin typeface="微软雅黑" panose="020B0503020204020204" pitchFamily="34" charset="-122"/>
                  <a:ea typeface="微软雅黑" panose="020B0503020204020204" pitchFamily="34" charset="-122"/>
                </a:rPr>
                <a:t>		重新设置mii到开启状态</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-r</a:t>
              </a:r>
              <a:r>
                <a:rPr sz="1800" dirty="0">
                  <a:solidFill>
                    <a:schemeClr val="tx1"/>
                  </a:solidFill>
                  <a:latin typeface="微软雅黑" panose="020B0503020204020204" pitchFamily="34" charset="-122"/>
                  <a:ea typeface="微软雅黑" panose="020B0503020204020204" pitchFamily="34" charset="-122"/>
                </a:rPr>
                <a:t>		重启自动协商模式</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-w</a:t>
              </a:r>
              <a:r>
                <a:rPr sz="1800" dirty="0">
                  <a:solidFill>
                    <a:schemeClr val="tx1"/>
                  </a:solidFill>
                  <a:latin typeface="微软雅黑" panose="020B0503020204020204" pitchFamily="34" charset="-122"/>
                  <a:ea typeface="微软雅黑" panose="020B0503020204020204" pitchFamily="34" charset="-122"/>
                </a:rPr>
                <a:t>		查看网络接口连接的状态变化</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-l</a:t>
              </a:r>
              <a:r>
                <a:rPr sz="1800" dirty="0">
                  <a:solidFill>
                    <a:schemeClr val="tx1"/>
                  </a:solidFill>
                  <a:latin typeface="微软雅黑" panose="020B0503020204020204" pitchFamily="34" charset="-122"/>
                  <a:ea typeface="微软雅黑" panose="020B0503020204020204" pitchFamily="34" charset="-122"/>
                </a:rPr>
                <a:t>		写入事件到系统日志</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-A</a:t>
              </a:r>
              <a:r>
                <a:rPr sz="1800" dirty="0">
                  <a:solidFill>
                    <a:schemeClr val="tx1"/>
                  </a:solidFill>
                  <a:latin typeface="微软雅黑" panose="020B0503020204020204" pitchFamily="34" charset="-122"/>
                  <a:ea typeface="微软雅黑" panose="020B0503020204020204" pitchFamily="34" charset="-122"/>
                </a:rPr>
                <a:t>		指令特定的网络接口</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-F</a:t>
              </a:r>
              <a:r>
                <a:rPr sz="1800" dirty="0">
                  <a:solidFill>
                    <a:schemeClr val="tx1"/>
                  </a:solidFill>
                  <a:latin typeface="微软雅黑" panose="020B0503020204020204" pitchFamily="34" charset="-122"/>
                  <a:ea typeface="微软雅黑" panose="020B0503020204020204" pitchFamily="34" charset="-122"/>
                </a:rPr>
                <a:t>	             更改网络接口协商方式，常用的协商方式有：100baseT4，100baseTx-FD，100baseTx-HD，10baseT-FD，10baseT-HD等。</a:t>
              </a:r>
            </a:p>
          </p:txBody>
        </p:sp>
        <p:sp>
          <p:nvSpPr>
            <p:cNvPr id="25" name="左大括号 24"/>
            <p:cNvSpPr/>
            <p:nvPr/>
          </p:nvSpPr>
          <p:spPr>
            <a:xfrm>
              <a:off x="2493290" y="4186226"/>
              <a:ext cx="296827" cy="2914087"/>
            </a:xfrm>
            <a:prstGeom prst="leftBrace">
              <a:avLst/>
            </a:prstGeom>
            <a:solidFill>
              <a:schemeClr val="bg2"/>
            </a:solidFill>
            <a:ln w="34925" cap="flat" cmpd="sng" algn="ctr">
              <a:solidFill>
                <a:schemeClr val="accent2"/>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sp>
        <p:nvSpPr>
          <p:cNvPr id="33" name="矩形 32"/>
          <p:cNvSpPr/>
          <p:nvPr/>
        </p:nvSpPr>
        <p:spPr>
          <a:xfrm>
            <a:off x="552450" y="11017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4．mii-tool命令</a:t>
            </a:r>
          </a:p>
        </p:txBody>
      </p:sp>
      <p:sp>
        <p:nvSpPr>
          <p:cNvPr id="29" name="圆角矩形 28"/>
          <p:cNvSpPr/>
          <p:nvPr/>
        </p:nvSpPr>
        <p:spPr>
          <a:xfrm>
            <a:off x="552450" y="1703705"/>
            <a:ext cx="10588625" cy="85026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a:lnSpc>
                <a:spcPct val="12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sym typeface="+mn-ea"/>
              </a:rPr>
              <a:t>mii-tool命令用于查看、管理网卡的网络接口的状态，如网卡的传输速率、半双工、全双工、自适应、网卡是否连接正确等。</a:t>
            </a:r>
          </a:p>
        </p:txBody>
      </p:sp>
      <p:grpSp>
        <p:nvGrpSpPr>
          <p:cNvPr id="31" name="组合 30"/>
          <p:cNvGrpSpPr/>
          <p:nvPr/>
        </p:nvGrpSpPr>
        <p:grpSpPr>
          <a:xfrm>
            <a:off x="1893570" y="2645410"/>
            <a:ext cx="4404163" cy="478790"/>
            <a:chOff x="1483" y="2676"/>
            <a:chExt cx="6882" cy="754"/>
          </a:xfrm>
        </p:grpSpPr>
        <p:sp>
          <p:nvSpPr>
            <p:cNvPr id="35" name="TextBox 29"/>
            <p:cNvSpPr txBox="1"/>
            <p:nvPr/>
          </p:nvSpPr>
          <p:spPr>
            <a:xfrm>
              <a:off x="1963" y="2676"/>
              <a:ext cx="6402"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mii-tool  [参数选项]  网卡设备名</a:t>
              </a:r>
            </a:p>
          </p:txBody>
        </p:sp>
        <p:grpSp>
          <p:nvGrpSpPr>
            <p:cNvPr id="2" name="组合 1"/>
            <p:cNvGrpSpPr/>
            <p:nvPr/>
          </p:nvGrpSpPr>
          <p:grpSpPr>
            <a:xfrm>
              <a:off x="1483" y="2941"/>
              <a:ext cx="6567" cy="489"/>
              <a:chOff x="1483" y="2941"/>
              <a:chExt cx="6567" cy="489"/>
            </a:xfrm>
          </p:grpSpPr>
          <p:sp>
            <p:nvSpPr>
              <p:cNvPr id="3" name="燕尾形 2"/>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燕尾形 37"/>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a:off x="1483" y="3420"/>
                <a:ext cx="6567" cy="10"/>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539062" y="2599462"/>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31" presetClass="entr" presetSubtype="0" fill="hold" nodeType="afterEffect">
                                  <p:stCondLst>
                                    <p:cond delay="0"/>
                                  </p:stCondLst>
                                  <p:iterate type="lt">
                                    <p:tmPct val="5000"/>
                                  </p:iterate>
                                  <p:childTnLst>
                                    <p:set>
                                      <p:cBhvr>
                                        <p:cTn id="15" dur="1" fill="hold">
                                          <p:stCondLst>
                                            <p:cond delay="0"/>
                                          </p:stCondLst>
                                        </p:cTn>
                                        <p:tgtEl>
                                          <p:spTgt spid="76"/>
                                        </p:tgtEl>
                                        <p:attrNameLst>
                                          <p:attrName>style.visibility</p:attrName>
                                        </p:attrNameLst>
                                      </p:cBhvr>
                                      <p:to>
                                        <p:strVal val="visible"/>
                                      </p:to>
                                    </p:set>
                                    <p:anim calcmode="lin" valueType="num">
                                      <p:cBhvr>
                                        <p:cTn id="16" dur="1000" fill="hold"/>
                                        <p:tgtEl>
                                          <p:spTgt spid="76"/>
                                        </p:tgtEl>
                                        <p:attrNameLst>
                                          <p:attrName>ppt_w</p:attrName>
                                        </p:attrNameLst>
                                      </p:cBhvr>
                                      <p:tavLst>
                                        <p:tav tm="0">
                                          <p:val>
                                            <p:fltVal val="0"/>
                                          </p:val>
                                        </p:tav>
                                        <p:tav tm="100000">
                                          <p:val>
                                            <p:strVal val="#ppt_w"/>
                                          </p:val>
                                        </p:tav>
                                      </p:tavLst>
                                    </p:anim>
                                    <p:anim calcmode="lin" valueType="num">
                                      <p:cBhvr>
                                        <p:cTn id="17" dur="1000" fill="hold"/>
                                        <p:tgtEl>
                                          <p:spTgt spid="76"/>
                                        </p:tgtEl>
                                        <p:attrNameLst>
                                          <p:attrName>ppt_h</p:attrName>
                                        </p:attrNameLst>
                                      </p:cBhvr>
                                      <p:tavLst>
                                        <p:tav tm="0">
                                          <p:val>
                                            <p:fltVal val="0"/>
                                          </p:val>
                                        </p:tav>
                                        <p:tav tm="100000">
                                          <p:val>
                                            <p:strVal val="#ppt_h"/>
                                          </p:val>
                                        </p:tav>
                                      </p:tavLst>
                                    </p:anim>
                                    <p:anim calcmode="lin" valueType="num">
                                      <p:cBhvr>
                                        <p:cTn id="18" dur="1000" fill="hold"/>
                                        <p:tgtEl>
                                          <p:spTgt spid="76"/>
                                        </p:tgtEl>
                                        <p:attrNameLst>
                                          <p:attrName>style.rotation</p:attrName>
                                        </p:attrNameLst>
                                      </p:cBhvr>
                                      <p:tavLst>
                                        <p:tav tm="0">
                                          <p:val>
                                            <p:fltVal val="90"/>
                                          </p:val>
                                        </p:tav>
                                        <p:tav tm="100000">
                                          <p:val>
                                            <p:fltVal val="0"/>
                                          </p:val>
                                        </p:tav>
                                      </p:tavLst>
                                    </p:anim>
                                    <p:animEffect transition="in" filter="fade">
                                      <p:cBhvr>
                                        <p:cTn id="19" dur="1000"/>
                                        <p:tgtEl>
                                          <p:spTgt spid="76"/>
                                        </p:tgtEl>
                                      </p:cBhvr>
                                    </p:animEffect>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 calcmode="lin" valueType="num">
                                      <p:cBhvr additive="base">
                                        <p:cTn id="23" dur="500" fill="hold"/>
                                        <p:tgtEl>
                                          <p:spTgt spid="31"/>
                                        </p:tgtEl>
                                        <p:attrNameLst>
                                          <p:attrName>ppt_x</p:attrName>
                                        </p:attrNameLst>
                                      </p:cBhvr>
                                      <p:tavLst>
                                        <p:tav tm="0">
                                          <p:val>
                                            <p:strVal val="0-#ppt_w/2"/>
                                          </p:val>
                                        </p:tav>
                                        <p:tav tm="100000">
                                          <p:val>
                                            <p:strVal val="#ppt_x"/>
                                          </p:val>
                                        </p:tav>
                                      </p:tavLst>
                                    </p:anim>
                                    <p:anim calcmode="lin" valueType="num">
                                      <p:cBhvr additive="base">
                                        <p:cTn id="24" dur="500" fill="hold"/>
                                        <p:tgtEl>
                                          <p:spTgt spid="31"/>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wipe(left)">
                                      <p:cBhvr>
                                        <p:cTn id="2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9" grpId="0" animBg="1"/>
      <p:bldP spid="29" grpId="1" animBg="1"/>
      <p:bldP spid="29" grpId="2"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79730" y="1044098"/>
            <a:ext cx="10726420" cy="5420201"/>
            <a:chOff x="598" y="1644"/>
            <a:chExt cx="17663" cy="864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309692" y="1615927"/>
                <a:ext cx="9467389" cy="2078665"/>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mii-tool -v</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eth0: negotiated 100baseTx-FD, link ok</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product info: vendor 00:08:18, model 24 rev 0</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mode: autonegotiation enabled</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status: autonegotiation complete, link ok</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capabilities: 100baseTx-FD 100baseTx-HD 10baseT-FD 10baseT-HD</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advertising: 100baseTx-FD 100baseTx-HD 10baseT-FD 10baseT-HD flow-control</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link partner: 100baseTx-FD 100baseTx-HD 10baseT-FD 10baseT-HD</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eth1: negotiated 100baseTx-FD flow-control, link ok</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product info: vendor 00:08:18, model 24 rev 0</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mode: autonegotiation enabled</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status: autonegotiation complete, link ok</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capabilities: 100baseTx-FD 100baseTx-HD 10baseT-FD 10baseT-HD</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advertising: 100baseTx-FD 100baseTx-HD 10baseT-FD 10baseT-HD flow-control</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link partner: 100baseTx-FD 100baseTx-HD 10baseT-FD 10baseT-HD flow-control</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mii-tool</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eth0: negotiated 100baseTx-FD, link ok</a:t>
                </a:r>
              </a:p>
              <a:p>
                <a:pPr indent="0" algn="l" eaLnBrk="1" fontAlgn="auto" latinLnBrk="0" hangingPunct="1">
                  <a:lnSpc>
                    <a:spcPct val="11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eth1: negotiated 100baseTx-FD flow-control, link ok</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4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a:solidFill>
                    <a:srgbClr val="FF0000"/>
                  </a:solidFill>
                  <a:latin typeface="微软雅黑" panose="020B0503020204020204" pitchFamily="34" charset="-122"/>
                  <a:ea typeface="微软雅黑" panose="020B0503020204020204" pitchFamily="34" charset="-122"/>
                  <a:cs typeface="华康俪金黑W8(P)"/>
                </a:rPr>
                <a:t>【例7-</a:t>
              </a:r>
              <a:r>
                <a:rPr lang="en-US" altLang="zh-CN" sz="1800" b="1">
                  <a:solidFill>
                    <a:srgbClr val="FF0000"/>
                  </a:solidFill>
                  <a:latin typeface="微软雅黑" panose="020B0503020204020204" pitchFamily="34" charset="-122"/>
                  <a:ea typeface="微软雅黑" panose="020B0503020204020204" pitchFamily="34" charset="-122"/>
                  <a:cs typeface="华康俪金黑W8(P)"/>
                </a:rPr>
                <a:t>7</a:t>
              </a:r>
              <a:r>
                <a:rPr lang="zh-CN" altLang="en-US" sz="1800" b="1">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查看网络接口的协商状态。</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79730" y="1044098"/>
            <a:ext cx="10726420" cy="5420201"/>
            <a:chOff x="598" y="1644"/>
            <a:chExt cx="17663" cy="864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309692" y="1615927"/>
                <a:ext cx="9467389" cy="2078665"/>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mii-tool -v eth1</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eth1: negotiated 100baseTx-FD flow-control, link ok</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product info: vendor 00:08:18, model 24 rev 0</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mode: autonegotiation enabled</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status: autonegotiation complete, link ok</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capabilities: 100baseTx-FD 100baseTx-HD 10baseT-FD 10baseT-HD</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advertising: 100baseTx-FD 100baseTx-HD 10baseT-FD 10baseT-HD flow-control</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link partner: 100baseTx-FD 100baseTx-HD 10baseT-FD 10baseT-HD flow-control</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mii-tool -F 100baseTx-FD eth1</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mii-tool -v eth1</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eth1: 100 Mbit, full duplex, link ok</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product info: vendor 00:08:18, model 24 rev 0</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mode: 100 Mbit, full duplex</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basic status: link ok //表示已将网卡的协商方式从自适应设置为100baseTX-FD方式</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capabilities: 100baseTx-FD 100baseTx-HD 10baseT-FD 10baseT-HD</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advertising: 100baseTx-FD 100baseTx-HD 10baseT-FD 10baseT-HD flow-control</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4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altLang="zh-CN" sz="1800" b="1">
                  <a:solidFill>
                    <a:srgbClr val="009900"/>
                  </a:solidFill>
                  <a:latin typeface="微软雅黑" panose="020B0503020204020204" pitchFamily="34" charset="-122"/>
                  <a:ea typeface="微软雅黑" panose="020B0503020204020204" pitchFamily="34" charset="-122"/>
                  <a:cs typeface="华康俪金黑W8(P)"/>
                </a:rPr>
                <a:t>  </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又如，更改网络接口的协商方式，在进行更改时，不要超过网卡所支持的协商方式。</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635000" y="111696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5．netstat命令</a:t>
            </a:r>
          </a:p>
        </p:txBody>
      </p:sp>
      <p:sp>
        <p:nvSpPr>
          <p:cNvPr id="29" name="圆角矩形 28"/>
          <p:cNvSpPr/>
          <p:nvPr/>
        </p:nvSpPr>
        <p:spPr>
          <a:xfrm>
            <a:off x="5308600" y="1682115"/>
            <a:ext cx="5951855" cy="126301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a:lnSpc>
                <a:spcPct val="130000"/>
              </a:lnSpc>
              <a:buFont typeface="Arial" panose="020B0604020202020204" pitchFamily="34" charset="0"/>
              <a:buNone/>
            </a:pPr>
            <a:r>
              <a:rPr lang="zh-CN" altLang="en-US" sz="2000">
                <a:solidFill>
                  <a:schemeClr val="tx1"/>
                </a:solidFill>
                <a:latin typeface="微软雅黑" panose="020B0503020204020204" pitchFamily="34" charset="-122"/>
                <a:ea typeface="微软雅黑" panose="020B0503020204020204" pitchFamily="34" charset="-122"/>
                <a:sym typeface="+mn-ea"/>
              </a:rPr>
              <a:t>netstat命令用于数据监听及连接的情况。包括正在监听的服务、已连接的会话、正在结束的会话、服务器的socket连接情况等。</a:t>
            </a:r>
          </a:p>
        </p:txBody>
      </p:sp>
      <p:grpSp>
        <p:nvGrpSpPr>
          <p:cNvPr id="6" name="组合 5"/>
          <p:cNvGrpSpPr/>
          <p:nvPr/>
        </p:nvGrpSpPr>
        <p:grpSpPr>
          <a:xfrm>
            <a:off x="2701290" y="3284855"/>
            <a:ext cx="6932295" cy="396240"/>
            <a:chOff x="2213609" y="1428736"/>
            <a:chExt cx="8342326" cy="660800"/>
          </a:xfrm>
        </p:grpSpPr>
        <p:sp>
          <p:nvSpPr>
            <p:cNvPr id="7" name="MH_SubTitle_1"/>
            <p:cNvSpPr/>
            <p:nvPr>
              <p:custDataLst>
                <p:tags r:id="rId13"/>
              </p:custDataLst>
            </p:nvPr>
          </p:nvSpPr>
          <p:spPr>
            <a:xfrm>
              <a:off x="3595973" y="1454151"/>
              <a:ext cx="6959962" cy="604675"/>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lstStyle/>
            <a:p>
              <a:pPr>
                <a:lnSpc>
                  <a:spcPct val="130000"/>
                </a:lnSpc>
                <a:defRPr/>
              </a:pPr>
              <a:r>
                <a:rPr lang="en-US" sz="2000" b="1" dirty="0">
                  <a:solidFill>
                    <a:schemeClr val="tx1"/>
                  </a:solidFill>
                  <a:latin typeface="微软雅黑" panose="020B0503020204020204" pitchFamily="34" charset="-122"/>
                  <a:ea typeface="微软雅黑" panose="020B0503020204020204" pitchFamily="34" charset="-122"/>
                </a:rPr>
                <a:t>           </a:t>
              </a:r>
              <a:r>
                <a:rPr sz="2000" dirty="0">
                  <a:latin typeface="微软雅黑" panose="020B0503020204020204" pitchFamily="34" charset="-122"/>
                  <a:ea typeface="微软雅黑" panose="020B0503020204020204" pitchFamily="34" charset="-122"/>
                  <a:sym typeface="+mn-ea"/>
                </a:rPr>
                <a:t>显示所有协议和socket连接信息</a:t>
              </a:r>
            </a:p>
          </p:txBody>
        </p:sp>
        <p:sp>
          <p:nvSpPr>
            <p:cNvPr id="8" name="MH_Other_1"/>
            <p:cNvSpPr/>
            <p:nvPr>
              <p:custDataLst>
                <p:tags r:id="rId14"/>
              </p:custDataLst>
            </p:nvPr>
          </p:nvSpPr>
          <p:spPr>
            <a:xfrm>
              <a:off x="2213609" y="1428736"/>
              <a:ext cx="2093032" cy="660800"/>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r>
                <a:rPr lang="en-US" altLang="zh-CN" sz="2800" b="1" dirty="0">
                  <a:solidFill>
                    <a:srgbClr val="FFFFFF"/>
                  </a:solidFill>
                </a:rPr>
                <a:t>a</a:t>
              </a:r>
            </a:p>
          </p:txBody>
        </p:sp>
      </p:grpSp>
      <p:grpSp>
        <p:nvGrpSpPr>
          <p:cNvPr id="13" name="组合 12"/>
          <p:cNvGrpSpPr/>
          <p:nvPr/>
        </p:nvGrpSpPr>
        <p:grpSpPr>
          <a:xfrm>
            <a:off x="2701290" y="3712210"/>
            <a:ext cx="6932296" cy="396240"/>
            <a:chOff x="2213609" y="2349487"/>
            <a:chExt cx="8323065" cy="659211"/>
          </a:xfrm>
        </p:grpSpPr>
        <p:sp>
          <p:nvSpPr>
            <p:cNvPr id="9" name="MH_SubTitle_2"/>
            <p:cNvSpPr/>
            <p:nvPr>
              <p:custDataLst>
                <p:tags r:id="rId11"/>
              </p:custDataLst>
            </p:nvPr>
          </p:nvSpPr>
          <p:spPr>
            <a:xfrm>
              <a:off x="3595831" y="2374841"/>
              <a:ext cx="6940843" cy="60427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fontScale="97500" lnSpcReduction="10000"/>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显示对应的源ip地址和目的ip地址</a:t>
              </a:r>
            </a:p>
          </p:txBody>
        </p:sp>
        <p:sp>
          <p:nvSpPr>
            <p:cNvPr id="10" name="MH_Other_2"/>
            <p:cNvSpPr/>
            <p:nvPr>
              <p:custDataLst>
                <p:tags r:id="rId12"/>
              </p:custDataLst>
            </p:nvPr>
          </p:nvSpPr>
          <p:spPr>
            <a:xfrm>
              <a:off x="2213609" y="2349487"/>
              <a:ext cx="2088962" cy="659211"/>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r>
                <a:rPr lang="en-US" altLang="zh-CN" sz="2800" b="1" dirty="0">
                  <a:solidFill>
                    <a:srgbClr val="FFFFFF"/>
                  </a:solidFill>
                </a:rPr>
                <a:t>n</a:t>
              </a:r>
            </a:p>
          </p:txBody>
        </p:sp>
      </p:grpSp>
      <p:grpSp>
        <p:nvGrpSpPr>
          <p:cNvPr id="14" name="组合 13"/>
          <p:cNvGrpSpPr/>
          <p:nvPr/>
        </p:nvGrpSpPr>
        <p:grpSpPr>
          <a:xfrm>
            <a:off x="2691130" y="4226560"/>
            <a:ext cx="6935470" cy="396240"/>
            <a:chOff x="2231339" y="3270238"/>
            <a:chExt cx="8346146" cy="659211"/>
          </a:xfrm>
        </p:grpSpPr>
        <p:sp>
          <p:nvSpPr>
            <p:cNvPr id="17" name="MH_SubTitle_3"/>
            <p:cNvSpPr/>
            <p:nvPr>
              <p:custDataLst>
                <p:tags r:id="rId9"/>
              </p:custDataLst>
            </p:nvPr>
          </p:nvSpPr>
          <p:spPr>
            <a:xfrm>
              <a:off x="3595363" y="3294536"/>
              <a:ext cx="6982122" cy="606390"/>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a:bodyPr>
            <a:lstStyle/>
            <a:p>
              <a:pPr>
                <a:lnSpc>
                  <a:spcPct val="130000"/>
                </a:lnSpc>
                <a:defRPr/>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显示正在监听的信息</a:t>
              </a:r>
            </a:p>
          </p:txBody>
        </p:sp>
        <p:sp>
          <p:nvSpPr>
            <p:cNvPr id="18" name="MH_Other_3"/>
            <p:cNvSpPr/>
            <p:nvPr>
              <p:custDataLst>
                <p:tags r:id="rId10"/>
              </p:custDataLst>
            </p:nvPr>
          </p:nvSpPr>
          <p:spPr>
            <a:xfrm>
              <a:off x="2231339" y="3270238"/>
              <a:ext cx="2093032" cy="659211"/>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r>
                <a:rPr lang="en-US" altLang="zh-CN" sz="2800" b="1" dirty="0">
                  <a:solidFill>
                    <a:srgbClr val="FFFFFF"/>
                  </a:solidFill>
                </a:rPr>
                <a:t>l</a:t>
              </a:r>
              <a:r>
                <a:rPr lang="zh-CN" altLang="en-US" sz="2800" b="1" dirty="0">
                  <a:solidFill>
                    <a:srgbClr val="FFFFFF"/>
                  </a:solidFill>
                </a:rPr>
                <a:t> </a:t>
              </a:r>
            </a:p>
          </p:txBody>
        </p:sp>
      </p:grpSp>
      <p:grpSp>
        <p:nvGrpSpPr>
          <p:cNvPr id="19" name="组合 18"/>
          <p:cNvGrpSpPr/>
          <p:nvPr/>
        </p:nvGrpSpPr>
        <p:grpSpPr>
          <a:xfrm>
            <a:off x="2670810" y="4719320"/>
            <a:ext cx="6956425" cy="396240"/>
            <a:chOff x="2249839" y="4189401"/>
            <a:chExt cx="8444654" cy="669212"/>
          </a:xfrm>
        </p:grpSpPr>
        <p:sp>
          <p:nvSpPr>
            <p:cNvPr id="20" name="MH_SubTitle_4"/>
            <p:cNvSpPr/>
            <p:nvPr>
              <p:custDataLst>
                <p:tags r:id="rId7"/>
              </p:custDataLst>
            </p:nvPr>
          </p:nvSpPr>
          <p:spPr>
            <a:xfrm>
              <a:off x="3688244" y="4251603"/>
              <a:ext cx="7006249" cy="607010"/>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fontScale="97500" lnSpcReduction="10000"/>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显示UDP协议信息</a:t>
              </a:r>
            </a:p>
          </p:txBody>
        </p:sp>
        <p:sp>
          <p:nvSpPr>
            <p:cNvPr id="21" name="MH_Other_4"/>
            <p:cNvSpPr/>
            <p:nvPr>
              <p:custDataLst>
                <p:tags r:id="rId8"/>
              </p:custDataLst>
            </p:nvPr>
          </p:nvSpPr>
          <p:spPr>
            <a:xfrm>
              <a:off x="2249839" y="4189401"/>
              <a:ext cx="2112127" cy="660633"/>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r>
                <a:rPr lang="en-US" altLang="zh-CN" sz="2800" b="1" dirty="0">
                  <a:solidFill>
                    <a:srgbClr val="FFFFFF"/>
                  </a:solidFill>
                </a:rPr>
                <a:t>u</a:t>
              </a:r>
            </a:p>
          </p:txBody>
        </p:sp>
      </p:grpSp>
      <p:grpSp>
        <p:nvGrpSpPr>
          <p:cNvPr id="37" name="组合 36"/>
          <p:cNvGrpSpPr/>
          <p:nvPr/>
        </p:nvGrpSpPr>
        <p:grpSpPr>
          <a:xfrm>
            <a:off x="1701800" y="3299460"/>
            <a:ext cx="851535" cy="3213735"/>
            <a:chOff x="976" y="3009"/>
            <a:chExt cx="1341" cy="6894"/>
          </a:xfrm>
        </p:grpSpPr>
        <p:sp>
          <p:nvSpPr>
            <p:cNvPr id="22" name="Text Box 44"/>
            <p:cNvSpPr txBox="1">
              <a:spLocks noChangeArrowheads="1"/>
            </p:cNvSpPr>
            <p:nvPr/>
          </p:nvSpPr>
          <p:spPr bwMode="auto">
            <a:xfrm>
              <a:off x="976" y="5778"/>
              <a:ext cx="689" cy="1775"/>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95000"/>
                </a:lnSpc>
              </a:pPr>
              <a:r>
                <a:rPr lang="zh-CN" altLang="en-US" sz="2400" b="1" dirty="0">
                  <a:solidFill>
                    <a:srgbClr val="0070C0"/>
                  </a:solidFill>
                </a:rPr>
                <a:t>参数</a:t>
              </a:r>
            </a:p>
          </p:txBody>
        </p:sp>
        <p:sp>
          <p:nvSpPr>
            <p:cNvPr id="36" name="左大括号 35"/>
            <p:cNvSpPr/>
            <p:nvPr/>
          </p:nvSpPr>
          <p:spPr>
            <a:xfrm>
              <a:off x="1850" y="3009"/>
              <a:ext cx="467" cy="6894"/>
            </a:xfrm>
            <a:prstGeom prst="leftBrace">
              <a:avLst/>
            </a:prstGeom>
            <a:solidFill>
              <a:schemeClr val="bg1"/>
            </a:solidFill>
            <a:ln w="28575" cap="flat" cmpd="sng" algn="ctr">
              <a:solidFill>
                <a:schemeClr val="accent1">
                  <a:shade val="50000"/>
                </a:schemeClr>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27" name="组合 26"/>
          <p:cNvGrpSpPr/>
          <p:nvPr/>
        </p:nvGrpSpPr>
        <p:grpSpPr>
          <a:xfrm>
            <a:off x="2675889" y="5192395"/>
            <a:ext cx="6939915" cy="395605"/>
            <a:chOff x="2305339" y="4161121"/>
            <a:chExt cx="8424611" cy="687993"/>
          </a:xfrm>
        </p:grpSpPr>
        <p:sp>
          <p:nvSpPr>
            <p:cNvPr id="28" name="MH_SubTitle_4"/>
            <p:cNvSpPr/>
            <p:nvPr>
              <p:custDataLst>
                <p:tags r:id="rId5"/>
              </p:custDataLst>
            </p:nvPr>
          </p:nvSpPr>
          <p:spPr>
            <a:xfrm>
              <a:off x="3765327" y="4161121"/>
              <a:ext cx="6964623" cy="60737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fontScale="90000"/>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显示TCP协议信息</a:t>
              </a:r>
            </a:p>
          </p:txBody>
        </p:sp>
        <p:sp>
          <p:nvSpPr>
            <p:cNvPr id="30" name="MH_Other_4"/>
            <p:cNvSpPr/>
            <p:nvPr>
              <p:custDataLst>
                <p:tags r:id="rId6"/>
              </p:custDataLst>
            </p:nvPr>
          </p:nvSpPr>
          <p:spPr>
            <a:xfrm>
              <a:off x="2305339" y="4188729"/>
              <a:ext cx="2142190" cy="660385"/>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800" b="1" dirty="0">
                  <a:solidFill>
                    <a:srgbClr val="FFFFFF"/>
                  </a:solidFill>
                </a:rPr>
                <a:t>–</a:t>
              </a:r>
              <a:r>
                <a:rPr lang="en-US" altLang="zh-CN" sz="2800" b="1" dirty="0">
                  <a:solidFill>
                    <a:srgbClr val="FFFFFF"/>
                  </a:solidFill>
                </a:rPr>
                <a:t>t</a:t>
              </a:r>
            </a:p>
          </p:txBody>
        </p:sp>
      </p:grpSp>
      <p:grpSp>
        <p:nvGrpSpPr>
          <p:cNvPr id="31" name="组合 30"/>
          <p:cNvGrpSpPr/>
          <p:nvPr/>
        </p:nvGrpSpPr>
        <p:grpSpPr>
          <a:xfrm>
            <a:off x="2701289" y="5633720"/>
            <a:ext cx="6947535" cy="395605"/>
            <a:chOff x="2305339" y="4161121"/>
            <a:chExt cx="8433862" cy="687993"/>
          </a:xfrm>
        </p:grpSpPr>
        <p:sp>
          <p:nvSpPr>
            <p:cNvPr id="35" name="MH_SubTitle_4"/>
            <p:cNvSpPr/>
            <p:nvPr>
              <p:custDataLst>
                <p:tags r:id="rId3"/>
              </p:custDataLst>
            </p:nvPr>
          </p:nvSpPr>
          <p:spPr>
            <a:xfrm>
              <a:off x="3968832" y="4161121"/>
              <a:ext cx="6770369" cy="60737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fontScale="90000"/>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显示协议的服务器名称</a:t>
              </a:r>
            </a:p>
          </p:txBody>
        </p:sp>
        <p:sp>
          <p:nvSpPr>
            <p:cNvPr id="38" name="MH_Other_4"/>
            <p:cNvSpPr/>
            <p:nvPr>
              <p:custDataLst>
                <p:tags r:id="rId4"/>
              </p:custDataLst>
            </p:nvPr>
          </p:nvSpPr>
          <p:spPr>
            <a:xfrm>
              <a:off x="2305339" y="4188729"/>
              <a:ext cx="2112127" cy="660385"/>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b="1" dirty="0">
                  <a:solidFill>
                    <a:srgbClr val="FFFFFF"/>
                  </a:solidFill>
                </a:rPr>
                <a:t>–</a:t>
              </a:r>
              <a:r>
                <a:rPr lang="en-US" altLang="zh-CN" sz="2400" b="1" dirty="0">
                  <a:solidFill>
                    <a:srgbClr val="FFFFFF"/>
                  </a:solidFill>
                </a:rPr>
                <a:t>p</a:t>
              </a:r>
            </a:p>
          </p:txBody>
        </p:sp>
      </p:grpSp>
      <p:grpSp>
        <p:nvGrpSpPr>
          <p:cNvPr id="39" name="组合 38"/>
          <p:cNvGrpSpPr/>
          <p:nvPr/>
        </p:nvGrpSpPr>
        <p:grpSpPr>
          <a:xfrm>
            <a:off x="2686049" y="6086475"/>
            <a:ext cx="6962775" cy="380365"/>
            <a:chOff x="2305339" y="4187625"/>
            <a:chExt cx="8452362" cy="661489"/>
          </a:xfrm>
        </p:grpSpPr>
        <p:sp>
          <p:nvSpPr>
            <p:cNvPr id="40" name="MH_SubTitle_4"/>
            <p:cNvSpPr/>
            <p:nvPr>
              <p:custDataLst>
                <p:tags r:id="rId1"/>
              </p:custDataLst>
            </p:nvPr>
          </p:nvSpPr>
          <p:spPr>
            <a:xfrm>
              <a:off x="3987332" y="4187625"/>
              <a:ext cx="6770369" cy="607377"/>
            </a:xfrm>
            <a:custGeom>
              <a:avLst/>
              <a:gdLst>
                <a:gd name="connsiteX0" fmla="*/ 122108 w 732631"/>
                <a:gd name="connsiteY0" fmla="*/ 0 h 5307012"/>
                <a:gd name="connsiteX1" fmla="*/ 610523 w 732631"/>
                <a:gd name="connsiteY1" fmla="*/ 0 h 5307012"/>
                <a:gd name="connsiteX2" fmla="*/ 732631 w 732631"/>
                <a:gd name="connsiteY2" fmla="*/ 122108 h 5307012"/>
                <a:gd name="connsiteX3" fmla="*/ 732631 w 732631"/>
                <a:gd name="connsiteY3" fmla="*/ 5307012 h 5307012"/>
                <a:gd name="connsiteX4" fmla="*/ 732631 w 732631"/>
                <a:gd name="connsiteY4" fmla="*/ 5307012 h 5307012"/>
                <a:gd name="connsiteX5" fmla="*/ 0 w 732631"/>
                <a:gd name="connsiteY5" fmla="*/ 5307012 h 5307012"/>
                <a:gd name="connsiteX6" fmla="*/ 0 w 732631"/>
                <a:gd name="connsiteY6" fmla="*/ 5307012 h 5307012"/>
                <a:gd name="connsiteX7" fmla="*/ 0 w 732631"/>
                <a:gd name="connsiteY7" fmla="*/ 122108 h 5307012"/>
                <a:gd name="connsiteX8" fmla="*/ 122108 w 732631"/>
                <a:gd name="connsiteY8" fmla="*/ 0 h 5307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2631" h="5307012">
                  <a:moveTo>
                    <a:pt x="732631" y="884525"/>
                  </a:moveTo>
                  <a:lnTo>
                    <a:pt x="732631" y="4422487"/>
                  </a:lnTo>
                  <a:cubicBezTo>
                    <a:pt x="732631" y="4910992"/>
                    <a:pt x="725084" y="5307008"/>
                    <a:pt x="715774" y="5307008"/>
                  </a:cubicBezTo>
                  <a:lnTo>
                    <a:pt x="0" y="5307008"/>
                  </a:lnTo>
                  <a:lnTo>
                    <a:pt x="0" y="5307008"/>
                  </a:lnTo>
                  <a:lnTo>
                    <a:pt x="0" y="4"/>
                  </a:lnTo>
                  <a:lnTo>
                    <a:pt x="0" y="4"/>
                  </a:lnTo>
                  <a:lnTo>
                    <a:pt x="715774" y="4"/>
                  </a:lnTo>
                  <a:cubicBezTo>
                    <a:pt x="725084" y="4"/>
                    <a:pt x="732631" y="396020"/>
                    <a:pt x="732631" y="884525"/>
                  </a:cubicBezTo>
                  <a:close/>
                </a:path>
              </a:pathLst>
            </a:custGeom>
            <a:solidFill>
              <a:srgbClr val="D3EFF5">
                <a:alpha val="89804"/>
              </a:srgbClr>
            </a:solidFill>
            <a:ln>
              <a:noFill/>
            </a:ln>
            <a:effectLst/>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lIns="360000" tIns="0" rIns="0" bIns="0" spcCol="1270" anchor="ctr">
              <a:normAutofit fontScale="90000"/>
            </a:bodyPr>
            <a:lstStyle/>
            <a:p>
              <a:pPr marL="0" indent="0">
                <a:lnSpc>
                  <a:spcPct val="140000"/>
                </a:lnSpc>
                <a:spcBef>
                  <a:spcPts val="600"/>
                </a:spcBef>
                <a:spcAft>
                  <a:spcPts val="600"/>
                </a:spcAft>
                <a:buFont typeface="Wingdings" panose="05000000000000000000" pitchFamily="2" charset="2"/>
                <a:buNone/>
              </a:pPr>
              <a:r>
                <a:rPr lang="en-US" sz="2000" dirty="0">
                  <a:latin typeface="微软雅黑" panose="020B0503020204020204" pitchFamily="34" charset="-122"/>
                  <a:ea typeface="微软雅黑" panose="020B0503020204020204" pitchFamily="34" charset="-122"/>
                  <a:sym typeface="+mn-ea"/>
                </a:rPr>
                <a:t>         </a:t>
              </a:r>
              <a:r>
                <a:rPr sz="2000" dirty="0">
                  <a:latin typeface="微软雅黑" panose="020B0503020204020204" pitchFamily="34" charset="-122"/>
                  <a:ea typeface="微软雅黑" panose="020B0503020204020204" pitchFamily="34" charset="-122"/>
                  <a:sym typeface="+mn-ea"/>
                </a:rPr>
                <a:t>显示路由表信息</a:t>
              </a:r>
            </a:p>
          </p:txBody>
        </p:sp>
        <p:sp>
          <p:nvSpPr>
            <p:cNvPr id="41" name="MH_Other_4"/>
            <p:cNvSpPr/>
            <p:nvPr>
              <p:custDataLst>
                <p:tags r:id="rId2"/>
              </p:custDataLst>
            </p:nvPr>
          </p:nvSpPr>
          <p:spPr>
            <a:xfrm>
              <a:off x="2305339" y="4188729"/>
              <a:ext cx="2130627" cy="660385"/>
            </a:xfrm>
            <a:custGeom>
              <a:avLst/>
              <a:gdLst>
                <a:gd name="connsiteX0" fmla="*/ 0 w 872351"/>
                <a:gd name="connsiteY0" fmla="*/ 0 h 721783"/>
                <a:gd name="connsiteX1" fmla="*/ 697880 w 872351"/>
                <a:gd name="connsiteY1" fmla="*/ 0 h 721783"/>
                <a:gd name="connsiteX2" fmla="*/ 872351 w 872351"/>
                <a:gd name="connsiteY2" fmla="*/ 360892 h 721783"/>
                <a:gd name="connsiteX3" fmla="*/ 697880 w 872351"/>
                <a:gd name="connsiteY3" fmla="*/ 721783 h 721783"/>
                <a:gd name="connsiteX4" fmla="*/ 0 w 872351"/>
                <a:gd name="connsiteY4" fmla="*/ 721783 h 7217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72351" h="721783">
                  <a:moveTo>
                    <a:pt x="0" y="0"/>
                  </a:moveTo>
                  <a:lnTo>
                    <a:pt x="697880" y="0"/>
                  </a:lnTo>
                  <a:lnTo>
                    <a:pt x="872351" y="360892"/>
                  </a:lnTo>
                  <a:lnTo>
                    <a:pt x="697880" y="721783"/>
                  </a:lnTo>
                  <a:lnTo>
                    <a:pt x="0" y="721783"/>
                  </a:lnTo>
                  <a:close/>
                </a:path>
              </a:pathLst>
            </a:custGeom>
            <a:solidFill>
              <a:srgbClr val="13B7F3"/>
            </a:solidFill>
            <a:ln w="7620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zh-CN" altLang="en-US" sz="2400" b="1" dirty="0">
                  <a:solidFill>
                    <a:srgbClr val="FFFFFF"/>
                  </a:solidFill>
                </a:rPr>
                <a:t>–</a:t>
              </a:r>
              <a:r>
                <a:rPr lang="en-US" altLang="zh-CN" sz="2400" b="1" dirty="0">
                  <a:solidFill>
                    <a:srgbClr val="FFFFFF"/>
                  </a:solidFill>
                </a:rPr>
                <a:t>r</a:t>
              </a:r>
            </a:p>
          </p:txBody>
        </p:sp>
      </p:grpSp>
      <p:grpSp>
        <p:nvGrpSpPr>
          <p:cNvPr id="2" name="组合 1"/>
          <p:cNvGrpSpPr/>
          <p:nvPr/>
        </p:nvGrpSpPr>
        <p:grpSpPr>
          <a:xfrm>
            <a:off x="2040890" y="2195830"/>
            <a:ext cx="3151133" cy="478790"/>
            <a:chOff x="1483" y="2676"/>
            <a:chExt cx="4924" cy="754"/>
          </a:xfrm>
        </p:grpSpPr>
        <p:sp>
          <p:nvSpPr>
            <p:cNvPr id="3" name="TextBox 29"/>
            <p:cNvSpPr txBox="1"/>
            <p:nvPr/>
          </p:nvSpPr>
          <p:spPr>
            <a:xfrm>
              <a:off x="1963" y="2676"/>
              <a:ext cx="4343"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netstat [参数选项]</a:t>
              </a:r>
            </a:p>
          </p:txBody>
        </p:sp>
        <p:grpSp>
          <p:nvGrpSpPr>
            <p:cNvPr id="23" name="组合 22"/>
            <p:cNvGrpSpPr/>
            <p:nvPr/>
          </p:nvGrpSpPr>
          <p:grpSpPr>
            <a:xfrm>
              <a:off x="1483" y="2941"/>
              <a:ext cx="4924" cy="489"/>
              <a:chOff x="1483" y="2941"/>
              <a:chExt cx="4924" cy="489"/>
            </a:xfrm>
          </p:grpSpPr>
          <p:sp>
            <p:nvSpPr>
              <p:cNvPr id="24" name="燕尾形 23"/>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5" name="燕尾形 24"/>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26" name="直接连接符 25"/>
              <p:cNvCxnSpPr/>
              <p:nvPr/>
            </p:nvCxnSpPr>
            <p:spPr>
              <a:xfrm>
                <a:off x="1483" y="3420"/>
                <a:ext cx="4924" cy="10"/>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686382" y="2165122"/>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23" presetClass="entr" presetSubtype="16" fill="hold" grpId="2" nodeType="afterEffect">
                                  <p:stCondLst>
                                    <p:cond delay="0"/>
                                  </p:stCondLst>
                                  <p:childTnLst>
                                    <p:set>
                                      <p:cBhvr>
                                        <p:cTn id="10" dur="1" fill="hold">
                                          <p:stCondLst>
                                            <p:cond delay="0"/>
                                          </p:stCondLst>
                                        </p:cTn>
                                        <p:tgtEl>
                                          <p:spTgt spid="29"/>
                                        </p:tgtEl>
                                        <p:attrNameLst>
                                          <p:attrName>style.visibility</p:attrName>
                                        </p:attrNameLst>
                                      </p:cBhvr>
                                      <p:to>
                                        <p:strVal val="visible"/>
                                      </p:to>
                                    </p:set>
                                    <p:anim calcmode="lin" valueType="num">
                                      <p:cBhvr>
                                        <p:cTn id="11" dur="500" fill="hold"/>
                                        <p:tgtEl>
                                          <p:spTgt spid="29"/>
                                        </p:tgtEl>
                                        <p:attrNameLst>
                                          <p:attrName>ppt_w</p:attrName>
                                        </p:attrNameLst>
                                      </p:cBhvr>
                                      <p:tavLst>
                                        <p:tav tm="0">
                                          <p:val>
                                            <p:fltVal val="0"/>
                                          </p:val>
                                        </p:tav>
                                        <p:tav tm="100000">
                                          <p:val>
                                            <p:strVal val="#ppt_w"/>
                                          </p:val>
                                        </p:tav>
                                      </p:tavLst>
                                    </p:anim>
                                    <p:anim calcmode="lin" valueType="num">
                                      <p:cBhvr>
                                        <p:cTn id="12" dur="500" fill="hold"/>
                                        <p:tgtEl>
                                          <p:spTgt spid="29"/>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31" presetClass="entr" presetSubtype="0" fill="hold" nodeType="afterEffect">
                                  <p:stCondLst>
                                    <p:cond delay="0"/>
                                  </p:stCondLst>
                                  <p:iterate type="lt">
                                    <p:tmPct val="5000"/>
                                  </p:iterate>
                                  <p:childTnLst>
                                    <p:set>
                                      <p:cBhvr>
                                        <p:cTn id="15" dur="1" fill="hold">
                                          <p:stCondLst>
                                            <p:cond delay="0"/>
                                          </p:stCondLst>
                                        </p:cTn>
                                        <p:tgtEl>
                                          <p:spTgt spid="76"/>
                                        </p:tgtEl>
                                        <p:attrNameLst>
                                          <p:attrName>style.visibility</p:attrName>
                                        </p:attrNameLst>
                                      </p:cBhvr>
                                      <p:to>
                                        <p:strVal val="visible"/>
                                      </p:to>
                                    </p:set>
                                    <p:anim calcmode="lin" valueType="num">
                                      <p:cBhvr>
                                        <p:cTn id="16" dur="1000" fill="hold"/>
                                        <p:tgtEl>
                                          <p:spTgt spid="76"/>
                                        </p:tgtEl>
                                        <p:attrNameLst>
                                          <p:attrName>ppt_w</p:attrName>
                                        </p:attrNameLst>
                                      </p:cBhvr>
                                      <p:tavLst>
                                        <p:tav tm="0">
                                          <p:val>
                                            <p:fltVal val="0"/>
                                          </p:val>
                                        </p:tav>
                                        <p:tav tm="100000">
                                          <p:val>
                                            <p:strVal val="#ppt_w"/>
                                          </p:val>
                                        </p:tav>
                                      </p:tavLst>
                                    </p:anim>
                                    <p:anim calcmode="lin" valueType="num">
                                      <p:cBhvr>
                                        <p:cTn id="17" dur="1000" fill="hold"/>
                                        <p:tgtEl>
                                          <p:spTgt spid="76"/>
                                        </p:tgtEl>
                                        <p:attrNameLst>
                                          <p:attrName>ppt_h</p:attrName>
                                        </p:attrNameLst>
                                      </p:cBhvr>
                                      <p:tavLst>
                                        <p:tav tm="0">
                                          <p:val>
                                            <p:fltVal val="0"/>
                                          </p:val>
                                        </p:tav>
                                        <p:tav tm="100000">
                                          <p:val>
                                            <p:strVal val="#ppt_h"/>
                                          </p:val>
                                        </p:tav>
                                      </p:tavLst>
                                    </p:anim>
                                    <p:anim calcmode="lin" valueType="num">
                                      <p:cBhvr>
                                        <p:cTn id="18" dur="1000" fill="hold"/>
                                        <p:tgtEl>
                                          <p:spTgt spid="76"/>
                                        </p:tgtEl>
                                        <p:attrNameLst>
                                          <p:attrName>style.rotation</p:attrName>
                                        </p:attrNameLst>
                                      </p:cBhvr>
                                      <p:tavLst>
                                        <p:tav tm="0">
                                          <p:val>
                                            <p:fltVal val="90"/>
                                          </p:val>
                                        </p:tav>
                                        <p:tav tm="100000">
                                          <p:val>
                                            <p:fltVal val="0"/>
                                          </p:val>
                                        </p:tav>
                                      </p:tavLst>
                                    </p:anim>
                                    <p:animEffect transition="in" filter="fade">
                                      <p:cBhvr>
                                        <p:cTn id="19" dur="1000"/>
                                        <p:tgtEl>
                                          <p:spTgt spid="76"/>
                                        </p:tgtEl>
                                      </p:cBhvr>
                                    </p:animEffect>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2" presetClass="entr" presetSubtype="8" fill="hold" nodeType="afterEffect">
                                  <p:stCondLst>
                                    <p:cond delay="0"/>
                                  </p:stCondLst>
                                  <p:childTnLst>
                                    <p:set>
                                      <p:cBhvr>
                                        <p:cTn id="27" dur="1" fill="hold">
                                          <p:stCondLst>
                                            <p:cond delay="0"/>
                                          </p:stCondLst>
                                        </p:cTn>
                                        <p:tgtEl>
                                          <p:spTgt spid="37"/>
                                        </p:tgtEl>
                                        <p:attrNameLst>
                                          <p:attrName>style.visibility</p:attrName>
                                        </p:attrNameLst>
                                      </p:cBhvr>
                                      <p:to>
                                        <p:strVal val="visible"/>
                                      </p:to>
                                    </p:set>
                                    <p:animEffect transition="in" filter="wipe(left)">
                                      <p:cBhvr>
                                        <p:cTn id="28" dur="500"/>
                                        <p:tgtEl>
                                          <p:spTgt spid="37"/>
                                        </p:tgtEl>
                                      </p:cBhvr>
                                    </p:animEffect>
                                  </p:childTnLst>
                                </p:cTn>
                              </p:par>
                            </p:childTnLst>
                          </p:cTn>
                        </p:par>
                        <p:par>
                          <p:cTn id="29" fill="hold">
                            <p:stCondLst>
                              <p:cond delay="3000"/>
                            </p:stCondLst>
                            <p:childTnLst>
                              <p:par>
                                <p:cTn id="30" presetID="2" presetClass="entr" presetSubtype="4" fill="hold" nodeType="afterEffect">
                                  <p:stCondLst>
                                    <p:cond delay="0"/>
                                  </p:stCondLst>
                                  <p:childTnLst>
                                    <p:set>
                                      <p:cBhvr>
                                        <p:cTn id="31" dur="1" fill="hold">
                                          <p:stCondLst>
                                            <p:cond delay="0"/>
                                          </p:stCondLst>
                                        </p:cTn>
                                        <p:tgtEl>
                                          <p:spTgt spid="6"/>
                                        </p:tgtEl>
                                        <p:attrNameLst>
                                          <p:attrName>style.visibility</p:attrName>
                                        </p:attrNameLst>
                                      </p:cBhvr>
                                      <p:to>
                                        <p:strVal val="visible"/>
                                      </p:to>
                                    </p:set>
                                    <p:anim calcmode="lin" valueType="num">
                                      <p:cBhvr additive="base">
                                        <p:cTn id="32" dur="500" fill="hold"/>
                                        <p:tgtEl>
                                          <p:spTgt spid="6"/>
                                        </p:tgtEl>
                                        <p:attrNameLst>
                                          <p:attrName>ppt_x</p:attrName>
                                        </p:attrNameLst>
                                      </p:cBhvr>
                                      <p:tavLst>
                                        <p:tav tm="0">
                                          <p:val>
                                            <p:strVal val="#ppt_x"/>
                                          </p:val>
                                        </p:tav>
                                        <p:tav tm="100000">
                                          <p:val>
                                            <p:strVal val="#ppt_x"/>
                                          </p:val>
                                        </p:tav>
                                      </p:tavLst>
                                    </p:anim>
                                    <p:anim calcmode="lin" valueType="num">
                                      <p:cBhvr additive="base">
                                        <p:cTn id="33" dur="500" fill="hold"/>
                                        <p:tgtEl>
                                          <p:spTgt spid="6"/>
                                        </p:tgtEl>
                                        <p:attrNameLst>
                                          <p:attrName>ppt_y</p:attrName>
                                        </p:attrNameLst>
                                      </p:cBhvr>
                                      <p:tavLst>
                                        <p:tav tm="0">
                                          <p:val>
                                            <p:strVal val="1+#ppt_h/2"/>
                                          </p:val>
                                        </p:tav>
                                        <p:tav tm="100000">
                                          <p:val>
                                            <p:strVal val="#ppt_y"/>
                                          </p:val>
                                        </p:tav>
                                      </p:tavLst>
                                    </p:anim>
                                  </p:childTnLst>
                                </p:cTn>
                              </p:par>
                            </p:childTnLst>
                          </p:cTn>
                        </p:par>
                        <p:par>
                          <p:cTn id="34" fill="hold">
                            <p:stCondLst>
                              <p:cond delay="3500"/>
                            </p:stCondLst>
                            <p:childTnLst>
                              <p:par>
                                <p:cTn id="35" presetID="2" presetClass="entr" presetSubtype="4" fill="hold" nodeType="afterEffect">
                                  <p:stCondLst>
                                    <p:cond delay="0"/>
                                  </p:stCondLst>
                                  <p:childTnLst>
                                    <p:set>
                                      <p:cBhvr>
                                        <p:cTn id="36" dur="1" fill="hold">
                                          <p:stCondLst>
                                            <p:cond delay="0"/>
                                          </p:stCondLst>
                                        </p:cTn>
                                        <p:tgtEl>
                                          <p:spTgt spid="13"/>
                                        </p:tgtEl>
                                        <p:attrNameLst>
                                          <p:attrName>style.visibility</p:attrName>
                                        </p:attrNameLst>
                                      </p:cBhvr>
                                      <p:to>
                                        <p:strVal val="visible"/>
                                      </p:to>
                                    </p:set>
                                    <p:anim calcmode="lin" valueType="num">
                                      <p:cBhvr additive="base">
                                        <p:cTn id="37" dur="500" fill="hold"/>
                                        <p:tgtEl>
                                          <p:spTgt spid="13"/>
                                        </p:tgtEl>
                                        <p:attrNameLst>
                                          <p:attrName>ppt_x</p:attrName>
                                        </p:attrNameLst>
                                      </p:cBhvr>
                                      <p:tavLst>
                                        <p:tav tm="0">
                                          <p:val>
                                            <p:strVal val="#ppt_x"/>
                                          </p:val>
                                        </p:tav>
                                        <p:tav tm="100000">
                                          <p:val>
                                            <p:strVal val="#ppt_x"/>
                                          </p:val>
                                        </p:tav>
                                      </p:tavLst>
                                    </p:anim>
                                    <p:anim calcmode="lin" valueType="num">
                                      <p:cBhvr additive="base">
                                        <p:cTn id="38" dur="500" fill="hold"/>
                                        <p:tgtEl>
                                          <p:spTgt spid="13"/>
                                        </p:tgtEl>
                                        <p:attrNameLst>
                                          <p:attrName>ppt_y</p:attrName>
                                        </p:attrNameLst>
                                      </p:cBhvr>
                                      <p:tavLst>
                                        <p:tav tm="0">
                                          <p:val>
                                            <p:strVal val="1+#ppt_h/2"/>
                                          </p:val>
                                        </p:tav>
                                        <p:tav tm="100000">
                                          <p:val>
                                            <p:strVal val="#ppt_y"/>
                                          </p:val>
                                        </p:tav>
                                      </p:tavLst>
                                    </p:anim>
                                  </p:childTnLst>
                                </p:cTn>
                              </p:par>
                            </p:childTnLst>
                          </p:cTn>
                        </p:par>
                        <p:par>
                          <p:cTn id="39" fill="hold">
                            <p:stCondLst>
                              <p:cond delay="4000"/>
                            </p:stCondLst>
                            <p:childTnLst>
                              <p:par>
                                <p:cTn id="40" presetID="2" presetClass="entr" presetSubtype="4" fill="hold" nodeType="afterEffect">
                                  <p:stCondLst>
                                    <p:cond delay="0"/>
                                  </p:stCondLst>
                                  <p:childTnLst>
                                    <p:set>
                                      <p:cBhvr>
                                        <p:cTn id="41" dur="1" fill="hold">
                                          <p:stCondLst>
                                            <p:cond delay="0"/>
                                          </p:stCondLst>
                                        </p:cTn>
                                        <p:tgtEl>
                                          <p:spTgt spid="14"/>
                                        </p:tgtEl>
                                        <p:attrNameLst>
                                          <p:attrName>style.visibility</p:attrName>
                                        </p:attrNameLst>
                                      </p:cBhvr>
                                      <p:to>
                                        <p:strVal val="visible"/>
                                      </p:to>
                                    </p:set>
                                    <p:anim calcmode="lin" valueType="num">
                                      <p:cBhvr additive="base">
                                        <p:cTn id="42" dur="500" fill="hold"/>
                                        <p:tgtEl>
                                          <p:spTgt spid="14"/>
                                        </p:tgtEl>
                                        <p:attrNameLst>
                                          <p:attrName>ppt_x</p:attrName>
                                        </p:attrNameLst>
                                      </p:cBhvr>
                                      <p:tavLst>
                                        <p:tav tm="0">
                                          <p:val>
                                            <p:strVal val="#ppt_x"/>
                                          </p:val>
                                        </p:tav>
                                        <p:tav tm="100000">
                                          <p:val>
                                            <p:strVal val="#ppt_x"/>
                                          </p:val>
                                        </p:tav>
                                      </p:tavLst>
                                    </p:anim>
                                    <p:anim calcmode="lin" valueType="num">
                                      <p:cBhvr additive="base">
                                        <p:cTn id="43" dur="500" fill="hold"/>
                                        <p:tgtEl>
                                          <p:spTgt spid="14"/>
                                        </p:tgtEl>
                                        <p:attrNameLst>
                                          <p:attrName>ppt_y</p:attrName>
                                        </p:attrNameLst>
                                      </p:cBhvr>
                                      <p:tavLst>
                                        <p:tav tm="0">
                                          <p:val>
                                            <p:strVal val="1+#ppt_h/2"/>
                                          </p:val>
                                        </p:tav>
                                        <p:tav tm="100000">
                                          <p:val>
                                            <p:strVal val="#ppt_y"/>
                                          </p:val>
                                        </p:tav>
                                      </p:tavLst>
                                    </p:anim>
                                  </p:childTnLst>
                                </p:cTn>
                              </p:par>
                            </p:childTnLst>
                          </p:cTn>
                        </p:par>
                        <p:par>
                          <p:cTn id="44" fill="hold">
                            <p:stCondLst>
                              <p:cond delay="4500"/>
                            </p:stCondLst>
                            <p:childTnLst>
                              <p:par>
                                <p:cTn id="45" presetID="2" presetClass="entr" presetSubtype="4" fill="hold" nodeType="afterEffect">
                                  <p:stCondLst>
                                    <p:cond delay="0"/>
                                  </p:stCondLst>
                                  <p:childTnLst>
                                    <p:set>
                                      <p:cBhvr>
                                        <p:cTn id="46" dur="1" fill="hold">
                                          <p:stCondLst>
                                            <p:cond delay="0"/>
                                          </p:stCondLst>
                                        </p:cTn>
                                        <p:tgtEl>
                                          <p:spTgt spid="19"/>
                                        </p:tgtEl>
                                        <p:attrNameLst>
                                          <p:attrName>style.visibility</p:attrName>
                                        </p:attrNameLst>
                                      </p:cBhvr>
                                      <p:to>
                                        <p:strVal val="visible"/>
                                      </p:to>
                                    </p:set>
                                    <p:anim calcmode="lin" valueType="num">
                                      <p:cBhvr additive="base">
                                        <p:cTn id="47" dur="500" fill="hold"/>
                                        <p:tgtEl>
                                          <p:spTgt spid="19"/>
                                        </p:tgtEl>
                                        <p:attrNameLst>
                                          <p:attrName>ppt_x</p:attrName>
                                        </p:attrNameLst>
                                      </p:cBhvr>
                                      <p:tavLst>
                                        <p:tav tm="0">
                                          <p:val>
                                            <p:strVal val="#ppt_x"/>
                                          </p:val>
                                        </p:tav>
                                        <p:tav tm="100000">
                                          <p:val>
                                            <p:strVal val="#ppt_x"/>
                                          </p:val>
                                        </p:tav>
                                      </p:tavLst>
                                    </p:anim>
                                    <p:anim calcmode="lin" valueType="num">
                                      <p:cBhvr additive="base">
                                        <p:cTn id="48" dur="500" fill="hold"/>
                                        <p:tgtEl>
                                          <p:spTgt spid="19"/>
                                        </p:tgtEl>
                                        <p:attrNameLst>
                                          <p:attrName>ppt_y</p:attrName>
                                        </p:attrNameLst>
                                      </p:cBhvr>
                                      <p:tavLst>
                                        <p:tav tm="0">
                                          <p:val>
                                            <p:strVal val="1+#ppt_h/2"/>
                                          </p:val>
                                        </p:tav>
                                        <p:tav tm="100000">
                                          <p:val>
                                            <p:strVal val="#ppt_y"/>
                                          </p:val>
                                        </p:tav>
                                      </p:tavLst>
                                    </p:anim>
                                  </p:childTnLst>
                                </p:cTn>
                              </p:par>
                            </p:childTnLst>
                          </p:cTn>
                        </p:par>
                        <p:par>
                          <p:cTn id="49" fill="hold">
                            <p:stCondLst>
                              <p:cond delay="5000"/>
                            </p:stCondLst>
                            <p:childTnLst>
                              <p:par>
                                <p:cTn id="50" presetID="2" presetClass="entr" presetSubtype="4" fill="hold" nodeType="afterEffect">
                                  <p:stCondLst>
                                    <p:cond delay="0"/>
                                  </p:stCondLst>
                                  <p:childTnLst>
                                    <p:set>
                                      <p:cBhvr>
                                        <p:cTn id="51" dur="1" fill="hold">
                                          <p:stCondLst>
                                            <p:cond delay="0"/>
                                          </p:stCondLst>
                                        </p:cTn>
                                        <p:tgtEl>
                                          <p:spTgt spid="27"/>
                                        </p:tgtEl>
                                        <p:attrNameLst>
                                          <p:attrName>style.visibility</p:attrName>
                                        </p:attrNameLst>
                                      </p:cBhvr>
                                      <p:to>
                                        <p:strVal val="visible"/>
                                      </p:to>
                                    </p:set>
                                    <p:anim calcmode="lin" valueType="num">
                                      <p:cBhvr additive="base">
                                        <p:cTn id="52" dur="500" fill="hold"/>
                                        <p:tgtEl>
                                          <p:spTgt spid="27"/>
                                        </p:tgtEl>
                                        <p:attrNameLst>
                                          <p:attrName>ppt_x</p:attrName>
                                        </p:attrNameLst>
                                      </p:cBhvr>
                                      <p:tavLst>
                                        <p:tav tm="0">
                                          <p:val>
                                            <p:strVal val="#ppt_x"/>
                                          </p:val>
                                        </p:tav>
                                        <p:tav tm="100000">
                                          <p:val>
                                            <p:strVal val="#ppt_x"/>
                                          </p:val>
                                        </p:tav>
                                      </p:tavLst>
                                    </p:anim>
                                    <p:anim calcmode="lin" valueType="num">
                                      <p:cBhvr additive="base">
                                        <p:cTn id="53" dur="500" fill="hold"/>
                                        <p:tgtEl>
                                          <p:spTgt spid="27"/>
                                        </p:tgtEl>
                                        <p:attrNameLst>
                                          <p:attrName>ppt_y</p:attrName>
                                        </p:attrNameLst>
                                      </p:cBhvr>
                                      <p:tavLst>
                                        <p:tav tm="0">
                                          <p:val>
                                            <p:strVal val="1+#ppt_h/2"/>
                                          </p:val>
                                        </p:tav>
                                        <p:tav tm="100000">
                                          <p:val>
                                            <p:strVal val="#ppt_y"/>
                                          </p:val>
                                        </p:tav>
                                      </p:tavLst>
                                    </p:anim>
                                  </p:childTnLst>
                                </p:cTn>
                              </p:par>
                            </p:childTnLst>
                          </p:cTn>
                        </p:par>
                        <p:par>
                          <p:cTn id="54" fill="hold">
                            <p:stCondLst>
                              <p:cond delay="5500"/>
                            </p:stCondLst>
                            <p:childTnLst>
                              <p:par>
                                <p:cTn id="55" presetID="2" presetClass="entr" presetSubtype="4" fill="hold" nodeType="afterEffect">
                                  <p:stCondLst>
                                    <p:cond delay="0"/>
                                  </p:stCondLst>
                                  <p:childTnLst>
                                    <p:set>
                                      <p:cBhvr>
                                        <p:cTn id="56" dur="1" fill="hold">
                                          <p:stCondLst>
                                            <p:cond delay="0"/>
                                          </p:stCondLst>
                                        </p:cTn>
                                        <p:tgtEl>
                                          <p:spTgt spid="31"/>
                                        </p:tgtEl>
                                        <p:attrNameLst>
                                          <p:attrName>style.visibility</p:attrName>
                                        </p:attrNameLst>
                                      </p:cBhvr>
                                      <p:to>
                                        <p:strVal val="visible"/>
                                      </p:to>
                                    </p:set>
                                    <p:anim calcmode="lin" valueType="num">
                                      <p:cBhvr additive="base">
                                        <p:cTn id="57" dur="500" fill="hold"/>
                                        <p:tgtEl>
                                          <p:spTgt spid="31"/>
                                        </p:tgtEl>
                                        <p:attrNameLst>
                                          <p:attrName>ppt_x</p:attrName>
                                        </p:attrNameLst>
                                      </p:cBhvr>
                                      <p:tavLst>
                                        <p:tav tm="0">
                                          <p:val>
                                            <p:strVal val="#ppt_x"/>
                                          </p:val>
                                        </p:tav>
                                        <p:tav tm="100000">
                                          <p:val>
                                            <p:strVal val="#ppt_x"/>
                                          </p:val>
                                        </p:tav>
                                      </p:tavLst>
                                    </p:anim>
                                    <p:anim calcmode="lin" valueType="num">
                                      <p:cBhvr additive="base">
                                        <p:cTn id="58" dur="500" fill="hold"/>
                                        <p:tgtEl>
                                          <p:spTgt spid="31"/>
                                        </p:tgtEl>
                                        <p:attrNameLst>
                                          <p:attrName>ppt_y</p:attrName>
                                        </p:attrNameLst>
                                      </p:cBhvr>
                                      <p:tavLst>
                                        <p:tav tm="0">
                                          <p:val>
                                            <p:strVal val="1+#ppt_h/2"/>
                                          </p:val>
                                        </p:tav>
                                        <p:tav tm="100000">
                                          <p:val>
                                            <p:strVal val="#ppt_y"/>
                                          </p:val>
                                        </p:tav>
                                      </p:tavLst>
                                    </p:anim>
                                  </p:childTnLst>
                                </p:cTn>
                              </p:par>
                            </p:childTnLst>
                          </p:cTn>
                        </p:par>
                        <p:par>
                          <p:cTn id="59" fill="hold">
                            <p:stCondLst>
                              <p:cond delay="6000"/>
                            </p:stCondLst>
                            <p:childTnLst>
                              <p:par>
                                <p:cTn id="60" presetID="2" presetClass="entr" presetSubtype="4" fill="hold" nodeType="afterEffect">
                                  <p:stCondLst>
                                    <p:cond delay="0"/>
                                  </p:stCondLst>
                                  <p:childTnLst>
                                    <p:set>
                                      <p:cBhvr>
                                        <p:cTn id="61" dur="1" fill="hold">
                                          <p:stCondLst>
                                            <p:cond delay="0"/>
                                          </p:stCondLst>
                                        </p:cTn>
                                        <p:tgtEl>
                                          <p:spTgt spid="39"/>
                                        </p:tgtEl>
                                        <p:attrNameLst>
                                          <p:attrName>style.visibility</p:attrName>
                                        </p:attrNameLst>
                                      </p:cBhvr>
                                      <p:to>
                                        <p:strVal val="visible"/>
                                      </p:to>
                                    </p:set>
                                    <p:anim calcmode="lin" valueType="num">
                                      <p:cBhvr additive="base">
                                        <p:cTn id="62" dur="500" fill="hold"/>
                                        <p:tgtEl>
                                          <p:spTgt spid="39"/>
                                        </p:tgtEl>
                                        <p:attrNameLst>
                                          <p:attrName>ppt_x</p:attrName>
                                        </p:attrNameLst>
                                      </p:cBhvr>
                                      <p:tavLst>
                                        <p:tav tm="0">
                                          <p:val>
                                            <p:strVal val="#ppt_x"/>
                                          </p:val>
                                        </p:tav>
                                        <p:tav tm="100000">
                                          <p:val>
                                            <p:strVal val="#ppt_x"/>
                                          </p:val>
                                        </p:tav>
                                      </p:tavLst>
                                    </p:anim>
                                    <p:anim calcmode="lin" valueType="num">
                                      <p:cBhvr additive="base">
                                        <p:cTn id="63" dur="500" fill="hold"/>
                                        <p:tgtEl>
                                          <p:spTgt spid="3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9" grpId="0" animBg="1"/>
      <p:bldP spid="29" grpId="1" animBg="1"/>
      <p:bldP spid="29" grpId="2" bldLvl="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696595" y="1074420"/>
            <a:ext cx="10839450" cy="5422265"/>
            <a:chOff x="593" y="1644"/>
            <a:chExt cx="17070" cy="8539"/>
          </a:xfrm>
        </p:grpSpPr>
        <p:grpSp>
          <p:nvGrpSpPr>
            <p:cNvPr id="12" name="组合 11"/>
            <p:cNvGrpSpPr/>
            <p:nvPr/>
          </p:nvGrpSpPr>
          <p:grpSpPr>
            <a:xfrm>
              <a:off x="593" y="1644"/>
              <a:ext cx="16897" cy="8538"/>
              <a:chOff x="593" y="1644"/>
              <a:chExt cx="17668" cy="8645"/>
            </a:xfrm>
          </p:grpSpPr>
          <p:grpSp>
            <p:nvGrpSpPr>
              <p:cNvPr id="5" name="组合 14"/>
              <p:cNvGrpSpPr/>
              <p:nvPr/>
            </p:nvGrpSpPr>
            <p:grpSpPr bwMode="auto">
              <a:xfrm>
                <a:off x="593" y="1644"/>
                <a:ext cx="17663" cy="8645"/>
                <a:chOff x="1193704" y="1449836"/>
                <a:chExt cx="9699240" cy="2268939"/>
              </a:xfrm>
            </p:grpSpPr>
            <p:sp>
              <p:nvSpPr>
                <p:cNvPr id="29" name="矩形 28"/>
                <p:cNvSpPr/>
                <p:nvPr/>
              </p:nvSpPr>
              <p:spPr>
                <a:xfrm>
                  <a:off x="1193704" y="1449836"/>
                  <a:ext cx="9699240" cy="2268939"/>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2"/>
                  </p:custDataLst>
                </p:nvPr>
              </p:nvSpPr>
              <p:spPr bwMode="auto">
                <a:xfrm>
                  <a:off x="1952777" y="1956614"/>
                  <a:ext cx="8234369" cy="872178"/>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Active Internet connections (servers and established)</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Proto  Recv-Q  Send-Q  Local Address  Foreign Address  State  PID/Program name</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tcp     0        0      0.0.0.0:111       0.0.0.0:*    LISTEN   5342/portmap</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tcp     0        0        :::22            :::*       LISTEN     3542/sshd</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tcp   0  148  ::ffff:172.16.100.98:22 ::ffff:172.16.100.204:1325 ESTABLISHED 6081/1</a:t>
                  </a:r>
                </a:p>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udp     0        0      0.0.0.0:111      0.0.0.0:*               5342/portmap</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4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【例7-</a:t>
                </a:r>
                <a:r>
                  <a:rPr lang="en-US" altLang="zh-CN" sz="1800" b="1" dirty="0">
                    <a:solidFill>
                      <a:srgbClr val="FF0000"/>
                    </a:solidFill>
                    <a:latin typeface="微软雅黑" panose="020B0503020204020204" pitchFamily="34" charset="-122"/>
                    <a:ea typeface="微软雅黑" panose="020B0503020204020204" pitchFamily="34" charset="-122"/>
                    <a:cs typeface="华康俪金黑W8(P)"/>
                  </a:rPr>
                  <a:t>8</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要显示所有正在监听的tcp和udp的服务信息并显示对应的服务器名称。可运行如下命令：</a:t>
                </a:r>
              </a:p>
            </p:txBody>
          </p:sp>
        </p:grpSp>
        <p:sp>
          <p:nvSpPr>
            <p:cNvPr id="2" name="矩形 6"/>
            <p:cNvSpPr>
              <a:spLocks noChangeArrowheads="1"/>
            </p:cNvSpPr>
            <p:nvPr/>
          </p:nvSpPr>
          <p:spPr bwMode="auto">
            <a:xfrm>
              <a:off x="795" y="2889"/>
              <a:ext cx="16868" cy="669"/>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显示结果如下：</a:t>
              </a:r>
            </a:p>
          </p:txBody>
        </p:sp>
        <p:sp>
          <p:nvSpPr>
            <p:cNvPr id="4" name="MH_Text_1"/>
            <p:cNvSpPr txBox="1">
              <a:spLocks noChangeArrowheads="1"/>
            </p:cNvSpPr>
            <p:nvPr>
              <p:custDataLst>
                <p:tags r:id="rId1"/>
              </p:custDataLst>
            </p:nvPr>
          </p:nvSpPr>
          <p:spPr bwMode="auto">
            <a:xfrm>
              <a:off x="812" y="2306"/>
              <a:ext cx="16488" cy="583"/>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netstat -antupl</a:t>
              </a:r>
            </a:p>
            <a:p>
              <a:pPr indent="0" algn="l" eaLnBrk="1" fontAlgn="auto" latinLnBrk="0" hangingPunct="1">
                <a:lnSpc>
                  <a:spcPct val="100000"/>
                </a:lnSpc>
                <a:buFont typeface="Arial" panose="020B0604020202020204" pitchFamily="34" charset="0"/>
                <a:buNone/>
                <a:defRPr/>
              </a:pPr>
              <a:endParaRPr lang="zh-CN" altLang="en-US" sz="2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p:txBody>
        </p:sp>
        <p:sp>
          <p:nvSpPr>
            <p:cNvPr id="24" name="矩形 23"/>
            <p:cNvSpPr/>
            <p:nvPr/>
          </p:nvSpPr>
          <p:spPr>
            <a:xfrm>
              <a:off x="838" y="7120"/>
              <a:ext cx="8542" cy="2622"/>
            </a:xfrm>
            <a:prstGeom prst="rect">
              <a:avLst/>
            </a:prstGeom>
          </p:spPr>
          <p:txBody>
            <a:bodyPr wrap="square">
              <a:spAutoFit/>
            </a:bodyPr>
            <a:lstStyle/>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第一列：</a:t>
              </a:r>
              <a:r>
                <a:rPr sz="1800" dirty="0">
                  <a:solidFill>
                    <a:schemeClr val="tx1"/>
                  </a:solidFill>
                  <a:latin typeface="微软雅黑" panose="020B0503020204020204" pitchFamily="34" charset="-122"/>
                  <a:ea typeface="微软雅黑" panose="020B0503020204020204" pitchFamily="34" charset="-122"/>
                </a:rPr>
                <a:t>显示对应的协议，TCP还是UDP协议。</a:t>
              </a: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第二列：</a:t>
              </a:r>
              <a:r>
                <a:rPr sz="1800" dirty="0">
                  <a:solidFill>
                    <a:schemeClr val="tx1"/>
                  </a:solidFill>
                  <a:latin typeface="微软雅黑" panose="020B0503020204020204" pitchFamily="34" charset="-122"/>
                  <a:ea typeface="微软雅黑" panose="020B0503020204020204" pitchFamily="34" charset="-122"/>
                </a:rPr>
                <a:t>接收的数据包。</a:t>
              </a: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第三列：</a:t>
              </a:r>
              <a:r>
                <a:rPr sz="1800" dirty="0">
                  <a:solidFill>
                    <a:schemeClr val="tx1"/>
                  </a:solidFill>
                  <a:latin typeface="微软雅黑" panose="020B0503020204020204" pitchFamily="34" charset="-122"/>
                  <a:ea typeface="微软雅黑" panose="020B0503020204020204" pitchFamily="34" charset="-122"/>
                </a:rPr>
                <a:t>发送的数据包。</a:t>
              </a: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第四列：</a:t>
              </a:r>
              <a:r>
                <a:rPr sz="1800" dirty="0">
                  <a:solidFill>
                    <a:schemeClr val="tx1"/>
                  </a:solidFill>
                  <a:latin typeface="微软雅黑" panose="020B0503020204020204" pitchFamily="34" charset="-122"/>
                  <a:ea typeface="微软雅黑" panose="020B0503020204020204" pitchFamily="34" charset="-122"/>
                </a:rPr>
                <a:t>本地ip地址及开放的端口。</a:t>
              </a:r>
            </a:p>
          </p:txBody>
        </p:sp>
        <p:sp>
          <p:nvSpPr>
            <p:cNvPr id="6" name="矩形 5"/>
            <p:cNvSpPr/>
            <p:nvPr/>
          </p:nvSpPr>
          <p:spPr>
            <a:xfrm>
              <a:off x="8796" y="6265"/>
              <a:ext cx="8469" cy="3918"/>
            </a:xfrm>
            <a:prstGeom prst="rect">
              <a:avLst/>
            </a:prstGeom>
          </p:spPr>
          <p:txBody>
            <a:bodyPr wrap="square">
              <a:spAutoFit/>
            </a:bodyPr>
            <a:lstStyle/>
            <a:p>
              <a:pPr marL="0" indent="0">
                <a:lnSpc>
                  <a:spcPct val="100000"/>
                </a:lnSpc>
                <a:spcBef>
                  <a:spcPts val="600"/>
                </a:spcBef>
                <a:spcAft>
                  <a:spcPts val="600"/>
                </a:spcAft>
                <a:buFont typeface="Wingdings" panose="05000000000000000000" pitchFamily="2" charset="2"/>
                <a:buNone/>
              </a:pPr>
              <a:endParaRPr sz="1800" dirty="0">
                <a:solidFill>
                  <a:schemeClr val="tx1">
                    <a:lumMod val="75000"/>
                    <a:lumOff val="25000"/>
                  </a:schemeClr>
                </a:solidFill>
                <a:latin typeface="微软雅黑" panose="020B0503020204020204" pitchFamily="34" charset="-122"/>
                <a:ea typeface="微软雅黑" panose="020B0503020204020204" pitchFamily="34" charset="-122"/>
              </a:endParaRP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第五列：</a:t>
              </a:r>
              <a:r>
                <a:rPr sz="1800" dirty="0">
                  <a:solidFill>
                    <a:schemeClr val="tx1"/>
                  </a:solidFill>
                  <a:latin typeface="微软雅黑" panose="020B0503020204020204" pitchFamily="34" charset="-122"/>
                  <a:ea typeface="微软雅黑" panose="020B0503020204020204" pitchFamily="34" charset="-122"/>
                </a:rPr>
                <a:t>远程ip地址及连接的端口。</a:t>
              </a: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第六列：</a:t>
              </a:r>
              <a:r>
                <a:rPr sz="1800" dirty="0">
                  <a:solidFill>
                    <a:schemeClr val="tx1"/>
                  </a:solidFill>
                  <a:latin typeface="微软雅黑" panose="020B0503020204020204" pitchFamily="34" charset="-122"/>
                  <a:ea typeface="微软雅黑" panose="020B0503020204020204" pitchFamily="34" charset="-122"/>
                </a:rPr>
                <a:t>现在连接状态，监听（LISTEN）、回应包（ESTABLISHED）、结束包（FIN）、等待包（WAIT）等。</a:t>
              </a:r>
            </a:p>
            <a:p>
              <a:pPr marL="285750" indent="-285750">
                <a:lnSpc>
                  <a:spcPct val="10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第七列：</a:t>
              </a:r>
              <a:r>
                <a:rPr sz="1800" dirty="0">
                  <a:solidFill>
                    <a:schemeClr val="tx1"/>
                  </a:solidFill>
                  <a:latin typeface="微软雅黑" panose="020B0503020204020204" pitchFamily="34" charset="-122"/>
                  <a:ea typeface="微软雅黑" panose="020B0503020204020204" pitchFamily="34" charset="-122"/>
                </a:rPr>
                <a:t>服务进程ID号（PID）和服务器名称（服务守护进程）。</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strips(downRight)">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15290" y="111696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6．chkconfig命令</a:t>
            </a:r>
          </a:p>
        </p:txBody>
      </p:sp>
      <p:grpSp>
        <p:nvGrpSpPr>
          <p:cNvPr id="25" name="组合 24"/>
          <p:cNvGrpSpPr/>
          <p:nvPr/>
        </p:nvGrpSpPr>
        <p:grpSpPr>
          <a:xfrm>
            <a:off x="4630417" y="3566795"/>
            <a:ext cx="6800850" cy="3049270"/>
            <a:chOff x="1897434" y="4186226"/>
            <a:chExt cx="7667395" cy="2781997"/>
          </a:xfrm>
        </p:grpSpPr>
        <p:sp>
          <p:nvSpPr>
            <p:cNvPr id="49" name="Text Box 44"/>
            <p:cNvSpPr txBox="1">
              <a:spLocks noChangeArrowheads="1"/>
            </p:cNvSpPr>
            <p:nvPr/>
          </p:nvSpPr>
          <p:spPr bwMode="auto">
            <a:xfrm>
              <a:off x="1897434" y="5196599"/>
              <a:ext cx="591882" cy="724463"/>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0">
                <a:lnSpc>
                  <a:spcPct val="95000"/>
                </a:lnSpc>
              </a:pPr>
              <a:r>
                <a:rPr lang="zh-CN" altLang="en-US" sz="2400" b="1" dirty="0">
                  <a:solidFill>
                    <a:srgbClr val="D24726"/>
                  </a:solidFill>
                </a:rPr>
                <a:t>参数</a:t>
              </a:r>
            </a:p>
          </p:txBody>
        </p:sp>
        <p:sp>
          <p:nvSpPr>
            <p:cNvPr id="26" name="矩形 25"/>
            <p:cNvSpPr/>
            <p:nvPr/>
          </p:nvSpPr>
          <p:spPr>
            <a:xfrm>
              <a:off x="2872504" y="4254009"/>
              <a:ext cx="6692325" cy="2714214"/>
            </a:xfrm>
            <a:prstGeom prst="rect">
              <a:avLst/>
            </a:prstGeom>
          </p:spPr>
          <p:txBody>
            <a:bodyPr wrap="square">
              <a:spAutoFit/>
            </a:bodyPr>
            <a:lstStyle/>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--add</a:t>
              </a:r>
              <a:r>
                <a:rPr sz="1800" b="1" dirty="0">
                  <a:solidFill>
                    <a:schemeClr val="tx1">
                      <a:lumMod val="75000"/>
                      <a:lumOff val="25000"/>
                    </a:schemeClr>
                  </a:solidFill>
                  <a:latin typeface="微软雅黑" panose="020B0503020204020204" pitchFamily="34" charset="-122"/>
                  <a:ea typeface="微软雅黑" panose="020B0503020204020204" pitchFamily="34" charset="-122"/>
                </a:rPr>
                <a:t>     </a:t>
              </a:r>
              <a:r>
                <a:rPr sz="1800" dirty="0">
                  <a:solidFill>
                    <a:schemeClr val="tx1">
                      <a:lumMod val="75000"/>
                      <a:lumOff val="25000"/>
                    </a:schemeClr>
                  </a:solidFill>
                  <a:latin typeface="微软雅黑" panose="020B0503020204020204" pitchFamily="34" charset="-122"/>
                  <a:ea typeface="微软雅黑" panose="020B0503020204020204" pitchFamily="34" charset="-122"/>
                </a:rPr>
                <a:t> </a:t>
              </a:r>
              <a:r>
                <a:rPr sz="1800" dirty="0">
                  <a:solidFill>
                    <a:schemeClr val="tx1"/>
                  </a:solidFill>
                  <a:latin typeface="微软雅黑" panose="020B0503020204020204" pitchFamily="34" charset="-122"/>
                  <a:ea typeface="微软雅黑" panose="020B0503020204020204" pitchFamily="34" charset="-122"/>
                </a:rPr>
                <a:t>添加某个自定义服务到系统服务中，</a:t>
              </a:r>
            </a:p>
            <a:p>
              <a:pPr marL="0" indent="0">
                <a:lnSpc>
                  <a:spcPct val="80000"/>
                </a:lnSpc>
                <a:spcBef>
                  <a:spcPts val="600"/>
                </a:spcBef>
                <a:spcAft>
                  <a:spcPts val="600"/>
                </a:spcAft>
                <a:buFont typeface="Wingdings" panose="05000000000000000000" pitchFamily="2" charset="2"/>
                <a:buNone/>
              </a:pPr>
              <a:r>
                <a:rPr sz="1800" dirty="0">
                  <a:solidFill>
                    <a:schemeClr val="tx1"/>
                  </a:solidFill>
                  <a:latin typeface="微软雅黑" panose="020B0503020204020204" pitchFamily="34" charset="-122"/>
                  <a:ea typeface="微软雅黑" panose="020B0503020204020204" pitchFamily="34" charset="-122"/>
                </a:rPr>
                <a:t>                    开机时随系统一起启动。</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--del</a:t>
              </a:r>
              <a:r>
                <a:rPr sz="1800" dirty="0">
                  <a:solidFill>
                    <a:schemeClr val="tx1"/>
                  </a:solidFill>
                  <a:latin typeface="微软雅黑" panose="020B0503020204020204" pitchFamily="34" charset="-122"/>
                  <a:ea typeface="微软雅黑" panose="020B0503020204020204" pitchFamily="34" charset="-122"/>
                </a:rPr>
                <a:t>	       删除某个自定义服务或系统服务。</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--list  </a:t>
              </a:r>
              <a:r>
                <a:rPr sz="1800" dirty="0">
                  <a:solidFill>
                    <a:schemeClr val="tx1"/>
                  </a:solidFill>
                  <a:latin typeface="微软雅黑" panose="020B0503020204020204" pitchFamily="34" charset="-122"/>
                  <a:ea typeface="微软雅黑" panose="020B0503020204020204" pitchFamily="34" charset="-122"/>
                </a:rPr>
                <a:t>       显示某个服务，在特定级别的启动状态。</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--level</a:t>
              </a:r>
              <a:r>
                <a:rPr sz="1800" dirty="0">
                  <a:solidFill>
                    <a:schemeClr val="tx1"/>
                  </a:solidFill>
                  <a:latin typeface="微软雅黑" panose="020B0503020204020204" pitchFamily="34" charset="-122"/>
                  <a:ea typeface="微软雅黑" panose="020B0503020204020204" pitchFamily="34" charset="-122"/>
                </a:rPr>
                <a:t>      设置某个服务在特定的级别启动或停止。</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On	</a:t>
              </a:r>
              <a:r>
                <a:rPr sz="1800" dirty="0">
                  <a:solidFill>
                    <a:schemeClr val="tx1"/>
                  </a:solidFill>
                  <a:latin typeface="微软雅黑" panose="020B0503020204020204" pitchFamily="34" charset="-122"/>
                  <a:ea typeface="微软雅黑" panose="020B0503020204020204" pitchFamily="34" charset="-122"/>
                </a:rPr>
                <a:t>        开机时自动运行此服务。</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Off  </a:t>
              </a:r>
              <a:r>
                <a:rPr sz="1800" dirty="0">
                  <a:solidFill>
                    <a:schemeClr val="tx1"/>
                  </a:solidFill>
                  <a:latin typeface="微软雅黑" panose="020B0503020204020204" pitchFamily="34" charset="-122"/>
                  <a:ea typeface="微软雅黑" panose="020B0503020204020204" pitchFamily="34" charset="-122"/>
                </a:rPr>
                <a:t>          开机时不自动运行此服务。</a:t>
              </a:r>
            </a:p>
            <a:p>
              <a:pPr marL="285750" indent="-285750">
                <a:lnSpc>
                  <a:spcPct val="80000"/>
                </a:lnSpc>
                <a:spcBef>
                  <a:spcPts val="600"/>
                </a:spcBef>
                <a:spcAft>
                  <a:spcPts val="600"/>
                </a:spcAft>
                <a:buFont typeface="Wingdings" panose="05000000000000000000" pitchFamily="2" charset="2"/>
                <a:buChar char="q"/>
              </a:pPr>
              <a:r>
                <a:rPr sz="1800" b="1" dirty="0">
                  <a:solidFill>
                    <a:schemeClr val="tx1"/>
                  </a:solidFill>
                  <a:latin typeface="微软雅黑" panose="020B0503020204020204" pitchFamily="34" charset="-122"/>
                  <a:ea typeface="微软雅黑" panose="020B0503020204020204" pitchFamily="34" charset="-122"/>
                </a:rPr>
                <a:t>Reset</a:t>
              </a:r>
              <a:r>
                <a:rPr lang="en-US" b="1" dirty="0">
                  <a:solidFill>
                    <a:schemeClr val="tx1"/>
                  </a:solidFill>
                  <a:latin typeface="微软雅黑" panose="020B0503020204020204" pitchFamily="34" charset="-122"/>
                  <a:ea typeface="微软雅黑" panose="020B0503020204020204" pitchFamily="34" charset="-122"/>
                </a:rPr>
                <a:t>         </a:t>
              </a:r>
              <a:r>
                <a:rPr sz="1800" dirty="0">
                  <a:solidFill>
                    <a:schemeClr val="tx1"/>
                  </a:solidFill>
                  <a:latin typeface="微软雅黑" panose="020B0503020204020204" pitchFamily="34" charset="-122"/>
                  <a:ea typeface="微软雅黑" panose="020B0503020204020204" pitchFamily="34" charset="-122"/>
                </a:rPr>
                <a:t>恢复此服务在各运行级别的默认状态。</a:t>
              </a:r>
            </a:p>
          </p:txBody>
        </p:sp>
        <p:sp>
          <p:nvSpPr>
            <p:cNvPr id="31" name="左大括号 30"/>
            <p:cNvSpPr/>
            <p:nvPr/>
          </p:nvSpPr>
          <p:spPr>
            <a:xfrm>
              <a:off x="2533166" y="4186226"/>
              <a:ext cx="287797" cy="2687565"/>
            </a:xfrm>
            <a:prstGeom prst="leftBrace">
              <a:avLst/>
            </a:prstGeom>
            <a:solidFill>
              <a:schemeClr val="bg2"/>
            </a:solidFill>
            <a:ln w="34925" cap="flat" cmpd="sng" algn="ctr">
              <a:solidFill>
                <a:schemeClr val="accent2"/>
              </a:solidFill>
              <a:prstDash val="solid"/>
              <a:round/>
              <a:headEnd type="none" w="med" len="med"/>
              <a:tailEnd type="none" w="med" len="med"/>
            </a:ln>
          </p:spPr>
          <p:txBody>
            <a:bodyPr vert="horz" wrap="none" lIns="90000" tIns="46800" rIns="90000" bIns="46800" numCol="1" anchor="ctr" anchorCtr="0" compatLnSpc="1"/>
            <a:lstStyle/>
            <a:p>
              <a: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pPr>
              <a:endParaRPr kumimoji="0" lang="de-DE" altLang="en-US" sz="1600" b="0" i="0" u="none" strike="noStrike" cap="none" normalizeH="0" baseline="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endParaRPr>
            </a:p>
          </p:txBody>
        </p:sp>
      </p:grpSp>
      <p:grpSp>
        <p:nvGrpSpPr>
          <p:cNvPr id="71" name="组合 70"/>
          <p:cNvGrpSpPr/>
          <p:nvPr/>
        </p:nvGrpSpPr>
        <p:grpSpPr>
          <a:xfrm>
            <a:off x="563880" y="1742440"/>
            <a:ext cx="4267835" cy="694054"/>
            <a:chOff x="5465694" y="1311371"/>
            <a:chExt cx="4840764" cy="853106"/>
          </a:xfrm>
        </p:grpSpPr>
        <p:sp>
          <p:nvSpPr>
            <p:cNvPr id="72" name="TextBox 71"/>
            <p:cNvSpPr txBox="1"/>
            <p:nvPr/>
          </p:nvSpPr>
          <p:spPr>
            <a:xfrm>
              <a:off x="5465694" y="1311371"/>
              <a:ext cx="4840764" cy="750077"/>
            </a:xfrm>
            <a:prstGeom prst="roundRect">
              <a:avLst>
                <a:gd name="adj" fmla="val 8176"/>
              </a:avLst>
            </a:prstGeom>
            <a:noFill/>
            <a:ln w="19050">
              <a:solidFill>
                <a:schemeClr val="bg1">
                  <a:lumMod val="65000"/>
                </a:schemeClr>
              </a:solidFill>
            </a:ln>
          </p:spPr>
          <p:txBody>
            <a:bodyPr wrap="none" rtlCol="0" anchor="ctr">
              <a:noAutofit/>
            </a:bodyPr>
            <a:lstStyle/>
            <a:p>
              <a:pPr algn="ct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1</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0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添加、删除对应的系统服务</a:t>
              </a:r>
            </a:p>
          </p:txBody>
        </p:sp>
        <p:cxnSp>
          <p:nvCxnSpPr>
            <p:cNvPr id="73" name="直接连接符 72"/>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74" name="流程图: 联系 73"/>
            <p:cNvSpPr/>
            <p:nvPr/>
          </p:nvSpPr>
          <p:spPr>
            <a:xfrm>
              <a:off x="5466414" y="198359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75" name="直接连接符 74"/>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8" name="组合 7"/>
          <p:cNvGrpSpPr/>
          <p:nvPr/>
        </p:nvGrpSpPr>
        <p:grpSpPr>
          <a:xfrm>
            <a:off x="5563870" y="1116966"/>
            <a:ext cx="5840730" cy="809327"/>
            <a:chOff x="5465694" y="1236443"/>
            <a:chExt cx="6624810" cy="994793"/>
          </a:xfrm>
        </p:grpSpPr>
        <p:sp>
          <p:nvSpPr>
            <p:cNvPr id="9" name="TextBox 71"/>
            <p:cNvSpPr txBox="1"/>
            <p:nvPr/>
          </p:nvSpPr>
          <p:spPr>
            <a:xfrm>
              <a:off x="5465694" y="1236443"/>
              <a:ext cx="6624810" cy="918669"/>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2</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0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设置某个服务在特定的级别中是否随系统</a:t>
              </a:r>
              <a: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
              </a:r>
              <a:br>
                <a:rPr lang="en-US"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br>
              <a:r>
                <a:rPr lang="zh-CN"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启动时启动或停止。</a:t>
              </a:r>
            </a:p>
          </p:txBody>
        </p:sp>
        <p:cxnSp>
          <p:nvCxnSpPr>
            <p:cNvPr id="27" name="直接连接符 26"/>
            <p:cNvCxnSpPr/>
            <p:nvPr/>
          </p:nvCxnSpPr>
          <p:spPr>
            <a:xfrm>
              <a:off x="5626508" y="1743788"/>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28" name="流程图: 联系 27"/>
            <p:cNvSpPr/>
            <p:nvPr/>
          </p:nvSpPr>
          <p:spPr>
            <a:xfrm>
              <a:off x="5466414" y="2061647"/>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29" name="直接连接符 28"/>
            <p:cNvCxnSpPr/>
            <p:nvPr/>
          </p:nvCxnSpPr>
          <p:spPr>
            <a:xfrm>
              <a:off x="5632781" y="2148655"/>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a:off x="602615" y="4364367"/>
            <a:ext cx="3881121" cy="930899"/>
            <a:chOff x="-332276" y="4437357"/>
            <a:chExt cx="4402136" cy="1144225"/>
          </a:xfrm>
        </p:grpSpPr>
        <p:sp>
          <p:nvSpPr>
            <p:cNvPr id="35" name="TextBox 71"/>
            <p:cNvSpPr txBox="1"/>
            <p:nvPr/>
          </p:nvSpPr>
          <p:spPr>
            <a:xfrm>
              <a:off x="-332275" y="4437357"/>
              <a:ext cx="4402135" cy="918669"/>
            </a:xfrm>
            <a:prstGeom prst="roundRect">
              <a:avLst>
                <a:gd name="adj" fmla="val 8176"/>
              </a:avLst>
            </a:prstGeom>
            <a:noFill/>
            <a:ln w="19050">
              <a:solidFill>
                <a:schemeClr val="bg1">
                  <a:lumMod val="65000"/>
                </a:schemeClr>
              </a:solidFill>
            </a:ln>
          </p:spPr>
          <p:txBody>
            <a:bodyPr wrap="none" rtlCol="0" anchor="ctr">
              <a:noAutofit/>
            </a:bodyPr>
            <a:lstStyle/>
            <a:p>
              <a:pPr algn="ct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功能</a:t>
              </a:r>
              <a:r>
                <a:rPr lang="en-US" altLang="zh-CN" sz="2000" b="1" dirty="0">
                  <a:solidFill>
                    <a:schemeClr val="tx1">
                      <a:lumMod val="65000"/>
                      <a:lumOff val="35000"/>
                    </a:schemeClr>
                  </a:solidFill>
                  <a:latin typeface="微软雅黑" panose="020B0503020204020204" pitchFamily="34" charset="-122"/>
                  <a:ea typeface="微软雅黑" panose="020B0503020204020204" pitchFamily="34" charset="-122"/>
                </a:rPr>
                <a:t>3</a:t>
              </a:r>
              <a:r>
                <a:rPr lang="zh-CN" altLang="en-US" sz="20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en-US" altLang="zh-CN" sz="2000" b="1" dirty="0">
                  <a:solidFill>
                    <a:srgbClr val="3399FF"/>
                  </a:solidFill>
                  <a:latin typeface="华文中宋" panose="02010600040101010101" pitchFamily="2" charset="-122"/>
                  <a:ea typeface="华文中宋" panose="02010600040101010101" pitchFamily="2" charset="-122"/>
                  <a:sym typeface="Wingdings 3" panose="05040102010807070707"/>
                </a:rPr>
                <a:t></a:t>
              </a:r>
              <a:r>
                <a:rPr lang="zh-CN" altLang="en-US" sz="2400" b="1" dirty="0">
                  <a:solidFill>
                    <a:schemeClr val="tx1">
                      <a:lumMod val="65000"/>
                      <a:lumOff val="35000"/>
                    </a:schemeClr>
                  </a:solidFill>
                  <a:latin typeface="微软雅黑" panose="020B0503020204020204" pitchFamily="34" charset="-122"/>
                  <a:ea typeface="微软雅黑" panose="020B0503020204020204" pitchFamily="34" charset="-122"/>
                </a:rPr>
                <a:t>  </a:t>
              </a:r>
              <a:r>
                <a:rPr lang="zh-CN"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显示某个服务在各运行</a:t>
              </a:r>
            </a:p>
            <a:p>
              <a:pPr algn="ctr"/>
              <a:r>
                <a:rPr lang="zh-CN" altLang="zh-CN" sz="1800" b="1" dirty="0">
                  <a:solidFill>
                    <a:srgbClr val="0070C0"/>
                  </a:solidFill>
                  <a:latin typeface="微软雅黑" panose="020B0503020204020204" pitchFamily="34" charset="-122"/>
                  <a:ea typeface="微软雅黑" panose="020B0503020204020204" pitchFamily="34" charset="-122"/>
                  <a:cs typeface="Times New Roman" panose="02020603050405020304" pitchFamily="18" charset="0"/>
                  <a:sym typeface="+mn-ea"/>
                </a:rPr>
                <a:t>       级别中的状态。</a:t>
              </a:r>
            </a:p>
          </p:txBody>
        </p:sp>
        <p:cxnSp>
          <p:nvCxnSpPr>
            <p:cNvPr id="36" name="直接连接符 35"/>
            <p:cNvCxnSpPr/>
            <p:nvPr/>
          </p:nvCxnSpPr>
          <p:spPr>
            <a:xfrm>
              <a:off x="-159938" y="5160893"/>
              <a:ext cx="0" cy="420689"/>
            </a:xfrm>
            <a:prstGeom prst="line">
              <a:avLst/>
            </a:prstGeom>
            <a:ln w="57150">
              <a:solidFill>
                <a:schemeClr val="bg1"/>
              </a:solidFill>
            </a:ln>
          </p:spPr>
          <p:style>
            <a:lnRef idx="1">
              <a:schemeClr val="accent1"/>
            </a:lnRef>
            <a:fillRef idx="0">
              <a:schemeClr val="accent1"/>
            </a:fillRef>
            <a:effectRef idx="0">
              <a:schemeClr val="accent1"/>
            </a:effectRef>
            <a:fontRef idx="minor">
              <a:schemeClr val="tx1"/>
            </a:fontRef>
          </p:style>
        </p:cxnSp>
        <p:sp>
          <p:nvSpPr>
            <p:cNvPr id="37" name="流程图: 联系 36"/>
            <p:cNvSpPr/>
            <p:nvPr/>
          </p:nvSpPr>
          <p:spPr>
            <a:xfrm>
              <a:off x="-332276" y="5243823"/>
              <a:ext cx="169589" cy="169589"/>
            </a:xfrm>
            <a:prstGeom prst="flowChartConnector">
              <a:avLst/>
            </a:prstGeom>
            <a:solidFill>
              <a:srgbClr val="FFC000"/>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微软雅黑" panose="020B0503020204020204" pitchFamily="34" charset="-122"/>
                <a:ea typeface="微软雅黑" panose="020B0503020204020204" pitchFamily="34" charset="-122"/>
              </a:endParaRPr>
            </a:p>
          </p:txBody>
        </p:sp>
        <p:cxnSp>
          <p:nvCxnSpPr>
            <p:cNvPr id="38" name="直接连接符 37"/>
            <p:cNvCxnSpPr/>
            <p:nvPr/>
          </p:nvCxnSpPr>
          <p:spPr>
            <a:xfrm>
              <a:off x="-182474" y="5580589"/>
              <a:ext cx="321323"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 name="组合 1"/>
          <p:cNvGrpSpPr/>
          <p:nvPr/>
        </p:nvGrpSpPr>
        <p:grpSpPr>
          <a:xfrm>
            <a:off x="563880" y="3067685"/>
            <a:ext cx="3555584" cy="472440"/>
            <a:chOff x="1483" y="2676"/>
            <a:chExt cx="5556" cy="744"/>
          </a:xfrm>
        </p:grpSpPr>
        <p:sp>
          <p:nvSpPr>
            <p:cNvPr id="3" name="TextBox 29"/>
            <p:cNvSpPr txBox="1"/>
            <p:nvPr/>
          </p:nvSpPr>
          <p:spPr>
            <a:xfrm>
              <a:off x="1963" y="2676"/>
              <a:ext cx="4867"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chkconfig --add {name}</a:t>
              </a:r>
            </a:p>
          </p:txBody>
        </p:sp>
        <p:grpSp>
          <p:nvGrpSpPr>
            <p:cNvPr id="6" name="组合 5"/>
            <p:cNvGrpSpPr/>
            <p:nvPr/>
          </p:nvGrpSpPr>
          <p:grpSpPr>
            <a:xfrm>
              <a:off x="1483" y="2941"/>
              <a:ext cx="5556" cy="479"/>
              <a:chOff x="1483" y="2941"/>
              <a:chExt cx="5556" cy="479"/>
            </a:xfrm>
          </p:grpSpPr>
          <p:sp>
            <p:nvSpPr>
              <p:cNvPr id="10" name="燕尾形 9"/>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9" name="燕尾形 18"/>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39" name="直接连接符 38"/>
              <p:cNvCxnSpPr/>
              <p:nvPr/>
            </p:nvCxnSpPr>
            <p:spPr>
              <a:xfrm flipV="1">
                <a:off x="1483" y="3413"/>
                <a:ext cx="5556" cy="7"/>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76" name="组合 75"/>
          <p:cNvGrpSpPr/>
          <p:nvPr/>
        </p:nvGrpSpPr>
        <p:grpSpPr>
          <a:xfrm>
            <a:off x="493342" y="2462302"/>
            <a:ext cx="2254303" cy="548640"/>
            <a:chOff x="1524713" y="1340768"/>
            <a:chExt cx="2254303" cy="548640"/>
          </a:xfrm>
        </p:grpSpPr>
        <p:cxnSp>
          <p:nvCxnSpPr>
            <p:cNvPr id="77" name="直接连接符 76"/>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78" name="矩形 77"/>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79" name="椭圆 78"/>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40" name="组合 39"/>
          <p:cNvGrpSpPr/>
          <p:nvPr/>
        </p:nvGrpSpPr>
        <p:grpSpPr>
          <a:xfrm>
            <a:off x="572135" y="3703320"/>
            <a:ext cx="3592061" cy="457200"/>
            <a:chOff x="1483" y="2796"/>
            <a:chExt cx="5613" cy="720"/>
          </a:xfrm>
        </p:grpSpPr>
        <p:sp>
          <p:nvSpPr>
            <p:cNvPr id="41" name="TextBox 29"/>
            <p:cNvSpPr txBox="1"/>
            <p:nvPr/>
          </p:nvSpPr>
          <p:spPr>
            <a:xfrm>
              <a:off x="1963" y="2796"/>
              <a:ext cx="5002"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a:solidFill>
                    <a:srgbClr val="0066FF"/>
                  </a:solidFill>
                  <a:latin typeface="微软雅黑" panose="020B0503020204020204" pitchFamily="34" charset="-122"/>
                  <a:ea typeface="微软雅黑" panose="020B0503020204020204" pitchFamily="34" charset="-122"/>
                  <a:sym typeface="+mn-ea"/>
                </a:rPr>
                <a:t>chkconfig --del {name}</a:t>
              </a:r>
            </a:p>
          </p:txBody>
        </p:sp>
        <p:grpSp>
          <p:nvGrpSpPr>
            <p:cNvPr id="42" name="组合 41"/>
            <p:cNvGrpSpPr/>
            <p:nvPr/>
          </p:nvGrpSpPr>
          <p:grpSpPr>
            <a:xfrm>
              <a:off x="1483" y="2991"/>
              <a:ext cx="5613" cy="491"/>
              <a:chOff x="1483" y="2991"/>
              <a:chExt cx="5613" cy="491"/>
            </a:xfrm>
          </p:grpSpPr>
          <p:sp>
            <p:nvSpPr>
              <p:cNvPr id="43" name="燕尾形 42"/>
              <p:cNvSpPr/>
              <p:nvPr/>
            </p:nvSpPr>
            <p:spPr>
              <a:xfrm>
                <a:off x="1540" y="299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4" name="燕尾形 43"/>
              <p:cNvSpPr/>
              <p:nvPr/>
            </p:nvSpPr>
            <p:spPr>
              <a:xfrm>
                <a:off x="1710" y="301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45" name="直接连接符 44"/>
              <p:cNvCxnSpPr/>
              <p:nvPr/>
            </p:nvCxnSpPr>
            <p:spPr>
              <a:xfrm>
                <a:off x="1483" y="3482"/>
                <a:ext cx="5613" cy="0"/>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46" name="组合 45"/>
          <p:cNvGrpSpPr/>
          <p:nvPr/>
        </p:nvGrpSpPr>
        <p:grpSpPr>
          <a:xfrm>
            <a:off x="690880" y="5694045"/>
            <a:ext cx="3555584" cy="472440"/>
            <a:chOff x="1483" y="2676"/>
            <a:chExt cx="5556" cy="744"/>
          </a:xfrm>
        </p:grpSpPr>
        <p:sp>
          <p:nvSpPr>
            <p:cNvPr id="47" name="TextBox 29"/>
            <p:cNvSpPr txBox="1"/>
            <p:nvPr/>
          </p:nvSpPr>
          <p:spPr>
            <a:xfrm>
              <a:off x="1963" y="2676"/>
              <a:ext cx="4867"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dirty="0">
                  <a:solidFill>
                    <a:srgbClr val="0066FF"/>
                  </a:solidFill>
                  <a:latin typeface="微软雅黑" panose="020B0503020204020204" pitchFamily="34" charset="-122"/>
                  <a:ea typeface="微软雅黑" panose="020B0503020204020204" pitchFamily="34" charset="-122"/>
                  <a:sym typeface="+mn-ea"/>
                </a:rPr>
                <a:t>chkconfig --list [name]</a:t>
              </a:r>
            </a:p>
          </p:txBody>
        </p:sp>
        <p:grpSp>
          <p:nvGrpSpPr>
            <p:cNvPr id="48" name="组合 47"/>
            <p:cNvGrpSpPr/>
            <p:nvPr/>
          </p:nvGrpSpPr>
          <p:grpSpPr>
            <a:xfrm>
              <a:off x="1483" y="2941"/>
              <a:ext cx="5556" cy="479"/>
              <a:chOff x="1483" y="2941"/>
              <a:chExt cx="5556" cy="479"/>
            </a:xfrm>
          </p:grpSpPr>
          <p:sp>
            <p:nvSpPr>
              <p:cNvPr id="50" name="燕尾形 49"/>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燕尾形 50"/>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2" name="直接连接符 51"/>
              <p:cNvCxnSpPr/>
              <p:nvPr/>
            </p:nvCxnSpPr>
            <p:spPr>
              <a:xfrm flipV="1">
                <a:off x="1483" y="3413"/>
                <a:ext cx="5556" cy="7"/>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53" name="组合 52"/>
          <p:cNvGrpSpPr/>
          <p:nvPr/>
        </p:nvGrpSpPr>
        <p:grpSpPr>
          <a:xfrm>
            <a:off x="620342" y="5119142"/>
            <a:ext cx="2254303" cy="548640"/>
            <a:chOff x="1524713" y="1340768"/>
            <a:chExt cx="2254303" cy="548640"/>
          </a:xfrm>
        </p:grpSpPr>
        <p:cxnSp>
          <p:nvCxnSpPr>
            <p:cNvPr id="54" name="直接连接符 53"/>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55" name="矩形 54"/>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56" name="椭圆 55"/>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57" name="组合 56"/>
          <p:cNvGrpSpPr/>
          <p:nvPr/>
        </p:nvGrpSpPr>
        <p:grpSpPr>
          <a:xfrm>
            <a:off x="5563870" y="2383155"/>
            <a:ext cx="5824223" cy="472440"/>
            <a:chOff x="1483" y="2676"/>
            <a:chExt cx="7828" cy="744"/>
          </a:xfrm>
        </p:grpSpPr>
        <p:sp>
          <p:nvSpPr>
            <p:cNvPr id="58" name="TextBox 29"/>
            <p:cNvSpPr txBox="1"/>
            <p:nvPr/>
          </p:nvSpPr>
          <p:spPr>
            <a:xfrm>
              <a:off x="1963" y="2676"/>
              <a:ext cx="7348" cy="662"/>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1800" b="1" dirty="0">
                  <a:solidFill>
                    <a:srgbClr val="0066FF"/>
                  </a:solidFill>
                  <a:latin typeface="微软雅黑" panose="020B0503020204020204" pitchFamily="34" charset="-122"/>
                  <a:ea typeface="微软雅黑" panose="020B0503020204020204" pitchFamily="34" charset="-122"/>
                  <a:sym typeface="+mn-ea"/>
                </a:rPr>
                <a:t>chkconfig --level {0-6} {name} {on/off/reset}</a:t>
              </a:r>
            </a:p>
          </p:txBody>
        </p:sp>
        <p:grpSp>
          <p:nvGrpSpPr>
            <p:cNvPr id="59" name="组合 58"/>
            <p:cNvGrpSpPr/>
            <p:nvPr/>
          </p:nvGrpSpPr>
          <p:grpSpPr>
            <a:xfrm>
              <a:off x="1483" y="2941"/>
              <a:ext cx="7715" cy="479"/>
              <a:chOff x="1483" y="2941"/>
              <a:chExt cx="7715" cy="479"/>
            </a:xfrm>
          </p:grpSpPr>
          <p:sp>
            <p:nvSpPr>
              <p:cNvPr id="60" name="燕尾形 59"/>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1" name="燕尾形 60"/>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62" name="直接连接符 61"/>
              <p:cNvCxnSpPr/>
              <p:nvPr/>
            </p:nvCxnSpPr>
            <p:spPr>
              <a:xfrm flipV="1">
                <a:off x="1483" y="3413"/>
                <a:ext cx="7715" cy="7"/>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63" name="组合 62"/>
          <p:cNvGrpSpPr/>
          <p:nvPr/>
        </p:nvGrpSpPr>
        <p:grpSpPr>
          <a:xfrm>
            <a:off x="5533337" y="1852702"/>
            <a:ext cx="2254303" cy="548640"/>
            <a:chOff x="1524713" y="1340768"/>
            <a:chExt cx="2254303" cy="548640"/>
          </a:xfrm>
        </p:grpSpPr>
        <p:cxnSp>
          <p:nvCxnSpPr>
            <p:cNvPr id="64" name="直接连接符 63"/>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65" name="矩形 64"/>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66" name="椭圆 65"/>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grpSp>
        <p:nvGrpSpPr>
          <p:cNvPr id="67" name="组合 66"/>
          <p:cNvGrpSpPr/>
          <p:nvPr/>
        </p:nvGrpSpPr>
        <p:grpSpPr>
          <a:xfrm>
            <a:off x="5624613" y="2865120"/>
            <a:ext cx="5776224" cy="455295"/>
            <a:chOff x="1311" y="2724"/>
            <a:chExt cx="9026" cy="717"/>
          </a:xfrm>
        </p:grpSpPr>
        <p:sp>
          <p:nvSpPr>
            <p:cNvPr id="68" name="TextBox 29"/>
            <p:cNvSpPr txBox="1"/>
            <p:nvPr/>
          </p:nvSpPr>
          <p:spPr>
            <a:xfrm>
              <a:off x="1311" y="2724"/>
              <a:ext cx="9026" cy="662"/>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1800" b="1">
                  <a:solidFill>
                    <a:srgbClr val="0066FF"/>
                  </a:solidFill>
                  <a:latin typeface="微软雅黑" panose="020B0503020204020204" pitchFamily="34" charset="-122"/>
                  <a:ea typeface="微软雅黑" panose="020B0503020204020204" pitchFamily="34" charset="-122"/>
                  <a:sym typeface="+mn-ea"/>
                </a:rPr>
                <a:t>也可以采用  ntsysv --level {12345} 命令实现此功能。</a:t>
              </a:r>
            </a:p>
          </p:txBody>
        </p:sp>
        <p:cxnSp>
          <p:nvCxnSpPr>
            <p:cNvPr id="81" name="直接连接符 80"/>
            <p:cNvCxnSpPr/>
            <p:nvPr/>
          </p:nvCxnSpPr>
          <p:spPr>
            <a:xfrm>
              <a:off x="1483" y="3434"/>
              <a:ext cx="8814" cy="7"/>
            </a:xfrm>
            <a:prstGeom prst="line">
              <a:avLst/>
            </a:prstGeom>
          </p:spPr>
          <p:style>
            <a:lnRef idx="1">
              <a:schemeClr val="accent6"/>
            </a:lnRef>
            <a:fillRef idx="0">
              <a:schemeClr val="accent6"/>
            </a:fillRef>
            <a:effectRef idx="0">
              <a:schemeClr val="accent6"/>
            </a:effectRef>
            <a:fontRef idx="minor">
              <a:schemeClr val="tx1"/>
            </a:fontRef>
          </p:style>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2" presetClass="entr" presetSubtype="3" fill="hold" nodeType="afterEffect">
                                  <p:stCondLst>
                                    <p:cond delay="0"/>
                                  </p:stCondLst>
                                  <p:childTnLst>
                                    <p:set>
                                      <p:cBhvr>
                                        <p:cTn id="10" dur="1" fill="hold">
                                          <p:stCondLst>
                                            <p:cond delay="0"/>
                                          </p:stCondLst>
                                        </p:cTn>
                                        <p:tgtEl>
                                          <p:spTgt spid="71"/>
                                        </p:tgtEl>
                                        <p:attrNameLst>
                                          <p:attrName>style.visibility</p:attrName>
                                        </p:attrNameLst>
                                      </p:cBhvr>
                                      <p:to>
                                        <p:strVal val="visible"/>
                                      </p:to>
                                    </p:set>
                                    <p:anim calcmode="lin" valueType="num">
                                      <p:cBhvr additive="base">
                                        <p:cTn id="11" dur="500" fill="hold"/>
                                        <p:tgtEl>
                                          <p:spTgt spid="71"/>
                                        </p:tgtEl>
                                        <p:attrNameLst>
                                          <p:attrName>ppt_x</p:attrName>
                                        </p:attrNameLst>
                                      </p:cBhvr>
                                      <p:tavLst>
                                        <p:tav tm="0">
                                          <p:val>
                                            <p:strVal val="1+#ppt_w/2"/>
                                          </p:val>
                                        </p:tav>
                                        <p:tav tm="100000">
                                          <p:val>
                                            <p:strVal val="#ppt_x"/>
                                          </p:val>
                                        </p:tav>
                                      </p:tavLst>
                                    </p:anim>
                                    <p:anim calcmode="lin" valueType="num">
                                      <p:cBhvr additive="base">
                                        <p:cTn id="12" dur="500" fill="hold"/>
                                        <p:tgtEl>
                                          <p:spTgt spid="71"/>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31" presetClass="entr" presetSubtype="0" fill="hold" nodeType="afterEffect">
                                  <p:stCondLst>
                                    <p:cond delay="0"/>
                                  </p:stCondLst>
                                  <p:iterate type="lt">
                                    <p:tmPct val="5000"/>
                                  </p:iterate>
                                  <p:childTnLst>
                                    <p:set>
                                      <p:cBhvr>
                                        <p:cTn id="15" dur="1" fill="hold">
                                          <p:stCondLst>
                                            <p:cond delay="0"/>
                                          </p:stCondLst>
                                        </p:cTn>
                                        <p:tgtEl>
                                          <p:spTgt spid="76"/>
                                        </p:tgtEl>
                                        <p:attrNameLst>
                                          <p:attrName>style.visibility</p:attrName>
                                        </p:attrNameLst>
                                      </p:cBhvr>
                                      <p:to>
                                        <p:strVal val="visible"/>
                                      </p:to>
                                    </p:set>
                                    <p:anim calcmode="lin" valueType="num">
                                      <p:cBhvr>
                                        <p:cTn id="16" dur="1000" fill="hold"/>
                                        <p:tgtEl>
                                          <p:spTgt spid="76"/>
                                        </p:tgtEl>
                                        <p:attrNameLst>
                                          <p:attrName>ppt_w</p:attrName>
                                        </p:attrNameLst>
                                      </p:cBhvr>
                                      <p:tavLst>
                                        <p:tav tm="0">
                                          <p:val>
                                            <p:fltVal val="0"/>
                                          </p:val>
                                        </p:tav>
                                        <p:tav tm="100000">
                                          <p:val>
                                            <p:strVal val="#ppt_w"/>
                                          </p:val>
                                        </p:tav>
                                      </p:tavLst>
                                    </p:anim>
                                    <p:anim calcmode="lin" valueType="num">
                                      <p:cBhvr>
                                        <p:cTn id="17" dur="1000" fill="hold"/>
                                        <p:tgtEl>
                                          <p:spTgt spid="76"/>
                                        </p:tgtEl>
                                        <p:attrNameLst>
                                          <p:attrName>ppt_h</p:attrName>
                                        </p:attrNameLst>
                                      </p:cBhvr>
                                      <p:tavLst>
                                        <p:tav tm="0">
                                          <p:val>
                                            <p:fltVal val="0"/>
                                          </p:val>
                                        </p:tav>
                                        <p:tav tm="100000">
                                          <p:val>
                                            <p:strVal val="#ppt_h"/>
                                          </p:val>
                                        </p:tav>
                                      </p:tavLst>
                                    </p:anim>
                                    <p:anim calcmode="lin" valueType="num">
                                      <p:cBhvr>
                                        <p:cTn id="18" dur="1000" fill="hold"/>
                                        <p:tgtEl>
                                          <p:spTgt spid="76"/>
                                        </p:tgtEl>
                                        <p:attrNameLst>
                                          <p:attrName>style.rotation</p:attrName>
                                        </p:attrNameLst>
                                      </p:cBhvr>
                                      <p:tavLst>
                                        <p:tav tm="0">
                                          <p:val>
                                            <p:fltVal val="90"/>
                                          </p:val>
                                        </p:tav>
                                        <p:tav tm="100000">
                                          <p:val>
                                            <p:fltVal val="0"/>
                                          </p:val>
                                        </p:tav>
                                      </p:tavLst>
                                    </p:anim>
                                    <p:animEffect transition="in" filter="fade">
                                      <p:cBhvr>
                                        <p:cTn id="19" dur="1000"/>
                                        <p:tgtEl>
                                          <p:spTgt spid="76"/>
                                        </p:tgtEl>
                                      </p:cBhvr>
                                    </p:animEffect>
                                  </p:childTnLst>
                                </p:cTn>
                              </p:par>
                            </p:childTnLst>
                          </p:cTn>
                        </p:par>
                        <p:par>
                          <p:cTn id="20" fill="hold">
                            <p:stCondLst>
                              <p:cond delay="2000"/>
                            </p:stCondLst>
                            <p:childTnLst>
                              <p:par>
                                <p:cTn id="21" presetID="2" presetClass="entr" presetSubtype="8" fill="hold" nodeType="afterEffect">
                                  <p:stCondLst>
                                    <p:cond delay="0"/>
                                  </p:stCondLst>
                                  <p:childTnLst>
                                    <p:set>
                                      <p:cBhvr>
                                        <p:cTn id="22" dur="1" fill="hold">
                                          <p:stCondLst>
                                            <p:cond delay="0"/>
                                          </p:stCondLst>
                                        </p:cTn>
                                        <p:tgtEl>
                                          <p:spTgt spid="2"/>
                                        </p:tgtEl>
                                        <p:attrNameLst>
                                          <p:attrName>style.visibility</p:attrName>
                                        </p:attrNameLst>
                                      </p:cBhvr>
                                      <p:to>
                                        <p:strVal val="visible"/>
                                      </p:to>
                                    </p:set>
                                    <p:anim calcmode="lin" valueType="num">
                                      <p:cBhvr additive="base">
                                        <p:cTn id="23" dur="500" fill="hold"/>
                                        <p:tgtEl>
                                          <p:spTgt spid="2"/>
                                        </p:tgtEl>
                                        <p:attrNameLst>
                                          <p:attrName>ppt_x</p:attrName>
                                        </p:attrNameLst>
                                      </p:cBhvr>
                                      <p:tavLst>
                                        <p:tav tm="0">
                                          <p:val>
                                            <p:strVal val="0-#ppt_w/2"/>
                                          </p:val>
                                        </p:tav>
                                        <p:tav tm="100000">
                                          <p:val>
                                            <p:strVal val="#ppt_x"/>
                                          </p:val>
                                        </p:tav>
                                      </p:tavLst>
                                    </p:anim>
                                    <p:anim calcmode="lin" valueType="num">
                                      <p:cBhvr additive="base">
                                        <p:cTn id="24" dur="500" fill="hold"/>
                                        <p:tgtEl>
                                          <p:spTgt spid="2"/>
                                        </p:tgtEl>
                                        <p:attrNameLst>
                                          <p:attrName>ppt_y</p:attrName>
                                        </p:attrNameLst>
                                      </p:cBhvr>
                                      <p:tavLst>
                                        <p:tav tm="0">
                                          <p:val>
                                            <p:strVal val="#ppt_y"/>
                                          </p:val>
                                        </p:tav>
                                        <p:tav tm="100000">
                                          <p:val>
                                            <p:strVal val="#ppt_y"/>
                                          </p:val>
                                        </p:tav>
                                      </p:tavLst>
                                    </p:anim>
                                  </p:childTnLst>
                                </p:cTn>
                              </p:par>
                            </p:childTnLst>
                          </p:cTn>
                        </p:par>
                        <p:par>
                          <p:cTn id="25" fill="hold">
                            <p:stCondLst>
                              <p:cond delay="2500"/>
                            </p:stCondLst>
                            <p:childTnLst>
                              <p:par>
                                <p:cTn id="26" presetID="2" presetClass="entr" presetSubtype="8" fill="hold" nodeType="afterEffect">
                                  <p:stCondLst>
                                    <p:cond delay="0"/>
                                  </p:stCondLst>
                                  <p:childTnLst>
                                    <p:set>
                                      <p:cBhvr>
                                        <p:cTn id="27" dur="1" fill="hold">
                                          <p:stCondLst>
                                            <p:cond delay="0"/>
                                          </p:stCondLst>
                                        </p:cTn>
                                        <p:tgtEl>
                                          <p:spTgt spid="40"/>
                                        </p:tgtEl>
                                        <p:attrNameLst>
                                          <p:attrName>style.visibility</p:attrName>
                                        </p:attrNameLst>
                                      </p:cBhvr>
                                      <p:to>
                                        <p:strVal val="visible"/>
                                      </p:to>
                                    </p:set>
                                    <p:anim calcmode="lin" valueType="num">
                                      <p:cBhvr additive="base">
                                        <p:cTn id="28" dur="500" fill="hold"/>
                                        <p:tgtEl>
                                          <p:spTgt spid="40"/>
                                        </p:tgtEl>
                                        <p:attrNameLst>
                                          <p:attrName>ppt_x</p:attrName>
                                        </p:attrNameLst>
                                      </p:cBhvr>
                                      <p:tavLst>
                                        <p:tav tm="0">
                                          <p:val>
                                            <p:strVal val="0-#ppt_w/2"/>
                                          </p:val>
                                        </p:tav>
                                        <p:tav tm="100000">
                                          <p:val>
                                            <p:strVal val="#ppt_x"/>
                                          </p:val>
                                        </p:tav>
                                      </p:tavLst>
                                    </p:anim>
                                    <p:anim calcmode="lin" valueType="num">
                                      <p:cBhvr additive="base">
                                        <p:cTn id="29" dur="500" fill="hold"/>
                                        <p:tgtEl>
                                          <p:spTgt spid="40"/>
                                        </p:tgtEl>
                                        <p:attrNameLst>
                                          <p:attrName>ppt_y</p:attrName>
                                        </p:attrNameLst>
                                      </p:cBhvr>
                                      <p:tavLst>
                                        <p:tav tm="0">
                                          <p:val>
                                            <p:strVal val="#ppt_y"/>
                                          </p:val>
                                        </p:tav>
                                        <p:tav tm="100000">
                                          <p:val>
                                            <p:strVal val="#ppt_y"/>
                                          </p:val>
                                        </p:tav>
                                      </p:tavLst>
                                    </p:anim>
                                  </p:childTnLst>
                                </p:cTn>
                              </p:par>
                            </p:childTnLst>
                          </p:cTn>
                        </p:par>
                        <p:par>
                          <p:cTn id="30" fill="hold">
                            <p:stCondLst>
                              <p:cond delay="3000"/>
                            </p:stCondLst>
                            <p:childTnLst>
                              <p:par>
                                <p:cTn id="31" presetID="2" presetClass="entr" presetSubtype="3" fill="hold" nodeType="afterEffect">
                                  <p:stCondLst>
                                    <p:cond delay="0"/>
                                  </p:stCondLst>
                                  <p:childTnLst>
                                    <p:set>
                                      <p:cBhvr>
                                        <p:cTn id="32" dur="1" fill="hold">
                                          <p:stCondLst>
                                            <p:cond delay="0"/>
                                          </p:stCondLst>
                                        </p:cTn>
                                        <p:tgtEl>
                                          <p:spTgt spid="8"/>
                                        </p:tgtEl>
                                        <p:attrNameLst>
                                          <p:attrName>style.visibility</p:attrName>
                                        </p:attrNameLst>
                                      </p:cBhvr>
                                      <p:to>
                                        <p:strVal val="visible"/>
                                      </p:to>
                                    </p:set>
                                    <p:anim calcmode="lin" valueType="num">
                                      <p:cBhvr additive="base">
                                        <p:cTn id="33" dur="500" fill="hold"/>
                                        <p:tgtEl>
                                          <p:spTgt spid="8"/>
                                        </p:tgtEl>
                                        <p:attrNameLst>
                                          <p:attrName>ppt_x</p:attrName>
                                        </p:attrNameLst>
                                      </p:cBhvr>
                                      <p:tavLst>
                                        <p:tav tm="0">
                                          <p:val>
                                            <p:strVal val="1+#ppt_w/2"/>
                                          </p:val>
                                        </p:tav>
                                        <p:tav tm="100000">
                                          <p:val>
                                            <p:strVal val="#ppt_x"/>
                                          </p:val>
                                        </p:tav>
                                      </p:tavLst>
                                    </p:anim>
                                    <p:anim calcmode="lin" valueType="num">
                                      <p:cBhvr additive="base">
                                        <p:cTn id="34" dur="500" fill="hold"/>
                                        <p:tgtEl>
                                          <p:spTgt spid="8"/>
                                        </p:tgtEl>
                                        <p:attrNameLst>
                                          <p:attrName>ppt_y</p:attrName>
                                        </p:attrNameLst>
                                      </p:cBhvr>
                                      <p:tavLst>
                                        <p:tav tm="0">
                                          <p:val>
                                            <p:strVal val="0-#ppt_h/2"/>
                                          </p:val>
                                        </p:tav>
                                        <p:tav tm="100000">
                                          <p:val>
                                            <p:strVal val="#ppt_y"/>
                                          </p:val>
                                        </p:tav>
                                      </p:tavLst>
                                    </p:anim>
                                  </p:childTnLst>
                                </p:cTn>
                              </p:par>
                            </p:childTnLst>
                          </p:cTn>
                        </p:par>
                        <p:par>
                          <p:cTn id="35" fill="hold">
                            <p:stCondLst>
                              <p:cond delay="3500"/>
                            </p:stCondLst>
                            <p:childTnLst>
                              <p:par>
                                <p:cTn id="36" presetID="31" presetClass="entr" presetSubtype="0" fill="hold" nodeType="afterEffect">
                                  <p:stCondLst>
                                    <p:cond delay="0"/>
                                  </p:stCondLst>
                                  <p:iterate type="lt">
                                    <p:tmPct val="5000"/>
                                  </p:iterate>
                                  <p:childTnLst>
                                    <p:set>
                                      <p:cBhvr>
                                        <p:cTn id="37" dur="1" fill="hold">
                                          <p:stCondLst>
                                            <p:cond delay="0"/>
                                          </p:stCondLst>
                                        </p:cTn>
                                        <p:tgtEl>
                                          <p:spTgt spid="63"/>
                                        </p:tgtEl>
                                        <p:attrNameLst>
                                          <p:attrName>style.visibility</p:attrName>
                                        </p:attrNameLst>
                                      </p:cBhvr>
                                      <p:to>
                                        <p:strVal val="visible"/>
                                      </p:to>
                                    </p:set>
                                    <p:anim calcmode="lin" valueType="num">
                                      <p:cBhvr>
                                        <p:cTn id="38" dur="1000" fill="hold"/>
                                        <p:tgtEl>
                                          <p:spTgt spid="63"/>
                                        </p:tgtEl>
                                        <p:attrNameLst>
                                          <p:attrName>ppt_w</p:attrName>
                                        </p:attrNameLst>
                                      </p:cBhvr>
                                      <p:tavLst>
                                        <p:tav tm="0">
                                          <p:val>
                                            <p:fltVal val="0"/>
                                          </p:val>
                                        </p:tav>
                                        <p:tav tm="100000">
                                          <p:val>
                                            <p:strVal val="#ppt_w"/>
                                          </p:val>
                                        </p:tav>
                                      </p:tavLst>
                                    </p:anim>
                                    <p:anim calcmode="lin" valueType="num">
                                      <p:cBhvr>
                                        <p:cTn id="39" dur="1000" fill="hold"/>
                                        <p:tgtEl>
                                          <p:spTgt spid="63"/>
                                        </p:tgtEl>
                                        <p:attrNameLst>
                                          <p:attrName>ppt_h</p:attrName>
                                        </p:attrNameLst>
                                      </p:cBhvr>
                                      <p:tavLst>
                                        <p:tav tm="0">
                                          <p:val>
                                            <p:fltVal val="0"/>
                                          </p:val>
                                        </p:tav>
                                        <p:tav tm="100000">
                                          <p:val>
                                            <p:strVal val="#ppt_h"/>
                                          </p:val>
                                        </p:tav>
                                      </p:tavLst>
                                    </p:anim>
                                    <p:anim calcmode="lin" valueType="num">
                                      <p:cBhvr>
                                        <p:cTn id="40" dur="1000" fill="hold"/>
                                        <p:tgtEl>
                                          <p:spTgt spid="63"/>
                                        </p:tgtEl>
                                        <p:attrNameLst>
                                          <p:attrName>style.rotation</p:attrName>
                                        </p:attrNameLst>
                                      </p:cBhvr>
                                      <p:tavLst>
                                        <p:tav tm="0">
                                          <p:val>
                                            <p:fltVal val="90"/>
                                          </p:val>
                                        </p:tav>
                                        <p:tav tm="100000">
                                          <p:val>
                                            <p:fltVal val="0"/>
                                          </p:val>
                                        </p:tav>
                                      </p:tavLst>
                                    </p:anim>
                                    <p:animEffect transition="in" filter="fade">
                                      <p:cBhvr>
                                        <p:cTn id="41" dur="1000"/>
                                        <p:tgtEl>
                                          <p:spTgt spid="63"/>
                                        </p:tgtEl>
                                      </p:cBhvr>
                                    </p:animEffect>
                                  </p:childTnLst>
                                </p:cTn>
                              </p:par>
                            </p:childTnLst>
                          </p:cTn>
                        </p:par>
                        <p:par>
                          <p:cTn id="42" fill="hold">
                            <p:stCondLst>
                              <p:cond delay="4500"/>
                            </p:stCondLst>
                            <p:childTnLst>
                              <p:par>
                                <p:cTn id="43" presetID="2" presetClass="entr" presetSubtype="8" fill="hold" nodeType="afterEffect">
                                  <p:stCondLst>
                                    <p:cond delay="0"/>
                                  </p:stCondLst>
                                  <p:childTnLst>
                                    <p:set>
                                      <p:cBhvr>
                                        <p:cTn id="44" dur="1" fill="hold">
                                          <p:stCondLst>
                                            <p:cond delay="0"/>
                                          </p:stCondLst>
                                        </p:cTn>
                                        <p:tgtEl>
                                          <p:spTgt spid="57"/>
                                        </p:tgtEl>
                                        <p:attrNameLst>
                                          <p:attrName>style.visibility</p:attrName>
                                        </p:attrNameLst>
                                      </p:cBhvr>
                                      <p:to>
                                        <p:strVal val="visible"/>
                                      </p:to>
                                    </p:set>
                                    <p:anim calcmode="lin" valueType="num">
                                      <p:cBhvr additive="base">
                                        <p:cTn id="45" dur="500" fill="hold"/>
                                        <p:tgtEl>
                                          <p:spTgt spid="57"/>
                                        </p:tgtEl>
                                        <p:attrNameLst>
                                          <p:attrName>ppt_x</p:attrName>
                                        </p:attrNameLst>
                                      </p:cBhvr>
                                      <p:tavLst>
                                        <p:tav tm="0">
                                          <p:val>
                                            <p:strVal val="0-#ppt_w/2"/>
                                          </p:val>
                                        </p:tav>
                                        <p:tav tm="100000">
                                          <p:val>
                                            <p:strVal val="#ppt_x"/>
                                          </p:val>
                                        </p:tav>
                                      </p:tavLst>
                                    </p:anim>
                                    <p:anim calcmode="lin" valueType="num">
                                      <p:cBhvr additive="base">
                                        <p:cTn id="46" dur="500" fill="hold"/>
                                        <p:tgtEl>
                                          <p:spTgt spid="57"/>
                                        </p:tgtEl>
                                        <p:attrNameLst>
                                          <p:attrName>ppt_y</p:attrName>
                                        </p:attrNameLst>
                                      </p:cBhvr>
                                      <p:tavLst>
                                        <p:tav tm="0">
                                          <p:val>
                                            <p:strVal val="#ppt_y"/>
                                          </p:val>
                                        </p:tav>
                                        <p:tav tm="100000">
                                          <p:val>
                                            <p:strVal val="#ppt_y"/>
                                          </p:val>
                                        </p:tav>
                                      </p:tavLst>
                                    </p:anim>
                                  </p:childTnLst>
                                </p:cTn>
                              </p:par>
                            </p:childTnLst>
                          </p:cTn>
                        </p:par>
                        <p:par>
                          <p:cTn id="47" fill="hold">
                            <p:stCondLst>
                              <p:cond delay="5000"/>
                            </p:stCondLst>
                            <p:childTnLst>
                              <p:par>
                                <p:cTn id="48" presetID="2" presetClass="entr" presetSubtype="8" fill="hold" nodeType="afterEffect">
                                  <p:stCondLst>
                                    <p:cond delay="0"/>
                                  </p:stCondLst>
                                  <p:childTnLst>
                                    <p:set>
                                      <p:cBhvr>
                                        <p:cTn id="49" dur="1" fill="hold">
                                          <p:stCondLst>
                                            <p:cond delay="0"/>
                                          </p:stCondLst>
                                        </p:cTn>
                                        <p:tgtEl>
                                          <p:spTgt spid="67"/>
                                        </p:tgtEl>
                                        <p:attrNameLst>
                                          <p:attrName>style.visibility</p:attrName>
                                        </p:attrNameLst>
                                      </p:cBhvr>
                                      <p:to>
                                        <p:strVal val="visible"/>
                                      </p:to>
                                    </p:set>
                                    <p:anim calcmode="lin" valueType="num">
                                      <p:cBhvr additive="base">
                                        <p:cTn id="50" dur="500" fill="hold"/>
                                        <p:tgtEl>
                                          <p:spTgt spid="67"/>
                                        </p:tgtEl>
                                        <p:attrNameLst>
                                          <p:attrName>ppt_x</p:attrName>
                                        </p:attrNameLst>
                                      </p:cBhvr>
                                      <p:tavLst>
                                        <p:tav tm="0">
                                          <p:val>
                                            <p:strVal val="0-#ppt_w/2"/>
                                          </p:val>
                                        </p:tav>
                                        <p:tav tm="100000">
                                          <p:val>
                                            <p:strVal val="#ppt_x"/>
                                          </p:val>
                                        </p:tav>
                                      </p:tavLst>
                                    </p:anim>
                                    <p:anim calcmode="lin" valueType="num">
                                      <p:cBhvr additive="base">
                                        <p:cTn id="51" dur="500" fill="hold"/>
                                        <p:tgtEl>
                                          <p:spTgt spid="67"/>
                                        </p:tgtEl>
                                        <p:attrNameLst>
                                          <p:attrName>ppt_y</p:attrName>
                                        </p:attrNameLst>
                                      </p:cBhvr>
                                      <p:tavLst>
                                        <p:tav tm="0">
                                          <p:val>
                                            <p:strVal val="#ppt_y"/>
                                          </p:val>
                                        </p:tav>
                                        <p:tav tm="100000">
                                          <p:val>
                                            <p:strVal val="#ppt_y"/>
                                          </p:val>
                                        </p:tav>
                                      </p:tavLst>
                                    </p:anim>
                                  </p:childTnLst>
                                </p:cTn>
                              </p:par>
                            </p:childTnLst>
                          </p:cTn>
                        </p:par>
                        <p:par>
                          <p:cTn id="52" fill="hold">
                            <p:stCondLst>
                              <p:cond delay="5500"/>
                            </p:stCondLst>
                            <p:childTnLst>
                              <p:par>
                                <p:cTn id="53" presetID="2" presetClass="entr" presetSubtype="3" fill="hold" nodeType="afterEffect">
                                  <p:stCondLst>
                                    <p:cond delay="0"/>
                                  </p:stCondLst>
                                  <p:childTnLst>
                                    <p:set>
                                      <p:cBhvr>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1+#ppt_w/2"/>
                                          </p:val>
                                        </p:tav>
                                        <p:tav tm="100000">
                                          <p:val>
                                            <p:strVal val="#ppt_x"/>
                                          </p:val>
                                        </p:tav>
                                      </p:tavLst>
                                    </p:anim>
                                    <p:anim calcmode="lin" valueType="num">
                                      <p:cBhvr additive="base">
                                        <p:cTn id="56" dur="500" fill="hold"/>
                                        <p:tgtEl>
                                          <p:spTgt spid="30"/>
                                        </p:tgtEl>
                                        <p:attrNameLst>
                                          <p:attrName>ppt_y</p:attrName>
                                        </p:attrNameLst>
                                      </p:cBhvr>
                                      <p:tavLst>
                                        <p:tav tm="0">
                                          <p:val>
                                            <p:strVal val="0-#ppt_h/2"/>
                                          </p:val>
                                        </p:tav>
                                        <p:tav tm="100000">
                                          <p:val>
                                            <p:strVal val="#ppt_y"/>
                                          </p:val>
                                        </p:tav>
                                      </p:tavLst>
                                    </p:anim>
                                  </p:childTnLst>
                                </p:cTn>
                              </p:par>
                            </p:childTnLst>
                          </p:cTn>
                        </p:par>
                        <p:par>
                          <p:cTn id="57" fill="hold">
                            <p:stCondLst>
                              <p:cond delay="6000"/>
                            </p:stCondLst>
                            <p:childTnLst>
                              <p:par>
                                <p:cTn id="58" presetID="31" presetClass="entr" presetSubtype="0" fill="hold" nodeType="afterEffect">
                                  <p:stCondLst>
                                    <p:cond delay="0"/>
                                  </p:stCondLst>
                                  <p:iterate type="lt">
                                    <p:tmPct val="5000"/>
                                  </p:iterate>
                                  <p:childTnLst>
                                    <p:set>
                                      <p:cBhvr>
                                        <p:cTn id="59" dur="1" fill="hold">
                                          <p:stCondLst>
                                            <p:cond delay="0"/>
                                          </p:stCondLst>
                                        </p:cTn>
                                        <p:tgtEl>
                                          <p:spTgt spid="53"/>
                                        </p:tgtEl>
                                        <p:attrNameLst>
                                          <p:attrName>style.visibility</p:attrName>
                                        </p:attrNameLst>
                                      </p:cBhvr>
                                      <p:to>
                                        <p:strVal val="visible"/>
                                      </p:to>
                                    </p:set>
                                    <p:anim calcmode="lin" valueType="num">
                                      <p:cBhvr>
                                        <p:cTn id="60" dur="1000" fill="hold"/>
                                        <p:tgtEl>
                                          <p:spTgt spid="53"/>
                                        </p:tgtEl>
                                        <p:attrNameLst>
                                          <p:attrName>ppt_w</p:attrName>
                                        </p:attrNameLst>
                                      </p:cBhvr>
                                      <p:tavLst>
                                        <p:tav tm="0">
                                          <p:val>
                                            <p:fltVal val="0"/>
                                          </p:val>
                                        </p:tav>
                                        <p:tav tm="100000">
                                          <p:val>
                                            <p:strVal val="#ppt_w"/>
                                          </p:val>
                                        </p:tav>
                                      </p:tavLst>
                                    </p:anim>
                                    <p:anim calcmode="lin" valueType="num">
                                      <p:cBhvr>
                                        <p:cTn id="61" dur="1000" fill="hold"/>
                                        <p:tgtEl>
                                          <p:spTgt spid="53"/>
                                        </p:tgtEl>
                                        <p:attrNameLst>
                                          <p:attrName>ppt_h</p:attrName>
                                        </p:attrNameLst>
                                      </p:cBhvr>
                                      <p:tavLst>
                                        <p:tav tm="0">
                                          <p:val>
                                            <p:fltVal val="0"/>
                                          </p:val>
                                        </p:tav>
                                        <p:tav tm="100000">
                                          <p:val>
                                            <p:strVal val="#ppt_h"/>
                                          </p:val>
                                        </p:tav>
                                      </p:tavLst>
                                    </p:anim>
                                    <p:anim calcmode="lin" valueType="num">
                                      <p:cBhvr>
                                        <p:cTn id="62" dur="1000" fill="hold"/>
                                        <p:tgtEl>
                                          <p:spTgt spid="53"/>
                                        </p:tgtEl>
                                        <p:attrNameLst>
                                          <p:attrName>style.rotation</p:attrName>
                                        </p:attrNameLst>
                                      </p:cBhvr>
                                      <p:tavLst>
                                        <p:tav tm="0">
                                          <p:val>
                                            <p:fltVal val="90"/>
                                          </p:val>
                                        </p:tav>
                                        <p:tav tm="100000">
                                          <p:val>
                                            <p:fltVal val="0"/>
                                          </p:val>
                                        </p:tav>
                                      </p:tavLst>
                                    </p:anim>
                                    <p:animEffect transition="in" filter="fade">
                                      <p:cBhvr>
                                        <p:cTn id="63" dur="1000"/>
                                        <p:tgtEl>
                                          <p:spTgt spid="53"/>
                                        </p:tgtEl>
                                      </p:cBhvr>
                                    </p:animEffect>
                                  </p:childTnLst>
                                </p:cTn>
                              </p:par>
                            </p:childTnLst>
                          </p:cTn>
                        </p:par>
                        <p:par>
                          <p:cTn id="64" fill="hold">
                            <p:stCondLst>
                              <p:cond delay="7000"/>
                            </p:stCondLst>
                            <p:childTnLst>
                              <p:par>
                                <p:cTn id="65" presetID="2" presetClass="entr" presetSubtype="8" fill="hold" nodeType="afterEffect">
                                  <p:stCondLst>
                                    <p:cond delay="0"/>
                                  </p:stCondLst>
                                  <p:childTnLst>
                                    <p:set>
                                      <p:cBhvr>
                                        <p:cTn id="66" dur="1" fill="hold">
                                          <p:stCondLst>
                                            <p:cond delay="0"/>
                                          </p:stCondLst>
                                        </p:cTn>
                                        <p:tgtEl>
                                          <p:spTgt spid="46"/>
                                        </p:tgtEl>
                                        <p:attrNameLst>
                                          <p:attrName>style.visibility</p:attrName>
                                        </p:attrNameLst>
                                      </p:cBhvr>
                                      <p:to>
                                        <p:strVal val="visible"/>
                                      </p:to>
                                    </p:set>
                                    <p:anim calcmode="lin" valueType="num">
                                      <p:cBhvr additive="base">
                                        <p:cTn id="67" dur="500" fill="hold"/>
                                        <p:tgtEl>
                                          <p:spTgt spid="46"/>
                                        </p:tgtEl>
                                        <p:attrNameLst>
                                          <p:attrName>ppt_x</p:attrName>
                                        </p:attrNameLst>
                                      </p:cBhvr>
                                      <p:tavLst>
                                        <p:tav tm="0">
                                          <p:val>
                                            <p:strVal val="0-#ppt_w/2"/>
                                          </p:val>
                                        </p:tav>
                                        <p:tav tm="100000">
                                          <p:val>
                                            <p:strVal val="#ppt_x"/>
                                          </p:val>
                                        </p:tav>
                                      </p:tavLst>
                                    </p:anim>
                                    <p:anim calcmode="lin" valueType="num">
                                      <p:cBhvr additive="base">
                                        <p:cTn id="68" dur="500" fill="hold"/>
                                        <p:tgtEl>
                                          <p:spTgt spid="46"/>
                                        </p:tgtEl>
                                        <p:attrNameLst>
                                          <p:attrName>ppt_y</p:attrName>
                                        </p:attrNameLst>
                                      </p:cBhvr>
                                      <p:tavLst>
                                        <p:tav tm="0">
                                          <p:val>
                                            <p:strVal val="#ppt_y"/>
                                          </p:val>
                                        </p:tav>
                                        <p:tav tm="100000">
                                          <p:val>
                                            <p:strVal val="#ppt_y"/>
                                          </p:val>
                                        </p:tav>
                                      </p:tavLst>
                                    </p:anim>
                                  </p:childTnLst>
                                </p:cTn>
                              </p:par>
                            </p:childTnLst>
                          </p:cTn>
                        </p:par>
                        <p:par>
                          <p:cTn id="69" fill="hold">
                            <p:stCondLst>
                              <p:cond delay="7500"/>
                            </p:stCondLst>
                            <p:childTnLst>
                              <p:par>
                                <p:cTn id="70" presetID="22" presetClass="entr" presetSubtype="8" fill="hold" nodeType="after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wipe(left)">
                                      <p:cBhvr>
                                        <p:cTn id="72"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 name="组合 31"/>
          <p:cNvGrpSpPr/>
          <p:nvPr/>
        </p:nvGrpSpPr>
        <p:grpSpPr>
          <a:xfrm>
            <a:off x="651854" y="1469389"/>
            <a:ext cx="10953406" cy="4867276"/>
            <a:chOff x="457" y="1310"/>
            <a:chExt cx="17249" cy="8850"/>
          </a:xfrm>
        </p:grpSpPr>
        <p:grpSp>
          <p:nvGrpSpPr>
            <p:cNvPr id="12" name="组合 11"/>
            <p:cNvGrpSpPr/>
            <p:nvPr/>
          </p:nvGrpSpPr>
          <p:grpSpPr>
            <a:xfrm>
              <a:off x="457" y="1310"/>
              <a:ext cx="17058" cy="8850"/>
              <a:chOff x="450" y="1306"/>
              <a:chExt cx="17836" cy="8961"/>
            </a:xfrm>
          </p:grpSpPr>
          <p:grpSp>
            <p:nvGrpSpPr>
              <p:cNvPr id="5" name="组合 14"/>
              <p:cNvGrpSpPr/>
              <p:nvPr/>
            </p:nvGrpSpPr>
            <p:grpSpPr bwMode="auto">
              <a:xfrm>
                <a:off x="623" y="1306"/>
                <a:ext cx="17663" cy="8961"/>
                <a:chOff x="1210356" y="1361165"/>
                <a:chExt cx="9699365" cy="2351764"/>
              </a:xfrm>
            </p:grpSpPr>
            <p:sp>
              <p:nvSpPr>
                <p:cNvPr id="29" name="矩形 28"/>
                <p:cNvSpPr/>
                <p:nvPr/>
              </p:nvSpPr>
              <p:spPr>
                <a:xfrm>
                  <a:off x="1210356" y="1361165"/>
                  <a:ext cx="9699365" cy="2351764"/>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3"/>
                  </p:custDataLst>
                </p:nvPr>
              </p:nvSpPr>
              <p:spPr bwMode="auto">
                <a:xfrm>
                  <a:off x="1309687" y="2128214"/>
                  <a:ext cx="9467402" cy="264784"/>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chkconfig --list sendmail</a:t>
                  </a:r>
                </a:p>
                <a:p>
                  <a:pPr indent="0" algn="l" eaLnBrk="1" fontAlgn="auto" latinLnBrk="0" hangingPunct="1">
                    <a:lnSpc>
                      <a:spcPct val="100000"/>
                    </a:lnSpc>
                    <a:buFont typeface="Arial" panose="020B0604020202020204" pitchFamily="34" charset="0"/>
                    <a:buNone/>
                    <a:defRPr/>
                  </a:pPr>
                  <a:endParaRPr lang="zh-CN" altLang="en-US" sz="20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450" y="1334"/>
                <a:ext cx="17638" cy="84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【例7-</a:t>
                </a:r>
                <a:r>
                  <a:rPr lang="en-US" altLang="zh-CN" sz="2000" b="1" dirty="0">
                    <a:solidFill>
                      <a:srgbClr val="FF0000"/>
                    </a:solidFill>
                    <a:latin typeface="微软雅黑" panose="020B0503020204020204" pitchFamily="34" charset="-122"/>
                    <a:ea typeface="微软雅黑" panose="020B0503020204020204" pitchFamily="34" charset="-122"/>
                    <a:cs typeface="华康俪金黑W8(P)"/>
                  </a:rPr>
                  <a:t>9</a:t>
                </a:r>
                <a:r>
                  <a:rPr lang="zh-CN" altLang="en-US" sz="2000" b="1" dirty="0">
                    <a:solidFill>
                      <a:srgbClr val="FF0000"/>
                    </a:solidFill>
                    <a:latin typeface="微软雅黑" panose="020B0503020204020204" pitchFamily="34" charset="-122"/>
                    <a:ea typeface="微软雅黑" panose="020B0503020204020204" pitchFamily="34" charset="-122"/>
                    <a:cs typeface="华康俪金黑W8(P)"/>
                  </a:rPr>
                  <a:t>】</a:t>
                </a: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设置sendmail服务在2345启动级别中，不自动运行。</a:t>
                </a:r>
              </a:p>
            </p:txBody>
          </p:sp>
        </p:grpSp>
        <p:sp>
          <p:nvSpPr>
            <p:cNvPr id="2" name="矩形 6"/>
            <p:cNvSpPr>
              <a:spLocks noChangeArrowheads="1"/>
            </p:cNvSpPr>
            <p:nvPr/>
          </p:nvSpPr>
          <p:spPr bwMode="auto">
            <a:xfrm>
              <a:off x="812" y="3218"/>
              <a:ext cx="16868" cy="83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dirty="0">
                  <a:solidFill>
                    <a:srgbClr val="009900"/>
                  </a:solidFill>
                  <a:latin typeface="微软雅黑" panose="020B0503020204020204" pitchFamily="34" charset="-122"/>
                  <a:ea typeface="微软雅黑" panose="020B0503020204020204" pitchFamily="34" charset="-122"/>
                  <a:cs typeface="华康俪金黑W8(P)"/>
                </a:rPr>
                <a:t>显示sendmail服务在2345启动级别中的状态。</a:t>
              </a:r>
            </a:p>
          </p:txBody>
        </p:sp>
        <p:sp>
          <p:nvSpPr>
            <p:cNvPr id="4" name="MH_Text_1"/>
            <p:cNvSpPr txBox="1">
              <a:spLocks noChangeArrowheads="1"/>
            </p:cNvSpPr>
            <p:nvPr>
              <p:custDataLst>
                <p:tags r:id="rId1"/>
              </p:custDataLst>
            </p:nvPr>
          </p:nvSpPr>
          <p:spPr bwMode="auto">
            <a:xfrm>
              <a:off x="838" y="2405"/>
              <a:ext cx="16488" cy="84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chkconfig --level 2345 sendmail off</a:t>
              </a:r>
            </a:p>
          </p:txBody>
        </p:sp>
        <p:grpSp>
          <p:nvGrpSpPr>
            <p:cNvPr id="9" name="组合 8"/>
            <p:cNvGrpSpPr/>
            <p:nvPr/>
          </p:nvGrpSpPr>
          <p:grpSpPr>
            <a:xfrm>
              <a:off x="838" y="5027"/>
              <a:ext cx="16868" cy="1816"/>
              <a:chOff x="838" y="5027"/>
              <a:chExt cx="16868" cy="1816"/>
            </a:xfrm>
          </p:grpSpPr>
          <p:sp>
            <p:nvSpPr>
              <p:cNvPr id="7" name="矩形 6"/>
              <p:cNvSpPr>
                <a:spLocks noChangeArrowheads="1"/>
              </p:cNvSpPr>
              <p:nvPr/>
            </p:nvSpPr>
            <p:spPr bwMode="auto">
              <a:xfrm>
                <a:off x="838" y="5027"/>
                <a:ext cx="16868" cy="831"/>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微软雅黑" panose="020B0503020204020204" pitchFamily="34" charset="-122"/>
                    <a:ea typeface="微软雅黑" panose="020B0503020204020204" pitchFamily="34" charset="-122"/>
                    <a:cs typeface="华康俪金黑W8(P)"/>
                  </a:rPr>
                  <a:t>显示结果如下：</a:t>
                </a:r>
              </a:p>
            </p:txBody>
          </p:sp>
          <p:sp>
            <p:nvSpPr>
              <p:cNvPr id="8" name="MH_Text_1"/>
              <p:cNvSpPr txBox="1">
                <a:spLocks noChangeArrowheads="1"/>
              </p:cNvSpPr>
              <p:nvPr>
                <p:custDataLst>
                  <p:tags r:id="rId2"/>
                </p:custDataLst>
              </p:nvPr>
            </p:nvSpPr>
            <p:spPr bwMode="auto">
              <a:xfrm>
                <a:off x="937" y="5873"/>
                <a:ext cx="16488" cy="97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sendmail  0:off   1:off   2:off   3:off   4:off   5:off   6:off</a:t>
                </a:r>
              </a:p>
              <a:p>
                <a:pPr indent="0" algn="l" eaLnBrk="1" fontAlgn="auto" latinLnBrk="0" hangingPunct="1">
                  <a:lnSpc>
                    <a:spcPct val="100000"/>
                  </a:lnSpc>
                  <a:buFont typeface="Arial" panose="020B0604020202020204" pitchFamily="34" charset="0"/>
                  <a:buNone/>
                  <a:defRPr/>
                </a:pPr>
                <a:endParaRPr lang="zh-CN" altLang="en-US" sz="20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20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grpSp>
      <p:sp>
        <p:nvSpPr>
          <p:cNvPr id="6" name="圆角矩形 5"/>
          <p:cNvSpPr/>
          <p:nvPr/>
        </p:nvSpPr>
        <p:spPr>
          <a:xfrm>
            <a:off x="1009650" y="4683760"/>
            <a:ext cx="10222230" cy="148272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a:lnSpc>
                <a:spcPct val="150000"/>
              </a:lnSpc>
              <a:buFont typeface="Arial" panose="020B0604020202020204" pitchFamily="34" charset="0"/>
              <a:buNone/>
            </a:pPr>
            <a:r>
              <a:rPr lang="zh-CN" altLang="en-US" sz="2000" dirty="0">
                <a:solidFill>
                  <a:schemeClr val="tx1"/>
                </a:solidFill>
                <a:latin typeface="微软雅黑" panose="020B0503020204020204" pitchFamily="34" charset="-122"/>
                <a:ea typeface="微软雅黑" panose="020B0503020204020204" pitchFamily="34" charset="-122"/>
                <a:sym typeface="+mn-ea"/>
              </a:rPr>
              <a:t>通过chkconfig命令设置完成后。系统启动时，Sendmail服务不会随系统启动时自动运行。其中在设置时，一般不需要对级别0、1、6进行配置。默认情况这3个级别都不会有服务运行。</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strips(downRight)">
                                      <p:cBhvr>
                                        <p:cTn id="7" dur="500"/>
                                        <p:tgtEl>
                                          <p:spTgt spid="32"/>
                                        </p:tgtEl>
                                      </p:cBhvr>
                                    </p:animEffect>
                                  </p:childTnLst>
                                </p:cTn>
                              </p:par>
                              <p:par>
                                <p:cTn id="8" presetID="23" presetClass="entr" presetSubtype="16" fill="hold" grpId="2" nodeType="with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500" fill="hold"/>
                                        <p:tgtEl>
                                          <p:spTgt spid="6"/>
                                        </p:tgtEl>
                                        <p:attrNameLst>
                                          <p:attrName>ppt_w</p:attrName>
                                        </p:attrNameLst>
                                      </p:cBhvr>
                                      <p:tavLst>
                                        <p:tav tm="0">
                                          <p:val>
                                            <p:fltVal val="0"/>
                                          </p:val>
                                        </p:tav>
                                        <p:tav tm="100000">
                                          <p:val>
                                            <p:strVal val="#ppt_w"/>
                                          </p:val>
                                        </p:tav>
                                      </p:tavLst>
                                    </p:anim>
                                    <p:anim calcmode="lin" valueType="num">
                                      <p:cBhvr>
                                        <p:cTn id="11"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6" grpId="1" animBg="1"/>
      <p:bldP spid="6" grpId="2"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p:nvPr/>
        </p:nvSpPr>
        <p:spPr>
          <a:xfrm>
            <a:off x="453390" y="1101725"/>
            <a:ext cx="2582545" cy="504190"/>
          </a:xfrm>
          <a:prstGeom prst="rect">
            <a:avLst/>
          </a:prstGeom>
          <a:solidFill>
            <a:srgbClr val="FF6600"/>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2000" b="1" dirty="0">
                <a:solidFill>
                  <a:schemeClr val="bg1"/>
                </a:solidFill>
                <a:latin typeface="微软雅黑" panose="020B0503020204020204" pitchFamily="34" charset="-122"/>
                <a:ea typeface="微软雅黑" panose="020B0503020204020204" pitchFamily="34" charset="-122"/>
              </a:rPr>
              <a:t>7．nslookup命令</a:t>
            </a:r>
          </a:p>
        </p:txBody>
      </p:sp>
      <p:sp>
        <p:nvSpPr>
          <p:cNvPr id="26" name="矩形 25"/>
          <p:cNvSpPr/>
          <p:nvPr/>
        </p:nvSpPr>
        <p:spPr>
          <a:xfrm>
            <a:off x="838835" y="1739900"/>
            <a:ext cx="4643120" cy="1005840"/>
          </a:xfrm>
          <a:prstGeom prst="rect">
            <a:avLst/>
          </a:prstGeom>
        </p:spPr>
        <p:txBody>
          <a:bodyPr wrap="square">
            <a:spAutoFit/>
          </a:bodyPr>
          <a:lstStyle/>
          <a:p>
            <a:pPr indent="457200">
              <a:lnSpc>
                <a:spcPct val="150000"/>
              </a:lnSpc>
              <a:buFont typeface="Arial" panose="020B0604020202020204" pitchFamily="34" charset="0"/>
              <a:buNone/>
            </a:pPr>
            <a:r>
              <a:rPr lang="zh-CN" altLang="en-US" sz="2000" dirty="0">
                <a:latin typeface="微软雅黑" panose="020B0503020204020204" pitchFamily="34" charset="-122"/>
                <a:ea typeface="微软雅黑" panose="020B0503020204020204" pitchFamily="34" charset="-122"/>
                <a:sym typeface="+mn-ea"/>
              </a:rPr>
              <a:t>nslookup命令用于检测域名对应的ip地址或者根据ip检测出对应的域名等。</a:t>
            </a:r>
          </a:p>
        </p:txBody>
      </p:sp>
      <p:grpSp>
        <p:nvGrpSpPr>
          <p:cNvPr id="2" name="组合 1"/>
          <p:cNvGrpSpPr/>
          <p:nvPr/>
        </p:nvGrpSpPr>
        <p:grpSpPr>
          <a:xfrm>
            <a:off x="821055" y="3043555"/>
            <a:ext cx="10831830" cy="3420745"/>
            <a:chOff x="622" y="1644"/>
            <a:chExt cx="17058" cy="8516"/>
          </a:xfrm>
        </p:grpSpPr>
        <p:grpSp>
          <p:nvGrpSpPr>
            <p:cNvPr id="3" name="组合 2"/>
            <p:cNvGrpSpPr/>
            <p:nvPr/>
          </p:nvGrpSpPr>
          <p:grpSpPr>
            <a:xfrm>
              <a:off x="622" y="1644"/>
              <a:ext cx="16933" cy="8516"/>
              <a:chOff x="623" y="1644"/>
              <a:chExt cx="17705" cy="8623"/>
            </a:xfrm>
          </p:grpSpPr>
          <p:grpSp>
            <p:nvGrpSpPr>
              <p:cNvPr id="6" name="组合 14"/>
              <p:cNvGrpSpPr/>
              <p:nvPr/>
            </p:nvGrpSpPr>
            <p:grpSpPr bwMode="auto">
              <a:xfrm>
                <a:off x="665" y="1644"/>
                <a:ext cx="17663" cy="8623"/>
                <a:chOff x="1233323" y="1449836"/>
                <a:chExt cx="9699365" cy="2263093"/>
              </a:xfrm>
            </p:grpSpPr>
            <p:sp>
              <p:nvSpPr>
                <p:cNvPr id="29" name="矩形 28"/>
                <p:cNvSpPr/>
                <p:nvPr/>
              </p:nvSpPr>
              <p:spPr>
                <a:xfrm>
                  <a:off x="1233323" y="1449836"/>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3"/>
                  </p:custDataLst>
                </p:nvPr>
              </p:nvSpPr>
              <p:spPr bwMode="auto">
                <a:xfrm>
                  <a:off x="1319447" y="2286260"/>
                  <a:ext cx="9467402" cy="906582"/>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generated by /sbin/dhclient-script</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search domain</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nameserver 172.16.100.98			//本机ip地址或DNS服务器的ip地址</a:t>
                  </a:r>
                </a:p>
                <a:p>
                  <a:pPr indent="0" algn="l" eaLnBrk="1" fontAlgn="auto" latinLnBrk="0" hangingPunct="1">
                    <a:lnSpc>
                      <a:spcPct val="12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nameserver 202.96.128.166</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7" name="矩形 6"/>
              <p:cNvSpPr>
                <a:spLocks noChangeArrowheads="1"/>
              </p:cNvSpPr>
              <p:nvPr/>
            </p:nvSpPr>
            <p:spPr bwMode="auto">
              <a:xfrm>
                <a:off x="623" y="1644"/>
                <a:ext cx="17638" cy="106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【例7-</a:t>
                </a:r>
                <a:r>
                  <a:rPr lang="en-US" altLang="zh-CN" sz="1800" b="1" dirty="0">
                    <a:solidFill>
                      <a:srgbClr val="FF0000"/>
                    </a:solidFill>
                    <a:latin typeface="微软雅黑" panose="020B0503020204020204" pitchFamily="34" charset="-122"/>
                    <a:ea typeface="微软雅黑" panose="020B0503020204020204" pitchFamily="34" charset="-122"/>
                    <a:cs typeface="华康俪金黑W8(P)"/>
                  </a:rPr>
                  <a:t>10</a:t>
                </a:r>
                <a:r>
                  <a:rPr lang="zh-CN" altLang="en-US" sz="1800" b="1" dirty="0">
                    <a:solidFill>
                      <a:srgbClr val="FF0000"/>
                    </a:solidFill>
                    <a:latin typeface="微软雅黑" panose="020B0503020204020204" pitchFamily="34" charset="-122"/>
                    <a:ea typeface="微软雅黑" panose="020B0503020204020204" pitchFamily="34" charset="-122"/>
                    <a:cs typeface="华康俪金黑W8(P)"/>
                  </a:rPr>
                  <a:t>】</a:t>
                </a: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nslookup命令使用。    启动DNS服务：</a:t>
                </a:r>
              </a:p>
            </p:txBody>
          </p:sp>
        </p:grpSp>
        <p:sp>
          <p:nvSpPr>
            <p:cNvPr id="8" name="矩形 6"/>
            <p:cNvSpPr>
              <a:spLocks noChangeArrowheads="1"/>
            </p:cNvSpPr>
            <p:nvPr/>
          </p:nvSpPr>
          <p:spPr bwMode="auto">
            <a:xfrm>
              <a:off x="731" y="3745"/>
              <a:ext cx="16868" cy="104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修改DNS客户端配置，具体内容如下：</a:t>
              </a:r>
            </a:p>
          </p:txBody>
        </p:sp>
        <p:sp>
          <p:nvSpPr>
            <p:cNvPr id="9" name="MH_Text_1"/>
            <p:cNvSpPr txBox="1">
              <a:spLocks noChangeArrowheads="1"/>
            </p:cNvSpPr>
            <p:nvPr>
              <p:custDataLst>
                <p:tags r:id="rId1"/>
              </p:custDataLst>
            </p:nvPr>
          </p:nvSpPr>
          <p:spPr bwMode="auto">
            <a:xfrm>
              <a:off x="865" y="2714"/>
              <a:ext cx="16488" cy="1031"/>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service named start</a:t>
              </a:r>
            </a:p>
          </p:txBody>
        </p:sp>
        <p:grpSp>
          <p:nvGrpSpPr>
            <p:cNvPr id="10" name="组合 9"/>
            <p:cNvGrpSpPr/>
            <p:nvPr/>
          </p:nvGrpSpPr>
          <p:grpSpPr>
            <a:xfrm>
              <a:off x="771" y="7942"/>
              <a:ext cx="16909" cy="2059"/>
              <a:chOff x="771" y="7942"/>
              <a:chExt cx="16909" cy="2059"/>
            </a:xfrm>
          </p:grpSpPr>
          <p:sp>
            <p:nvSpPr>
              <p:cNvPr id="13" name="矩形 12"/>
              <p:cNvSpPr>
                <a:spLocks noChangeArrowheads="1"/>
              </p:cNvSpPr>
              <p:nvPr/>
            </p:nvSpPr>
            <p:spPr bwMode="auto">
              <a:xfrm>
                <a:off x="812" y="7942"/>
                <a:ext cx="16868" cy="1047"/>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1800" b="1" dirty="0">
                    <a:solidFill>
                      <a:srgbClr val="009900"/>
                    </a:solidFill>
                    <a:latin typeface="微软雅黑" panose="020B0503020204020204" pitchFamily="34" charset="-122"/>
                    <a:ea typeface="微软雅黑" panose="020B0503020204020204" pitchFamily="34" charset="-122"/>
                    <a:cs typeface="华康俪金黑W8(P)"/>
                  </a:rPr>
                  <a:t>采用nslookup命令检测localhost域名的对应的ip地址：</a:t>
                </a:r>
              </a:p>
            </p:txBody>
          </p:sp>
          <p:sp>
            <p:nvSpPr>
              <p:cNvPr id="14" name="MH_Text_1"/>
              <p:cNvSpPr txBox="1">
                <a:spLocks noChangeArrowheads="1"/>
              </p:cNvSpPr>
              <p:nvPr>
                <p:custDataLst>
                  <p:tags r:id="rId2"/>
                </p:custDataLst>
              </p:nvPr>
            </p:nvSpPr>
            <p:spPr bwMode="auto">
              <a:xfrm>
                <a:off x="771" y="8943"/>
                <a:ext cx="16488" cy="1058"/>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 nslookup</a:t>
                </a:r>
              </a:p>
              <a:p>
                <a:pPr indent="0" algn="l" eaLnBrk="1" fontAlgn="auto" latinLnBrk="0" hangingPunct="1">
                  <a:lnSpc>
                    <a:spcPct val="100000"/>
                  </a:lnSpc>
                  <a:buFont typeface="Arial" panose="020B0604020202020204" pitchFamily="34" charset="0"/>
                  <a:buNone/>
                  <a:defRPr/>
                </a:pPr>
                <a:endParaRPr lang="zh-CN" altLang="en-US" sz="1400" b="1"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b="1" dirty="0">
                    <a:solidFill>
                      <a:srgbClr val="0070C0"/>
                    </a:solidFill>
                    <a:latin typeface="微软雅黑" panose="020B0503020204020204" pitchFamily="34" charset="-122"/>
                    <a:ea typeface="微软雅黑" panose="020B0503020204020204" pitchFamily="34" charset="-122"/>
                    <a:cs typeface="+mn-cs"/>
                    <a:sym typeface="+mn-ea"/>
                  </a:rPr>
                  <a:t>       </a:t>
                </a:r>
              </a:p>
            </p:txBody>
          </p:sp>
        </p:grpSp>
      </p:grpSp>
      <p:grpSp>
        <p:nvGrpSpPr>
          <p:cNvPr id="46" name="组合 45"/>
          <p:cNvGrpSpPr/>
          <p:nvPr/>
        </p:nvGrpSpPr>
        <p:grpSpPr>
          <a:xfrm>
            <a:off x="6012180" y="2310765"/>
            <a:ext cx="3555584" cy="472440"/>
            <a:chOff x="1483" y="2676"/>
            <a:chExt cx="5556" cy="744"/>
          </a:xfrm>
        </p:grpSpPr>
        <p:sp>
          <p:nvSpPr>
            <p:cNvPr id="47" name="TextBox 29"/>
            <p:cNvSpPr txBox="1"/>
            <p:nvPr/>
          </p:nvSpPr>
          <p:spPr>
            <a:xfrm>
              <a:off x="1963" y="2676"/>
              <a:ext cx="4867" cy="720"/>
            </a:xfrm>
            <a:prstGeom prst="rect">
              <a:avLst/>
            </a:prstGeom>
            <a:noFill/>
          </p:spPr>
          <p:txBody>
            <a:bodyPr wrap="square" rtlCol="0">
              <a:spAutoFit/>
            </a:bodyPr>
            <a:lstStyle/>
            <a:p>
              <a:pPr>
                <a:lnSpc>
                  <a:spcPct val="120000"/>
                </a:lnSpc>
                <a:spcAft>
                  <a:spcPts val="500"/>
                </a:spcAft>
                <a:buFont typeface="Arial" panose="020B0604020202020204" pitchFamily="34" charset="0"/>
                <a:buNone/>
              </a:pPr>
              <a:r>
                <a:rPr lang="zh-CN" altLang="en-US" sz="2000" b="1" dirty="0">
                  <a:solidFill>
                    <a:srgbClr val="0066FF"/>
                  </a:solidFill>
                  <a:latin typeface="微软雅黑" panose="020B0503020204020204" pitchFamily="34" charset="-122"/>
                  <a:ea typeface="微软雅黑" panose="020B0503020204020204" pitchFamily="34" charset="-122"/>
                  <a:sym typeface="+mn-ea"/>
                </a:rPr>
                <a:t>nslookup  域名|ip 地址</a:t>
              </a:r>
            </a:p>
          </p:txBody>
        </p:sp>
        <p:grpSp>
          <p:nvGrpSpPr>
            <p:cNvPr id="48" name="组合 47"/>
            <p:cNvGrpSpPr/>
            <p:nvPr/>
          </p:nvGrpSpPr>
          <p:grpSpPr>
            <a:xfrm>
              <a:off x="1483" y="2941"/>
              <a:ext cx="5556" cy="479"/>
              <a:chOff x="1483" y="2941"/>
              <a:chExt cx="5556" cy="479"/>
            </a:xfrm>
          </p:grpSpPr>
          <p:sp>
            <p:nvSpPr>
              <p:cNvPr id="50" name="燕尾形 49"/>
              <p:cNvSpPr/>
              <p:nvPr/>
            </p:nvSpPr>
            <p:spPr>
              <a:xfrm>
                <a:off x="1540" y="2943"/>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1" name="燕尾形 50"/>
              <p:cNvSpPr/>
              <p:nvPr/>
            </p:nvSpPr>
            <p:spPr>
              <a:xfrm>
                <a:off x="1710" y="2941"/>
                <a:ext cx="170" cy="397"/>
              </a:xfrm>
              <a:prstGeom prst="chevron">
                <a:avLst/>
              </a:prstGeom>
              <a:solidFill>
                <a:srgbClr val="FF66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cxnSp>
            <p:nvCxnSpPr>
              <p:cNvPr id="52" name="直接连接符 51"/>
              <p:cNvCxnSpPr/>
              <p:nvPr/>
            </p:nvCxnSpPr>
            <p:spPr>
              <a:xfrm flipV="1">
                <a:off x="1483" y="3413"/>
                <a:ext cx="5556" cy="7"/>
              </a:xfrm>
              <a:prstGeom prst="line">
                <a:avLst/>
              </a:prstGeom>
            </p:spPr>
            <p:style>
              <a:lnRef idx="1">
                <a:schemeClr val="accent6"/>
              </a:lnRef>
              <a:fillRef idx="0">
                <a:schemeClr val="accent6"/>
              </a:fillRef>
              <a:effectRef idx="0">
                <a:schemeClr val="accent6"/>
              </a:effectRef>
              <a:fontRef idx="minor">
                <a:schemeClr val="tx1"/>
              </a:fontRef>
            </p:style>
          </p:cxnSp>
        </p:grpSp>
      </p:grpSp>
      <p:grpSp>
        <p:nvGrpSpPr>
          <p:cNvPr id="53" name="组合 52"/>
          <p:cNvGrpSpPr/>
          <p:nvPr/>
        </p:nvGrpSpPr>
        <p:grpSpPr>
          <a:xfrm>
            <a:off x="5941642" y="1735862"/>
            <a:ext cx="2254303" cy="548640"/>
            <a:chOff x="1524713" y="1340768"/>
            <a:chExt cx="2254303" cy="548640"/>
          </a:xfrm>
        </p:grpSpPr>
        <p:cxnSp>
          <p:nvCxnSpPr>
            <p:cNvPr id="54" name="直接连接符 53"/>
            <p:cNvCxnSpPr/>
            <p:nvPr/>
          </p:nvCxnSpPr>
          <p:spPr>
            <a:xfrm>
              <a:off x="1524766" y="1850266"/>
              <a:ext cx="2254250" cy="6350"/>
            </a:xfrm>
            <a:prstGeom prst="line">
              <a:avLst/>
            </a:prstGeom>
            <a:ln>
              <a:prstDash val="dash"/>
            </a:ln>
          </p:spPr>
          <p:style>
            <a:lnRef idx="1">
              <a:schemeClr val="accent6"/>
            </a:lnRef>
            <a:fillRef idx="0">
              <a:schemeClr val="accent6"/>
            </a:fillRef>
            <a:effectRef idx="0">
              <a:schemeClr val="accent6"/>
            </a:effectRef>
            <a:fontRef idx="minor">
              <a:schemeClr val="tx1"/>
            </a:fontRef>
          </p:style>
        </p:cxnSp>
        <p:sp>
          <p:nvSpPr>
            <p:cNvPr id="55" name="矩形 54"/>
            <p:cNvSpPr/>
            <p:nvPr/>
          </p:nvSpPr>
          <p:spPr>
            <a:xfrm>
              <a:off x="2063192" y="1340768"/>
              <a:ext cx="1675130" cy="548640"/>
            </a:xfrm>
            <a:prstGeom prst="rect">
              <a:avLst/>
            </a:prstGeom>
          </p:spPr>
          <p:txBody>
            <a:bodyPr wrap="square">
              <a:spAutoFit/>
            </a:bodyPr>
            <a:lstStyle/>
            <a:p>
              <a:pPr>
                <a:lnSpc>
                  <a:spcPct val="150000"/>
                </a:lnSpc>
              </a:pPr>
              <a:r>
                <a:rPr lang="zh-CN" altLang="en-US" sz="2000" b="1" dirty="0">
                  <a:latin typeface="微软雅黑" panose="020B0503020204020204" pitchFamily="34" charset="-122"/>
                  <a:ea typeface="微软雅黑" panose="020B0503020204020204" pitchFamily="34" charset="-122"/>
                </a:rPr>
                <a:t>用法</a:t>
              </a:r>
            </a:p>
          </p:txBody>
        </p:sp>
        <p:sp>
          <p:nvSpPr>
            <p:cNvPr id="56" name="椭圆 55"/>
            <p:cNvSpPr/>
            <p:nvPr/>
          </p:nvSpPr>
          <p:spPr>
            <a:xfrm>
              <a:off x="1524713" y="1451708"/>
              <a:ext cx="413625" cy="413625"/>
            </a:xfrm>
            <a:prstGeom prst="ellipse">
              <a:avLst/>
            </a:prstGeom>
            <a:solidFill>
              <a:srgbClr val="FF6600"/>
            </a:solidFill>
            <a:ln>
              <a:noFill/>
            </a:ln>
            <a:effectLst>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FF0000"/>
                </a:solidFill>
              </a:endParaRPr>
            </a:p>
          </p:txBody>
        </p:sp>
      </p:grpSp>
      <p:cxnSp>
        <p:nvCxnSpPr>
          <p:cNvPr id="18" name="直接连接符 17"/>
          <p:cNvCxnSpPr/>
          <p:nvPr/>
        </p:nvCxnSpPr>
        <p:spPr>
          <a:xfrm flipH="1">
            <a:off x="792480" y="1731645"/>
            <a:ext cx="4826000" cy="6350"/>
          </a:xfrm>
          <a:prstGeom prst="line">
            <a:avLst/>
          </a:prstGeom>
          <a:ln>
            <a:headEnd type="ova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802640" y="1737360"/>
            <a:ext cx="5715" cy="11372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823595" y="2846070"/>
            <a:ext cx="4826000" cy="6350"/>
          </a:xfrm>
          <a:prstGeom prst="line">
            <a:avLst/>
          </a:prstGeom>
          <a:ln>
            <a:headEnd type="oval"/>
          </a:ln>
        </p:spPr>
        <p:style>
          <a:lnRef idx="1">
            <a:schemeClr val="accent1"/>
          </a:lnRef>
          <a:fillRef idx="0">
            <a:schemeClr val="accent1"/>
          </a:fillRef>
          <a:effectRef idx="0">
            <a:schemeClr val="accent1"/>
          </a:effectRef>
          <a:fontRef idx="minor">
            <a:schemeClr val="tx1"/>
          </a:fontRef>
        </p:style>
      </p:cxn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fade">
                                      <p:cBhvr>
                                        <p:cTn id="7" dur="500"/>
                                        <p:tgtEl>
                                          <p:spTgt spid="33"/>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slide(fromLeft)">
                                      <p:cBhvr>
                                        <p:cTn id="11" dur="500"/>
                                        <p:tgtEl>
                                          <p:spTgt spid="18"/>
                                        </p:tgtEl>
                                      </p:cBhvr>
                                    </p:animEffect>
                                  </p:childTnLst>
                                </p:cTn>
                              </p:par>
                              <p:par>
                                <p:cTn id="12" presetID="12" presetClass="entr" presetSubtype="8" fill="hold" nodeType="withEffect">
                                  <p:stCondLst>
                                    <p:cond delay="0"/>
                                  </p:stCondLst>
                                  <p:childTnLst>
                                    <p:set>
                                      <p:cBhvr>
                                        <p:cTn id="13" dur="1" fill="hold">
                                          <p:stCondLst>
                                            <p:cond delay="0"/>
                                          </p:stCondLst>
                                        </p:cTn>
                                        <p:tgtEl>
                                          <p:spTgt spid="19"/>
                                        </p:tgtEl>
                                        <p:attrNameLst>
                                          <p:attrName>style.visibility</p:attrName>
                                        </p:attrNameLst>
                                      </p:cBhvr>
                                      <p:to>
                                        <p:strVal val="visible"/>
                                      </p:to>
                                    </p:set>
                                    <p:animEffect transition="in" filter="slide(fromLeft)">
                                      <p:cBhvr>
                                        <p:cTn id="14" dur="500"/>
                                        <p:tgtEl>
                                          <p:spTgt spid="19"/>
                                        </p:tgtEl>
                                      </p:cBhvr>
                                    </p:animEffect>
                                  </p:childTnLst>
                                </p:cTn>
                              </p:par>
                              <p:par>
                                <p:cTn id="15" presetID="12" presetClass="entr" presetSubtype="8"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slide(fromLeft)">
                                      <p:cBhvr>
                                        <p:cTn id="17" dur="500"/>
                                        <p:tgtEl>
                                          <p:spTgt spid="20"/>
                                        </p:tgtEl>
                                      </p:cBhvr>
                                    </p:animEffect>
                                  </p:childTnLst>
                                </p:cTn>
                              </p:par>
                            </p:childTnLst>
                          </p:cTn>
                        </p:par>
                        <p:par>
                          <p:cTn id="18" fill="hold">
                            <p:stCondLst>
                              <p:cond delay="1000"/>
                            </p:stCondLst>
                            <p:childTnLst>
                              <p:par>
                                <p:cTn id="19" presetID="13" presetClass="entr" presetSubtype="32" fill="hold" grpId="17"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plus(out)">
                                      <p:cBhvr>
                                        <p:cTn id="21" dur="2000"/>
                                        <p:tgtEl>
                                          <p:spTgt spid="26"/>
                                        </p:tgtEl>
                                      </p:cBhvr>
                                    </p:animEffect>
                                  </p:childTnLst>
                                </p:cTn>
                              </p:par>
                            </p:childTnLst>
                          </p:cTn>
                        </p:par>
                        <p:par>
                          <p:cTn id="22" fill="hold">
                            <p:stCondLst>
                              <p:cond delay="3000"/>
                            </p:stCondLst>
                            <p:childTnLst>
                              <p:par>
                                <p:cTn id="23" presetID="31" presetClass="entr" presetSubtype="0" fill="hold" nodeType="afterEffect">
                                  <p:stCondLst>
                                    <p:cond delay="0"/>
                                  </p:stCondLst>
                                  <p:iterate type="lt">
                                    <p:tmPct val="5000"/>
                                  </p:iterate>
                                  <p:childTnLst>
                                    <p:set>
                                      <p:cBhvr>
                                        <p:cTn id="24" dur="1" fill="hold">
                                          <p:stCondLst>
                                            <p:cond delay="0"/>
                                          </p:stCondLst>
                                        </p:cTn>
                                        <p:tgtEl>
                                          <p:spTgt spid="53"/>
                                        </p:tgtEl>
                                        <p:attrNameLst>
                                          <p:attrName>style.visibility</p:attrName>
                                        </p:attrNameLst>
                                      </p:cBhvr>
                                      <p:to>
                                        <p:strVal val="visible"/>
                                      </p:to>
                                    </p:set>
                                    <p:anim calcmode="lin" valueType="num">
                                      <p:cBhvr>
                                        <p:cTn id="25" dur="1000" fill="hold"/>
                                        <p:tgtEl>
                                          <p:spTgt spid="53"/>
                                        </p:tgtEl>
                                        <p:attrNameLst>
                                          <p:attrName>ppt_w</p:attrName>
                                        </p:attrNameLst>
                                      </p:cBhvr>
                                      <p:tavLst>
                                        <p:tav tm="0">
                                          <p:val>
                                            <p:fltVal val="0"/>
                                          </p:val>
                                        </p:tav>
                                        <p:tav tm="100000">
                                          <p:val>
                                            <p:strVal val="#ppt_w"/>
                                          </p:val>
                                        </p:tav>
                                      </p:tavLst>
                                    </p:anim>
                                    <p:anim calcmode="lin" valueType="num">
                                      <p:cBhvr>
                                        <p:cTn id="26" dur="1000" fill="hold"/>
                                        <p:tgtEl>
                                          <p:spTgt spid="53"/>
                                        </p:tgtEl>
                                        <p:attrNameLst>
                                          <p:attrName>ppt_h</p:attrName>
                                        </p:attrNameLst>
                                      </p:cBhvr>
                                      <p:tavLst>
                                        <p:tav tm="0">
                                          <p:val>
                                            <p:fltVal val="0"/>
                                          </p:val>
                                        </p:tav>
                                        <p:tav tm="100000">
                                          <p:val>
                                            <p:strVal val="#ppt_h"/>
                                          </p:val>
                                        </p:tav>
                                      </p:tavLst>
                                    </p:anim>
                                    <p:anim calcmode="lin" valueType="num">
                                      <p:cBhvr>
                                        <p:cTn id="27" dur="1000" fill="hold"/>
                                        <p:tgtEl>
                                          <p:spTgt spid="53"/>
                                        </p:tgtEl>
                                        <p:attrNameLst>
                                          <p:attrName>style.rotation</p:attrName>
                                        </p:attrNameLst>
                                      </p:cBhvr>
                                      <p:tavLst>
                                        <p:tav tm="0">
                                          <p:val>
                                            <p:fltVal val="90"/>
                                          </p:val>
                                        </p:tav>
                                        <p:tav tm="100000">
                                          <p:val>
                                            <p:fltVal val="0"/>
                                          </p:val>
                                        </p:tav>
                                      </p:tavLst>
                                    </p:anim>
                                    <p:animEffect transition="in" filter="fade">
                                      <p:cBhvr>
                                        <p:cTn id="28" dur="1000"/>
                                        <p:tgtEl>
                                          <p:spTgt spid="53"/>
                                        </p:tgtEl>
                                      </p:cBhvr>
                                    </p:animEffect>
                                  </p:childTnLst>
                                </p:cTn>
                              </p:par>
                            </p:childTnLst>
                          </p:cTn>
                        </p:par>
                        <p:par>
                          <p:cTn id="29" fill="hold">
                            <p:stCondLst>
                              <p:cond delay="4000"/>
                            </p:stCondLst>
                            <p:childTnLst>
                              <p:par>
                                <p:cTn id="30" presetID="2" presetClass="entr" presetSubtype="8" fill="hold" nodeType="afterEffect">
                                  <p:stCondLst>
                                    <p:cond delay="0"/>
                                  </p:stCondLst>
                                  <p:childTnLst>
                                    <p:set>
                                      <p:cBhvr>
                                        <p:cTn id="31" dur="1" fill="hold">
                                          <p:stCondLst>
                                            <p:cond delay="0"/>
                                          </p:stCondLst>
                                        </p:cTn>
                                        <p:tgtEl>
                                          <p:spTgt spid="46"/>
                                        </p:tgtEl>
                                        <p:attrNameLst>
                                          <p:attrName>style.visibility</p:attrName>
                                        </p:attrNameLst>
                                      </p:cBhvr>
                                      <p:to>
                                        <p:strVal val="visible"/>
                                      </p:to>
                                    </p:set>
                                    <p:anim calcmode="lin" valueType="num">
                                      <p:cBhvr additive="base">
                                        <p:cTn id="32" dur="500" fill="hold"/>
                                        <p:tgtEl>
                                          <p:spTgt spid="46"/>
                                        </p:tgtEl>
                                        <p:attrNameLst>
                                          <p:attrName>ppt_x</p:attrName>
                                        </p:attrNameLst>
                                      </p:cBhvr>
                                      <p:tavLst>
                                        <p:tav tm="0">
                                          <p:val>
                                            <p:strVal val="0-#ppt_w/2"/>
                                          </p:val>
                                        </p:tav>
                                        <p:tav tm="100000">
                                          <p:val>
                                            <p:strVal val="#ppt_x"/>
                                          </p:val>
                                        </p:tav>
                                      </p:tavLst>
                                    </p:anim>
                                    <p:anim calcmode="lin" valueType="num">
                                      <p:cBhvr additive="base">
                                        <p:cTn id="33" dur="500" fill="hold"/>
                                        <p:tgtEl>
                                          <p:spTgt spid="46"/>
                                        </p:tgtEl>
                                        <p:attrNameLst>
                                          <p:attrName>ppt_y</p:attrName>
                                        </p:attrNameLst>
                                      </p:cBhvr>
                                      <p:tavLst>
                                        <p:tav tm="0">
                                          <p:val>
                                            <p:strVal val="#ppt_y"/>
                                          </p:val>
                                        </p:tav>
                                        <p:tav tm="100000">
                                          <p:val>
                                            <p:strVal val="#ppt_y"/>
                                          </p:val>
                                        </p:tav>
                                      </p:tavLst>
                                    </p:anim>
                                  </p:childTnLst>
                                </p:cTn>
                              </p:par>
                            </p:childTnLst>
                          </p:cTn>
                        </p:par>
                        <p:par>
                          <p:cTn id="34" fill="hold">
                            <p:stCondLst>
                              <p:cond delay="4500"/>
                            </p:stCondLst>
                            <p:childTnLst>
                              <p:par>
                                <p:cTn id="35" presetID="18" presetClass="entr" presetSubtype="6" fill="hold" nodeType="after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strips(downRight)">
                                      <p:cBhvr>
                                        <p:cTn id="3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26" grpId="0"/>
      <p:bldP spid="26" grpId="1"/>
      <p:bldP spid="26" grpId="2"/>
      <p:bldP spid="26" grpId="3"/>
      <p:bldP spid="26" grpId="4"/>
      <p:bldP spid="26" grpId="5"/>
      <p:bldP spid="26" grpId="6"/>
      <p:bldP spid="26" grpId="7"/>
      <p:bldP spid="26" grpId="8"/>
      <p:bldP spid="26" grpId="9"/>
      <p:bldP spid="26" grpId="10"/>
      <p:bldP spid="26" grpId="11"/>
      <p:bldP spid="26" grpId="12"/>
      <p:bldP spid="26" grpId="13"/>
      <p:bldP spid="26" grpId="14"/>
      <p:bldP spid="26" grpId="15"/>
      <p:bldP spid="26" grpId="16"/>
      <p:bldP spid="26" grpId="17"/>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379730" y="1044098"/>
            <a:ext cx="10726420" cy="5420201"/>
            <a:chOff x="598" y="1644"/>
            <a:chExt cx="17663" cy="864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309692" y="1615927"/>
                <a:ext cx="9467389" cy="2078665"/>
              </a:xfrm>
              <a:prstGeom prst="rect">
                <a:avLst/>
              </a:prstGeom>
              <a:solidFill>
                <a:srgbClr val="F2F2F2"/>
              </a:solidFill>
              <a:ln w="9525">
                <a:noFill/>
                <a:miter lim="800000"/>
              </a:ln>
            </p:spPr>
            <p:txBody>
              <a:bodyPr/>
              <a:lstStyle/>
              <a:p>
                <a:pPr indent="0" algn="l" eaLnBrk="1" fontAlgn="auto" latinLnBrk="0" hangingPunct="1">
                  <a:lnSpc>
                    <a:spcPct val="15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&gt;set type=a</a:t>
                </a: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			//设置A记录信息</a:t>
                </a:r>
              </a:p>
              <a:p>
                <a:pPr indent="0" algn="l" eaLnBrk="1" fontAlgn="auto" latinLnBrk="0" hangingPunct="1">
                  <a:lnSpc>
                    <a:spcPct val="15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&gt;localhost</a:t>
                </a: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			//检测localhost域名的A记录信息</a:t>
                </a: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Server:			172.16.100.98</a:t>
                </a: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Address:			172.16.100.98#53</a:t>
                </a:r>
              </a:p>
              <a:p>
                <a:pPr indent="0" algn="l" eaLnBrk="1" fontAlgn="auto" latinLnBrk="0" hangingPunct="1">
                  <a:lnSpc>
                    <a:spcPct val="150000"/>
                  </a:lnSpc>
                  <a:buFont typeface="Arial" panose="020B0604020202020204" pitchFamily="34" charset="0"/>
                  <a:buNone/>
                  <a:defRPr/>
                </a:pPr>
                <a:endParaRPr lang="zh-CN" altLang="en-US" sz="2000"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Name:	localhost</a:t>
                </a: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Address:	127.0.0.1</a:t>
                </a:r>
              </a:p>
              <a:p>
                <a:pPr indent="0" algn="l" eaLnBrk="1" fontAlgn="auto" latinLnBrk="0" hangingPunct="1">
                  <a:lnSpc>
                    <a:spcPct val="15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&gt;set type=soa</a:t>
                </a: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			//设置SOA记录信息。</a:t>
                </a:r>
              </a:p>
              <a:p>
                <a:pPr indent="0" algn="l" eaLnBrk="1" fontAlgn="auto" latinLnBrk="0" hangingPunct="1">
                  <a:lnSpc>
                    <a:spcPct val="150000"/>
                  </a:lnSpc>
                  <a:buFont typeface="Arial" panose="020B0604020202020204" pitchFamily="34" charset="0"/>
                  <a:buNone/>
                  <a:defRPr/>
                </a:pPr>
                <a:r>
                  <a:rPr lang="zh-CN" altLang="en-US" sz="1800" b="1" dirty="0">
                    <a:solidFill>
                      <a:srgbClr val="0070C0"/>
                    </a:solidFill>
                    <a:latin typeface="微软雅黑" panose="020B0503020204020204" pitchFamily="34" charset="-122"/>
                    <a:ea typeface="微软雅黑" panose="020B0503020204020204" pitchFamily="34" charset="-122"/>
                    <a:cs typeface="+mn-cs"/>
                    <a:sym typeface="+mn-ea"/>
                  </a:rPr>
                  <a:t>&gt;localhost</a:t>
                </a: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			//检测localhost域名的SOA记录信息。</a:t>
                </a: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Server:			172.16.100.98</a:t>
                </a:r>
              </a:p>
              <a:p>
                <a:pPr indent="0" algn="l" eaLnBrk="1" fontAlgn="auto" latinLnBrk="0" hangingPunct="1">
                  <a:lnSpc>
                    <a:spcPct val="15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Address:			172.16.100.98#53</a:t>
                </a:r>
              </a:p>
              <a:p>
                <a:pPr indent="0" algn="l" eaLnBrk="1" fontAlgn="auto" latinLnBrk="0" hangingPunct="1">
                  <a:lnSpc>
                    <a:spcPct val="100000"/>
                  </a:lnSpc>
                  <a:buFont typeface="Arial" panose="020B0604020202020204" pitchFamily="34" charset="0"/>
                  <a:buNone/>
                  <a:defRPr/>
                </a:pPr>
                <a:endParaRPr lang="zh-CN" altLang="en-US" sz="1400"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00000"/>
                  </a:lnSpc>
                  <a:buFont typeface="Arial" panose="020B0604020202020204" pitchFamily="34" charset="0"/>
                  <a:buNone/>
                  <a:defRPr/>
                </a:pPr>
                <a:r>
                  <a:rPr lang="zh-CN" altLang="en-US" sz="1400"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4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altLang="zh-CN" sz="1800" b="1">
                  <a:solidFill>
                    <a:srgbClr val="009900"/>
                  </a:solidFill>
                  <a:latin typeface="微软雅黑" panose="020B0503020204020204" pitchFamily="34" charset="-122"/>
                  <a:ea typeface="微软雅黑" panose="020B0503020204020204" pitchFamily="34" charset="-122"/>
                  <a:cs typeface="华康俪金黑W8(P)"/>
                </a:rPr>
                <a:t> </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显示结果如下（粗体为用户输入内容）：</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组合 11"/>
          <p:cNvGrpSpPr/>
          <p:nvPr/>
        </p:nvGrpSpPr>
        <p:grpSpPr>
          <a:xfrm>
            <a:off x="480695" y="1099185"/>
            <a:ext cx="7746365" cy="5420360"/>
            <a:chOff x="598" y="1644"/>
            <a:chExt cx="17663" cy="8643"/>
          </a:xfrm>
        </p:grpSpPr>
        <p:grpSp>
          <p:nvGrpSpPr>
            <p:cNvPr id="5" name="组合 14"/>
            <p:cNvGrpSpPr/>
            <p:nvPr/>
          </p:nvGrpSpPr>
          <p:grpSpPr bwMode="auto">
            <a:xfrm>
              <a:off x="598" y="1664"/>
              <a:ext cx="17663" cy="8623"/>
              <a:chOff x="1196575" y="1455151"/>
              <a:chExt cx="9699365" cy="2263093"/>
            </a:xfrm>
          </p:grpSpPr>
          <p:sp>
            <p:nvSpPr>
              <p:cNvPr id="29" name="矩形 28"/>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31" name="MH_Text_1"/>
              <p:cNvSpPr txBox="1">
                <a:spLocks noChangeArrowheads="1"/>
              </p:cNvSpPr>
              <p:nvPr>
                <p:custDataLst>
                  <p:tags r:id="rId1"/>
                </p:custDataLst>
              </p:nvPr>
            </p:nvSpPr>
            <p:spPr bwMode="auto">
              <a:xfrm>
                <a:off x="1309692" y="1615927"/>
                <a:ext cx="9467389" cy="2078665"/>
              </a:xfrm>
              <a:prstGeom prst="rect">
                <a:avLst/>
              </a:prstGeom>
              <a:solidFill>
                <a:srgbClr val="F2F2F2"/>
              </a:solidFill>
              <a:ln w="9525">
                <a:noFill/>
                <a:miter lim="800000"/>
              </a:ln>
            </p:spPr>
            <p:txBody>
              <a:bodyPr/>
              <a:lstStyle/>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localhost</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origin = localhost</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mail addr = root.localhost</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serial = 42</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refresh = 10800</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retry = 900</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expire = 604800</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minimum = 86400</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&gt;</a:t>
                </a: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set type=ns</a:t>
                </a: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//设置NS记录信息。</a:t>
                </a:r>
              </a:p>
              <a:p>
                <a:pPr indent="0" algn="l" eaLnBrk="1" fontAlgn="auto" latinLnBrk="0" hangingPunct="1">
                  <a:lnSpc>
                    <a:spcPct val="14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&gt;localhost</a:t>
                </a: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//检测localhost域名的NS记录信息。</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Server:			172.16.100.98</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Address:			172.16.100.98#53</a:t>
                </a:r>
              </a:p>
              <a:p>
                <a:pPr indent="0" algn="l" eaLnBrk="1" fontAlgn="auto" latinLnBrk="0" hangingPunct="1">
                  <a:lnSpc>
                    <a:spcPct val="14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localhost   nameserver = localhost.</a:t>
                </a:r>
              </a:p>
              <a:p>
                <a:pPr indent="0" algn="l" eaLnBrk="1" fontAlgn="auto" latinLnBrk="0" hangingPunct="1">
                  <a:lnSpc>
                    <a:spcPct val="140000"/>
                  </a:lnSpc>
                  <a:buFont typeface="Arial" panose="020B0604020202020204" pitchFamily="34" charset="0"/>
                  <a:buNone/>
                  <a:defRPr/>
                </a:pPr>
                <a:r>
                  <a:rPr lang="zh-CN" altLang="en-US" sz="1600" b="1" dirty="0">
                    <a:solidFill>
                      <a:srgbClr val="0070C0"/>
                    </a:solidFill>
                    <a:latin typeface="微软雅黑" panose="020B0503020204020204" pitchFamily="34" charset="-122"/>
                    <a:ea typeface="微软雅黑" panose="020B0503020204020204" pitchFamily="34" charset="-122"/>
                    <a:cs typeface="+mn-cs"/>
                    <a:sym typeface="+mn-ea"/>
                  </a:rPr>
                  <a:t>&gt;exit</a:t>
                </a: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//退出nslookup检测</a:t>
                </a:r>
              </a:p>
              <a:p>
                <a:pPr indent="0" algn="l" eaLnBrk="1" fontAlgn="auto" latinLnBrk="0" hangingPunct="1">
                  <a:lnSpc>
                    <a:spcPct val="140000"/>
                  </a:lnSpc>
                  <a:buFont typeface="Arial" panose="020B0604020202020204" pitchFamily="34" charset="0"/>
                  <a:buNone/>
                  <a:defRPr/>
                </a:pPr>
                <a:endParaRPr lang="zh-CN" altLang="en-US" sz="1400"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40000"/>
                  </a:lnSpc>
                  <a:buFont typeface="Arial" panose="020B0604020202020204" pitchFamily="34" charset="0"/>
                  <a:buNone/>
                  <a:defRPr/>
                </a:pPr>
                <a:r>
                  <a:rPr lang="zh-CN" altLang="en-US" sz="1200"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3" name="矩形 6"/>
            <p:cNvSpPr>
              <a:spLocks noChangeArrowheads="1"/>
            </p:cNvSpPr>
            <p:nvPr/>
          </p:nvSpPr>
          <p:spPr bwMode="auto">
            <a:xfrm>
              <a:off x="623" y="1644"/>
              <a:ext cx="17638" cy="670"/>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en-US" altLang="zh-CN" sz="1800" b="1">
                  <a:solidFill>
                    <a:srgbClr val="009900"/>
                  </a:solidFill>
                  <a:latin typeface="微软雅黑" panose="020B0503020204020204" pitchFamily="34" charset="-122"/>
                  <a:ea typeface="微软雅黑" panose="020B0503020204020204" pitchFamily="34" charset="-122"/>
                  <a:cs typeface="华康俪金黑W8(P)"/>
                </a:rPr>
                <a:t> </a:t>
              </a:r>
              <a:r>
                <a:rPr lang="zh-CN" altLang="en-US" sz="1800" b="1">
                  <a:solidFill>
                    <a:srgbClr val="009900"/>
                  </a:solidFill>
                  <a:latin typeface="微软雅黑" panose="020B0503020204020204" pitchFamily="34" charset="-122"/>
                  <a:ea typeface="微软雅黑" panose="020B0503020204020204" pitchFamily="34" charset="-122"/>
                  <a:cs typeface="华康俪金黑W8(P)"/>
                </a:rPr>
                <a:t>显示结果如下（粗体为用户输入内容）：</a:t>
              </a:r>
            </a:p>
          </p:txBody>
        </p:sp>
      </p:grpSp>
      <p:grpSp>
        <p:nvGrpSpPr>
          <p:cNvPr id="9" name="组合 8"/>
          <p:cNvGrpSpPr/>
          <p:nvPr/>
        </p:nvGrpSpPr>
        <p:grpSpPr>
          <a:xfrm>
            <a:off x="8637270" y="1099185"/>
            <a:ext cx="3065780" cy="5474970"/>
            <a:chOff x="13602" y="1731"/>
            <a:chExt cx="4828" cy="8622"/>
          </a:xfrm>
        </p:grpSpPr>
        <p:sp>
          <p:nvSpPr>
            <p:cNvPr id="2" name="AutoShape 2"/>
            <p:cNvSpPr/>
            <p:nvPr/>
          </p:nvSpPr>
          <p:spPr>
            <a:xfrm>
              <a:off x="13602" y="1731"/>
              <a:ext cx="4828" cy="8622"/>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pitchFamily="34" charset="-122"/>
                <a:ea typeface="微软雅黑" panose="020B0503020204020204" pitchFamily="34" charset="-122"/>
                <a:sym typeface="+mn-ea"/>
              </a:endParaRPr>
            </a:p>
            <a:p>
              <a:pPr indent="457200" fontAlgn="auto">
                <a:lnSpc>
                  <a:spcPct val="150000"/>
                </a:lnSpc>
                <a:spcAft>
                  <a:spcPts val="600"/>
                </a:spcAft>
              </a:pPr>
              <a:endParaRPr lang="en-US" altLang="zh-CN" sz="1800" dirty="0">
                <a:latin typeface="微软雅黑" panose="020B0503020204020204" pitchFamily="34" charset="-122"/>
                <a:ea typeface="微软雅黑" panose="020B0503020204020204" pitchFamily="34" charset="-122"/>
                <a:sym typeface="+mn-ea"/>
              </a:endParaRPr>
            </a:p>
          </p:txBody>
        </p:sp>
        <p:sp>
          <p:nvSpPr>
            <p:cNvPr id="4" name="文本框 3"/>
            <p:cNvSpPr txBox="1"/>
            <p:nvPr/>
          </p:nvSpPr>
          <p:spPr>
            <a:xfrm>
              <a:off x="13703" y="2132"/>
              <a:ext cx="4616" cy="7344"/>
            </a:xfrm>
            <a:prstGeom prst="rect">
              <a:avLst/>
            </a:prstGeom>
            <a:noFill/>
          </p:spPr>
          <p:txBody>
            <a:bodyPr wrap="square" rtlCol="0">
              <a:spAutoFit/>
            </a:bodyPr>
            <a:lstStyle/>
            <a:p>
              <a:pPr indent="457200" eaLnBrk="1" latinLnBrk="0" hangingPunct="1">
                <a:lnSpc>
                  <a:spcPct val="150000"/>
                </a:lnSpc>
              </a:pPr>
              <a:r>
                <a:rPr lang="zh-CN" altLang="en-US" sz="2000" dirty="0">
                  <a:latin typeface="微软雅黑" panose="020B0503020204020204" pitchFamily="34" charset="-122"/>
                  <a:ea typeface="微软雅黑" panose="020B0503020204020204" pitchFamily="34" charset="-122"/>
                </a:rPr>
                <a:t>以上通过</a:t>
              </a:r>
              <a:r>
                <a:rPr lang="zh-CN" altLang="en-US" sz="2000" b="1" dirty="0">
                  <a:solidFill>
                    <a:srgbClr val="0070C0"/>
                  </a:solidFill>
                  <a:latin typeface="微软雅黑" panose="020B0503020204020204" pitchFamily="34" charset="-122"/>
                  <a:ea typeface="微软雅黑" panose="020B0503020204020204" pitchFamily="34" charset="-122"/>
                </a:rPr>
                <a:t>nslookup命令</a:t>
              </a:r>
              <a:r>
                <a:rPr lang="zh-CN" altLang="en-US" sz="2000" dirty="0">
                  <a:latin typeface="微软雅黑" panose="020B0503020204020204" pitchFamily="34" charset="-122"/>
                  <a:ea typeface="微软雅黑" panose="020B0503020204020204" pitchFamily="34" charset="-122"/>
                </a:rPr>
                <a:t>检测了localhost的A记录、SOA记录、NS记录信息。其他对应类型有MX（邮件交换器）、CNAME（别名记录）、PTR（指针记录）等。也可采用host或dig命令进行域名检测，具体参数请查阅man手册。</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6"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strips(downRight)">
                                      <p:cBhvr>
                                        <p:cTn id="7" dur="500"/>
                                        <p:tgtEl>
                                          <p:spTgt spid="12"/>
                                        </p:tgtEl>
                                      </p:cBhvr>
                                    </p:animEffect>
                                  </p:childTnLst>
                                </p:cTn>
                              </p:par>
                            </p:childTnLst>
                          </p:cTn>
                        </p:par>
                        <p:par>
                          <p:cTn id="8" fill="hold">
                            <p:stCondLst>
                              <p:cond delay="500"/>
                            </p:stCondLst>
                            <p:childTnLst>
                              <p:par>
                                <p:cTn id="9" presetID="18" presetClass="entr" presetSubtype="6"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trips(downRight)">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AutoShape 3"/>
          <p:cNvSpPr>
            <a:spLocks noChangeArrowheads="1"/>
          </p:cNvSpPr>
          <p:nvPr/>
        </p:nvSpPr>
        <p:spPr bwMode="auto">
          <a:xfrm>
            <a:off x="2098040" y="1931670"/>
            <a:ext cx="8077835" cy="3721735"/>
          </a:xfrm>
          <a:prstGeom prst="roundRect">
            <a:avLst>
              <a:gd name="adj" fmla="val 2773"/>
            </a:avLst>
          </a:prstGeom>
          <a:noFill/>
          <a:ln w="3175">
            <a:solidFill>
              <a:srgbClr val="333333"/>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6148" name="AutoShape 4"/>
          <p:cNvSpPr>
            <a:spLocks noChangeArrowheads="1"/>
          </p:cNvSpPr>
          <p:nvPr/>
        </p:nvSpPr>
        <p:spPr bwMode="auto">
          <a:xfrm>
            <a:off x="4699635" y="1335405"/>
            <a:ext cx="2147570" cy="869315"/>
          </a:xfrm>
          <a:prstGeom prst="roundRect">
            <a:avLst>
              <a:gd name="adj" fmla="val 15657"/>
            </a:avLst>
          </a:prstGeom>
          <a:solidFill>
            <a:schemeClr val="bg1"/>
          </a:solidFill>
          <a:ln w="3175">
            <a:solidFill>
              <a:srgbClr val="333333">
                <a:alpha val="56862"/>
              </a:srgbClr>
            </a:solidFill>
            <a:round/>
          </a:ln>
        </p:spPr>
        <p:txBody>
          <a:bodyPr wrap="none" anchor="ctr"/>
          <a:lstStyle/>
          <a:p>
            <a:pPr algn="ctr">
              <a:spcBef>
                <a:spcPct val="50000"/>
              </a:spcBef>
              <a:buFont typeface="Arial" panose="020B0604020202020204" pitchFamily="34" charset="0"/>
              <a:buNone/>
            </a:pPr>
            <a:r>
              <a:rPr lang="zh-CN" altLang="en-US" sz="3200" b="1">
                <a:latin typeface="微软雅黑" panose="020B0503020204020204" pitchFamily="34" charset="-122"/>
                <a:ea typeface="微软雅黑" panose="020B0503020204020204" pitchFamily="34" charset="-122"/>
              </a:rPr>
              <a:t>本章要点</a:t>
            </a:r>
          </a:p>
        </p:txBody>
      </p:sp>
      <p:sp>
        <p:nvSpPr>
          <p:cNvPr id="3" name="标题 1"/>
          <p:cNvSpPr>
            <a:spLocks noGrp="1"/>
          </p:cNvSpPr>
          <p:nvPr/>
        </p:nvSpPr>
        <p:spPr>
          <a:xfrm>
            <a:off x="3335655" y="288925"/>
            <a:ext cx="1133475" cy="561975"/>
          </a:xfrm>
          <a:prstGeom prst="rect">
            <a:avLst/>
          </a:prstGeom>
          <a:noFill/>
          <a:ln w="9525">
            <a:noFill/>
            <a:miter lim="800000"/>
          </a:ln>
        </p:spPr>
        <p:txBody>
          <a:bodyPr lIns="0" tIns="0" rIns="0" bIns="0"/>
          <a:lstStyle>
            <a:lvl1pPr>
              <a:defRPr sz="3200">
                <a:solidFill>
                  <a:schemeClr val="tx1"/>
                </a:solidFill>
                <a:effectLst>
                  <a:outerShdw blurRad="38100" dist="19050" dir="2700000" algn="tl" rotWithShape="0">
                    <a:schemeClr val="dk1">
                      <a:alpha val="40000"/>
                    </a:schemeClr>
                  </a:outerShdw>
                </a:effectLst>
                <a:latin typeface="微软雅黑" panose="020B0503020204020204" pitchFamily="34" charset="-122"/>
                <a:ea typeface="微软雅黑" panose="020B0503020204020204" pitchFamily="34" charset="-122"/>
              </a:defRPr>
            </a:lvl1pPr>
          </a:lstStyle>
          <a:p>
            <a:pPr fontAlgn="auto">
              <a:buFont typeface="Arial" panose="020B0604020202020204" pitchFamily="34" charset="0"/>
              <a:buNone/>
              <a:defRPr/>
            </a:pPr>
            <a:r>
              <a:rPr lang="zh-CN" altLang="en-US" noProof="1">
                <a:cs typeface="+mn-cs"/>
              </a:rPr>
              <a:t>目录</a:t>
            </a:r>
            <a:endParaRPr lang="zh-CN" altLang="en-US" noProof="1"/>
          </a:p>
        </p:txBody>
      </p:sp>
      <p:grpSp>
        <p:nvGrpSpPr>
          <p:cNvPr id="20" name="Group 5"/>
          <p:cNvGrpSpPr/>
          <p:nvPr/>
        </p:nvGrpSpPr>
        <p:grpSpPr bwMode="auto">
          <a:xfrm>
            <a:off x="3035935" y="2736850"/>
            <a:ext cx="6120000" cy="792000"/>
            <a:chOff x="3" y="0"/>
            <a:chExt cx="4243" cy="333"/>
          </a:xfrm>
        </p:grpSpPr>
        <p:grpSp>
          <p:nvGrpSpPr>
            <p:cNvPr id="21" name="Group 6"/>
            <p:cNvGrpSpPr/>
            <p:nvPr/>
          </p:nvGrpSpPr>
          <p:grpSpPr bwMode="auto">
            <a:xfrm>
              <a:off x="3" y="0"/>
              <a:ext cx="4243" cy="333"/>
              <a:chOff x="0" y="0"/>
              <a:chExt cx="4243" cy="333"/>
            </a:xfrm>
          </p:grpSpPr>
          <p:sp>
            <p:nvSpPr>
              <p:cNvPr id="22" name="AutoShape 7"/>
              <p:cNvSpPr>
                <a:spLocks noChangeArrowheads="1"/>
              </p:cNvSpPr>
              <p:nvPr/>
            </p:nvSpPr>
            <p:spPr bwMode="auto">
              <a:xfrm>
                <a:off x="0" y="0"/>
                <a:ext cx="4243" cy="333"/>
              </a:xfrm>
              <a:prstGeom prst="roundRect">
                <a:avLst>
                  <a:gd name="adj" fmla="val 15657"/>
                </a:avLst>
              </a:prstGeom>
              <a:solidFill>
                <a:schemeClr val="bg1">
                  <a:lumMod val="75000"/>
                </a:schemeClr>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3"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4" name="Text Box 9"/>
            <p:cNvSpPr txBox="1">
              <a:spLocks noChangeArrowheads="1"/>
            </p:cNvSpPr>
            <p:nvPr/>
          </p:nvSpPr>
          <p:spPr bwMode="auto">
            <a:xfrm>
              <a:off x="983" y="24"/>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400" b="1">
                  <a:solidFill>
                    <a:schemeClr val="bg1">
                      <a:lumMod val="50000"/>
                    </a:schemeClr>
                  </a:solidFill>
                  <a:latin typeface="微软雅黑" panose="020B0503020204020204" pitchFamily="34" charset="-122"/>
                  <a:ea typeface="微软雅黑" panose="020B0503020204020204" pitchFamily="34" charset="-122"/>
                  <a:sym typeface="Arial Unicode MS" panose="020B0604020202020204" pitchFamily="34" charset="-122"/>
                </a:rPr>
                <a:t>7.1  网络配置命令</a:t>
              </a:r>
            </a:p>
          </p:txBody>
        </p:sp>
      </p:grpSp>
      <p:grpSp>
        <p:nvGrpSpPr>
          <p:cNvPr id="25" name="Group 5"/>
          <p:cNvGrpSpPr/>
          <p:nvPr/>
        </p:nvGrpSpPr>
        <p:grpSpPr bwMode="auto">
          <a:xfrm>
            <a:off x="3032125" y="4233545"/>
            <a:ext cx="6120000" cy="792000"/>
            <a:chOff x="3" y="0"/>
            <a:chExt cx="4243" cy="333"/>
          </a:xfrm>
        </p:grpSpPr>
        <p:grpSp>
          <p:nvGrpSpPr>
            <p:cNvPr id="26" name="Group 6"/>
            <p:cNvGrpSpPr/>
            <p:nvPr/>
          </p:nvGrpSpPr>
          <p:grpSpPr bwMode="auto">
            <a:xfrm>
              <a:off x="3" y="0"/>
              <a:ext cx="4243" cy="333"/>
              <a:chOff x="0" y="0"/>
              <a:chExt cx="4243" cy="333"/>
            </a:xfrm>
          </p:grpSpPr>
          <p:sp>
            <p:nvSpPr>
              <p:cNvPr id="27" name="AutoShape 7"/>
              <p:cNvSpPr>
                <a:spLocks noChangeArrowheads="1"/>
              </p:cNvSpPr>
              <p:nvPr/>
            </p:nvSpPr>
            <p:spPr bwMode="auto">
              <a:xfrm>
                <a:off x="0" y="0"/>
                <a:ext cx="4243" cy="333"/>
              </a:xfrm>
              <a:prstGeom prst="roundRect">
                <a:avLst>
                  <a:gd name="adj" fmla="val 15657"/>
                </a:avLst>
              </a:prstGeom>
              <a:solidFill>
                <a:srgbClr val="00B0F0"/>
              </a:solidFill>
              <a:ln w="3175">
                <a:solidFill>
                  <a:srgbClr val="969696">
                    <a:alpha val="56862"/>
                  </a:srgbClr>
                </a:solidFill>
                <a:round/>
              </a:ln>
            </p:spPr>
            <p:txBody>
              <a:bodyPr wrap="none" anchor="ctr"/>
              <a:lstStyle/>
              <a:p>
                <a:pPr algn="ctr">
                  <a:buFont typeface="Arial" panose="020B0604020202020204" pitchFamily="34" charset="0"/>
                  <a:buNone/>
                </a:pPr>
                <a:endParaRPr lang="zh-CN" altLang="en-US">
                  <a:ea typeface="华文细黑" panose="02010600040101010101" pitchFamily="2" charset="-122"/>
                </a:endParaRPr>
              </a:p>
            </p:txBody>
          </p:sp>
          <p:sp>
            <p:nvSpPr>
              <p:cNvPr id="28" name="AutoShape 8"/>
              <p:cNvSpPr>
                <a:spLocks noChangeArrowheads="1"/>
              </p:cNvSpPr>
              <p:nvPr/>
            </p:nvSpPr>
            <p:spPr bwMode="auto">
              <a:xfrm flipV="1">
                <a:off x="27" y="12"/>
                <a:ext cx="4184" cy="190"/>
              </a:xfrm>
              <a:prstGeom prst="roundRect">
                <a:avLst>
                  <a:gd name="adj" fmla="val 14324"/>
                </a:avLst>
              </a:prstGeom>
              <a:gradFill rotWithShape="1">
                <a:gsLst>
                  <a:gs pos="0">
                    <a:schemeClr val="bg1">
                      <a:alpha val="0"/>
                    </a:schemeClr>
                  </a:gs>
                  <a:gs pos="100000">
                    <a:schemeClr val="bg1">
                      <a:alpha val="37999"/>
                    </a:schemeClr>
                  </a:gs>
                </a:gsLst>
                <a:lin ang="5400000" scaled="1"/>
              </a:gradFill>
              <a:ln w="9525">
                <a:noFill/>
                <a:round/>
              </a:ln>
            </p:spPr>
            <p:txBody>
              <a:bodyPr rot="10800000" wrap="none" anchor="ctr"/>
              <a:lstStyle/>
              <a:p>
                <a:pPr algn="ctr">
                  <a:buFont typeface="Arial" panose="020B0604020202020204" pitchFamily="34" charset="0"/>
                  <a:buNone/>
                </a:pPr>
                <a:endParaRPr lang="zh-CN" altLang="en-US">
                  <a:ea typeface="华文细黑" panose="02010600040101010101" pitchFamily="2" charset="-122"/>
                </a:endParaRPr>
              </a:p>
            </p:txBody>
          </p:sp>
        </p:grpSp>
        <p:sp>
          <p:nvSpPr>
            <p:cNvPr id="29" name="Text Box 9"/>
            <p:cNvSpPr txBox="1">
              <a:spLocks noChangeArrowheads="1"/>
            </p:cNvSpPr>
            <p:nvPr/>
          </p:nvSpPr>
          <p:spPr bwMode="auto">
            <a:xfrm>
              <a:off x="954" y="22"/>
              <a:ext cx="2653" cy="289"/>
            </a:xfrm>
            <a:prstGeom prst="rect">
              <a:avLst/>
            </a:prstGeom>
            <a:noFill/>
            <a:ln w="9525">
              <a:noFill/>
              <a:miter lim="800000"/>
            </a:ln>
          </p:spPr>
          <p:txBody>
            <a:bodyPr anchor="ctr"/>
            <a:lstStyle/>
            <a:p>
              <a:pPr>
                <a:spcBef>
                  <a:spcPct val="50000"/>
                </a:spcBef>
                <a:buFont typeface="Arial" panose="020B0604020202020204" pitchFamily="34" charset="0"/>
                <a:buNone/>
              </a:pPr>
              <a:r>
                <a:rPr lang="zh-CN" altLang="en-US" sz="2400" b="1">
                  <a:latin typeface="微软雅黑" panose="020B0503020204020204" pitchFamily="34" charset="-122"/>
                  <a:ea typeface="微软雅黑" panose="020B0503020204020204" pitchFamily="34" charset="-122"/>
                  <a:sym typeface="Arial Unicode MS" panose="020B0604020202020204" pitchFamily="34" charset="-122"/>
                </a:rPr>
                <a:t>7.2  常用网络配置文件</a:t>
              </a:r>
            </a:p>
          </p:txBody>
        </p:sp>
      </p:grpSp>
    </p:spTree>
  </p:cSld>
  <p:clrMapOvr>
    <a:masterClrMapping/>
  </p:clrMapOvr>
  <p:transition>
    <p:randomBar dir="ver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p:cNvGrpSpPr/>
          <p:nvPr/>
        </p:nvGrpSpPr>
        <p:grpSpPr>
          <a:xfrm>
            <a:off x="755650" y="1883410"/>
            <a:ext cx="6868795" cy="488315"/>
            <a:chOff x="1773" y="2575"/>
            <a:chExt cx="1229" cy="769"/>
          </a:xfrm>
        </p:grpSpPr>
        <p:sp>
          <p:nvSpPr>
            <p:cNvPr id="13" name="TextBox 6"/>
            <p:cNvSpPr txBox="1"/>
            <p:nvPr/>
          </p:nvSpPr>
          <p:spPr>
            <a:xfrm>
              <a:off x="1994" y="2576"/>
              <a:ext cx="1008" cy="768"/>
            </a:xfrm>
            <a:prstGeom prst="rect">
              <a:avLst/>
            </a:prstGeom>
            <a:noFill/>
          </p:spPr>
          <p:txBody>
            <a:bodyPr wrap="square" rtlCol="0">
              <a:spAutoFit/>
            </a:bodyPr>
            <a:lstStyle/>
            <a:p>
              <a:pPr>
                <a:lnSpc>
                  <a:spcPct val="13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rPr>
                <a:t>名称服务交换配置（/etc/nsswitch.conf）文件。    </a:t>
              </a:r>
            </a:p>
          </p:txBody>
        </p:sp>
        <p:sp>
          <p:nvSpPr>
            <p:cNvPr id="20" name="TextBox 6"/>
            <p:cNvSpPr txBox="1"/>
            <p:nvPr/>
          </p:nvSpPr>
          <p:spPr>
            <a:xfrm>
              <a:off x="1773" y="2575"/>
              <a:ext cx="221" cy="768"/>
            </a:xfrm>
            <a:prstGeom prst="rect">
              <a:avLst/>
            </a:prstGeom>
            <a:noFill/>
          </p:spPr>
          <p:txBody>
            <a:bodyPr wrap="square" rtlCol="0">
              <a:spAutoFit/>
            </a:bodyPr>
            <a:lstStyle>
              <a:defPPr>
                <a:defRPr lang="zh-CN"/>
              </a:defPPr>
              <a:lvl1pPr>
                <a:lnSpc>
                  <a:spcPct val="130000"/>
                </a:lnSpc>
                <a:defRPr sz="2000" b="1">
                  <a:solidFill>
                    <a:srgbClr val="5F5E5C"/>
                  </a:solidFill>
                  <a:latin typeface="微软雅黑" panose="020B0503020204020204" pitchFamily="34" charset="-122"/>
                  <a:ea typeface="微软雅黑" panose="020B0503020204020204" pitchFamily="34" charset="-122"/>
                </a:defRPr>
              </a:lvl1pPr>
            </a:lstStyle>
            <a:p>
              <a:r>
                <a:rPr lang="zh-CN" altLang="en-US" dirty="0">
                  <a:solidFill>
                    <a:srgbClr val="0070C0"/>
                  </a:solidFill>
                  <a:sym typeface="+mn-ea"/>
                </a:rPr>
                <a:t>文件功能：</a:t>
              </a:r>
            </a:p>
          </p:txBody>
        </p:sp>
      </p:grpSp>
      <p:grpSp>
        <p:nvGrpSpPr>
          <p:cNvPr id="48" name="组合 47"/>
          <p:cNvGrpSpPr/>
          <p:nvPr/>
        </p:nvGrpSpPr>
        <p:grpSpPr>
          <a:xfrm>
            <a:off x="755534" y="4539808"/>
            <a:ext cx="9707996" cy="1869882"/>
            <a:chOff x="13357" y="6855"/>
            <a:chExt cx="5138" cy="3024"/>
          </a:xfrm>
        </p:grpSpPr>
        <p:grpSp>
          <p:nvGrpSpPr>
            <p:cNvPr id="9" name="组合 14"/>
            <p:cNvGrpSpPr/>
            <p:nvPr/>
          </p:nvGrpSpPr>
          <p:grpSpPr bwMode="auto">
            <a:xfrm>
              <a:off x="13357" y="7577"/>
              <a:ext cx="5138" cy="2302"/>
              <a:chOff x="1166778" y="1755782"/>
              <a:chExt cx="9858444" cy="1744656"/>
            </a:xfrm>
          </p:grpSpPr>
          <p:grpSp>
            <p:nvGrpSpPr>
              <p:cNvPr id="50" name="组合 12"/>
              <p:cNvGrpSpPr/>
              <p:nvPr/>
            </p:nvGrpSpPr>
            <p:grpSpPr bwMode="auto">
              <a:xfrm>
                <a:off x="1166778" y="1755782"/>
                <a:ext cx="9858444" cy="1744656"/>
                <a:chOff x="1166778" y="1755782"/>
                <a:chExt cx="9858444" cy="1744656"/>
              </a:xfrm>
            </p:grpSpPr>
            <p:sp>
              <p:nvSpPr>
                <p:cNvPr id="51" name="矩形 50"/>
                <p:cNvSpPr/>
                <p:nvPr/>
              </p:nvSpPr>
              <p:spPr>
                <a:xfrm>
                  <a:off x="1166778" y="1786456"/>
                  <a:ext cx="9858444" cy="1713982"/>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52" name="矩形 6"/>
                <p:cNvSpPr>
                  <a:spLocks noChangeArrowheads="1"/>
                </p:cNvSpPr>
                <p:nvPr/>
              </p:nvSpPr>
              <p:spPr bwMode="auto">
                <a:xfrm>
                  <a:off x="2116029" y="1755782"/>
                  <a:ext cx="4380122" cy="56031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lang="zh-CN" altLang="en-US" sz="2000" b="1">
                      <a:solidFill>
                        <a:srgbClr val="009900"/>
                      </a:solidFill>
                      <a:latin typeface="华康俪金黑W8(P)"/>
                      <a:ea typeface="华康俪金黑W8(P)"/>
                      <a:cs typeface="华康俪金黑W8(P)"/>
                    </a:rPr>
                    <a:t>说明</a:t>
                  </a:r>
                </a:p>
              </p:txBody>
            </p:sp>
          </p:grpSp>
          <p:sp>
            <p:nvSpPr>
              <p:cNvPr id="53" name="MH_Text_1"/>
              <p:cNvSpPr txBox="1">
                <a:spLocks noChangeArrowheads="1"/>
              </p:cNvSpPr>
              <p:nvPr>
                <p:custDataLst>
                  <p:tags r:id="rId1"/>
                </p:custDataLst>
              </p:nvPr>
            </p:nvSpPr>
            <p:spPr bwMode="auto">
              <a:xfrm>
                <a:off x="1198483" y="2350756"/>
                <a:ext cx="9654950" cy="1078172"/>
              </a:xfrm>
              <a:prstGeom prst="rect">
                <a:avLst/>
              </a:prstGeom>
              <a:solidFill>
                <a:srgbClr val="F2F2F2"/>
              </a:solidFill>
              <a:ln w="9525">
                <a:noFill/>
                <a:miter lim="800000"/>
              </a:ln>
            </p:spPr>
            <p:txBody>
              <a:bodyPr/>
              <a:lstStyle/>
              <a:p>
                <a:pPr indent="457200" eaLnBrk="1" latinLnBrk="0" hangingPunct="1">
                  <a:lnSpc>
                    <a:spcPct val="130000"/>
                  </a:lnSpc>
                </a:pPr>
                <a:r>
                  <a:rPr lang="zh-CN" altLang="en-US" sz="18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/etc/host.conf文件由版本5的libc库所使用，而配置文件/etc/nsswitch.conf由版本6的glibc所使用。在Linux高版本中一般用的是/etc/nsswitch.conf文件。</a:t>
                </a:r>
              </a:p>
            </p:txBody>
          </p:sp>
        </p:grpSp>
        <p:pic>
          <p:nvPicPr>
            <p:cNvPr id="54" name="图片 4" descr="www.tuweimei.comComp_9747389_aloyhm04q205BMmtimdiv2o2HN82PIep.jpg"/>
            <p:cNvPicPr>
              <a:picLocks noGrp="1"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13374" y="6855"/>
              <a:ext cx="556" cy="1508"/>
            </a:xfrm>
            <a:prstGeom prst="rect">
              <a:avLst/>
            </a:prstGeom>
            <a:noFill/>
            <a:ln w="9525">
              <a:noFill/>
              <a:miter lim="800000"/>
              <a:headEnd/>
              <a:tailEnd/>
            </a:ln>
          </p:spPr>
        </p:pic>
      </p:grpSp>
      <p:grpSp>
        <p:nvGrpSpPr>
          <p:cNvPr id="5" name="文本2"/>
          <p:cNvGrpSpPr/>
          <p:nvPr/>
        </p:nvGrpSpPr>
        <p:grpSpPr>
          <a:xfrm>
            <a:off x="1410335" y="1096010"/>
            <a:ext cx="3825240" cy="597535"/>
            <a:chOff x="3529421" y="2014676"/>
            <a:chExt cx="2578139" cy="521890"/>
          </a:xfrm>
        </p:grpSpPr>
        <p:sp>
          <p:nvSpPr>
            <p:cNvPr id="6" name="任意多边形 5"/>
            <p:cNvSpPr/>
            <p:nvPr/>
          </p:nvSpPr>
          <p:spPr>
            <a:xfrm>
              <a:off x="3529421" y="2014676"/>
              <a:ext cx="2578139"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11" name="任意多边形 10"/>
            <p:cNvSpPr/>
            <p:nvPr/>
          </p:nvSpPr>
          <p:spPr>
            <a:xfrm>
              <a:off x="3554821" y="2023963"/>
              <a:ext cx="2527339" cy="4964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/etc/nsswitch.conf</a:t>
              </a:r>
            </a:p>
          </p:txBody>
        </p:sp>
      </p:grpSp>
      <p:grpSp>
        <p:nvGrpSpPr>
          <p:cNvPr id="12" name="深色1"/>
          <p:cNvGrpSpPr/>
          <p:nvPr/>
        </p:nvGrpSpPr>
        <p:grpSpPr>
          <a:xfrm>
            <a:off x="617668" y="1156732"/>
            <a:ext cx="637660" cy="491735"/>
            <a:chOff x="2976217" y="2014676"/>
            <a:chExt cx="521890" cy="521890"/>
          </a:xfrm>
        </p:grpSpPr>
        <p:sp>
          <p:nvSpPr>
            <p:cNvPr id="14" name="圆角矩形 13"/>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8" name="圆角矩形 17"/>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altLang="zh-CN"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1</a:t>
              </a:r>
              <a:endParaRPr lang="zh-CN" alt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endParaRPr>
            </a:p>
          </p:txBody>
        </p:sp>
      </p:grpSp>
      <p:sp>
        <p:nvSpPr>
          <p:cNvPr id="2" name="圆角矩形 1"/>
          <p:cNvSpPr/>
          <p:nvPr/>
        </p:nvSpPr>
        <p:spPr>
          <a:xfrm>
            <a:off x="740410" y="2559050"/>
            <a:ext cx="9825990" cy="1980565"/>
          </a:xfrm>
          <a:prstGeom prst="roundRect">
            <a:avLst/>
          </a:prstGeom>
          <a:solidFill>
            <a:schemeClr val="bg1"/>
          </a:solidFill>
          <a:ln w="6350">
            <a:solidFill>
              <a:schemeClr val="bg1">
                <a:lumMod val="75000"/>
              </a:schemeClr>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indent="457200" eaLnBrk="1" latinLnBrk="0" hangingPunct="1">
              <a:lnSpc>
                <a:spcPct val="150000"/>
              </a:lnSpc>
              <a:buFont typeface="Arial" panose="020B0604020202020204" pitchFamily="34" charset="0"/>
              <a:buNone/>
            </a:pP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Arial Unicode MS" panose="020B0604020202020204" pitchFamily="34" charset="-122"/>
              </a:rPr>
              <a:t>它是由</a:t>
            </a: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Sun公司</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Arial Unicode MS" panose="020B0604020202020204" pitchFamily="34" charset="-122"/>
              </a:rPr>
              <a:t>开发并用于管理系统中多个配置文件的查找顺序的，是配置文件/etc/host.conf的</a:t>
            </a: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增强版</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Arial Unicode MS" panose="020B0604020202020204" pitchFamily="34" charset="-122"/>
              </a:rPr>
              <a:t>。它控制了数据库搜寻的工作，包括主机、使用者、群组等。此外，还定义了所要搜寻的</a:t>
            </a:r>
            <a:r>
              <a:rPr lang="zh-CN" altLang="en-US" sz="2000" b="1" dirty="0">
                <a:solidFill>
                  <a:srgbClr val="0070C0"/>
                </a:solidFill>
                <a:latin typeface="微软雅黑" panose="020B0503020204020204" pitchFamily="34" charset="-122"/>
                <a:ea typeface="微软雅黑" panose="020B0503020204020204" pitchFamily="34" charset="-122"/>
                <a:sym typeface="Arial Unicode MS" panose="020B0604020202020204" pitchFamily="34" charset="-122"/>
              </a:rPr>
              <a:t>数据库</a:t>
            </a:r>
            <a:r>
              <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Arial Unicode MS" panose="020B0604020202020204" pitchFamily="34" charset="-122"/>
              </a:rPr>
              <a:t>。如“hosts: files dns:”表示指明主机数据库来自两个地方，一个files文件（/etc/hosts），另一个为DNS服务器。</a:t>
            </a:r>
            <a:endParaRPr lang="zh-CN" altLang="en-US" sz="2000">
              <a:solidFill>
                <a:schemeClr val="tx1"/>
              </a:solidFill>
              <a:latin typeface="微软雅黑" panose="020B0503020204020204" pitchFamily="34" charset="-122"/>
              <a:ea typeface="微软雅黑" panose="020B0503020204020204" pitchFamily="34" charset="-122"/>
              <a:sym typeface="+mn-ea"/>
            </a:endParaRPr>
          </a:p>
        </p:txBody>
      </p:sp>
      <p:pic>
        <p:nvPicPr>
          <p:cNvPr id="8" name="图片 7" descr="sum"/>
          <p:cNvPicPr>
            <a:picLocks noChangeAspect="1"/>
          </p:cNvPicPr>
          <p:nvPr/>
        </p:nvPicPr>
        <p:blipFill>
          <a:blip r:embed="rId4" cstate="print"/>
          <a:stretch>
            <a:fillRect/>
          </a:stretch>
        </p:blipFill>
        <p:spPr>
          <a:xfrm>
            <a:off x="8745220" y="1711686"/>
            <a:ext cx="2475230" cy="122836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par>
                          <p:cTn id="14" fill="hold">
                            <p:stCondLst>
                              <p:cond delay="1500"/>
                            </p:stCondLst>
                            <p:childTnLst>
                              <p:par>
                                <p:cTn id="15" presetID="22" presetClass="entr" presetSubtype="8" fill="hold" nodeType="after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par>
                          <p:cTn id="18" fill="hold">
                            <p:stCondLst>
                              <p:cond delay="2000"/>
                            </p:stCondLst>
                            <p:childTnLst>
                              <p:par>
                                <p:cTn id="19" presetID="23" presetClass="entr" presetSubtype="16" fill="hold" grpId="2" nodeType="afterEffect">
                                  <p:stCondLst>
                                    <p:cond delay="0"/>
                                  </p:stCondLst>
                                  <p:childTnLst>
                                    <p:set>
                                      <p:cBhvr>
                                        <p:cTn id="20" dur="1" fill="hold">
                                          <p:stCondLst>
                                            <p:cond delay="0"/>
                                          </p:stCondLst>
                                        </p:cTn>
                                        <p:tgtEl>
                                          <p:spTgt spid="2"/>
                                        </p:tgtEl>
                                        <p:attrNameLst>
                                          <p:attrName>style.visibility</p:attrName>
                                        </p:attrNameLst>
                                      </p:cBhvr>
                                      <p:to>
                                        <p:strVal val="visible"/>
                                      </p:to>
                                    </p:set>
                                    <p:anim calcmode="lin" valueType="num">
                                      <p:cBhvr>
                                        <p:cTn id="21" dur="500" fill="hold"/>
                                        <p:tgtEl>
                                          <p:spTgt spid="2"/>
                                        </p:tgtEl>
                                        <p:attrNameLst>
                                          <p:attrName>ppt_w</p:attrName>
                                        </p:attrNameLst>
                                      </p:cBhvr>
                                      <p:tavLst>
                                        <p:tav tm="0">
                                          <p:val>
                                            <p:fltVal val="0"/>
                                          </p:val>
                                        </p:tav>
                                        <p:tav tm="100000">
                                          <p:val>
                                            <p:strVal val="#ppt_w"/>
                                          </p:val>
                                        </p:tav>
                                      </p:tavLst>
                                    </p:anim>
                                    <p:anim calcmode="lin" valueType="num">
                                      <p:cBhvr>
                                        <p:cTn id="22" dur="500" fill="hold"/>
                                        <p:tgtEl>
                                          <p:spTgt spid="2"/>
                                        </p:tgtEl>
                                        <p:attrNameLst>
                                          <p:attrName>ppt_h</p:attrName>
                                        </p:attrNameLst>
                                      </p:cBhvr>
                                      <p:tavLst>
                                        <p:tav tm="0">
                                          <p:val>
                                            <p:fltVal val="0"/>
                                          </p:val>
                                        </p:tav>
                                        <p:tav tm="100000">
                                          <p:val>
                                            <p:strVal val="#ppt_h"/>
                                          </p:val>
                                        </p:tav>
                                      </p:tavLst>
                                    </p:anim>
                                  </p:childTnLst>
                                </p:cTn>
                              </p:par>
                              <p:par>
                                <p:cTn id="23" presetID="2" presetClass="entr" presetSubtype="2"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 calcmode="lin" valueType="num">
                                      <p:cBhvr additive="base">
                                        <p:cTn id="25" dur="500" fill="hold"/>
                                        <p:tgtEl>
                                          <p:spTgt spid="8"/>
                                        </p:tgtEl>
                                        <p:attrNameLst>
                                          <p:attrName>ppt_x</p:attrName>
                                        </p:attrNameLst>
                                      </p:cBhvr>
                                      <p:tavLst>
                                        <p:tav tm="0">
                                          <p:val>
                                            <p:strVal val="1+#ppt_w/2"/>
                                          </p:val>
                                        </p:tav>
                                        <p:tav tm="100000">
                                          <p:val>
                                            <p:strVal val="#ppt_x"/>
                                          </p:val>
                                        </p:tav>
                                      </p:tavLst>
                                    </p:anim>
                                    <p:anim calcmode="lin" valueType="num">
                                      <p:cBhvr additive="base">
                                        <p:cTn id="26" dur="500" fill="hold"/>
                                        <p:tgtEl>
                                          <p:spTgt spid="8"/>
                                        </p:tgtEl>
                                        <p:attrNameLst>
                                          <p:attrName>ppt_y</p:attrName>
                                        </p:attrNameLst>
                                      </p:cBhvr>
                                      <p:tavLst>
                                        <p:tav tm="0">
                                          <p:val>
                                            <p:strVal val="#ppt_y"/>
                                          </p:val>
                                        </p:tav>
                                        <p:tav tm="100000">
                                          <p:val>
                                            <p:strVal val="#ppt_y"/>
                                          </p:val>
                                        </p:tav>
                                      </p:tavLst>
                                    </p:anim>
                                  </p:childTnLst>
                                </p:cTn>
                              </p:par>
                            </p:childTnLst>
                          </p:cTn>
                        </p:par>
                        <p:par>
                          <p:cTn id="27" fill="hold">
                            <p:stCondLst>
                              <p:cond delay="2500"/>
                            </p:stCondLst>
                            <p:childTnLst>
                              <p:par>
                                <p:cTn id="28" presetID="18" presetClass="entr" presetSubtype="6" fill="hold" nodeType="afterEffect">
                                  <p:stCondLst>
                                    <p:cond delay="0"/>
                                  </p:stCondLst>
                                  <p:childTnLst>
                                    <p:set>
                                      <p:cBhvr>
                                        <p:cTn id="29" dur="1" fill="hold">
                                          <p:stCondLst>
                                            <p:cond delay="0"/>
                                          </p:stCondLst>
                                        </p:cTn>
                                        <p:tgtEl>
                                          <p:spTgt spid="48"/>
                                        </p:tgtEl>
                                        <p:attrNameLst>
                                          <p:attrName>style.visibility</p:attrName>
                                        </p:attrNameLst>
                                      </p:cBhvr>
                                      <p:to>
                                        <p:strVal val="visible"/>
                                      </p:to>
                                    </p:set>
                                    <p:animEffect transition="in" filter="strips(downRight)">
                                      <p:cBhvr>
                                        <p:cTn id="30"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2" grpId="1" animBg="1"/>
      <p:bldP spid="2" grpId="2"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 Box 44"/>
          <p:cNvSpPr txBox="1">
            <a:spLocks noChangeArrowheads="1"/>
          </p:cNvSpPr>
          <p:nvPr/>
        </p:nvSpPr>
        <p:spPr bwMode="auto">
          <a:xfrm>
            <a:off x="856615" y="1580515"/>
            <a:ext cx="10478135" cy="1005840"/>
          </a:xfrm>
          <a:prstGeom prst="rect">
            <a:avLst/>
          </a:prstGeom>
          <a:noFill/>
          <a:ln>
            <a:noFill/>
          </a:ln>
          <a:effectLst/>
          <a:extLst>
            <a:ext uri="{909E8E84-426E-40DD-AFC4-6F175D3DCCD1}">
              <a14:hiddenFill xmlns:a14="http://schemas.microsoft.com/office/drawing/2010/main">
                <a:solidFill>
                  <a:srgbClr val="FFFFFF">
                    <a:alpha val="30000"/>
                  </a:srgbClr>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defPPr>
              <a:defRPr lang="en-US"/>
            </a:defPPr>
            <a:lvl1pPr indent="457200" defTabSz="720725">
              <a:lnSpc>
                <a:spcPct val="135000"/>
              </a:lnSpc>
              <a:defRPr sz="1600">
                <a:solidFill>
                  <a:schemeClr val="bg1">
                    <a:lumMod val="50000"/>
                  </a:schemeClr>
                </a:solidFill>
                <a:latin typeface="微软雅黑" panose="020B0503020204020204" pitchFamily="34" charset="-122"/>
                <a:ea typeface="微软雅黑" panose="020B0503020204020204" pitchFamily="34" charset="-122"/>
              </a:defRPr>
            </a:lvl1pPr>
            <a:lvl2pPr defTabSz="720725" eaLnBrk="0" hangingPunct="0">
              <a:defRPr sz="1600">
                <a:latin typeface="Arial" panose="020B0604020202020204" pitchFamily="34" charset="0"/>
                <a:ea typeface="宋体" panose="02010600030101010101" pitchFamily="2" charset="-122"/>
              </a:defRPr>
            </a:lvl2pPr>
            <a:lvl3pPr defTabSz="720725" eaLnBrk="0" hangingPunct="0">
              <a:defRPr sz="1600">
                <a:latin typeface="Arial" panose="020B0604020202020204" pitchFamily="34" charset="0"/>
                <a:ea typeface="宋体" panose="02010600030101010101" pitchFamily="2" charset="-122"/>
              </a:defRPr>
            </a:lvl3pPr>
            <a:lvl4pPr defTabSz="720725" eaLnBrk="0" hangingPunct="0">
              <a:defRPr sz="1600">
                <a:latin typeface="Arial" panose="020B0604020202020204" pitchFamily="34" charset="0"/>
                <a:ea typeface="宋体" panose="02010600030101010101" pitchFamily="2" charset="-122"/>
              </a:defRPr>
            </a:lvl4pPr>
            <a:lvl5pPr defTabSz="720725" eaLnBrk="0" hangingPunct="0">
              <a:defRPr sz="1600">
                <a:latin typeface="Arial" panose="020B0604020202020204" pitchFamily="34" charset="0"/>
                <a:ea typeface="宋体" panose="02010600030101010101" pitchFamily="2" charset="-122"/>
              </a:defRPr>
            </a:lvl5pPr>
            <a:lvl6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6pPr>
            <a:lvl7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7pPr>
            <a:lvl8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8pPr>
            <a:lvl9pPr defTabSz="720725" eaLnBrk="0" fontAlgn="base" hangingPunct="0">
              <a:spcBef>
                <a:spcPct val="0"/>
              </a:spcBef>
              <a:spcAft>
                <a:spcPct val="0"/>
              </a:spcAft>
              <a:defRPr sz="1600">
                <a:latin typeface="Arial" panose="020B0604020202020204" pitchFamily="34" charset="0"/>
                <a:ea typeface="宋体" panose="02010600030101010101" pitchFamily="2" charset="-122"/>
              </a:defRPr>
            </a:lvl9pPr>
          </a:lstStyle>
          <a:p>
            <a:pPr indent="457200">
              <a:lnSpc>
                <a:spcPct val="150000"/>
              </a:lnSpc>
              <a:buFont typeface="Arial" panose="020B0604020202020204" pitchFamily="34" charset="0"/>
              <a:buNone/>
            </a:pPr>
            <a:r>
              <a:rPr lang="zh-CN" altLang="en-US" sz="2000" dirty="0">
                <a:solidFill>
                  <a:schemeClr val="tx1"/>
                </a:solidFill>
                <a:sym typeface="Arial Unicode MS" panose="020B0604020202020204" pitchFamily="34" charset="-122"/>
              </a:rPr>
              <a:t>/etc/nsswitch.conf每一个关键字都是在/etc/目录可以被/etc/nsswitch.conf控制的文件名称。下面为可以被包含的关键字。</a:t>
            </a:r>
          </a:p>
        </p:txBody>
      </p:sp>
      <p:graphicFrame>
        <p:nvGraphicFramePr>
          <p:cNvPr id="4" name="表格 3"/>
          <p:cNvGraphicFramePr/>
          <p:nvPr/>
        </p:nvGraphicFramePr>
        <p:xfrm>
          <a:off x="1156334" y="2783840"/>
          <a:ext cx="10121265" cy="3549316"/>
        </p:xfrm>
        <a:graphic>
          <a:graphicData uri="http://schemas.openxmlformats.org/drawingml/2006/table">
            <a:tbl>
              <a:tblPr firstRow="1" bandRow="1">
                <a:tableStyleId>{5C22544A-7EE6-4342-B048-85BDC9FD1C3A}</a:tableStyleId>
              </a:tblPr>
              <a:tblGrid>
                <a:gridCol w="2183580">
                  <a:extLst>
                    <a:ext uri="{9D8B030D-6E8A-4147-A177-3AD203B41FA5}">
                      <a16:colId xmlns:a16="http://schemas.microsoft.com/office/drawing/2014/main" xmlns="" val="20000"/>
                    </a:ext>
                  </a:extLst>
                </a:gridCol>
                <a:gridCol w="2731863">
                  <a:extLst>
                    <a:ext uri="{9D8B030D-6E8A-4147-A177-3AD203B41FA5}">
                      <a16:colId xmlns:a16="http://schemas.microsoft.com/office/drawing/2014/main" xmlns="" val="20001"/>
                    </a:ext>
                  </a:extLst>
                </a:gridCol>
                <a:gridCol w="2282920">
                  <a:extLst>
                    <a:ext uri="{9D8B030D-6E8A-4147-A177-3AD203B41FA5}">
                      <a16:colId xmlns:a16="http://schemas.microsoft.com/office/drawing/2014/main" xmlns="" val="20002"/>
                    </a:ext>
                  </a:extLst>
                </a:gridCol>
                <a:gridCol w="2922902">
                  <a:extLst>
                    <a:ext uri="{9D8B030D-6E8A-4147-A177-3AD203B41FA5}">
                      <a16:colId xmlns:a16="http://schemas.microsoft.com/office/drawing/2014/main" xmlns="" val="20003"/>
                    </a:ext>
                  </a:extLst>
                </a:gridCol>
              </a:tblGrid>
              <a:tr h="473558">
                <a:tc>
                  <a:txBody>
                    <a:bodyPr/>
                    <a:lstStyle/>
                    <a:p>
                      <a:pPr algn="ctr">
                        <a:lnSpc>
                          <a:spcPct val="140000"/>
                        </a:lnSpc>
                        <a:buNone/>
                      </a:pPr>
                      <a:r>
                        <a:rPr lang="zh-CN" altLang="en-US" sz="1800" b="0" dirty="0">
                          <a:solidFill>
                            <a:schemeClr val="tx1"/>
                          </a:solidFill>
                          <a:latin typeface="微软雅黑" panose="020B0503020204020204" pitchFamily="34" charset="-122"/>
                          <a:ea typeface="微软雅黑" panose="020B0503020204020204" pitchFamily="34" charset="-122"/>
                        </a:rPr>
                        <a:t>关键字</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a:lnSpc>
                          <a:spcPct val="130000"/>
                        </a:lnSpc>
                        <a:buNone/>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含义</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ctr">
                        <a:lnSpc>
                          <a:spcPct val="140000"/>
                        </a:lnSpc>
                        <a:buNone/>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关键字</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algn="l">
                        <a:lnSpc>
                          <a:spcPct val="130000"/>
                        </a:lnSpc>
                        <a:buNone/>
                      </a:pPr>
                      <a:r>
                        <a:rPr lang="zh-CN" altLang="en-US" sz="1800" b="0" kern="1200" dirty="0">
                          <a:solidFill>
                            <a:schemeClr val="tx1"/>
                          </a:solidFill>
                          <a:latin typeface="微软雅黑" panose="020B0503020204020204" pitchFamily="34" charset="-122"/>
                          <a:ea typeface="微软雅黑" panose="020B0503020204020204" pitchFamily="34" charset="-122"/>
                          <a:cs typeface="+mn-cs"/>
                        </a:rPr>
                        <a:t>含义</a:t>
                      </a: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xmlns="" val="10000"/>
                  </a:ext>
                </a:extLst>
              </a:tr>
              <a:tr h="352206">
                <a:tc>
                  <a:txBody>
                    <a:bodyPr/>
                    <a:lstStyle/>
                    <a:p>
                      <a:pPr marL="0" indent="0" algn="ctr">
                        <a:lnSpc>
                          <a:spcPct val="130000"/>
                        </a:lnSpc>
                        <a:buNone/>
                      </a:pPr>
                      <a:r>
                        <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rPr>
                        <a:t>aliases：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邮件别名；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zh-CN" altLang="en-US" sz="1600" b="1" dirty="0">
                          <a:solidFill>
                            <a:srgbClr val="0070C0"/>
                          </a:solidFill>
                          <a:latin typeface="Times New Roman" panose="02020603050405020304" pitchFamily="18" charset="0"/>
                          <a:ea typeface="宋体" panose="02010600030101010101" pitchFamily="2" charset="-122"/>
                          <a:cs typeface="Calibri" panose="020F0502020204030204" pitchFamily="34" charset="0"/>
                          <a:sym typeface="+mn-ea"/>
                        </a:rPr>
                        <a:t>shadow：</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a:latin typeface="微软雅黑" panose="020B0503020204020204" pitchFamily="34" charset="-122"/>
                          <a:ea typeface="微软雅黑" panose="020B0503020204020204" pitchFamily="34" charset="-122"/>
                          <a:cs typeface="Calibri" panose="020F0502020204030204" pitchFamily="34" charset="0"/>
                        </a:rPr>
                        <a:t>加密口令；</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1"/>
                  </a:ext>
                </a:extLst>
              </a:tr>
              <a:tr h="358167">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group</a:t>
                      </a:r>
                      <a:r>
                        <a:rPr lang="zh-CN" altLang="en-US" sz="1600" b="1" u="none">
                          <a:solidFill>
                            <a:srgbClr val="0070C0"/>
                          </a:solidFill>
                          <a:latin typeface="Times New Roman" panose="02020603050405020304" pitchFamily="18" charset="0"/>
                          <a:ea typeface="宋体" panose="02010600030101010101" pitchFamily="2" charset="-122"/>
                          <a:cs typeface="Calibri" panose="020F0502020204030204" pitchFamily="3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用户工作组；</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rPr>
                        <a:t>networks：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网络名；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2"/>
                  </a:ext>
                </a:extLst>
              </a:tr>
              <a:tr h="393657">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hosts：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主机名；</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rPr>
                        <a:t>services：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sz="1600" b="0" u="none" dirty="0" err="1">
                          <a:latin typeface="微软雅黑" panose="020B0503020204020204" pitchFamily="34" charset="-122"/>
                          <a:ea typeface="微软雅黑" panose="020B0503020204020204" pitchFamily="34" charset="-122"/>
                          <a:cs typeface="Calibri" panose="020F0502020204030204" pitchFamily="34" charset="0"/>
                        </a:rPr>
                        <a:t>服务名称</a:t>
                      </a:r>
                      <a:r>
                        <a:rPr sz="1600" b="0" u="none" dirty="0">
                          <a:latin typeface="微软雅黑" panose="020B0503020204020204" pitchFamily="34" charset="-122"/>
                          <a:ea typeface="微软雅黑" panose="020B0503020204020204" pitchFamily="34" charset="-122"/>
                          <a:cs typeface="Calibri" panose="020F0502020204030204" pitchFamily="3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3"/>
                  </a:ext>
                </a:extLst>
              </a:tr>
              <a:tr h="365265">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protocols：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sz="1600" b="0" u="none" dirty="0" err="1">
                          <a:latin typeface="微软雅黑" panose="020B0503020204020204" pitchFamily="34" charset="-122"/>
                          <a:ea typeface="微软雅黑" panose="020B0503020204020204" pitchFamily="34" charset="-122"/>
                          <a:cs typeface="Calibri" panose="020F0502020204030204" pitchFamily="34" charset="0"/>
                        </a:rPr>
                        <a:t>网络协议</a:t>
                      </a:r>
                      <a:r>
                        <a:rPr sz="1600" b="0" u="none" dirty="0">
                          <a:latin typeface="微软雅黑" panose="020B0503020204020204" pitchFamily="34" charset="-122"/>
                          <a:ea typeface="微软雅黑" panose="020B0503020204020204" pitchFamily="34" charset="-122"/>
                          <a:cs typeface="Calibri" panose="020F0502020204030204" pitchFamily="3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rpc：</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远程进程调用的名</a:t>
                      </a:r>
                      <a:r>
                        <a:rPr lang="en-US" altLang="zh-CN" sz="1600" b="0" u="none" dirty="0">
                          <a:latin typeface="微软雅黑" panose="020B0503020204020204" pitchFamily="34" charset="-122"/>
                          <a:ea typeface="微软雅黑" panose="020B0503020204020204" pitchFamily="34" charset="-122"/>
                          <a:cs typeface="Calibri" panose="020F0502020204030204" pitchFamily="34" charset="0"/>
                        </a:rPr>
                        <a:t>;</a:t>
                      </a: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4"/>
                  </a:ext>
                </a:extLst>
              </a:tr>
              <a:tr h="352206">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ethers：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以太网；	</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3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dns：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只对hosts有意义；</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5"/>
                  </a:ext>
                </a:extLst>
              </a:tr>
              <a:tr h="751400">
                <a:tc>
                  <a:txBody>
                    <a:bodyPr/>
                    <a:lstStyle/>
                    <a:p>
                      <a:pPr marL="0" indent="0" algn="ctr">
                        <a:lnSpc>
                          <a:spcPct val="130000"/>
                        </a:lnSpc>
                        <a:buNone/>
                      </a:pPr>
                      <a:r>
                        <a:rPr lang="en-US" altLang="zh-CN" sz="1600" b="1" u="none" dirty="0" err="1">
                          <a:solidFill>
                            <a:srgbClr val="0070C0"/>
                          </a:solidFill>
                          <a:latin typeface="Times New Roman" panose="02020603050405020304" pitchFamily="18" charset="0"/>
                          <a:ea typeface="Calibri" panose="020F0502020204030204" pitchFamily="34" charset="0"/>
                          <a:cs typeface="Calibri" panose="020F0502020204030204" pitchFamily="34" charset="0"/>
                        </a:rPr>
                        <a:t>netgroup</a:t>
                      </a:r>
                      <a:r>
                        <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rPr>
                        <a:t>：</a:t>
                      </a:r>
                    </a:p>
                  </a:txBody>
                  <a:tcPr marL="0" marR="0" marT="0" marB="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网内工作组；</a:t>
                      </a:r>
                    </a:p>
                  </a:txBody>
                  <a:tcPr marL="0" marR="0" marT="0" marB="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70000"/>
                        </a:lnSpc>
                        <a:buNone/>
                      </a:pPr>
                      <a:r>
                        <a:rPr lang="en-US" altLang="zh-CN" sz="1600" b="1" u="none">
                          <a:solidFill>
                            <a:srgbClr val="0070C0"/>
                          </a:solidFill>
                          <a:latin typeface="Times New Roman" panose="02020603050405020304" pitchFamily="18" charset="0"/>
                          <a:ea typeface="Calibri" panose="020F0502020204030204" pitchFamily="34" charset="0"/>
                          <a:cs typeface="Calibri" panose="020F0502020204030204" pitchFamily="34" charset="0"/>
                        </a:rPr>
                        <a:t>files：</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除了netgroup，对其他关键字都有效。</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6"/>
                  </a:ext>
                </a:extLst>
              </a:tr>
              <a:tr h="465727">
                <a:tc>
                  <a:txBody>
                    <a:bodyPr/>
                    <a:lstStyle/>
                    <a:p>
                      <a:pPr marL="0" indent="0" algn="ctr">
                        <a:lnSpc>
                          <a:spcPct val="130000"/>
                        </a:lnSpc>
                        <a:buNone/>
                      </a:pPr>
                      <a:r>
                        <a:rPr lang="en-US" altLang="zh-CN" sz="1600" b="1" u="none" dirty="0" err="1">
                          <a:solidFill>
                            <a:srgbClr val="0070C0"/>
                          </a:solidFill>
                          <a:latin typeface="Times New Roman" panose="02020603050405020304" pitchFamily="18" charset="0"/>
                          <a:ea typeface="Calibri" panose="020F0502020204030204" pitchFamily="34" charset="0"/>
                          <a:cs typeface="Calibri" panose="020F0502020204030204" pitchFamily="34" charset="0"/>
                        </a:rPr>
                        <a:t>passwd</a:t>
                      </a:r>
                      <a:r>
                        <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rPr>
                        <a:t>：</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r>
                        <a:rPr lang="zh-CN" altLang="en-US" sz="1600" b="0" u="none" dirty="0">
                          <a:latin typeface="微软雅黑" panose="020B0503020204020204" pitchFamily="34" charset="-122"/>
                          <a:ea typeface="微软雅黑" panose="020B0503020204020204" pitchFamily="34" charset="-122"/>
                          <a:cs typeface="Calibri" panose="020F0502020204030204" pitchFamily="34" charset="0"/>
                        </a:rPr>
                        <a:t>系统用户；</a:t>
                      </a: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0" algn="ctr">
                        <a:lnSpc>
                          <a:spcPct val="170000"/>
                        </a:lnSpc>
                        <a:buNone/>
                      </a:pPr>
                      <a:endParaRPr lang="en-US" altLang="zh-CN" sz="1600" b="1" u="none" dirty="0">
                        <a:solidFill>
                          <a:srgbClr val="0070C0"/>
                        </a:solidFill>
                        <a:latin typeface="Times New Roman" panose="02020603050405020304" pitchFamily="18" charset="0"/>
                        <a:ea typeface="Calibri" panose="020F0502020204030204" pitchFamily="34" charset="0"/>
                        <a:cs typeface="Calibri" panose="020F0502020204030204" pitchFamily="3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indent="457200" algn="l" fontAlgn="auto">
                        <a:lnSpc>
                          <a:spcPct val="150000"/>
                        </a:lnSpc>
                        <a:buNone/>
                      </a:pPr>
                      <a:endParaRPr lang="zh-CN" altLang="en-US" sz="1600" b="0" u="none" dirty="0">
                        <a:latin typeface="微软雅黑" panose="020B0503020204020204" pitchFamily="34" charset="-122"/>
                        <a:ea typeface="微软雅黑" panose="020B0503020204020204" pitchFamily="34" charset="-122"/>
                        <a:cs typeface="Calibri" panose="020F0502020204030204" pitchFamily="34" charset="0"/>
                      </a:endParaRPr>
                    </a:p>
                  </a:txBody>
                  <a:tcPr marL="0" marR="0" marT="0" marB="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xmlns="" val="10007"/>
                  </a:ext>
                </a:extLst>
              </a:tr>
            </a:tbl>
          </a:graphicData>
        </a:graphic>
      </p:graphicFrame>
      <p:grpSp>
        <p:nvGrpSpPr>
          <p:cNvPr id="8" name="文本2"/>
          <p:cNvGrpSpPr/>
          <p:nvPr/>
        </p:nvGrpSpPr>
        <p:grpSpPr>
          <a:xfrm>
            <a:off x="1410335" y="1096010"/>
            <a:ext cx="3825240" cy="597535"/>
            <a:chOff x="3529421" y="2014676"/>
            <a:chExt cx="2578139" cy="521890"/>
          </a:xfrm>
        </p:grpSpPr>
        <p:sp>
          <p:nvSpPr>
            <p:cNvPr id="9" name="任意多边形 8"/>
            <p:cNvSpPr/>
            <p:nvPr/>
          </p:nvSpPr>
          <p:spPr>
            <a:xfrm>
              <a:off x="3529421" y="2014676"/>
              <a:ext cx="2578139"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11" name="任意多边形 10"/>
            <p:cNvSpPr/>
            <p:nvPr/>
          </p:nvSpPr>
          <p:spPr>
            <a:xfrm>
              <a:off x="3554821" y="2023963"/>
              <a:ext cx="2527339" cy="4964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/etc/nsswitch.conf</a:t>
              </a:r>
            </a:p>
          </p:txBody>
        </p:sp>
      </p:grpSp>
      <p:grpSp>
        <p:nvGrpSpPr>
          <p:cNvPr id="12" name="深色1"/>
          <p:cNvGrpSpPr/>
          <p:nvPr/>
        </p:nvGrpSpPr>
        <p:grpSpPr>
          <a:xfrm>
            <a:off x="617668" y="1156732"/>
            <a:ext cx="637660" cy="491735"/>
            <a:chOff x="2976217" y="2014676"/>
            <a:chExt cx="521890" cy="521890"/>
          </a:xfrm>
        </p:grpSpPr>
        <p:sp>
          <p:nvSpPr>
            <p:cNvPr id="14" name="圆角矩形 13"/>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8" name="圆角矩形 17"/>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altLang="zh-CN"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1</a:t>
              </a:r>
              <a:endParaRPr lang="zh-CN" alt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childTnLst>
                          </p:cTn>
                        </p:par>
                        <p:par>
                          <p:cTn id="14" fill="hold">
                            <p:stCondLst>
                              <p:cond delay="1500"/>
                            </p:stCondLst>
                            <p:childTnLst>
                              <p:par>
                                <p:cTn id="15" presetID="22" presetClass="entr" presetSubtype="8" fill="hold" grpId="0" nodeType="after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par>
                          <p:cTn id="18" fill="hold">
                            <p:stCondLst>
                              <p:cond delay="2000"/>
                            </p:stCondLst>
                            <p:childTnLst>
                              <p:par>
                                <p:cTn id="19" presetID="22" presetClass="entr" presetSubtype="8"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wipe(left)">
                                      <p:cBhvr>
                                        <p:cTn id="2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579755" y="1817370"/>
            <a:ext cx="7540625" cy="4570095"/>
            <a:chOff x="598" y="1644"/>
            <a:chExt cx="17663" cy="8643"/>
          </a:xfrm>
        </p:grpSpPr>
        <p:grpSp>
          <p:nvGrpSpPr>
            <p:cNvPr id="24" name="组合 14"/>
            <p:cNvGrpSpPr/>
            <p:nvPr/>
          </p:nvGrpSpPr>
          <p:grpSpPr bwMode="auto">
            <a:xfrm>
              <a:off x="598" y="1664"/>
              <a:ext cx="17663" cy="8623"/>
              <a:chOff x="1196575" y="1455151"/>
              <a:chExt cx="9699365" cy="2263093"/>
            </a:xfrm>
          </p:grpSpPr>
          <p:sp>
            <p:nvSpPr>
              <p:cNvPr id="25" name="矩形 24"/>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1"/>
                </p:custDataLst>
              </p:nvPr>
            </p:nvSpPr>
            <p:spPr bwMode="auto">
              <a:xfrm>
                <a:off x="1309479" y="1635621"/>
                <a:ext cx="9467197" cy="2082622"/>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passwd: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shadow: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group: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//域名的解析顺序，先查找/etc/hosts文件，若没有找到，再询问DNS服务器</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hosts:		files dns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bootparams: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ethers: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netmasks: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networks: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protocols: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rpc: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services: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netgroup: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publickey: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automount:	files</a:t>
                </a:r>
              </a:p>
              <a:p>
                <a:pPr indent="0" algn="l" eaLnBrk="1" fontAlgn="auto" latinLnBrk="0" hangingPunct="1">
                  <a:lnSpc>
                    <a:spcPct val="10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aliases:		files</a:t>
                </a:r>
              </a:p>
              <a:p>
                <a:pPr indent="0" algn="l" eaLnBrk="1" fontAlgn="auto" latinLnBrk="0" hangingPunct="1">
                  <a:lnSpc>
                    <a:spcPct val="140000"/>
                  </a:lnSpc>
                  <a:buFont typeface="Arial" panose="020B0604020202020204" pitchFamily="34" charset="0"/>
                  <a:buNone/>
                  <a:defRPr/>
                </a:pPr>
                <a:endParaRPr lang="zh-CN" altLang="en-US" sz="1400" dirty="0">
                  <a:solidFill>
                    <a:srgbClr val="0070C0"/>
                  </a:solidFill>
                  <a:latin typeface="微软雅黑" panose="020B0503020204020204" pitchFamily="34" charset="-122"/>
                  <a:ea typeface="微软雅黑" panose="020B0503020204020204" pitchFamily="34" charset="-122"/>
                  <a:cs typeface="+mn-cs"/>
                  <a:sym typeface="+mn-ea"/>
                </a:endParaRPr>
              </a:p>
              <a:p>
                <a:pPr indent="0" algn="l" eaLnBrk="1" fontAlgn="auto" latinLnBrk="0" hangingPunct="1">
                  <a:lnSpc>
                    <a:spcPct val="140000"/>
                  </a:lnSpc>
                  <a:buFont typeface="Arial" panose="020B0604020202020204" pitchFamily="34" charset="0"/>
                  <a:buNone/>
                  <a:defRPr/>
                </a:pPr>
                <a:r>
                  <a:rPr lang="zh-CN" altLang="en-US" sz="1200" dirty="0">
                    <a:solidFill>
                      <a:srgbClr val="0070C0"/>
                    </a:solidFill>
                    <a:latin typeface="微软雅黑" panose="020B0503020204020204" pitchFamily="34" charset="-122"/>
                    <a:ea typeface="微软雅黑" panose="020B0503020204020204" pitchFamily="34" charset="-122"/>
                    <a:cs typeface="+mn-cs"/>
                    <a:sym typeface="+mn-ea"/>
                  </a:rPr>
                  <a:t>       </a:t>
                </a:r>
              </a:p>
            </p:txBody>
          </p:sp>
        </p:grpSp>
        <p:sp>
          <p:nvSpPr>
            <p:cNvPr id="27" name="矩形 6"/>
            <p:cNvSpPr>
              <a:spLocks noChangeArrowheads="1"/>
            </p:cNvSpPr>
            <p:nvPr/>
          </p:nvSpPr>
          <p:spPr bwMode="auto">
            <a:xfrm>
              <a:off x="623" y="1644"/>
              <a:ext cx="17638" cy="79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/etc/nsswitch.conf配置文件内容如下：</a:t>
              </a:r>
            </a:p>
          </p:txBody>
        </p:sp>
      </p:grpSp>
      <p:grpSp>
        <p:nvGrpSpPr>
          <p:cNvPr id="28" name="组合 27"/>
          <p:cNvGrpSpPr/>
          <p:nvPr/>
        </p:nvGrpSpPr>
        <p:grpSpPr>
          <a:xfrm>
            <a:off x="8344535" y="2026285"/>
            <a:ext cx="3233420" cy="4078955"/>
            <a:chOff x="13722" y="1883"/>
            <a:chExt cx="4828" cy="7128"/>
          </a:xfrm>
        </p:grpSpPr>
        <p:sp>
          <p:nvSpPr>
            <p:cNvPr id="30" name="AutoShape 2"/>
            <p:cNvSpPr/>
            <p:nvPr/>
          </p:nvSpPr>
          <p:spPr>
            <a:xfrm>
              <a:off x="13722" y="1883"/>
              <a:ext cx="4828" cy="7128"/>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dirty="0">
                <a:latin typeface="微软雅黑" panose="020B0503020204020204" pitchFamily="34" charset="-122"/>
                <a:ea typeface="微软雅黑" panose="020B0503020204020204" pitchFamily="34" charset="-122"/>
                <a:sym typeface="+mn-ea"/>
              </a:endParaRPr>
            </a:p>
            <a:p>
              <a:pPr indent="457200" fontAlgn="auto">
                <a:lnSpc>
                  <a:spcPct val="150000"/>
                </a:lnSpc>
                <a:spcAft>
                  <a:spcPts val="600"/>
                </a:spcAft>
              </a:pPr>
              <a:endParaRPr lang="en-US" altLang="zh-CN" dirty="0">
                <a:latin typeface="微软雅黑" panose="020B0503020204020204" pitchFamily="34" charset="-122"/>
                <a:ea typeface="微软雅黑" panose="020B0503020204020204" pitchFamily="34" charset="-122"/>
                <a:sym typeface="+mn-ea"/>
              </a:endParaRPr>
            </a:p>
          </p:txBody>
        </p:sp>
        <p:sp>
          <p:nvSpPr>
            <p:cNvPr id="32" name="文本框 31"/>
            <p:cNvSpPr txBox="1"/>
            <p:nvPr/>
          </p:nvSpPr>
          <p:spPr>
            <a:xfrm>
              <a:off x="13973" y="2560"/>
              <a:ext cx="4364" cy="5970"/>
            </a:xfrm>
            <a:prstGeom prst="rect">
              <a:avLst/>
            </a:prstGeom>
            <a:noFill/>
          </p:spPr>
          <p:txBody>
            <a:bodyPr wrap="square" rtlCol="0">
              <a:spAutoFit/>
            </a:bodyPr>
            <a:lstStyle/>
            <a:p>
              <a:pPr indent="457200" eaLnBrk="1" latinLnBrk="0" hangingPunct="1">
                <a:lnSpc>
                  <a:spcPct val="150000"/>
                </a:lnSpc>
              </a:pPr>
              <a:r>
                <a:rPr lang="zh-CN" altLang="en-US">
                  <a:latin typeface="微软雅黑" panose="020B0503020204020204" pitchFamily="34" charset="-122"/>
                  <a:ea typeface="微软雅黑" panose="020B0503020204020204" pitchFamily="34" charset="-122"/>
                </a:rPr>
                <a:t>设置DNS的解析顺序。支持的查询有HOSTS文件、BIND服务、NIS服务。默认情况先查询HOSTS文件，再查询DNS服务器。若用户需添加NIS服务查询，可采用“hosts:files,dns,nis”方式添加。</a:t>
              </a:r>
            </a:p>
          </p:txBody>
        </p:sp>
      </p:grpSp>
      <p:grpSp>
        <p:nvGrpSpPr>
          <p:cNvPr id="5" name="文本2"/>
          <p:cNvGrpSpPr/>
          <p:nvPr/>
        </p:nvGrpSpPr>
        <p:grpSpPr>
          <a:xfrm>
            <a:off x="1410335" y="1111250"/>
            <a:ext cx="3825240" cy="597535"/>
            <a:chOff x="3529421" y="2014676"/>
            <a:chExt cx="2578139" cy="521890"/>
          </a:xfrm>
        </p:grpSpPr>
        <p:sp>
          <p:nvSpPr>
            <p:cNvPr id="6" name="任意多边形 5"/>
            <p:cNvSpPr/>
            <p:nvPr/>
          </p:nvSpPr>
          <p:spPr>
            <a:xfrm>
              <a:off x="3529421" y="2014676"/>
              <a:ext cx="2578139"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11" name="任意多边形 10"/>
            <p:cNvSpPr/>
            <p:nvPr/>
          </p:nvSpPr>
          <p:spPr>
            <a:xfrm>
              <a:off x="3564943" y="2069440"/>
              <a:ext cx="2527210" cy="41096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/etc/nsswitch.conf</a:t>
              </a:r>
            </a:p>
          </p:txBody>
        </p:sp>
      </p:grpSp>
      <p:grpSp>
        <p:nvGrpSpPr>
          <p:cNvPr id="12" name="深色1"/>
          <p:cNvGrpSpPr/>
          <p:nvPr/>
        </p:nvGrpSpPr>
        <p:grpSpPr>
          <a:xfrm>
            <a:off x="617668" y="1171972"/>
            <a:ext cx="637660" cy="491735"/>
            <a:chOff x="2976217" y="2014676"/>
            <a:chExt cx="521890" cy="521890"/>
          </a:xfrm>
        </p:grpSpPr>
        <p:sp>
          <p:nvSpPr>
            <p:cNvPr id="14" name="圆角矩形 13"/>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8" name="圆角矩形 17"/>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altLang="zh-CN"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1</a:t>
              </a:r>
              <a:endParaRPr lang="zh-CN" alt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wipe(left)">
                                      <p:cBhvr>
                                        <p:cTn id="13" dur="500"/>
                                        <p:tgtEl>
                                          <p:spTgt spid="5"/>
                                        </p:tgtEl>
                                      </p:cBhvr>
                                    </p:animEffect>
                                  </p:childTnLst>
                                </p:cTn>
                              </p:par>
                            </p:childTnLst>
                          </p:cTn>
                        </p:par>
                        <p:par>
                          <p:cTn id="14" fill="hold">
                            <p:stCondLst>
                              <p:cond delay="1500"/>
                            </p:stCondLst>
                            <p:childTnLst>
                              <p:par>
                                <p:cTn id="15" presetID="18" presetClass="entr" presetSubtype="6"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strips(downRight)">
                                      <p:cBhvr>
                                        <p:cTn id="17" dur="500"/>
                                        <p:tgtEl>
                                          <p:spTgt spid="23"/>
                                        </p:tgtEl>
                                      </p:cBhvr>
                                    </p:animEffect>
                                  </p:childTnLst>
                                </p:cTn>
                              </p:par>
                            </p:childTnLst>
                          </p:cTn>
                        </p:par>
                        <p:par>
                          <p:cTn id="18" fill="hold">
                            <p:stCondLst>
                              <p:cond delay="2000"/>
                            </p:stCondLst>
                            <p:childTnLst>
                              <p:par>
                                <p:cTn id="19" presetID="18" presetClass="entr" presetSubtype="6"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strips(downRight)">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4117975" y="1709042"/>
            <a:ext cx="7337425" cy="4491098"/>
            <a:chOff x="598" y="1664"/>
            <a:chExt cx="14462" cy="8623"/>
          </a:xfrm>
        </p:grpSpPr>
        <p:grpSp>
          <p:nvGrpSpPr>
            <p:cNvPr id="24" name="组合 14"/>
            <p:cNvGrpSpPr/>
            <p:nvPr/>
          </p:nvGrpSpPr>
          <p:grpSpPr bwMode="auto">
            <a:xfrm>
              <a:off x="598" y="1664"/>
              <a:ext cx="14462" cy="8623"/>
              <a:chOff x="1196575" y="1455151"/>
              <a:chExt cx="7941804" cy="2263020"/>
            </a:xfrm>
          </p:grpSpPr>
          <p:sp>
            <p:nvSpPr>
              <p:cNvPr id="25" name="矩形 24"/>
              <p:cNvSpPr/>
              <p:nvPr/>
            </p:nvSpPr>
            <p:spPr>
              <a:xfrm>
                <a:off x="1196575" y="1455151"/>
                <a:ext cx="7941804" cy="2263020"/>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1"/>
                </p:custDataLst>
              </p:nvPr>
            </p:nvSpPr>
            <p:spPr bwMode="auto">
              <a:xfrm>
                <a:off x="1309293" y="1750801"/>
                <a:ext cx="7780975" cy="1907343"/>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//服务			端口	协议类型	     服务说明</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ftp-data			20/tcp</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ftp-data			20/udp</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 21 is registered to ftp, but also used by fsp</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ftp				21/tcp</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ftp				21/udp	                   fsp fspd</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ssh				22/tcp							# SSH Remote Login Protocol</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ssh				22/udp							# SSH Remote Login Protocol</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telnet			23/tcp</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telnet			23/udp</a:t>
                </a:r>
              </a:p>
            </p:txBody>
          </p:sp>
        </p:grpSp>
        <p:sp>
          <p:nvSpPr>
            <p:cNvPr id="27" name="矩形 6"/>
            <p:cNvSpPr>
              <a:spLocks noChangeArrowheads="1"/>
            </p:cNvSpPr>
            <p:nvPr/>
          </p:nvSpPr>
          <p:spPr bwMode="auto">
            <a:xfrm>
              <a:off x="743" y="1760"/>
              <a:ext cx="8545" cy="878"/>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rgbClr val="009900"/>
                  </a:solidFill>
                  <a:latin typeface="微软雅黑" panose="020B0503020204020204" pitchFamily="34" charset="-122"/>
                  <a:ea typeface="微软雅黑" panose="020B0503020204020204" pitchFamily="34" charset="-122"/>
                  <a:cs typeface="华康俪金黑W8(P)"/>
                </a:rPr>
                <a:t>/etc/services配置文件内容如下。</a:t>
              </a:r>
            </a:p>
          </p:txBody>
        </p:sp>
      </p:grpSp>
      <p:grpSp>
        <p:nvGrpSpPr>
          <p:cNvPr id="22" name="文本2"/>
          <p:cNvGrpSpPr/>
          <p:nvPr/>
        </p:nvGrpSpPr>
        <p:grpSpPr>
          <a:xfrm>
            <a:off x="1273175" y="1111250"/>
            <a:ext cx="2196466" cy="597535"/>
            <a:chOff x="3529421" y="2014676"/>
            <a:chExt cx="1480376" cy="521890"/>
          </a:xfrm>
        </p:grpSpPr>
        <p:sp>
          <p:nvSpPr>
            <p:cNvPr id="28" name="任意多边形 27"/>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54672"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/etc/services</a:t>
              </a:r>
            </a:p>
          </p:txBody>
        </p:sp>
      </p:grpSp>
      <p:grpSp>
        <p:nvGrpSpPr>
          <p:cNvPr id="30" name="深色1"/>
          <p:cNvGrpSpPr/>
          <p:nvPr/>
        </p:nvGrpSpPr>
        <p:grpSpPr>
          <a:xfrm>
            <a:off x="480508" y="1171972"/>
            <a:ext cx="637660" cy="491735"/>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32" name="圆角矩形 31"/>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2</a:t>
              </a:r>
            </a:p>
          </p:txBody>
        </p:sp>
      </p:grpSp>
      <p:grpSp>
        <p:nvGrpSpPr>
          <p:cNvPr id="2" name="组合 1"/>
          <p:cNvGrpSpPr/>
          <p:nvPr/>
        </p:nvGrpSpPr>
        <p:grpSpPr>
          <a:xfrm>
            <a:off x="511810" y="2226310"/>
            <a:ext cx="3232150" cy="3819659"/>
            <a:chOff x="971600" y="2993400"/>
            <a:chExt cx="3196790" cy="3270253"/>
          </a:xfrm>
        </p:grpSpPr>
        <p:sp>
          <p:nvSpPr>
            <p:cNvPr id="33" name="TextBox 2"/>
            <p:cNvSpPr txBox="1"/>
            <p:nvPr/>
          </p:nvSpPr>
          <p:spPr>
            <a:xfrm>
              <a:off x="971600" y="3293074"/>
              <a:ext cx="3196790" cy="2970579"/>
            </a:xfrm>
            <a:prstGeom prst="rect">
              <a:avLst/>
            </a:prstGeom>
            <a:noFill/>
            <a:ln w="28575">
              <a:solidFill>
                <a:srgbClr val="00A7E2"/>
              </a:solidFill>
            </a:ln>
          </p:spPr>
          <p:txBody>
            <a:bodyPr wrap="square">
              <a:spAutoFit/>
            </a:bodyPr>
            <a:lstStyle/>
            <a:p>
              <a:pPr>
                <a:lnSpc>
                  <a:spcPct val="130000"/>
                </a:lnSpc>
                <a:defRPr/>
              </a:pPr>
              <a:endParaRPr lang="en-US" altLang="zh-CN" sz="900" dirty="0">
                <a:solidFill>
                  <a:schemeClr val="bg1">
                    <a:lumMod val="50000"/>
                  </a:schemeClr>
                </a:solidFill>
                <a:latin typeface="微软雅黑" panose="020B0503020204020204" pitchFamily="34" charset="-122"/>
                <a:ea typeface="微软雅黑" panose="020B0503020204020204" pitchFamily="34" charset="-122"/>
              </a:endParaRPr>
            </a:p>
            <a:p>
              <a:pPr indent="457200" eaLnBrk="1" latinLnBrk="0" hangingPunct="1">
                <a:lnSpc>
                  <a:spcPct val="150000"/>
                </a:lnSpc>
              </a:pPr>
              <a:r>
                <a:rPr lang="en-US" altLang="zh-CN" sz="2000" dirty="0">
                  <a:solidFill>
                    <a:schemeClr val="tx1"/>
                  </a:solidFill>
                  <a:latin typeface="微软雅黑" panose="020B0503020204020204" pitchFamily="34" charset="-122"/>
                  <a:ea typeface="微软雅黑" panose="020B0503020204020204" pitchFamily="34" charset="-122"/>
                  <a:sym typeface="+mn-ea"/>
                </a:rPr>
                <a:t>网络服务配置文件，将网络服务名转换为端口号/协议。文件中的每一行对应一种服务，由4个字段组成。分别表示“服务名称”“使用端口”“协议名称”和“服务说明”。 </a:t>
              </a:r>
            </a:p>
          </p:txBody>
        </p:sp>
        <p:sp>
          <p:nvSpPr>
            <p:cNvPr id="34" name="圆角矩形 33"/>
            <p:cNvSpPr/>
            <p:nvPr/>
          </p:nvSpPr>
          <p:spPr>
            <a:xfrm>
              <a:off x="1109144" y="2993400"/>
              <a:ext cx="1604047" cy="525866"/>
            </a:xfrm>
            <a:prstGeom prst="roundRect">
              <a:avLst/>
            </a:prstGeom>
            <a:solidFill>
              <a:schemeClr val="bg1"/>
            </a:solidFill>
            <a:ln>
              <a:solidFill>
                <a:srgbClr val="00A7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rgbClr val="0070C0"/>
                  </a:solidFill>
                  <a:latin typeface="微软雅黑" panose="020B0503020204020204" pitchFamily="34" charset="-122"/>
                  <a:ea typeface="微软雅黑" panose="020B0503020204020204" pitchFamily="34" charset="-122"/>
                </a:rPr>
                <a:t>文件功能：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anim calcmode="lin" valueType="num">
                                      <p:cBhvr>
                                        <p:cTn id="8" dur="1000" fill="hold"/>
                                        <p:tgtEl>
                                          <p:spTgt spid="30"/>
                                        </p:tgtEl>
                                        <p:attrNameLst>
                                          <p:attrName>ppt_x</p:attrName>
                                        </p:attrNameLst>
                                      </p:cBhvr>
                                      <p:tavLst>
                                        <p:tav tm="0">
                                          <p:val>
                                            <p:strVal val="#ppt_x"/>
                                          </p:val>
                                        </p:tav>
                                        <p:tav tm="100000">
                                          <p:val>
                                            <p:strVal val="#ppt_x"/>
                                          </p:val>
                                        </p:tav>
                                      </p:tavLst>
                                    </p:anim>
                                    <p:anim calcmode="lin" valueType="num">
                                      <p:cBhvr>
                                        <p:cTn id="9" dur="1000" fill="hold"/>
                                        <p:tgtEl>
                                          <p:spTgt spid="30"/>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par>
                          <p:cTn id="14" fill="hold">
                            <p:stCondLst>
                              <p:cond delay="1500"/>
                            </p:stCondLst>
                            <p:childTnLst>
                              <p:par>
                                <p:cTn id="15" presetID="37" presetClass="entr" presetSubtype="0" fill="hold" nodeType="after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1000"/>
                                        <p:tgtEl>
                                          <p:spTgt spid="2"/>
                                        </p:tgtEl>
                                      </p:cBhvr>
                                    </p:animEffect>
                                    <p:anim calcmode="lin" valueType="num">
                                      <p:cBhvr>
                                        <p:cTn id="18" dur="1000" fill="hold"/>
                                        <p:tgtEl>
                                          <p:spTgt spid="2"/>
                                        </p:tgtEl>
                                        <p:attrNameLst>
                                          <p:attrName>ppt_x</p:attrName>
                                        </p:attrNameLst>
                                      </p:cBhvr>
                                      <p:tavLst>
                                        <p:tav tm="0">
                                          <p:val>
                                            <p:strVal val="#ppt_x"/>
                                          </p:val>
                                        </p:tav>
                                        <p:tav tm="100000">
                                          <p:val>
                                            <p:strVal val="#ppt_x"/>
                                          </p:val>
                                        </p:tav>
                                      </p:tavLst>
                                    </p:anim>
                                    <p:anim calcmode="lin" valueType="num">
                                      <p:cBhvr>
                                        <p:cTn id="19" dur="900" decel="100000" fill="hold"/>
                                        <p:tgtEl>
                                          <p:spTgt spid="2"/>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2"/>
                                        </p:tgtEl>
                                        <p:attrNameLst>
                                          <p:attrName>ppt_y</p:attrName>
                                        </p:attrNameLst>
                                      </p:cBhvr>
                                      <p:tavLst>
                                        <p:tav tm="0">
                                          <p:val>
                                            <p:strVal val="#ppt_y-.03"/>
                                          </p:val>
                                        </p:tav>
                                        <p:tav tm="100000">
                                          <p:val>
                                            <p:strVal val="#ppt_y"/>
                                          </p:val>
                                        </p:tav>
                                      </p:tavLst>
                                    </p:anim>
                                  </p:childTnLst>
                                </p:cTn>
                              </p:par>
                            </p:childTnLst>
                          </p:cTn>
                        </p:par>
                        <p:par>
                          <p:cTn id="21" fill="hold">
                            <p:stCondLst>
                              <p:cond delay="2500"/>
                            </p:stCondLst>
                            <p:childTnLst>
                              <p:par>
                                <p:cTn id="22" presetID="18" presetClass="entr" presetSubtype="6" fill="hold"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strips(downRight)">
                                      <p:cBhvr>
                                        <p:cTn id="24"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组合 22"/>
          <p:cNvGrpSpPr/>
          <p:nvPr/>
        </p:nvGrpSpPr>
        <p:grpSpPr>
          <a:xfrm>
            <a:off x="695325" y="1866900"/>
            <a:ext cx="7838440" cy="4252595"/>
            <a:chOff x="598" y="1644"/>
            <a:chExt cx="17663" cy="8643"/>
          </a:xfrm>
        </p:grpSpPr>
        <p:grpSp>
          <p:nvGrpSpPr>
            <p:cNvPr id="24" name="组合 14"/>
            <p:cNvGrpSpPr/>
            <p:nvPr/>
          </p:nvGrpSpPr>
          <p:grpSpPr bwMode="auto">
            <a:xfrm>
              <a:off x="598" y="1664"/>
              <a:ext cx="17663" cy="8623"/>
              <a:chOff x="1196575" y="1455151"/>
              <a:chExt cx="9699365" cy="2263093"/>
            </a:xfrm>
          </p:grpSpPr>
          <p:sp>
            <p:nvSpPr>
              <p:cNvPr id="25" name="矩形 24"/>
              <p:cNvSpPr/>
              <p:nvPr/>
            </p:nvSpPr>
            <p:spPr>
              <a:xfrm>
                <a:off x="1196575" y="1455151"/>
                <a:ext cx="9699365" cy="226309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1"/>
                </p:custDataLst>
              </p:nvPr>
            </p:nvSpPr>
            <p:spPr bwMode="auto">
              <a:xfrm>
                <a:off x="1309561" y="1676667"/>
                <a:ext cx="9467116" cy="1993648"/>
              </a:xfrm>
              <a:prstGeom prst="rect">
                <a:avLst/>
              </a:prstGeom>
              <a:solidFill>
                <a:srgbClr val="F2F2F2"/>
              </a:solidFill>
              <a:ln w="9525">
                <a:noFill/>
                <a:miter lim="800000"/>
              </a:ln>
            </p:spPr>
            <p:txBody>
              <a:bodyPr/>
              <a:lstStyle/>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24 - private mail system</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lmtp				24/tcp							# LMTP Mail Delivery</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lmtp				24/udp							# LMTP Mail Delivery</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smtp				25/tcp			mail</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smtp				25/udp			mail</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time				37/tcp			timserver</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time				37/udp			timserver</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rlp				39/tcp			resource			# resource location</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rlp				39/udp			resource			# resource location</a:t>
                </a:r>
              </a:p>
              <a:p>
                <a:pPr indent="0" algn="l" eaLnBrk="1" fontAlgn="auto" latinLnBrk="0" hangingPunct="1">
                  <a:lnSpc>
                    <a:spcPct val="11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a:t>
                </a:r>
              </a:p>
            </p:txBody>
          </p:sp>
        </p:grpSp>
        <p:sp>
          <p:nvSpPr>
            <p:cNvPr id="27" name="矩形 6"/>
            <p:cNvSpPr>
              <a:spLocks noChangeArrowheads="1"/>
            </p:cNvSpPr>
            <p:nvPr/>
          </p:nvSpPr>
          <p:spPr bwMode="auto">
            <a:xfrm>
              <a:off x="623" y="1644"/>
              <a:ext cx="17638" cy="85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/etc/services配置文件内容如下。</a:t>
              </a:r>
            </a:p>
          </p:txBody>
        </p:sp>
      </p:grpSp>
      <p:grpSp>
        <p:nvGrpSpPr>
          <p:cNvPr id="28" name="组合 27"/>
          <p:cNvGrpSpPr/>
          <p:nvPr/>
        </p:nvGrpSpPr>
        <p:grpSpPr>
          <a:xfrm>
            <a:off x="8717915" y="1731010"/>
            <a:ext cx="3091815" cy="4365077"/>
            <a:chOff x="13722" y="1883"/>
            <a:chExt cx="4828" cy="7628"/>
          </a:xfrm>
        </p:grpSpPr>
        <p:sp>
          <p:nvSpPr>
            <p:cNvPr id="30" name="AutoShape 2"/>
            <p:cNvSpPr/>
            <p:nvPr/>
          </p:nvSpPr>
          <p:spPr>
            <a:xfrm>
              <a:off x="13722" y="1883"/>
              <a:ext cx="4828" cy="7628"/>
            </a:xfrm>
            <a:prstGeom prst="roundRect">
              <a:avLst>
                <a:gd name="adj" fmla="val 5315"/>
              </a:avLst>
            </a:prstGeom>
            <a:gradFill rotWithShape="1">
              <a:gsLst>
                <a:gs pos="0">
                  <a:srgbClr val="F3F3F3"/>
                </a:gs>
                <a:gs pos="100000">
                  <a:srgbClr val="DDDDDD"/>
                </a:gs>
              </a:gsLst>
              <a:lin ang="5400000" scaled="1"/>
              <a:tileRect/>
            </a:gradFill>
            <a:ln w="3175" cap="flat" cmpd="sng">
              <a:solidFill>
                <a:srgbClr val="969696">
                  <a:alpha val="56862"/>
                </a:srgbClr>
              </a:solidFill>
              <a:prstDash val="solid"/>
              <a:round/>
              <a:headEnd type="none" w="med" len="med"/>
              <a:tailEnd type="none" w="med" len="med"/>
            </a:ln>
          </p:spPr>
          <p:txBody>
            <a:bodyPr anchor="t"/>
            <a:lstStyle/>
            <a:p>
              <a:pPr lvl="0" indent="0">
                <a:buClr>
                  <a:schemeClr val="accent2"/>
                </a:buClr>
                <a:buFont typeface="Wingdings" panose="05000000000000000000" pitchFamily="2" charset="2"/>
                <a:buNone/>
              </a:pPr>
              <a:endParaRPr lang="en-US" altLang="zh-CN" sz="1900" dirty="0">
                <a:latin typeface="微软雅黑" panose="020B0503020204020204" pitchFamily="34" charset="-122"/>
                <a:ea typeface="微软雅黑" panose="020B0503020204020204" pitchFamily="34" charset="-122"/>
                <a:sym typeface="+mn-ea"/>
              </a:endParaRPr>
            </a:p>
            <a:p>
              <a:pPr indent="457200" fontAlgn="auto">
                <a:lnSpc>
                  <a:spcPct val="150000"/>
                </a:lnSpc>
                <a:spcAft>
                  <a:spcPts val="600"/>
                </a:spcAft>
              </a:pPr>
              <a:endParaRPr lang="en-US" altLang="zh-CN" sz="1800" dirty="0">
                <a:latin typeface="微软雅黑" panose="020B0503020204020204" pitchFamily="34" charset="-122"/>
                <a:ea typeface="微软雅黑" panose="020B0503020204020204" pitchFamily="34" charset="-122"/>
                <a:sym typeface="+mn-ea"/>
              </a:endParaRPr>
            </a:p>
          </p:txBody>
        </p:sp>
        <p:sp>
          <p:nvSpPr>
            <p:cNvPr id="32" name="文本框 31"/>
            <p:cNvSpPr txBox="1"/>
            <p:nvPr/>
          </p:nvSpPr>
          <p:spPr>
            <a:xfrm>
              <a:off x="13973" y="2560"/>
              <a:ext cx="4364" cy="6551"/>
            </a:xfrm>
            <a:prstGeom prst="rect">
              <a:avLst/>
            </a:prstGeom>
            <a:noFill/>
          </p:spPr>
          <p:txBody>
            <a:bodyPr wrap="square" rtlCol="0">
              <a:spAutoFit/>
            </a:bodyPr>
            <a:lstStyle/>
            <a:p>
              <a:pPr indent="457200" eaLnBrk="1" latinLnBrk="0" hangingPunct="1">
                <a:lnSpc>
                  <a:spcPct val="150000"/>
                </a:lnSpc>
              </a:pPr>
              <a:r>
                <a:rPr lang="zh-CN" altLang="en-US" sz="2000">
                  <a:latin typeface="微软雅黑" panose="020B0503020204020204" pitchFamily="34" charset="-122"/>
                  <a:ea typeface="微软雅黑" panose="020B0503020204020204" pitchFamily="34" charset="-122"/>
                </a:rPr>
                <a:t>通过以上内容可知。ftp协议对应着20和21号端口，ssh协议对应着22号端口。若用户将ssh协议对应的22号端口改成其他端口。系统将访问本机22端口，将系统错误或访问不成功。</a:t>
              </a:r>
            </a:p>
          </p:txBody>
        </p:sp>
      </p:grpSp>
      <p:grpSp>
        <p:nvGrpSpPr>
          <p:cNvPr id="22" name="文本2"/>
          <p:cNvGrpSpPr/>
          <p:nvPr/>
        </p:nvGrpSpPr>
        <p:grpSpPr>
          <a:xfrm>
            <a:off x="1273175" y="1111250"/>
            <a:ext cx="2196466" cy="597535"/>
            <a:chOff x="3529421" y="2014676"/>
            <a:chExt cx="1480376" cy="521890"/>
          </a:xfrm>
        </p:grpSpPr>
        <p:sp>
          <p:nvSpPr>
            <p:cNvPr id="4" name="任意多边形 3"/>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54672"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/etc/services</a:t>
              </a:r>
            </a:p>
          </p:txBody>
        </p:sp>
      </p:grpSp>
      <p:grpSp>
        <p:nvGrpSpPr>
          <p:cNvPr id="5" name="深色1"/>
          <p:cNvGrpSpPr/>
          <p:nvPr/>
        </p:nvGrpSpPr>
        <p:grpSpPr>
          <a:xfrm>
            <a:off x="480508" y="1171972"/>
            <a:ext cx="637660" cy="491735"/>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6" name="圆角矩形 5"/>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2</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par>
                          <p:cTn id="14" fill="hold">
                            <p:stCondLst>
                              <p:cond delay="1500"/>
                            </p:stCondLst>
                            <p:childTnLst>
                              <p:par>
                                <p:cTn id="15" presetID="18" presetClass="entr" presetSubtype="6" fill="hold" nodeType="afterEffect">
                                  <p:stCondLst>
                                    <p:cond delay="0"/>
                                  </p:stCondLst>
                                  <p:childTnLst>
                                    <p:set>
                                      <p:cBhvr>
                                        <p:cTn id="16" dur="1" fill="hold">
                                          <p:stCondLst>
                                            <p:cond delay="0"/>
                                          </p:stCondLst>
                                        </p:cTn>
                                        <p:tgtEl>
                                          <p:spTgt spid="23"/>
                                        </p:tgtEl>
                                        <p:attrNameLst>
                                          <p:attrName>style.visibility</p:attrName>
                                        </p:attrNameLst>
                                      </p:cBhvr>
                                      <p:to>
                                        <p:strVal val="visible"/>
                                      </p:to>
                                    </p:set>
                                    <p:animEffect transition="in" filter="strips(downRight)">
                                      <p:cBhvr>
                                        <p:cTn id="17" dur="500"/>
                                        <p:tgtEl>
                                          <p:spTgt spid="23"/>
                                        </p:tgtEl>
                                      </p:cBhvr>
                                    </p:animEffect>
                                  </p:childTnLst>
                                </p:cTn>
                              </p:par>
                            </p:childTnLst>
                          </p:cTn>
                        </p:par>
                        <p:par>
                          <p:cTn id="18" fill="hold">
                            <p:stCondLst>
                              <p:cond delay="2000"/>
                            </p:stCondLst>
                            <p:childTnLst>
                              <p:par>
                                <p:cTn id="19" presetID="18" presetClass="entr" presetSubtype="6" fill="hold" nodeType="after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strips(downRight)">
                                      <p:cBhvr>
                                        <p:cTn id="2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4628949" y="2521585"/>
            <a:ext cx="7133790" cy="3698452"/>
            <a:chOff x="2098" y="4715"/>
            <a:chExt cx="11234" cy="5824"/>
          </a:xfrm>
        </p:grpSpPr>
        <p:grpSp>
          <p:nvGrpSpPr>
            <p:cNvPr id="23" name="组合 22"/>
            <p:cNvGrpSpPr/>
            <p:nvPr/>
          </p:nvGrpSpPr>
          <p:grpSpPr>
            <a:xfrm>
              <a:off x="2098" y="4715"/>
              <a:ext cx="11234" cy="5824"/>
              <a:chOff x="623" y="1644"/>
              <a:chExt cx="14269" cy="9467"/>
            </a:xfrm>
          </p:grpSpPr>
          <p:grpSp>
            <p:nvGrpSpPr>
              <p:cNvPr id="24" name="组合 14"/>
              <p:cNvGrpSpPr/>
              <p:nvPr/>
            </p:nvGrpSpPr>
            <p:grpSpPr bwMode="auto">
              <a:xfrm>
                <a:off x="623" y="1674"/>
                <a:ext cx="14269" cy="9437"/>
                <a:chOff x="1210524" y="1457711"/>
                <a:chExt cx="7835792" cy="2476836"/>
              </a:xfrm>
            </p:grpSpPr>
            <p:sp>
              <p:nvSpPr>
                <p:cNvPr id="25" name="矩形 24"/>
                <p:cNvSpPr/>
                <p:nvPr/>
              </p:nvSpPr>
              <p:spPr>
                <a:xfrm>
                  <a:off x="1210524" y="1457711"/>
                  <a:ext cx="7835792" cy="2476836"/>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2"/>
                  </p:custDataLst>
                </p:nvPr>
              </p:nvSpPr>
              <p:spPr bwMode="auto">
                <a:xfrm>
                  <a:off x="1312351" y="1737574"/>
                  <a:ext cx="7617492" cy="945391"/>
                </a:xfrm>
                <a:prstGeom prst="rect">
                  <a:avLst/>
                </a:prstGeom>
                <a:solidFill>
                  <a:srgbClr val="F2F2F2"/>
                </a:solidFill>
                <a:ln w="9525">
                  <a:noFill/>
                  <a:miter lim="800000"/>
                </a:ln>
              </p:spPr>
              <p:txBody>
                <a:bodyPr/>
                <a:lstStyle/>
                <a:p>
                  <a:pPr indent="0" algn="l" eaLnBrk="1" fontAlgn="auto" latinLnBrk="0" hangingPunct="1">
                    <a:lnSpc>
                      <a:spcPct val="12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 generated by /sbin/dhclient-script</a:t>
                  </a:r>
                </a:p>
                <a:p>
                  <a:pPr indent="0" algn="l" eaLnBrk="1" fontAlgn="auto" latinLnBrk="0" hangingPunct="1">
                    <a:lnSpc>
                      <a:spcPct val="12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search gdLinux.com</a:t>
                  </a:r>
                </a:p>
                <a:p>
                  <a:pPr indent="0" algn="l" eaLnBrk="1" fontAlgn="auto" latinLnBrk="0" hangingPunct="1">
                    <a:lnSpc>
                      <a:spcPct val="12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nameserver 192.168.1.1</a:t>
                  </a:r>
                </a:p>
                <a:p>
                  <a:pPr indent="0" algn="l" eaLnBrk="1" fontAlgn="auto" latinLnBrk="0" hangingPunct="1">
                    <a:lnSpc>
                      <a:spcPct val="120000"/>
                    </a:lnSpc>
                    <a:buFont typeface="Arial" panose="020B0604020202020204" pitchFamily="34" charset="0"/>
                    <a:buNone/>
                    <a:defRPr/>
                  </a:pPr>
                  <a:r>
                    <a:rPr lang="zh-CN" altLang="en-US" sz="1600" dirty="0">
                      <a:solidFill>
                        <a:srgbClr val="0070C0"/>
                      </a:solidFill>
                      <a:latin typeface="微软雅黑" panose="020B0503020204020204" pitchFamily="34" charset="-122"/>
                      <a:ea typeface="微软雅黑" panose="020B0503020204020204" pitchFamily="34" charset="-122"/>
                      <a:cs typeface="+mn-cs"/>
                      <a:sym typeface="+mn-ea"/>
                    </a:rPr>
                    <a:t>domain gdLinux.com</a:t>
                  </a:r>
                </a:p>
              </p:txBody>
            </p:sp>
          </p:grpSp>
          <p:sp>
            <p:nvSpPr>
              <p:cNvPr id="27" name="矩形 6"/>
              <p:cNvSpPr>
                <a:spLocks noChangeArrowheads="1"/>
              </p:cNvSpPr>
              <p:nvPr/>
            </p:nvSpPr>
            <p:spPr bwMode="auto">
              <a:xfrm>
                <a:off x="623" y="1644"/>
                <a:ext cx="13849" cy="107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/etc/resolv.conf文件格式如下：</a:t>
                </a:r>
              </a:p>
            </p:txBody>
          </p:sp>
        </p:grpSp>
        <p:sp>
          <p:nvSpPr>
            <p:cNvPr id="4" name="矩形 6"/>
            <p:cNvSpPr>
              <a:spLocks noChangeArrowheads="1"/>
            </p:cNvSpPr>
            <p:nvPr/>
          </p:nvSpPr>
          <p:spPr bwMode="auto">
            <a:xfrm>
              <a:off x="2244" y="7774"/>
              <a:ext cx="10759" cy="662"/>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dirty="0" err="1">
                  <a:solidFill>
                    <a:schemeClr val="tx1">
                      <a:lumMod val="75000"/>
                      <a:lumOff val="25000"/>
                    </a:schemeClr>
                  </a:solidFill>
                  <a:latin typeface="微软雅黑" panose="020B0503020204020204" pitchFamily="34" charset="-122"/>
                  <a:ea typeface="微软雅黑" panose="020B0503020204020204" pitchFamily="34" charset="-122"/>
                  <a:cs typeface="华康俪金黑W8(P)"/>
                </a:rPr>
                <a:t>相关指令解释如下</a:t>
              </a:r>
              <a:r>
                <a:rPr sz="1800" b="1" dirty="0">
                  <a:solidFill>
                    <a:schemeClr val="tx1">
                      <a:lumMod val="75000"/>
                      <a:lumOff val="25000"/>
                    </a:schemeClr>
                  </a:solidFill>
                  <a:latin typeface="微软雅黑" panose="020B0503020204020204" pitchFamily="34" charset="-122"/>
                  <a:ea typeface="微软雅黑" panose="020B0503020204020204" pitchFamily="34" charset="-122"/>
                  <a:cs typeface="华康俪金黑W8(P)"/>
                </a:rPr>
                <a:t>：</a:t>
              </a:r>
            </a:p>
          </p:txBody>
        </p:sp>
        <p:sp>
          <p:nvSpPr>
            <p:cNvPr id="5" name="MH_Text_1"/>
            <p:cNvSpPr txBox="1">
              <a:spLocks noChangeArrowheads="1"/>
            </p:cNvSpPr>
            <p:nvPr>
              <p:custDataLst>
                <p:tags r:id="rId1"/>
              </p:custDataLst>
            </p:nvPr>
          </p:nvSpPr>
          <p:spPr bwMode="auto">
            <a:xfrm>
              <a:off x="2244" y="8396"/>
              <a:ext cx="10903" cy="1752"/>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“search gdLinux.com”：将搜索域设置为gdLinux.com域。</a:t>
              </a:r>
            </a:p>
            <a:p>
              <a:pPr indent="0" algn="l" eaLnBrk="1" fontAlgn="auto" latinLnBrk="0" hangingPunct="1">
                <a:lnSpc>
                  <a:spcPct val="130000"/>
                </a:lnSpc>
                <a:buFont typeface="Arial" panose="020B0604020202020204" pitchFamily="34" charset="0"/>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“nameserver 192.168.1.1”：设置DNS服务器的IP地址为192.168.1.1。</a:t>
              </a:r>
            </a:p>
            <a:p>
              <a:pPr indent="0" algn="l" eaLnBrk="1" fontAlgn="auto" latinLnBrk="0" hangingPunct="1">
                <a:lnSpc>
                  <a:spcPct val="130000"/>
                </a:lnSpc>
                <a:buFont typeface="Arial" panose="020B0604020202020204" pitchFamily="34" charset="0"/>
                <a:buNone/>
                <a:defRPr/>
              </a:pPr>
              <a:r>
                <a:rPr lang="zh-CN" altLang="en-US" sz="16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“domain gdLinux.com”：定义本地域名</a:t>
              </a:r>
            </a:p>
          </p:txBody>
        </p:sp>
      </p:grpSp>
      <p:grpSp>
        <p:nvGrpSpPr>
          <p:cNvPr id="22" name="文本2"/>
          <p:cNvGrpSpPr/>
          <p:nvPr/>
        </p:nvGrpSpPr>
        <p:grpSpPr>
          <a:xfrm>
            <a:off x="1273175" y="1111250"/>
            <a:ext cx="2670175" cy="597535"/>
            <a:chOff x="3529421" y="2014676"/>
            <a:chExt cx="1480376" cy="521890"/>
          </a:xfrm>
        </p:grpSpPr>
        <p:sp>
          <p:nvSpPr>
            <p:cNvPr id="9" name="任意多边形 8"/>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54672"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/etc/resolv.conf</a:t>
              </a:r>
            </a:p>
          </p:txBody>
        </p:sp>
      </p:grpSp>
      <p:grpSp>
        <p:nvGrpSpPr>
          <p:cNvPr id="11" name="深色1"/>
          <p:cNvGrpSpPr/>
          <p:nvPr/>
        </p:nvGrpSpPr>
        <p:grpSpPr>
          <a:xfrm>
            <a:off x="480508" y="1171972"/>
            <a:ext cx="637660" cy="491735"/>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2" name="圆角矩形 11"/>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3</a:t>
              </a:r>
            </a:p>
          </p:txBody>
        </p:sp>
      </p:grpSp>
      <p:grpSp>
        <p:nvGrpSpPr>
          <p:cNvPr id="32" name="组合 31"/>
          <p:cNvGrpSpPr/>
          <p:nvPr/>
        </p:nvGrpSpPr>
        <p:grpSpPr>
          <a:xfrm>
            <a:off x="511810" y="1939926"/>
            <a:ext cx="3735705" cy="4304029"/>
            <a:chOff x="971600" y="2993400"/>
            <a:chExt cx="3196790" cy="3891181"/>
          </a:xfrm>
        </p:grpSpPr>
        <p:sp>
          <p:nvSpPr>
            <p:cNvPr id="33" name="TextBox 2"/>
            <p:cNvSpPr txBox="1"/>
            <p:nvPr/>
          </p:nvSpPr>
          <p:spPr>
            <a:xfrm>
              <a:off x="971600" y="3293074"/>
              <a:ext cx="3196790" cy="3591507"/>
            </a:xfrm>
            <a:prstGeom prst="rect">
              <a:avLst/>
            </a:prstGeom>
            <a:noFill/>
            <a:ln w="28575">
              <a:solidFill>
                <a:srgbClr val="00A7E2"/>
              </a:solidFill>
            </a:ln>
          </p:spPr>
          <p:txBody>
            <a:bodyPr wrap="square">
              <a:spAutoFit/>
            </a:bodyPr>
            <a:lstStyle/>
            <a:p>
              <a:pPr>
                <a:lnSpc>
                  <a:spcPct val="130000"/>
                </a:lnSpc>
                <a:defRPr/>
              </a:pPr>
              <a:endParaRPr lang="en-US" altLang="zh-CN" sz="900" dirty="0">
                <a:solidFill>
                  <a:schemeClr val="bg1">
                    <a:lumMod val="50000"/>
                  </a:schemeClr>
                </a:solidFill>
                <a:latin typeface="微软雅黑" panose="020B0503020204020204" pitchFamily="34" charset="-122"/>
                <a:ea typeface="微软雅黑" panose="020B0503020204020204" pitchFamily="34" charset="-122"/>
              </a:endParaRPr>
            </a:p>
            <a:p>
              <a:pPr indent="457200" eaLnBrk="1" latinLnBrk="0" hangingPunct="1">
                <a:lnSpc>
                  <a:spcPct val="150000"/>
                </a:lnSpc>
              </a:pPr>
              <a:r>
                <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/etc/resolv.conf为DNS客户端配置文件，当DNS客户端用户需要进行DNS解析时，系统会将查询请求发送到此文件中</a:t>
              </a:r>
              <a:r>
                <a:rPr lang="en-US" altLang="zh-CN" sz="1800" b="1" dirty="0">
                  <a:solidFill>
                    <a:srgbClr val="0070C0"/>
                  </a:solidFill>
                  <a:latin typeface="微软雅黑" panose="020B0503020204020204" pitchFamily="34" charset="-122"/>
                  <a:ea typeface="微软雅黑" panose="020B0503020204020204" pitchFamily="34" charset="-122"/>
                  <a:sym typeface="+mn-ea"/>
                </a:rPr>
                <a:t>nameserver语句</a:t>
              </a:r>
              <a:r>
                <a:rPr lang="en-US" altLang="zh-CN" sz="1800" dirty="0">
                  <a:solidFill>
                    <a:schemeClr val="tx1">
                      <a:lumMod val="95000"/>
                      <a:lumOff val="5000"/>
                    </a:schemeClr>
                  </a:solidFill>
                  <a:latin typeface="微软雅黑" panose="020B0503020204020204" pitchFamily="34" charset="-122"/>
                  <a:ea typeface="微软雅黑" panose="020B0503020204020204" pitchFamily="34" charset="-122"/>
                  <a:sym typeface="+mn-ea"/>
                </a:rPr>
                <a:t>定义的IP地址（DNS服务器的IP地址）上。要求此IP地址帮忙解析。若解析成功。DNS服务器会返回一个值给DNS客户端。同时可以设置要求查询的域名等。</a:t>
              </a:r>
            </a:p>
          </p:txBody>
        </p:sp>
        <p:sp>
          <p:nvSpPr>
            <p:cNvPr id="34" name="圆角矩形 33"/>
            <p:cNvSpPr/>
            <p:nvPr/>
          </p:nvSpPr>
          <p:spPr>
            <a:xfrm>
              <a:off x="1109079" y="2993400"/>
              <a:ext cx="1399784" cy="525866"/>
            </a:xfrm>
            <a:prstGeom prst="roundRect">
              <a:avLst/>
            </a:prstGeom>
            <a:solidFill>
              <a:schemeClr val="bg1"/>
            </a:solidFill>
            <a:ln>
              <a:solidFill>
                <a:srgbClr val="00A7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rgbClr val="0070C0"/>
                  </a:solidFill>
                  <a:latin typeface="微软雅黑" panose="020B0503020204020204" pitchFamily="34" charset="-122"/>
                  <a:ea typeface="微软雅黑" panose="020B0503020204020204" pitchFamily="34" charset="-122"/>
                </a:rPr>
                <a:t>文件功能：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par>
                          <p:cTn id="14" fill="hold">
                            <p:stCondLst>
                              <p:cond delay="1500"/>
                            </p:stCondLst>
                            <p:childTnLst>
                              <p:par>
                                <p:cTn id="15" presetID="37" presetClass="entr" presetSubtype="0"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900" decel="100000" fill="hold"/>
                                        <p:tgtEl>
                                          <p:spTgt spid="32"/>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par>
                          <p:cTn id="21" fill="hold">
                            <p:stCondLst>
                              <p:cond delay="2500"/>
                            </p:stCondLst>
                            <p:childTnLst>
                              <p:par>
                                <p:cTn id="22" presetID="18" presetClass="entr" presetSubtype="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downRigh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1227455" y="3394075"/>
            <a:ext cx="9716993" cy="2908927"/>
            <a:chOff x="2078" y="4715"/>
            <a:chExt cx="13907" cy="5130"/>
          </a:xfrm>
        </p:grpSpPr>
        <p:grpSp>
          <p:nvGrpSpPr>
            <p:cNvPr id="23" name="组合 22"/>
            <p:cNvGrpSpPr/>
            <p:nvPr/>
          </p:nvGrpSpPr>
          <p:grpSpPr>
            <a:xfrm>
              <a:off x="2078" y="4715"/>
              <a:ext cx="13907" cy="5130"/>
              <a:chOff x="598" y="1644"/>
              <a:chExt cx="17663" cy="8339"/>
            </a:xfrm>
          </p:grpSpPr>
          <p:grpSp>
            <p:nvGrpSpPr>
              <p:cNvPr id="24" name="组合 14"/>
              <p:cNvGrpSpPr/>
              <p:nvPr/>
            </p:nvGrpSpPr>
            <p:grpSpPr bwMode="auto">
              <a:xfrm>
                <a:off x="598" y="1664"/>
                <a:ext cx="17663" cy="8319"/>
                <a:chOff x="1196575" y="1455151"/>
                <a:chExt cx="9699142" cy="2183303"/>
              </a:xfrm>
            </p:grpSpPr>
            <p:sp>
              <p:nvSpPr>
                <p:cNvPr id="25" name="矩形 24"/>
                <p:cNvSpPr/>
                <p:nvPr/>
              </p:nvSpPr>
              <p:spPr>
                <a:xfrm>
                  <a:off x="1196575" y="1455151"/>
                  <a:ext cx="9699142" cy="218330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2"/>
                  </p:custDataLst>
                </p:nvPr>
              </p:nvSpPr>
              <p:spPr bwMode="auto">
                <a:xfrm>
                  <a:off x="1294218" y="1817834"/>
                  <a:ext cx="9467116" cy="645477"/>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NETWORKING=yes</a:t>
                  </a:r>
                </a:p>
                <a:p>
                  <a:pPr indent="0" algn="l" eaLnBrk="1" fontAlgn="auto" latinLnBrk="0" hangingPunct="1">
                    <a:lnSpc>
                      <a:spcPct val="13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HOSTNAME=localhost.localdomain</a:t>
                  </a:r>
                </a:p>
              </p:txBody>
            </p:sp>
          </p:grpSp>
          <p:sp>
            <p:nvSpPr>
              <p:cNvPr id="27" name="矩形 6"/>
              <p:cNvSpPr>
                <a:spLocks noChangeArrowheads="1"/>
              </p:cNvSpPr>
              <p:nvPr/>
            </p:nvSpPr>
            <p:spPr bwMode="auto">
              <a:xfrm>
                <a:off x="623" y="1644"/>
                <a:ext cx="17638" cy="1205"/>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/etc/sysconfig/network配置文件内容如下：</a:t>
                </a:r>
              </a:p>
            </p:txBody>
          </p:sp>
        </p:grpSp>
        <p:sp>
          <p:nvSpPr>
            <p:cNvPr id="4" name="矩形 6"/>
            <p:cNvSpPr>
              <a:spLocks noChangeArrowheads="1"/>
            </p:cNvSpPr>
            <p:nvPr/>
          </p:nvSpPr>
          <p:spPr bwMode="auto">
            <a:xfrm>
              <a:off x="2255" y="7156"/>
              <a:ext cx="6107" cy="80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2000" b="1">
                  <a:solidFill>
                    <a:schemeClr val="tx1">
                      <a:lumMod val="75000"/>
                      <a:lumOff val="25000"/>
                    </a:schemeClr>
                  </a:solidFill>
                  <a:latin typeface="微软雅黑" panose="020B0503020204020204" pitchFamily="34" charset="-122"/>
                  <a:ea typeface="微软雅黑" panose="020B0503020204020204" pitchFamily="34" charset="-122"/>
                  <a:cs typeface="华康俪金黑W8(P)"/>
                </a:rPr>
                <a:t>以上相关指令解释如下：</a:t>
              </a:r>
            </a:p>
          </p:txBody>
        </p:sp>
        <p:sp>
          <p:nvSpPr>
            <p:cNvPr id="5" name="MH_Text_1"/>
            <p:cNvSpPr txBox="1">
              <a:spLocks noChangeArrowheads="1"/>
            </p:cNvSpPr>
            <p:nvPr>
              <p:custDataLst>
                <p:tags r:id="rId1"/>
              </p:custDataLst>
            </p:nvPr>
          </p:nvSpPr>
          <p:spPr bwMode="auto">
            <a:xfrm>
              <a:off x="2255" y="8105"/>
              <a:ext cx="13574" cy="1570"/>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NETWORKING=yes：表示系统启动时加载network服务。</a:t>
              </a:r>
            </a:p>
            <a:p>
              <a:pPr indent="0" algn="l" eaLnBrk="1" fontAlgn="auto" latinLnBrk="0" hangingPunct="1">
                <a:lnSpc>
                  <a:spcPct val="13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HOSTNAME=localhost.localdomain：表示设置系统的主机名为localhost.localdomain。</a:t>
              </a:r>
            </a:p>
          </p:txBody>
        </p:sp>
      </p:grpSp>
      <p:grpSp>
        <p:nvGrpSpPr>
          <p:cNvPr id="22" name="文本2"/>
          <p:cNvGrpSpPr/>
          <p:nvPr/>
        </p:nvGrpSpPr>
        <p:grpSpPr>
          <a:xfrm>
            <a:off x="1273175" y="1111250"/>
            <a:ext cx="3683635" cy="597535"/>
            <a:chOff x="3529421" y="2014676"/>
            <a:chExt cx="1480376" cy="521890"/>
          </a:xfrm>
        </p:grpSpPr>
        <p:sp>
          <p:nvSpPr>
            <p:cNvPr id="9" name="任意多边形 8"/>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36297"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/etc/sysconfig/network</a:t>
              </a:r>
            </a:p>
          </p:txBody>
        </p:sp>
      </p:grpSp>
      <p:grpSp>
        <p:nvGrpSpPr>
          <p:cNvPr id="11" name="深色1"/>
          <p:cNvGrpSpPr/>
          <p:nvPr/>
        </p:nvGrpSpPr>
        <p:grpSpPr>
          <a:xfrm>
            <a:off x="480508" y="1171972"/>
            <a:ext cx="637660" cy="491735"/>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2" name="圆角矩形 11"/>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4</a:t>
              </a:r>
            </a:p>
          </p:txBody>
        </p:sp>
      </p:grpSp>
      <p:grpSp>
        <p:nvGrpSpPr>
          <p:cNvPr id="32" name="组合 31"/>
          <p:cNvGrpSpPr/>
          <p:nvPr/>
        </p:nvGrpSpPr>
        <p:grpSpPr>
          <a:xfrm>
            <a:off x="1227455" y="1993901"/>
            <a:ext cx="9678670" cy="1028592"/>
            <a:chOff x="993879" y="3031896"/>
            <a:chExt cx="8012070" cy="779288"/>
          </a:xfrm>
        </p:grpSpPr>
        <p:sp>
          <p:nvSpPr>
            <p:cNvPr id="33" name="TextBox 2"/>
            <p:cNvSpPr txBox="1"/>
            <p:nvPr/>
          </p:nvSpPr>
          <p:spPr>
            <a:xfrm>
              <a:off x="993879" y="3301686"/>
              <a:ext cx="8012070" cy="509498"/>
            </a:xfrm>
            <a:prstGeom prst="rect">
              <a:avLst/>
            </a:prstGeom>
            <a:noFill/>
            <a:ln w="28575">
              <a:solidFill>
                <a:srgbClr val="00A7E2"/>
              </a:solidFill>
            </a:ln>
          </p:spPr>
          <p:txBody>
            <a:bodyPr wrap="square">
              <a:spAutoFit/>
            </a:bodyPr>
            <a:lstStyle/>
            <a:p>
              <a:pPr>
                <a:lnSpc>
                  <a:spcPct val="130000"/>
                </a:lnSpc>
                <a:defRPr/>
              </a:pPr>
              <a:endParaRPr lang="en-US" altLang="zh-CN" sz="900" dirty="0">
                <a:solidFill>
                  <a:schemeClr val="bg1">
                    <a:lumMod val="50000"/>
                  </a:schemeClr>
                </a:solidFill>
                <a:latin typeface="微软雅黑" panose="020B0503020204020204" pitchFamily="34" charset="-122"/>
                <a:ea typeface="微软雅黑" panose="020B0503020204020204" pitchFamily="34" charset="-122"/>
              </a:endParaRPr>
            </a:p>
            <a:p>
              <a:pPr indent="457200" eaLnBrk="1" latinLnBrk="0" hangingPunct="1">
                <a:lnSpc>
                  <a:spcPct val="130000"/>
                </a:lnSpc>
              </a:pPr>
              <a:r>
                <a:rPr lang="en-US" altLang="zh-CN" sz="2000" b="1" dirty="0">
                  <a:solidFill>
                    <a:schemeClr val="tx1">
                      <a:lumMod val="75000"/>
                      <a:lumOff val="25000"/>
                    </a:schemeClr>
                  </a:solidFill>
                  <a:latin typeface="微软雅黑" panose="020B0503020204020204" pitchFamily="34" charset="-122"/>
                  <a:ea typeface="微软雅黑" panose="020B0503020204020204" pitchFamily="34" charset="-122"/>
                  <a:sym typeface="+mn-ea"/>
                </a:rPr>
                <a:t>主要用于设置Linux系统的主机名及系统启动时是否加载网卡信息。</a:t>
              </a:r>
              <a:endParaRPr lang="zh-CN" altLang="en-US" sz="2000" dirty="0">
                <a:solidFill>
                  <a:schemeClr val="tx1">
                    <a:lumMod val="75000"/>
                    <a:lumOff val="25000"/>
                  </a:schemeClr>
                </a:solidFill>
                <a:latin typeface="微软雅黑" panose="020B0503020204020204" pitchFamily="34" charset="-122"/>
                <a:ea typeface="微软雅黑" panose="020B0503020204020204" pitchFamily="34" charset="-122"/>
                <a:sym typeface="Arial Unicode MS" panose="020B0604020202020204" pitchFamily="34" charset="-122"/>
              </a:endParaRPr>
            </a:p>
          </p:txBody>
        </p:sp>
        <p:sp>
          <p:nvSpPr>
            <p:cNvPr id="34" name="圆角矩形 33"/>
            <p:cNvSpPr/>
            <p:nvPr/>
          </p:nvSpPr>
          <p:spPr>
            <a:xfrm>
              <a:off x="1109156" y="3031896"/>
              <a:ext cx="1331858" cy="425854"/>
            </a:xfrm>
            <a:prstGeom prst="roundRect">
              <a:avLst/>
            </a:prstGeom>
            <a:solidFill>
              <a:schemeClr val="bg1"/>
            </a:solidFill>
            <a:ln>
              <a:solidFill>
                <a:srgbClr val="00A7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rgbClr val="0070C0"/>
                  </a:solidFill>
                  <a:latin typeface="微软雅黑" panose="020B0503020204020204" pitchFamily="34" charset="-122"/>
                  <a:ea typeface="微软雅黑" panose="020B0503020204020204" pitchFamily="34" charset="-122"/>
                </a:rPr>
                <a:t>文件功能：</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par>
                          <p:cTn id="14" fill="hold">
                            <p:stCondLst>
                              <p:cond delay="1500"/>
                            </p:stCondLst>
                            <p:childTnLst>
                              <p:par>
                                <p:cTn id="15" presetID="37" presetClass="entr" presetSubtype="0"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900" decel="100000" fill="hold"/>
                                        <p:tgtEl>
                                          <p:spTgt spid="32"/>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par>
                          <p:cTn id="21" fill="hold">
                            <p:stCondLst>
                              <p:cond delay="2500"/>
                            </p:stCondLst>
                            <p:childTnLst>
                              <p:par>
                                <p:cTn id="22" presetID="18" presetClass="entr" presetSubtype="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downRigh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5105568" y="1904365"/>
            <a:ext cx="6210763" cy="4403090"/>
            <a:chOff x="897" y="4715"/>
            <a:chExt cx="9596" cy="5317"/>
          </a:xfrm>
        </p:grpSpPr>
        <p:grpSp>
          <p:nvGrpSpPr>
            <p:cNvPr id="23" name="组合 22"/>
            <p:cNvGrpSpPr/>
            <p:nvPr/>
          </p:nvGrpSpPr>
          <p:grpSpPr>
            <a:xfrm>
              <a:off x="897" y="4715"/>
              <a:ext cx="9596" cy="5317"/>
              <a:chOff x="-903" y="1644"/>
              <a:chExt cx="12189" cy="8643"/>
            </a:xfrm>
          </p:grpSpPr>
          <p:grpSp>
            <p:nvGrpSpPr>
              <p:cNvPr id="24" name="组合 14"/>
              <p:cNvGrpSpPr/>
              <p:nvPr/>
            </p:nvGrpSpPr>
            <p:grpSpPr bwMode="auto">
              <a:xfrm>
                <a:off x="-903" y="1664"/>
                <a:ext cx="12189" cy="8623"/>
                <a:chOff x="372126" y="1455151"/>
                <a:chExt cx="6693512" cy="2263123"/>
              </a:xfrm>
            </p:grpSpPr>
            <p:sp>
              <p:nvSpPr>
                <p:cNvPr id="25" name="矩形 24"/>
                <p:cNvSpPr/>
                <p:nvPr/>
              </p:nvSpPr>
              <p:spPr>
                <a:xfrm>
                  <a:off x="372126" y="1455151"/>
                  <a:ext cx="6693512" cy="2263123"/>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buFont typeface="Arial" panose="020B0604020202020204" pitchFamily="34" charset="0"/>
                    <a:buNone/>
                    <a:defRPr/>
                  </a:pPr>
                  <a:endParaRPr lang="zh-CN" altLang="en-US" noProof="1"/>
                </a:p>
              </p:txBody>
            </p:sp>
            <p:sp>
              <p:nvSpPr>
                <p:cNvPr id="26" name="MH_Text_1"/>
                <p:cNvSpPr txBox="1">
                  <a:spLocks noChangeArrowheads="1"/>
                </p:cNvSpPr>
                <p:nvPr>
                  <p:custDataLst>
                    <p:tags r:id="rId2"/>
                  </p:custDataLst>
                </p:nvPr>
              </p:nvSpPr>
              <p:spPr bwMode="auto">
                <a:xfrm>
                  <a:off x="597784" y="1825144"/>
                  <a:ext cx="6370682" cy="909442"/>
                </a:xfrm>
                <a:prstGeom prst="rect">
                  <a:avLst/>
                </a:prstGeom>
                <a:solidFill>
                  <a:srgbClr val="F2F2F2"/>
                </a:solidFill>
                <a:ln w="9525">
                  <a:noFill/>
                  <a:miter lim="800000"/>
                </a:ln>
              </p:spPr>
              <p:txBody>
                <a:bodyPr/>
                <a:lstStyle/>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DEVICE=eth0</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ONBOOT=yes</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BOOTPROTO=static</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IPADDR=172.16.100.98</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NETMASK=255.255.255.0</a:t>
                  </a:r>
                </a:p>
                <a:p>
                  <a:pPr indent="0" algn="l" eaLnBrk="1" fontAlgn="auto" latinLnBrk="0" hangingPunct="1">
                    <a:lnSpc>
                      <a:spcPct val="10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GATEWAY=172.16.100.254</a:t>
                  </a:r>
                </a:p>
              </p:txBody>
            </p:sp>
          </p:grpSp>
          <p:sp>
            <p:nvSpPr>
              <p:cNvPr id="27" name="矩形 6"/>
              <p:cNvSpPr>
                <a:spLocks noChangeArrowheads="1"/>
              </p:cNvSpPr>
              <p:nvPr/>
            </p:nvSpPr>
            <p:spPr bwMode="auto">
              <a:xfrm>
                <a:off x="-884" y="1644"/>
                <a:ext cx="12017" cy="1486"/>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dirty="0">
                    <a:solidFill>
                      <a:srgbClr val="009900"/>
                    </a:solidFill>
                    <a:latin typeface="微软雅黑" panose="020B0503020204020204" pitchFamily="34" charset="-122"/>
                    <a:ea typeface="微软雅黑" panose="020B0503020204020204" pitchFamily="34" charset="-122"/>
                    <a:cs typeface="华康俪金黑W8(P)"/>
                  </a:rPr>
                  <a:t>/etc/</a:t>
                </a:r>
                <a:r>
                  <a:rPr sz="1800" b="1" dirty="0" err="1">
                    <a:solidFill>
                      <a:srgbClr val="009900"/>
                    </a:solidFill>
                    <a:latin typeface="微软雅黑" panose="020B0503020204020204" pitchFamily="34" charset="-122"/>
                    <a:ea typeface="微软雅黑" panose="020B0503020204020204" pitchFamily="34" charset="-122"/>
                    <a:cs typeface="华康俪金黑W8(P)"/>
                  </a:rPr>
                  <a:t>sysconfig</a:t>
                </a:r>
                <a:r>
                  <a:rPr sz="1800" b="1" dirty="0">
                    <a:solidFill>
                      <a:srgbClr val="009900"/>
                    </a:solidFill>
                    <a:latin typeface="微软雅黑" panose="020B0503020204020204" pitchFamily="34" charset="-122"/>
                    <a:ea typeface="微软雅黑" panose="020B0503020204020204" pitchFamily="34" charset="-122"/>
                    <a:cs typeface="华康俪金黑W8(P)"/>
                  </a:rPr>
                  <a:t>/network-scripts/ifcfg-eth0（静态IP设置）内容如下：</a:t>
                </a:r>
              </a:p>
            </p:txBody>
          </p:sp>
        </p:grpSp>
        <p:sp>
          <p:nvSpPr>
            <p:cNvPr id="4" name="矩形 6"/>
            <p:cNvSpPr>
              <a:spLocks noChangeArrowheads="1"/>
            </p:cNvSpPr>
            <p:nvPr/>
          </p:nvSpPr>
          <p:spPr bwMode="auto">
            <a:xfrm>
              <a:off x="1151" y="7598"/>
              <a:ext cx="8717" cy="914"/>
            </a:xfrm>
            <a:prstGeom prst="rect">
              <a:avLst/>
            </a:prstGeom>
            <a:noFill/>
            <a:ln w="9525">
              <a:noFill/>
              <a:miter lim="800000"/>
            </a:ln>
          </p:spPr>
          <p:txBody>
            <a:bodyPr wrap="square">
              <a:spAutoFit/>
            </a:bodyPr>
            <a:lstStyle/>
            <a:p>
              <a:pPr>
                <a:lnSpc>
                  <a:spcPct val="120000"/>
                </a:lnSpc>
                <a:spcAft>
                  <a:spcPts val="500"/>
                </a:spcAft>
                <a:buFont typeface="Arial" panose="020B0604020202020204" pitchFamily="34" charset="0"/>
                <a:buNone/>
              </a:pPr>
              <a:r>
                <a:rPr sz="1800" b="1">
                  <a:solidFill>
                    <a:srgbClr val="009900"/>
                  </a:solidFill>
                  <a:latin typeface="微软雅黑" panose="020B0503020204020204" pitchFamily="34" charset="-122"/>
                  <a:ea typeface="微软雅黑" panose="020B0503020204020204" pitchFamily="34" charset="-122"/>
                  <a:cs typeface="华康俪金黑W8(P)"/>
                </a:rPr>
                <a:t>/etc/sysconfig/network-scripts/ifcfg-eth0配置文件（动态IP设置）内容如下：</a:t>
              </a:r>
            </a:p>
          </p:txBody>
        </p:sp>
        <p:sp>
          <p:nvSpPr>
            <p:cNvPr id="5" name="MH_Text_1"/>
            <p:cNvSpPr txBox="1">
              <a:spLocks noChangeArrowheads="1"/>
            </p:cNvSpPr>
            <p:nvPr>
              <p:custDataLst>
                <p:tags r:id="rId1"/>
              </p:custDataLst>
            </p:nvPr>
          </p:nvSpPr>
          <p:spPr bwMode="auto">
            <a:xfrm>
              <a:off x="1215" y="8574"/>
              <a:ext cx="9186" cy="1295"/>
            </a:xfrm>
            <a:prstGeom prst="rect">
              <a:avLst/>
            </a:prstGeom>
            <a:solidFill>
              <a:srgbClr val="F2F2F2"/>
            </a:solidFill>
            <a:ln w="9525">
              <a:noFill/>
              <a:miter lim="800000"/>
            </a:ln>
          </p:spPr>
          <p:txBody>
            <a:bodyPr/>
            <a:lstStyle/>
            <a:p>
              <a:pPr indent="0" algn="l" eaLnBrk="1" fontAlgn="auto" latinLnBrk="0" hangingPunct="1">
                <a:lnSpc>
                  <a:spcPct val="13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DEVICE=eth0</a:t>
              </a:r>
            </a:p>
            <a:p>
              <a:pPr indent="0" algn="l" eaLnBrk="1" fontAlgn="auto" latinLnBrk="0" hangingPunct="1">
                <a:lnSpc>
                  <a:spcPct val="13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ONBOOT=yes</a:t>
              </a:r>
            </a:p>
            <a:p>
              <a:pPr indent="0" algn="l" eaLnBrk="1" fontAlgn="auto" latinLnBrk="0" hangingPunct="1">
                <a:lnSpc>
                  <a:spcPct val="130000"/>
                </a:lnSpc>
                <a:buFont typeface="Arial" panose="020B0604020202020204" pitchFamily="34" charset="0"/>
                <a:buNone/>
                <a:defRPr/>
              </a:pPr>
              <a:r>
                <a:rPr lang="zh-CN" altLang="en-US" sz="1800" dirty="0">
                  <a:solidFill>
                    <a:srgbClr val="0070C0"/>
                  </a:solidFill>
                  <a:latin typeface="微软雅黑" panose="020B0503020204020204" pitchFamily="34" charset="-122"/>
                  <a:ea typeface="微软雅黑" panose="020B0503020204020204" pitchFamily="34" charset="-122"/>
                  <a:cs typeface="+mn-cs"/>
                  <a:sym typeface="+mn-ea"/>
                </a:rPr>
                <a:t>BOOTPROTO=dhcp</a:t>
              </a:r>
            </a:p>
          </p:txBody>
        </p:sp>
      </p:grpSp>
      <p:grpSp>
        <p:nvGrpSpPr>
          <p:cNvPr id="32" name="组合 31"/>
          <p:cNvGrpSpPr/>
          <p:nvPr/>
        </p:nvGrpSpPr>
        <p:grpSpPr>
          <a:xfrm>
            <a:off x="1010285" y="2434590"/>
            <a:ext cx="3495040" cy="3860271"/>
            <a:chOff x="993879" y="3031896"/>
            <a:chExt cx="3194505" cy="2924642"/>
          </a:xfrm>
        </p:grpSpPr>
        <p:sp>
          <p:nvSpPr>
            <p:cNvPr id="33" name="TextBox 2"/>
            <p:cNvSpPr txBox="1"/>
            <p:nvPr/>
          </p:nvSpPr>
          <p:spPr>
            <a:xfrm>
              <a:off x="993879" y="3301789"/>
              <a:ext cx="3194505" cy="2654749"/>
            </a:xfrm>
            <a:prstGeom prst="rect">
              <a:avLst/>
            </a:prstGeom>
            <a:noFill/>
            <a:ln w="28575">
              <a:solidFill>
                <a:srgbClr val="00A7E2"/>
              </a:solidFill>
            </a:ln>
          </p:spPr>
          <p:txBody>
            <a:bodyPr wrap="square">
              <a:spAutoFit/>
            </a:bodyPr>
            <a:lstStyle/>
            <a:p>
              <a:pPr>
                <a:lnSpc>
                  <a:spcPct val="130000"/>
                </a:lnSpc>
                <a:defRPr/>
              </a:pPr>
              <a:endParaRPr lang="en-US" altLang="zh-CN" sz="900" dirty="0">
                <a:solidFill>
                  <a:schemeClr val="bg1">
                    <a:lumMod val="50000"/>
                  </a:schemeClr>
                </a:solidFill>
                <a:latin typeface="微软雅黑" panose="020B0503020204020204" pitchFamily="34" charset="-122"/>
                <a:ea typeface="微软雅黑" panose="020B0503020204020204" pitchFamily="34" charset="-122"/>
              </a:endParaRPr>
            </a:p>
            <a:p>
              <a:pPr indent="457200" eaLnBrk="1" latinLnBrk="0" hangingPunct="1">
                <a:lnSpc>
                  <a:spcPct val="150000"/>
                </a:lnSpc>
              </a:pPr>
              <a:r>
                <a:rPr lang="en-US" altLang="zh-CN" sz="2000" dirty="0">
                  <a:solidFill>
                    <a:schemeClr val="tx1"/>
                  </a:solidFill>
                  <a:latin typeface="微软雅黑" panose="020B0503020204020204" pitchFamily="34" charset="-122"/>
                  <a:ea typeface="微软雅黑" panose="020B0503020204020204" pitchFamily="34" charset="-122"/>
                  <a:sym typeface="+mn-ea"/>
                </a:rPr>
                <a:t>网卡信息配置文件，包括网络接口设备、协议类型（静态、动态）、IP地址、子网掩码、网关、DNS服务器等。可以通过netconfig命令进行设置，也可直接编辑此配置文件进行更改。</a:t>
              </a:r>
            </a:p>
          </p:txBody>
        </p:sp>
        <p:sp>
          <p:nvSpPr>
            <p:cNvPr id="34" name="圆角矩形 33"/>
            <p:cNvSpPr/>
            <p:nvPr/>
          </p:nvSpPr>
          <p:spPr>
            <a:xfrm>
              <a:off x="1109378" y="3031896"/>
              <a:ext cx="1561268" cy="425767"/>
            </a:xfrm>
            <a:prstGeom prst="roundRect">
              <a:avLst/>
            </a:prstGeom>
            <a:solidFill>
              <a:schemeClr val="bg1"/>
            </a:solidFill>
            <a:ln>
              <a:solidFill>
                <a:srgbClr val="00A7E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sz="2000" b="1" dirty="0">
                  <a:solidFill>
                    <a:srgbClr val="0070C0"/>
                  </a:solidFill>
                  <a:latin typeface="微软雅黑" panose="020B0503020204020204" pitchFamily="34" charset="-122"/>
                  <a:ea typeface="微软雅黑" panose="020B0503020204020204" pitchFamily="34" charset="-122"/>
                </a:rPr>
                <a:t>文件功能：</a:t>
              </a:r>
            </a:p>
          </p:txBody>
        </p:sp>
      </p:grpSp>
      <p:grpSp>
        <p:nvGrpSpPr>
          <p:cNvPr id="22" name="文本2"/>
          <p:cNvGrpSpPr/>
          <p:nvPr/>
        </p:nvGrpSpPr>
        <p:grpSpPr>
          <a:xfrm>
            <a:off x="1349375" y="1111250"/>
            <a:ext cx="6563360" cy="597535"/>
            <a:chOff x="3529421" y="2014676"/>
            <a:chExt cx="1480376" cy="521890"/>
          </a:xfrm>
        </p:grpSpPr>
        <p:sp>
          <p:nvSpPr>
            <p:cNvPr id="9" name="任意多边形 8"/>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40924"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/etc/sysconfig/network-scripts/ifcfg-eth0</a:t>
              </a:r>
            </a:p>
          </p:txBody>
        </p:sp>
      </p:grpSp>
      <p:grpSp>
        <p:nvGrpSpPr>
          <p:cNvPr id="11" name="深色1"/>
          <p:cNvGrpSpPr/>
          <p:nvPr/>
        </p:nvGrpSpPr>
        <p:grpSpPr>
          <a:xfrm>
            <a:off x="480695" y="1172210"/>
            <a:ext cx="800735" cy="491490"/>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2" name="圆角矩形 11"/>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5</a:t>
              </a: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childTnLst>
                          </p:cTn>
                        </p:par>
                        <p:par>
                          <p:cTn id="14" fill="hold">
                            <p:stCondLst>
                              <p:cond delay="1500"/>
                            </p:stCondLst>
                            <p:childTnLst>
                              <p:par>
                                <p:cTn id="15" presetID="37" presetClass="entr" presetSubtype="0" fill="hold" nodeType="after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1000"/>
                                        <p:tgtEl>
                                          <p:spTgt spid="32"/>
                                        </p:tgtEl>
                                      </p:cBhvr>
                                    </p:animEffect>
                                    <p:anim calcmode="lin" valueType="num">
                                      <p:cBhvr>
                                        <p:cTn id="18" dur="1000" fill="hold"/>
                                        <p:tgtEl>
                                          <p:spTgt spid="32"/>
                                        </p:tgtEl>
                                        <p:attrNameLst>
                                          <p:attrName>ppt_x</p:attrName>
                                        </p:attrNameLst>
                                      </p:cBhvr>
                                      <p:tavLst>
                                        <p:tav tm="0">
                                          <p:val>
                                            <p:strVal val="#ppt_x"/>
                                          </p:val>
                                        </p:tav>
                                        <p:tav tm="100000">
                                          <p:val>
                                            <p:strVal val="#ppt_x"/>
                                          </p:val>
                                        </p:tav>
                                      </p:tavLst>
                                    </p:anim>
                                    <p:anim calcmode="lin" valueType="num">
                                      <p:cBhvr>
                                        <p:cTn id="19" dur="900" decel="100000" fill="hold"/>
                                        <p:tgtEl>
                                          <p:spTgt spid="32"/>
                                        </p:tgtEl>
                                        <p:attrNameLst>
                                          <p:attrName>ppt_y</p:attrName>
                                        </p:attrNameLst>
                                      </p:cBhvr>
                                      <p:tavLst>
                                        <p:tav tm="0">
                                          <p:val>
                                            <p:strVal val="#ppt_y+1"/>
                                          </p:val>
                                        </p:tav>
                                        <p:tav tm="100000">
                                          <p:val>
                                            <p:strVal val="#ppt_y-.03"/>
                                          </p:val>
                                        </p:tav>
                                      </p:tavLst>
                                    </p:anim>
                                    <p:anim calcmode="lin" valueType="num">
                                      <p:cBhvr>
                                        <p:cTn id="20"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par>
                          <p:cTn id="21" fill="hold">
                            <p:stCondLst>
                              <p:cond delay="2500"/>
                            </p:stCondLst>
                            <p:childTnLst>
                              <p:par>
                                <p:cTn id="22" presetID="18" presetClass="entr" presetSubtype="6" fill="hold" nodeType="after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strips(downRight)">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p:nvPr/>
        </p:nvGrpSpPr>
        <p:grpSpPr>
          <a:xfrm>
            <a:off x="641985" y="1972945"/>
            <a:ext cx="8830945" cy="4385945"/>
            <a:chOff x="2078" y="4727"/>
            <a:chExt cx="13907" cy="5305"/>
          </a:xfrm>
        </p:grpSpPr>
        <p:sp>
          <p:nvSpPr>
            <p:cNvPr id="25" name="矩形 24"/>
            <p:cNvSpPr/>
            <p:nvPr/>
          </p:nvSpPr>
          <p:spPr>
            <a:xfrm>
              <a:off x="2078" y="4727"/>
              <a:ext cx="13907" cy="5305"/>
            </a:xfrm>
            <a:prstGeom prst="rect">
              <a:avLst/>
            </a:prstGeom>
            <a:solidFill>
              <a:schemeClr val="bg1"/>
            </a:solidFill>
            <a:ln w="38100">
              <a:solidFill>
                <a:schemeClr val="tx2">
                  <a:lumMod val="40000"/>
                  <a:lumOff val="6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lnSpc>
                  <a:spcPct val="160000"/>
                </a:lnSpc>
                <a:buFont typeface="Arial" panose="020B0604020202020204" pitchFamily="34" charset="0"/>
                <a:buNone/>
                <a:defRPr/>
              </a:pPr>
              <a:endParaRPr lang="zh-CN" altLang="en-US" noProof="1"/>
            </a:p>
          </p:txBody>
        </p:sp>
        <p:sp>
          <p:nvSpPr>
            <p:cNvPr id="4" name="矩形 6"/>
            <p:cNvSpPr>
              <a:spLocks noChangeArrowheads="1"/>
            </p:cNvSpPr>
            <p:nvPr/>
          </p:nvSpPr>
          <p:spPr bwMode="auto">
            <a:xfrm>
              <a:off x="2098" y="4727"/>
              <a:ext cx="13887" cy="641"/>
            </a:xfrm>
            <a:prstGeom prst="rect">
              <a:avLst/>
            </a:prstGeom>
            <a:noFill/>
            <a:ln w="9525">
              <a:noFill/>
              <a:miter lim="800000"/>
            </a:ln>
          </p:spPr>
          <p:txBody>
            <a:bodyPr wrap="square">
              <a:spAutoFit/>
            </a:bodyPr>
            <a:lstStyle/>
            <a:p>
              <a:pPr>
                <a:lnSpc>
                  <a:spcPct val="160000"/>
                </a:lnSpc>
                <a:spcAft>
                  <a:spcPts val="500"/>
                </a:spcAft>
                <a:buFont typeface="Arial" panose="020B0604020202020204" pitchFamily="34" charset="0"/>
                <a:buNone/>
              </a:pPr>
              <a:r>
                <a:rPr sz="1800" b="1">
                  <a:solidFill>
                    <a:schemeClr val="tx1">
                      <a:lumMod val="75000"/>
                      <a:lumOff val="25000"/>
                    </a:schemeClr>
                  </a:solidFill>
                  <a:latin typeface="微软雅黑" panose="020B0503020204020204" pitchFamily="34" charset="-122"/>
                  <a:ea typeface="微软雅黑" panose="020B0503020204020204" pitchFamily="34" charset="-122"/>
                  <a:cs typeface="华康俪金黑W8(P)"/>
                </a:rPr>
                <a:t>以上相关语句解释如下：</a:t>
              </a:r>
            </a:p>
          </p:txBody>
        </p:sp>
        <p:sp>
          <p:nvSpPr>
            <p:cNvPr id="5" name="MH_Text_1"/>
            <p:cNvSpPr txBox="1">
              <a:spLocks noChangeArrowheads="1"/>
            </p:cNvSpPr>
            <p:nvPr>
              <p:custDataLst>
                <p:tags r:id="rId1"/>
              </p:custDataLst>
            </p:nvPr>
          </p:nvSpPr>
          <p:spPr bwMode="auto">
            <a:xfrm>
              <a:off x="2178" y="5368"/>
              <a:ext cx="13574" cy="4522"/>
            </a:xfrm>
            <a:prstGeom prst="rect">
              <a:avLst/>
            </a:prstGeom>
            <a:solidFill>
              <a:srgbClr val="F2F2F2"/>
            </a:solidFill>
            <a:ln w="9525">
              <a:noFill/>
              <a:miter lim="800000"/>
            </a:ln>
          </p:spPr>
          <p:txBody>
            <a:bodyPr/>
            <a:lstStyle/>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DEVICE=eth0：设置网络接口设备为eth0。若为第二块网卡设置成eth1、第三块网卡设置成eth2、设备子接口设置成DEVICE=eth0:1等。</a:t>
              </a:r>
            </a:p>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ONBOOT：系统开机时是否加载本网卡信息。</a:t>
              </a:r>
            </a:p>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BOOTPROTO：引导协议类型。其中static表示采用静态IP地址；dhcp表示采用动态IP地址。由dhcp服务器进行动态IP地址分配。</a:t>
              </a:r>
            </a:p>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IPADDR：设置网卡的IP地址。</a:t>
              </a:r>
            </a:p>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NETMASK：设置IP地址的子网掩码。</a:t>
              </a:r>
            </a:p>
            <a:p>
              <a:pPr indent="0" algn="l" eaLnBrk="1" fontAlgn="auto" latinLnBrk="0" hangingPunct="1">
                <a:lnSpc>
                  <a:spcPct val="160000"/>
                </a:lnSpc>
                <a:buFont typeface="Arial" panose="020B0604020202020204" pitchFamily="34" charset="0"/>
                <a:buNone/>
                <a:defRPr/>
              </a:pPr>
              <a:r>
                <a:rPr lang="zh-CN" altLang="en-US" sz="1800" dirty="0">
                  <a:solidFill>
                    <a:schemeClr val="tx1">
                      <a:lumMod val="75000"/>
                      <a:lumOff val="25000"/>
                    </a:schemeClr>
                  </a:solidFill>
                  <a:latin typeface="微软雅黑" panose="020B0503020204020204" pitchFamily="34" charset="-122"/>
                  <a:ea typeface="微软雅黑" panose="020B0503020204020204" pitchFamily="34" charset="-122"/>
                  <a:cs typeface="+mn-cs"/>
                  <a:sym typeface="+mn-ea"/>
                </a:rPr>
                <a:t>GATEWAY：设置网关IP地址。</a:t>
              </a:r>
            </a:p>
          </p:txBody>
        </p:sp>
      </p:grpSp>
      <p:grpSp>
        <p:nvGrpSpPr>
          <p:cNvPr id="22" name="文本2"/>
          <p:cNvGrpSpPr/>
          <p:nvPr/>
        </p:nvGrpSpPr>
        <p:grpSpPr>
          <a:xfrm>
            <a:off x="1336675" y="1111250"/>
            <a:ext cx="6563360" cy="597535"/>
            <a:chOff x="3529421" y="2014676"/>
            <a:chExt cx="1480376" cy="521890"/>
          </a:xfrm>
        </p:grpSpPr>
        <p:sp>
          <p:nvSpPr>
            <p:cNvPr id="9" name="任意多边形 8"/>
            <p:cNvSpPr/>
            <p:nvPr/>
          </p:nvSpPr>
          <p:spPr>
            <a:xfrm>
              <a:off x="3529421" y="2014676"/>
              <a:ext cx="1480376" cy="521890"/>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a:gsLst>
                <a:gs pos="100000">
                  <a:srgbClr val="FFFFFF"/>
                </a:gs>
                <a:gs pos="51657">
                  <a:srgbClr val="F0F0F0"/>
                </a:gs>
                <a:gs pos="0">
                  <a:srgbClr val="FFFFFF"/>
                </a:gs>
              </a:gsLst>
              <a:lin ang="5400000" scaled="1"/>
            </a:gradFill>
            <a:ln w="9525">
              <a:solidFill>
                <a:srgbClr val="DDDDDD"/>
              </a:solidFill>
              <a:round/>
            </a:ln>
            <a:effectLst>
              <a:outerShdw blurRad="63500" sx="101000" sy="101000" algn="ctr" rotWithShape="0">
                <a:prstClr val="black">
                  <a:alpha val="8000"/>
                </a:prstClr>
              </a:outerShdw>
            </a:effectLst>
          </p:spPr>
          <p:txBody>
            <a:bodyPr wrap="none" anchor="ctr"/>
            <a:lstStyle/>
            <a:p>
              <a:endParaRPr lang="zh-CN" altLang="en-US" sz="1600" kern="0">
                <a:solidFill>
                  <a:schemeClr val="tx1">
                    <a:lumMod val="65000"/>
                    <a:lumOff val="35000"/>
                  </a:schemeClr>
                </a:solidFill>
                <a:ea typeface="微软雅黑" panose="020B0503020204020204" pitchFamily="34" charset="-122"/>
              </a:endParaRPr>
            </a:p>
          </p:txBody>
        </p:sp>
        <p:sp>
          <p:nvSpPr>
            <p:cNvPr id="29" name="任意多边形 28"/>
            <p:cNvSpPr/>
            <p:nvPr/>
          </p:nvSpPr>
          <p:spPr>
            <a:xfrm>
              <a:off x="3544361" y="2024104"/>
              <a:ext cx="1454697" cy="496378"/>
            </a:xfrm>
            <a:custGeom>
              <a:avLst/>
              <a:gdLst>
                <a:gd name="connsiteX0" fmla="*/ 0 w 2578139"/>
                <a:gd name="connsiteY0" fmla="*/ 86999 h 521890"/>
                <a:gd name="connsiteX1" fmla="*/ 86999 w 2578139"/>
                <a:gd name="connsiteY1" fmla="*/ 0 h 521890"/>
                <a:gd name="connsiteX2" fmla="*/ 2491140 w 2578139"/>
                <a:gd name="connsiteY2" fmla="*/ 0 h 521890"/>
                <a:gd name="connsiteX3" fmla="*/ 2578139 w 2578139"/>
                <a:gd name="connsiteY3" fmla="*/ 86999 h 521890"/>
                <a:gd name="connsiteX4" fmla="*/ 2578139 w 2578139"/>
                <a:gd name="connsiteY4" fmla="*/ 434891 h 521890"/>
                <a:gd name="connsiteX5" fmla="*/ 2491140 w 2578139"/>
                <a:gd name="connsiteY5" fmla="*/ 521890 h 521890"/>
                <a:gd name="connsiteX6" fmla="*/ 86999 w 2578139"/>
                <a:gd name="connsiteY6" fmla="*/ 521890 h 521890"/>
                <a:gd name="connsiteX7" fmla="*/ 0 w 2578139"/>
                <a:gd name="connsiteY7" fmla="*/ 434891 h 521890"/>
                <a:gd name="connsiteX8" fmla="*/ 0 w 2578139"/>
                <a:gd name="connsiteY8" fmla="*/ 86999 h 521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8139" h="521890">
                  <a:moveTo>
                    <a:pt x="0" y="86999"/>
                  </a:moveTo>
                  <a:cubicBezTo>
                    <a:pt x="0" y="38951"/>
                    <a:pt x="38951" y="0"/>
                    <a:pt x="86999" y="0"/>
                  </a:cubicBezTo>
                  <a:lnTo>
                    <a:pt x="2491140" y="0"/>
                  </a:lnTo>
                  <a:cubicBezTo>
                    <a:pt x="2539188" y="0"/>
                    <a:pt x="2578139" y="38951"/>
                    <a:pt x="2578139" y="86999"/>
                  </a:cubicBezTo>
                  <a:lnTo>
                    <a:pt x="2578139" y="434891"/>
                  </a:lnTo>
                  <a:cubicBezTo>
                    <a:pt x="2578139" y="482939"/>
                    <a:pt x="2539188" y="521890"/>
                    <a:pt x="2491140" y="521890"/>
                  </a:cubicBezTo>
                  <a:lnTo>
                    <a:pt x="86999" y="521890"/>
                  </a:lnTo>
                  <a:cubicBezTo>
                    <a:pt x="38951" y="521890"/>
                    <a:pt x="0" y="482939"/>
                    <a:pt x="0" y="434891"/>
                  </a:cubicBezTo>
                  <a:lnTo>
                    <a:pt x="0" y="86999"/>
                  </a:lnTo>
                  <a:close/>
                </a:path>
              </a:pathLst>
            </a:custGeom>
            <a:gradFill rotWithShape="1">
              <a:gsLst>
                <a:gs pos="98000">
                  <a:srgbClr val="F9F9F9"/>
                </a:gs>
                <a:gs pos="100000">
                  <a:srgbClr val="FFFFFF"/>
                </a:gs>
                <a:gs pos="51657">
                  <a:srgbClr val="E8E8E8"/>
                </a:gs>
                <a:gs pos="50000">
                  <a:srgbClr val="ECECEC"/>
                </a:gs>
                <a:gs pos="8000">
                  <a:srgbClr val="F8F8F8"/>
                </a:gs>
              </a:gsLst>
              <a:lin ang="5400000" scaled="1"/>
            </a:gradFill>
            <a:ln w="9525">
              <a:noFill/>
              <a:round/>
            </a:ln>
          </p:spPr>
          <p:txBody>
            <a:bodyPr wrap="none" anchor="ctr"/>
            <a:lstStyle/>
            <a:p>
              <a:pPr lvl="0" algn="l">
                <a:lnSpc>
                  <a:spcPct val="100000"/>
                </a:lnSpc>
                <a:defRPr/>
              </a:pPr>
              <a:r>
                <a:rPr lang="zh-CN" altLang="en-US" sz="2800" b="1" kern="0" dirty="0">
                  <a:solidFill>
                    <a:srgbClr val="0070C0"/>
                  </a:solidFill>
                  <a:latin typeface="Times New Roman" panose="02020603050405020304" pitchFamily="18" charset="0"/>
                  <a:ea typeface="微软雅黑" panose="020B0503020204020204" pitchFamily="34" charset="-122"/>
                </a:rPr>
                <a:t>/etc/sysconfig/network-scripts/ifcfg-eth0</a:t>
              </a:r>
            </a:p>
          </p:txBody>
        </p:sp>
      </p:grpSp>
      <p:grpSp>
        <p:nvGrpSpPr>
          <p:cNvPr id="11" name="深色1"/>
          <p:cNvGrpSpPr/>
          <p:nvPr/>
        </p:nvGrpSpPr>
        <p:grpSpPr>
          <a:xfrm>
            <a:off x="480695" y="1172210"/>
            <a:ext cx="800735" cy="491490"/>
            <a:chOff x="2976217" y="2014676"/>
            <a:chExt cx="521890" cy="521890"/>
          </a:xfrm>
        </p:grpSpPr>
        <p:sp>
          <p:nvSpPr>
            <p:cNvPr id="31" name="圆角矩形 30"/>
            <p:cNvSpPr/>
            <p:nvPr/>
          </p:nvSpPr>
          <p:spPr>
            <a:xfrm>
              <a:off x="2976217" y="2014676"/>
              <a:ext cx="521890" cy="521890"/>
            </a:xfrm>
            <a:prstGeom prst="roundRect">
              <a:avLst>
                <a:gd name="adj" fmla="val 16670"/>
              </a:avLst>
            </a:prstGeom>
            <a:gradFill>
              <a:gsLst>
                <a:gs pos="100000">
                  <a:srgbClr val="2676FF">
                    <a:lumMod val="20000"/>
                    <a:lumOff val="80000"/>
                  </a:srgbClr>
                </a:gs>
                <a:gs pos="51657">
                  <a:srgbClr val="2676FF">
                    <a:lumMod val="60000"/>
                    <a:lumOff val="40000"/>
                  </a:srgbClr>
                </a:gs>
                <a:gs pos="0">
                  <a:srgbClr val="2676FF">
                    <a:lumMod val="20000"/>
                    <a:lumOff val="80000"/>
                  </a:srgbClr>
                </a:gs>
              </a:gsLst>
              <a:lin ang="5400000" scaled="1"/>
            </a:gradFill>
            <a:ln w="9525">
              <a:solidFill>
                <a:srgbClr val="2676FF">
                  <a:lumMod val="60000"/>
                  <a:lumOff val="40000"/>
                </a:srgbClr>
              </a:solidFill>
              <a:round/>
            </a:ln>
            <a:effectLst>
              <a:outerShdw blurRad="63500" sx="101000" sy="101000" algn="ctr" rotWithShape="0">
                <a:prstClr val="black">
                  <a:alpha val="18000"/>
                </a:prstClr>
              </a:outerShdw>
            </a:effectLst>
          </p:spPr>
        </p:sp>
        <p:sp>
          <p:nvSpPr>
            <p:cNvPr id="12" name="圆角矩形 11"/>
            <p:cNvSpPr/>
            <p:nvPr/>
          </p:nvSpPr>
          <p:spPr>
            <a:xfrm>
              <a:off x="3001617" y="2027376"/>
              <a:ext cx="471090" cy="496490"/>
            </a:xfrm>
            <a:prstGeom prst="roundRect">
              <a:avLst>
                <a:gd name="adj" fmla="val 16670"/>
              </a:avLst>
            </a:prstGeom>
            <a:gradFill rotWithShape="1">
              <a:gsLst>
                <a:gs pos="98000">
                  <a:srgbClr val="2676FF">
                    <a:lumMod val="60000"/>
                    <a:lumOff val="40000"/>
                  </a:srgbClr>
                </a:gs>
                <a:gs pos="100000">
                  <a:srgbClr val="2676FF">
                    <a:lumMod val="40000"/>
                    <a:lumOff val="60000"/>
                  </a:srgbClr>
                </a:gs>
                <a:gs pos="51657">
                  <a:srgbClr val="2676FF"/>
                </a:gs>
                <a:gs pos="50000">
                  <a:srgbClr val="2676FF">
                    <a:alpha val="70000"/>
                  </a:srgbClr>
                </a:gs>
                <a:gs pos="8000">
                  <a:srgbClr val="2676FF">
                    <a:lumMod val="60000"/>
                    <a:lumOff val="40000"/>
                  </a:srgbClr>
                </a:gs>
              </a:gsLst>
              <a:lin ang="5400000" scaled="1"/>
            </a:gradFill>
            <a:ln w="9525">
              <a:noFill/>
              <a:round/>
            </a:ln>
          </p:spPr>
          <p:txBody>
            <a:bodyPr anchor="ctr"/>
            <a:lstStyle/>
            <a:p>
              <a:pPr algn="ctr">
                <a:defRPr/>
              </a:pPr>
              <a:r>
                <a:rPr lang="en-US" sz="3600" kern="0" dirty="0">
                  <a:solidFill>
                    <a:srgbClr val="FFFFFF"/>
                  </a:solidFill>
                  <a:latin typeface="Impact" panose="020B0806030902050204" pitchFamily="34" charset="0"/>
                  <a:ea typeface="微软雅黑" panose="020B0503020204020204" pitchFamily="34" charset="-122"/>
                  <a:cs typeface="Arial" panose="020B0604020202020204" pitchFamily="34" charset="0"/>
                </a:rPr>
                <a:t>5</a:t>
              </a:r>
            </a:p>
          </p:txBody>
        </p:sp>
      </p:grpSp>
      <p:pic>
        <p:nvPicPr>
          <p:cNvPr id="2" name="图片 1" descr="图片1_看图王1"/>
          <p:cNvPicPr>
            <a:picLocks noChangeAspect="1"/>
          </p:cNvPicPr>
          <p:nvPr/>
        </p:nvPicPr>
        <p:blipFill>
          <a:blip r:embed="rId4" cstate="print"/>
          <a:stretch>
            <a:fillRect/>
          </a:stretch>
        </p:blipFill>
        <p:spPr>
          <a:xfrm>
            <a:off x="8816340" y="2896235"/>
            <a:ext cx="3401060" cy="397256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22" presetClass="entr" presetSubtype="8" fill="hold" nodeType="after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wipe(left)">
                                      <p:cBhvr>
                                        <p:cTn id="13" dur="500"/>
                                        <p:tgtEl>
                                          <p:spTgt spid="22"/>
                                        </p:tgtEl>
                                      </p:cBhvr>
                                    </p:animEffect>
                                  </p:childTnLst>
                                </p:cTn>
                              </p:par>
                              <p:par>
                                <p:cTn id="14" presetID="22" presetClass="entr" presetSubtype="4" fill="hold" nodeType="with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down)">
                                      <p:cBhvr>
                                        <p:cTn id="16" dur="500"/>
                                        <p:tgtEl>
                                          <p:spTgt spid="2"/>
                                        </p:tgtEl>
                                      </p:cBhvr>
                                    </p:animEffect>
                                  </p:childTnLst>
                                </p:cTn>
                              </p:par>
                            </p:childTnLst>
                          </p:cTn>
                        </p:par>
                        <p:par>
                          <p:cTn id="17" fill="hold">
                            <p:stCondLst>
                              <p:cond delay="1500"/>
                            </p:stCondLst>
                            <p:childTnLst>
                              <p:par>
                                <p:cTn id="18" presetID="18" presetClass="entr" presetSubtype="6" fill="hold" nodeType="after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strips(downRight)">
                                      <p:cBhvr>
                                        <p:cTn id="2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082" name="图片 2"/>
          <p:cNvPicPr>
            <a:picLocks noChangeAspect="1" noChangeArrowheads="1"/>
          </p:cNvPicPr>
          <p:nvPr/>
        </p:nvPicPr>
        <p:blipFill>
          <a:blip r:embed="rId3" cstate="print"/>
          <a:srcRect/>
          <a:stretch>
            <a:fillRect/>
          </a:stretch>
        </p:blipFill>
        <p:spPr bwMode="auto">
          <a:xfrm>
            <a:off x="-163513" y="-25400"/>
            <a:ext cx="12584113" cy="5757863"/>
          </a:xfrm>
          <a:prstGeom prst="rect">
            <a:avLst/>
          </a:prstGeom>
          <a:noFill/>
          <a:ln w="9525">
            <a:noFill/>
            <a:miter lim="800000"/>
            <a:headEnd/>
            <a:tailEnd/>
          </a:ln>
        </p:spPr>
      </p:pic>
      <p:sp>
        <p:nvSpPr>
          <p:cNvPr id="4" name="矩形 3"/>
          <p:cNvSpPr/>
          <p:nvPr/>
        </p:nvSpPr>
        <p:spPr>
          <a:xfrm>
            <a:off x="-161925" y="-25400"/>
            <a:ext cx="12582525" cy="7369175"/>
          </a:xfrm>
          <a:prstGeom prst="rect">
            <a:avLst/>
          </a:prstGeom>
          <a:solidFill>
            <a:srgbClr val="000E2A">
              <a:alpha val="6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9" name="任意多边形 8"/>
          <p:cNvSpPr/>
          <p:nvPr/>
        </p:nvSpPr>
        <p:spPr>
          <a:xfrm>
            <a:off x="-161925" y="4921250"/>
            <a:ext cx="12580938" cy="2422525"/>
          </a:xfrm>
          <a:custGeom>
            <a:avLst/>
            <a:gdLst>
              <a:gd name="connsiteX0" fmla="*/ 0 w 12192000"/>
              <a:gd name="connsiteY0" fmla="*/ 0 h 2070437"/>
              <a:gd name="connsiteX1" fmla="*/ 5436625 w 12192000"/>
              <a:gd name="connsiteY1" fmla="*/ 0 h 2070437"/>
              <a:gd name="connsiteX2" fmla="*/ 5525440 w 12192000"/>
              <a:gd name="connsiteY2" fmla="*/ 7837 h 2070437"/>
              <a:gd name="connsiteX3" fmla="*/ 6091201 w 12192000"/>
              <a:gd name="connsiteY3" fmla="*/ 559628 h 2070437"/>
              <a:gd name="connsiteX4" fmla="*/ 6096239 w 12192000"/>
              <a:gd name="connsiteY4" fmla="*/ 609600 h 2070437"/>
              <a:gd name="connsiteX5" fmla="*/ 6114805 w 12192000"/>
              <a:gd name="connsiteY5" fmla="*/ 609600 h 2070437"/>
              <a:gd name="connsiteX6" fmla="*/ 6119842 w 12192000"/>
              <a:gd name="connsiteY6" fmla="*/ 559628 h 2070437"/>
              <a:gd name="connsiteX7" fmla="*/ 6685604 w 12192000"/>
              <a:gd name="connsiteY7" fmla="*/ 7837 h 2070437"/>
              <a:gd name="connsiteX8" fmla="*/ 6774419 w 12192000"/>
              <a:gd name="connsiteY8" fmla="*/ 0 h 2070437"/>
              <a:gd name="connsiteX9" fmla="*/ 12192000 w 12192000"/>
              <a:gd name="connsiteY9" fmla="*/ 0 h 2070437"/>
              <a:gd name="connsiteX10" fmla="*/ 12192000 w 12192000"/>
              <a:gd name="connsiteY10" fmla="*/ 2070437 h 2070437"/>
              <a:gd name="connsiteX11" fmla="*/ 0 w 12192000"/>
              <a:gd name="connsiteY11" fmla="*/ 2070437 h 2070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2070437">
                <a:moveTo>
                  <a:pt x="0" y="0"/>
                </a:moveTo>
                <a:lnTo>
                  <a:pt x="5436625" y="0"/>
                </a:lnTo>
                <a:lnTo>
                  <a:pt x="5525440" y="7837"/>
                </a:lnTo>
                <a:cubicBezTo>
                  <a:pt x="5808922" y="58474"/>
                  <a:pt x="6033693" y="278587"/>
                  <a:pt x="6091201" y="559628"/>
                </a:cubicBezTo>
                <a:lnTo>
                  <a:pt x="6096239" y="609600"/>
                </a:lnTo>
                <a:lnTo>
                  <a:pt x="6114805" y="609600"/>
                </a:lnTo>
                <a:lnTo>
                  <a:pt x="6119842" y="559628"/>
                </a:lnTo>
                <a:cubicBezTo>
                  <a:pt x="6177351" y="278587"/>
                  <a:pt x="6402121" y="58474"/>
                  <a:pt x="6685604" y="7837"/>
                </a:cubicBezTo>
                <a:lnTo>
                  <a:pt x="6774419" y="0"/>
                </a:lnTo>
                <a:lnTo>
                  <a:pt x="12192000" y="0"/>
                </a:lnTo>
                <a:lnTo>
                  <a:pt x="12192000" y="2070437"/>
                </a:lnTo>
                <a:lnTo>
                  <a:pt x="0" y="2070437"/>
                </a:ln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 name="文本框 1"/>
          <p:cNvSpPr txBox="1"/>
          <p:nvPr/>
        </p:nvSpPr>
        <p:spPr>
          <a:xfrm>
            <a:off x="2994659" y="2668270"/>
            <a:ext cx="6263641" cy="1569660"/>
          </a:xfrm>
          <a:prstGeom prst="rect">
            <a:avLst/>
          </a:prstGeom>
          <a:noFill/>
        </p:spPr>
        <p:txBody>
          <a:bodyPr wrap="square" rtlCol="0">
            <a:spAutoFit/>
          </a:bodyPr>
          <a:lstStyle/>
          <a:p>
            <a:r>
              <a:rPr lang="zh-CN" altLang="en-US" sz="9600" b="1" dirty="0">
                <a:ln w="10160">
                  <a:solidFill>
                    <a:schemeClr val="accent5"/>
                  </a:solidFill>
                  <a:prstDash val="solid"/>
                </a:ln>
                <a:solidFill>
                  <a:srgbClr val="FFFFFF"/>
                </a:solidFill>
                <a:effectLst>
                  <a:outerShdw blurRad="38100" dist="22860" dir="5400000" algn="tl" rotWithShape="0">
                    <a:srgbClr val="000000">
                      <a:alpha val="30000"/>
                    </a:srgbClr>
                  </a:outerShdw>
                </a:effectLst>
                <a:latin typeface="微软雅黑" panose="020B0503020204020204" charset="-122"/>
                <a:ea typeface="微软雅黑" panose="020B0503020204020204" charset="-122"/>
              </a:rPr>
              <a:t>谢 谢 观 看</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tags/tag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19.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20.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21.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22.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23.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3"/>
</p:tagLst>
</file>

<file path=ppt/tags/tag24.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3"/>
</p:tagLst>
</file>

<file path=ppt/tags/tag25.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2"/>
</p:tagLst>
</file>

<file path=ppt/tags/tag26.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2"/>
</p:tagLst>
</file>

<file path=ppt/tags/tag27.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1"/>
</p:tagLst>
</file>

<file path=ppt/tags/tag28.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1"/>
</p:tagLst>
</file>

<file path=ppt/tags/tag2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34.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35.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36.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37.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38.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39.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40.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4"/>
</p:tagLst>
</file>

<file path=ppt/tags/tag41.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4"/>
</p:tagLst>
</file>

<file path=ppt/tags/tag42.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3"/>
</p:tagLst>
</file>

<file path=ppt/tags/tag43.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3"/>
</p:tagLst>
</file>

<file path=ppt/tags/tag44.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2"/>
</p:tagLst>
</file>

<file path=ppt/tags/tag45.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2"/>
</p:tagLst>
</file>

<file path=ppt/tags/tag46.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SubTitle"/>
  <p:tag name="MH_ORDER" val="1"/>
</p:tagLst>
</file>

<file path=ppt/tags/tag47.xml><?xml version="1.0" encoding="utf-8"?>
<p:tagLst xmlns:a="http://schemas.openxmlformats.org/drawingml/2006/main" xmlns:r="http://schemas.openxmlformats.org/officeDocument/2006/relationships" xmlns:p="http://schemas.openxmlformats.org/presentationml/2006/main">
  <p:tag name="MH" val="20150911172801"/>
  <p:tag name="MH_LIBRARY" val="GRAPHIC"/>
  <p:tag name="MH_TYPE" val="Other"/>
  <p:tag name="MH_ORDER" val="1"/>
</p:tagLst>
</file>

<file path=ppt/tags/tag4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4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59.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0.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1.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2.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3.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4.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5.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6.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7.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ags/tag68.xml><?xml version="1.0" encoding="utf-8"?>
<p:tagLst xmlns:a="http://schemas.openxmlformats.org/drawingml/2006/main" xmlns:r="http://schemas.openxmlformats.org/officeDocument/2006/relationships" xmlns:p="http://schemas.openxmlformats.org/presentationml/2006/main">
  <p:tag name="MH" val="20150911105434"/>
  <p:tag name="MH_LIBRARY" val="GRAPHIC"/>
  <p:tag name="MH_TYPE" val="Text"/>
  <p:tag name="MH_ORDER" val="1"/>
</p:tagLst>
</file>

<file path=ppt/theme/theme1.xml><?xml version="1.0" encoding="utf-8"?>
<a:theme xmlns:a="http://schemas.openxmlformats.org/drawingml/2006/main" name="1_SAP_PartnerEdge2009_1[1].0">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PartnerEdge2008_1.0">
      <a:majorFont>
        <a:latin typeface="Arial Black"/>
        <a:ea typeface="Arial Unicode MS"/>
        <a:cs typeface="Arial Unicode MS"/>
      </a:majorFont>
      <a:minorFont>
        <a:latin typeface="Arial"/>
        <a:ea typeface="Arial Unicode MS"/>
        <a:cs typeface="Arial Unicode M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bg2"/>
        </a:solidFill>
        <a:ln w="9525" cap="flat" cmpd="sng" algn="ctr">
          <a:solidFill>
            <a:schemeClr val="accent2"/>
          </a:solidFill>
          <a:prstDash val="solid"/>
          <a:round/>
          <a:headEnd type="none" w="med" len="med"/>
          <a:tailEnd type="none" w="med" len="med"/>
        </a:ln>
      </a:spPr>
      <a:bodyPr vert="horz" wrap="none" lIns="90000" tIns="46800" rIns="90000" bIns="46800" numCol="1" anchor="ctr" anchorCtr="0" compatLnSpc="1"/>
      <a:lstStyle>
        <a:defPPr marL="0" marR="0" indent="0" algn="ctr" defTabSz="914400" rtl="0" eaLnBrk="1" fontAlgn="base" latinLnBrk="0" hangingPunct="1">
          <a:lnSpc>
            <a:spcPct val="100000"/>
          </a:lnSpc>
          <a:spcBef>
            <a:spcPct val="0"/>
          </a:spcBef>
          <a:spcAft>
            <a:spcPct val="0"/>
          </a:spcAft>
          <a:buClr>
            <a:schemeClr val="accent1"/>
          </a:buClr>
          <a:buSzPct val="80000"/>
          <a:buFont typeface="Wingdings" panose="05000000000000000000" pitchFamily="2" charset="2"/>
          <a:buNone/>
          <a:defRPr kumimoji="0" lang="de-DE" sz="1600" b="0" i="0" u="none" strike="noStrike" cap="none" normalizeH="0" baseline="0" smtClean="0">
            <a:ln>
              <a:noFill/>
            </a:ln>
            <a:solidFill>
              <a:schemeClr val="tx1"/>
            </a:solidFill>
            <a:effectLst/>
            <a:latin typeface="Arial" panose="020B0604020202020204" pitchFamily="34" charset="0"/>
            <a:ea typeface="Arial Unicode MS" panose="020B0604020202020204" pitchFamily="34" charset="-128"/>
            <a:cs typeface="Arial Unicode MS" panose="020B0604020202020204" pitchFamily="34" charset="-128"/>
          </a:defRPr>
        </a:defPPr>
      </a:lstStyle>
    </a:lnDef>
  </a:objectDefaults>
  <a:extraClrSchemeLst>
    <a:extraClrScheme>
      <a:clrScheme name="PartnerEdge2008_1.0 1">
        <a:dk1>
          <a:srgbClr val="000000"/>
        </a:dk1>
        <a:lt1>
          <a:srgbClr val="FFFFFF"/>
        </a:lt1>
        <a:dk2>
          <a:srgbClr val="44697D"/>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2">
        <a:dk1>
          <a:srgbClr val="000000"/>
        </a:dk1>
        <a:lt1>
          <a:srgbClr val="FFFFFF"/>
        </a:lt1>
        <a:dk2>
          <a:srgbClr val="6996BE"/>
        </a:dk2>
        <a:lt2>
          <a:srgbClr val="CCCCCC"/>
        </a:lt2>
        <a:accent1>
          <a:srgbClr val="F0AB00"/>
        </a:accent1>
        <a:accent2>
          <a:srgbClr val="666666"/>
        </a:accent2>
        <a:accent3>
          <a:srgbClr val="FFFFFF"/>
        </a:accent3>
        <a:accent4>
          <a:srgbClr val="000000"/>
        </a:accent4>
        <a:accent5>
          <a:srgbClr val="F6D2AA"/>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
      <a:clrScheme name="PartnerEdge2008_1.0 3">
        <a:dk1>
          <a:srgbClr val="000000"/>
        </a:dk1>
        <a:lt1>
          <a:srgbClr val="FFFFFF"/>
        </a:lt1>
        <a:dk2>
          <a:srgbClr val="F0AB00"/>
        </a:dk2>
        <a:lt2>
          <a:srgbClr val="CCCCCC"/>
        </a:lt2>
        <a:accent1>
          <a:srgbClr val="6996BE"/>
        </a:accent1>
        <a:accent2>
          <a:srgbClr val="666666"/>
        </a:accent2>
        <a:accent3>
          <a:srgbClr val="FFFFFF"/>
        </a:accent3>
        <a:accent4>
          <a:srgbClr val="000000"/>
        </a:accent4>
        <a:accent5>
          <a:srgbClr val="B9C9DB"/>
        </a:accent5>
        <a:accent6>
          <a:srgbClr val="5C5C5C"/>
        </a:accent6>
        <a:hlink>
          <a:srgbClr val="04357B"/>
        </a:hlink>
        <a:folHlink>
          <a:srgbClr val="999999"/>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255</TotalTime>
  <Words>4067</Words>
  <Application>Microsoft Office PowerPoint</Application>
  <PresentationFormat>自定义</PresentationFormat>
  <Paragraphs>508</Paragraphs>
  <Slides>37</Slides>
  <Notes>7</Notes>
  <HiddenSlides>0</HiddenSlides>
  <MMClips>0</MMClips>
  <ScaleCrop>false</ScaleCrop>
  <HeadingPairs>
    <vt:vector size="4" baseType="variant">
      <vt:variant>
        <vt:lpstr>主题</vt:lpstr>
      </vt:variant>
      <vt:variant>
        <vt:i4>1</vt:i4>
      </vt:variant>
      <vt:variant>
        <vt:lpstr>幻灯片标题</vt:lpstr>
      </vt:variant>
      <vt:variant>
        <vt:i4>37</vt:i4>
      </vt:variant>
    </vt:vector>
  </HeadingPairs>
  <TitlesOfParts>
    <vt:vector size="38" baseType="lpstr">
      <vt:lpstr>1_SAP_PartnerEdge2009_1[1].0</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PC</cp:lastModifiedBy>
  <cp:revision>191</cp:revision>
  <dcterms:created xsi:type="dcterms:W3CDTF">2016-12-04T01:48:00Z</dcterms:created>
  <dcterms:modified xsi:type="dcterms:W3CDTF">2021-10-25T02:06:27Z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2052-10.1.0.6207</vt:lpwstr>
  </property>
</Properties>
</file>