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6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28" r:id="rId2"/>
    <p:sldId id="260" r:id="rId3"/>
    <p:sldId id="1649" r:id="rId4"/>
    <p:sldId id="1730" r:id="rId5"/>
    <p:sldId id="1698" r:id="rId6"/>
    <p:sldId id="1690" r:id="rId7"/>
    <p:sldId id="1653" r:id="rId8"/>
    <p:sldId id="1725" r:id="rId9"/>
    <p:sldId id="1655" r:id="rId10"/>
    <p:sldId id="1656" r:id="rId11"/>
    <p:sldId id="1657" r:id="rId12"/>
    <p:sldId id="1659" r:id="rId13"/>
    <p:sldId id="1694" r:id="rId14"/>
    <p:sldId id="1692" r:id="rId15"/>
    <p:sldId id="1693" r:id="rId16"/>
    <p:sldId id="1676" r:id="rId17"/>
    <p:sldId id="1663" r:id="rId18"/>
    <p:sldId id="1696" r:id="rId19"/>
    <p:sldId id="1665" r:id="rId20"/>
    <p:sldId id="1668" r:id="rId21"/>
    <p:sldId id="1669" r:id="rId22"/>
    <p:sldId id="1670" r:id="rId23"/>
    <p:sldId id="1671" r:id="rId24"/>
    <p:sldId id="1672" r:id="rId25"/>
    <p:sldId id="1677" r:id="rId26"/>
    <p:sldId id="1726" r:id="rId27"/>
    <p:sldId id="1673" r:id="rId28"/>
    <p:sldId id="1727" r:id="rId29"/>
    <p:sldId id="1728" r:id="rId30"/>
    <p:sldId id="1675" r:id="rId31"/>
    <p:sldId id="1435" r:id="rId32"/>
  </p:sldIdLst>
  <p:sldSz cx="12192000" cy="6858000"/>
  <p:notesSz cx="7104063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anose="020B0604020202020204" pitchFamily="34" charset="-122"/>
        <a:cs typeface="Arial Unicode MS" panose="020B0604020202020204" pitchFamily="34" charset="-122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anose="020B0604020202020204" pitchFamily="34" charset="-122"/>
        <a:cs typeface="Arial Unicode MS" panose="020B0604020202020204" pitchFamily="34" charset="-122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anose="020B0604020202020204" pitchFamily="34" charset="-122"/>
        <a:cs typeface="Arial Unicode MS" panose="020B0604020202020204" pitchFamily="34" charset="-122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anose="020B0604020202020204" pitchFamily="34" charset="-122"/>
        <a:cs typeface="Arial Unicode MS" panose="020B0604020202020204" pitchFamily="34" charset="-122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anose="020B0604020202020204" pitchFamily="34" charset="-122"/>
        <a:cs typeface="Arial Unicode MS" panose="020B0604020202020204" pitchFamily="34" charset="-122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rial Unicode MS" panose="020B0604020202020204" pitchFamily="34" charset="-122"/>
        <a:cs typeface="Arial Unicode MS" panose="020B0604020202020204" pitchFamily="34" charset="-122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rial Unicode MS" panose="020B0604020202020204" pitchFamily="34" charset="-122"/>
        <a:cs typeface="Arial Unicode MS" panose="020B0604020202020204" pitchFamily="34" charset="-122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rial Unicode MS" panose="020B0604020202020204" pitchFamily="34" charset="-122"/>
        <a:cs typeface="Arial Unicode MS" panose="020B0604020202020204" pitchFamily="34" charset="-122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rial Unicode MS" panose="020B0604020202020204" pitchFamily="34" charset="-122"/>
        <a:cs typeface="Arial Unicode MS" panose="020B0604020202020204" pitchFamily="34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2227"/>
    <a:srgbClr val="0B9ACF"/>
    <a:srgbClr val="DE2126"/>
    <a:srgbClr val="CC0000"/>
    <a:srgbClr val="FFC000"/>
    <a:srgbClr val="0B9BD0"/>
    <a:srgbClr val="0D9CD0"/>
    <a:srgbClr val="009900"/>
    <a:srgbClr val="E8A500"/>
    <a:srgbClr val="F6C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69" autoAdjust="0"/>
    <p:restoredTop sz="94660" autoAdjust="0"/>
  </p:normalViewPr>
  <p:slideViewPr>
    <p:cSldViewPr snapToGrid="0">
      <p:cViewPr varScale="1">
        <p:scale>
          <a:sx n="67" d="100"/>
          <a:sy n="67" d="100"/>
        </p:scale>
        <p:origin x="-499" y="-91"/>
      </p:cViewPr>
      <p:guideLst>
        <p:guide orient="horz" pos="1864"/>
        <p:guide pos="38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buFont typeface="Arial" panose="020B0604020202020204" pitchFamily="34" charset="0"/>
              <a:buNone/>
              <a:defRPr sz="1245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buFont typeface="Arial" panose="020B0604020202020204" pitchFamily="34" charset="0"/>
              <a:buNone/>
              <a:defRPr sz="1245" noProof="1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C5A39C2-DCDB-4A91-B843-CEA163FE8BB4}" type="datetimeFigureOut">
              <a:rPr lang="zh-CN" altLang="en-US"/>
              <a:pPr>
                <a:defRPr/>
              </a:pPr>
              <a:t>2021/10/20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buFont typeface="Arial" panose="020B0604020202020204" pitchFamily="34" charset="0"/>
              <a:buNone/>
              <a:defRPr sz="1245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0263"/>
            <a:ext cx="3078162" cy="5143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6BAC33A3-47FB-4082-826B-926D997FCDB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0755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buFont typeface="Arial" panose="020B0604020202020204" pitchFamily="34" charset="0"/>
              <a:buNone/>
              <a:defRPr sz="1200" noProof="1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2D12AD9-1B21-46F8-893C-601AAB1B8675}" type="datetimeFigureOut">
              <a:rPr lang="zh-CN" altLang="en-US"/>
              <a:pPr>
                <a:defRPr/>
              </a:pPr>
              <a:t>2021/10/20</a:t>
            </a:fld>
            <a:endParaRPr lang="zh-CN" altLang="en-US"/>
          </a:p>
        </p:txBody>
      </p:sp>
      <p:sp>
        <p:nvSpPr>
          <p:cNvPr id="47108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</p:sp>
      <p:sp>
        <p:nvSpPr>
          <p:cNvPr id="8197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709613" y="4926013"/>
            <a:ext cx="5683250" cy="4029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2" cy="5143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FDB1411-5CFF-45D5-9989-BCF80D1790E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752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8131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4813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EEAFF227-7F20-4DA8-8FDA-44BEEE954114}" type="slidenum">
              <a:rPr lang="zh-CN" altLang="en-US" smtClean="0"/>
              <a:pPr/>
              <a:t>1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9155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4915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CCEDD406-8F44-4401-9932-B6C8EF0C44BA}" type="slidenum">
              <a:rPr lang="zh-CN" altLang="en-US" smtClean="0"/>
              <a:pPr/>
              <a:t>2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2150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2150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i="0" dirty="0">
                <a:latin typeface="Arial" panose="020B0604020202020204" pitchFamily="34" charset="0"/>
                <a:ea typeface="宋体" panose="02010600030101010101" pitchFamily="2" charset="-122"/>
              </a:rPr>
              <a:pPr lvl="0" indent="0" algn="r"/>
              <a:t>3</a:t>
            </a:fld>
            <a:endParaRPr lang="en-US" altLang="zh-CN" sz="1200" i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2150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2150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i="0" dirty="0">
                <a:latin typeface="Arial" panose="020B0604020202020204" pitchFamily="34" charset="0"/>
                <a:ea typeface="宋体" panose="02010600030101010101" pitchFamily="2" charset="-122"/>
              </a:rPr>
              <a:pPr lvl="0" indent="0" algn="r"/>
              <a:t>16</a:t>
            </a:fld>
            <a:endParaRPr lang="en-US" altLang="zh-CN" sz="1200" i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2150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2150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i="0" dirty="0">
                <a:latin typeface="Arial" panose="020B0604020202020204" pitchFamily="34" charset="0"/>
                <a:ea typeface="宋体" panose="02010600030101010101" pitchFamily="2" charset="-122"/>
              </a:rPr>
              <a:pPr lvl="0" indent="0" algn="r"/>
              <a:t>25</a:t>
            </a:fld>
            <a:endParaRPr lang="en-US" altLang="zh-CN" sz="1200" i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74755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7475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B7EC01-864E-40D4-8ACF-B22006FE1010}" type="slidenum">
              <a:rPr lang="zh-CN" altLang="en-US" smtClean="0"/>
              <a:pPr/>
              <a:t>31</a:t>
            </a:fld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>
            <a:spLocks noChangeArrowheads="1"/>
          </p:cNvSpPr>
          <p:nvPr userDrawn="1"/>
        </p:nvSpPr>
        <p:spPr bwMode="auto">
          <a:xfrm>
            <a:off x="379413" y="1557338"/>
            <a:ext cx="277812" cy="4086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eaVert"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从零起步</a:t>
            </a:r>
            <a:r>
              <a:rPr lang="en-US" altLang="zh-CN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—— </a:t>
            </a:r>
            <a:r>
              <a:rPr lang="en-US" altLang="en-US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Premiere Pro CS6 </a:t>
            </a:r>
            <a:r>
              <a:rPr lang="zh-CN" altLang="en-US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快速上手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 userDrawn="1"/>
        </p:nvSpPr>
        <p:spPr>
          <a:xfrm>
            <a:off x="4313873" y="346075"/>
            <a:ext cx="2047875" cy="520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20204" pitchFamily="34" charset="0"/>
              <a:buNone/>
              <a:defRPr/>
            </a:pPr>
            <a:r>
              <a:rPr lang="zh-CN" altLang="en-US" noProof="1" smtClean="0">
                <a:effectLst/>
                <a:cs typeface="+mn-cs"/>
              </a:rPr>
              <a:t>章前导读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/>
        </p:nvSpPr>
        <p:spPr>
          <a:xfrm>
            <a:off x="4285615" y="330200"/>
            <a:ext cx="6087745" cy="5543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20204" pitchFamily="34" charset="0"/>
              <a:buNone/>
              <a:defRPr/>
            </a:pPr>
            <a:r>
              <a:rPr lang="zh-CN" altLang="en-US" noProof="1" smtClean="0">
                <a:effectLst/>
                <a:cs typeface="+mn-cs"/>
              </a:rPr>
              <a:t>6.1  Linux系统用户账号的管理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  <p:bldP spid="2" grpId="4"/>
      <p:bldP spid="2" grpId="5"/>
      <p:bldP spid="2" grpId="6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/>
        </p:nvSpPr>
        <p:spPr>
          <a:xfrm>
            <a:off x="4384675" y="268605"/>
            <a:ext cx="5833110" cy="6273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20204" pitchFamily="34" charset="0"/>
              <a:buNone/>
              <a:defRPr/>
            </a:pPr>
            <a:r>
              <a:rPr lang="zh-CN" altLang="en-US" noProof="1" smtClean="0">
                <a:effectLst/>
                <a:cs typeface="+mn-cs"/>
              </a:rPr>
              <a:t>6.2  Linux系统用户组的管理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/>
        </p:nvSpPr>
        <p:spPr>
          <a:xfrm>
            <a:off x="4334510" y="256540"/>
            <a:ext cx="4970145" cy="6273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>
              <a:buFont typeface="Arial" panose="020B0604020202020204" pitchFamily="34" charset="0"/>
              <a:buNone/>
              <a:defRPr/>
            </a:pPr>
            <a:r>
              <a:rPr lang="zh-CN" altLang="en-US" noProof="1" smtClean="0">
                <a:effectLst/>
                <a:cs typeface="+mn-cs"/>
              </a:rPr>
              <a:t>6.3  查看用户和用户组状态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与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62AF1DA-47BD-40E3-817E-BD52F294368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未标题-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41400" y="330200"/>
            <a:ext cx="965200" cy="476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图片 7" descr="校徽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3675" y="6223000"/>
            <a:ext cx="1563688" cy="482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5" name="图片 4" descr="QQ截图20160605182740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76200" y="44450"/>
            <a:ext cx="12039600" cy="6769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 userDrawn="1"/>
        </p:nvSpPr>
        <p:spPr>
          <a:xfrm>
            <a:off x="9685019" y="6223635"/>
            <a:ext cx="2343785" cy="5327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 fontAlgn="auto"/>
            <a:r>
              <a:rPr lang="zh-CN" altLang="en-US" sz="1400" b="1" strike="noStrike" noProof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艰苦朴素、实事求是</a:t>
            </a:r>
            <a:endParaRPr lang="zh-CN" altLang="en-US" sz="1400" b="1" strike="noStrike" noProof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/>
            <a:r>
              <a:rPr lang="zh-CN" altLang="en-US" sz="1400" b="1" strike="noStrike" noProof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严格要求、勇于探索</a:t>
            </a:r>
            <a:endParaRPr lang="zh-CN" altLang="en-US" sz="1400" b="1" strike="noStrike" noProof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7" name="图片 1" descr="图片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-52387" y="-23812"/>
            <a:ext cx="12296775" cy="69056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" name="组合 3"/>
          <p:cNvGrpSpPr/>
          <p:nvPr userDrawn="1"/>
        </p:nvGrpSpPr>
        <p:grpSpPr>
          <a:xfrm>
            <a:off x="1041400" y="909638"/>
            <a:ext cx="10080625" cy="103187"/>
            <a:chOff x="6618518" y="1126210"/>
            <a:chExt cx="10080625" cy="103239"/>
          </a:xfrm>
        </p:grpSpPr>
        <p:sp>
          <p:nvSpPr>
            <p:cNvPr id="6" name="矩形 5"/>
            <p:cNvSpPr/>
            <p:nvPr/>
          </p:nvSpPr>
          <p:spPr>
            <a:xfrm>
              <a:off x="6618518" y="1126210"/>
              <a:ext cx="1983307" cy="10323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8601825" y="1204049"/>
              <a:ext cx="8097318" cy="1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82F288E0-7875-42C4-84C8-98DBBD3BF4D2}" type="datetimeFigureOut">
              <a:rPr lang="zh-CN" altLang="en-US" noProof="1" smtClean="0">
                <a:latin typeface="+mn-lt"/>
                <a:ea typeface="+mn-ea"/>
                <a:cs typeface="+mn-cs"/>
              </a:rPr>
              <a:pPr fontAlgn="auto"/>
              <a:t>2021/10/20</a:t>
            </a:fld>
            <a:endParaRPr lang="zh-CN" altLang="en-US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noProof="1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7D9BB5D0-35E4-459D-AEF3-FE4D7C45CC19}" type="slidenum">
              <a:rPr lang="zh-CN" altLang="en-US" noProof="1" smtClean="0">
                <a:latin typeface="+mn-lt"/>
                <a:ea typeface="+mn-ea"/>
                <a:cs typeface="+mn-cs"/>
              </a:rPr>
              <a:pPr fontAlgn="auto"/>
              <a:t>‹#›</a:t>
            </a:fld>
            <a:endParaRPr lang="zh-CN" altLang="en-US" noProof="1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99" name="Rectangle 23"/>
          <p:cNvSpPr>
            <a:spLocks noChangeArrowheads="1"/>
          </p:cNvSpPr>
          <p:nvPr/>
        </p:nvSpPr>
        <p:spPr bwMode="gray">
          <a:xfrm>
            <a:off x="438150" y="163830"/>
            <a:ext cx="3447415" cy="81407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fontAlgn="auto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pic>
        <p:nvPicPr>
          <p:cNvPr id="1027" name="图片 3" descr="tim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27685" y="313373"/>
            <a:ext cx="54133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TextBox 4"/>
          <p:cNvSpPr txBox="1">
            <a:spLocks noChangeArrowheads="1"/>
          </p:cNvSpPr>
          <p:nvPr/>
        </p:nvSpPr>
        <p:spPr bwMode="auto">
          <a:xfrm>
            <a:off x="923290" y="313690"/>
            <a:ext cx="2961640" cy="483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>
                <a:ea typeface="微软雅黑" panose="020B0503020204020204" pitchFamily="34" charset="-122"/>
              </a:rPr>
              <a:t> 用户与用户组管理</a:t>
            </a:r>
          </a:p>
        </p:txBody>
      </p:sp>
      <p:sp>
        <p:nvSpPr>
          <p:cNvPr id="36" name="矩形 35"/>
          <p:cNvSpPr/>
          <p:nvPr/>
        </p:nvSpPr>
        <p:spPr>
          <a:xfrm>
            <a:off x="41275" y="152400"/>
            <a:ext cx="396875" cy="82708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buFont typeface="Arial" panose="020B0604020202020204" pitchFamily="34" charset="0"/>
              <a:buNone/>
              <a:defRPr/>
            </a:pPr>
            <a:endParaRPr lang="zh-CN" altLang="en-US" noProof="1">
              <a:solidFill>
                <a:schemeClr val="tx1"/>
              </a:solidFill>
            </a:endParaRPr>
          </a:p>
        </p:txBody>
      </p:sp>
      <p:sp>
        <p:nvSpPr>
          <p:cNvPr id="1030" name="TextBox 4"/>
          <p:cNvSpPr txBox="1">
            <a:spLocks noChangeArrowheads="1"/>
          </p:cNvSpPr>
          <p:nvPr/>
        </p:nvSpPr>
        <p:spPr bwMode="auto">
          <a:xfrm>
            <a:off x="109221" y="98425"/>
            <a:ext cx="260985" cy="955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eaVert" lIns="0" tIns="0" rIns="0" bIns="0" anchor="ctr">
            <a:spAutoFit/>
          </a:bodyPr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zh-CN" altLang="en-US" sz="16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</a:p>
        </p:txBody>
      </p:sp>
      <p:sp>
        <p:nvSpPr>
          <p:cNvPr id="1031" name="饼形 9"/>
          <p:cNvSpPr>
            <a:spLocks noChangeArrowheads="1"/>
          </p:cNvSpPr>
          <p:nvPr/>
        </p:nvSpPr>
        <p:spPr bwMode="auto">
          <a:xfrm rot="-10440000">
            <a:off x="11614150" y="6323013"/>
            <a:ext cx="1189038" cy="1089025"/>
          </a:xfrm>
          <a:custGeom>
            <a:avLst/>
            <a:gdLst/>
            <a:ahLst/>
            <a:cxnLst>
              <a:cxn ang="0">
                <a:pos x="1184933" y="482865"/>
              </a:cxn>
              <a:cxn ang="0">
                <a:pos x="1188720" y="544195"/>
              </a:cxn>
              <a:cxn ang="0">
                <a:pos x="650440" y="1085999"/>
              </a:cxn>
              <a:cxn ang="0">
                <a:pos x="594360" y="544195"/>
              </a:cxn>
            </a:cxnLst>
            <a:rect l="0" t="0" r="r" b="b"/>
            <a:pathLst>
              <a:path w="1188720" h="1088390">
                <a:moveTo>
                  <a:pt x="1184933" y="482865"/>
                </a:moveTo>
                <a:cubicBezTo>
                  <a:pt x="1187451" y="502959"/>
                  <a:pt x="1188720" y="523442"/>
                  <a:pt x="1188720" y="544195"/>
                </a:cubicBezTo>
                <a:cubicBezTo>
                  <a:pt x="1188720" y="827482"/>
                  <a:pt x="952307" y="1060213"/>
                  <a:pt x="650440" y="1085999"/>
                </a:cubicBezTo>
                <a:lnTo>
                  <a:pt x="594360" y="544195"/>
                </a:lnTo>
                <a:close/>
              </a:path>
            </a:pathLst>
          </a:custGeom>
          <a:solidFill>
            <a:srgbClr val="00B0F0"/>
          </a:solidFill>
          <a:ln w="9525">
            <a:noFill/>
            <a:round/>
          </a:ln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48440" y="6453505"/>
            <a:ext cx="65976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buFont typeface="Arial" panose="020B0604020202020204" pitchFamily="34" charset="0"/>
              <a:buNone/>
              <a:defRPr/>
            </a:pPr>
            <a:fld id="{814D200E-B95F-4368-AFE5-0261574EA689}" type="slidenum">
              <a:rPr lang="zh-CN" altLang="en-US" b="1" noProof="1"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Arial Unicode MS" panose="020B0604020202020204" pitchFamily="34" charset="-122"/>
              </a:rPr>
              <a:pPr fontAlgn="auto">
                <a:buFont typeface="Arial" panose="020B0604020202020204" pitchFamily="34" charset="0"/>
                <a:buNone/>
                <a:defRPr/>
              </a:pPr>
              <a:t>‹#›</a:t>
            </a:fld>
            <a:endParaRPr lang="zh-CN" altLang="en-US" b="1" noProof="1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1033" name="矩形 5"/>
          <p:cNvSpPr>
            <a:spLocks noChangeArrowheads="1"/>
          </p:cNvSpPr>
          <p:nvPr/>
        </p:nvSpPr>
        <p:spPr bwMode="auto">
          <a:xfrm>
            <a:off x="4117340" y="166370"/>
            <a:ext cx="7672070" cy="820420"/>
          </a:xfrm>
          <a:prstGeom prst="rect">
            <a:avLst/>
          </a:prstGeom>
          <a:gradFill rotWithShape="1">
            <a:gsLst>
              <a:gs pos="0">
                <a:srgbClr val="00B0F0"/>
              </a:gs>
              <a:gs pos="50000">
                <a:srgbClr val="0070C0"/>
              </a:gs>
              <a:gs pos="100000">
                <a:srgbClr val="00B0F0"/>
              </a:gs>
            </a:gsLst>
            <a:lin ang="15720000"/>
          </a:gradFill>
          <a:ln w="9525">
            <a:noFill/>
            <a:miter lim="800000"/>
          </a:ln>
        </p:spPr>
        <p:txBody>
          <a:bodyPr wrap="none" lIns="90000" tIns="46800" rIns="90000" bIns="46800" anchor="ctr"/>
          <a:lstStyle/>
          <a:p>
            <a:pPr algn="ctr"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/>
            </a:pPr>
            <a:endParaRPr lang="de-DE" alt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宋体" panose="02010600030101010101" pitchFamily="2" charset="-122"/>
          <a:ea typeface="宋体" panose="02010600030101010101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Black" panose="020B0A040201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Black" panose="020B0A040201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Black" panose="020B0A040201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Black" panose="020B0A040201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9pPr>
    </p:titleStyle>
    <p:bodyStyle>
      <a:lvl1pPr marL="342900" indent="-342900" algn="l" rtl="0" eaLnBrk="0" fontAlgn="base" hangingPunct="0">
        <a:spcBef>
          <a:spcPct val="75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•"/>
        <a:defRPr sz="3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184150" indent="-182880" algn="l" rtl="0" eaLnBrk="0" fontAlgn="base" hangingPunct="0">
        <a:spcBef>
          <a:spcPct val="25000"/>
        </a:spcBef>
        <a:spcAft>
          <a:spcPct val="0"/>
        </a:spcAft>
        <a:buClr>
          <a:srgbClr val="F0AB00"/>
        </a:buClr>
        <a:buSzPct val="8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541655" indent="-195580" algn="l" rtl="0" eaLnBrk="0" fontAlgn="base" hangingPunct="0">
        <a:spcBef>
          <a:spcPct val="25000"/>
        </a:spcBef>
        <a:spcAft>
          <a:spcPct val="0"/>
        </a:spcAft>
        <a:buClr>
          <a:srgbClr val="666666"/>
        </a:buClr>
        <a:buSzPct val="8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708025" indent="-165100" algn="l" rtl="0" eaLnBrk="0" fontAlgn="base" hangingPunct="0">
        <a:spcBef>
          <a:spcPct val="25000"/>
        </a:spcBef>
        <a:spcAft>
          <a:spcPct val="0"/>
        </a:spcAft>
        <a:buClr>
          <a:srgbClr val="666666"/>
        </a:buClr>
        <a:buSzPct val="80000"/>
        <a:buFont typeface="Arial" panose="020B0604020202020204" pitchFamily="34" charset="0"/>
        <a:buChar char="–"/>
        <a:defRPr sz="16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904875" indent="-195580" algn="l" rtl="0" eaLnBrk="0" fontAlgn="base" hangingPunct="0">
        <a:spcBef>
          <a:spcPct val="15000"/>
        </a:spcBef>
        <a:spcAft>
          <a:spcPct val="0"/>
        </a:spcAft>
        <a:buClr>
          <a:srgbClr val="666666"/>
        </a:buClr>
        <a:buSzPct val="80000"/>
        <a:buFont typeface="Arial" panose="020B0604020202020204" pitchFamily="34" charset="0"/>
        <a:buChar char="–"/>
        <a:defRPr sz="14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1362075" indent="-195580" algn="l" rtl="0" eaLnBrk="1" fontAlgn="base" hangingPunct="1">
        <a:spcBef>
          <a:spcPct val="15000"/>
        </a:spcBef>
        <a:spcAft>
          <a:spcPct val="0"/>
        </a:spcAft>
        <a:buClr>
          <a:srgbClr val="666666"/>
        </a:buClr>
        <a:buSzPct val="80000"/>
        <a:buFont typeface="Arial" panose="020B0604020202020204" pitchFamily="34" charset="0"/>
        <a:buChar char="–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1819275" indent="-195580" algn="l" rtl="0" eaLnBrk="1" fontAlgn="base" hangingPunct="1">
        <a:spcBef>
          <a:spcPct val="15000"/>
        </a:spcBef>
        <a:spcAft>
          <a:spcPct val="0"/>
        </a:spcAft>
        <a:buClr>
          <a:srgbClr val="666666"/>
        </a:buClr>
        <a:buSzPct val="80000"/>
        <a:buFont typeface="Arial" panose="020B0604020202020204" pitchFamily="34" charset="0"/>
        <a:buChar char="–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2276475" indent="-195580" algn="l" rtl="0" eaLnBrk="1" fontAlgn="base" hangingPunct="1">
        <a:spcBef>
          <a:spcPct val="15000"/>
        </a:spcBef>
        <a:spcAft>
          <a:spcPct val="0"/>
        </a:spcAft>
        <a:buClr>
          <a:srgbClr val="666666"/>
        </a:buClr>
        <a:buSzPct val="80000"/>
        <a:buFont typeface="Arial" panose="020B0604020202020204" pitchFamily="34" charset="0"/>
        <a:buChar char="–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2733675" indent="-195580" algn="l" rtl="0" eaLnBrk="1" fontAlgn="base" hangingPunct="1">
        <a:spcBef>
          <a:spcPct val="15000"/>
        </a:spcBef>
        <a:spcAft>
          <a:spcPct val="0"/>
        </a:spcAft>
        <a:buClr>
          <a:srgbClr val="666666"/>
        </a:buClr>
        <a:buSzPct val="80000"/>
        <a:buFont typeface="Arial" panose="020B0604020202020204" pitchFamily="34" charset="0"/>
        <a:buChar char="–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8.jpe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5" Type="http://schemas.openxmlformats.org/officeDocument/2006/relationships/image" Target="../media/image8.jpe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Relationship Id="rId4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4.xml"/><Relationship Id="rId4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63513" y="-25400"/>
            <a:ext cx="12584113" cy="575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-161925" y="-25400"/>
            <a:ext cx="12582525" cy="7369175"/>
          </a:xfrm>
          <a:prstGeom prst="rect">
            <a:avLst/>
          </a:prstGeom>
          <a:solidFill>
            <a:srgbClr val="000E2A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124" name="文本框 4"/>
          <p:cNvSpPr txBox="1">
            <a:spLocks noChangeArrowheads="1"/>
          </p:cNvSpPr>
          <p:nvPr/>
        </p:nvSpPr>
        <p:spPr bwMode="auto">
          <a:xfrm>
            <a:off x="1400175" y="2384425"/>
            <a:ext cx="9967913" cy="1108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6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Linux</a:t>
            </a:r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操作系统及应用技术</a:t>
            </a:r>
          </a:p>
        </p:txBody>
      </p:sp>
      <p:sp>
        <p:nvSpPr>
          <p:cNvPr id="6" name="矩形 5"/>
          <p:cNvSpPr/>
          <p:nvPr/>
        </p:nvSpPr>
        <p:spPr>
          <a:xfrm>
            <a:off x="3712210" y="3968750"/>
            <a:ext cx="5147945" cy="5778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sz="26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</a:t>
            </a:r>
            <a:r>
              <a:rPr sz="2600" dirty="0">
                <a:solidFill>
                  <a:schemeClr val="bg1">
                    <a:lumMod val="75000"/>
                  </a:schemeClr>
                </a:solidFill>
                <a:ea typeface="微软雅黑" panose="020B0503020204020204" pitchFamily="34" charset="-122"/>
              </a:rPr>
              <a:t> 用户与用户组管理</a:t>
            </a:r>
          </a:p>
        </p:txBody>
      </p:sp>
      <p:sp>
        <p:nvSpPr>
          <p:cNvPr id="9" name="任意多边形 8"/>
          <p:cNvSpPr/>
          <p:nvPr/>
        </p:nvSpPr>
        <p:spPr>
          <a:xfrm>
            <a:off x="-161925" y="4921250"/>
            <a:ext cx="12580938" cy="2422525"/>
          </a:xfrm>
          <a:custGeom>
            <a:avLst/>
            <a:gdLst>
              <a:gd name="connsiteX0" fmla="*/ 0 w 12192000"/>
              <a:gd name="connsiteY0" fmla="*/ 0 h 2070437"/>
              <a:gd name="connsiteX1" fmla="*/ 5436625 w 12192000"/>
              <a:gd name="connsiteY1" fmla="*/ 0 h 2070437"/>
              <a:gd name="connsiteX2" fmla="*/ 5525440 w 12192000"/>
              <a:gd name="connsiteY2" fmla="*/ 7837 h 2070437"/>
              <a:gd name="connsiteX3" fmla="*/ 6091201 w 12192000"/>
              <a:gd name="connsiteY3" fmla="*/ 559628 h 2070437"/>
              <a:gd name="connsiteX4" fmla="*/ 6096239 w 12192000"/>
              <a:gd name="connsiteY4" fmla="*/ 609600 h 2070437"/>
              <a:gd name="connsiteX5" fmla="*/ 6114805 w 12192000"/>
              <a:gd name="connsiteY5" fmla="*/ 609600 h 2070437"/>
              <a:gd name="connsiteX6" fmla="*/ 6119842 w 12192000"/>
              <a:gd name="connsiteY6" fmla="*/ 559628 h 2070437"/>
              <a:gd name="connsiteX7" fmla="*/ 6685604 w 12192000"/>
              <a:gd name="connsiteY7" fmla="*/ 7837 h 2070437"/>
              <a:gd name="connsiteX8" fmla="*/ 6774419 w 12192000"/>
              <a:gd name="connsiteY8" fmla="*/ 0 h 2070437"/>
              <a:gd name="connsiteX9" fmla="*/ 12192000 w 12192000"/>
              <a:gd name="connsiteY9" fmla="*/ 0 h 2070437"/>
              <a:gd name="connsiteX10" fmla="*/ 12192000 w 12192000"/>
              <a:gd name="connsiteY10" fmla="*/ 2070437 h 2070437"/>
              <a:gd name="connsiteX11" fmla="*/ 0 w 12192000"/>
              <a:gd name="connsiteY11" fmla="*/ 2070437 h 207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70437">
                <a:moveTo>
                  <a:pt x="0" y="0"/>
                </a:moveTo>
                <a:lnTo>
                  <a:pt x="5436625" y="0"/>
                </a:lnTo>
                <a:lnTo>
                  <a:pt x="5525440" y="7837"/>
                </a:lnTo>
                <a:cubicBezTo>
                  <a:pt x="5808922" y="58474"/>
                  <a:pt x="6033693" y="278587"/>
                  <a:pt x="6091201" y="559628"/>
                </a:cubicBezTo>
                <a:lnTo>
                  <a:pt x="6096239" y="609600"/>
                </a:lnTo>
                <a:lnTo>
                  <a:pt x="6114805" y="609600"/>
                </a:lnTo>
                <a:lnTo>
                  <a:pt x="6119842" y="559628"/>
                </a:lnTo>
                <a:cubicBezTo>
                  <a:pt x="6177351" y="278587"/>
                  <a:pt x="6402121" y="58474"/>
                  <a:pt x="6685604" y="7837"/>
                </a:cubicBezTo>
                <a:lnTo>
                  <a:pt x="6774419" y="0"/>
                </a:lnTo>
                <a:lnTo>
                  <a:pt x="12192000" y="0"/>
                </a:lnTo>
                <a:lnTo>
                  <a:pt x="12192000" y="2070437"/>
                </a:lnTo>
                <a:lnTo>
                  <a:pt x="0" y="2070437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153" name="文本框 11"/>
          <p:cNvSpPr txBox="1">
            <a:spLocks noChangeArrowheads="1"/>
          </p:cNvSpPr>
          <p:nvPr/>
        </p:nvSpPr>
        <p:spPr bwMode="auto">
          <a:xfrm>
            <a:off x="8505825" y="5732463"/>
            <a:ext cx="2632075" cy="603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  <a:latin typeface="Algerian" panose="04020705040A02060702" pitchFamily="82" charset="0"/>
                <a:ea typeface="+mn-ea"/>
                <a:cs typeface="+mn-cs"/>
              </a:rPr>
              <a:t>主讲人：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Algerian" panose="04020705040A02060702" pitchFamily="82" charset="0"/>
                <a:ea typeface="+mn-ea"/>
                <a:cs typeface="+mn-cs"/>
              </a:rPr>
              <a:t>XXX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  <a:latin typeface="Algerian" panose="04020705040A02060702" pitchFamily="82" charset="0"/>
                <a:ea typeface="+mn-ea"/>
                <a:cs typeface="+mn-cs"/>
              </a:rPr>
              <a:t>   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Algerian" panose="04020705040A02060702" pitchFamily="82" charset="0"/>
                <a:ea typeface="+mn-ea"/>
                <a:cs typeface="+mn-cs"/>
              </a:rPr>
              <a:t>           </a:t>
            </a:r>
            <a:endParaRPr lang="zh-CN" altLang="en-US" sz="2000" dirty="0">
              <a:solidFill>
                <a:schemeClr val="bg2">
                  <a:lumMod val="10000"/>
                </a:schemeClr>
              </a:solidFill>
              <a:latin typeface="Algerian" panose="04020705040A02060702" pitchFamily="82" charset="0"/>
              <a:ea typeface="+mn-ea"/>
              <a:cs typeface="+mn-cs"/>
            </a:endParaRPr>
          </a:p>
        </p:txBody>
      </p:sp>
      <p:sp>
        <p:nvSpPr>
          <p:cNvPr id="14" name="Freeform 74"/>
          <p:cNvSpPr>
            <a:spLocks noEditPoints="1"/>
          </p:cNvSpPr>
          <p:nvPr/>
        </p:nvSpPr>
        <p:spPr bwMode="auto">
          <a:xfrm>
            <a:off x="7970838" y="5732463"/>
            <a:ext cx="534987" cy="601662"/>
          </a:xfrm>
          <a:custGeom>
            <a:avLst/>
            <a:gdLst>
              <a:gd name="T0" fmla="*/ 16 w 91"/>
              <a:gd name="T1" fmla="*/ 108 h 118"/>
              <a:gd name="T2" fmla="*/ 12 w 91"/>
              <a:gd name="T3" fmla="*/ 108 h 118"/>
              <a:gd name="T4" fmla="*/ 2 w 91"/>
              <a:gd name="T5" fmla="*/ 92 h 118"/>
              <a:gd name="T6" fmla="*/ 9 w 91"/>
              <a:gd name="T7" fmla="*/ 65 h 118"/>
              <a:gd name="T8" fmla="*/ 15 w 91"/>
              <a:gd name="T9" fmla="*/ 54 h 118"/>
              <a:gd name="T10" fmla="*/ 15 w 91"/>
              <a:gd name="T11" fmla="*/ 54 h 118"/>
              <a:gd name="T12" fmla="*/ 16 w 91"/>
              <a:gd name="T13" fmla="*/ 54 h 118"/>
              <a:gd name="T14" fmla="*/ 32 w 91"/>
              <a:gd name="T15" fmla="*/ 50 h 118"/>
              <a:gd name="T16" fmla="*/ 35 w 91"/>
              <a:gd name="T17" fmla="*/ 52 h 118"/>
              <a:gd name="T18" fmla="*/ 43 w 91"/>
              <a:gd name="T19" fmla="*/ 71 h 118"/>
              <a:gd name="T20" fmla="*/ 19 w 91"/>
              <a:gd name="T21" fmla="*/ 71 h 118"/>
              <a:gd name="T22" fmla="*/ 16 w 91"/>
              <a:gd name="T23" fmla="*/ 74 h 118"/>
              <a:gd name="T24" fmla="*/ 16 w 91"/>
              <a:gd name="T25" fmla="*/ 108 h 118"/>
              <a:gd name="T26" fmla="*/ 21 w 91"/>
              <a:gd name="T27" fmla="*/ 76 h 118"/>
              <a:gd name="T28" fmla="*/ 21 w 91"/>
              <a:gd name="T29" fmla="*/ 107 h 118"/>
              <a:gd name="T30" fmla="*/ 71 w 91"/>
              <a:gd name="T31" fmla="*/ 107 h 118"/>
              <a:gd name="T32" fmla="*/ 71 w 91"/>
              <a:gd name="T33" fmla="*/ 76 h 118"/>
              <a:gd name="T34" fmla="*/ 21 w 91"/>
              <a:gd name="T35" fmla="*/ 76 h 118"/>
              <a:gd name="T36" fmla="*/ 29 w 91"/>
              <a:gd name="T37" fmla="*/ 33 h 118"/>
              <a:gd name="T38" fmla="*/ 30 w 91"/>
              <a:gd name="T39" fmla="*/ 17 h 118"/>
              <a:gd name="T40" fmla="*/ 48 w 91"/>
              <a:gd name="T41" fmla="*/ 17 h 118"/>
              <a:gd name="T42" fmla="*/ 58 w 91"/>
              <a:gd name="T43" fmla="*/ 20 h 118"/>
              <a:gd name="T44" fmla="*/ 59 w 91"/>
              <a:gd name="T45" fmla="*/ 33 h 118"/>
              <a:gd name="T46" fmla="*/ 64 w 91"/>
              <a:gd name="T47" fmla="*/ 26 h 118"/>
              <a:gd name="T48" fmla="*/ 62 w 91"/>
              <a:gd name="T49" fmla="*/ 9 h 118"/>
              <a:gd name="T50" fmla="*/ 48 w 91"/>
              <a:gd name="T51" fmla="*/ 3 h 118"/>
              <a:gd name="T52" fmla="*/ 27 w 91"/>
              <a:gd name="T53" fmla="*/ 7 h 118"/>
              <a:gd name="T54" fmla="*/ 25 w 91"/>
              <a:gd name="T55" fmla="*/ 29 h 118"/>
              <a:gd name="T56" fmla="*/ 29 w 91"/>
              <a:gd name="T57" fmla="*/ 33 h 118"/>
              <a:gd name="T58" fmla="*/ 14 w 91"/>
              <a:gd name="T59" fmla="*/ 112 h 118"/>
              <a:gd name="T60" fmla="*/ 78 w 91"/>
              <a:gd name="T61" fmla="*/ 112 h 118"/>
              <a:gd name="T62" fmla="*/ 74 w 91"/>
              <a:gd name="T63" fmla="*/ 118 h 118"/>
              <a:gd name="T64" fmla="*/ 17 w 91"/>
              <a:gd name="T65" fmla="*/ 118 h 118"/>
              <a:gd name="T66" fmla="*/ 14 w 91"/>
              <a:gd name="T67" fmla="*/ 112 h 118"/>
              <a:gd name="T68" fmla="*/ 81 w 91"/>
              <a:gd name="T69" fmla="*/ 65 h 118"/>
              <a:gd name="T70" fmla="*/ 88 w 91"/>
              <a:gd name="T71" fmla="*/ 92 h 118"/>
              <a:gd name="T72" fmla="*/ 79 w 91"/>
              <a:gd name="T73" fmla="*/ 108 h 118"/>
              <a:gd name="T74" fmla="*/ 76 w 91"/>
              <a:gd name="T75" fmla="*/ 108 h 118"/>
              <a:gd name="T76" fmla="*/ 76 w 91"/>
              <a:gd name="T77" fmla="*/ 75 h 118"/>
              <a:gd name="T78" fmla="*/ 72 w 91"/>
              <a:gd name="T79" fmla="*/ 71 h 118"/>
              <a:gd name="T80" fmla="*/ 48 w 91"/>
              <a:gd name="T81" fmla="*/ 71 h 118"/>
              <a:gd name="T82" fmla="*/ 56 w 91"/>
              <a:gd name="T83" fmla="*/ 52 h 118"/>
              <a:gd name="T84" fmla="*/ 59 w 91"/>
              <a:gd name="T85" fmla="*/ 50 h 118"/>
              <a:gd name="T86" fmla="*/ 75 w 91"/>
              <a:gd name="T87" fmla="*/ 54 h 118"/>
              <a:gd name="T88" fmla="*/ 76 w 91"/>
              <a:gd name="T89" fmla="*/ 54 h 118"/>
              <a:gd name="T90" fmla="*/ 76 w 91"/>
              <a:gd name="T91" fmla="*/ 55 h 118"/>
              <a:gd name="T92" fmla="*/ 81 w 91"/>
              <a:gd name="T93" fmla="*/ 65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91" h="118">
                <a:moveTo>
                  <a:pt x="16" y="108"/>
                </a:moveTo>
                <a:cubicBezTo>
                  <a:pt x="12" y="108"/>
                  <a:pt x="12" y="108"/>
                  <a:pt x="12" y="108"/>
                </a:cubicBezTo>
                <a:cubicBezTo>
                  <a:pt x="1" y="108"/>
                  <a:pt x="0" y="101"/>
                  <a:pt x="2" y="92"/>
                </a:cubicBezTo>
                <a:cubicBezTo>
                  <a:pt x="9" y="65"/>
                  <a:pt x="9" y="65"/>
                  <a:pt x="9" y="65"/>
                </a:cubicBezTo>
                <a:cubicBezTo>
                  <a:pt x="10" y="61"/>
                  <a:pt x="12" y="57"/>
                  <a:pt x="15" y="54"/>
                </a:cubicBezTo>
                <a:cubicBezTo>
                  <a:pt x="15" y="54"/>
                  <a:pt x="15" y="54"/>
                  <a:pt x="15" y="54"/>
                </a:cubicBezTo>
                <a:cubicBezTo>
                  <a:pt x="16" y="54"/>
                  <a:pt x="16" y="54"/>
                  <a:pt x="16" y="54"/>
                </a:cubicBezTo>
                <a:cubicBezTo>
                  <a:pt x="32" y="50"/>
                  <a:pt x="32" y="50"/>
                  <a:pt x="32" y="50"/>
                </a:cubicBezTo>
                <a:cubicBezTo>
                  <a:pt x="35" y="52"/>
                  <a:pt x="35" y="52"/>
                  <a:pt x="35" y="52"/>
                </a:cubicBezTo>
                <a:cubicBezTo>
                  <a:pt x="43" y="71"/>
                  <a:pt x="43" y="71"/>
                  <a:pt x="43" y="71"/>
                </a:cubicBezTo>
                <a:cubicBezTo>
                  <a:pt x="19" y="71"/>
                  <a:pt x="19" y="71"/>
                  <a:pt x="19" y="71"/>
                </a:cubicBezTo>
                <a:cubicBezTo>
                  <a:pt x="16" y="74"/>
                  <a:pt x="16" y="74"/>
                  <a:pt x="16" y="74"/>
                </a:cubicBezTo>
                <a:cubicBezTo>
                  <a:pt x="16" y="108"/>
                  <a:pt x="16" y="108"/>
                  <a:pt x="16" y="108"/>
                </a:cubicBezTo>
                <a:close/>
                <a:moveTo>
                  <a:pt x="21" y="76"/>
                </a:moveTo>
                <a:cubicBezTo>
                  <a:pt x="21" y="107"/>
                  <a:pt x="21" y="107"/>
                  <a:pt x="21" y="107"/>
                </a:cubicBezTo>
                <a:cubicBezTo>
                  <a:pt x="71" y="107"/>
                  <a:pt x="71" y="107"/>
                  <a:pt x="71" y="107"/>
                </a:cubicBezTo>
                <a:cubicBezTo>
                  <a:pt x="71" y="76"/>
                  <a:pt x="71" y="76"/>
                  <a:pt x="71" y="76"/>
                </a:cubicBezTo>
                <a:cubicBezTo>
                  <a:pt x="21" y="76"/>
                  <a:pt x="21" y="76"/>
                  <a:pt x="21" y="76"/>
                </a:cubicBezTo>
                <a:close/>
                <a:moveTo>
                  <a:pt x="29" y="33"/>
                </a:moveTo>
                <a:cubicBezTo>
                  <a:pt x="29" y="26"/>
                  <a:pt x="28" y="24"/>
                  <a:pt x="30" y="17"/>
                </a:cubicBezTo>
                <a:cubicBezTo>
                  <a:pt x="34" y="20"/>
                  <a:pt x="44" y="18"/>
                  <a:pt x="48" y="17"/>
                </a:cubicBezTo>
                <a:cubicBezTo>
                  <a:pt x="50" y="20"/>
                  <a:pt x="54" y="21"/>
                  <a:pt x="58" y="20"/>
                </a:cubicBezTo>
                <a:cubicBezTo>
                  <a:pt x="59" y="25"/>
                  <a:pt x="59" y="26"/>
                  <a:pt x="59" y="33"/>
                </a:cubicBezTo>
                <a:cubicBezTo>
                  <a:pt x="59" y="33"/>
                  <a:pt x="63" y="30"/>
                  <a:pt x="64" y="26"/>
                </a:cubicBezTo>
                <a:cubicBezTo>
                  <a:pt x="64" y="23"/>
                  <a:pt x="63" y="11"/>
                  <a:pt x="62" y="9"/>
                </a:cubicBezTo>
                <a:cubicBezTo>
                  <a:pt x="60" y="5"/>
                  <a:pt x="56" y="2"/>
                  <a:pt x="48" y="3"/>
                </a:cubicBezTo>
                <a:cubicBezTo>
                  <a:pt x="40" y="0"/>
                  <a:pt x="31" y="3"/>
                  <a:pt x="27" y="7"/>
                </a:cubicBezTo>
                <a:cubicBezTo>
                  <a:pt x="25" y="9"/>
                  <a:pt x="23" y="27"/>
                  <a:pt x="25" y="29"/>
                </a:cubicBezTo>
                <a:cubicBezTo>
                  <a:pt x="27" y="32"/>
                  <a:pt x="29" y="33"/>
                  <a:pt x="29" y="33"/>
                </a:cubicBezTo>
                <a:close/>
                <a:moveTo>
                  <a:pt x="14" y="112"/>
                </a:moveTo>
                <a:cubicBezTo>
                  <a:pt x="78" y="112"/>
                  <a:pt x="78" y="112"/>
                  <a:pt x="78" y="112"/>
                </a:cubicBezTo>
                <a:cubicBezTo>
                  <a:pt x="74" y="118"/>
                  <a:pt x="74" y="118"/>
                  <a:pt x="74" y="118"/>
                </a:cubicBezTo>
                <a:cubicBezTo>
                  <a:pt x="17" y="118"/>
                  <a:pt x="17" y="118"/>
                  <a:pt x="17" y="118"/>
                </a:cubicBezTo>
                <a:cubicBezTo>
                  <a:pt x="14" y="112"/>
                  <a:pt x="14" y="112"/>
                  <a:pt x="14" y="112"/>
                </a:cubicBezTo>
                <a:close/>
                <a:moveTo>
                  <a:pt x="81" y="65"/>
                </a:moveTo>
                <a:cubicBezTo>
                  <a:pt x="88" y="92"/>
                  <a:pt x="88" y="92"/>
                  <a:pt x="88" y="92"/>
                </a:cubicBezTo>
                <a:cubicBezTo>
                  <a:pt x="91" y="101"/>
                  <a:pt x="89" y="108"/>
                  <a:pt x="79" y="108"/>
                </a:cubicBezTo>
                <a:cubicBezTo>
                  <a:pt x="76" y="108"/>
                  <a:pt x="76" y="108"/>
                  <a:pt x="76" y="108"/>
                </a:cubicBezTo>
                <a:cubicBezTo>
                  <a:pt x="76" y="75"/>
                  <a:pt x="76" y="75"/>
                  <a:pt x="76" y="75"/>
                </a:cubicBezTo>
                <a:cubicBezTo>
                  <a:pt x="72" y="71"/>
                  <a:pt x="72" y="71"/>
                  <a:pt x="72" y="71"/>
                </a:cubicBezTo>
                <a:cubicBezTo>
                  <a:pt x="48" y="71"/>
                  <a:pt x="48" y="71"/>
                  <a:pt x="48" y="71"/>
                </a:cubicBezTo>
                <a:cubicBezTo>
                  <a:pt x="56" y="52"/>
                  <a:pt x="56" y="52"/>
                  <a:pt x="56" y="52"/>
                </a:cubicBezTo>
                <a:cubicBezTo>
                  <a:pt x="59" y="50"/>
                  <a:pt x="59" y="50"/>
                  <a:pt x="59" y="50"/>
                </a:cubicBezTo>
                <a:cubicBezTo>
                  <a:pt x="75" y="54"/>
                  <a:pt x="75" y="54"/>
                  <a:pt x="75" y="54"/>
                </a:cubicBezTo>
                <a:cubicBezTo>
                  <a:pt x="76" y="54"/>
                  <a:pt x="76" y="54"/>
                  <a:pt x="76" y="54"/>
                </a:cubicBezTo>
                <a:cubicBezTo>
                  <a:pt x="76" y="55"/>
                  <a:pt x="76" y="55"/>
                  <a:pt x="76" y="55"/>
                </a:cubicBezTo>
                <a:cubicBezTo>
                  <a:pt x="79" y="58"/>
                  <a:pt x="80" y="61"/>
                  <a:pt x="81" y="65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 w="9525">
            <a:noFill/>
            <a:rou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539750" y="1625600"/>
            <a:ext cx="5986780" cy="42062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Linux系统是一个多用户多任务的分时操作系统，任何一个要使用系统资源的用户，都必须首先向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系统管理员申请一个账号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，然后以这个账号的身份进入系统。用户的账号一方面可以帮助系统管理员对使用系统的用户进行跟踪，并控制他们对系统资源的访问；另一方面也可以帮助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用户组织文件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，并为用户提供安全性保护。每个用户账号拥有一个唯一的用户名和各自的口令。用户在登录时键入正确的用户名和口令后，就能够进入系统和自己的主目录。</a:t>
            </a:r>
          </a:p>
        </p:txBody>
      </p:sp>
      <p:sp>
        <p:nvSpPr>
          <p:cNvPr id="19" name="矩形 18"/>
          <p:cNvSpPr/>
          <p:nvPr/>
        </p:nvSpPr>
        <p:spPr>
          <a:xfrm flipV="1">
            <a:off x="37147" y="6096000"/>
            <a:ext cx="12117388" cy="93663"/>
          </a:xfrm>
          <a:prstGeom prst="rect">
            <a:avLst/>
          </a:prstGeom>
          <a:solidFill>
            <a:srgbClr val="00B0F0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pic>
        <p:nvPicPr>
          <p:cNvPr id="4099" name="Picture 3" descr="C:\Users\Administrator\桌面\b6762199-ee66-4a22-9d9c-f0d761a45996.jpgb6762199-ee66-4a22-9d9c-f0d761a4599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71005" y="2033270"/>
            <a:ext cx="5066665" cy="3798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3"/>
          <p:cNvSpPr/>
          <p:nvPr/>
        </p:nvSpPr>
        <p:spPr>
          <a:xfrm>
            <a:off x="1992313" y="1919288"/>
            <a:ext cx="8207375" cy="4368800"/>
          </a:xfrm>
          <a:prstGeom prst="roundRect">
            <a:avLst>
              <a:gd name="adj" fmla="val 2773"/>
            </a:avLst>
          </a:prstGeom>
          <a:noFill/>
          <a:ln w="317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indent="0" algn="ctr"/>
            <a:endParaRPr lang="zh-CN" altLang="en-US" dirty="0"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6148" name="AutoShape 4"/>
          <p:cNvSpPr/>
          <p:nvPr/>
        </p:nvSpPr>
        <p:spPr>
          <a:xfrm>
            <a:off x="2473325" y="1606550"/>
            <a:ext cx="7231063" cy="628650"/>
          </a:xfrm>
          <a:prstGeom prst="roundRect">
            <a:avLst>
              <a:gd name="adj" fmla="val 15657"/>
            </a:avLst>
          </a:prstGeom>
          <a:solidFill>
            <a:schemeClr val="bg1"/>
          </a:solidFill>
          <a:ln w="3175" cap="flat" cmpd="sng">
            <a:solidFill>
              <a:srgbClr val="333333">
                <a:alpha val="56862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indent="0" algn="ctr">
              <a:spcBef>
                <a:spcPct val="50000"/>
              </a:spcBef>
            </a:pPr>
            <a:r>
              <a:rPr lang="zh-CN" altLang="en-US" sz="32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本章要点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2719705" y="2480310"/>
            <a:ext cx="6736080" cy="657225"/>
            <a:chOff x="3" y="0"/>
            <a:chExt cx="4243" cy="333"/>
          </a:xfrm>
        </p:grpSpPr>
        <p:grpSp>
          <p:nvGrpSpPr>
            <p:cNvPr id="4" name="Group 6"/>
            <p:cNvGrpSpPr/>
            <p:nvPr/>
          </p:nvGrpSpPr>
          <p:grpSpPr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0487" name="AutoShape 7"/>
              <p:cNvSpPr/>
              <p:nvPr/>
            </p:nvSpPr>
            <p:spPr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 cap="flat" cmpd="sng">
                <a:solidFill>
                  <a:srgbClr val="969696">
                    <a:alpha val="56862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20488" name="AutoShape 8"/>
              <p:cNvSpPr/>
              <p:nvPr/>
            </p:nvSpPr>
            <p:spPr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rot="10800000" wrap="none" anchor="ctr"/>
              <a:lstStyle/>
              <a:p>
                <a:pPr lvl="0" indent="0" algn="ctr"/>
                <a:endParaRPr lang="zh-CN" altLang="en-US" dirty="0"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0489" name="Text Box 9"/>
            <p:cNvSpPr txBox="1"/>
            <p:nvPr/>
          </p:nvSpPr>
          <p:spPr>
            <a:xfrm>
              <a:off x="727" y="44"/>
              <a:ext cx="2860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lvl="0" indent="0" algn="l">
                <a:spcBef>
                  <a:spcPct val="50000"/>
                </a:spcBef>
              </a:pPr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6.1  Linux系统用户账号的管理</a:t>
              </a:r>
            </a:p>
          </p:txBody>
        </p:sp>
      </p:grpSp>
      <p:grpSp>
        <p:nvGrpSpPr>
          <p:cNvPr id="5" name="Group 10"/>
          <p:cNvGrpSpPr/>
          <p:nvPr/>
        </p:nvGrpSpPr>
        <p:grpSpPr>
          <a:xfrm>
            <a:off x="2728595" y="3669030"/>
            <a:ext cx="6736080" cy="605790"/>
            <a:chOff x="3" y="0"/>
            <a:chExt cx="4243" cy="333"/>
          </a:xfrm>
          <a:solidFill>
            <a:schemeClr val="bg2"/>
          </a:solidFill>
        </p:grpSpPr>
        <p:grpSp>
          <p:nvGrpSpPr>
            <p:cNvPr id="6" name="Group 11"/>
            <p:cNvGrpSpPr/>
            <p:nvPr/>
          </p:nvGrpSpPr>
          <p:grpSpPr>
            <a:xfrm>
              <a:off x="3" y="0"/>
              <a:ext cx="4243" cy="333"/>
              <a:chOff x="0" y="0"/>
              <a:chExt cx="4243" cy="333"/>
            </a:xfrm>
            <a:grpFill/>
          </p:grpSpPr>
          <p:sp>
            <p:nvSpPr>
              <p:cNvPr id="20492" name="AutoShape 12"/>
              <p:cNvSpPr/>
              <p:nvPr/>
            </p:nvSpPr>
            <p:spPr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grpFill/>
              <a:ln w="3175" cap="flat" cmpd="sng">
                <a:solidFill>
                  <a:srgbClr val="969696">
                    <a:alpha val="56862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20493" name="AutoShape 13"/>
              <p:cNvSpPr/>
              <p:nvPr/>
            </p:nvSpPr>
            <p:spPr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pFill/>
              <a:ln w="9525">
                <a:noFill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0494" name="Text Box 14"/>
            <p:cNvSpPr txBox="1"/>
            <p:nvPr/>
          </p:nvSpPr>
          <p:spPr>
            <a:xfrm>
              <a:off x="721" y="44"/>
              <a:ext cx="3016" cy="289"/>
            </a:xfrm>
            <a:prstGeom prst="rect">
              <a:avLst/>
            </a:prstGeom>
            <a:grpFill/>
            <a:ln w="9525">
              <a:noFill/>
            </a:ln>
          </p:spPr>
          <p:txBody>
            <a:bodyPr anchor="ctr"/>
            <a:lstStyle/>
            <a:p>
              <a:pPr lvl="0" indent="0" algn="l">
                <a:spcBef>
                  <a:spcPct val="50000"/>
                </a:spcBef>
              </a:pPr>
              <a:r>
                <a:rPr lang="zh-CN" altLang="en-US" sz="2400" b="1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6.2  Linux系统用户组的管理</a:t>
              </a:r>
            </a:p>
          </p:txBody>
        </p:sp>
      </p:grpSp>
      <p:grpSp>
        <p:nvGrpSpPr>
          <p:cNvPr id="7" name="Group 15"/>
          <p:cNvGrpSpPr/>
          <p:nvPr/>
        </p:nvGrpSpPr>
        <p:grpSpPr>
          <a:xfrm>
            <a:off x="2728595" y="4932045"/>
            <a:ext cx="6736080" cy="605155"/>
            <a:chOff x="3" y="0"/>
            <a:chExt cx="4243" cy="333"/>
          </a:xfrm>
          <a:solidFill>
            <a:schemeClr val="bg2"/>
          </a:solidFill>
        </p:grpSpPr>
        <p:grpSp>
          <p:nvGrpSpPr>
            <p:cNvPr id="8" name="Group 16"/>
            <p:cNvGrpSpPr/>
            <p:nvPr/>
          </p:nvGrpSpPr>
          <p:grpSpPr>
            <a:xfrm>
              <a:off x="3" y="0"/>
              <a:ext cx="4243" cy="333"/>
              <a:chOff x="0" y="0"/>
              <a:chExt cx="4243" cy="333"/>
            </a:xfrm>
            <a:grpFill/>
          </p:grpSpPr>
          <p:sp>
            <p:nvSpPr>
              <p:cNvPr id="20497" name="AutoShape 17"/>
              <p:cNvSpPr/>
              <p:nvPr/>
            </p:nvSpPr>
            <p:spPr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grpFill/>
              <a:ln w="3175" cap="flat" cmpd="sng">
                <a:solidFill>
                  <a:srgbClr val="969696">
                    <a:alpha val="56862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20498" name="AutoShape 18"/>
              <p:cNvSpPr/>
              <p:nvPr/>
            </p:nvSpPr>
            <p:spPr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pFill/>
              <a:ln w="9525">
                <a:noFill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0499" name="Text Box 19"/>
            <p:cNvSpPr txBox="1"/>
            <p:nvPr/>
          </p:nvSpPr>
          <p:spPr>
            <a:xfrm>
              <a:off x="716" y="22"/>
              <a:ext cx="2801" cy="289"/>
            </a:xfrm>
            <a:prstGeom prst="rect">
              <a:avLst/>
            </a:prstGeom>
            <a:grpFill/>
            <a:ln w="9525">
              <a:noFill/>
            </a:ln>
          </p:spPr>
          <p:txBody>
            <a:bodyPr anchor="ctr"/>
            <a:lstStyle/>
            <a:p>
              <a:pPr lvl="0" indent="0" algn="l">
                <a:spcBef>
                  <a:spcPct val="50000"/>
                </a:spcBef>
              </a:pPr>
              <a:r>
                <a:rPr lang="zh-CN" altLang="en-US" sz="2400" b="1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6.3  查看用户和用户组状态</a:t>
              </a: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4260215" y="309245"/>
            <a:ext cx="2047875" cy="7156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目录</a:t>
            </a:r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2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ldLvl="0" animBg="1"/>
      <p:bldP spid="6148" grpId="0" bldLvl="0"/>
      <p:bldP spid="6148" grpId="1" bldLvl="0"/>
      <p:bldP spid="6148" grpId="2" bldLvl="0"/>
      <p:bldP spid="6148" grpId="3" bldLvl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504190" y="2282190"/>
            <a:ext cx="11158220" cy="4264025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13"/>
          <p:cNvSpPr>
            <a:spLocks noChangeArrowheads="1"/>
          </p:cNvSpPr>
          <p:nvPr/>
        </p:nvSpPr>
        <p:spPr bwMode="gray">
          <a:xfrm>
            <a:off x="478155" y="1191895"/>
            <a:ext cx="11184255" cy="84455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478155" y="1405255"/>
            <a:ext cx="7799070" cy="4178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用户账号的管理工作主要涉及到用户账号的添加、修改和删除。</a:t>
            </a:r>
          </a:p>
        </p:txBody>
      </p:sp>
      <p:sp>
        <p:nvSpPr>
          <p:cNvPr id="3" name="圆角矩形 4"/>
          <p:cNvSpPr>
            <a:spLocks noChangeArrowheads="1"/>
          </p:cNvSpPr>
          <p:nvPr/>
        </p:nvSpPr>
        <p:spPr bwMode="auto">
          <a:xfrm>
            <a:off x="7239635" y="4227830"/>
            <a:ext cx="533400" cy="1672590"/>
          </a:xfrm>
          <a:prstGeom prst="roundRect">
            <a:avLst>
              <a:gd name="adj" fmla="val 50000"/>
            </a:avLst>
          </a:prstGeom>
          <a:noFill/>
          <a:ln w="12700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lIns="91429" tIns="45715" rIns="91429" bIns="45715" anchor="ctr"/>
          <a:lstStyle/>
          <a:p>
            <a:pPr algn="r"/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用法 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5"/>
          <p:cNvSpPr>
            <a:spLocks noChangeArrowheads="1"/>
          </p:cNvSpPr>
          <p:nvPr/>
        </p:nvSpPr>
        <p:spPr bwMode="auto">
          <a:xfrm rot="14345375">
            <a:off x="7771130" y="3276600"/>
            <a:ext cx="519430" cy="1818005"/>
          </a:xfrm>
          <a:prstGeom prst="roundRect">
            <a:avLst>
              <a:gd name="adj" fmla="val 50000"/>
            </a:avLst>
          </a:prstGeom>
          <a:noFill/>
          <a:ln w="12700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vert" lIns="91429" tIns="45715" rIns="91429" bIns="45715" anchor="ctr"/>
          <a:lstStyle/>
          <a:p>
            <a:pPr algn="r"/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 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6"/>
          <p:cNvSpPr>
            <a:spLocks noChangeArrowheads="1"/>
          </p:cNvSpPr>
          <p:nvPr/>
        </p:nvSpPr>
        <p:spPr bwMode="auto">
          <a:xfrm rot="18203060">
            <a:off x="6708140" y="3310890"/>
            <a:ext cx="603885" cy="1704340"/>
          </a:xfrm>
          <a:prstGeom prst="roundRect">
            <a:avLst>
              <a:gd name="adj" fmla="val 50000"/>
            </a:avLst>
          </a:prstGeom>
          <a:noFill/>
          <a:ln w="12700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vert" lIns="91429" tIns="45715" rIns="91429" bIns="45715" anchor="ctr"/>
          <a:lstStyle/>
          <a:p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功能</a:t>
            </a:r>
          </a:p>
        </p:txBody>
      </p:sp>
      <p:grpSp>
        <p:nvGrpSpPr>
          <p:cNvPr id="10" name="Group 9"/>
          <p:cNvGrpSpPr/>
          <p:nvPr/>
        </p:nvGrpSpPr>
        <p:grpSpPr bwMode="auto">
          <a:xfrm>
            <a:off x="7242175" y="4224655"/>
            <a:ext cx="532130" cy="551815"/>
            <a:chOff x="0" y="0"/>
            <a:chExt cx="971452" cy="971452"/>
          </a:xfrm>
        </p:grpSpPr>
        <p:sp>
          <p:nvSpPr>
            <p:cNvPr id="13" name="椭圆 3"/>
            <p:cNvSpPr>
              <a:spLocks noChangeArrowheads="1"/>
            </p:cNvSpPr>
            <p:nvPr/>
          </p:nvSpPr>
          <p:spPr bwMode="auto">
            <a:xfrm>
              <a:off x="170644" y="153612"/>
              <a:ext cx="665551" cy="66422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en-US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6" name="椭圆 10"/>
            <p:cNvSpPr>
              <a:spLocks noChangeArrowheads="1"/>
            </p:cNvSpPr>
            <p:nvPr/>
          </p:nvSpPr>
          <p:spPr bwMode="auto">
            <a:xfrm>
              <a:off x="0" y="0"/>
              <a:ext cx="971452" cy="971452"/>
            </a:xfrm>
            <a:prstGeom prst="ellipse">
              <a:avLst/>
            </a:prstGeom>
            <a:noFill/>
            <a:ln w="57150" cmpd="sng">
              <a:solidFill>
                <a:srgbClr val="0070C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6610312" y="5900410"/>
            <a:ext cx="3714776" cy="54864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indent="0" algn="l" eaLnBrk="1" fontAlgn="auto" latinLnBrk="0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useradd  [参数选项]  用户名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959850" y="3244215"/>
            <a:ext cx="1995170" cy="525657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useradd</a:t>
            </a:r>
            <a:endParaRPr lang="zh-CN" altLang="en-US" sz="2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201920" y="2898775"/>
            <a:ext cx="1931035" cy="56642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创建新用户</a:t>
            </a:r>
            <a:endParaRPr lang="zh-CN" altLang="en-US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4" name="组合 1"/>
          <p:cNvGrpSpPr/>
          <p:nvPr/>
        </p:nvGrpSpPr>
        <p:grpSpPr bwMode="auto">
          <a:xfrm>
            <a:off x="671195" y="2383155"/>
            <a:ext cx="3709034" cy="530225"/>
            <a:chOff x="1131471" y="1662259"/>
            <a:chExt cx="5369375" cy="530225"/>
          </a:xfrm>
        </p:grpSpPr>
        <p:sp>
          <p:nvSpPr>
            <p:cNvPr id="35" name="矩形 6"/>
            <p:cNvSpPr>
              <a:spLocks noChangeArrowheads="1"/>
            </p:cNvSpPr>
            <p:nvPr/>
          </p:nvSpPr>
          <p:spPr bwMode="auto">
            <a:xfrm>
              <a:off x="1654206" y="1662259"/>
              <a:ext cx="4846640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6.1.1  添加新用户</a:t>
              </a:r>
            </a:p>
          </p:txBody>
        </p:sp>
        <p:sp>
          <p:nvSpPr>
            <p:cNvPr id="36" name="椭圆 35"/>
            <p:cNvSpPr/>
            <p:nvPr/>
          </p:nvSpPr>
          <p:spPr bwMode="auto">
            <a:xfrm>
              <a:off x="1131471" y="1795609"/>
              <a:ext cx="469038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2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sp>
        <p:nvSpPr>
          <p:cNvPr id="37" name="Text Box 44"/>
          <p:cNvSpPr txBox="1">
            <a:spLocks noChangeArrowheads="1"/>
          </p:cNvSpPr>
          <p:nvPr/>
        </p:nvSpPr>
        <p:spPr bwMode="auto">
          <a:xfrm>
            <a:off x="828040" y="3357880"/>
            <a:ext cx="3832225" cy="2377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tx1"/>
                </a:solidFill>
                <a:sym typeface="Arial Unicode MS" panose="020B0604020202020204" pitchFamily="34" charset="-122"/>
              </a:rPr>
              <a:t>添加用户账号就是在系统中创建一个新账号，然后为新账号分配用户号、用户组、主目录和登录Shell等资源。刚添加的账号是被锁定的，无法使用。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bldLvl="0" animBg="1" autoUpdateAnimBg="0"/>
      <p:bldP spid="4" grpId="0" bldLvl="0" animBg="1" autoUpdateAnimBg="0"/>
      <p:bldP spid="5" grpId="0" bldLvl="0" animBg="1" autoUpdateAnimBg="0"/>
      <p:bldP spid="19" grpId="0" bldLvl="0" animBg="1"/>
      <p:bldP spid="20" grpId="0" bldLvl="0" animBg="1"/>
      <p:bldP spid="30" grpId="0" bldLvl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1"/>
          <p:cNvGrpSpPr/>
          <p:nvPr/>
        </p:nvGrpSpPr>
        <p:grpSpPr bwMode="auto">
          <a:xfrm>
            <a:off x="671195" y="1071563"/>
            <a:ext cx="5172075" cy="530225"/>
            <a:chOff x="1131471" y="1692739"/>
            <a:chExt cx="5170817" cy="530225"/>
          </a:xfrm>
        </p:grpSpPr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55648" y="1692739"/>
              <a:ext cx="4846640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6.1.1  添加新用户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131471" y="1795926"/>
              <a:ext cx="323771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2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728710" y="2111313"/>
            <a:ext cx="2785745" cy="3697667"/>
            <a:chOff x="13357" y="7370"/>
            <a:chExt cx="5138" cy="2509"/>
          </a:xfrm>
        </p:grpSpPr>
        <p:grpSp>
          <p:nvGrpSpPr>
            <p:cNvPr id="28" name="组合 14"/>
            <p:cNvGrpSpPr/>
            <p:nvPr/>
          </p:nvGrpSpPr>
          <p:grpSpPr bwMode="auto">
            <a:xfrm>
              <a:off x="13357" y="7617"/>
              <a:ext cx="5138" cy="2262"/>
              <a:chOff x="1166778" y="1786456"/>
              <a:chExt cx="9858444" cy="1713982"/>
            </a:xfrm>
          </p:grpSpPr>
          <p:grpSp>
            <p:nvGrpSpPr>
              <p:cNvPr id="10249" name="组合 12"/>
              <p:cNvGrpSpPr/>
              <p:nvPr/>
            </p:nvGrpSpPr>
            <p:grpSpPr bwMode="auto">
              <a:xfrm>
                <a:off x="1166778" y="1786456"/>
                <a:ext cx="9858444" cy="1713982"/>
                <a:chOff x="1166778" y="1786456"/>
                <a:chExt cx="9858444" cy="1713982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10252" name="矩形 6"/>
                <p:cNvSpPr>
                  <a:spLocks noChangeArrowheads="1"/>
                </p:cNvSpPr>
                <p:nvPr/>
              </p:nvSpPr>
              <p:spPr bwMode="auto">
                <a:xfrm>
                  <a:off x="3713344" y="1840311"/>
                  <a:ext cx="2479793" cy="2350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10250" name="MH_Text_1"/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1436442" y="2068861"/>
                <a:ext cx="9451702" cy="1324855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eaLnBrk="1" latinLnBrk="0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1800" b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Linux中系统用户ID小于500，普通用户ID从500开始编号，用户组ID也从500开始。用户账户信息保存在/etc/passwd配置文件中，可通过查看此配置文件来查询用户信息。</a:t>
                </a:r>
              </a:p>
            </p:txBody>
          </p:sp>
        </p:grpSp>
        <p:pic>
          <p:nvPicPr>
            <p:cNvPr id="30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2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357" y="7370"/>
              <a:ext cx="1747" cy="7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2" name="组合 11"/>
          <p:cNvGrpSpPr/>
          <p:nvPr/>
        </p:nvGrpSpPr>
        <p:grpSpPr>
          <a:xfrm>
            <a:off x="1604010" y="1941195"/>
            <a:ext cx="6905625" cy="467995"/>
            <a:chOff x="2213609" y="1428736"/>
            <a:chExt cx="8382985" cy="660400"/>
          </a:xfrm>
        </p:grpSpPr>
        <p:sp>
          <p:nvSpPr>
            <p:cNvPr id="2" name="MH_SubTitle_1"/>
            <p:cNvSpPr/>
            <p:nvPr>
              <p:custDataLst>
                <p:tags r:id="rId17"/>
              </p:custDataLst>
            </p:nvPr>
          </p:nvSpPr>
          <p:spPr>
            <a:xfrm>
              <a:off x="3595670" y="1454137"/>
              <a:ext cx="7000924" cy="604837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solidFill>
              <a:srgbClr val="D3EFF5">
                <a:alpha val="8980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360000" tIns="0" rIns="0" bIns="0" spcCol="1270" anchor="ctr"/>
            <a:lstStyle/>
            <a:p>
              <a:pPr>
                <a:lnSpc>
                  <a:spcPct val="130000"/>
                </a:lnSpc>
                <a:defRPr/>
              </a:pPr>
              <a:r>
                <a:rPr altLang="en-US" sz="18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主目录，指定用户主目录，默认为/home/用户名。</a:t>
              </a:r>
            </a:p>
          </p:txBody>
        </p:sp>
        <p:sp>
          <p:nvSpPr>
            <p:cNvPr id="3" name="MH_Other_1"/>
            <p:cNvSpPr/>
            <p:nvPr>
              <p:custDataLst>
                <p:tags r:id="rId18"/>
              </p:custDataLst>
            </p:nvPr>
          </p:nvSpPr>
          <p:spPr>
            <a:xfrm>
              <a:off x="2213609" y="1428736"/>
              <a:ext cx="1712056" cy="660400"/>
            </a:xfrm>
            <a:custGeom>
              <a:avLst/>
              <a:gdLst>
                <a:gd name="connsiteX0" fmla="*/ 0 w 872351"/>
                <a:gd name="connsiteY0" fmla="*/ 0 h 721783"/>
                <a:gd name="connsiteX1" fmla="*/ 697880 w 872351"/>
                <a:gd name="connsiteY1" fmla="*/ 0 h 721783"/>
                <a:gd name="connsiteX2" fmla="*/ 872351 w 872351"/>
                <a:gd name="connsiteY2" fmla="*/ 360892 h 721783"/>
                <a:gd name="connsiteX3" fmla="*/ 697880 w 872351"/>
                <a:gd name="connsiteY3" fmla="*/ 721783 h 721783"/>
                <a:gd name="connsiteX4" fmla="*/ 0 w 872351"/>
                <a:gd name="connsiteY4" fmla="*/ 721783 h 721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351" h="721783">
                  <a:moveTo>
                    <a:pt x="0" y="0"/>
                  </a:moveTo>
                  <a:lnTo>
                    <a:pt x="697880" y="0"/>
                  </a:lnTo>
                  <a:lnTo>
                    <a:pt x="872351" y="360892"/>
                  </a:lnTo>
                  <a:lnTo>
                    <a:pt x="697880" y="721783"/>
                  </a:lnTo>
                  <a:lnTo>
                    <a:pt x="0" y="721783"/>
                  </a:lnTo>
                  <a:close/>
                </a:path>
              </a:pathLst>
            </a:custGeom>
            <a:solidFill>
              <a:srgbClr val="13B7F3"/>
            </a:solidFill>
            <a:ln w="762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b="1" dirty="0" smtClean="0">
                  <a:solidFill>
                    <a:srgbClr val="FFFFFF"/>
                  </a:solidFill>
                </a:rPr>
                <a:t>-d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604010" y="2409190"/>
            <a:ext cx="6905625" cy="467995"/>
            <a:chOff x="2213609" y="2349487"/>
            <a:chExt cx="8382985" cy="658812"/>
          </a:xfrm>
        </p:grpSpPr>
        <p:sp>
          <p:nvSpPr>
            <p:cNvPr id="4" name="MH_SubTitle_2"/>
            <p:cNvSpPr/>
            <p:nvPr>
              <p:custDataLst>
                <p:tags r:id="rId15"/>
              </p:custDataLst>
            </p:nvPr>
          </p:nvSpPr>
          <p:spPr>
            <a:xfrm>
              <a:off x="3595670" y="2374888"/>
              <a:ext cx="7000924" cy="604837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solidFill>
              <a:srgbClr val="D3EFF5">
                <a:alpha val="8980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360000" tIns="0" rIns="0" bIns="0" spcCol="1270" anchor="ctr">
              <a:norm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若主目录不存在，则创建它。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" name="MH_Other_2"/>
            <p:cNvSpPr/>
            <p:nvPr>
              <p:custDataLst>
                <p:tags r:id="rId16"/>
              </p:custDataLst>
            </p:nvPr>
          </p:nvSpPr>
          <p:spPr>
            <a:xfrm>
              <a:off x="2213609" y="2349487"/>
              <a:ext cx="1712056" cy="658812"/>
            </a:xfrm>
            <a:custGeom>
              <a:avLst/>
              <a:gdLst>
                <a:gd name="connsiteX0" fmla="*/ 0 w 872351"/>
                <a:gd name="connsiteY0" fmla="*/ 0 h 721783"/>
                <a:gd name="connsiteX1" fmla="*/ 697880 w 872351"/>
                <a:gd name="connsiteY1" fmla="*/ 0 h 721783"/>
                <a:gd name="connsiteX2" fmla="*/ 872351 w 872351"/>
                <a:gd name="connsiteY2" fmla="*/ 360892 h 721783"/>
                <a:gd name="connsiteX3" fmla="*/ 697880 w 872351"/>
                <a:gd name="connsiteY3" fmla="*/ 721783 h 721783"/>
                <a:gd name="connsiteX4" fmla="*/ 0 w 872351"/>
                <a:gd name="connsiteY4" fmla="*/ 721783 h 721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351" h="721783">
                  <a:moveTo>
                    <a:pt x="0" y="0"/>
                  </a:moveTo>
                  <a:lnTo>
                    <a:pt x="697880" y="0"/>
                  </a:lnTo>
                  <a:lnTo>
                    <a:pt x="872351" y="360892"/>
                  </a:lnTo>
                  <a:lnTo>
                    <a:pt x="697880" y="721783"/>
                  </a:lnTo>
                  <a:lnTo>
                    <a:pt x="0" y="721783"/>
                  </a:lnTo>
                  <a:close/>
                </a:path>
              </a:pathLst>
            </a:custGeom>
            <a:solidFill>
              <a:srgbClr val="13B7F3"/>
            </a:solidFill>
            <a:ln w="762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b="1" dirty="0" smtClean="0">
                  <a:solidFill>
                    <a:srgbClr val="FFFFFF"/>
                  </a:solidFill>
                </a:rPr>
                <a:t>-m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604010" y="2884805"/>
            <a:ext cx="6891020" cy="467995"/>
            <a:chOff x="2231339" y="3270238"/>
            <a:chExt cx="8365255" cy="658812"/>
          </a:xfrm>
        </p:grpSpPr>
        <p:sp>
          <p:nvSpPr>
            <p:cNvPr id="6" name="MH_SubTitle_3"/>
            <p:cNvSpPr/>
            <p:nvPr>
              <p:custDataLst>
                <p:tags r:id="rId13"/>
              </p:custDataLst>
            </p:nvPr>
          </p:nvSpPr>
          <p:spPr>
            <a:xfrm>
              <a:off x="3595670" y="3294051"/>
              <a:ext cx="7000924" cy="606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solidFill>
              <a:srgbClr val="D3EFF5">
                <a:alpha val="8980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360000" tIns="0" rIns="0" bIns="0" spcCol="1270" anchor="ctr">
              <a:norm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注释对新建用户的注释说明。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7" name="MH_Other_3"/>
            <p:cNvSpPr/>
            <p:nvPr>
              <p:custDataLst>
                <p:tags r:id="rId14"/>
              </p:custDataLst>
            </p:nvPr>
          </p:nvSpPr>
          <p:spPr>
            <a:xfrm>
              <a:off x="2231339" y="3270238"/>
              <a:ext cx="1713106" cy="658812"/>
            </a:xfrm>
            <a:custGeom>
              <a:avLst/>
              <a:gdLst>
                <a:gd name="connsiteX0" fmla="*/ 0 w 872351"/>
                <a:gd name="connsiteY0" fmla="*/ 0 h 721783"/>
                <a:gd name="connsiteX1" fmla="*/ 697880 w 872351"/>
                <a:gd name="connsiteY1" fmla="*/ 0 h 721783"/>
                <a:gd name="connsiteX2" fmla="*/ 872351 w 872351"/>
                <a:gd name="connsiteY2" fmla="*/ 360892 h 721783"/>
                <a:gd name="connsiteX3" fmla="*/ 697880 w 872351"/>
                <a:gd name="connsiteY3" fmla="*/ 721783 h 721783"/>
                <a:gd name="connsiteX4" fmla="*/ 0 w 872351"/>
                <a:gd name="connsiteY4" fmla="*/ 721783 h 721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351" h="721783">
                  <a:moveTo>
                    <a:pt x="0" y="0"/>
                  </a:moveTo>
                  <a:lnTo>
                    <a:pt x="697880" y="0"/>
                  </a:lnTo>
                  <a:lnTo>
                    <a:pt x="872351" y="360892"/>
                  </a:lnTo>
                  <a:lnTo>
                    <a:pt x="697880" y="721783"/>
                  </a:lnTo>
                  <a:lnTo>
                    <a:pt x="0" y="721783"/>
                  </a:lnTo>
                  <a:close/>
                </a:path>
              </a:pathLst>
            </a:custGeom>
            <a:solidFill>
              <a:srgbClr val="13B7F3"/>
            </a:solidFill>
            <a:ln w="762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b="1" dirty="0" smtClean="0">
                  <a:solidFill>
                    <a:srgbClr val="FFFFFF"/>
                  </a:solidFill>
                </a:rPr>
                <a:t>-c 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604010" y="3375660"/>
            <a:ext cx="6906260" cy="467995"/>
            <a:chOff x="2249839" y="4189401"/>
            <a:chExt cx="8383756" cy="660400"/>
          </a:xfrm>
        </p:grpSpPr>
        <p:sp>
          <p:nvSpPr>
            <p:cNvPr id="8" name="MH_SubTitle_4"/>
            <p:cNvSpPr/>
            <p:nvPr>
              <p:custDataLst>
                <p:tags r:id="rId11"/>
              </p:custDataLst>
            </p:nvPr>
          </p:nvSpPr>
          <p:spPr>
            <a:xfrm>
              <a:off x="3595742" y="4214491"/>
              <a:ext cx="7037853" cy="606636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solidFill>
              <a:srgbClr val="D3EFF5">
                <a:alpha val="8980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360000" tIns="0" rIns="0" bIns="0" spcCol="1270" anchor="ctr">
              <a:norm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不创建主目录。</a:t>
              </a:r>
            </a:p>
          </p:txBody>
        </p:sp>
        <p:sp>
          <p:nvSpPr>
            <p:cNvPr id="9" name="MH_Other_4"/>
            <p:cNvSpPr/>
            <p:nvPr>
              <p:custDataLst>
                <p:tags r:id="rId12"/>
              </p:custDataLst>
            </p:nvPr>
          </p:nvSpPr>
          <p:spPr>
            <a:xfrm>
              <a:off x="2249839" y="4189401"/>
              <a:ext cx="1713106" cy="660400"/>
            </a:xfrm>
            <a:custGeom>
              <a:avLst/>
              <a:gdLst>
                <a:gd name="connsiteX0" fmla="*/ 0 w 872351"/>
                <a:gd name="connsiteY0" fmla="*/ 0 h 721783"/>
                <a:gd name="connsiteX1" fmla="*/ 697880 w 872351"/>
                <a:gd name="connsiteY1" fmla="*/ 0 h 721783"/>
                <a:gd name="connsiteX2" fmla="*/ 872351 w 872351"/>
                <a:gd name="connsiteY2" fmla="*/ 360892 h 721783"/>
                <a:gd name="connsiteX3" fmla="*/ 697880 w 872351"/>
                <a:gd name="connsiteY3" fmla="*/ 721783 h 721783"/>
                <a:gd name="connsiteX4" fmla="*/ 0 w 872351"/>
                <a:gd name="connsiteY4" fmla="*/ 721783 h 721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351" h="721783">
                  <a:moveTo>
                    <a:pt x="0" y="0"/>
                  </a:moveTo>
                  <a:lnTo>
                    <a:pt x="697880" y="0"/>
                  </a:lnTo>
                  <a:lnTo>
                    <a:pt x="872351" y="360892"/>
                  </a:lnTo>
                  <a:lnTo>
                    <a:pt x="697880" y="721783"/>
                  </a:lnTo>
                  <a:lnTo>
                    <a:pt x="0" y="721783"/>
                  </a:lnTo>
                  <a:close/>
                </a:path>
              </a:pathLst>
            </a:custGeom>
            <a:solidFill>
              <a:srgbClr val="13B7F3"/>
            </a:solidFill>
            <a:ln w="762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b="1" dirty="0" smtClean="0">
                  <a:solidFill>
                    <a:srgbClr val="FFFFFF"/>
                  </a:solidFill>
                </a:rPr>
                <a:t>-M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604010" y="3881120"/>
            <a:ext cx="6906259" cy="467995"/>
            <a:chOff x="2269110" y="5110152"/>
            <a:chExt cx="8383755" cy="660400"/>
          </a:xfrm>
        </p:grpSpPr>
        <p:sp>
          <p:nvSpPr>
            <p:cNvPr id="10" name="MH_SubTitle_5"/>
            <p:cNvSpPr/>
            <p:nvPr>
              <p:custDataLst>
                <p:tags r:id="rId9"/>
              </p:custDataLst>
            </p:nvPr>
          </p:nvSpPr>
          <p:spPr>
            <a:xfrm>
              <a:off x="3595741" y="5135242"/>
              <a:ext cx="7057124" cy="606636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solidFill>
              <a:srgbClr val="D3EFF5">
                <a:alpha val="8980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360000" tIns="0" rIns="0" bIns="0" spcCol="1270" anchor="ctr">
              <a:normAutofit/>
            </a:bodyPr>
            <a:lstStyle/>
            <a:p>
              <a:pPr marL="0" indent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用户组，指定将该用户加入到哪一个用户组中。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" name="MH_Other_5"/>
            <p:cNvSpPr/>
            <p:nvPr>
              <p:custDataLst>
                <p:tags r:id="rId10"/>
              </p:custDataLst>
            </p:nvPr>
          </p:nvSpPr>
          <p:spPr>
            <a:xfrm>
              <a:off x="2269110" y="5110152"/>
              <a:ext cx="1713106" cy="660400"/>
            </a:xfrm>
            <a:custGeom>
              <a:avLst/>
              <a:gdLst>
                <a:gd name="connsiteX0" fmla="*/ 0 w 872351"/>
                <a:gd name="connsiteY0" fmla="*/ 0 h 721783"/>
                <a:gd name="connsiteX1" fmla="*/ 697880 w 872351"/>
                <a:gd name="connsiteY1" fmla="*/ 0 h 721783"/>
                <a:gd name="connsiteX2" fmla="*/ 872351 w 872351"/>
                <a:gd name="connsiteY2" fmla="*/ 360892 h 721783"/>
                <a:gd name="connsiteX3" fmla="*/ 697880 w 872351"/>
                <a:gd name="connsiteY3" fmla="*/ 721783 h 721783"/>
                <a:gd name="connsiteX4" fmla="*/ 0 w 872351"/>
                <a:gd name="connsiteY4" fmla="*/ 721783 h 721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351" h="721783">
                  <a:moveTo>
                    <a:pt x="0" y="0"/>
                  </a:moveTo>
                  <a:lnTo>
                    <a:pt x="697880" y="0"/>
                  </a:lnTo>
                  <a:lnTo>
                    <a:pt x="872351" y="360892"/>
                  </a:lnTo>
                  <a:lnTo>
                    <a:pt x="697880" y="721783"/>
                  </a:lnTo>
                  <a:lnTo>
                    <a:pt x="0" y="721783"/>
                  </a:lnTo>
                  <a:close/>
                </a:path>
              </a:pathLst>
            </a:custGeom>
            <a:solidFill>
              <a:srgbClr val="13B7F3"/>
            </a:solidFill>
            <a:ln w="762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 smtClean="0">
                  <a:solidFill>
                    <a:srgbClr val="FFFFFF"/>
                  </a:solidFill>
                </a:rPr>
                <a:t>-g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604010" y="4387215"/>
            <a:ext cx="6905625" cy="467995"/>
            <a:chOff x="2287611" y="5110152"/>
            <a:chExt cx="8382985" cy="660400"/>
          </a:xfrm>
        </p:grpSpPr>
        <p:sp>
          <p:nvSpPr>
            <p:cNvPr id="18" name="MH_SubTitle_5"/>
            <p:cNvSpPr/>
            <p:nvPr>
              <p:custDataLst>
                <p:tags r:id="rId7"/>
              </p:custDataLst>
            </p:nvPr>
          </p:nvSpPr>
          <p:spPr>
            <a:xfrm>
              <a:off x="3595742" y="5135242"/>
              <a:ext cx="7074854" cy="606636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solidFill>
              <a:srgbClr val="D3EFF5">
                <a:alpha val="8980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360000" tIns="0" rIns="0" bIns="0" spcCol="1270" anchor="ctr">
              <a:noAutofit/>
            </a:bodyPr>
            <a:lstStyle/>
            <a:p>
              <a:r>
                <a:rPr lang="en-US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不为用户创建私有用户组。</a:t>
              </a:r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9" name="MH_Other_5"/>
            <p:cNvSpPr/>
            <p:nvPr>
              <p:custDataLst>
                <p:tags r:id="rId8"/>
              </p:custDataLst>
            </p:nvPr>
          </p:nvSpPr>
          <p:spPr>
            <a:xfrm>
              <a:off x="2287611" y="5110152"/>
              <a:ext cx="1713106" cy="660400"/>
            </a:xfrm>
            <a:custGeom>
              <a:avLst/>
              <a:gdLst>
                <a:gd name="connsiteX0" fmla="*/ 0 w 872351"/>
                <a:gd name="connsiteY0" fmla="*/ 0 h 721783"/>
                <a:gd name="connsiteX1" fmla="*/ 697880 w 872351"/>
                <a:gd name="connsiteY1" fmla="*/ 0 h 721783"/>
                <a:gd name="connsiteX2" fmla="*/ 872351 w 872351"/>
                <a:gd name="connsiteY2" fmla="*/ 360892 h 721783"/>
                <a:gd name="connsiteX3" fmla="*/ 697880 w 872351"/>
                <a:gd name="connsiteY3" fmla="*/ 721783 h 721783"/>
                <a:gd name="connsiteX4" fmla="*/ 0 w 872351"/>
                <a:gd name="connsiteY4" fmla="*/ 721783 h 721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351" h="721783">
                  <a:moveTo>
                    <a:pt x="0" y="0"/>
                  </a:moveTo>
                  <a:lnTo>
                    <a:pt x="697880" y="0"/>
                  </a:lnTo>
                  <a:lnTo>
                    <a:pt x="872351" y="360892"/>
                  </a:lnTo>
                  <a:lnTo>
                    <a:pt x="697880" y="721783"/>
                  </a:lnTo>
                  <a:lnTo>
                    <a:pt x="0" y="721783"/>
                  </a:lnTo>
                  <a:close/>
                </a:path>
              </a:pathLst>
            </a:custGeom>
            <a:solidFill>
              <a:srgbClr val="13B7F3"/>
            </a:solidFill>
            <a:ln w="762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400" b="1" dirty="0" smtClean="0"/>
                <a:t>-n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604010" y="4882515"/>
            <a:ext cx="6906260" cy="467995"/>
            <a:chOff x="2269110" y="5135242"/>
            <a:chExt cx="8327484" cy="660400"/>
          </a:xfrm>
        </p:grpSpPr>
        <p:sp>
          <p:nvSpPr>
            <p:cNvPr id="24" name="MH_SubTitle_5"/>
            <p:cNvSpPr/>
            <p:nvPr>
              <p:custDataLst>
                <p:tags r:id="rId5"/>
              </p:custDataLst>
            </p:nvPr>
          </p:nvSpPr>
          <p:spPr>
            <a:xfrm>
              <a:off x="3595670" y="5135553"/>
              <a:ext cx="7000924" cy="606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solidFill>
              <a:srgbClr val="D3EFF5">
                <a:alpha val="8980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360000" tIns="0" rIns="0" bIns="0" spcCol="1270" anchor="ctr">
              <a:normAutofit/>
            </a:bodyPr>
            <a:lstStyle/>
            <a:p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创建一个ID小于500的系统用户。</a:t>
              </a:r>
            </a:p>
          </p:txBody>
        </p:sp>
        <p:sp>
          <p:nvSpPr>
            <p:cNvPr id="25" name="MH_Other_5"/>
            <p:cNvSpPr/>
            <p:nvPr>
              <p:custDataLst>
                <p:tags r:id="rId6"/>
              </p:custDataLst>
            </p:nvPr>
          </p:nvSpPr>
          <p:spPr>
            <a:xfrm>
              <a:off x="2269110" y="5135242"/>
              <a:ext cx="1713106" cy="660400"/>
            </a:xfrm>
            <a:custGeom>
              <a:avLst/>
              <a:gdLst>
                <a:gd name="connsiteX0" fmla="*/ 0 w 872351"/>
                <a:gd name="connsiteY0" fmla="*/ 0 h 721783"/>
                <a:gd name="connsiteX1" fmla="*/ 697880 w 872351"/>
                <a:gd name="connsiteY1" fmla="*/ 0 h 721783"/>
                <a:gd name="connsiteX2" fmla="*/ 872351 w 872351"/>
                <a:gd name="connsiteY2" fmla="*/ 360892 h 721783"/>
                <a:gd name="connsiteX3" fmla="*/ 697880 w 872351"/>
                <a:gd name="connsiteY3" fmla="*/ 721783 h 721783"/>
                <a:gd name="connsiteX4" fmla="*/ 0 w 872351"/>
                <a:gd name="connsiteY4" fmla="*/ 721783 h 721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351" h="721783">
                  <a:moveTo>
                    <a:pt x="0" y="0"/>
                  </a:moveTo>
                  <a:lnTo>
                    <a:pt x="697880" y="0"/>
                  </a:lnTo>
                  <a:lnTo>
                    <a:pt x="872351" y="360892"/>
                  </a:lnTo>
                  <a:lnTo>
                    <a:pt x="697880" y="721783"/>
                  </a:lnTo>
                  <a:lnTo>
                    <a:pt x="0" y="721783"/>
                  </a:lnTo>
                  <a:close/>
                </a:path>
              </a:pathLst>
            </a:custGeom>
            <a:solidFill>
              <a:srgbClr val="13B7F3"/>
            </a:solidFill>
            <a:ln w="762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400" b="1" dirty="0" smtClean="0"/>
                <a:t>-r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604010" y="5339080"/>
            <a:ext cx="6906260" cy="467995"/>
            <a:chOff x="2283045" y="5110152"/>
            <a:chExt cx="8313549" cy="660400"/>
          </a:xfrm>
        </p:grpSpPr>
        <p:sp>
          <p:nvSpPr>
            <p:cNvPr id="31" name="MH_SubTitle_5"/>
            <p:cNvSpPr/>
            <p:nvPr>
              <p:custDataLst>
                <p:tags r:id="rId3"/>
              </p:custDataLst>
            </p:nvPr>
          </p:nvSpPr>
          <p:spPr>
            <a:xfrm>
              <a:off x="3595670" y="5135553"/>
              <a:ext cx="7000924" cy="606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solidFill>
              <a:srgbClr val="D3EFF5">
                <a:alpha val="8980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360000" tIns="0" rIns="0" bIns="0" spcCol="1270" anchor="ctr">
              <a:normAutofit/>
            </a:bodyPr>
            <a:lstStyle/>
            <a:p>
              <a:r>
                <a:rPr lang="en-US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指定新建用户的ID。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2" name="MH_Other_5"/>
            <p:cNvSpPr/>
            <p:nvPr>
              <p:custDataLst>
                <p:tags r:id="rId4"/>
              </p:custDataLst>
            </p:nvPr>
          </p:nvSpPr>
          <p:spPr>
            <a:xfrm>
              <a:off x="2283045" y="5110152"/>
              <a:ext cx="1714684" cy="660400"/>
            </a:xfrm>
            <a:custGeom>
              <a:avLst/>
              <a:gdLst>
                <a:gd name="connsiteX0" fmla="*/ 0 w 872351"/>
                <a:gd name="connsiteY0" fmla="*/ 0 h 721783"/>
                <a:gd name="connsiteX1" fmla="*/ 697880 w 872351"/>
                <a:gd name="connsiteY1" fmla="*/ 0 h 721783"/>
                <a:gd name="connsiteX2" fmla="*/ 872351 w 872351"/>
                <a:gd name="connsiteY2" fmla="*/ 360892 h 721783"/>
                <a:gd name="connsiteX3" fmla="*/ 697880 w 872351"/>
                <a:gd name="connsiteY3" fmla="*/ 721783 h 721783"/>
                <a:gd name="connsiteX4" fmla="*/ 0 w 872351"/>
                <a:gd name="connsiteY4" fmla="*/ 721783 h 721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351" h="721783">
                  <a:moveTo>
                    <a:pt x="0" y="0"/>
                  </a:moveTo>
                  <a:lnTo>
                    <a:pt x="697880" y="0"/>
                  </a:lnTo>
                  <a:lnTo>
                    <a:pt x="872351" y="360892"/>
                  </a:lnTo>
                  <a:lnTo>
                    <a:pt x="697880" y="721783"/>
                  </a:lnTo>
                  <a:lnTo>
                    <a:pt x="0" y="721783"/>
                  </a:lnTo>
                  <a:close/>
                </a:path>
              </a:pathLst>
            </a:custGeom>
            <a:solidFill>
              <a:srgbClr val="13B7F3"/>
            </a:solidFill>
            <a:ln w="762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400" b="1" dirty="0" smtClean="0"/>
                <a:t>-u ID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604010" y="5819775"/>
            <a:ext cx="6906260" cy="467995"/>
            <a:chOff x="2314651" y="5110152"/>
            <a:chExt cx="8281943" cy="660400"/>
          </a:xfrm>
        </p:grpSpPr>
        <p:sp>
          <p:nvSpPr>
            <p:cNvPr id="34" name="MH_SubTitle_5"/>
            <p:cNvSpPr/>
            <p:nvPr>
              <p:custDataLst>
                <p:tags r:id="rId1"/>
              </p:custDataLst>
            </p:nvPr>
          </p:nvSpPr>
          <p:spPr>
            <a:xfrm>
              <a:off x="3595670" y="5135553"/>
              <a:ext cx="7000924" cy="606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solidFill>
              <a:srgbClr val="D3EFF5">
                <a:alpha val="8980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360000" tIns="0" rIns="0" bIns="0" spcCol="1270" anchor="ctr">
              <a:normAutofit fontScale="90000"/>
            </a:bodyPr>
            <a:lstStyle/>
            <a:p>
              <a:r>
                <a: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指定用户登录时所使用的shell，默认为/bin/bash。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5" name="MH_Other_5"/>
            <p:cNvSpPr/>
            <p:nvPr>
              <p:custDataLst>
                <p:tags r:id="rId2"/>
              </p:custDataLst>
            </p:nvPr>
          </p:nvSpPr>
          <p:spPr>
            <a:xfrm>
              <a:off x="2314651" y="5110152"/>
              <a:ext cx="1611454" cy="660400"/>
            </a:xfrm>
            <a:custGeom>
              <a:avLst/>
              <a:gdLst>
                <a:gd name="connsiteX0" fmla="*/ 0 w 872351"/>
                <a:gd name="connsiteY0" fmla="*/ 0 h 721783"/>
                <a:gd name="connsiteX1" fmla="*/ 697880 w 872351"/>
                <a:gd name="connsiteY1" fmla="*/ 0 h 721783"/>
                <a:gd name="connsiteX2" fmla="*/ 872351 w 872351"/>
                <a:gd name="connsiteY2" fmla="*/ 360892 h 721783"/>
                <a:gd name="connsiteX3" fmla="*/ 697880 w 872351"/>
                <a:gd name="connsiteY3" fmla="*/ 721783 h 721783"/>
                <a:gd name="connsiteX4" fmla="*/ 0 w 872351"/>
                <a:gd name="connsiteY4" fmla="*/ 721783 h 721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351" h="721783">
                  <a:moveTo>
                    <a:pt x="0" y="0"/>
                  </a:moveTo>
                  <a:lnTo>
                    <a:pt x="697880" y="0"/>
                  </a:lnTo>
                  <a:lnTo>
                    <a:pt x="872351" y="360892"/>
                  </a:lnTo>
                  <a:lnTo>
                    <a:pt x="697880" y="721783"/>
                  </a:lnTo>
                  <a:lnTo>
                    <a:pt x="0" y="721783"/>
                  </a:lnTo>
                  <a:close/>
                </a:path>
              </a:pathLst>
            </a:custGeom>
            <a:solidFill>
              <a:srgbClr val="13B7F3"/>
            </a:solidFill>
            <a:ln w="762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b="1" dirty="0" smtClean="0"/>
                <a:t>-s shell 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19760" y="1910715"/>
            <a:ext cx="850900" cy="4377690"/>
            <a:chOff x="976" y="3009"/>
            <a:chExt cx="1340" cy="6894"/>
          </a:xfrm>
        </p:grpSpPr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976" y="5778"/>
              <a:ext cx="689" cy="1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>
                <a:lnSpc>
                  <a:spcPct val="95000"/>
                </a:lnSpc>
              </a:pPr>
              <a:r>
                <a:rPr lang="zh-CN" altLang="en-US" sz="2400" b="1" dirty="0">
                  <a:solidFill>
                    <a:srgbClr val="0070C0"/>
                  </a:solidFill>
                </a:rPr>
                <a:t>参数</a:t>
              </a:r>
            </a:p>
          </p:txBody>
        </p:sp>
        <p:sp>
          <p:nvSpPr>
            <p:cNvPr id="36" name="左大括号 35"/>
            <p:cNvSpPr/>
            <p:nvPr/>
          </p:nvSpPr>
          <p:spPr>
            <a:xfrm>
              <a:off x="1850" y="3009"/>
              <a:ext cx="467" cy="6894"/>
            </a:xfrm>
            <a:prstGeom prst="leftBrace">
              <a:avLst/>
            </a:prstGeom>
            <a:solidFill>
              <a:schemeClr val="bg1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de-DE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671195" y="1617345"/>
            <a:ext cx="11184255" cy="4829175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1"/>
          <p:cNvGrpSpPr/>
          <p:nvPr/>
        </p:nvGrpSpPr>
        <p:grpSpPr bwMode="auto">
          <a:xfrm>
            <a:off x="671195" y="1071563"/>
            <a:ext cx="5172075" cy="530225"/>
            <a:chOff x="1131471" y="1692739"/>
            <a:chExt cx="5170817" cy="530225"/>
          </a:xfrm>
        </p:grpSpPr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55648" y="1692739"/>
              <a:ext cx="4846640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6.1.1  添加新用户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131471" y="1795926"/>
              <a:ext cx="323771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2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421255" y="1910080"/>
            <a:ext cx="3108960" cy="570230"/>
            <a:chOff x="1773" y="2569"/>
            <a:chExt cx="4896" cy="898"/>
          </a:xfrm>
        </p:grpSpPr>
        <p:sp>
          <p:nvSpPr>
            <p:cNvPr id="24" name="TextBox 6"/>
            <p:cNvSpPr txBox="1"/>
            <p:nvPr/>
          </p:nvSpPr>
          <p:spPr>
            <a:xfrm>
              <a:off x="4309" y="2569"/>
              <a:ext cx="2360" cy="8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root</a:t>
              </a:r>
            </a:p>
          </p:txBody>
        </p:sp>
        <p:sp>
          <p:nvSpPr>
            <p:cNvPr id="25" name="TextBox 6"/>
            <p:cNvSpPr txBox="1"/>
            <p:nvPr/>
          </p:nvSpPr>
          <p:spPr>
            <a:xfrm>
              <a:off x="1773" y="2575"/>
              <a:ext cx="2211" cy="8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000" b="1">
                  <a:solidFill>
                    <a:srgbClr val="5F5E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2400" dirty="0">
                  <a:solidFill>
                    <a:srgbClr val="0070C0"/>
                  </a:solidFill>
                  <a:sym typeface="+mn-ea"/>
                </a:rPr>
                <a:t>使用权限：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910284" y="4712041"/>
            <a:ext cx="864096" cy="358008"/>
            <a:chOff x="1077144" y="1439285"/>
            <a:chExt cx="396480" cy="141984"/>
          </a:xfrm>
          <a:solidFill>
            <a:srgbClr val="FF6600"/>
          </a:solidFill>
        </p:grpSpPr>
        <p:sp>
          <p:nvSpPr>
            <p:cNvPr id="7" name="燕尾形 6"/>
            <p:cNvSpPr/>
            <p:nvPr/>
          </p:nvSpPr>
          <p:spPr>
            <a:xfrm>
              <a:off x="1077144" y="1439285"/>
              <a:ext cx="141984" cy="14198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燕尾形 7"/>
            <p:cNvSpPr/>
            <p:nvPr/>
          </p:nvSpPr>
          <p:spPr>
            <a:xfrm>
              <a:off x="1204392" y="1439285"/>
              <a:ext cx="141984" cy="14198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1331640" y="1439285"/>
              <a:ext cx="141984" cy="14198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71195" y="1602105"/>
            <a:ext cx="10803890" cy="1465580"/>
            <a:chOff x="1057" y="2523"/>
            <a:chExt cx="17014" cy="2308"/>
          </a:xfrm>
        </p:grpSpPr>
        <p:cxnSp>
          <p:nvCxnSpPr>
            <p:cNvPr id="10" name="直接连接符 9"/>
            <p:cNvCxnSpPr/>
            <p:nvPr/>
          </p:nvCxnSpPr>
          <p:spPr>
            <a:xfrm flipV="1">
              <a:off x="1968" y="2565"/>
              <a:ext cx="16041" cy="10"/>
            </a:xfrm>
            <a:prstGeom prst="line">
              <a:avLst/>
            </a:prstGeom>
            <a:ln w="28575">
              <a:solidFill>
                <a:srgbClr val="3399FF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3321" y="3031"/>
              <a:ext cx="14751" cy="1"/>
            </a:xfrm>
            <a:prstGeom prst="line">
              <a:avLst/>
            </a:prstGeom>
            <a:ln w="28575">
              <a:solidFill>
                <a:srgbClr val="3399FF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pic>
          <p:nvPicPr>
            <p:cNvPr id="13" name="图片 12" descr="200782211526752_2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7" y="2523"/>
              <a:ext cx="2264" cy="2309"/>
            </a:xfrm>
            <a:prstGeom prst="rect">
              <a:avLst/>
            </a:prstGeom>
          </p:spPr>
        </p:pic>
      </p:grpSp>
      <p:pic>
        <p:nvPicPr>
          <p:cNvPr id="15" name="图片 -2147482623"/>
          <p:cNvPicPr>
            <a:picLocks noChangeAspect="1"/>
          </p:cNvPicPr>
          <p:nvPr/>
        </p:nvPicPr>
        <p:blipFill>
          <a:blip r:embed="rId3" cstate="print"/>
          <a:srcRect t="3552"/>
          <a:stretch>
            <a:fillRect/>
          </a:stretch>
        </p:blipFill>
        <p:spPr>
          <a:xfrm>
            <a:off x="3009900" y="4097655"/>
            <a:ext cx="8204835" cy="186245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17" name="Text Box 44"/>
          <p:cNvSpPr txBox="1">
            <a:spLocks noChangeArrowheads="1"/>
          </p:cNvSpPr>
          <p:nvPr/>
        </p:nvSpPr>
        <p:spPr bwMode="auto">
          <a:xfrm>
            <a:off x="4928870" y="5934075"/>
            <a:ext cx="508127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图6-1  【例6-1】命令用法及返回结果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2366643" y="2524125"/>
            <a:ext cx="9230994" cy="1438910"/>
            <a:chOff x="1010312" y="3062290"/>
            <a:chExt cx="2931063" cy="1300893"/>
          </a:xfrm>
        </p:grpSpPr>
        <p:sp>
          <p:nvSpPr>
            <p:cNvPr id="30" name="TextBox 2"/>
            <p:cNvSpPr txBox="1"/>
            <p:nvPr/>
          </p:nvSpPr>
          <p:spPr>
            <a:xfrm>
              <a:off x="1010312" y="3293075"/>
              <a:ext cx="2931063" cy="1070108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使用useradd命令创建新用户u01和u02，并用tail命令查看/etc/passwd配置文件验证是否成功创建。命令用法及返回结果如图6-1所示。</a:t>
              </a:r>
              <a:endPara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1089553" y="3062290"/>
              <a:ext cx="625449" cy="39956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386080" y="1644015"/>
            <a:ext cx="11317605" cy="480568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6.1.2  修改账号</a:t>
            </a:r>
            <a:endParaRPr lang="zh-CN" altLang="en-US" sz="2400" b="1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21665" y="1699895"/>
            <a:ext cx="10681970" cy="1535430"/>
            <a:chOff x="979" y="2677"/>
            <a:chExt cx="16822" cy="2418"/>
          </a:xfrm>
        </p:grpSpPr>
        <p:sp>
          <p:nvSpPr>
            <p:cNvPr id="43" name="矩形 42"/>
            <p:cNvSpPr/>
            <p:nvPr/>
          </p:nvSpPr>
          <p:spPr>
            <a:xfrm>
              <a:off x="979" y="2677"/>
              <a:ext cx="16822" cy="241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6"/>
            <p:cNvSpPr txBox="1"/>
            <p:nvPr/>
          </p:nvSpPr>
          <p:spPr>
            <a:xfrm>
              <a:off x="2892" y="2677"/>
              <a:ext cx="2360" cy="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usermod</a:t>
              </a:r>
            </a:p>
          </p:txBody>
        </p:sp>
        <p:sp>
          <p:nvSpPr>
            <p:cNvPr id="25" name="TextBox 6"/>
            <p:cNvSpPr txBox="1"/>
            <p:nvPr/>
          </p:nvSpPr>
          <p:spPr>
            <a:xfrm>
              <a:off x="1435" y="2677"/>
              <a:ext cx="1457" cy="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000" b="1">
                  <a:solidFill>
                    <a:srgbClr val="5F5E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0070C0"/>
                  </a:solidFill>
                  <a:sym typeface="+mn-ea"/>
                </a:rPr>
                <a:t>命令：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endParaRPr>
            </a:p>
          </p:txBody>
        </p:sp>
        <p:sp>
          <p:nvSpPr>
            <p:cNvPr id="46" name="Text Box 44"/>
            <p:cNvSpPr txBox="1">
              <a:spLocks noChangeArrowheads="1"/>
            </p:cNvSpPr>
            <p:nvPr/>
          </p:nvSpPr>
          <p:spPr bwMode="auto">
            <a:xfrm>
              <a:off x="1256" y="3315"/>
              <a:ext cx="15803" cy="1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usermod命令结合相关参数可用来更改已经创建的账户属性，包括账户名、主目录、用户组、登录shell等。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87400" y="4491990"/>
            <a:ext cx="4780915" cy="1861185"/>
            <a:chOff x="1624" y="6254"/>
            <a:chExt cx="7529" cy="2931"/>
          </a:xfrm>
        </p:grpSpPr>
        <p:grpSp>
          <p:nvGrpSpPr>
            <p:cNvPr id="8" name="组合 7"/>
            <p:cNvGrpSpPr/>
            <p:nvPr/>
          </p:nvGrpSpPr>
          <p:grpSpPr>
            <a:xfrm>
              <a:off x="1624" y="6254"/>
              <a:ext cx="3768" cy="892"/>
              <a:chOff x="1773" y="2575"/>
              <a:chExt cx="3768" cy="892"/>
            </a:xfrm>
          </p:grpSpPr>
          <p:sp>
            <p:nvSpPr>
              <p:cNvPr id="9" name="TextBox 6"/>
              <p:cNvSpPr txBox="1"/>
              <p:nvPr/>
            </p:nvSpPr>
            <p:spPr>
              <a:xfrm>
                <a:off x="3181" y="2575"/>
                <a:ext cx="2360" cy="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-l</a:t>
                </a:r>
              </a:p>
            </p:txBody>
          </p:sp>
          <p:sp>
            <p:nvSpPr>
              <p:cNvPr id="10" name="TextBox 6"/>
              <p:cNvSpPr txBox="1"/>
              <p:nvPr/>
            </p:nvSpPr>
            <p:spPr>
              <a:xfrm>
                <a:off x="1773" y="2575"/>
                <a:ext cx="2211" cy="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2400" dirty="0">
                    <a:solidFill>
                      <a:srgbClr val="0070C0"/>
                    </a:solidFill>
                    <a:sym typeface="+mn-ea"/>
                  </a:rPr>
                  <a:t>参数：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624" y="7413"/>
              <a:ext cx="7529" cy="792"/>
              <a:chOff x="1395" y="8099"/>
              <a:chExt cx="6424" cy="792"/>
            </a:xfrm>
          </p:grpSpPr>
          <p:sp>
            <p:nvSpPr>
              <p:cNvPr id="11" name="TextBox 6"/>
              <p:cNvSpPr txBox="1"/>
              <p:nvPr/>
            </p:nvSpPr>
            <p:spPr>
              <a:xfrm>
                <a:off x="1395" y="8099"/>
                <a:ext cx="3159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2536" y="8099"/>
                <a:ext cx="5283" cy="792"/>
                <a:chOff x="2456" y="8199"/>
                <a:chExt cx="5283" cy="792"/>
              </a:xfrm>
            </p:grpSpPr>
            <p:sp>
              <p:nvSpPr>
                <p:cNvPr id="14" name="流程图: 过程 13"/>
                <p:cNvSpPr/>
                <p:nvPr/>
              </p:nvSpPr>
              <p:spPr>
                <a:xfrm>
                  <a:off x="2456" y="8273"/>
                  <a:ext cx="4939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2517" y="8199"/>
                  <a:ext cx="5222" cy="7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usermod  -l  新用户名 原用户名</a:t>
                  </a:r>
                </a:p>
              </p:txBody>
            </p:sp>
          </p:grpSp>
        </p:grpSp>
        <p:grpSp>
          <p:nvGrpSpPr>
            <p:cNvPr id="20" name="组合 19"/>
            <p:cNvGrpSpPr/>
            <p:nvPr/>
          </p:nvGrpSpPr>
          <p:grpSpPr>
            <a:xfrm>
              <a:off x="1660" y="8411"/>
              <a:ext cx="4896" cy="774"/>
              <a:chOff x="1773" y="2569"/>
              <a:chExt cx="4896" cy="774"/>
            </a:xfrm>
          </p:grpSpPr>
          <p:sp>
            <p:nvSpPr>
              <p:cNvPr id="21" name="TextBox 6"/>
              <p:cNvSpPr txBox="1"/>
              <p:nvPr/>
            </p:nvSpPr>
            <p:spPr>
              <a:xfrm>
                <a:off x="4309" y="2569"/>
                <a:ext cx="236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root</a:t>
                </a:r>
              </a:p>
            </p:txBody>
          </p:sp>
          <p:sp>
            <p:nvSpPr>
              <p:cNvPr id="26" name="TextBox 6"/>
              <p:cNvSpPr txBox="1"/>
              <p:nvPr/>
            </p:nvSpPr>
            <p:spPr>
              <a:xfrm>
                <a:off x="1773" y="2575"/>
                <a:ext cx="2211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6004560" y="4114165"/>
            <a:ext cx="4226560" cy="1768475"/>
            <a:chOff x="13357" y="7025"/>
            <a:chExt cx="5138" cy="2854"/>
          </a:xfrm>
        </p:grpSpPr>
        <p:grpSp>
          <p:nvGrpSpPr>
            <p:cNvPr id="28" name="组合 14"/>
            <p:cNvGrpSpPr/>
            <p:nvPr/>
          </p:nvGrpSpPr>
          <p:grpSpPr bwMode="auto">
            <a:xfrm>
              <a:off x="13357" y="7617"/>
              <a:ext cx="5138" cy="2262"/>
              <a:chOff x="1166778" y="1786456"/>
              <a:chExt cx="9858444" cy="1713982"/>
            </a:xfrm>
          </p:grpSpPr>
          <p:grpSp>
            <p:nvGrpSpPr>
              <p:cNvPr id="10249" name="组合 12"/>
              <p:cNvGrpSpPr/>
              <p:nvPr/>
            </p:nvGrpSpPr>
            <p:grpSpPr bwMode="auto">
              <a:xfrm>
                <a:off x="1166778" y="1786456"/>
                <a:ext cx="9858444" cy="1713982"/>
                <a:chOff x="1166778" y="1786456"/>
                <a:chExt cx="9858444" cy="1713982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10252" name="矩形 6"/>
                <p:cNvSpPr>
                  <a:spLocks noChangeArrowheads="1"/>
                </p:cNvSpPr>
                <p:nvPr/>
              </p:nvSpPr>
              <p:spPr bwMode="auto">
                <a:xfrm>
                  <a:off x="3422000" y="1938940"/>
                  <a:ext cx="2479793" cy="55908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10250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436895" y="2497595"/>
                <a:ext cx="9452450" cy="895918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eaLnBrk="1" latinLnBrk="0" hangingPunct="1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账户名称改变后，该账户的主目录、ID及所属用户组的ID保持不变。</a:t>
                </a:r>
                <a:endParaRPr lang="zh-CN" altLang="en-US" sz="18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30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357" y="7025"/>
              <a:ext cx="1328" cy="1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文本2"/>
          <p:cNvGrpSpPr/>
          <p:nvPr/>
        </p:nvGrpSpPr>
        <p:grpSpPr>
          <a:xfrm>
            <a:off x="1410335" y="3564890"/>
            <a:ext cx="3825240" cy="597535"/>
            <a:chOff x="3529421" y="2014676"/>
            <a:chExt cx="2578139" cy="521890"/>
          </a:xfrm>
        </p:grpSpPr>
        <p:sp>
          <p:nvSpPr>
            <p:cNvPr id="5" name="任意多边形 4"/>
            <p:cNvSpPr/>
            <p:nvPr/>
          </p:nvSpPr>
          <p:spPr>
            <a:xfrm>
              <a:off x="3529421" y="2014676"/>
              <a:ext cx="2578139" cy="521890"/>
            </a:xfrm>
            <a:custGeom>
              <a:avLst/>
              <a:gdLst>
                <a:gd name="connsiteX0" fmla="*/ 0 w 2578139"/>
                <a:gd name="connsiteY0" fmla="*/ 86999 h 521890"/>
                <a:gd name="connsiteX1" fmla="*/ 86999 w 2578139"/>
                <a:gd name="connsiteY1" fmla="*/ 0 h 521890"/>
                <a:gd name="connsiteX2" fmla="*/ 2491140 w 2578139"/>
                <a:gd name="connsiteY2" fmla="*/ 0 h 521890"/>
                <a:gd name="connsiteX3" fmla="*/ 2578139 w 2578139"/>
                <a:gd name="connsiteY3" fmla="*/ 86999 h 521890"/>
                <a:gd name="connsiteX4" fmla="*/ 2578139 w 2578139"/>
                <a:gd name="connsiteY4" fmla="*/ 434891 h 521890"/>
                <a:gd name="connsiteX5" fmla="*/ 2491140 w 2578139"/>
                <a:gd name="connsiteY5" fmla="*/ 521890 h 521890"/>
                <a:gd name="connsiteX6" fmla="*/ 86999 w 2578139"/>
                <a:gd name="connsiteY6" fmla="*/ 521890 h 521890"/>
                <a:gd name="connsiteX7" fmla="*/ 0 w 2578139"/>
                <a:gd name="connsiteY7" fmla="*/ 434891 h 521890"/>
                <a:gd name="connsiteX8" fmla="*/ 0 w 2578139"/>
                <a:gd name="connsiteY8" fmla="*/ 86999 h 521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78139" h="521890">
                  <a:moveTo>
                    <a:pt x="0" y="86999"/>
                  </a:moveTo>
                  <a:cubicBezTo>
                    <a:pt x="0" y="38951"/>
                    <a:pt x="38951" y="0"/>
                    <a:pt x="86999" y="0"/>
                  </a:cubicBezTo>
                  <a:lnTo>
                    <a:pt x="2491140" y="0"/>
                  </a:lnTo>
                  <a:cubicBezTo>
                    <a:pt x="2539188" y="0"/>
                    <a:pt x="2578139" y="38951"/>
                    <a:pt x="2578139" y="86999"/>
                  </a:cubicBezTo>
                  <a:lnTo>
                    <a:pt x="2578139" y="434891"/>
                  </a:lnTo>
                  <a:cubicBezTo>
                    <a:pt x="2578139" y="482939"/>
                    <a:pt x="2539188" y="521890"/>
                    <a:pt x="2491140" y="521890"/>
                  </a:cubicBezTo>
                  <a:lnTo>
                    <a:pt x="86999" y="521890"/>
                  </a:lnTo>
                  <a:cubicBezTo>
                    <a:pt x="38951" y="521890"/>
                    <a:pt x="0" y="482939"/>
                    <a:pt x="0" y="434891"/>
                  </a:cubicBezTo>
                  <a:lnTo>
                    <a:pt x="0" y="86999"/>
                  </a:lnTo>
                  <a:close/>
                </a:path>
              </a:pathLst>
            </a:custGeom>
            <a:gradFill>
              <a:gsLst>
                <a:gs pos="100000">
                  <a:srgbClr val="FFFFFF"/>
                </a:gs>
                <a:gs pos="51657">
                  <a:srgbClr val="F0F0F0"/>
                </a:gs>
                <a:gs pos="0">
                  <a:srgbClr val="FFFFFF"/>
                </a:gs>
              </a:gsLst>
              <a:lin ang="5400000" scaled="1"/>
            </a:gradFill>
            <a:ln w="9525">
              <a:solidFill>
                <a:srgbClr val="DDDDDD"/>
              </a:solidFill>
              <a:round/>
            </a:ln>
            <a:effectLst>
              <a:outerShdw blurRad="63500" sx="101000" sy="101000" algn="ctr" rotWithShape="0">
                <a:prstClr val="black">
                  <a:alpha val="8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600" kern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6" name="任意多边形 5"/>
            <p:cNvSpPr/>
            <p:nvPr/>
          </p:nvSpPr>
          <p:spPr>
            <a:xfrm>
              <a:off x="3554821" y="2023963"/>
              <a:ext cx="2527339" cy="496490"/>
            </a:xfrm>
            <a:custGeom>
              <a:avLst/>
              <a:gdLst>
                <a:gd name="connsiteX0" fmla="*/ 0 w 2578139"/>
                <a:gd name="connsiteY0" fmla="*/ 86999 h 521890"/>
                <a:gd name="connsiteX1" fmla="*/ 86999 w 2578139"/>
                <a:gd name="connsiteY1" fmla="*/ 0 h 521890"/>
                <a:gd name="connsiteX2" fmla="*/ 2491140 w 2578139"/>
                <a:gd name="connsiteY2" fmla="*/ 0 h 521890"/>
                <a:gd name="connsiteX3" fmla="*/ 2578139 w 2578139"/>
                <a:gd name="connsiteY3" fmla="*/ 86999 h 521890"/>
                <a:gd name="connsiteX4" fmla="*/ 2578139 w 2578139"/>
                <a:gd name="connsiteY4" fmla="*/ 434891 h 521890"/>
                <a:gd name="connsiteX5" fmla="*/ 2491140 w 2578139"/>
                <a:gd name="connsiteY5" fmla="*/ 521890 h 521890"/>
                <a:gd name="connsiteX6" fmla="*/ 86999 w 2578139"/>
                <a:gd name="connsiteY6" fmla="*/ 521890 h 521890"/>
                <a:gd name="connsiteX7" fmla="*/ 0 w 2578139"/>
                <a:gd name="connsiteY7" fmla="*/ 434891 h 521890"/>
                <a:gd name="connsiteX8" fmla="*/ 0 w 2578139"/>
                <a:gd name="connsiteY8" fmla="*/ 86999 h 521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78139" h="521890">
                  <a:moveTo>
                    <a:pt x="0" y="86999"/>
                  </a:moveTo>
                  <a:cubicBezTo>
                    <a:pt x="0" y="38951"/>
                    <a:pt x="38951" y="0"/>
                    <a:pt x="86999" y="0"/>
                  </a:cubicBezTo>
                  <a:lnTo>
                    <a:pt x="2491140" y="0"/>
                  </a:lnTo>
                  <a:cubicBezTo>
                    <a:pt x="2539188" y="0"/>
                    <a:pt x="2578139" y="38951"/>
                    <a:pt x="2578139" y="86999"/>
                  </a:cubicBezTo>
                  <a:lnTo>
                    <a:pt x="2578139" y="434891"/>
                  </a:lnTo>
                  <a:cubicBezTo>
                    <a:pt x="2578139" y="482939"/>
                    <a:pt x="2539188" y="521890"/>
                    <a:pt x="2491140" y="521890"/>
                  </a:cubicBezTo>
                  <a:lnTo>
                    <a:pt x="86999" y="521890"/>
                  </a:lnTo>
                  <a:cubicBezTo>
                    <a:pt x="38951" y="521890"/>
                    <a:pt x="0" y="482939"/>
                    <a:pt x="0" y="434891"/>
                  </a:cubicBezTo>
                  <a:lnTo>
                    <a:pt x="0" y="86999"/>
                  </a:lnTo>
                  <a:close/>
                </a:path>
              </a:pathLst>
            </a:custGeom>
            <a:gradFill rotWithShape="1">
              <a:gsLst>
                <a:gs pos="98000">
                  <a:srgbClr val="F9F9F9"/>
                </a:gs>
                <a:gs pos="100000">
                  <a:srgbClr val="FFFFFF"/>
                </a:gs>
                <a:gs pos="51657">
                  <a:srgbClr val="E8E8E8"/>
                </a:gs>
                <a:gs pos="50000">
                  <a:srgbClr val="ECECEC"/>
                </a:gs>
                <a:gs pos="8000">
                  <a:srgbClr val="F8F8F8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 wrap="none" anchor="ctr"/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sz="200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 panose="020B0503020204020204" pitchFamily="34" charset="-122"/>
                </a:rPr>
                <a:t>更改账户名</a:t>
              </a:r>
            </a:p>
          </p:txBody>
        </p:sp>
      </p:grpSp>
      <p:grpSp>
        <p:nvGrpSpPr>
          <p:cNvPr id="7" name="深色1"/>
          <p:cNvGrpSpPr/>
          <p:nvPr/>
        </p:nvGrpSpPr>
        <p:grpSpPr>
          <a:xfrm>
            <a:off x="617668" y="3625612"/>
            <a:ext cx="637660" cy="491735"/>
            <a:chOff x="2976217" y="2014676"/>
            <a:chExt cx="521890" cy="521890"/>
          </a:xfrm>
        </p:grpSpPr>
        <p:sp>
          <p:nvSpPr>
            <p:cNvPr id="13" name="圆角矩形 12"/>
            <p:cNvSpPr/>
            <p:nvPr/>
          </p:nvSpPr>
          <p:spPr>
            <a:xfrm>
              <a:off x="2976217" y="2014676"/>
              <a:ext cx="521890" cy="521890"/>
            </a:xfrm>
            <a:prstGeom prst="roundRect">
              <a:avLst>
                <a:gd name="adj" fmla="val 16670"/>
              </a:avLst>
            </a:prstGeom>
            <a:gradFill>
              <a:gsLst>
                <a:gs pos="100000">
                  <a:srgbClr val="2676FF">
                    <a:lumMod val="20000"/>
                    <a:lumOff val="80000"/>
                  </a:srgbClr>
                </a:gs>
                <a:gs pos="51657">
                  <a:srgbClr val="2676FF">
                    <a:lumMod val="60000"/>
                    <a:lumOff val="40000"/>
                  </a:srgbClr>
                </a:gs>
                <a:gs pos="0">
                  <a:srgbClr val="2676FF">
                    <a:lumMod val="20000"/>
                    <a:lumOff val="80000"/>
                  </a:srgbClr>
                </a:gs>
              </a:gsLst>
              <a:lin ang="5400000" scaled="1"/>
            </a:gradFill>
            <a:ln w="9525">
              <a:solidFill>
                <a:srgbClr val="2676FF">
                  <a:lumMod val="60000"/>
                  <a:lumOff val="40000"/>
                </a:srgbClr>
              </a:solidFill>
              <a:round/>
            </a:ln>
            <a:effectLst>
              <a:outerShdw blurRad="63500" sx="101000" sy="101000" algn="ctr" rotWithShape="0">
                <a:prstClr val="black">
                  <a:alpha val="18000"/>
                </a:prstClr>
              </a:outerShdw>
            </a:effectLst>
          </p:spPr>
        </p:sp>
        <p:sp>
          <p:nvSpPr>
            <p:cNvPr id="18" name="圆角矩形 17"/>
            <p:cNvSpPr/>
            <p:nvPr/>
          </p:nvSpPr>
          <p:spPr>
            <a:xfrm>
              <a:off x="3001617" y="2027376"/>
              <a:ext cx="471090" cy="496490"/>
            </a:xfrm>
            <a:prstGeom prst="roundRect">
              <a:avLst>
                <a:gd name="adj" fmla="val 16670"/>
              </a:avLst>
            </a:prstGeom>
            <a:gradFill rotWithShape="1">
              <a:gsLst>
                <a:gs pos="98000">
                  <a:srgbClr val="2676FF">
                    <a:lumMod val="60000"/>
                    <a:lumOff val="40000"/>
                  </a:srgbClr>
                </a:gs>
                <a:gs pos="100000">
                  <a:srgbClr val="2676FF">
                    <a:lumMod val="40000"/>
                    <a:lumOff val="60000"/>
                  </a:srgbClr>
                </a:gs>
                <a:gs pos="51657">
                  <a:srgbClr val="2676FF"/>
                </a:gs>
                <a:gs pos="50000">
                  <a:srgbClr val="2676FF">
                    <a:alpha val="70000"/>
                  </a:srgbClr>
                </a:gs>
                <a:gs pos="8000">
                  <a:srgbClr val="2676FF">
                    <a:lumMod val="60000"/>
                    <a:lumOff val="40000"/>
                  </a:srgb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Impact" panose="020B080603090205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(1)</a:t>
              </a:r>
              <a:endParaRPr lang="zh-CN" altLang="en-US" sz="3600" kern="0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671195" y="1602105"/>
            <a:ext cx="11184255" cy="4935855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1"/>
          <p:cNvGrpSpPr/>
          <p:nvPr/>
        </p:nvGrpSpPr>
        <p:grpSpPr bwMode="auto">
          <a:xfrm>
            <a:off x="671195" y="1071563"/>
            <a:ext cx="2927350" cy="530225"/>
            <a:chOff x="1131471" y="1692739"/>
            <a:chExt cx="2926638" cy="530225"/>
          </a:xfrm>
        </p:grpSpPr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55877" y="1692739"/>
              <a:ext cx="2602232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6.1.2  修改账号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131471" y="1795926"/>
              <a:ext cx="323771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2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12165" y="1632585"/>
            <a:ext cx="4139565" cy="2353288"/>
            <a:chOff x="971600" y="3062290"/>
            <a:chExt cx="3080671" cy="2127583"/>
          </a:xfrm>
        </p:grpSpPr>
        <p:sp>
          <p:nvSpPr>
            <p:cNvPr id="30" name="TextBox 2"/>
            <p:cNvSpPr txBox="1"/>
            <p:nvPr/>
          </p:nvSpPr>
          <p:spPr>
            <a:xfrm>
              <a:off x="971600" y="3293057"/>
              <a:ext cx="3080671" cy="1896816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使用usermod命令将账户u01修改为u001，并使用tail命令查看/etc/passwd配置文件验证。命令用法及返回结果如图6-2所示。</a:t>
              </a:r>
              <a:endPara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1108808" y="3062290"/>
              <a:ext cx="1143007" cy="3996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【例6-2】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076190" y="2068195"/>
            <a:ext cx="6597650" cy="2022475"/>
            <a:chOff x="7994" y="3257"/>
            <a:chExt cx="10390" cy="3185"/>
          </a:xfrm>
        </p:grpSpPr>
        <p:sp>
          <p:nvSpPr>
            <p:cNvPr id="9" name="Text Box 44"/>
            <p:cNvSpPr txBox="1">
              <a:spLocks noChangeArrowheads="1"/>
            </p:cNvSpPr>
            <p:nvPr/>
          </p:nvSpPr>
          <p:spPr bwMode="auto">
            <a:xfrm>
              <a:off x="8980" y="5650"/>
              <a:ext cx="8002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图6-2  【例6-2】命令用法及返回结果</a:t>
              </a:r>
            </a:p>
          </p:txBody>
        </p:sp>
        <p:pic>
          <p:nvPicPr>
            <p:cNvPr id="10" name="图片 -2147482622"/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7994" y="3257"/>
              <a:ext cx="10390" cy="221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pic>
      </p:grpSp>
      <p:grpSp>
        <p:nvGrpSpPr>
          <p:cNvPr id="11" name="组合 10"/>
          <p:cNvGrpSpPr/>
          <p:nvPr/>
        </p:nvGrpSpPr>
        <p:grpSpPr>
          <a:xfrm>
            <a:off x="832485" y="4289425"/>
            <a:ext cx="4139565" cy="1896088"/>
            <a:chOff x="971600" y="3062290"/>
            <a:chExt cx="3080671" cy="1714233"/>
          </a:xfrm>
        </p:grpSpPr>
        <p:sp>
          <p:nvSpPr>
            <p:cNvPr id="12" name="TextBox 2"/>
            <p:cNvSpPr txBox="1"/>
            <p:nvPr/>
          </p:nvSpPr>
          <p:spPr>
            <a:xfrm>
              <a:off x="971600" y="3293057"/>
              <a:ext cx="3080671" cy="1483466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若要将账户u02加入到u01用户组（u01用户组ID为1001），则命令用法及返回结果如图6-3所示。</a:t>
              </a:r>
              <a:endPara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anose="020B0604020202020204" pitchFamily="3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108808" y="3062290"/>
              <a:ext cx="1143007" cy="3996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067935" y="4542155"/>
            <a:ext cx="6732270" cy="1969770"/>
            <a:chOff x="7981" y="7153"/>
            <a:chExt cx="10602" cy="3102"/>
          </a:xfrm>
        </p:grpSpPr>
        <p:pic>
          <p:nvPicPr>
            <p:cNvPr id="14" name="图片 -2147482621"/>
            <p:cNvPicPr>
              <a:picLocks noChangeAspect="1"/>
            </p:cNvPicPr>
            <p:nvPr/>
          </p:nvPicPr>
          <p:blipFill>
            <a:blip r:embed="rId3" cstate="print">
              <a:grayscl/>
            </a:blip>
            <a:stretch>
              <a:fillRect/>
            </a:stretch>
          </p:blipFill>
          <p:spPr>
            <a:xfrm>
              <a:off x="7981" y="7153"/>
              <a:ext cx="10602" cy="2342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pic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9054" y="9463"/>
              <a:ext cx="8002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图6-3  【例6-3】命令用法及返回结果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671195" y="1602105"/>
            <a:ext cx="11184255" cy="4874895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1"/>
          <p:cNvGrpSpPr/>
          <p:nvPr/>
        </p:nvGrpSpPr>
        <p:grpSpPr bwMode="auto">
          <a:xfrm>
            <a:off x="671195" y="1071563"/>
            <a:ext cx="2927350" cy="530225"/>
            <a:chOff x="1131471" y="1692739"/>
            <a:chExt cx="2926638" cy="530225"/>
          </a:xfrm>
        </p:grpSpPr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55877" y="1692739"/>
              <a:ext cx="2602232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6.1.2  修改账号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131471" y="1795926"/>
              <a:ext cx="323771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2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749290" y="1268095"/>
            <a:ext cx="4761230" cy="2265680"/>
            <a:chOff x="13357" y="7025"/>
            <a:chExt cx="5138" cy="2854"/>
          </a:xfrm>
        </p:grpSpPr>
        <p:grpSp>
          <p:nvGrpSpPr>
            <p:cNvPr id="28" name="组合 14"/>
            <p:cNvGrpSpPr/>
            <p:nvPr/>
          </p:nvGrpSpPr>
          <p:grpSpPr bwMode="auto">
            <a:xfrm>
              <a:off x="13357" y="7617"/>
              <a:ext cx="5138" cy="2262"/>
              <a:chOff x="1166778" y="1786289"/>
              <a:chExt cx="9858444" cy="1714149"/>
            </a:xfrm>
          </p:grpSpPr>
          <p:grpSp>
            <p:nvGrpSpPr>
              <p:cNvPr id="10249" name="组合 12"/>
              <p:cNvGrpSpPr/>
              <p:nvPr/>
            </p:nvGrpSpPr>
            <p:grpSpPr bwMode="auto">
              <a:xfrm>
                <a:off x="1166778" y="1786289"/>
                <a:ext cx="9858444" cy="1714149"/>
                <a:chOff x="1166778" y="1786289"/>
                <a:chExt cx="9858444" cy="1714149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10252" name="矩形 6"/>
                <p:cNvSpPr>
                  <a:spLocks noChangeArrowheads="1"/>
                </p:cNvSpPr>
                <p:nvPr/>
              </p:nvSpPr>
              <p:spPr bwMode="auto">
                <a:xfrm>
                  <a:off x="3423398" y="1786289"/>
                  <a:ext cx="2479793" cy="43639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10250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369259" y="2214841"/>
                <a:ext cx="9452168" cy="1242016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eaLnBrk="1" latinLnBrk="0" hangingPunct="1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锁定账户可暂时禁止用户登录系统。账户被锁定后，该用户在/etc/shadow密码配置文件中的密码字段前会出现“！”标识。</a:t>
                </a:r>
              </a:p>
            </p:txBody>
          </p:sp>
        </p:grpSp>
        <p:pic>
          <p:nvPicPr>
            <p:cNvPr id="30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357" y="7025"/>
              <a:ext cx="1176" cy="1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" name="组合 5"/>
          <p:cNvGrpSpPr/>
          <p:nvPr/>
        </p:nvGrpSpPr>
        <p:grpSpPr>
          <a:xfrm>
            <a:off x="904240" y="2218055"/>
            <a:ext cx="3788410" cy="1749425"/>
            <a:chOff x="1386" y="3506"/>
            <a:chExt cx="5966" cy="2755"/>
          </a:xfrm>
        </p:grpSpPr>
        <p:grpSp>
          <p:nvGrpSpPr>
            <p:cNvPr id="8" name="组合 7"/>
            <p:cNvGrpSpPr/>
            <p:nvPr/>
          </p:nvGrpSpPr>
          <p:grpSpPr>
            <a:xfrm>
              <a:off x="1386" y="3506"/>
              <a:ext cx="3768" cy="892"/>
              <a:chOff x="1773" y="2575"/>
              <a:chExt cx="3768" cy="892"/>
            </a:xfrm>
          </p:grpSpPr>
          <p:sp>
            <p:nvSpPr>
              <p:cNvPr id="9" name="TextBox 6"/>
              <p:cNvSpPr txBox="1"/>
              <p:nvPr/>
            </p:nvSpPr>
            <p:spPr>
              <a:xfrm>
                <a:off x="3181" y="2575"/>
                <a:ext cx="2360" cy="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-L</a:t>
                </a:r>
              </a:p>
            </p:txBody>
          </p:sp>
          <p:sp>
            <p:nvSpPr>
              <p:cNvPr id="10" name="TextBox 6"/>
              <p:cNvSpPr txBox="1"/>
              <p:nvPr/>
            </p:nvSpPr>
            <p:spPr>
              <a:xfrm>
                <a:off x="1773" y="2575"/>
                <a:ext cx="1578" cy="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2400" dirty="0">
                    <a:solidFill>
                      <a:srgbClr val="0070C0"/>
                    </a:solidFill>
                    <a:sym typeface="+mn-ea"/>
                  </a:rPr>
                  <a:t>参数：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386" y="4594"/>
              <a:ext cx="5966" cy="792"/>
              <a:chOff x="1395" y="8099"/>
              <a:chExt cx="6080" cy="792"/>
            </a:xfrm>
          </p:grpSpPr>
          <p:sp>
            <p:nvSpPr>
              <p:cNvPr id="11" name="TextBox 6"/>
              <p:cNvSpPr txBox="1"/>
              <p:nvPr/>
            </p:nvSpPr>
            <p:spPr>
              <a:xfrm>
                <a:off x="1395" y="8099"/>
                <a:ext cx="3159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2536" y="8099"/>
                <a:ext cx="4939" cy="792"/>
                <a:chOff x="2456" y="8199"/>
                <a:chExt cx="4939" cy="792"/>
              </a:xfrm>
            </p:grpSpPr>
            <p:sp>
              <p:nvSpPr>
                <p:cNvPr id="14" name="流程图: 过程 13"/>
                <p:cNvSpPr/>
                <p:nvPr/>
              </p:nvSpPr>
              <p:spPr>
                <a:xfrm>
                  <a:off x="2456" y="8273"/>
                  <a:ext cx="4939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2517" y="8199"/>
                  <a:ext cx="4877" cy="7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usermod  -L  用户名</a:t>
                  </a:r>
                </a:p>
              </p:txBody>
            </p:sp>
          </p:grpSp>
        </p:grpSp>
        <p:grpSp>
          <p:nvGrpSpPr>
            <p:cNvPr id="20" name="组合 19"/>
            <p:cNvGrpSpPr/>
            <p:nvPr/>
          </p:nvGrpSpPr>
          <p:grpSpPr>
            <a:xfrm>
              <a:off x="1464" y="5487"/>
              <a:ext cx="4896" cy="774"/>
              <a:chOff x="1773" y="2569"/>
              <a:chExt cx="4896" cy="774"/>
            </a:xfrm>
          </p:grpSpPr>
          <p:sp>
            <p:nvSpPr>
              <p:cNvPr id="5" name="TextBox 6"/>
              <p:cNvSpPr txBox="1"/>
              <p:nvPr/>
            </p:nvSpPr>
            <p:spPr>
              <a:xfrm>
                <a:off x="4309" y="2569"/>
                <a:ext cx="236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root</a:t>
                </a:r>
              </a:p>
            </p:txBody>
          </p:sp>
          <p:sp>
            <p:nvSpPr>
              <p:cNvPr id="26" name="TextBox 6"/>
              <p:cNvSpPr txBox="1"/>
              <p:nvPr/>
            </p:nvSpPr>
            <p:spPr>
              <a:xfrm>
                <a:off x="1773" y="2575"/>
                <a:ext cx="2211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4566920" y="4302760"/>
            <a:ext cx="7266940" cy="2139315"/>
            <a:chOff x="7216" y="6392"/>
            <a:chExt cx="11444" cy="3369"/>
          </a:xfrm>
        </p:grpSpPr>
        <p:sp>
          <p:nvSpPr>
            <p:cNvPr id="4" name="Text Box 44"/>
            <p:cNvSpPr txBox="1">
              <a:spLocks noChangeArrowheads="1"/>
            </p:cNvSpPr>
            <p:nvPr/>
          </p:nvSpPr>
          <p:spPr bwMode="auto">
            <a:xfrm>
              <a:off x="9054" y="8969"/>
              <a:ext cx="8002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图6-4  【例6-4】命令用法及返回结果</a:t>
              </a:r>
            </a:p>
          </p:txBody>
        </p:sp>
        <p:pic>
          <p:nvPicPr>
            <p:cNvPr id="3" name="图片 -2147482620"/>
            <p:cNvPicPr>
              <a:picLocks noChangeAspect="1"/>
            </p:cNvPicPr>
            <p:nvPr/>
          </p:nvPicPr>
          <p:blipFill>
            <a:blip r:embed="rId4" cstate="print">
              <a:grayscl/>
            </a:blip>
            <a:srcRect t="3459"/>
            <a:stretch>
              <a:fillRect/>
            </a:stretch>
          </p:blipFill>
          <p:spPr>
            <a:xfrm>
              <a:off x="7216" y="6392"/>
              <a:ext cx="11444" cy="2681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pic>
      </p:grpSp>
      <p:grpSp>
        <p:nvGrpSpPr>
          <p:cNvPr id="13" name="文本2"/>
          <p:cNvGrpSpPr/>
          <p:nvPr/>
        </p:nvGrpSpPr>
        <p:grpSpPr>
          <a:xfrm>
            <a:off x="1608455" y="1659890"/>
            <a:ext cx="3825240" cy="597535"/>
            <a:chOff x="3529421" y="2014676"/>
            <a:chExt cx="2578139" cy="521890"/>
          </a:xfrm>
        </p:grpSpPr>
        <p:sp>
          <p:nvSpPr>
            <p:cNvPr id="18" name="任意多边形 17"/>
            <p:cNvSpPr/>
            <p:nvPr/>
          </p:nvSpPr>
          <p:spPr>
            <a:xfrm>
              <a:off x="3529421" y="2014676"/>
              <a:ext cx="2578139" cy="521890"/>
            </a:xfrm>
            <a:custGeom>
              <a:avLst/>
              <a:gdLst>
                <a:gd name="connsiteX0" fmla="*/ 0 w 2578139"/>
                <a:gd name="connsiteY0" fmla="*/ 86999 h 521890"/>
                <a:gd name="connsiteX1" fmla="*/ 86999 w 2578139"/>
                <a:gd name="connsiteY1" fmla="*/ 0 h 521890"/>
                <a:gd name="connsiteX2" fmla="*/ 2491140 w 2578139"/>
                <a:gd name="connsiteY2" fmla="*/ 0 h 521890"/>
                <a:gd name="connsiteX3" fmla="*/ 2578139 w 2578139"/>
                <a:gd name="connsiteY3" fmla="*/ 86999 h 521890"/>
                <a:gd name="connsiteX4" fmla="*/ 2578139 w 2578139"/>
                <a:gd name="connsiteY4" fmla="*/ 434891 h 521890"/>
                <a:gd name="connsiteX5" fmla="*/ 2491140 w 2578139"/>
                <a:gd name="connsiteY5" fmla="*/ 521890 h 521890"/>
                <a:gd name="connsiteX6" fmla="*/ 86999 w 2578139"/>
                <a:gd name="connsiteY6" fmla="*/ 521890 h 521890"/>
                <a:gd name="connsiteX7" fmla="*/ 0 w 2578139"/>
                <a:gd name="connsiteY7" fmla="*/ 434891 h 521890"/>
                <a:gd name="connsiteX8" fmla="*/ 0 w 2578139"/>
                <a:gd name="connsiteY8" fmla="*/ 86999 h 521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78139" h="521890">
                  <a:moveTo>
                    <a:pt x="0" y="86999"/>
                  </a:moveTo>
                  <a:cubicBezTo>
                    <a:pt x="0" y="38951"/>
                    <a:pt x="38951" y="0"/>
                    <a:pt x="86999" y="0"/>
                  </a:cubicBezTo>
                  <a:lnTo>
                    <a:pt x="2491140" y="0"/>
                  </a:lnTo>
                  <a:cubicBezTo>
                    <a:pt x="2539188" y="0"/>
                    <a:pt x="2578139" y="38951"/>
                    <a:pt x="2578139" y="86999"/>
                  </a:cubicBezTo>
                  <a:lnTo>
                    <a:pt x="2578139" y="434891"/>
                  </a:lnTo>
                  <a:cubicBezTo>
                    <a:pt x="2578139" y="482939"/>
                    <a:pt x="2539188" y="521890"/>
                    <a:pt x="2491140" y="521890"/>
                  </a:cubicBezTo>
                  <a:lnTo>
                    <a:pt x="86999" y="521890"/>
                  </a:lnTo>
                  <a:cubicBezTo>
                    <a:pt x="38951" y="521890"/>
                    <a:pt x="0" y="482939"/>
                    <a:pt x="0" y="434891"/>
                  </a:cubicBezTo>
                  <a:lnTo>
                    <a:pt x="0" y="86999"/>
                  </a:lnTo>
                  <a:close/>
                </a:path>
              </a:pathLst>
            </a:custGeom>
            <a:gradFill>
              <a:gsLst>
                <a:gs pos="100000">
                  <a:srgbClr val="FFFFFF"/>
                </a:gs>
                <a:gs pos="51657">
                  <a:srgbClr val="F0F0F0"/>
                </a:gs>
                <a:gs pos="0">
                  <a:srgbClr val="FFFFFF"/>
                </a:gs>
              </a:gsLst>
              <a:lin ang="5400000" scaled="1"/>
            </a:gradFill>
            <a:ln w="9525">
              <a:solidFill>
                <a:srgbClr val="DDDDDD"/>
              </a:solidFill>
              <a:round/>
            </a:ln>
            <a:effectLst>
              <a:outerShdw blurRad="63500" sx="101000" sy="101000" algn="ctr" rotWithShape="0">
                <a:prstClr val="black">
                  <a:alpha val="8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600" kern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3554821" y="2023963"/>
              <a:ext cx="2527339" cy="496490"/>
            </a:xfrm>
            <a:custGeom>
              <a:avLst/>
              <a:gdLst>
                <a:gd name="connsiteX0" fmla="*/ 0 w 2578139"/>
                <a:gd name="connsiteY0" fmla="*/ 86999 h 521890"/>
                <a:gd name="connsiteX1" fmla="*/ 86999 w 2578139"/>
                <a:gd name="connsiteY1" fmla="*/ 0 h 521890"/>
                <a:gd name="connsiteX2" fmla="*/ 2491140 w 2578139"/>
                <a:gd name="connsiteY2" fmla="*/ 0 h 521890"/>
                <a:gd name="connsiteX3" fmla="*/ 2578139 w 2578139"/>
                <a:gd name="connsiteY3" fmla="*/ 86999 h 521890"/>
                <a:gd name="connsiteX4" fmla="*/ 2578139 w 2578139"/>
                <a:gd name="connsiteY4" fmla="*/ 434891 h 521890"/>
                <a:gd name="connsiteX5" fmla="*/ 2491140 w 2578139"/>
                <a:gd name="connsiteY5" fmla="*/ 521890 h 521890"/>
                <a:gd name="connsiteX6" fmla="*/ 86999 w 2578139"/>
                <a:gd name="connsiteY6" fmla="*/ 521890 h 521890"/>
                <a:gd name="connsiteX7" fmla="*/ 0 w 2578139"/>
                <a:gd name="connsiteY7" fmla="*/ 434891 h 521890"/>
                <a:gd name="connsiteX8" fmla="*/ 0 w 2578139"/>
                <a:gd name="connsiteY8" fmla="*/ 86999 h 521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78139" h="521890">
                  <a:moveTo>
                    <a:pt x="0" y="86999"/>
                  </a:moveTo>
                  <a:cubicBezTo>
                    <a:pt x="0" y="38951"/>
                    <a:pt x="38951" y="0"/>
                    <a:pt x="86999" y="0"/>
                  </a:cubicBezTo>
                  <a:lnTo>
                    <a:pt x="2491140" y="0"/>
                  </a:lnTo>
                  <a:cubicBezTo>
                    <a:pt x="2539188" y="0"/>
                    <a:pt x="2578139" y="38951"/>
                    <a:pt x="2578139" y="86999"/>
                  </a:cubicBezTo>
                  <a:lnTo>
                    <a:pt x="2578139" y="434891"/>
                  </a:lnTo>
                  <a:cubicBezTo>
                    <a:pt x="2578139" y="482939"/>
                    <a:pt x="2539188" y="521890"/>
                    <a:pt x="2491140" y="521890"/>
                  </a:cubicBezTo>
                  <a:lnTo>
                    <a:pt x="86999" y="521890"/>
                  </a:lnTo>
                  <a:cubicBezTo>
                    <a:pt x="38951" y="521890"/>
                    <a:pt x="0" y="482939"/>
                    <a:pt x="0" y="434891"/>
                  </a:cubicBezTo>
                  <a:lnTo>
                    <a:pt x="0" y="86999"/>
                  </a:lnTo>
                  <a:close/>
                </a:path>
              </a:pathLst>
            </a:custGeom>
            <a:gradFill rotWithShape="1">
              <a:gsLst>
                <a:gs pos="98000">
                  <a:srgbClr val="F9F9F9"/>
                </a:gs>
                <a:gs pos="100000">
                  <a:srgbClr val="FFFFFF"/>
                </a:gs>
                <a:gs pos="51657">
                  <a:srgbClr val="E8E8E8"/>
                </a:gs>
                <a:gs pos="50000">
                  <a:srgbClr val="ECECEC"/>
                </a:gs>
                <a:gs pos="8000">
                  <a:srgbClr val="F8F8F8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 wrap="none" anchor="ctr"/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sz="200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 panose="020B0503020204020204" pitchFamily="34" charset="-122"/>
                </a:rPr>
                <a:t>锁定账户</a:t>
              </a:r>
            </a:p>
          </p:txBody>
        </p:sp>
      </p:grpSp>
      <p:grpSp>
        <p:nvGrpSpPr>
          <p:cNvPr id="24" name="深色1"/>
          <p:cNvGrpSpPr/>
          <p:nvPr/>
        </p:nvGrpSpPr>
        <p:grpSpPr>
          <a:xfrm>
            <a:off x="815153" y="1720612"/>
            <a:ext cx="638295" cy="491735"/>
            <a:chOff x="2975697" y="2014676"/>
            <a:chExt cx="522410" cy="521890"/>
          </a:xfrm>
        </p:grpSpPr>
        <p:sp>
          <p:nvSpPr>
            <p:cNvPr id="25" name="圆角矩形 24"/>
            <p:cNvSpPr/>
            <p:nvPr/>
          </p:nvSpPr>
          <p:spPr>
            <a:xfrm>
              <a:off x="2976217" y="2014676"/>
              <a:ext cx="521890" cy="521890"/>
            </a:xfrm>
            <a:prstGeom prst="roundRect">
              <a:avLst>
                <a:gd name="adj" fmla="val 16670"/>
              </a:avLst>
            </a:prstGeom>
            <a:gradFill>
              <a:gsLst>
                <a:gs pos="100000">
                  <a:srgbClr val="2676FF">
                    <a:lumMod val="20000"/>
                    <a:lumOff val="80000"/>
                  </a:srgbClr>
                </a:gs>
                <a:gs pos="51657">
                  <a:srgbClr val="2676FF">
                    <a:lumMod val="60000"/>
                    <a:lumOff val="40000"/>
                  </a:srgbClr>
                </a:gs>
                <a:gs pos="0">
                  <a:srgbClr val="2676FF">
                    <a:lumMod val="20000"/>
                    <a:lumOff val="80000"/>
                  </a:srgbClr>
                </a:gs>
              </a:gsLst>
              <a:lin ang="5400000" scaled="1"/>
            </a:gradFill>
            <a:ln w="9525">
              <a:solidFill>
                <a:srgbClr val="2676FF">
                  <a:lumMod val="60000"/>
                  <a:lumOff val="40000"/>
                </a:srgbClr>
              </a:solidFill>
              <a:round/>
            </a:ln>
            <a:effectLst>
              <a:outerShdw blurRad="63500" sx="101000" sy="101000" algn="ctr" rotWithShape="0">
                <a:prstClr val="black">
                  <a:alpha val="18000"/>
                </a:prstClr>
              </a:outerShdw>
            </a:effectLst>
          </p:spPr>
        </p:sp>
        <p:sp>
          <p:nvSpPr>
            <p:cNvPr id="31" name="圆角矩形 30"/>
            <p:cNvSpPr/>
            <p:nvPr/>
          </p:nvSpPr>
          <p:spPr>
            <a:xfrm>
              <a:off x="2975697" y="2027481"/>
              <a:ext cx="496846" cy="496694"/>
            </a:xfrm>
            <a:prstGeom prst="roundRect">
              <a:avLst>
                <a:gd name="adj" fmla="val 16670"/>
              </a:avLst>
            </a:prstGeom>
            <a:gradFill rotWithShape="1">
              <a:gsLst>
                <a:gs pos="98000">
                  <a:srgbClr val="2676FF">
                    <a:lumMod val="60000"/>
                    <a:lumOff val="40000"/>
                  </a:srgbClr>
                </a:gs>
                <a:gs pos="100000">
                  <a:srgbClr val="2676FF">
                    <a:lumMod val="40000"/>
                    <a:lumOff val="60000"/>
                  </a:srgbClr>
                </a:gs>
                <a:gs pos="51657">
                  <a:srgbClr val="2676FF"/>
                </a:gs>
                <a:gs pos="50000">
                  <a:srgbClr val="2676FF">
                    <a:alpha val="70000"/>
                  </a:srgbClr>
                </a:gs>
                <a:gs pos="8000">
                  <a:srgbClr val="2676FF">
                    <a:lumMod val="60000"/>
                    <a:lumOff val="40000"/>
                  </a:srgb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Impact" panose="020B080603090205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(2)</a:t>
              </a:r>
              <a:endParaRPr lang="zh-CN" altLang="en-US" sz="3600" kern="0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762635" y="4058920"/>
            <a:ext cx="3758565" cy="1896110"/>
            <a:chOff x="971600" y="3062290"/>
            <a:chExt cx="3196790" cy="1714233"/>
          </a:xfrm>
        </p:grpSpPr>
        <p:sp>
          <p:nvSpPr>
            <p:cNvPr id="33" name="TextBox 2"/>
            <p:cNvSpPr txBox="1"/>
            <p:nvPr/>
          </p:nvSpPr>
          <p:spPr>
            <a:xfrm>
              <a:off x="971600" y="3293074"/>
              <a:ext cx="3196790" cy="1483449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将u02账户锁定，并查看/etc/shadow配置文件验证，命令用法及返回结果如图6-4所示。</a:t>
              </a:r>
              <a:endPara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anose="020B0604020202020204" pitchFamily="34" charset="-122"/>
              </a:endParaRP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1108808" y="3062290"/>
              <a:ext cx="1143007" cy="3996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12115" y="1602105"/>
            <a:ext cx="11443335" cy="4890135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1"/>
          <p:cNvGrpSpPr/>
          <p:nvPr/>
        </p:nvGrpSpPr>
        <p:grpSpPr bwMode="auto">
          <a:xfrm>
            <a:off x="671195" y="1071563"/>
            <a:ext cx="2927350" cy="530225"/>
            <a:chOff x="1131471" y="1692739"/>
            <a:chExt cx="2926638" cy="530225"/>
          </a:xfrm>
        </p:grpSpPr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55877" y="1692739"/>
              <a:ext cx="2602232" cy="5302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6.1.2  修改账号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131471" y="1795926"/>
              <a:ext cx="323771" cy="32385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20204" pitchFamily="34" charset="0"/>
                <a:buNone/>
                <a:defRPr/>
              </a:pPr>
              <a:endParaRPr lang="zh-CN" altLang="en-US" sz="16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749290" y="1169035"/>
            <a:ext cx="5497830" cy="2549525"/>
            <a:chOff x="13357" y="7025"/>
            <a:chExt cx="5138" cy="2854"/>
          </a:xfrm>
        </p:grpSpPr>
        <p:grpSp>
          <p:nvGrpSpPr>
            <p:cNvPr id="28" name="组合 14"/>
            <p:cNvGrpSpPr/>
            <p:nvPr/>
          </p:nvGrpSpPr>
          <p:grpSpPr bwMode="auto">
            <a:xfrm>
              <a:off x="13357" y="7617"/>
              <a:ext cx="5138" cy="2262"/>
              <a:chOff x="1166778" y="1786289"/>
              <a:chExt cx="9858444" cy="1714149"/>
            </a:xfrm>
          </p:grpSpPr>
          <p:grpSp>
            <p:nvGrpSpPr>
              <p:cNvPr id="10249" name="组合 12"/>
              <p:cNvGrpSpPr/>
              <p:nvPr/>
            </p:nvGrpSpPr>
            <p:grpSpPr bwMode="auto">
              <a:xfrm>
                <a:off x="1166778" y="1786289"/>
                <a:ext cx="9858444" cy="1714149"/>
                <a:chOff x="1166778" y="1786289"/>
                <a:chExt cx="9858444" cy="1714149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10252" name="矩形 6"/>
                <p:cNvSpPr>
                  <a:spLocks noChangeArrowheads="1"/>
                </p:cNvSpPr>
                <p:nvPr/>
              </p:nvSpPr>
              <p:spPr bwMode="auto">
                <a:xfrm>
                  <a:off x="3127348" y="1786289"/>
                  <a:ext cx="2479793" cy="38784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10250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369458" y="2268400"/>
                <a:ext cx="9451945" cy="1125286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eaLnBrk="1" latinLnBrk="0" hangingPunct="1"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解除锁定的账户可正常登录系统。账户被解锁后，该用户在/etc/shadow密码配置文件中的密码字段前的“！”标识便会自动消失</a:t>
                </a:r>
              </a:p>
            </p:txBody>
          </p:sp>
        </p:grpSp>
        <p:pic>
          <p:nvPicPr>
            <p:cNvPr id="30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357" y="7025"/>
              <a:ext cx="1176" cy="1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组合 2"/>
          <p:cNvGrpSpPr/>
          <p:nvPr/>
        </p:nvGrpSpPr>
        <p:grpSpPr>
          <a:xfrm>
            <a:off x="879475" y="2270125"/>
            <a:ext cx="3787775" cy="1749425"/>
            <a:chOff x="1386" y="3506"/>
            <a:chExt cx="5965" cy="2755"/>
          </a:xfrm>
        </p:grpSpPr>
        <p:grpSp>
          <p:nvGrpSpPr>
            <p:cNvPr id="8" name="组合 7"/>
            <p:cNvGrpSpPr/>
            <p:nvPr/>
          </p:nvGrpSpPr>
          <p:grpSpPr>
            <a:xfrm>
              <a:off x="1386" y="3506"/>
              <a:ext cx="3768" cy="892"/>
              <a:chOff x="1773" y="2575"/>
              <a:chExt cx="3768" cy="892"/>
            </a:xfrm>
          </p:grpSpPr>
          <p:sp>
            <p:nvSpPr>
              <p:cNvPr id="9" name="TextBox 6"/>
              <p:cNvSpPr txBox="1"/>
              <p:nvPr/>
            </p:nvSpPr>
            <p:spPr>
              <a:xfrm>
                <a:off x="3181" y="2575"/>
                <a:ext cx="2360" cy="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-U</a:t>
                </a:r>
              </a:p>
            </p:txBody>
          </p:sp>
          <p:sp>
            <p:nvSpPr>
              <p:cNvPr id="10" name="TextBox 6"/>
              <p:cNvSpPr txBox="1"/>
              <p:nvPr/>
            </p:nvSpPr>
            <p:spPr>
              <a:xfrm>
                <a:off x="1773" y="2575"/>
                <a:ext cx="1578" cy="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2400" dirty="0">
                    <a:solidFill>
                      <a:srgbClr val="0070C0"/>
                    </a:solidFill>
                    <a:sym typeface="+mn-ea"/>
                  </a:rPr>
                  <a:t>参数：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386" y="4594"/>
              <a:ext cx="5965" cy="792"/>
              <a:chOff x="1395" y="8099"/>
              <a:chExt cx="6079" cy="792"/>
            </a:xfrm>
          </p:grpSpPr>
          <p:sp>
            <p:nvSpPr>
              <p:cNvPr id="11" name="TextBox 6"/>
              <p:cNvSpPr txBox="1"/>
              <p:nvPr/>
            </p:nvSpPr>
            <p:spPr>
              <a:xfrm>
                <a:off x="1395" y="8099"/>
                <a:ext cx="3159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2513" y="8099"/>
                <a:ext cx="4961" cy="792"/>
                <a:chOff x="2433" y="8199"/>
                <a:chExt cx="4961" cy="792"/>
              </a:xfrm>
            </p:grpSpPr>
            <p:sp>
              <p:nvSpPr>
                <p:cNvPr id="14" name="流程图: 过程 13"/>
                <p:cNvSpPr/>
                <p:nvPr/>
              </p:nvSpPr>
              <p:spPr>
                <a:xfrm>
                  <a:off x="2433" y="8273"/>
                  <a:ext cx="4939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2517" y="8199"/>
                  <a:ext cx="4877" cy="7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usermod  -U  用户名</a:t>
                  </a:r>
                </a:p>
              </p:txBody>
            </p:sp>
          </p:grpSp>
        </p:grpSp>
        <p:grpSp>
          <p:nvGrpSpPr>
            <p:cNvPr id="20" name="组合 19"/>
            <p:cNvGrpSpPr/>
            <p:nvPr/>
          </p:nvGrpSpPr>
          <p:grpSpPr>
            <a:xfrm>
              <a:off x="1464" y="5487"/>
              <a:ext cx="4896" cy="774"/>
              <a:chOff x="1773" y="2569"/>
              <a:chExt cx="4896" cy="774"/>
            </a:xfrm>
          </p:grpSpPr>
          <p:sp>
            <p:nvSpPr>
              <p:cNvPr id="5" name="TextBox 6"/>
              <p:cNvSpPr txBox="1"/>
              <p:nvPr/>
            </p:nvSpPr>
            <p:spPr>
              <a:xfrm>
                <a:off x="4309" y="2569"/>
                <a:ext cx="236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root</a:t>
                </a:r>
              </a:p>
            </p:txBody>
          </p:sp>
          <p:sp>
            <p:nvSpPr>
              <p:cNvPr id="26" name="TextBox 6"/>
              <p:cNvSpPr txBox="1"/>
              <p:nvPr/>
            </p:nvSpPr>
            <p:spPr>
              <a:xfrm>
                <a:off x="1773" y="2575"/>
                <a:ext cx="2211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4957445" y="4347210"/>
            <a:ext cx="6831965" cy="2079625"/>
            <a:chOff x="7807" y="6486"/>
            <a:chExt cx="10759" cy="3275"/>
          </a:xfrm>
        </p:grpSpPr>
        <p:sp>
          <p:nvSpPr>
            <p:cNvPr id="4" name="Text Box 44"/>
            <p:cNvSpPr txBox="1">
              <a:spLocks noChangeArrowheads="1"/>
            </p:cNvSpPr>
            <p:nvPr/>
          </p:nvSpPr>
          <p:spPr bwMode="auto">
            <a:xfrm>
              <a:off x="9054" y="8969"/>
              <a:ext cx="8002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图6-5  【例6-5】命令用法及返回结果</a:t>
              </a:r>
            </a:p>
          </p:txBody>
        </p:sp>
        <p:pic>
          <p:nvPicPr>
            <p:cNvPr id="7" name="图片 6" descr="图片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07" y="6486"/>
              <a:ext cx="10759" cy="253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grpSp>
        <p:nvGrpSpPr>
          <p:cNvPr id="13" name="文本2"/>
          <p:cNvGrpSpPr/>
          <p:nvPr/>
        </p:nvGrpSpPr>
        <p:grpSpPr>
          <a:xfrm>
            <a:off x="1608455" y="1659890"/>
            <a:ext cx="3825240" cy="597535"/>
            <a:chOff x="3529421" y="2014676"/>
            <a:chExt cx="2578139" cy="521890"/>
          </a:xfrm>
        </p:grpSpPr>
        <p:sp>
          <p:nvSpPr>
            <p:cNvPr id="18" name="任意多边形 17"/>
            <p:cNvSpPr/>
            <p:nvPr/>
          </p:nvSpPr>
          <p:spPr>
            <a:xfrm>
              <a:off x="3529421" y="2014676"/>
              <a:ext cx="2578139" cy="521890"/>
            </a:xfrm>
            <a:custGeom>
              <a:avLst/>
              <a:gdLst>
                <a:gd name="connsiteX0" fmla="*/ 0 w 2578139"/>
                <a:gd name="connsiteY0" fmla="*/ 86999 h 521890"/>
                <a:gd name="connsiteX1" fmla="*/ 86999 w 2578139"/>
                <a:gd name="connsiteY1" fmla="*/ 0 h 521890"/>
                <a:gd name="connsiteX2" fmla="*/ 2491140 w 2578139"/>
                <a:gd name="connsiteY2" fmla="*/ 0 h 521890"/>
                <a:gd name="connsiteX3" fmla="*/ 2578139 w 2578139"/>
                <a:gd name="connsiteY3" fmla="*/ 86999 h 521890"/>
                <a:gd name="connsiteX4" fmla="*/ 2578139 w 2578139"/>
                <a:gd name="connsiteY4" fmla="*/ 434891 h 521890"/>
                <a:gd name="connsiteX5" fmla="*/ 2491140 w 2578139"/>
                <a:gd name="connsiteY5" fmla="*/ 521890 h 521890"/>
                <a:gd name="connsiteX6" fmla="*/ 86999 w 2578139"/>
                <a:gd name="connsiteY6" fmla="*/ 521890 h 521890"/>
                <a:gd name="connsiteX7" fmla="*/ 0 w 2578139"/>
                <a:gd name="connsiteY7" fmla="*/ 434891 h 521890"/>
                <a:gd name="connsiteX8" fmla="*/ 0 w 2578139"/>
                <a:gd name="connsiteY8" fmla="*/ 86999 h 521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78139" h="521890">
                  <a:moveTo>
                    <a:pt x="0" y="86999"/>
                  </a:moveTo>
                  <a:cubicBezTo>
                    <a:pt x="0" y="38951"/>
                    <a:pt x="38951" y="0"/>
                    <a:pt x="86999" y="0"/>
                  </a:cubicBezTo>
                  <a:lnTo>
                    <a:pt x="2491140" y="0"/>
                  </a:lnTo>
                  <a:cubicBezTo>
                    <a:pt x="2539188" y="0"/>
                    <a:pt x="2578139" y="38951"/>
                    <a:pt x="2578139" y="86999"/>
                  </a:cubicBezTo>
                  <a:lnTo>
                    <a:pt x="2578139" y="434891"/>
                  </a:lnTo>
                  <a:cubicBezTo>
                    <a:pt x="2578139" y="482939"/>
                    <a:pt x="2539188" y="521890"/>
                    <a:pt x="2491140" y="521890"/>
                  </a:cubicBezTo>
                  <a:lnTo>
                    <a:pt x="86999" y="521890"/>
                  </a:lnTo>
                  <a:cubicBezTo>
                    <a:pt x="38951" y="521890"/>
                    <a:pt x="0" y="482939"/>
                    <a:pt x="0" y="434891"/>
                  </a:cubicBezTo>
                  <a:lnTo>
                    <a:pt x="0" y="86999"/>
                  </a:lnTo>
                  <a:close/>
                </a:path>
              </a:pathLst>
            </a:custGeom>
            <a:gradFill>
              <a:gsLst>
                <a:gs pos="100000">
                  <a:srgbClr val="FFFFFF"/>
                </a:gs>
                <a:gs pos="51657">
                  <a:srgbClr val="F0F0F0"/>
                </a:gs>
                <a:gs pos="0">
                  <a:srgbClr val="FFFFFF"/>
                </a:gs>
              </a:gsLst>
              <a:lin ang="5400000" scaled="1"/>
            </a:gradFill>
            <a:ln w="9525">
              <a:solidFill>
                <a:srgbClr val="DDDDDD"/>
              </a:solidFill>
              <a:round/>
            </a:ln>
            <a:effectLst>
              <a:outerShdw blurRad="63500" sx="101000" sy="101000" algn="ctr" rotWithShape="0">
                <a:prstClr val="black">
                  <a:alpha val="8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600" kern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3554821" y="2023963"/>
              <a:ext cx="2527339" cy="496490"/>
            </a:xfrm>
            <a:custGeom>
              <a:avLst/>
              <a:gdLst>
                <a:gd name="connsiteX0" fmla="*/ 0 w 2578139"/>
                <a:gd name="connsiteY0" fmla="*/ 86999 h 521890"/>
                <a:gd name="connsiteX1" fmla="*/ 86999 w 2578139"/>
                <a:gd name="connsiteY1" fmla="*/ 0 h 521890"/>
                <a:gd name="connsiteX2" fmla="*/ 2491140 w 2578139"/>
                <a:gd name="connsiteY2" fmla="*/ 0 h 521890"/>
                <a:gd name="connsiteX3" fmla="*/ 2578139 w 2578139"/>
                <a:gd name="connsiteY3" fmla="*/ 86999 h 521890"/>
                <a:gd name="connsiteX4" fmla="*/ 2578139 w 2578139"/>
                <a:gd name="connsiteY4" fmla="*/ 434891 h 521890"/>
                <a:gd name="connsiteX5" fmla="*/ 2491140 w 2578139"/>
                <a:gd name="connsiteY5" fmla="*/ 521890 h 521890"/>
                <a:gd name="connsiteX6" fmla="*/ 86999 w 2578139"/>
                <a:gd name="connsiteY6" fmla="*/ 521890 h 521890"/>
                <a:gd name="connsiteX7" fmla="*/ 0 w 2578139"/>
                <a:gd name="connsiteY7" fmla="*/ 434891 h 521890"/>
                <a:gd name="connsiteX8" fmla="*/ 0 w 2578139"/>
                <a:gd name="connsiteY8" fmla="*/ 86999 h 521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78139" h="521890">
                  <a:moveTo>
                    <a:pt x="0" y="86999"/>
                  </a:moveTo>
                  <a:cubicBezTo>
                    <a:pt x="0" y="38951"/>
                    <a:pt x="38951" y="0"/>
                    <a:pt x="86999" y="0"/>
                  </a:cubicBezTo>
                  <a:lnTo>
                    <a:pt x="2491140" y="0"/>
                  </a:lnTo>
                  <a:cubicBezTo>
                    <a:pt x="2539188" y="0"/>
                    <a:pt x="2578139" y="38951"/>
                    <a:pt x="2578139" y="86999"/>
                  </a:cubicBezTo>
                  <a:lnTo>
                    <a:pt x="2578139" y="434891"/>
                  </a:lnTo>
                  <a:cubicBezTo>
                    <a:pt x="2578139" y="482939"/>
                    <a:pt x="2539188" y="521890"/>
                    <a:pt x="2491140" y="521890"/>
                  </a:cubicBezTo>
                  <a:lnTo>
                    <a:pt x="86999" y="521890"/>
                  </a:lnTo>
                  <a:cubicBezTo>
                    <a:pt x="38951" y="521890"/>
                    <a:pt x="0" y="482939"/>
                    <a:pt x="0" y="434891"/>
                  </a:cubicBezTo>
                  <a:lnTo>
                    <a:pt x="0" y="86999"/>
                  </a:lnTo>
                  <a:close/>
                </a:path>
              </a:pathLst>
            </a:custGeom>
            <a:gradFill rotWithShape="1">
              <a:gsLst>
                <a:gs pos="98000">
                  <a:srgbClr val="F9F9F9"/>
                </a:gs>
                <a:gs pos="100000">
                  <a:srgbClr val="FFFFFF"/>
                </a:gs>
                <a:gs pos="51657">
                  <a:srgbClr val="E8E8E8"/>
                </a:gs>
                <a:gs pos="50000">
                  <a:srgbClr val="ECECEC"/>
                </a:gs>
                <a:gs pos="8000">
                  <a:srgbClr val="F8F8F8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 wrap="none" anchor="ctr"/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sz="200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 panose="020B0503020204020204" pitchFamily="34" charset="-122"/>
                </a:rPr>
                <a:t>解锁账户</a:t>
              </a:r>
            </a:p>
          </p:txBody>
        </p:sp>
      </p:grpSp>
      <p:grpSp>
        <p:nvGrpSpPr>
          <p:cNvPr id="24" name="深色1"/>
          <p:cNvGrpSpPr/>
          <p:nvPr/>
        </p:nvGrpSpPr>
        <p:grpSpPr>
          <a:xfrm>
            <a:off x="670373" y="1720612"/>
            <a:ext cx="782956" cy="491490"/>
            <a:chOff x="2857202" y="2014676"/>
            <a:chExt cx="640807" cy="521630"/>
          </a:xfrm>
        </p:grpSpPr>
        <p:sp>
          <p:nvSpPr>
            <p:cNvPr id="25" name="圆角矩形 24"/>
            <p:cNvSpPr/>
            <p:nvPr/>
          </p:nvSpPr>
          <p:spPr>
            <a:xfrm>
              <a:off x="2857722" y="2014676"/>
              <a:ext cx="640287" cy="521630"/>
            </a:xfrm>
            <a:prstGeom prst="roundRect">
              <a:avLst>
                <a:gd name="adj" fmla="val 16670"/>
              </a:avLst>
            </a:prstGeom>
            <a:gradFill>
              <a:gsLst>
                <a:gs pos="100000">
                  <a:srgbClr val="2676FF">
                    <a:lumMod val="20000"/>
                    <a:lumOff val="80000"/>
                  </a:srgbClr>
                </a:gs>
                <a:gs pos="51657">
                  <a:srgbClr val="2676FF">
                    <a:lumMod val="60000"/>
                    <a:lumOff val="40000"/>
                  </a:srgbClr>
                </a:gs>
                <a:gs pos="0">
                  <a:srgbClr val="2676FF">
                    <a:lumMod val="20000"/>
                    <a:lumOff val="80000"/>
                  </a:srgbClr>
                </a:gs>
              </a:gsLst>
              <a:lin ang="5400000" scaled="1"/>
            </a:gradFill>
            <a:ln w="9525">
              <a:solidFill>
                <a:srgbClr val="2676FF">
                  <a:lumMod val="60000"/>
                  <a:lumOff val="40000"/>
                </a:srgbClr>
              </a:solidFill>
              <a:round/>
            </a:ln>
            <a:effectLst>
              <a:outerShdw blurRad="63500" sx="101000" sy="101000" algn="ctr" rotWithShape="0">
                <a:prstClr val="black">
                  <a:alpha val="18000"/>
                </a:prstClr>
              </a:outerShdw>
            </a:effectLst>
          </p:spPr>
        </p:sp>
        <p:sp>
          <p:nvSpPr>
            <p:cNvPr id="31" name="圆角矩形 30"/>
            <p:cNvSpPr/>
            <p:nvPr/>
          </p:nvSpPr>
          <p:spPr>
            <a:xfrm>
              <a:off x="2857202" y="2027481"/>
              <a:ext cx="615340" cy="496694"/>
            </a:xfrm>
            <a:prstGeom prst="roundRect">
              <a:avLst>
                <a:gd name="adj" fmla="val 16670"/>
              </a:avLst>
            </a:prstGeom>
            <a:gradFill rotWithShape="1">
              <a:gsLst>
                <a:gs pos="98000">
                  <a:srgbClr val="2676FF">
                    <a:lumMod val="60000"/>
                    <a:lumOff val="40000"/>
                  </a:srgbClr>
                </a:gs>
                <a:gs pos="100000">
                  <a:srgbClr val="2676FF">
                    <a:lumMod val="40000"/>
                    <a:lumOff val="60000"/>
                  </a:srgbClr>
                </a:gs>
                <a:gs pos="51657">
                  <a:srgbClr val="2676FF"/>
                </a:gs>
                <a:gs pos="50000">
                  <a:srgbClr val="2676FF">
                    <a:alpha val="70000"/>
                  </a:srgbClr>
                </a:gs>
                <a:gs pos="8000">
                  <a:srgbClr val="2676FF">
                    <a:lumMod val="60000"/>
                    <a:lumOff val="40000"/>
                  </a:srgb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Impact" panose="020B080603090205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(3)</a:t>
              </a:r>
              <a:endParaRPr lang="zh-CN" altLang="en-US" sz="3600" kern="0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05155" y="4109085"/>
            <a:ext cx="4169410" cy="1896110"/>
            <a:chOff x="971600" y="3062290"/>
            <a:chExt cx="3196790" cy="1714233"/>
          </a:xfrm>
        </p:grpSpPr>
        <p:sp>
          <p:nvSpPr>
            <p:cNvPr id="33" name="TextBox 2"/>
            <p:cNvSpPr txBox="1"/>
            <p:nvPr/>
          </p:nvSpPr>
          <p:spPr>
            <a:xfrm>
              <a:off x="971600" y="3293074"/>
              <a:ext cx="3196790" cy="1483449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将上一步中锁定的u02账户解锁，并查看/etc/shadow配置文件验证。命令用法及返回结果如图6-5所示。</a:t>
              </a: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1108808" y="3062290"/>
              <a:ext cx="1143007" cy="3996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36880" y="1613535"/>
            <a:ext cx="11317605" cy="4881245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6.1.3  删除账号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455" y="1699895"/>
            <a:ext cx="10995025" cy="2109470"/>
            <a:chOff x="933" y="2677"/>
            <a:chExt cx="17315" cy="3395"/>
          </a:xfrm>
        </p:grpSpPr>
        <p:sp>
          <p:nvSpPr>
            <p:cNvPr id="43" name="矩形 42"/>
            <p:cNvSpPr/>
            <p:nvPr/>
          </p:nvSpPr>
          <p:spPr>
            <a:xfrm>
              <a:off x="933" y="2677"/>
              <a:ext cx="17315" cy="33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435" y="2677"/>
              <a:ext cx="3817" cy="932"/>
              <a:chOff x="1435" y="2677"/>
              <a:chExt cx="3817" cy="932"/>
            </a:xfrm>
          </p:grpSpPr>
          <p:sp>
            <p:nvSpPr>
              <p:cNvPr id="24" name="TextBox 6"/>
              <p:cNvSpPr txBox="1"/>
              <p:nvPr/>
            </p:nvSpPr>
            <p:spPr>
              <a:xfrm>
                <a:off x="2892" y="2677"/>
                <a:ext cx="2360" cy="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userdel</a:t>
                </a:r>
              </a:p>
            </p:txBody>
          </p:sp>
          <p:sp>
            <p:nvSpPr>
              <p:cNvPr id="25" name="TextBox 6"/>
              <p:cNvSpPr txBox="1"/>
              <p:nvPr/>
            </p:nvSpPr>
            <p:spPr>
              <a:xfrm>
                <a:off x="1435" y="2677"/>
                <a:ext cx="1457" cy="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2400" dirty="0">
                    <a:solidFill>
                      <a:srgbClr val="0070C0"/>
                    </a:solidFill>
                    <a:sym typeface="+mn-ea"/>
                  </a:rPr>
                  <a:t>命令：</a:t>
                </a: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322" y="4902"/>
              <a:ext cx="11085" cy="802"/>
              <a:chOff x="1773" y="2575"/>
              <a:chExt cx="3779" cy="802"/>
            </a:xfrm>
          </p:grpSpPr>
          <p:sp>
            <p:nvSpPr>
              <p:cNvPr id="9" name="TextBox 6"/>
              <p:cNvSpPr txBox="1"/>
              <p:nvPr/>
            </p:nvSpPr>
            <p:spPr>
              <a:xfrm>
                <a:off x="2258" y="2575"/>
                <a:ext cx="3294" cy="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-r    删除账户的同时，删除该账户对应的主目录。</a:t>
                </a:r>
              </a:p>
            </p:txBody>
          </p:sp>
          <p:sp>
            <p:nvSpPr>
              <p:cNvPr id="10" name="TextBox 6"/>
              <p:cNvSpPr txBox="1"/>
              <p:nvPr/>
            </p:nvSpPr>
            <p:spPr>
              <a:xfrm>
                <a:off x="1773" y="2575"/>
                <a:ext cx="732" cy="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参数：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369" y="4105"/>
              <a:ext cx="7529" cy="883"/>
              <a:chOff x="1395" y="8099"/>
              <a:chExt cx="6424" cy="883"/>
            </a:xfrm>
          </p:grpSpPr>
          <p:sp>
            <p:nvSpPr>
              <p:cNvPr id="11" name="TextBox 6"/>
              <p:cNvSpPr txBox="1"/>
              <p:nvPr/>
            </p:nvSpPr>
            <p:spPr>
              <a:xfrm>
                <a:off x="1395" y="8099"/>
                <a:ext cx="3159" cy="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2536" y="8099"/>
                <a:ext cx="5283" cy="883"/>
                <a:chOff x="2456" y="8199"/>
                <a:chExt cx="5283" cy="883"/>
              </a:xfrm>
            </p:grpSpPr>
            <p:sp>
              <p:nvSpPr>
                <p:cNvPr id="14" name="流程图: 过程 13"/>
                <p:cNvSpPr/>
                <p:nvPr/>
              </p:nvSpPr>
              <p:spPr>
                <a:xfrm>
                  <a:off x="2456" y="8273"/>
                  <a:ext cx="4939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2517" y="8199"/>
                  <a:ext cx="5222" cy="8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20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userdel</a:t>
                  </a: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  </a:t>
                  </a:r>
                  <a:r>
                    <a:rPr lang="zh-CN" altLang="en-US" sz="20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[参数选项]  账户名</a:t>
                  </a:r>
                </a:p>
              </p:txBody>
            </p:sp>
          </p:grpSp>
        </p:grpSp>
        <p:grpSp>
          <p:nvGrpSpPr>
            <p:cNvPr id="20" name="组合 19"/>
            <p:cNvGrpSpPr/>
            <p:nvPr/>
          </p:nvGrpSpPr>
          <p:grpSpPr>
            <a:xfrm>
              <a:off x="6471" y="2739"/>
              <a:ext cx="4620" cy="802"/>
              <a:chOff x="6897" y="-309"/>
              <a:chExt cx="4620" cy="802"/>
            </a:xfrm>
          </p:grpSpPr>
          <p:sp>
            <p:nvSpPr>
              <p:cNvPr id="21" name="TextBox 6"/>
              <p:cNvSpPr txBox="1"/>
              <p:nvPr/>
            </p:nvSpPr>
            <p:spPr>
              <a:xfrm>
                <a:off x="9157" y="-309"/>
                <a:ext cx="2360" cy="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root</a:t>
                </a:r>
              </a:p>
            </p:txBody>
          </p:sp>
          <p:sp>
            <p:nvSpPr>
              <p:cNvPr id="26" name="TextBox 6"/>
              <p:cNvSpPr txBox="1"/>
              <p:nvPr/>
            </p:nvSpPr>
            <p:spPr>
              <a:xfrm>
                <a:off x="6897" y="-309"/>
                <a:ext cx="2211" cy="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1382" y="3425"/>
              <a:ext cx="3923" cy="802"/>
              <a:chOff x="1375" y="7165"/>
              <a:chExt cx="3923" cy="802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2938" y="7165"/>
                <a:ext cx="2360" cy="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删除账号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1375" y="7165"/>
                <a:ext cx="1805" cy="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功能：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4916170" y="4013835"/>
            <a:ext cx="6675120" cy="2471420"/>
            <a:chOff x="7742" y="6369"/>
            <a:chExt cx="10512" cy="3892"/>
          </a:xfrm>
        </p:grpSpPr>
        <p:sp>
          <p:nvSpPr>
            <p:cNvPr id="19" name="Text Box 44"/>
            <p:cNvSpPr txBox="1">
              <a:spLocks noChangeArrowheads="1"/>
            </p:cNvSpPr>
            <p:nvPr/>
          </p:nvSpPr>
          <p:spPr bwMode="auto">
            <a:xfrm>
              <a:off x="9030" y="9469"/>
              <a:ext cx="8002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图6-6  【例6-6】命令用法及返回结果</a:t>
              </a:r>
            </a:p>
          </p:txBody>
        </p:sp>
        <p:pic>
          <p:nvPicPr>
            <p:cNvPr id="3" name="图片 -2147482618"/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7742" y="6369"/>
              <a:ext cx="10513" cy="316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pic>
      </p:grpSp>
      <p:grpSp>
        <p:nvGrpSpPr>
          <p:cNvPr id="32" name="组合 31"/>
          <p:cNvGrpSpPr/>
          <p:nvPr/>
        </p:nvGrpSpPr>
        <p:grpSpPr>
          <a:xfrm>
            <a:off x="592455" y="3858260"/>
            <a:ext cx="4169410" cy="2353310"/>
            <a:chOff x="971600" y="3062290"/>
            <a:chExt cx="3196790" cy="2127578"/>
          </a:xfrm>
        </p:grpSpPr>
        <p:sp>
          <p:nvSpPr>
            <p:cNvPr id="33" name="TextBox 2"/>
            <p:cNvSpPr txBox="1"/>
            <p:nvPr/>
          </p:nvSpPr>
          <p:spPr>
            <a:xfrm>
              <a:off x="971600" y="3293074"/>
              <a:ext cx="3196790" cy="1896794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使用userdel命令删除u001账户，同时删除u001账户的主目录，并查看相关配置文件验证。命令用法及返回结果如图6-6所示。</a:t>
              </a: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1108808" y="3062290"/>
              <a:ext cx="1143007" cy="3996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386080" y="1704975"/>
            <a:ext cx="11310620" cy="4561205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6.1.4  用户口令管理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503555" y="1969770"/>
            <a:ext cx="5702300" cy="3749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用户管理的一项重要内容是用户口令的管理。用户账号刚创建时没有口令，但是被系统锁定，无法使用，必须为其指定口令后才可以使用，即使是</a:t>
            </a:r>
            <a:r>
              <a:rPr lang="zh-CN" altLang="en-US" sz="2000" b="1" dirty="0">
                <a:solidFill>
                  <a:srgbClr val="0070C0"/>
                </a:solidFill>
                <a:sym typeface="Arial Unicode MS" panose="020B0604020202020204" pitchFamily="34" charset="-122"/>
              </a:rPr>
              <a:t>指定空口令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。</a:t>
            </a:r>
          </a:p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指定和修改用户口令的Shell命令是</a:t>
            </a:r>
            <a:r>
              <a:rPr lang="zh-CN" altLang="en-US" sz="2000" b="1" dirty="0">
                <a:solidFill>
                  <a:srgbClr val="0070C0"/>
                </a:solidFill>
                <a:sym typeface="Arial Unicode MS" panose="020B0604020202020204" pitchFamily="34" charset="-122"/>
              </a:rPr>
              <a:t>passwd。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使用passwd命令结合相关参数，可对Linux系统的账户进行设置登录密码、修改密码、锁定或解锁密码、删除密码等操作。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6326503" y="4034155"/>
            <a:ext cx="4976723" cy="2037080"/>
            <a:chOff x="13357" y="7025"/>
            <a:chExt cx="4651" cy="2854"/>
          </a:xfrm>
        </p:grpSpPr>
        <p:grpSp>
          <p:nvGrpSpPr>
            <p:cNvPr id="28" name="组合 14"/>
            <p:cNvGrpSpPr/>
            <p:nvPr/>
          </p:nvGrpSpPr>
          <p:grpSpPr bwMode="auto">
            <a:xfrm>
              <a:off x="13357" y="7617"/>
              <a:ext cx="4651" cy="2262"/>
              <a:chOff x="1166778" y="1786456"/>
              <a:chExt cx="8923611" cy="1713982"/>
            </a:xfrm>
          </p:grpSpPr>
          <p:grpSp>
            <p:nvGrpSpPr>
              <p:cNvPr id="10249" name="组合 12"/>
              <p:cNvGrpSpPr/>
              <p:nvPr/>
            </p:nvGrpSpPr>
            <p:grpSpPr bwMode="auto">
              <a:xfrm>
                <a:off x="1166778" y="1786456"/>
                <a:ext cx="8923611" cy="1713982"/>
                <a:chOff x="1166778" y="1786456"/>
                <a:chExt cx="8923611" cy="1713982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1166778" y="1786456"/>
                  <a:ext cx="8923611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10252" name="矩形 6"/>
                <p:cNvSpPr>
                  <a:spLocks noChangeArrowheads="1"/>
                </p:cNvSpPr>
                <p:nvPr/>
              </p:nvSpPr>
              <p:spPr bwMode="auto">
                <a:xfrm>
                  <a:off x="2816496" y="1786963"/>
                  <a:ext cx="2479793" cy="4854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10250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369784" y="2394616"/>
                <a:ext cx="8629871" cy="895918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eaLnBrk="1" latinLnBrk="0" hangingPunct="1"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超级用户</a:t>
                </a: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可以为自己和其他用户指定口令，</a:t>
                </a:r>
                <a:r>
                  <a:rPr lang="zh-CN" altLang="en-US" sz="2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普通用户</a:t>
                </a: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只能用它修改自己的口令。</a:t>
                </a:r>
              </a:p>
            </p:txBody>
          </p:sp>
        </p:grpSp>
        <p:pic>
          <p:nvPicPr>
            <p:cNvPr id="30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357" y="7025"/>
              <a:ext cx="1022" cy="1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" name="图片 1" descr="口令管理"/>
          <p:cNvPicPr>
            <a:picLocks noChangeAspect="1"/>
          </p:cNvPicPr>
          <p:nvPr/>
        </p:nvPicPr>
        <p:blipFill>
          <a:blip r:embed="rId4" cstate="print"/>
          <a:srcRect b="9005"/>
          <a:stretch>
            <a:fillRect/>
          </a:stretch>
        </p:blipFill>
        <p:spPr>
          <a:xfrm>
            <a:off x="7037705" y="1874680"/>
            <a:ext cx="3820795" cy="23163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0375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6.1.4  用户口令管理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14173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pic>
        <p:nvPicPr>
          <p:cNvPr id="3" name="图片 -2147482616"/>
          <p:cNvPicPr>
            <a:picLocks noChangeAspect="1"/>
          </p:cNvPicPr>
          <p:nvPr/>
        </p:nvPicPr>
        <p:blipFill>
          <a:blip r:embed="rId3" cstate="print">
            <a:grayscl/>
          </a:blip>
          <a:stretch>
            <a:fillRect/>
          </a:stretch>
        </p:blipFill>
        <p:spPr>
          <a:xfrm>
            <a:off x="789940" y="4995545"/>
            <a:ext cx="4780280" cy="1129030"/>
          </a:xfrm>
          <a:prstGeom prst="rect">
            <a:avLst/>
          </a:prstGeom>
          <a:noFill/>
          <a:ln w="9525">
            <a:solidFill>
              <a:schemeClr val="accent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4" name="图片 -2147482615"/>
          <p:cNvPicPr>
            <a:picLocks noChangeAspect="1"/>
          </p:cNvPicPr>
          <p:nvPr/>
        </p:nvPicPr>
        <p:blipFill>
          <a:blip r:embed="rId4" cstate="print">
            <a:grayscl/>
          </a:blip>
          <a:stretch>
            <a:fillRect/>
          </a:stretch>
        </p:blipFill>
        <p:spPr>
          <a:xfrm>
            <a:off x="6134100" y="5418455"/>
            <a:ext cx="5306695" cy="570865"/>
          </a:xfrm>
          <a:prstGeom prst="rect">
            <a:avLst/>
          </a:prstGeom>
          <a:noFill/>
          <a:ln w="9525">
            <a:solidFill>
              <a:schemeClr val="accent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9" name="Text Box 44"/>
          <p:cNvSpPr txBox="1">
            <a:spLocks noChangeArrowheads="1"/>
          </p:cNvSpPr>
          <p:nvPr/>
        </p:nvSpPr>
        <p:spPr bwMode="auto">
          <a:xfrm>
            <a:off x="909320" y="6064885"/>
            <a:ext cx="508127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图6-7  设置密码过程</a:t>
            </a: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7115810" y="5988685"/>
            <a:ext cx="241427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图6-8  验证过程</a:t>
            </a:r>
          </a:p>
        </p:txBody>
      </p:sp>
      <p:sp>
        <p:nvSpPr>
          <p:cNvPr id="18" name="Text Box 44"/>
          <p:cNvSpPr txBox="1">
            <a:spLocks noChangeArrowheads="1"/>
          </p:cNvSpPr>
          <p:nvPr/>
        </p:nvSpPr>
        <p:spPr bwMode="auto">
          <a:xfrm>
            <a:off x="497840" y="3928745"/>
            <a:ext cx="11007725" cy="100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FF0000"/>
                </a:solidFill>
                <a:sym typeface="Arial Unicode MS" panose="020B0604020202020204" pitchFamily="34" charset="-122"/>
              </a:rPr>
              <a:t>【例6-</a:t>
            </a:r>
            <a:r>
              <a:rPr lang="en-US" altLang="zh-CN" sz="2000" b="1" dirty="0">
                <a:solidFill>
                  <a:srgbClr val="FF0000"/>
                </a:solidFill>
                <a:sym typeface="Arial Unicode MS" panose="020B0604020202020204" pitchFamily="34" charset="-122"/>
              </a:rPr>
              <a:t>7</a:t>
            </a:r>
            <a:r>
              <a:rPr lang="zh-CN" altLang="en-US" sz="2000" b="1" dirty="0">
                <a:solidFill>
                  <a:srgbClr val="FF0000"/>
                </a:solidFill>
                <a:sym typeface="Arial Unicode MS" panose="020B0604020202020204" pitchFamily="34" charset="-122"/>
              </a:rPr>
              <a:t>】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使用passwd命令给u02账户设置密码，然后注销进入文本界面，以u02账户密码登录系统，并验证密码设置是否成功。</a:t>
            </a:r>
          </a:p>
        </p:txBody>
      </p:sp>
      <p:sp>
        <p:nvSpPr>
          <p:cNvPr id="6" name="矩形 5"/>
          <p:cNvSpPr/>
          <p:nvPr/>
        </p:nvSpPr>
        <p:spPr>
          <a:xfrm>
            <a:off x="1624330" y="1616075"/>
            <a:ext cx="10100310" cy="2362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0165" y="1616075"/>
            <a:ext cx="1574165" cy="2363470"/>
          </a:xfrm>
          <a:prstGeom prst="rect">
            <a:avLst/>
          </a:prstGeom>
          <a:solidFill>
            <a:srgbClr val="004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72110" y="2085340"/>
            <a:ext cx="885190" cy="1214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（1）设置密码 </a:t>
            </a:r>
            <a:endParaRPr lang="zh-CN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822660" y="2085340"/>
            <a:ext cx="3869926" cy="1637030"/>
            <a:chOff x="655" y="2671"/>
            <a:chExt cx="5978" cy="2578"/>
          </a:xfrm>
        </p:grpSpPr>
        <p:sp>
          <p:nvSpPr>
            <p:cNvPr id="8" name="矩形 7"/>
            <p:cNvSpPr/>
            <p:nvPr/>
          </p:nvSpPr>
          <p:spPr>
            <a:xfrm>
              <a:off x="655" y="2671"/>
              <a:ext cx="5978" cy="2578"/>
            </a:xfrm>
            <a:prstGeom prst="rect">
              <a:avLst/>
            </a:prstGeom>
            <a:gradFill>
              <a:gsLst>
                <a:gs pos="0">
                  <a:schemeClr val="accent6">
                    <a:tint val="50000"/>
                    <a:satMod val="300000"/>
                  </a:schemeClr>
                </a:gs>
                <a:gs pos="0">
                  <a:schemeClr val="accent6">
                    <a:tint val="37000"/>
                    <a:satMod val="300000"/>
                  </a:schemeClr>
                </a:gs>
                <a:gs pos="100000">
                  <a:schemeClr val="accent6">
                    <a:tint val="15000"/>
                    <a:satMod val="350000"/>
                  </a:schemeClr>
                </a:gs>
              </a:gsLst>
            </a:gra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endParaRPr lang="en-US" altLang="zh-CN" sz="2000" b="1" dirty="0" smtClean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/>
              </a:endParaRPr>
            </a:p>
            <a:p>
              <a:endParaRPr lang="en-US" altLang="zh-CN" sz="2000" b="1" dirty="0" smtClean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791" y="4115"/>
              <a:ext cx="4547" cy="792"/>
              <a:chOff x="1308" y="2209"/>
              <a:chExt cx="4547" cy="792"/>
            </a:xfrm>
          </p:grpSpPr>
          <p:sp>
            <p:nvSpPr>
              <p:cNvPr id="25" name="TextBox 6"/>
              <p:cNvSpPr txBox="1"/>
              <p:nvPr/>
            </p:nvSpPr>
            <p:spPr>
              <a:xfrm>
                <a:off x="3495" y="2233"/>
                <a:ext cx="236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所有用户</a:t>
                </a:r>
                <a:endPara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TextBox 6"/>
              <p:cNvSpPr txBox="1"/>
              <p:nvPr/>
            </p:nvSpPr>
            <p:spPr>
              <a:xfrm>
                <a:off x="1308" y="2209"/>
                <a:ext cx="2211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655" y="2866"/>
              <a:ext cx="4513" cy="864"/>
              <a:chOff x="849" y="7116"/>
              <a:chExt cx="3851" cy="864"/>
            </a:xfrm>
          </p:grpSpPr>
          <p:sp>
            <p:nvSpPr>
              <p:cNvPr id="9" name="TextBox 6"/>
              <p:cNvSpPr txBox="1"/>
              <p:nvPr/>
            </p:nvSpPr>
            <p:spPr>
              <a:xfrm>
                <a:off x="849" y="7148"/>
                <a:ext cx="1311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1933" y="7116"/>
                <a:ext cx="2767" cy="864"/>
                <a:chOff x="1853" y="7216"/>
                <a:chExt cx="2767" cy="864"/>
              </a:xfrm>
            </p:grpSpPr>
            <p:sp>
              <p:nvSpPr>
                <p:cNvPr id="57" name="流程图: 过程 56"/>
                <p:cNvSpPr/>
                <p:nvPr/>
              </p:nvSpPr>
              <p:spPr>
                <a:xfrm>
                  <a:off x="1896" y="7361"/>
                  <a:ext cx="2724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58" name="文本框 57"/>
                <p:cNvSpPr txBox="1"/>
                <p:nvPr/>
              </p:nvSpPr>
              <p:spPr>
                <a:xfrm>
                  <a:off x="1853" y="7216"/>
                  <a:ext cx="2767" cy="8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20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passwd  账户名</a:t>
                  </a:r>
                </a:p>
              </p:txBody>
            </p:sp>
          </p:grpSp>
        </p:grpSp>
      </p:grpSp>
      <p:grpSp>
        <p:nvGrpSpPr>
          <p:cNvPr id="10" name="组合 9"/>
          <p:cNvGrpSpPr/>
          <p:nvPr/>
        </p:nvGrpSpPr>
        <p:grpSpPr>
          <a:xfrm>
            <a:off x="5854700" y="1312053"/>
            <a:ext cx="5591175" cy="2453935"/>
            <a:chOff x="13357" y="6940"/>
            <a:chExt cx="4994" cy="2939"/>
          </a:xfrm>
        </p:grpSpPr>
        <p:grpSp>
          <p:nvGrpSpPr>
            <p:cNvPr id="33" name="组合 14"/>
            <p:cNvGrpSpPr/>
            <p:nvPr/>
          </p:nvGrpSpPr>
          <p:grpSpPr bwMode="auto">
            <a:xfrm>
              <a:off x="13357" y="7551"/>
              <a:ext cx="4994" cy="2328"/>
              <a:chOff x="1166778" y="1736255"/>
              <a:chExt cx="9582029" cy="1764004"/>
            </a:xfrm>
          </p:grpSpPr>
          <p:grpSp>
            <p:nvGrpSpPr>
              <p:cNvPr id="35" name="组合 12"/>
              <p:cNvGrpSpPr/>
              <p:nvPr/>
            </p:nvGrpSpPr>
            <p:grpSpPr bwMode="auto">
              <a:xfrm>
                <a:off x="1166778" y="1736255"/>
                <a:ext cx="9582029" cy="1764004"/>
                <a:chOff x="1166778" y="1736255"/>
                <a:chExt cx="9582029" cy="1764004"/>
              </a:xfrm>
            </p:grpSpPr>
            <p:sp>
              <p:nvSpPr>
                <p:cNvPr id="36" name="矩形 35"/>
                <p:cNvSpPr/>
                <p:nvPr/>
              </p:nvSpPr>
              <p:spPr>
                <a:xfrm>
                  <a:off x="1166778" y="1786392"/>
                  <a:ext cx="9582029" cy="171386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37" name="矩形 6"/>
                <p:cNvSpPr>
                  <a:spLocks noChangeArrowheads="1"/>
                </p:cNvSpPr>
                <p:nvPr/>
              </p:nvSpPr>
              <p:spPr bwMode="auto">
                <a:xfrm>
                  <a:off x="2816496" y="1736255"/>
                  <a:ext cx="2479793" cy="41487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38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291926" y="2065889"/>
                <a:ext cx="9378526" cy="1394606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eaLnBrk="1" latinLnBrk="0" hangingPunct="1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通常Linux账户只有设置密码后才能登录系统。只有root用户才有权限设置或修改指定账户的密码，而普通用户只能设置或修改自己的密码。若要用此命令修改指定账户的密码，那么原密码将会被覆盖。</a:t>
                </a:r>
              </a:p>
            </p:txBody>
          </p:sp>
        </p:grpSp>
        <p:pic>
          <p:nvPicPr>
            <p:cNvPr id="39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357" y="6940"/>
              <a:ext cx="1022" cy="1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3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8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300"/>
                            </p:stCondLst>
                            <p:childTnLst>
                              <p:par>
                                <p:cTn id="2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800"/>
                            </p:stCondLst>
                            <p:childTnLst>
                              <p:par>
                                <p:cTn id="2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13" grpId="0" bldLvl="0" animBg="1"/>
      <p:bldP spid="18" grpId="0" bldLvl="0" animBg="1"/>
      <p:bldP spid="6" grpId="0" bldLvl="0" animBg="1"/>
      <p:bldP spid="42" grpId="0" bldLvl="0" animBg="1"/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670050" y="1555115"/>
            <a:ext cx="10100310" cy="2362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0800" y="1555115"/>
            <a:ext cx="1619250" cy="2363470"/>
          </a:xfrm>
          <a:prstGeom prst="rect">
            <a:avLst/>
          </a:prstGeom>
          <a:solidFill>
            <a:srgbClr val="004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17830" y="2024380"/>
            <a:ext cx="885190" cy="1214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（2）锁定密码 </a:t>
            </a:r>
            <a:endParaRPr lang="zh-CN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157730" y="2024380"/>
            <a:ext cx="3581602" cy="1637030"/>
            <a:chOff x="1102" y="2671"/>
            <a:chExt cx="5533" cy="2578"/>
          </a:xfrm>
        </p:grpSpPr>
        <p:sp>
          <p:nvSpPr>
            <p:cNvPr id="19" name="矩形 18"/>
            <p:cNvSpPr/>
            <p:nvPr/>
          </p:nvSpPr>
          <p:spPr>
            <a:xfrm>
              <a:off x="1102" y="2671"/>
              <a:ext cx="5531" cy="2578"/>
            </a:xfrm>
            <a:prstGeom prst="rect">
              <a:avLst/>
            </a:prstGeom>
            <a:gradFill>
              <a:gsLst>
                <a:gs pos="0">
                  <a:schemeClr val="accent6">
                    <a:tint val="50000"/>
                    <a:satMod val="300000"/>
                  </a:schemeClr>
                </a:gs>
                <a:gs pos="0">
                  <a:schemeClr val="accent6">
                    <a:tint val="37000"/>
                    <a:satMod val="300000"/>
                  </a:schemeClr>
                </a:gs>
                <a:gs pos="100000">
                  <a:schemeClr val="accent6">
                    <a:tint val="15000"/>
                    <a:satMod val="350000"/>
                  </a:schemeClr>
                </a:gs>
              </a:gsLst>
            </a:gra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endParaRPr lang="en-US" altLang="zh-CN" sz="2000" b="1" dirty="0" smtClean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/>
              </a:endParaRPr>
            </a:p>
            <a:p>
              <a:endParaRPr lang="en-US" altLang="zh-CN" sz="2000" b="1" dirty="0" smtClean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256" y="4427"/>
              <a:ext cx="4680" cy="774"/>
              <a:chOff x="1773" y="2521"/>
              <a:chExt cx="4680" cy="774"/>
            </a:xfrm>
          </p:grpSpPr>
          <p:sp>
            <p:nvSpPr>
              <p:cNvPr id="25" name="TextBox 6"/>
              <p:cNvSpPr txBox="1"/>
              <p:nvPr/>
            </p:nvSpPr>
            <p:spPr>
              <a:xfrm>
                <a:off x="4093" y="2521"/>
                <a:ext cx="236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所有用户</a:t>
                </a:r>
                <a:endPara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TextBox 6"/>
              <p:cNvSpPr txBox="1"/>
              <p:nvPr/>
            </p:nvSpPr>
            <p:spPr>
              <a:xfrm>
                <a:off x="1773" y="2527"/>
                <a:ext cx="2211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342" y="3619"/>
              <a:ext cx="5293" cy="806"/>
              <a:chOff x="1435" y="7869"/>
              <a:chExt cx="4516" cy="806"/>
            </a:xfrm>
          </p:grpSpPr>
          <p:sp>
            <p:nvSpPr>
              <p:cNvPr id="34" name="TextBox 6"/>
              <p:cNvSpPr txBox="1"/>
              <p:nvPr/>
            </p:nvSpPr>
            <p:spPr>
              <a:xfrm>
                <a:off x="1435" y="7884"/>
                <a:ext cx="1311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2536" y="7869"/>
                <a:ext cx="3415" cy="806"/>
                <a:chOff x="2456" y="7969"/>
                <a:chExt cx="3415" cy="806"/>
              </a:xfrm>
            </p:grpSpPr>
            <p:sp>
              <p:nvSpPr>
                <p:cNvPr id="57" name="流程图: 过程 56"/>
                <p:cNvSpPr/>
                <p:nvPr/>
              </p:nvSpPr>
              <p:spPr>
                <a:xfrm>
                  <a:off x="2456" y="8057"/>
                  <a:ext cx="3192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58" name="文本框 57"/>
                <p:cNvSpPr txBox="1"/>
                <p:nvPr/>
              </p:nvSpPr>
              <p:spPr>
                <a:xfrm>
                  <a:off x="2517" y="7969"/>
                  <a:ext cx="3354" cy="7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passwd  -</a:t>
                  </a:r>
                  <a:r>
                    <a:rPr lang="en-US" altLang="zh-CN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l</a:t>
                  </a: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  账户名</a:t>
                  </a:r>
                </a:p>
              </p:txBody>
            </p:sp>
          </p:grpSp>
        </p:grpSp>
        <p:grpSp>
          <p:nvGrpSpPr>
            <p:cNvPr id="59" name="组合 58"/>
            <p:cNvGrpSpPr/>
            <p:nvPr/>
          </p:nvGrpSpPr>
          <p:grpSpPr>
            <a:xfrm>
              <a:off x="1318" y="2889"/>
              <a:ext cx="3719" cy="768"/>
              <a:chOff x="1747" y="2246"/>
              <a:chExt cx="3719" cy="768"/>
            </a:xfrm>
          </p:grpSpPr>
          <p:sp>
            <p:nvSpPr>
              <p:cNvPr id="60" name="TextBox 6"/>
              <p:cNvSpPr txBox="1"/>
              <p:nvPr/>
            </p:nvSpPr>
            <p:spPr>
              <a:xfrm>
                <a:off x="3106" y="2246"/>
                <a:ext cx="236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</a:p>
            </p:txBody>
          </p:sp>
          <p:sp>
            <p:nvSpPr>
              <p:cNvPr id="61" name="TextBox 6"/>
              <p:cNvSpPr txBox="1"/>
              <p:nvPr/>
            </p:nvSpPr>
            <p:spPr>
              <a:xfrm>
                <a:off x="1747" y="2246"/>
                <a:ext cx="136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参数：</a:t>
                </a:r>
              </a:p>
            </p:txBody>
          </p:sp>
        </p:grpSp>
      </p:grpSp>
      <p:grpSp>
        <p:nvGrpSpPr>
          <p:cNvPr id="62" name="组合 61"/>
          <p:cNvGrpSpPr/>
          <p:nvPr/>
        </p:nvGrpSpPr>
        <p:grpSpPr>
          <a:xfrm>
            <a:off x="6842125" y="1537335"/>
            <a:ext cx="3636645" cy="2147129"/>
            <a:chOff x="13357" y="6925"/>
            <a:chExt cx="3438" cy="2954"/>
          </a:xfrm>
        </p:grpSpPr>
        <p:grpSp>
          <p:nvGrpSpPr>
            <p:cNvPr id="63" name="组合 14"/>
            <p:cNvGrpSpPr/>
            <p:nvPr/>
          </p:nvGrpSpPr>
          <p:grpSpPr bwMode="auto">
            <a:xfrm>
              <a:off x="13357" y="7529"/>
              <a:ext cx="3438" cy="2350"/>
              <a:chOff x="1166778" y="1719702"/>
              <a:chExt cx="6596484" cy="1780944"/>
            </a:xfrm>
          </p:grpSpPr>
          <p:grpSp>
            <p:nvGrpSpPr>
              <p:cNvPr id="64" name="组合 12"/>
              <p:cNvGrpSpPr/>
              <p:nvPr/>
            </p:nvGrpSpPr>
            <p:grpSpPr bwMode="auto">
              <a:xfrm>
                <a:off x="1166778" y="1719702"/>
                <a:ext cx="6596484" cy="1780944"/>
                <a:chOff x="1166778" y="1719702"/>
                <a:chExt cx="6596484" cy="1780944"/>
              </a:xfrm>
            </p:grpSpPr>
            <p:sp>
              <p:nvSpPr>
                <p:cNvPr id="65" name="矩形 64"/>
                <p:cNvSpPr/>
                <p:nvPr/>
              </p:nvSpPr>
              <p:spPr>
                <a:xfrm>
                  <a:off x="1166778" y="1786570"/>
                  <a:ext cx="6596484" cy="1714076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66" name="矩形 6"/>
                <p:cNvSpPr>
                  <a:spLocks noChangeArrowheads="1"/>
                </p:cNvSpPr>
                <p:nvPr/>
              </p:nvSpPr>
              <p:spPr bwMode="auto">
                <a:xfrm>
                  <a:off x="2715136" y="1719702"/>
                  <a:ext cx="2479793" cy="4767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67" name="MH_Text_1"/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1371802" y="2134152"/>
                <a:ext cx="6217535" cy="1319488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eaLnBrk="1" latinLnBrk="0" hangingPunct="1"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通过锁定密码的方式，可以暂时禁止用户登录系统。</a:t>
                </a:r>
              </a:p>
            </p:txBody>
          </p:sp>
        </p:grpSp>
        <p:pic>
          <p:nvPicPr>
            <p:cNvPr id="68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410" y="6925"/>
              <a:ext cx="873" cy="13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矩形 1"/>
          <p:cNvSpPr/>
          <p:nvPr/>
        </p:nvSpPr>
        <p:spPr>
          <a:xfrm>
            <a:off x="1659890" y="4029075"/>
            <a:ext cx="10100310" cy="2469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640" y="4029075"/>
            <a:ext cx="1619250" cy="2469515"/>
          </a:xfrm>
          <a:prstGeom prst="rect">
            <a:avLst/>
          </a:prstGeom>
          <a:solidFill>
            <a:srgbClr val="004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670" y="4498340"/>
            <a:ext cx="885190" cy="1214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（3）解锁密码</a:t>
            </a:r>
          </a:p>
        </p:txBody>
      </p:sp>
      <p:grpSp>
        <p:nvGrpSpPr>
          <p:cNvPr id="82" name="组合 81"/>
          <p:cNvGrpSpPr/>
          <p:nvPr/>
        </p:nvGrpSpPr>
        <p:grpSpPr>
          <a:xfrm>
            <a:off x="6932396" y="3918298"/>
            <a:ext cx="3545739" cy="2071022"/>
            <a:chOff x="13336" y="6394"/>
            <a:chExt cx="3272" cy="3486"/>
          </a:xfrm>
        </p:grpSpPr>
        <p:grpSp>
          <p:nvGrpSpPr>
            <p:cNvPr id="83" name="组合 14"/>
            <p:cNvGrpSpPr/>
            <p:nvPr/>
          </p:nvGrpSpPr>
          <p:grpSpPr bwMode="auto">
            <a:xfrm>
              <a:off x="13357" y="7551"/>
              <a:ext cx="3251" cy="2329"/>
              <a:chOff x="1166778" y="1736255"/>
              <a:chExt cx="6237116" cy="1764563"/>
            </a:xfrm>
          </p:grpSpPr>
          <p:grpSp>
            <p:nvGrpSpPr>
              <p:cNvPr id="84" name="组合 12"/>
              <p:cNvGrpSpPr/>
              <p:nvPr/>
            </p:nvGrpSpPr>
            <p:grpSpPr bwMode="auto">
              <a:xfrm>
                <a:off x="1166778" y="1736255"/>
                <a:ext cx="6237116" cy="1764563"/>
                <a:chOff x="1166778" y="1736255"/>
                <a:chExt cx="6237116" cy="1764563"/>
              </a:xfrm>
            </p:grpSpPr>
            <p:sp>
              <p:nvSpPr>
                <p:cNvPr id="85" name="矩形 84"/>
                <p:cNvSpPr/>
                <p:nvPr/>
              </p:nvSpPr>
              <p:spPr>
                <a:xfrm>
                  <a:off x="1166778" y="1786622"/>
                  <a:ext cx="6237116" cy="1714196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86" name="矩形 6"/>
                <p:cNvSpPr>
                  <a:spLocks noChangeArrowheads="1"/>
                </p:cNvSpPr>
                <p:nvPr/>
              </p:nvSpPr>
              <p:spPr bwMode="auto">
                <a:xfrm>
                  <a:off x="2816496" y="1736255"/>
                  <a:ext cx="2479793" cy="58310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87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370650" y="2257855"/>
                <a:ext cx="5866229" cy="1185766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eaLnBrk="1" latinLnBrk="0" hangingPunct="1"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密码被解锁的账户可正常登录系统。</a:t>
                </a:r>
              </a:p>
            </p:txBody>
          </p:sp>
        </p:grpSp>
        <p:pic>
          <p:nvPicPr>
            <p:cNvPr id="88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336" y="6394"/>
              <a:ext cx="1031" cy="1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9" name="组合 68"/>
          <p:cNvGrpSpPr/>
          <p:nvPr/>
        </p:nvGrpSpPr>
        <p:grpSpPr>
          <a:xfrm>
            <a:off x="2159635" y="4429125"/>
            <a:ext cx="3579495" cy="1637307"/>
            <a:chOff x="1102" y="2671"/>
            <a:chExt cx="5637" cy="2689"/>
          </a:xfrm>
        </p:grpSpPr>
        <p:sp>
          <p:nvSpPr>
            <p:cNvPr id="70" name="矩形 69"/>
            <p:cNvSpPr/>
            <p:nvPr/>
          </p:nvSpPr>
          <p:spPr>
            <a:xfrm>
              <a:off x="1102" y="2671"/>
              <a:ext cx="5637" cy="2689"/>
            </a:xfrm>
            <a:prstGeom prst="rect">
              <a:avLst/>
            </a:prstGeom>
            <a:gradFill>
              <a:gsLst>
                <a:gs pos="0">
                  <a:schemeClr val="accent6">
                    <a:tint val="50000"/>
                    <a:satMod val="300000"/>
                  </a:schemeClr>
                </a:gs>
                <a:gs pos="0">
                  <a:schemeClr val="accent6">
                    <a:tint val="37000"/>
                    <a:satMod val="300000"/>
                  </a:schemeClr>
                </a:gs>
                <a:gs pos="100000">
                  <a:schemeClr val="accent6">
                    <a:tint val="15000"/>
                    <a:satMod val="350000"/>
                  </a:schemeClr>
                </a:gs>
              </a:gsLst>
            </a:gra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endParaRPr lang="en-US" altLang="zh-CN" sz="2000" b="1" dirty="0" smtClean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/>
              </a:endParaRPr>
            </a:p>
            <a:p>
              <a:endParaRPr lang="en-US" altLang="zh-CN" sz="2000" b="1" dirty="0" smtClean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1256" y="4475"/>
              <a:ext cx="4896" cy="835"/>
              <a:chOff x="1773" y="2569"/>
              <a:chExt cx="4896" cy="835"/>
            </a:xfrm>
          </p:grpSpPr>
          <p:sp>
            <p:nvSpPr>
              <p:cNvPr id="72" name="TextBox 6"/>
              <p:cNvSpPr txBox="1"/>
              <p:nvPr/>
            </p:nvSpPr>
            <p:spPr>
              <a:xfrm>
                <a:off x="4309" y="2569"/>
                <a:ext cx="2360" cy="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root</a:t>
                </a:r>
              </a:p>
            </p:txBody>
          </p:sp>
          <p:sp>
            <p:nvSpPr>
              <p:cNvPr id="73" name="TextBox 6"/>
              <p:cNvSpPr txBox="1"/>
              <p:nvPr/>
            </p:nvSpPr>
            <p:spPr>
              <a:xfrm>
                <a:off x="1773" y="2575"/>
                <a:ext cx="2211" cy="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1295" y="3585"/>
              <a:ext cx="5301" cy="866"/>
              <a:chOff x="1395" y="7835"/>
              <a:chExt cx="4523" cy="866"/>
            </a:xfrm>
          </p:grpSpPr>
          <p:sp>
            <p:nvSpPr>
              <p:cNvPr id="75" name="TextBox 6"/>
              <p:cNvSpPr txBox="1"/>
              <p:nvPr/>
            </p:nvSpPr>
            <p:spPr>
              <a:xfrm>
                <a:off x="1395" y="7835"/>
                <a:ext cx="1378" cy="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76" name="组合 75"/>
              <p:cNvGrpSpPr/>
              <p:nvPr/>
            </p:nvGrpSpPr>
            <p:grpSpPr>
              <a:xfrm>
                <a:off x="2536" y="7875"/>
                <a:ext cx="3382" cy="826"/>
                <a:chOff x="2456" y="7975"/>
                <a:chExt cx="3382" cy="826"/>
              </a:xfrm>
            </p:grpSpPr>
            <p:sp>
              <p:nvSpPr>
                <p:cNvPr id="77" name="流程图: 过程 76"/>
                <p:cNvSpPr/>
                <p:nvPr/>
              </p:nvSpPr>
              <p:spPr>
                <a:xfrm>
                  <a:off x="2456" y="8081"/>
                  <a:ext cx="3288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78" name="文本框 77"/>
                <p:cNvSpPr txBox="1"/>
                <p:nvPr/>
              </p:nvSpPr>
              <p:spPr>
                <a:xfrm>
                  <a:off x="2662" y="7975"/>
                  <a:ext cx="3176" cy="8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passwd  -</a:t>
                  </a:r>
                  <a:r>
                    <a:rPr lang="en-US" altLang="zh-CN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u</a:t>
                  </a: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  账户名</a:t>
                  </a:r>
                </a:p>
              </p:txBody>
            </p:sp>
          </p:grpSp>
        </p:grpSp>
        <p:grpSp>
          <p:nvGrpSpPr>
            <p:cNvPr id="79" name="组合 78"/>
            <p:cNvGrpSpPr/>
            <p:nvPr/>
          </p:nvGrpSpPr>
          <p:grpSpPr>
            <a:xfrm>
              <a:off x="1344" y="2804"/>
              <a:ext cx="3675" cy="862"/>
              <a:chOff x="1773" y="2161"/>
              <a:chExt cx="3675" cy="862"/>
            </a:xfrm>
          </p:grpSpPr>
          <p:sp>
            <p:nvSpPr>
              <p:cNvPr id="80" name="TextBox 6"/>
              <p:cNvSpPr txBox="1"/>
              <p:nvPr/>
            </p:nvSpPr>
            <p:spPr>
              <a:xfrm>
                <a:off x="3088" y="2222"/>
                <a:ext cx="2360" cy="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</a:t>
                </a:r>
              </a:p>
            </p:txBody>
          </p:sp>
          <p:sp>
            <p:nvSpPr>
              <p:cNvPr id="81" name="TextBox 6"/>
              <p:cNvSpPr txBox="1"/>
              <p:nvPr/>
            </p:nvSpPr>
            <p:spPr>
              <a:xfrm>
                <a:off x="1773" y="2161"/>
                <a:ext cx="1360" cy="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参数：</a:t>
                </a:r>
              </a:p>
            </p:txBody>
          </p:sp>
        </p:grpSp>
      </p:grpSp>
      <p:grpSp>
        <p:nvGrpSpPr>
          <p:cNvPr id="96" name="组合 95"/>
          <p:cNvGrpSpPr/>
          <p:nvPr/>
        </p:nvGrpSpPr>
        <p:grpSpPr>
          <a:xfrm>
            <a:off x="473710" y="1007110"/>
            <a:ext cx="3495040" cy="529590"/>
            <a:chOff x="746" y="1754"/>
            <a:chExt cx="5504" cy="834"/>
          </a:xfrm>
        </p:grpSpPr>
        <p:sp>
          <p:nvSpPr>
            <p:cNvPr id="41" name="矩形 6"/>
            <p:cNvSpPr>
              <a:spLocks noChangeArrowheads="1"/>
            </p:cNvSpPr>
            <p:nvPr/>
          </p:nvSpPr>
          <p:spPr bwMode="auto">
            <a:xfrm>
              <a:off x="1432" y="1754"/>
              <a:ext cx="4819" cy="8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6.1.4  用户口令管理</a:t>
              </a:r>
            </a:p>
          </p:txBody>
        </p:sp>
        <p:sp>
          <p:nvSpPr>
            <p:cNvPr id="45" name="椭圆 44"/>
            <p:cNvSpPr/>
            <p:nvPr/>
          </p:nvSpPr>
          <p:spPr bwMode="auto">
            <a:xfrm>
              <a:off x="746" y="1942"/>
              <a:ext cx="510" cy="51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20204" pitchFamily="34" charset="0"/>
                <a:buNone/>
                <a:defRPr/>
              </a:pPr>
              <a:endParaRPr lang="zh-CN" altLang="en-US" sz="24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42" grpId="0" bldLvl="0" animBg="1"/>
      <p:bldP spid="43" grpId="0"/>
      <p:bldP spid="2" grpId="0" bldLvl="0" animBg="1"/>
      <p:bldP spid="4" grpId="0" bldLvl="0" animBg="1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670050" y="1555115"/>
            <a:ext cx="10100310" cy="2362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0800" y="1555115"/>
            <a:ext cx="1619250" cy="2363470"/>
          </a:xfrm>
          <a:prstGeom prst="rect">
            <a:avLst/>
          </a:prstGeom>
          <a:solidFill>
            <a:srgbClr val="004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17830" y="2024380"/>
            <a:ext cx="885190" cy="15805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（4）查询密码状态 </a:t>
            </a:r>
            <a:endParaRPr lang="zh-CN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157730" y="2024380"/>
            <a:ext cx="3581602" cy="1637030"/>
            <a:chOff x="1102" y="2671"/>
            <a:chExt cx="5533" cy="2578"/>
          </a:xfrm>
        </p:grpSpPr>
        <p:sp>
          <p:nvSpPr>
            <p:cNvPr id="19" name="矩形 18"/>
            <p:cNvSpPr/>
            <p:nvPr/>
          </p:nvSpPr>
          <p:spPr>
            <a:xfrm>
              <a:off x="1102" y="2671"/>
              <a:ext cx="5531" cy="2578"/>
            </a:xfrm>
            <a:prstGeom prst="rect">
              <a:avLst/>
            </a:prstGeom>
            <a:gradFill>
              <a:gsLst>
                <a:gs pos="0">
                  <a:schemeClr val="accent6">
                    <a:tint val="50000"/>
                    <a:satMod val="300000"/>
                  </a:schemeClr>
                </a:gs>
                <a:gs pos="0">
                  <a:schemeClr val="accent6">
                    <a:tint val="37000"/>
                    <a:satMod val="300000"/>
                  </a:schemeClr>
                </a:gs>
                <a:gs pos="100000">
                  <a:schemeClr val="accent6">
                    <a:tint val="15000"/>
                    <a:satMod val="350000"/>
                  </a:schemeClr>
                </a:gs>
              </a:gsLst>
            </a:gra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endParaRPr lang="en-US" altLang="zh-CN" sz="2000" b="1" dirty="0" smtClean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/>
              </a:endParaRPr>
            </a:p>
            <a:p>
              <a:endParaRPr lang="en-US" altLang="zh-CN" sz="2000" b="1" dirty="0" smtClean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256" y="4433"/>
              <a:ext cx="4896" cy="810"/>
              <a:chOff x="1773" y="2527"/>
              <a:chExt cx="4896" cy="810"/>
            </a:xfrm>
          </p:grpSpPr>
          <p:sp>
            <p:nvSpPr>
              <p:cNvPr id="25" name="TextBox 6"/>
              <p:cNvSpPr txBox="1"/>
              <p:nvPr/>
            </p:nvSpPr>
            <p:spPr>
              <a:xfrm>
                <a:off x="4309" y="2569"/>
                <a:ext cx="236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root</a:t>
                </a:r>
              </a:p>
            </p:txBody>
          </p:sp>
          <p:sp>
            <p:nvSpPr>
              <p:cNvPr id="31" name="TextBox 6"/>
              <p:cNvSpPr txBox="1"/>
              <p:nvPr/>
            </p:nvSpPr>
            <p:spPr>
              <a:xfrm>
                <a:off x="1773" y="2527"/>
                <a:ext cx="2211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342" y="3619"/>
              <a:ext cx="5293" cy="806"/>
              <a:chOff x="1435" y="7869"/>
              <a:chExt cx="4516" cy="806"/>
            </a:xfrm>
          </p:grpSpPr>
          <p:sp>
            <p:nvSpPr>
              <p:cNvPr id="34" name="TextBox 6"/>
              <p:cNvSpPr txBox="1"/>
              <p:nvPr/>
            </p:nvSpPr>
            <p:spPr>
              <a:xfrm>
                <a:off x="1435" y="7884"/>
                <a:ext cx="1311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2536" y="7869"/>
                <a:ext cx="3415" cy="806"/>
                <a:chOff x="2456" y="7969"/>
                <a:chExt cx="3415" cy="806"/>
              </a:xfrm>
            </p:grpSpPr>
            <p:sp>
              <p:nvSpPr>
                <p:cNvPr id="57" name="流程图: 过程 56"/>
                <p:cNvSpPr/>
                <p:nvPr/>
              </p:nvSpPr>
              <p:spPr>
                <a:xfrm>
                  <a:off x="2456" y="8057"/>
                  <a:ext cx="3192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58" name="文本框 57"/>
                <p:cNvSpPr txBox="1"/>
                <p:nvPr/>
              </p:nvSpPr>
              <p:spPr>
                <a:xfrm>
                  <a:off x="2517" y="7969"/>
                  <a:ext cx="3354" cy="7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passwd  -S  账户名</a:t>
                  </a:r>
                </a:p>
              </p:txBody>
            </p:sp>
          </p:grpSp>
        </p:grpSp>
        <p:grpSp>
          <p:nvGrpSpPr>
            <p:cNvPr id="59" name="组合 58"/>
            <p:cNvGrpSpPr/>
            <p:nvPr/>
          </p:nvGrpSpPr>
          <p:grpSpPr>
            <a:xfrm>
              <a:off x="1318" y="2889"/>
              <a:ext cx="3719" cy="768"/>
              <a:chOff x="1747" y="2246"/>
              <a:chExt cx="3719" cy="768"/>
            </a:xfrm>
          </p:grpSpPr>
          <p:sp>
            <p:nvSpPr>
              <p:cNvPr id="60" name="TextBox 6"/>
              <p:cNvSpPr txBox="1"/>
              <p:nvPr/>
            </p:nvSpPr>
            <p:spPr>
              <a:xfrm>
                <a:off x="3106" y="2246"/>
                <a:ext cx="236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</a:p>
            </p:txBody>
          </p:sp>
          <p:sp>
            <p:nvSpPr>
              <p:cNvPr id="61" name="TextBox 6"/>
              <p:cNvSpPr txBox="1"/>
              <p:nvPr/>
            </p:nvSpPr>
            <p:spPr>
              <a:xfrm>
                <a:off x="1747" y="2246"/>
                <a:ext cx="136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参数：</a:t>
                </a:r>
              </a:p>
            </p:txBody>
          </p:sp>
        </p:grpSp>
      </p:grpSp>
      <p:grpSp>
        <p:nvGrpSpPr>
          <p:cNvPr id="62" name="组合 61"/>
          <p:cNvGrpSpPr/>
          <p:nvPr/>
        </p:nvGrpSpPr>
        <p:grpSpPr>
          <a:xfrm>
            <a:off x="6232525" y="1555115"/>
            <a:ext cx="5434965" cy="2146930"/>
            <a:chOff x="13357" y="6925"/>
            <a:chExt cx="5138" cy="2954"/>
          </a:xfrm>
        </p:grpSpPr>
        <p:grpSp>
          <p:nvGrpSpPr>
            <p:cNvPr id="63" name="组合 14"/>
            <p:cNvGrpSpPr/>
            <p:nvPr/>
          </p:nvGrpSpPr>
          <p:grpSpPr bwMode="auto">
            <a:xfrm>
              <a:off x="13357" y="7529"/>
              <a:ext cx="5138" cy="2350"/>
              <a:chOff x="1166778" y="1719702"/>
              <a:chExt cx="9858444" cy="1780736"/>
            </a:xfrm>
          </p:grpSpPr>
          <p:grpSp>
            <p:nvGrpSpPr>
              <p:cNvPr id="64" name="组合 12"/>
              <p:cNvGrpSpPr/>
              <p:nvPr/>
            </p:nvGrpSpPr>
            <p:grpSpPr bwMode="auto">
              <a:xfrm>
                <a:off x="1166778" y="1719702"/>
                <a:ext cx="9858444" cy="1780736"/>
                <a:chOff x="1166778" y="1719702"/>
                <a:chExt cx="9858444" cy="1780736"/>
              </a:xfrm>
            </p:grpSpPr>
            <p:sp>
              <p:nvSpPr>
                <p:cNvPr id="65" name="矩形 64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66" name="矩形 6"/>
                <p:cNvSpPr>
                  <a:spLocks noChangeArrowheads="1"/>
                </p:cNvSpPr>
                <p:nvPr/>
              </p:nvSpPr>
              <p:spPr bwMode="auto">
                <a:xfrm>
                  <a:off x="2715136" y="1719702"/>
                  <a:ext cx="2479793" cy="4767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67" name="MH_Text_1"/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1371802" y="2134245"/>
                <a:ext cx="9653420" cy="1319191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0" eaLnBrk="1" latinLnBrk="0" hangingPunct="1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查询指定账户的密码是否被锁定。若密码被锁定则返回结果“password locked.”若密码没有被锁定则显示“password set, MD5 cryt.”。</a:t>
                </a:r>
              </a:p>
            </p:txBody>
          </p:sp>
        </p:grpSp>
        <p:pic>
          <p:nvPicPr>
            <p:cNvPr id="68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410" y="6925"/>
              <a:ext cx="873" cy="13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矩形 1"/>
          <p:cNvSpPr/>
          <p:nvPr/>
        </p:nvSpPr>
        <p:spPr>
          <a:xfrm>
            <a:off x="1659890" y="4029075"/>
            <a:ext cx="10100310" cy="2469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640" y="4029075"/>
            <a:ext cx="1619250" cy="2469515"/>
          </a:xfrm>
          <a:prstGeom prst="rect">
            <a:avLst/>
          </a:prstGeom>
          <a:solidFill>
            <a:srgbClr val="004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670" y="4498340"/>
            <a:ext cx="885190" cy="1214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（5）删除密码 </a:t>
            </a:r>
            <a:endParaRPr lang="zh-CN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6230620" y="4106545"/>
            <a:ext cx="5434965" cy="1731645"/>
            <a:chOff x="13357" y="6807"/>
            <a:chExt cx="5138" cy="3072"/>
          </a:xfrm>
        </p:grpSpPr>
        <p:grpSp>
          <p:nvGrpSpPr>
            <p:cNvPr id="83" name="组合 14"/>
            <p:cNvGrpSpPr/>
            <p:nvPr/>
          </p:nvGrpSpPr>
          <p:grpSpPr bwMode="auto">
            <a:xfrm>
              <a:off x="13357" y="7551"/>
              <a:ext cx="5138" cy="2328"/>
              <a:chOff x="1166778" y="1736255"/>
              <a:chExt cx="9858444" cy="1764183"/>
            </a:xfrm>
          </p:grpSpPr>
          <p:grpSp>
            <p:nvGrpSpPr>
              <p:cNvPr id="84" name="组合 12"/>
              <p:cNvGrpSpPr/>
              <p:nvPr/>
            </p:nvGrpSpPr>
            <p:grpSpPr bwMode="auto">
              <a:xfrm>
                <a:off x="1166778" y="1736255"/>
                <a:ext cx="9858444" cy="1764183"/>
                <a:chOff x="1166778" y="1736255"/>
                <a:chExt cx="9858444" cy="1764183"/>
              </a:xfrm>
            </p:grpSpPr>
            <p:sp>
              <p:nvSpPr>
                <p:cNvPr id="85" name="矩形 84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86" name="矩形 6"/>
                <p:cNvSpPr>
                  <a:spLocks noChangeArrowheads="1"/>
                </p:cNvSpPr>
                <p:nvPr/>
              </p:nvSpPr>
              <p:spPr bwMode="auto">
                <a:xfrm>
                  <a:off x="2816496" y="1736255"/>
                  <a:ext cx="2479793" cy="6146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87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370650" y="2257756"/>
                <a:ext cx="9653420" cy="1185452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0" eaLnBrk="1" latinLnBrk="0" hangingPunct="1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若指定账户的密码被删除后，该账户将不能再登录系统，如果要登录系统则需重新设置密码。</a:t>
                </a:r>
              </a:p>
            </p:txBody>
          </p:sp>
        </p:grpSp>
        <p:pic>
          <p:nvPicPr>
            <p:cNvPr id="88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357" y="6807"/>
              <a:ext cx="1010" cy="15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9" name="组合 68"/>
          <p:cNvGrpSpPr/>
          <p:nvPr/>
        </p:nvGrpSpPr>
        <p:grpSpPr>
          <a:xfrm>
            <a:off x="2159635" y="4429125"/>
            <a:ext cx="3579495" cy="1637307"/>
            <a:chOff x="1102" y="2671"/>
            <a:chExt cx="5637" cy="2689"/>
          </a:xfrm>
        </p:grpSpPr>
        <p:sp>
          <p:nvSpPr>
            <p:cNvPr id="70" name="矩形 69"/>
            <p:cNvSpPr/>
            <p:nvPr/>
          </p:nvSpPr>
          <p:spPr>
            <a:xfrm>
              <a:off x="1102" y="2671"/>
              <a:ext cx="5637" cy="2689"/>
            </a:xfrm>
            <a:prstGeom prst="rect">
              <a:avLst/>
            </a:prstGeom>
            <a:gradFill>
              <a:gsLst>
                <a:gs pos="0">
                  <a:schemeClr val="accent6">
                    <a:tint val="50000"/>
                    <a:satMod val="300000"/>
                  </a:schemeClr>
                </a:gs>
                <a:gs pos="0">
                  <a:schemeClr val="accent6">
                    <a:tint val="37000"/>
                    <a:satMod val="300000"/>
                  </a:schemeClr>
                </a:gs>
                <a:gs pos="100000">
                  <a:schemeClr val="accent6">
                    <a:tint val="15000"/>
                    <a:satMod val="350000"/>
                  </a:schemeClr>
                </a:gs>
              </a:gsLst>
            </a:gra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endParaRPr lang="en-US" altLang="zh-CN" sz="2000" b="1" dirty="0" smtClean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/>
              </a:endParaRPr>
            </a:p>
            <a:p>
              <a:endParaRPr lang="en-US" altLang="zh-CN" sz="2000" b="1" dirty="0" smtClean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000" dirty="0" smtClea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1256" y="4475"/>
              <a:ext cx="4896" cy="835"/>
              <a:chOff x="1773" y="2569"/>
              <a:chExt cx="4896" cy="835"/>
            </a:xfrm>
          </p:grpSpPr>
          <p:sp>
            <p:nvSpPr>
              <p:cNvPr id="72" name="TextBox 6"/>
              <p:cNvSpPr txBox="1"/>
              <p:nvPr/>
            </p:nvSpPr>
            <p:spPr>
              <a:xfrm>
                <a:off x="4309" y="2569"/>
                <a:ext cx="2360" cy="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root</a:t>
                </a:r>
              </a:p>
            </p:txBody>
          </p:sp>
          <p:sp>
            <p:nvSpPr>
              <p:cNvPr id="73" name="TextBox 6"/>
              <p:cNvSpPr txBox="1"/>
              <p:nvPr/>
            </p:nvSpPr>
            <p:spPr>
              <a:xfrm>
                <a:off x="1773" y="2575"/>
                <a:ext cx="2211" cy="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1295" y="3585"/>
              <a:ext cx="5301" cy="866"/>
              <a:chOff x="1395" y="7835"/>
              <a:chExt cx="4523" cy="866"/>
            </a:xfrm>
          </p:grpSpPr>
          <p:sp>
            <p:nvSpPr>
              <p:cNvPr id="75" name="TextBox 6"/>
              <p:cNvSpPr txBox="1"/>
              <p:nvPr/>
            </p:nvSpPr>
            <p:spPr>
              <a:xfrm>
                <a:off x="1395" y="7835"/>
                <a:ext cx="1378" cy="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76" name="组合 75"/>
              <p:cNvGrpSpPr/>
              <p:nvPr/>
            </p:nvGrpSpPr>
            <p:grpSpPr>
              <a:xfrm>
                <a:off x="2536" y="7875"/>
                <a:ext cx="3382" cy="826"/>
                <a:chOff x="2456" y="7975"/>
                <a:chExt cx="3382" cy="826"/>
              </a:xfrm>
            </p:grpSpPr>
            <p:sp>
              <p:nvSpPr>
                <p:cNvPr id="77" name="流程图: 过程 76"/>
                <p:cNvSpPr/>
                <p:nvPr/>
              </p:nvSpPr>
              <p:spPr>
                <a:xfrm>
                  <a:off x="2456" y="8081"/>
                  <a:ext cx="3288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78" name="文本框 77"/>
                <p:cNvSpPr txBox="1"/>
                <p:nvPr/>
              </p:nvSpPr>
              <p:spPr>
                <a:xfrm>
                  <a:off x="2662" y="7975"/>
                  <a:ext cx="3176" cy="8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passwd  -d  账户名</a:t>
                  </a:r>
                </a:p>
              </p:txBody>
            </p:sp>
          </p:grpSp>
        </p:grpSp>
        <p:grpSp>
          <p:nvGrpSpPr>
            <p:cNvPr id="79" name="组合 78"/>
            <p:cNvGrpSpPr/>
            <p:nvPr/>
          </p:nvGrpSpPr>
          <p:grpSpPr>
            <a:xfrm>
              <a:off x="1344" y="2804"/>
              <a:ext cx="3675" cy="862"/>
              <a:chOff x="1773" y="2161"/>
              <a:chExt cx="3675" cy="862"/>
            </a:xfrm>
          </p:grpSpPr>
          <p:sp>
            <p:nvSpPr>
              <p:cNvPr id="80" name="TextBox 6"/>
              <p:cNvSpPr txBox="1"/>
              <p:nvPr/>
            </p:nvSpPr>
            <p:spPr>
              <a:xfrm>
                <a:off x="3088" y="2222"/>
                <a:ext cx="2360" cy="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-d</a:t>
                </a:r>
              </a:p>
            </p:txBody>
          </p:sp>
          <p:sp>
            <p:nvSpPr>
              <p:cNvPr id="81" name="TextBox 6"/>
              <p:cNvSpPr txBox="1"/>
              <p:nvPr/>
            </p:nvSpPr>
            <p:spPr>
              <a:xfrm>
                <a:off x="1773" y="2161"/>
                <a:ext cx="1360" cy="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参数：</a:t>
                </a:r>
              </a:p>
            </p:txBody>
          </p:sp>
        </p:grpSp>
      </p:grpSp>
      <p:grpSp>
        <p:nvGrpSpPr>
          <p:cNvPr id="96" name="组合 95"/>
          <p:cNvGrpSpPr/>
          <p:nvPr/>
        </p:nvGrpSpPr>
        <p:grpSpPr>
          <a:xfrm>
            <a:off x="473710" y="1007110"/>
            <a:ext cx="3495040" cy="529590"/>
            <a:chOff x="746" y="1754"/>
            <a:chExt cx="5504" cy="834"/>
          </a:xfrm>
        </p:grpSpPr>
        <p:sp>
          <p:nvSpPr>
            <p:cNvPr id="41" name="矩形 6"/>
            <p:cNvSpPr>
              <a:spLocks noChangeArrowheads="1"/>
            </p:cNvSpPr>
            <p:nvPr/>
          </p:nvSpPr>
          <p:spPr bwMode="auto">
            <a:xfrm>
              <a:off x="1432" y="1754"/>
              <a:ext cx="4819" cy="8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6.1.4  用户口令管理</a:t>
              </a:r>
            </a:p>
          </p:txBody>
        </p:sp>
        <p:sp>
          <p:nvSpPr>
            <p:cNvPr id="45" name="椭圆 44"/>
            <p:cNvSpPr/>
            <p:nvPr/>
          </p:nvSpPr>
          <p:spPr bwMode="auto">
            <a:xfrm>
              <a:off x="746" y="1942"/>
              <a:ext cx="510" cy="51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20204" pitchFamily="34" charset="0"/>
                <a:buNone/>
                <a:defRPr/>
              </a:pPr>
              <a:endParaRPr lang="zh-CN" altLang="en-US" sz="24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42" grpId="0" bldLvl="0" animBg="1"/>
      <p:bldP spid="43" grpId="0"/>
      <p:bldP spid="2" grpId="0" bldLvl="0" animBg="1"/>
      <p:bldP spid="4" grpId="0" bldLvl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3"/>
          <p:cNvSpPr/>
          <p:nvPr/>
        </p:nvSpPr>
        <p:spPr>
          <a:xfrm>
            <a:off x="1992313" y="1919288"/>
            <a:ext cx="8207375" cy="4368800"/>
          </a:xfrm>
          <a:prstGeom prst="roundRect">
            <a:avLst>
              <a:gd name="adj" fmla="val 2773"/>
            </a:avLst>
          </a:prstGeom>
          <a:noFill/>
          <a:ln w="317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indent="0" algn="ctr"/>
            <a:endParaRPr lang="zh-CN" altLang="en-US" dirty="0"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6148" name="AutoShape 4"/>
          <p:cNvSpPr/>
          <p:nvPr/>
        </p:nvSpPr>
        <p:spPr>
          <a:xfrm>
            <a:off x="2473325" y="1606550"/>
            <a:ext cx="7231063" cy="628650"/>
          </a:xfrm>
          <a:prstGeom prst="roundRect">
            <a:avLst>
              <a:gd name="adj" fmla="val 15657"/>
            </a:avLst>
          </a:prstGeom>
          <a:solidFill>
            <a:schemeClr val="bg1"/>
          </a:solidFill>
          <a:ln w="3175" cap="flat" cmpd="sng">
            <a:solidFill>
              <a:srgbClr val="333333">
                <a:alpha val="56862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indent="0" algn="ctr">
              <a:spcBef>
                <a:spcPct val="50000"/>
              </a:spcBef>
            </a:pPr>
            <a:r>
              <a:rPr lang="zh-CN" altLang="en-US" sz="32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本章要点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2665095" y="3674110"/>
            <a:ext cx="6736080" cy="657225"/>
            <a:chOff x="3" y="0"/>
            <a:chExt cx="4243" cy="333"/>
          </a:xfrm>
        </p:grpSpPr>
        <p:grpSp>
          <p:nvGrpSpPr>
            <p:cNvPr id="4" name="Group 6"/>
            <p:cNvGrpSpPr/>
            <p:nvPr/>
          </p:nvGrpSpPr>
          <p:grpSpPr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0487" name="AutoShape 7"/>
              <p:cNvSpPr/>
              <p:nvPr/>
            </p:nvSpPr>
            <p:spPr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 cap="flat" cmpd="sng">
                <a:solidFill>
                  <a:srgbClr val="969696">
                    <a:alpha val="56862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20488" name="AutoShape 8"/>
              <p:cNvSpPr/>
              <p:nvPr/>
            </p:nvSpPr>
            <p:spPr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rot="10800000" wrap="none" anchor="ctr"/>
              <a:lstStyle/>
              <a:p>
                <a:pPr lvl="0" indent="0" algn="ctr"/>
                <a:endParaRPr lang="zh-CN" altLang="en-US" dirty="0"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0489" name="Text Box 9"/>
            <p:cNvSpPr txBox="1"/>
            <p:nvPr/>
          </p:nvSpPr>
          <p:spPr>
            <a:xfrm>
              <a:off x="727" y="44"/>
              <a:ext cx="2860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lvl="0" indent="0" algn="l">
                <a:spcBef>
                  <a:spcPct val="50000"/>
                </a:spcBef>
              </a:pPr>
              <a:r>
                <a:rPr lang="zh-CN" altLang="en-US" sz="2400" b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6.2  Linux系统用户组的管理</a:t>
              </a:r>
              <a:endPara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5" name="Group 10"/>
          <p:cNvGrpSpPr/>
          <p:nvPr/>
        </p:nvGrpSpPr>
        <p:grpSpPr>
          <a:xfrm>
            <a:off x="2665095" y="2471420"/>
            <a:ext cx="6736080" cy="605790"/>
            <a:chOff x="3" y="0"/>
            <a:chExt cx="4243" cy="333"/>
          </a:xfrm>
          <a:solidFill>
            <a:schemeClr val="bg2"/>
          </a:solidFill>
        </p:grpSpPr>
        <p:grpSp>
          <p:nvGrpSpPr>
            <p:cNvPr id="6" name="Group 11"/>
            <p:cNvGrpSpPr/>
            <p:nvPr/>
          </p:nvGrpSpPr>
          <p:grpSpPr>
            <a:xfrm>
              <a:off x="3" y="0"/>
              <a:ext cx="4243" cy="333"/>
              <a:chOff x="0" y="0"/>
              <a:chExt cx="4243" cy="333"/>
            </a:xfrm>
            <a:grpFill/>
          </p:grpSpPr>
          <p:sp>
            <p:nvSpPr>
              <p:cNvPr id="20492" name="AutoShape 12"/>
              <p:cNvSpPr/>
              <p:nvPr/>
            </p:nvSpPr>
            <p:spPr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grpFill/>
              <a:ln w="3175" cap="flat" cmpd="sng">
                <a:solidFill>
                  <a:srgbClr val="969696">
                    <a:alpha val="56862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20493" name="AutoShape 13"/>
              <p:cNvSpPr/>
              <p:nvPr/>
            </p:nvSpPr>
            <p:spPr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pFill/>
              <a:ln w="9525">
                <a:noFill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0494" name="Text Box 14"/>
            <p:cNvSpPr txBox="1"/>
            <p:nvPr/>
          </p:nvSpPr>
          <p:spPr>
            <a:xfrm>
              <a:off x="721" y="20"/>
              <a:ext cx="3016" cy="289"/>
            </a:xfrm>
            <a:prstGeom prst="rect">
              <a:avLst/>
            </a:prstGeom>
            <a:grpFill/>
            <a:ln w="9525">
              <a:noFill/>
            </a:ln>
          </p:spPr>
          <p:txBody>
            <a:bodyPr anchor="ctr"/>
            <a:lstStyle/>
            <a:p>
              <a:pPr lvl="0" indent="0" algn="l">
                <a:spcBef>
                  <a:spcPct val="50000"/>
                </a:spcBef>
              </a:pPr>
              <a:r>
                <a:rPr lang="zh-CN" altLang="en-US" sz="24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6.1  Linux系统用户账号的管理</a:t>
              </a:r>
            </a:p>
          </p:txBody>
        </p:sp>
      </p:grpSp>
      <p:grpSp>
        <p:nvGrpSpPr>
          <p:cNvPr id="7" name="Group 15"/>
          <p:cNvGrpSpPr/>
          <p:nvPr/>
        </p:nvGrpSpPr>
        <p:grpSpPr>
          <a:xfrm>
            <a:off x="2728595" y="4932045"/>
            <a:ext cx="6736080" cy="605155"/>
            <a:chOff x="3" y="0"/>
            <a:chExt cx="4243" cy="333"/>
          </a:xfrm>
          <a:solidFill>
            <a:schemeClr val="bg2"/>
          </a:solidFill>
        </p:grpSpPr>
        <p:grpSp>
          <p:nvGrpSpPr>
            <p:cNvPr id="8" name="Group 16"/>
            <p:cNvGrpSpPr/>
            <p:nvPr/>
          </p:nvGrpSpPr>
          <p:grpSpPr>
            <a:xfrm>
              <a:off x="3" y="0"/>
              <a:ext cx="4243" cy="333"/>
              <a:chOff x="0" y="0"/>
              <a:chExt cx="4243" cy="333"/>
            </a:xfrm>
            <a:grpFill/>
          </p:grpSpPr>
          <p:sp>
            <p:nvSpPr>
              <p:cNvPr id="20497" name="AutoShape 17"/>
              <p:cNvSpPr/>
              <p:nvPr/>
            </p:nvSpPr>
            <p:spPr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grpFill/>
              <a:ln w="3175" cap="flat" cmpd="sng">
                <a:solidFill>
                  <a:srgbClr val="969696">
                    <a:alpha val="56862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20498" name="AutoShape 18"/>
              <p:cNvSpPr/>
              <p:nvPr/>
            </p:nvSpPr>
            <p:spPr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pFill/>
              <a:ln w="9525">
                <a:noFill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0499" name="Text Box 19"/>
            <p:cNvSpPr txBox="1"/>
            <p:nvPr/>
          </p:nvSpPr>
          <p:spPr>
            <a:xfrm>
              <a:off x="716" y="22"/>
              <a:ext cx="2801" cy="289"/>
            </a:xfrm>
            <a:prstGeom prst="rect">
              <a:avLst/>
            </a:prstGeom>
            <a:grpFill/>
            <a:ln w="9525">
              <a:noFill/>
            </a:ln>
          </p:spPr>
          <p:txBody>
            <a:bodyPr anchor="ctr"/>
            <a:lstStyle/>
            <a:p>
              <a:pPr lvl="0" indent="0" algn="l">
                <a:spcBef>
                  <a:spcPct val="50000"/>
                </a:spcBef>
              </a:pPr>
              <a:r>
                <a:rPr lang="zh-CN" altLang="en-US" sz="2400" b="1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6.3  查看用户和用户组状态</a:t>
              </a: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4260215" y="309245"/>
            <a:ext cx="2047875" cy="7156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目录</a:t>
            </a:r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  <p:bldLst>
      <p:bldP spid="6148" grpId="0" bldLvl="0"/>
      <p:bldP spid="6148" grpId="1" bldLvl="0"/>
      <p:bldP spid="6148" grpId="2" bldLvl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0535" y="1398905"/>
            <a:ext cx="11249660" cy="4829175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1106170" y="1986280"/>
            <a:ext cx="610743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每个用户都有一个</a:t>
            </a:r>
            <a:r>
              <a:rPr lang="zh-CN" altLang="en-US" sz="2000" b="1" dirty="0">
                <a:solidFill>
                  <a:srgbClr val="0070C0"/>
                </a:solidFill>
                <a:sym typeface="Arial Unicode MS" panose="020B0604020202020204" pitchFamily="34" charset="-122"/>
              </a:rPr>
              <a:t>用户组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，系统可以对一个用户组中的所有用户进行</a:t>
            </a:r>
            <a:r>
              <a:rPr lang="zh-CN" altLang="en-US" sz="2000" b="1" dirty="0">
                <a:solidFill>
                  <a:srgbClr val="0070C0"/>
                </a:solidFill>
                <a:sym typeface="Arial Unicode MS" panose="020B0604020202020204" pitchFamily="34" charset="-122"/>
              </a:rPr>
              <a:t>集中管理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。不同Linux系统对用户组的规定有所不同，如Linux下的用户属于与它同名的用户组，这个用户组在创建用户时同时创建。</a:t>
            </a:r>
          </a:p>
        </p:txBody>
      </p:sp>
      <p:sp>
        <p:nvSpPr>
          <p:cNvPr id="2" name="Text Box 44"/>
          <p:cNvSpPr txBox="1">
            <a:spLocks noChangeArrowheads="1"/>
          </p:cNvSpPr>
          <p:nvPr/>
        </p:nvSpPr>
        <p:spPr bwMode="auto">
          <a:xfrm>
            <a:off x="1151890" y="4124960"/>
            <a:ext cx="542671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用户组的管理涉及用户组的</a:t>
            </a:r>
            <a:r>
              <a:rPr lang="zh-CN" altLang="en-US" sz="2000" b="1" dirty="0">
                <a:solidFill>
                  <a:srgbClr val="0070C0"/>
                </a:solidFill>
                <a:sym typeface="Arial Unicode MS" panose="020B0604020202020204" pitchFamily="34" charset="-122"/>
              </a:rPr>
              <a:t>添加、删除和修改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。组的增加、删除和修改实际上就是对</a:t>
            </a:r>
            <a:r>
              <a:rPr lang="zh-CN" altLang="en-US" sz="2000" dirty="0">
                <a:solidFill>
                  <a:srgbClr val="FF0000"/>
                </a:solidFill>
                <a:sym typeface="Arial Unicode MS" panose="020B0604020202020204" pitchFamily="34" charset="-122"/>
              </a:rPr>
              <a:t>/etc/group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文件的更新。</a:t>
            </a:r>
          </a:p>
        </p:txBody>
      </p:sp>
      <p:pic>
        <p:nvPicPr>
          <p:cNvPr id="4" name="图片 3" descr="图片15_看图王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66330" y="3123565"/>
            <a:ext cx="4050665" cy="30308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2" grpId="0" bldLvl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组合 78"/>
          <p:cNvGrpSpPr/>
          <p:nvPr/>
        </p:nvGrpSpPr>
        <p:grpSpPr>
          <a:xfrm>
            <a:off x="6386830" y="4162425"/>
            <a:ext cx="5297170" cy="2141220"/>
            <a:chOff x="10058" y="6555"/>
            <a:chExt cx="8342" cy="3372"/>
          </a:xfrm>
        </p:grpSpPr>
        <p:sp>
          <p:nvSpPr>
            <p:cNvPr id="44" name="矩形 43"/>
            <p:cNvSpPr/>
            <p:nvPr/>
          </p:nvSpPr>
          <p:spPr>
            <a:xfrm>
              <a:off x="10058" y="6555"/>
              <a:ext cx="8342" cy="3372"/>
            </a:xfrm>
            <a:prstGeom prst="rect">
              <a:avLst/>
            </a:prstGeom>
            <a:noFill/>
            <a:ln w="1270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Text Box 44"/>
            <p:cNvSpPr txBox="1">
              <a:spLocks noChangeArrowheads="1"/>
            </p:cNvSpPr>
            <p:nvPr/>
          </p:nvSpPr>
          <p:spPr bwMode="auto">
            <a:xfrm>
              <a:off x="10573" y="8984"/>
              <a:ext cx="7826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图6-10  【例6-9】命令用法及返回结果</a:t>
              </a:r>
            </a:p>
          </p:txBody>
        </p:sp>
        <p:pic>
          <p:nvPicPr>
            <p:cNvPr id="66" name="图片 -2147482613"/>
            <p:cNvPicPr>
              <a:picLocks noChangeAspect="1"/>
            </p:cNvPicPr>
            <p:nvPr/>
          </p:nvPicPr>
          <p:blipFill>
            <a:blip r:embed="rId3" cstate="print">
              <a:grayscl/>
            </a:blip>
            <a:stretch>
              <a:fillRect/>
            </a:stretch>
          </p:blipFill>
          <p:spPr>
            <a:xfrm>
              <a:off x="11102" y="6775"/>
              <a:ext cx="7200" cy="207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pic>
      </p:grpSp>
      <p:grpSp>
        <p:nvGrpSpPr>
          <p:cNvPr id="77" name="组合 76"/>
          <p:cNvGrpSpPr/>
          <p:nvPr/>
        </p:nvGrpSpPr>
        <p:grpSpPr>
          <a:xfrm>
            <a:off x="6386830" y="1334034"/>
            <a:ext cx="5296535" cy="2594711"/>
            <a:chOff x="10058" y="2101"/>
            <a:chExt cx="8341" cy="4086"/>
          </a:xfrm>
        </p:grpSpPr>
        <p:sp>
          <p:nvSpPr>
            <p:cNvPr id="39" name="矩形 38"/>
            <p:cNvSpPr/>
            <p:nvPr/>
          </p:nvSpPr>
          <p:spPr>
            <a:xfrm>
              <a:off x="10058" y="2820"/>
              <a:ext cx="8341" cy="3367"/>
            </a:xfrm>
            <a:prstGeom prst="rect">
              <a:avLst/>
            </a:prstGeom>
            <a:noFill/>
            <a:ln w="1270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10981" y="2101"/>
              <a:ext cx="7042" cy="3804"/>
              <a:chOff x="13227" y="6586"/>
              <a:chExt cx="5268" cy="3293"/>
            </a:xfrm>
          </p:grpSpPr>
          <p:grpSp>
            <p:nvGrpSpPr>
              <p:cNvPr id="68" name="组合 14"/>
              <p:cNvGrpSpPr/>
              <p:nvPr/>
            </p:nvGrpSpPr>
            <p:grpSpPr bwMode="auto">
              <a:xfrm>
                <a:off x="13357" y="7551"/>
                <a:ext cx="5138" cy="2328"/>
                <a:chOff x="1166778" y="1736255"/>
                <a:chExt cx="9858444" cy="1764183"/>
              </a:xfrm>
            </p:grpSpPr>
            <p:grpSp>
              <p:nvGrpSpPr>
                <p:cNvPr id="69" name="组合 12"/>
                <p:cNvGrpSpPr/>
                <p:nvPr/>
              </p:nvGrpSpPr>
              <p:grpSpPr bwMode="auto">
                <a:xfrm>
                  <a:off x="1166778" y="1736255"/>
                  <a:ext cx="9858444" cy="1764183"/>
                  <a:chOff x="1166778" y="1736255"/>
                  <a:chExt cx="9858444" cy="1764183"/>
                </a:xfrm>
              </p:grpSpPr>
              <p:sp>
                <p:nvSpPr>
                  <p:cNvPr id="70" name="矩形 69"/>
                  <p:cNvSpPr/>
                  <p:nvPr/>
                </p:nvSpPr>
                <p:spPr>
                  <a:xfrm>
                    <a:off x="1166778" y="1786456"/>
                    <a:ext cx="9858444" cy="1713982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2">
                        <a:lumMod val="40000"/>
                        <a:lumOff val="60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buFont typeface="Arial" panose="020B0604020202020204" pitchFamily="34" charset="0"/>
                      <a:buNone/>
                      <a:defRPr/>
                    </a:pPr>
                    <a:endParaRPr lang="zh-CN" altLang="en-US" noProof="1"/>
                  </a:p>
                </p:txBody>
              </p:sp>
              <p:sp>
                <p:nvSpPr>
                  <p:cNvPr id="71" name="矩形 6"/>
                  <p:cNvSpPr>
                    <a:spLocks noChangeArrowheads="1"/>
                  </p:cNvSpPr>
                  <p:nvPr/>
                </p:nvSpPr>
                <p:spPr bwMode="auto">
                  <a:xfrm>
                    <a:off x="3166831" y="1736255"/>
                    <a:ext cx="4380122" cy="47230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 wrap="square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  <a:spcAft>
                        <a:spcPts val="500"/>
                      </a:spcAft>
                      <a:buFont typeface="Arial" panose="020B0604020202020204" pitchFamily="34" charset="0"/>
                      <a:buNone/>
                    </a:pPr>
                    <a:r>
                      <a:rPr lang="zh-CN" altLang="en-US" sz="2000" b="1">
                        <a:solidFill>
                          <a:srgbClr val="009900"/>
                        </a:solidFill>
                        <a:latin typeface="华康俪金黑W8(P)"/>
                        <a:ea typeface="华康俪金黑W8(P)"/>
                        <a:cs typeface="华康俪金黑W8(P)"/>
                      </a:rPr>
                      <a:t>说明</a:t>
                    </a:r>
                  </a:p>
                </p:txBody>
              </p:sp>
            </p:grpSp>
            <p:sp>
              <p:nvSpPr>
                <p:cNvPr id="72" name="MH_Text_1"/>
                <p:cNvSpPr txBox="1">
                  <a:spLocks noChangeArrowheads="1"/>
                </p:cNvSpPr>
                <p:nvPr>
                  <p:custDataLst>
                    <p:tags r:id="rId1"/>
                  </p:custDataLst>
                </p:nvPr>
              </p:nvSpPr>
              <p:spPr bwMode="auto">
                <a:xfrm>
                  <a:off x="1306001" y="2167395"/>
                  <a:ext cx="9654415" cy="1209121"/>
                </a:xfrm>
                <a:prstGeom prst="rect">
                  <a:avLst/>
                </a:prstGeom>
                <a:solidFill>
                  <a:srgbClr val="F2F2F2"/>
                </a:solid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pPr indent="457200" eaLnBrk="1" latinLnBrk="0" hangingPunct="1">
                    <a:lnSpc>
                      <a:spcPct val="130000"/>
                    </a:lnSpc>
                  </a:pPr>
                  <a:r>
                    <a:rPr lang="zh-CN" altLang="en-US" sz="18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用户组的信息保存在/etc/group配置文件中，可通过查看此配置文件来查询用户组信息。</a:t>
                  </a:r>
                </a:p>
              </p:txBody>
            </p:sp>
          </p:grpSp>
          <p:pic>
            <p:nvPicPr>
              <p:cNvPr id="73" name="图片 4" descr="www.tuweimei.comComp_9747389_aloyhm04q205BMmtimdiv2o2HN82PIep.jpg"/>
              <p:cNvPicPr>
                <a:picLocks noGrp="1"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13227" y="6586"/>
                <a:ext cx="1399" cy="15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78" name="组合 77"/>
          <p:cNvGrpSpPr/>
          <p:nvPr/>
        </p:nvGrpSpPr>
        <p:grpSpPr>
          <a:xfrm>
            <a:off x="473075" y="4162425"/>
            <a:ext cx="5697220" cy="2141220"/>
            <a:chOff x="745" y="6555"/>
            <a:chExt cx="8972" cy="3372"/>
          </a:xfrm>
        </p:grpSpPr>
        <p:sp>
          <p:nvSpPr>
            <p:cNvPr id="34" name="矩形 33"/>
            <p:cNvSpPr/>
            <p:nvPr/>
          </p:nvSpPr>
          <p:spPr>
            <a:xfrm>
              <a:off x="745" y="6555"/>
              <a:ext cx="8972" cy="3373"/>
            </a:xfrm>
            <a:prstGeom prst="rect">
              <a:avLst/>
            </a:prstGeom>
            <a:noFill/>
            <a:ln w="1270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Text Box 44"/>
            <p:cNvSpPr txBox="1">
              <a:spLocks noChangeArrowheads="1"/>
            </p:cNvSpPr>
            <p:nvPr/>
          </p:nvSpPr>
          <p:spPr bwMode="auto">
            <a:xfrm>
              <a:off x="1232" y="6706"/>
              <a:ext cx="7856" cy="3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FF0000"/>
                  </a:solidFill>
                  <a:sym typeface="Arial Unicode MS" panose="020B0604020202020204" pitchFamily="34" charset="-122"/>
                </a:rPr>
                <a:t>【例6-</a:t>
              </a:r>
              <a:r>
                <a:rPr lang="en-US" altLang="zh-CN" sz="2000" b="1" dirty="0">
                  <a:solidFill>
                    <a:srgbClr val="FF0000"/>
                  </a:solidFill>
                  <a:sym typeface="Arial Unicode MS" panose="020B0604020202020204" pitchFamily="34" charset="-122"/>
                </a:rPr>
                <a:t>8</a:t>
              </a:r>
              <a:r>
                <a:rPr lang="zh-CN" altLang="en-US" sz="2000" b="1" dirty="0">
                  <a:solidFill>
                    <a:srgbClr val="FF0000"/>
                  </a:solidFill>
                  <a:sym typeface="Arial Unicode MS" panose="020B0604020202020204" pitchFamily="34" charset="-122"/>
                </a:rPr>
                <a:t>】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使用groupadd命令创建一个系统用户组group_01，一个普通用户组group_02，并查看/etc/group配置文件进行验证。命令用法及返回结果如图6-9所示。</a:t>
              </a: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473710" y="1765300"/>
            <a:ext cx="5698490" cy="2162810"/>
            <a:chOff x="746" y="2780"/>
            <a:chExt cx="8974" cy="3406"/>
          </a:xfrm>
        </p:grpSpPr>
        <p:sp>
          <p:nvSpPr>
            <p:cNvPr id="62" name="TextBox 6"/>
            <p:cNvSpPr txBox="1"/>
            <p:nvPr/>
          </p:nvSpPr>
          <p:spPr>
            <a:xfrm>
              <a:off x="2122" y="4294"/>
              <a:ext cx="939" cy="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-r    </a:t>
              </a:r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746" y="2780"/>
              <a:ext cx="8974" cy="3407"/>
              <a:chOff x="746" y="2780"/>
              <a:chExt cx="8974" cy="3407"/>
            </a:xfrm>
          </p:grpSpPr>
          <p:sp>
            <p:nvSpPr>
              <p:cNvPr id="59" name="TextBox 6"/>
              <p:cNvSpPr txBox="1"/>
              <p:nvPr/>
            </p:nvSpPr>
            <p:spPr>
              <a:xfrm>
                <a:off x="914" y="3600"/>
                <a:ext cx="1618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80" name="组合 79"/>
              <p:cNvGrpSpPr/>
              <p:nvPr/>
            </p:nvGrpSpPr>
            <p:grpSpPr>
              <a:xfrm>
                <a:off x="746" y="2780"/>
                <a:ext cx="8974" cy="3407"/>
                <a:chOff x="746" y="2780"/>
                <a:chExt cx="8974" cy="3407"/>
              </a:xfrm>
            </p:grpSpPr>
            <p:grpSp>
              <p:nvGrpSpPr>
                <p:cNvPr id="9" name="组合 8"/>
                <p:cNvGrpSpPr/>
                <p:nvPr/>
              </p:nvGrpSpPr>
              <p:grpSpPr>
                <a:xfrm>
                  <a:off x="746" y="2820"/>
                  <a:ext cx="8974" cy="3367"/>
                  <a:chOff x="1484448" y="2332367"/>
                  <a:chExt cx="4902810" cy="1816713"/>
                </a:xfrm>
              </p:grpSpPr>
              <p:sp>
                <p:nvSpPr>
                  <p:cNvPr id="14" name="矩形 13"/>
                  <p:cNvSpPr/>
                  <p:nvPr/>
                </p:nvSpPr>
                <p:spPr>
                  <a:xfrm>
                    <a:off x="1484733" y="2332367"/>
                    <a:ext cx="4900886" cy="1816713"/>
                  </a:xfrm>
                  <a:prstGeom prst="rect">
                    <a:avLst/>
                  </a:prstGeom>
                  <a:noFill/>
                  <a:ln w="12700">
                    <a:solidFill>
                      <a:srgbClr val="0070C0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cxnSp>
                <p:nvCxnSpPr>
                  <p:cNvPr id="26" name="直接连接符 25"/>
                  <p:cNvCxnSpPr/>
                  <p:nvPr/>
                </p:nvCxnSpPr>
                <p:spPr>
                  <a:xfrm flipH="1">
                    <a:off x="1484448" y="2782903"/>
                    <a:ext cx="4902810" cy="4856"/>
                  </a:xfrm>
                  <a:prstGeom prst="line">
                    <a:avLst/>
                  </a:prstGeom>
                  <a:noFill/>
                  <a:ln w="9525">
                    <a:solidFill>
                      <a:srgbClr val="0070C0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76" name="组合 75"/>
                <p:cNvGrpSpPr/>
                <p:nvPr/>
              </p:nvGrpSpPr>
              <p:grpSpPr>
                <a:xfrm>
                  <a:off x="914" y="2780"/>
                  <a:ext cx="8515" cy="3389"/>
                  <a:chOff x="914" y="2780"/>
                  <a:chExt cx="8515" cy="3389"/>
                </a:xfrm>
              </p:grpSpPr>
              <p:sp>
                <p:nvSpPr>
                  <p:cNvPr id="57" name="TextBox 6"/>
                  <p:cNvSpPr txBox="1"/>
                  <p:nvPr/>
                </p:nvSpPr>
                <p:spPr>
                  <a:xfrm>
                    <a:off x="938" y="2824"/>
                    <a:ext cx="1470" cy="7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30000"/>
                      </a:lnSpc>
                      <a:defRPr sz="2000" b="1">
                        <a:solidFill>
                          <a:srgbClr val="5F5E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defRPr>
                    </a:lvl1pPr>
                  </a:lstStyle>
                  <a:p>
                    <a:r>
                      <a:rPr lang="zh-CN" altLang="en-US" dirty="0">
                        <a:solidFill>
                          <a:srgbClr val="0070C0"/>
                        </a:solidFill>
                        <a:sym typeface="+mn-ea"/>
                      </a:rPr>
                      <a:t>功能：</a:t>
                    </a:r>
                    <a:endParaRPr lang="zh-CN" altLang="en-US" sz="2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sym typeface="+mn-ea"/>
                    </a:endParaRPr>
                  </a:p>
                </p:txBody>
              </p:sp>
              <p:sp>
                <p:nvSpPr>
                  <p:cNvPr id="58" name="TextBox 6"/>
                  <p:cNvSpPr txBox="1"/>
                  <p:nvPr/>
                </p:nvSpPr>
                <p:spPr>
                  <a:xfrm>
                    <a:off x="2405" y="2872"/>
                    <a:ext cx="2360" cy="7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30000"/>
                      </a:lnSpc>
                    </a:pPr>
                    <a:r>
                      <a:rPr lang="zh-CN" altLang="en-US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创建用户组</a:t>
                    </a:r>
                  </a:p>
                </p:txBody>
              </p:sp>
              <p:sp>
                <p:nvSpPr>
                  <p:cNvPr id="60" name="文本框 59"/>
                  <p:cNvSpPr txBox="1"/>
                  <p:nvPr/>
                </p:nvSpPr>
                <p:spPr>
                  <a:xfrm>
                    <a:off x="2122" y="3596"/>
                    <a:ext cx="6784" cy="79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indent="0" algn="l" eaLnBrk="1" fontAlgn="auto" latinLnBrk="0" hangingPunct="1">
                      <a:lnSpc>
                        <a:spcPct val="150000"/>
                      </a:lnSpc>
                      <a:buFont typeface="Arial" panose="020B0604020202020204" pitchFamily="34" charset="0"/>
                      <a:buNone/>
                      <a:defRPr/>
                    </a:pPr>
                    <a:r>
                      <a:rPr lang="zh-CN" altLang="en-US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rPr>
                      <a:t>groupadd  [参数选项]  用户组名称</a:t>
                    </a:r>
                  </a:p>
                </p:txBody>
              </p:sp>
              <p:sp>
                <p:nvSpPr>
                  <p:cNvPr id="61" name="TextBox 6"/>
                  <p:cNvSpPr txBox="1"/>
                  <p:nvPr/>
                </p:nvSpPr>
                <p:spPr>
                  <a:xfrm>
                    <a:off x="914" y="4294"/>
                    <a:ext cx="1208" cy="7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30000"/>
                      </a:lnSpc>
                      <a:defRPr sz="2000" b="1">
                        <a:solidFill>
                          <a:srgbClr val="5F5E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defRPr>
                    </a:lvl1pPr>
                  </a:lstStyle>
                  <a:p>
                    <a:r>
                      <a:rPr lang="zh-CN" altLang="en-US" dirty="0">
                        <a:solidFill>
                          <a:srgbClr val="0070C0"/>
                        </a:solidFill>
                        <a:sym typeface="+mn-ea"/>
                      </a:rPr>
                      <a:t>参数：</a:t>
                    </a:r>
                  </a:p>
                </p:txBody>
              </p:sp>
              <p:sp>
                <p:nvSpPr>
                  <p:cNvPr id="63" name="TextBox 6"/>
                  <p:cNvSpPr txBox="1"/>
                  <p:nvPr/>
                </p:nvSpPr>
                <p:spPr>
                  <a:xfrm>
                    <a:off x="2704" y="4342"/>
                    <a:ext cx="5999" cy="18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30000"/>
                      </a:lnSpc>
                    </a:pPr>
                    <a:r>
                      <a:rPr lang="en-US" altLang="zh-CN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创建系统用户组，其组ID小于500；若不使用-r参数，则创建普通用户组，其组ID大于或等于500。    </a:t>
                    </a:r>
                  </a:p>
                </p:txBody>
              </p:sp>
              <p:sp>
                <p:nvSpPr>
                  <p:cNvPr id="74" name="TextBox 6"/>
                  <p:cNvSpPr txBox="1"/>
                  <p:nvPr/>
                </p:nvSpPr>
                <p:spPr>
                  <a:xfrm>
                    <a:off x="8081" y="2780"/>
                    <a:ext cx="1348" cy="7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30000"/>
                      </a:lnSpc>
                    </a:pPr>
                    <a:r>
                      <a:rPr lang="en-US" altLang="zh-CN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root</a:t>
                    </a:r>
                  </a:p>
                </p:txBody>
              </p:sp>
              <p:sp>
                <p:nvSpPr>
                  <p:cNvPr id="75" name="TextBox 6"/>
                  <p:cNvSpPr txBox="1"/>
                  <p:nvPr/>
                </p:nvSpPr>
                <p:spPr>
                  <a:xfrm>
                    <a:off x="5833" y="2800"/>
                    <a:ext cx="2211" cy="7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30000"/>
                      </a:lnSpc>
                      <a:defRPr sz="2000" b="1">
                        <a:solidFill>
                          <a:srgbClr val="5F5E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defRPr>
                    </a:lvl1pPr>
                  </a:lstStyle>
                  <a:p>
                    <a:r>
                      <a:rPr lang="zh-CN" altLang="en-US" dirty="0">
                        <a:solidFill>
                          <a:srgbClr val="0070C0"/>
                        </a:solidFill>
                        <a:sym typeface="+mn-ea"/>
                      </a:rPr>
                      <a:t>使用权限：</a:t>
                    </a:r>
                  </a:p>
                </p:txBody>
              </p:sp>
            </p:grpSp>
          </p:grpSp>
        </p:grpSp>
      </p:grp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57010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6.2.1  增加用户组</a:t>
            </a:r>
            <a:endParaRPr lang="zh-CN" altLang="en-US" sz="2400" b="1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521829" y="3289259"/>
            <a:ext cx="1512803" cy="1512168"/>
            <a:chOff x="5736912" y="3509795"/>
            <a:chExt cx="1512803" cy="1512168"/>
          </a:xfrm>
        </p:grpSpPr>
        <p:sp>
          <p:nvSpPr>
            <p:cNvPr id="55" name="椭圆 54"/>
            <p:cNvSpPr/>
            <p:nvPr/>
          </p:nvSpPr>
          <p:spPr>
            <a:xfrm>
              <a:off x="5737547" y="3509795"/>
              <a:ext cx="1512168" cy="15121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5736912" y="3935245"/>
              <a:ext cx="1511935" cy="7924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lang="zh-CN" altLang="en-US" sz="2000" b="1" kern="100" dirty="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groupadd命令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473710" y="1722755"/>
            <a:ext cx="11176635" cy="486918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57010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6.2.2  修改用户组属性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8585835" y="2397760"/>
            <a:ext cx="2783948" cy="1616710"/>
            <a:chOff x="13227" y="6980"/>
            <a:chExt cx="5269" cy="2899"/>
          </a:xfrm>
        </p:grpSpPr>
        <p:grpSp>
          <p:nvGrpSpPr>
            <p:cNvPr id="24" name="组合 14"/>
            <p:cNvGrpSpPr/>
            <p:nvPr/>
          </p:nvGrpSpPr>
          <p:grpSpPr bwMode="auto">
            <a:xfrm>
              <a:off x="13357" y="7617"/>
              <a:ext cx="5139" cy="2262"/>
              <a:chOff x="1166778" y="1786456"/>
              <a:chExt cx="9860221" cy="1713982"/>
            </a:xfrm>
          </p:grpSpPr>
          <p:grpSp>
            <p:nvGrpSpPr>
              <p:cNvPr id="50" name="组合 12"/>
              <p:cNvGrpSpPr/>
              <p:nvPr/>
            </p:nvGrpSpPr>
            <p:grpSpPr bwMode="auto">
              <a:xfrm>
                <a:off x="1166778" y="1786456"/>
                <a:ext cx="9858444" cy="1713982"/>
                <a:chOff x="1166778" y="1786456"/>
                <a:chExt cx="9858444" cy="1713982"/>
              </a:xfrm>
            </p:grpSpPr>
            <p:sp>
              <p:nvSpPr>
                <p:cNvPr id="51" name="矩形 50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52" name="矩形 6"/>
                <p:cNvSpPr>
                  <a:spLocks noChangeArrowheads="1"/>
                </p:cNvSpPr>
                <p:nvPr/>
              </p:nvSpPr>
              <p:spPr bwMode="auto">
                <a:xfrm>
                  <a:off x="3166831" y="1812187"/>
                  <a:ext cx="4380122" cy="6212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53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372007" y="2365295"/>
                <a:ext cx="9654992" cy="983683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0" eaLnBrk="1" latinLnBrk="0" hangingPunct="1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对用户组更名后，不会改变用户组原来GID值。</a:t>
                </a:r>
              </a:p>
            </p:txBody>
          </p:sp>
        </p:grpSp>
        <p:pic>
          <p:nvPicPr>
            <p:cNvPr id="54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227" y="6980"/>
              <a:ext cx="1578" cy="1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组合 2"/>
          <p:cNvGrpSpPr/>
          <p:nvPr/>
        </p:nvGrpSpPr>
        <p:grpSpPr>
          <a:xfrm>
            <a:off x="3216275" y="2675255"/>
            <a:ext cx="5407660" cy="1388745"/>
            <a:chOff x="5065" y="4213"/>
            <a:chExt cx="8516" cy="2187"/>
          </a:xfrm>
        </p:grpSpPr>
        <p:grpSp>
          <p:nvGrpSpPr>
            <p:cNvPr id="4" name="组合 3"/>
            <p:cNvGrpSpPr/>
            <p:nvPr/>
          </p:nvGrpSpPr>
          <p:grpSpPr>
            <a:xfrm>
              <a:off x="5065" y="4888"/>
              <a:ext cx="8516" cy="837"/>
              <a:chOff x="1395" y="8054"/>
              <a:chExt cx="6555" cy="837"/>
            </a:xfrm>
          </p:grpSpPr>
          <p:sp>
            <p:nvSpPr>
              <p:cNvPr id="11" name="TextBox 6"/>
              <p:cNvSpPr txBox="1"/>
              <p:nvPr/>
            </p:nvSpPr>
            <p:spPr>
              <a:xfrm>
                <a:off x="1395" y="8099"/>
                <a:ext cx="3159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2536" y="8054"/>
                <a:ext cx="5414" cy="837"/>
                <a:chOff x="2456" y="8154"/>
                <a:chExt cx="5414" cy="837"/>
              </a:xfrm>
            </p:grpSpPr>
            <p:sp>
              <p:nvSpPr>
                <p:cNvPr id="5" name="流程图: 过程 4"/>
                <p:cNvSpPr/>
                <p:nvPr/>
              </p:nvSpPr>
              <p:spPr>
                <a:xfrm>
                  <a:off x="2456" y="8273"/>
                  <a:ext cx="5132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2456" y="8154"/>
                  <a:ext cx="5414" cy="7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groupmod  -n  新用户组名 原用户组名</a:t>
                  </a:r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065" y="4213"/>
              <a:ext cx="2361" cy="768"/>
              <a:chOff x="1773" y="2575"/>
              <a:chExt cx="805" cy="768"/>
            </a:xfrm>
          </p:grpSpPr>
          <p:sp>
            <p:nvSpPr>
              <p:cNvPr id="13" name="TextBox 6"/>
              <p:cNvSpPr txBox="1"/>
              <p:nvPr/>
            </p:nvSpPr>
            <p:spPr>
              <a:xfrm>
                <a:off x="2258" y="2575"/>
                <a:ext cx="32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-r    </a:t>
                </a:r>
              </a:p>
            </p:txBody>
          </p:sp>
          <p:sp>
            <p:nvSpPr>
              <p:cNvPr id="20" name="TextBox 6"/>
              <p:cNvSpPr txBox="1"/>
              <p:nvPr/>
            </p:nvSpPr>
            <p:spPr>
              <a:xfrm>
                <a:off x="1773" y="2575"/>
                <a:ext cx="732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参数：</a:t>
                </a: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5065" y="5626"/>
              <a:ext cx="4896" cy="774"/>
              <a:chOff x="1773" y="2569"/>
              <a:chExt cx="4896" cy="774"/>
            </a:xfrm>
          </p:grpSpPr>
          <p:sp>
            <p:nvSpPr>
              <p:cNvPr id="28" name="TextBox 6"/>
              <p:cNvSpPr txBox="1"/>
              <p:nvPr/>
            </p:nvSpPr>
            <p:spPr>
              <a:xfrm>
                <a:off x="4309" y="2569"/>
                <a:ext cx="236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root</a:t>
                </a:r>
              </a:p>
            </p:txBody>
          </p:sp>
          <p:sp>
            <p:nvSpPr>
              <p:cNvPr id="29" name="TextBox 6"/>
              <p:cNvSpPr txBox="1"/>
              <p:nvPr/>
            </p:nvSpPr>
            <p:spPr>
              <a:xfrm>
                <a:off x="1773" y="2575"/>
                <a:ext cx="2211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306070" y="2819400"/>
            <a:ext cx="2352675" cy="662305"/>
            <a:chOff x="754" y="5627"/>
            <a:chExt cx="3705" cy="1043"/>
          </a:xfrm>
        </p:grpSpPr>
        <p:sp>
          <p:nvSpPr>
            <p:cNvPr id="33" name="矩形 32"/>
            <p:cNvSpPr/>
            <p:nvPr/>
          </p:nvSpPr>
          <p:spPr>
            <a:xfrm>
              <a:off x="755" y="5627"/>
              <a:ext cx="3704" cy="79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（1）修改用户组名</a:t>
              </a:r>
            </a:p>
          </p:txBody>
        </p:sp>
        <p:sp>
          <p:nvSpPr>
            <p:cNvPr id="34" name="Triangle rectangle 10"/>
            <p:cNvSpPr/>
            <p:nvPr/>
          </p:nvSpPr>
          <p:spPr>
            <a:xfrm rot="16200000" flipH="1">
              <a:off x="737" y="6427"/>
              <a:ext cx="260" cy="227"/>
            </a:xfrm>
            <a:prstGeom prst="rtTriangle">
              <a:avLst/>
            </a:pr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687060" y="4248785"/>
            <a:ext cx="5661660" cy="2160270"/>
            <a:chOff x="8756" y="6715"/>
            <a:chExt cx="8916" cy="3402"/>
          </a:xfrm>
        </p:grpSpPr>
        <p:sp>
          <p:nvSpPr>
            <p:cNvPr id="30" name="Text Box 44"/>
            <p:cNvSpPr txBox="1">
              <a:spLocks noChangeArrowheads="1"/>
            </p:cNvSpPr>
            <p:nvPr/>
          </p:nvSpPr>
          <p:spPr bwMode="auto">
            <a:xfrm>
              <a:off x="9457" y="9325"/>
              <a:ext cx="8002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图6-10  【例6-9】命令用法及返回结果</a:t>
              </a:r>
            </a:p>
          </p:txBody>
        </p:sp>
        <p:pic>
          <p:nvPicPr>
            <p:cNvPr id="2" name="图片 -2147482613"/>
            <p:cNvPicPr>
              <a:picLocks noChangeAspect="1"/>
            </p:cNvPicPr>
            <p:nvPr/>
          </p:nvPicPr>
          <p:blipFill>
            <a:blip r:embed="rId4" cstate="print">
              <a:grayscl/>
            </a:blip>
            <a:stretch>
              <a:fillRect/>
            </a:stretch>
          </p:blipFill>
          <p:spPr>
            <a:xfrm>
              <a:off x="8756" y="6715"/>
              <a:ext cx="8916" cy="256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pic>
      </p:grp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797560" y="1671320"/>
            <a:ext cx="10034905" cy="100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使用groupmod命令结合相关参数可对用户组的相关属性进行修改，比如修改用户组名、修改用户组ID等。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46100" y="3907791"/>
            <a:ext cx="4839970" cy="2353309"/>
            <a:chOff x="971600" y="3062290"/>
            <a:chExt cx="3290026" cy="2127577"/>
          </a:xfrm>
        </p:grpSpPr>
        <p:sp>
          <p:nvSpPr>
            <p:cNvPr id="8" name="TextBox 2"/>
            <p:cNvSpPr txBox="1"/>
            <p:nvPr/>
          </p:nvSpPr>
          <p:spPr>
            <a:xfrm>
              <a:off x="971600" y="3293073"/>
              <a:ext cx="3290026" cy="1896794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使用groupmod命令对</a:t>
              </a:r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sym typeface="Arial Unicode MS" panose="020B0604020202020204" pitchFamily="34" charset="-122"/>
                </a:rPr>
                <a:t>【例6-7】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创建的group_01用户组更名为g01用户组，并查看/etc/group配置文件验证。命令用法及返回结果如图6-10所示。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anose="020B0604020202020204" pitchFamily="34" charset="-122"/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108808" y="3062290"/>
              <a:ext cx="1143007" cy="3996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539115" y="1644015"/>
            <a:ext cx="11248390" cy="4853305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57010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6.2.2  修改用户组属性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8390890" y="1132205"/>
            <a:ext cx="3258820" cy="2432050"/>
            <a:chOff x="13227" y="6981"/>
            <a:chExt cx="5268" cy="2898"/>
          </a:xfrm>
        </p:grpSpPr>
        <p:grpSp>
          <p:nvGrpSpPr>
            <p:cNvPr id="24" name="组合 14"/>
            <p:cNvGrpSpPr/>
            <p:nvPr/>
          </p:nvGrpSpPr>
          <p:grpSpPr bwMode="auto">
            <a:xfrm>
              <a:off x="13357" y="7617"/>
              <a:ext cx="5138" cy="2262"/>
              <a:chOff x="1166778" y="1786456"/>
              <a:chExt cx="9858444" cy="1713982"/>
            </a:xfrm>
          </p:grpSpPr>
          <p:grpSp>
            <p:nvGrpSpPr>
              <p:cNvPr id="50" name="组合 12"/>
              <p:cNvGrpSpPr/>
              <p:nvPr/>
            </p:nvGrpSpPr>
            <p:grpSpPr bwMode="auto">
              <a:xfrm>
                <a:off x="1166778" y="1786456"/>
                <a:ext cx="9858444" cy="1713982"/>
                <a:chOff x="1166778" y="1786456"/>
                <a:chExt cx="9858444" cy="1713982"/>
              </a:xfrm>
            </p:grpSpPr>
            <p:sp>
              <p:nvSpPr>
                <p:cNvPr id="51" name="矩形 50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52" name="矩形 6"/>
                <p:cNvSpPr>
                  <a:spLocks noChangeArrowheads="1"/>
                </p:cNvSpPr>
                <p:nvPr/>
              </p:nvSpPr>
              <p:spPr bwMode="auto">
                <a:xfrm>
                  <a:off x="3166831" y="1786777"/>
                  <a:ext cx="4380122" cy="41280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53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198342" y="2146205"/>
                <a:ext cx="9654600" cy="1273414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0" eaLnBrk="1" latinLnBrk="0" hangingPunct="1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重新设置的GID值不能与原本就存在的用户组的GID值冲突。重新设置GID值对用户组的名称没有影响。</a:t>
                </a:r>
              </a:p>
            </p:txBody>
          </p:sp>
        </p:grpSp>
        <p:pic>
          <p:nvPicPr>
            <p:cNvPr id="54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227" y="6981"/>
              <a:ext cx="1578" cy="1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组合 2"/>
          <p:cNvGrpSpPr/>
          <p:nvPr/>
        </p:nvGrpSpPr>
        <p:grpSpPr>
          <a:xfrm>
            <a:off x="3521075" y="1707515"/>
            <a:ext cx="4832873" cy="1642745"/>
            <a:chOff x="5065" y="2713"/>
            <a:chExt cx="7611" cy="2587"/>
          </a:xfrm>
        </p:grpSpPr>
        <p:grpSp>
          <p:nvGrpSpPr>
            <p:cNvPr id="4" name="组合 3"/>
            <p:cNvGrpSpPr/>
            <p:nvPr/>
          </p:nvGrpSpPr>
          <p:grpSpPr>
            <a:xfrm>
              <a:off x="5065" y="3528"/>
              <a:ext cx="7611" cy="837"/>
              <a:chOff x="1395" y="8054"/>
              <a:chExt cx="5858" cy="837"/>
            </a:xfrm>
          </p:grpSpPr>
          <p:sp>
            <p:nvSpPr>
              <p:cNvPr id="11" name="TextBox 6"/>
              <p:cNvSpPr txBox="1"/>
              <p:nvPr/>
            </p:nvSpPr>
            <p:spPr>
              <a:xfrm>
                <a:off x="1395" y="8099"/>
                <a:ext cx="3159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2536" y="8054"/>
                <a:ext cx="4717" cy="837"/>
                <a:chOff x="2456" y="8154"/>
                <a:chExt cx="4717" cy="837"/>
              </a:xfrm>
            </p:grpSpPr>
            <p:sp>
              <p:nvSpPr>
                <p:cNvPr id="5" name="流程图: 过程 4"/>
                <p:cNvSpPr/>
                <p:nvPr/>
              </p:nvSpPr>
              <p:spPr>
                <a:xfrm>
                  <a:off x="2456" y="8273"/>
                  <a:ext cx="4716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2456" y="8154"/>
                  <a:ext cx="4717" cy="7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groupmod  -g  新GID值 用户组名</a:t>
                  </a:r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109" y="2713"/>
              <a:ext cx="2361" cy="815"/>
              <a:chOff x="1773" y="2528"/>
              <a:chExt cx="805" cy="815"/>
            </a:xfrm>
          </p:grpSpPr>
          <p:sp>
            <p:nvSpPr>
              <p:cNvPr id="13" name="TextBox 6"/>
              <p:cNvSpPr txBox="1"/>
              <p:nvPr/>
            </p:nvSpPr>
            <p:spPr>
              <a:xfrm>
                <a:off x="2258" y="2575"/>
                <a:ext cx="32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-g    </a:t>
                </a:r>
              </a:p>
            </p:txBody>
          </p:sp>
          <p:sp>
            <p:nvSpPr>
              <p:cNvPr id="20" name="TextBox 6"/>
              <p:cNvSpPr txBox="1"/>
              <p:nvPr/>
            </p:nvSpPr>
            <p:spPr>
              <a:xfrm>
                <a:off x="1773" y="2528"/>
                <a:ext cx="422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参数：</a:t>
                </a: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5065" y="4526"/>
              <a:ext cx="4896" cy="774"/>
              <a:chOff x="1773" y="2569"/>
              <a:chExt cx="4896" cy="774"/>
            </a:xfrm>
          </p:grpSpPr>
          <p:sp>
            <p:nvSpPr>
              <p:cNvPr id="28" name="TextBox 6"/>
              <p:cNvSpPr txBox="1"/>
              <p:nvPr/>
            </p:nvSpPr>
            <p:spPr>
              <a:xfrm>
                <a:off x="4309" y="2569"/>
                <a:ext cx="236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root</a:t>
                </a:r>
              </a:p>
            </p:txBody>
          </p:sp>
          <p:sp>
            <p:nvSpPr>
              <p:cNvPr id="29" name="TextBox 6"/>
              <p:cNvSpPr txBox="1"/>
              <p:nvPr/>
            </p:nvSpPr>
            <p:spPr>
              <a:xfrm>
                <a:off x="1773" y="2575"/>
                <a:ext cx="2211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375920" y="1925320"/>
            <a:ext cx="3144438" cy="662940"/>
            <a:chOff x="754" y="5627"/>
            <a:chExt cx="4510" cy="1044"/>
          </a:xfrm>
        </p:grpSpPr>
        <p:sp>
          <p:nvSpPr>
            <p:cNvPr id="33" name="矩形 32"/>
            <p:cNvSpPr/>
            <p:nvPr/>
          </p:nvSpPr>
          <p:spPr>
            <a:xfrm>
              <a:off x="755" y="5627"/>
              <a:ext cx="4509" cy="79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（2）重设用户组ID（GID）</a:t>
              </a:r>
            </a:p>
          </p:txBody>
        </p:sp>
        <p:sp>
          <p:nvSpPr>
            <p:cNvPr id="34" name="Triangle rectangle 10"/>
            <p:cNvSpPr/>
            <p:nvPr/>
          </p:nvSpPr>
          <p:spPr>
            <a:xfrm rot="16200000" flipH="1">
              <a:off x="737" y="6427"/>
              <a:ext cx="260" cy="227"/>
            </a:xfrm>
            <a:prstGeom prst="rtTriangle">
              <a:avLst/>
            </a:pr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b="1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589905" y="4046855"/>
            <a:ext cx="5976620" cy="2225675"/>
            <a:chOff x="7963" y="6325"/>
            <a:chExt cx="9412" cy="3505"/>
          </a:xfrm>
        </p:grpSpPr>
        <p:sp>
          <p:nvSpPr>
            <p:cNvPr id="30" name="Text Box 44"/>
            <p:cNvSpPr txBox="1">
              <a:spLocks noChangeArrowheads="1"/>
            </p:cNvSpPr>
            <p:nvPr/>
          </p:nvSpPr>
          <p:spPr bwMode="auto">
            <a:xfrm>
              <a:off x="9000" y="9038"/>
              <a:ext cx="8002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图6-11  【例6-10】命令用法及返回结果</a:t>
              </a:r>
            </a:p>
          </p:txBody>
        </p:sp>
        <p:pic>
          <p:nvPicPr>
            <p:cNvPr id="2" name="图片 -2147482612"/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7963" y="6325"/>
              <a:ext cx="9412" cy="2669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pic>
      </p:grpSp>
      <p:grpSp>
        <p:nvGrpSpPr>
          <p:cNvPr id="7" name="组合 6"/>
          <p:cNvGrpSpPr/>
          <p:nvPr/>
        </p:nvGrpSpPr>
        <p:grpSpPr>
          <a:xfrm>
            <a:off x="690880" y="3644265"/>
            <a:ext cx="4608830" cy="2353310"/>
            <a:chOff x="971600" y="3062290"/>
            <a:chExt cx="3473310" cy="2127578"/>
          </a:xfrm>
        </p:grpSpPr>
        <p:sp>
          <p:nvSpPr>
            <p:cNvPr id="8" name="TextBox 2"/>
            <p:cNvSpPr txBox="1"/>
            <p:nvPr/>
          </p:nvSpPr>
          <p:spPr>
            <a:xfrm>
              <a:off x="971600" y="3293074"/>
              <a:ext cx="3473310" cy="1896794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使用groupmod命令将group_02用户组的GID值由原来的502重新设置为503，并查看/etc/group配置文件进行验证。命令用法及返回结果如图6-11所示。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anose="020B0604020202020204" pitchFamily="34" charset="-122"/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108808" y="3062290"/>
              <a:ext cx="1143007" cy="3996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386080" y="1644015"/>
            <a:ext cx="11317605" cy="492760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6.2.3  删除用户组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592455" y="1699895"/>
            <a:ext cx="5057140" cy="1971040"/>
            <a:chOff x="933" y="2677"/>
            <a:chExt cx="7964" cy="3104"/>
          </a:xfrm>
        </p:grpSpPr>
        <p:sp>
          <p:nvSpPr>
            <p:cNvPr id="43" name="矩形 42"/>
            <p:cNvSpPr/>
            <p:nvPr/>
          </p:nvSpPr>
          <p:spPr>
            <a:xfrm>
              <a:off x="933" y="2677"/>
              <a:ext cx="7965" cy="31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347" y="2677"/>
              <a:ext cx="7550" cy="2890"/>
              <a:chOff x="1347" y="2677"/>
              <a:chExt cx="7550" cy="289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1435" y="2677"/>
                <a:ext cx="4203" cy="892"/>
                <a:chOff x="1435" y="2677"/>
                <a:chExt cx="3817" cy="892"/>
              </a:xfrm>
            </p:grpSpPr>
            <p:sp>
              <p:nvSpPr>
                <p:cNvPr id="24" name="TextBox 6"/>
                <p:cNvSpPr txBox="1"/>
                <p:nvPr/>
              </p:nvSpPr>
              <p:spPr>
                <a:xfrm>
                  <a:off x="2892" y="2677"/>
                  <a:ext cx="2360" cy="8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zh-CN" altLang="en-US" sz="24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groupdel</a:t>
                  </a:r>
                </a:p>
              </p:txBody>
            </p:sp>
            <p:sp>
              <p:nvSpPr>
                <p:cNvPr id="25" name="TextBox 6"/>
                <p:cNvSpPr txBox="1"/>
                <p:nvPr/>
              </p:nvSpPr>
              <p:spPr>
                <a:xfrm>
                  <a:off x="1435" y="2677"/>
                  <a:ext cx="1457" cy="8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2000" b="1">
                      <a:solidFill>
                        <a:srgbClr val="5F5E5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sz="2400" dirty="0">
                      <a:solidFill>
                        <a:srgbClr val="0070C0"/>
                      </a:solidFill>
                      <a:sym typeface="+mn-ea"/>
                    </a:rPr>
                    <a:t>命令：</a:t>
                  </a:r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1369" y="4105"/>
                <a:ext cx="7529" cy="792"/>
                <a:chOff x="1395" y="8099"/>
                <a:chExt cx="6424" cy="792"/>
              </a:xfrm>
            </p:grpSpPr>
            <p:sp>
              <p:nvSpPr>
                <p:cNvPr id="11" name="TextBox 6"/>
                <p:cNvSpPr txBox="1"/>
                <p:nvPr/>
              </p:nvSpPr>
              <p:spPr>
                <a:xfrm>
                  <a:off x="1395" y="8099"/>
                  <a:ext cx="3159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2000" b="1">
                      <a:solidFill>
                        <a:srgbClr val="5F5E5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rgbClr val="0070C0"/>
                      </a:solidFill>
                      <a:sym typeface="+mn-ea"/>
                    </a:rPr>
                    <a:t>用法：</a:t>
                  </a:r>
                  <a:endPara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ea"/>
                  </a:endParaRPr>
                </a:p>
              </p:txBody>
            </p:sp>
            <p:grpSp>
              <p:nvGrpSpPr>
                <p:cNvPr id="15" name="组合 14"/>
                <p:cNvGrpSpPr/>
                <p:nvPr/>
              </p:nvGrpSpPr>
              <p:grpSpPr>
                <a:xfrm>
                  <a:off x="2536" y="8099"/>
                  <a:ext cx="5283" cy="792"/>
                  <a:chOff x="2456" y="8199"/>
                  <a:chExt cx="5283" cy="792"/>
                </a:xfrm>
              </p:grpSpPr>
              <p:sp>
                <p:nvSpPr>
                  <p:cNvPr id="14" name="流程图: 过程 13"/>
                  <p:cNvSpPr/>
                  <p:nvPr/>
                </p:nvSpPr>
                <p:spPr>
                  <a:xfrm>
                    <a:off x="2456" y="8273"/>
                    <a:ext cx="4939" cy="718"/>
                  </a:xfrm>
                  <a:prstGeom prst="flowChartProcess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9525" cap="flat" cmpd="sng" algn="ctr">
                    <a:solidFill>
                      <a:schemeClr val="bg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none" lIns="90000" tIns="46800" rIns="90000" bIns="46800" numCol="1" anchor="ctr" anchorCtr="0" compatLnSpc="1"/>
                  <a:lstStyle/>
                  <a:p>
                    <a:pPr indent="0" algn="l" eaLnBrk="1" fontAlgn="auto" latinLnBrk="0" hangingPunct="1">
                      <a:lnSpc>
                        <a:spcPct val="150000"/>
                      </a:lnSpc>
                      <a:buFont typeface="Arial" panose="020B0604020202020204" pitchFamily="34" charset="0"/>
                      <a:buNone/>
                      <a:defRPr/>
                    </a:pPr>
                    <a:endParaRPr lang="zh-CN" altLang="en-US" sz="18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endParaRPr>
                  </a:p>
                </p:txBody>
              </p:sp>
              <p:sp>
                <p:nvSpPr>
                  <p:cNvPr id="12" name="文本框 11"/>
                  <p:cNvSpPr txBox="1"/>
                  <p:nvPr/>
                </p:nvSpPr>
                <p:spPr>
                  <a:xfrm>
                    <a:off x="2517" y="8199"/>
                    <a:ext cx="5222" cy="79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indent="0" algn="l" eaLnBrk="1" fontAlgn="auto" latinLnBrk="0" hangingPunct="1">
                      <a:lnSpc>
                        <a:spcPct val="150000"/>
                      </a:lnSpc>
                      <a:buFont typeface="Arial" panose="020B0604020202020204" pitchFamily="34" charset="0"/>
                      <a:buNone/>
                      <a:defRPr/>
                    </a:pPr>
                    <a:r>
                      <a:rPr lang="zh-CN" altLang="en-US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rPr>
                      <a:t>groupdel  要删除的用户组名</a:t>
                    </a:r>
                  </a:p>
                </p:txBody>
              </p:sp>
            </p:grpSp>
          </p:grpSp>
          <p:grpSp>
            <p:nvGrpSpPr>
              <p:cNvPr id="20" name="组合 19"/>
              <p:cNvGrpSpPr/>
              <p:nvPr/>
            </p:nvGrpSpPr>
            <p:grpSpPr>
              <a:xfrm>
                <a:off x="1347" y="4793"/>
                <a:ext cx="4896" cy="774"/>
                <a:chOff x="1773" y="2569"/>
                <a:chExt cx="4896" cy="774"/>
              </a:xfrm>
            </p:grpSpPr>
            <p:sp>
              <p:nvSpPr>
                <p:cNvPr id="21" name="TextBox 6"/>
                <p:cNvSpPr txBox="1"/>
                <p:nvPr/>
              </p:nvSpPr>
              <p:spPr>
                <a:xfrm>
                  <a:off x="4309" y="2569"/>
                  <a:ext cx="2360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US" altLang="zh-CN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root</a:t>
                  </a:r>
                </a:p>
              </p:txBody>
            </p:sp>
            <p:sp>
              <p:nvSpPr>
                <p:cNvPr id="26" name="TextBox 6"/>
                <p:cNvSpPr txBox="1"/>
                <p:nvPr/>
              </p:nvSpPr>
              <p:spPr>
                <a:xfrm>
                  <a:off x="1773" y="2575"/>
                  <a:ext cx="2211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2000" b="1">
                      <a:solidFill>
                        <a:srgbClr val="5F5E5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rgbClr val="0070C0"/>
                      </a:solidFill>
                      <a:sym typeface="+mn-ea"/>
                    </a:rPr>
                    <a:t>使用权限：</a:t>
                  </a:r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1382" y="3425"/>
                <a:ext cx="3923" cy="768"/>
                <a:chOff x="1375" y="7165"/>
                <a:chExt cx="3923" cy="768"/>
              </a:xfrm>
            </p:grpSpPr>
            <p:sp>
              <p:nvSpPr>
                <p:cNvPr id="6" name="TextBox 6"/>
                <p:cNvSpPr txBox="1"/>
                <p:nvPr/>
              </p:nvSpPr>
              <p:spPr>
                <a:xfrm>
                  <a:off x="2938" y="7165"/>
                  <a:ext cx="2360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删除用户组</a:t>
                  </a:r>
                  <a:endPara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" name="TextBox 6"/>
                <p:cNvSpPr txBox="1"/>
                <p:nvPr/>
              </p:nvSpPr>
              <p:spPr>
                <a:xfrm>
                  <a:off x="1375" y="7165"/>
                  <a:ext cx="1805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2000" b="1">
                      <a:solidFill>
                        <a:srgbClr val="5F5E5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rgbClr val="0070C0"/>
                      </a:solidFill>
                      <a:sym typeface="+mn-ea"/>
                    </a:rPr>
                    <a:t>功能：</a:t>
                  </a:r>
                  <a:endPara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ea"/>
                  </a:endParaRPr>
                </a:p>
              </p:txBody>
            </p:sp>
          </p:grpSp>
        </p:grpSp>
      </p:grpSp>
      <p:grpSp>
        <p:nvGrpSpPr>
          <p:cNvPr id="48" name="组合 47"/>
          <p:cNvGrpSpPr/>
          <p:nvPr/>
        </p:nvGrpSpPr>
        <p:grpSpPr>
          <a:xfrm>
            <a:off x="6125210" y="1199518"/>
            <a:ext cx="5163820" cy="2557145"/>
            <a:chOff x="13227" y="6981"/>
            <a:chExt cx="5268" cy="2898"/>
          </a:xfrm>
        </p:grpSpPr>
        <p:grpSp>
          <p:nvGrpSpPr>
            <p:cNvPr id="3" name="组合 14"/>
            <p:cNvGrpSpPr/>
            <p:nvPr/>
          </p:nvGrpSpPr>
          <p:grpSpPr bwMode="auto">
            <a:xfrm>
              <a:off x="13357" y="7586"/>
              <a:ext cx="5138" cy="2293"/>
              <a:chOff x="1166778" y="1762785"/>
              <a:chExt cx="9858444" cy="1737653"/>
            </a:xfrm>
          </p:grpSpPr>
          <p:grpSp>
            <p:nvGrpSpPr>
              <p:cNvPr id="50" name="组合 12"/>
              <p:cNvGrpSpPr/>
              <p:nvPr/>
            </p:nvGrpSpPr>
            <p:grpSpPr bwMode="auto">
              <a:xfrm>
                <a:off x="1166778" y="1762785"/>
                <a:ext cx="9858444" cy="1737653"/>
                <a:chOff x="1166778" y="1762785"/>
                <a:chExt cx="9858444" cy="1737653"/>
              </a:xfrm>
            </p:grpSpPr>
            <p:sp>
              <p:nvSpPr>
                <p:cNvPr id="51" name="矩形 50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52" name="矩形 6"/>
                <p:cNvSpPr>
                  <a:spLocks noChangeArrowheads="1"/>
                </p:cNvSpPr>
                <p:nvPr/>
              </p:nvSpPr>
              <p:spPr bwMode="auto">
                <a:xfrm>
                  <a:off x="2455861" y="1762785"/>
                  <a:ext cx="4380122" cy="39261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53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198342" y="2146205"/>
                <a:ext cx="9654600" cy="1273414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eaLnBrk="1" latinLnBrk="0" hangingPunct="1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在删除用户组时，被删除的用户组不能是某个账户的</a:t>
                </a:r>
                <a:r>
                  <a: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私有用户组</a:t>
                </a:r>
                <a:r>
                  <a:rPr lang="zh-CN" alt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，否则将无法删除。若一定要删除该用户组，则应先删除引用该私有用户组的账户，然后再删除用户组。</a:t>
                </a:r>
              </a:p>
            </p:txBody>
          </p:sp>
        </p:grpSp>
        <p:pic>
          <p:nvPicPr>
            <p:cNvPr id="54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227" y="6981"/>
              <a:ext cx="1063" cy="1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6" name="组合 45"/>
          <p:cNvGrpSpPr/>
          <p:nvPr/>
        </p:nvGrpSpPr>
        <p:grpSpPr>
          <a:xfrm>
            <a:off x="6072187" y="4171948"/>
            <a:ext cx="5435283" cy="2230625"/>
            <a:chOff x="7620" y="6236"/>
            <a:chExt cx="10070" cy="3937"/>
          </a:xfrm>
        </p:grpSpPr>
        <p:sp>
          <p:nvSpPr>
            <p:cNvPr id="19" name="Text Box 44"/>
            <p:cNvSpPr txBox="1">
              <a:spLocks noChangeArrowheads="1"/>
            </p:cNvSpPr>
            <p:nvPr/>
          </p:nvSpPr>
          <p:spPr bwMode="auto">
            <a:xfrm>
              <a:off x="7964" y="9277"/>
              <a:ext cx="9489" cy="8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图6-12  【例6-11】命令用法及返回结果</a:t>
              </a:r>
            </a:p>
          </p:txBody>
        </p:sp>
        <p:pic>
          <p:nvPicPr>
            <p:cNvPr id="4" name="图片 -2147482611"/>
            <p:cNvPicPr>
              <a:picLocks noChangeAspect="1"/>
            </p:cNvPicPr>
            <p:nvPr/>
          </p:nvPicPr>
          <p:blipFill>
            <a:blip r:embed="rId4" cstate="print">
              <a:grayscl/>
            </a:blip>
            <a:stretch>
              <a:fillRect/>
            </a:stretch>
          </p:blipFill>
          <p:spPr>
            <a:xfrm>
              <a:off x="7620" y="6236"/>
              <a:ext cx="10070" cy="3045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pic>
      </p:grpSp>
      <p:grpSp>
        <p:nvGrpSpPr>
          <p:cNvPr id="5" name="组合 4"/>
          <p:cNvGrpSpPr/>
          <p:nvPr/>
        </p:nvGrpSpPr>
        <p:grpSpPr>
          <a:xfrm>
            <a:off x="595630" y="3846829"/>
            <a:ext cx="4947920" cy="2374311"/>
            <a:chOff x="971600" y="3062290"/>
            <a:chExt cx="3728856" cy="2146565"/>
          </a:xfrm>
        </p:grpSpPr>
        <p:sp>
          <p:nvSpPr>
            <p:cNvPr id="8" name="TextBox 2"/>
            <p:cNvSpPr txBox="1"/>
            <p:nvPr/>
          </p:nvSpPr>
          <p:spPr>
            <a:xfrm>
              <a:off x="971600" y="3293074"/>
              <a:ext cx="3728856" cy="1915781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使用groupdel命令删除之前创建的group_02用户组，并查看/etc/group配置文件进行验证。命令用法及返回结果如图6-12所示。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anose="020B0604020202020204" pitchFamily="34" charset="-122"/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108808" y="3062290"/>
              <a:ext cx="1143007" cy="3996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540385" y="1722755"/>
            <a:ext cx="11262995" cy="474345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57010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6.2.4  用户组设置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248785" y="2635885"/>
            <a:ext cx="4525010" cy="1450975"/>
            <a:chOff x="5571" y="4151"/>
            <a:chExt cx="7126" cy="2285"/>
          </a:xfrm>
        </p:grpSpPr>
        <p:grpSp>
          <p:nvGrpSpPr>
            <p:cNvPr id="4" name="组合 3"/>
            <p:cNvGrpSpPr/>
            <p:nvPr/>
          </p:nvGrpSpPr>
          <p:grpSpPr>
            <a:xfrm>
              <a:off x="5613" y="4825"/>
              <a:ext cx="7085" cy="837"/>
              <a:chOff x="1395" y="8054"/>
              <a:chExt cx="6555" cy="837"/>
            </a:xfrm>
          </p:grpSpPr>
          <p:sp>
            <p:nvSpPr>
              <p:cNvPr id="11" name="TextBox 6"/>
              <p:cNvSpPr txBox="1"/>
              <p:nvPr/>
            </p:nvSpPr>
            <p:spPr>
              <a:xfrm>
                <a:off x="1395" y="8099"/>
                <a:ext cx="3159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2536" y="8054"/>
                <a:ext cx="5414" cy="837"/>
                <a:chOff x="2456" y="8154"/>
                <a:chExt cx="5414" cy="837"/>
              </a:xfrm>
            </p:grpSpPr>
            <p:sp>
              <p:nvSpPr>
                <p:cNvPr id="5" name="流程图: 过程 4"/>
                <p:cNvSpPr/>
                <p:nvPr/>
              </p:nvSpPr>
              <p:spPr>
                <a:xfrm>
                  <a:off x="2456" y="8273"/>
                  <a:ext cx="5132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2456" y="8154"/>
                  <a:ext cx="5414" cy="7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gpasswd  -a  用户名 用户组名</a:t>
                  </a:r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571" y="4151"/>
              <a:ext cx="2361" cy="768"/>
              <a:chOff x="1773" y="2575"/>
              <a:chExt cx="805" cy="768"/>
            </a:xfrm>
          </p:grpSpPr>
          <p:sp>
            <p:nvSpPr>
              <p:cNvPr id="13" name="TextBox 6"/>
              <p:cNvSpPr txBox="1"/>
              <p:nvPr/>
            </p:nvSpPr>
            <p:spPr>
              <a:xfrm>
                <a:off x="2258" y="2575"/>
                <a:ext cx="32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-a    </a:t>
                </a:r>
              </a:p>
            </p:txBody>
          </p:sp>
          <p:sp>
            <p:nvSpPr>
              <p:cNvPr id="20" name="TextBox 6"/>
              <p:cNvSpPr txBox="1"/>
              <p:nvPr/>
            </p:nvSpPr>
            <p:spPr>
              <a:xfrm>
                <a:off x="1773" y="2575"/>
                <a:ext cx="485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参数：</a:t>
                </a: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5613" y="5662"/>
              <a:ext cx="6054" cy="774"/>
              <a:chOff x="1773" y="2569"/>
              <a:chExt cx="4896" cy="774"/>
            </a:xfrm>
          </p:grpSpPr>
          <p:sp>
            <p:nvSpPr>
              <p:cNvPr id="28" name="TextBox 6"/>
              <p:cNvSpPr txBox="1"/>
              <p:nvPr/>
            </p:nvSpPr>
            <p:spPr>
              <a:xfrm>
                <a:off x="3446" y="2569"/>
                <a:ext cx="3223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root、用户组管理员</a:t>
                </a:r>
              </a:p>
            </p:txBody>
          </p:sp>
          <p:sp>
            <p:nvSpPr>
              <p:cNvPr id="29" name="TextBox 6"/>
              <p:cNvSpPr txBox="1"/>
              <p:nvPr/>
            </p:nvSpPr>
            <p:spPr>
              <a:xfrm>
                <a:off x="1773" y="2575"/>
                <a:ext cx="2211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</p:grp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601980" y="1694180"/>
            <a:ext cx="10523220" cy="100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使用gpasswd命令结合相关参数可对用户组的用户进行设置，比如为指定的用户组添加或移除用户，并且为用户组设置管理员等操作。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377825" y="2883535"/>
            <a:ext cx="3054350" cy="669290"/>
            <a:chOff x="526" y="2731"/>
            <a:chExt cx="2948" cy="1054"/>
          </a:xfrm>
        </p:grpSpPr>
        <p:sp>
          <p:nvSpPr>
            <p:cNvPr id="2" name="矩形 1"/>
            <p:cNvSpPr/>
            <p:nvPr/>
          </p:nvSpPr>
          <p:spPr>
            <a:xfrm>
              <a:off x="526" y="2731"/>
              <a:ext cx="2949" cy="794"/>
            </a:xfrm>
            <a:prstGeom prst="rect">
              <a:avLst/>
            </a:prstGeom>
            <a:solidFill>
              <a:srgbClr val="0D9CD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2000" b="1" dirty="0" smtClean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（1）为用户组添加用户</a:t>
              </a:r>
            </a:p>
          </p:txBody>
        </p:sp>
        <p:sp>
          <p:nvSpPr>
            <p:cNvPr id="3" name="Triangle rectangle 10"/>
            <p:cNvSpPr/>
            <p:nvPr/>
          </p:nvSpPr>
          <p:spPr>
            <a:xfrm rot="16200000" flipH="1">
              <a:off x="509" y="3542"/>
              <a:ext cx="260" cy="227"/>
            </a:xfrm>
            <a:prstGeom prst="rtTriangle">
              <a:avLst/>
            </a:prstGeom>
            <a:gradFill flip="none" rotWithShape="1">
              <a:gsLst>
                <a:gs pos="0">
                  <a:srgbClr val="0B9ACF"/>
                </a:gs>
                <a:gs pos="50000">
                  <a:schemeClr val="tx1">
                    <a:lumMod val="75000"/>
                    <a:lumOff val="25000"/>
                  </a:schemeClr>
                </a:gs>
                <a:gs pos="100000">
                  <a:srgbClr val="00B0F0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081395" y="4215130"/>
            <a:ext cx="5081270" cy="2251075"/>
            <a:chOff x="8617" y="6638"/>
            <a:chExt cx="8002" cy="3545"/>
          </a:xfrm>
        </p:grpSpPr>
        <p:sp>
          <p:nvSpPr>
            <p:cNvPr id="30" name="Text Box 44"/>
            <p:cNvSpPr txBox="1">
              <a:spLocks noChangeArrowheads="1"/>
            </p:cNvSpPr>
            <p:nvPr/>
          </p:nvSpPr>
          <p:spPr bwMode="auto">
            <a:xfrm>
              <a:off x="8617" y="9391"/>
              <a:ext cx="8002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图6-13  【例6-12】命令用法及返回结果</a:t>
              </a:r>
            </a:p>
          </p:txBody>
        </p:sp>
        <p:pic>
          <p:nvPicPr>
            <p:cNvPr id="6" name="图片 -2147482610"/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9051" y="6638"/>
              <a:ext cx="6663" cy="2915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pic>
      </p:grpSp>
      <p:grpSp>
        <p:nvGrpSpPr>
          <p:cNvPr id="9" name="组合 8"/>
          <p:cNvGrpSpPr/>
          <p:nvPr/>
        </p:nvGrpSpPr>
        <p:grpSpPr>
          <a:xfrm>
            <a:off x="1315720" y="4131945"/>
            <a:ext cx="4365625" cy="1896110"/>
            <a:chOff x="971600" y="3062290"/>
            <a:chExt cx="3290026" cy="1714233"/>
          </a:xfrm>
        </p:grpSpPr>
        <p:sp>
          <p:nvSpPr>
            <p:cNvPr id="14" name="TextBox 2"/>
            <p:cNvSpPr txBox="1"/>
            <p:nvPr/>
          </p:nvSpPr>
          <p:spPr>
            <a:xfrm>
              <a:off x="971600" y="3293074"/>
              <a:ext cx="3290026" cy="1483449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若要将用户u02添加到g01用户组中，并使用相关命令查询验证，则命令用法及返回结果如图6-13所示。</a:t>
              </a: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1108808" y="3062290"/>
              <a:ext cx="1143007" cy="3996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540385" y="1722755"/>
            <a:ext cx="11111230" cy="470154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57010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6.2.4  用户组设置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113155" y="2344420"/>
            <a:ext cx="4498340" cy="1510665"/>
            <a:chOff x="1753" y="3692"/>
            <a:chExt cx="7084" cy="2379"/>
          </a:xfrm>
        </p:grpSpPr>
        <p:grpSp>
          <p:nvGrpSpPr>
            <p:cNvPr id="4" name="组合 3"/>
            <p:cNvGrpSpPr/>
            <p:nvPr/>
          </p:nvGrpSpPr>
          <p:grpSpPr>
            <a:xfrm>
              <a:off x="1753" y="4460"/>
              <a:ext cx="7085" cy="837"/>
              <a:chOff x="1395" y="8054"/>
              <a:chExt cx="6555" cy="837"/>
            </a:xfrm>
          </p:grpSpPr>
          <p:sp>
            <p:nvSpPr>
              <p:cNvPr id="11" name="TextBox 6"/>
              <p:cNvSpPr txBox="1"/>
              <p:nvPr/>
            </p:nvSpPr>
            <p:spPr>
              <a:xfrm>
                <a:off x="1395" y="8099"/>
                <a:ext cx="3159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2536" y="8054"/>
                <a:ext cx="5414" cy="837"/>
                <a:chOff x="2456" y="8154"/>
                <a:chExt cx="5414" cy="837"/>
              </a:xfrm>
            </p:grpSpPr>
            <p:sp>
              <p:nvSpPr>
                <p:cNvPr id="5" name="流程图: 过程 4"/>
                <p:cNvSpPr/>
                <p:nvPr/>
              </p:nvSpPr>
              <p:spPr>
                <a:xfrm>
                  <a:off x="2456" y="8273"/>
                  <a:ext cx="5132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2456" y="8154"/>
                  <a:ext cx="5414" cy="7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gpasswd  -d  用户名 用户组名</a:t>
                  </a:r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1753" y="3692"/>
              <a:ext cx="2361" cy="768"/>
              <a:chOff x="1773" y="2575"/>
              <a:chExt cx="805" cy="768"/>
            </a:xfrm>
          </p:grpSpPr>
          <p:sp>
            <p:nvSpPr>
              <p:cNvPr id="13" name="TextBox 6"/>
              <p:cNvSpPr txBox="1"/>
              <p:nvPr/>
            </p:nvSpPr>
            <p:spPr>
              <a:xfrm>
                <a:off x="2258" y="2575"/>
                <a:ext cx="32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-d    </a:t>
                </a:r>
              </a:p>
            </p:txBody>
          </p:sp>
          <p:sp>
            <p:nvSpPr>
              <p:cNvPr id="20" name="TextBox 6"/>
              <p:cNvSpPr txBox="1"/>
              <p:nvPr/>
            </p:nvSpPr>
            <p:spPr>
              <a:xfrm>
                <a:off x="1773" y="2575"/>
                <a:ext cx="485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参数：</a:t>
                </a: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1753" y="5297"/>
              <a:ext cx="6054" cy="774"/>
              <a:chOff x="1773" y="2569"/>
              <a:chExt cx="4896" cy="774"/>
            </a:xfrm>
          </p:grpSpPr>
          <p:sp>
            <p:nvSpPr>
              <p:cNvPr id="28" name="TextBox 6"/>
              <p:cNvSpPr txBox="1"/>
              <p:nvPr/>
            </p:nvSpPr>
            <p:spPr>
              <a:xfrm>
                <a:off x="3446" y="2569"/>
                <a:ext cx="3223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root、用户组管理员</a:t>
                </a:r>
              </a:p>
            </p:txBody>
          </p:sp>
          <p:sp>
            <p:nvSpPr>
              <p:cNvPr id="29" name="TextBox 6"/>
              <p:cNvSpPr txBox="1"/>
              <p:nvPr/>
            </p:nvSpPr>
            <p:spPr>
              <a:xfrm>
                <a:off x="1773" y="2575"/>
                <a:ext cx="2211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278130" y="1764665"/>
            <a:ext cx="3703955" cy="669290"/>
            <a:chOff x="526" y="2731"/>
            <a:chExt cx="2948" cy="1054"/>
          </a:xfrm>
        </p:grpSpPr>
        <p:sp>
          <p:nvSpPr>
            <p:cNvPr id="2" name="矩形 1"/>
            <p:cNvSpPr/>
            <p:nvPr/>
          </p:nvSpPr>
          <p:spPr>
            <a:xfrm>
              <a:off x="526" y="2731"/>
              <a:ext cx="2949" cy="794"/>
            </a:xfrm>
            <a:prstGeom prst="rect">
              <a:avLst/>
            </a:prstGeom>
            <a:solidFill>
              <a:srgbClr val="0D9CD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2000" b="1" dirty="0" smtClean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（2）从用户组中移除用户</a:t>
              </a:r>
            </a:p>
          </p:txBody>
        </p:sp>
        <p:sp>
          <p:nvSpPr>
            <p:cNvPr id="3" name="Triangle rectangle 10"/>
            <p:cNvSpPr/>
            <p:nvPr/>
          </p:nvSpPr>
          <p:spPr>
            <a:xfrm rot="16200000" flipH="1">
              <a:off x="509" y="3542"/>
              <a:ext cx="260" cy="227"/>
            </a:xfrm>
            <a:prstGeom prst="rtTriangle">
              <a:avLst/>
            </a:prstGeom>
            <a:gradFill flip="none" rotWithShape="1">
              <a:gsLst>
                <a:gs pos="0">
                  <a:srgbClr val="0B9ACF"/>
                </a:gs>
                <a:gs pos="50000">
                  <a:schemeClr val="tx1">
                    <a:lumMod val="75000"/>
                    <a:lumOff val="25000"/>
                  </a:schemeClr>
                </a:gs>
                <a:gs pos="100000">
                  <a:srgbClr val="00B0F0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612130" y="3117850"/>
            <a:ext cx="5183505" cy="2783205"/>
            <a:chOff x="8838" y="4910"/>
            <a:chExt cx="8163" cy="4383"/>
          </a:xfrm>
        </p:grpSpPr>
        <p:sp>
          <p:nvSpPr>
            <p:cNvPr id="30" name="Text Box 44"/>
            <p:cNvSpPr txBox="1">
              <a:spLocks noChangeArrowheads="1"/>
            </p:cNvSpPr>
            <p:nvPr/>
          </p:nvSpPr>
          <p:spPr bwMode="auto">
            <a:xfrm>
              <a:off x="8838" y="8501"/>
              <a:ext cx="8002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图6-14  【例6-13】命令用法及返回结果</a:t>
              </a:r>
            </a:p>
          </p:txBody>
        </p:sp>
        <p:pic>
          <p:nvPicPr>
            <p:cNvPr id="6" name="图片 -2147482609"/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9319" y="4910"/>
              <a:ext cx="7682" cy="337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pic>
      </p:grpSp>
      <p:grpSp>
        <p:nvGrpSpPr>
          <p:cNvPr id="9" name="组合 8"/>
          <p:cNvGrpSpPr/>
          <p:nvPr/>
        </p:nvGrpSpPr>
        <p:grpSpPr>
          <a:xfrm>
            <a:off x="1052830" y="4004945"/>
            <a:ext cx="4365625" cy="1896110"/>
            <a:chOff x="971600" y="3062290"/>
            <a:chExt cx="3290026" cy="1714233"/>
          </a:xfrm>
        </p:grpSpPr>
        <p:sp>
          <p:nvSpPr>
            <p:cNvPr id="14" name="TextBox 2"/>
            <p:cNvSpPr txBox="1"/>
            <p:nvPr/>
          </p:nvSpPr>
          <p:spPr>
            <a:xfrm>
              <a:off x="971600" y="3293074"/>
              <a:ext cx="3290026" cy="1483449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若要将用户u02从g01用户组中移除，并使用相关命令查询验证，则命令用法及返回结果如图6-14所示。</a:t>
              </a: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1108808" y="3062290"/>
              <a:ext cx="1143007" cy="3996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13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3"/>
          <p:cNvSpPr>
            <a:spLocks noChangeArrowheads="1"/>
          </p:cNvSpPr>
          <p:nvPr/>
        </p:nvSpPr>
        <p:spPr bwMode="gray">
          <a:xfrm>
            <a:off x="540385" y="1722755"/>
            <a:ext cx="11111230" cy="4701540"/>
          </a:xfrm>
          <a:prstGeom prst="roundRect">
            <a:avLst>
              <a:gd name="adj" fmla="val 4639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EAEAEA"/>
            </a:solidFill>
            <a:prstDash val="soli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ker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29665"/>
            <a:ext cx="570103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6.2.4  用户组设置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113155" y="2344420"/>
            <a:ext cx="4504055" cy="1510665"/>
            <a:chOff x="1753" y="3692"/>
            <a:chExt cx="7093" cy="2379"/>
          </a:xfrm>
        </p:grpSpPr>
        <p:grpSp>
          <p:nvGrpSpPr>
            <p:cNvPr id="4" name="组合 3"/>
            <p:cNvGrpSpPr/>
            <p:nvPr/>
          </p:nvGrpSpPr>
          <p:grpSpPr>
            <a:xfrm>
              <a:off x="1762" y="4461"/>
              <a:ext cx="7085" cy="837"/>
              <a:chOff x="1395" y="8054"/>
              <a:chExt cx="6555" cy="837"/>
            </a:xfrm>
          </p:grpSpPr>
          <p:sp>
            <p:nvSpPr>
              <p:cNvPr id="11" name="TextBox 6"/>
              <p:cNvSpPr txBox="1"/>
              <p:nvPr/>
            </p:nvSpPr>
            <p:spPr>
              <a:xfrm>
                <a:off x="1395" y="8099"/>
                <a:ext cx="3159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2536" y="8054"/>
                <a:ext cx="5414" cy="837"/>
                <a:chOff x="2456" y="8154"/>
                <a:chExt cx="5414" cy="837"/>
              </a:xfrm>
            </p:grpSpPr>
            <p:sp>
              <p:nvSpPr>
                <p:cNvPr id="5" name="流程图: 过程 4"/>
                <p:cNvSpPr/>
                <p:nvPr/>
              </p:nvSpPr>
              <p:spPr>
                <a:xfrm>
                  <a:off x="2456" y="8273"/>
                  <a:ext cx="5132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2456" y="8154"/>
                  <a:ext cx="5414" cy="7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gpasswd  -A  用户名 用户组名</a:t>
                  </a:r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1753" y="3692"/>
              <a:ext cx="2361" cy="768"/>
              <a:chOff x="1773" y="2575"/>
              <a:chExt cx="805" cy="768"/>
            </a:xfrm>
          </p:grpSpPr>
          <p:sp>
            <p:nvSpPr>
              <p:cNvPr id="13" name="TextBox 6"/>
              <p:cNvSpPr txBox="1"/>
              <p:nvPr/>
            </p:nvSpPr>
            <p:spPr>
              <a:xfrm>
                <a:off x="2258" y="2575"/>
                <a:ext cx="320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-A    </a:t>
                </a:r>
              </a:p>
            </p:txBody>
          </p:sp>
          <p:sp>
            <p:nvSpPr>
              <p:cNvPr id="20" name="TextBox 6"/>
              <p:cNvSpPr txBox="1"/>
              <p:nvPr/>
            </p:nvSpPr>
            <p:spPr>
              <a:xfrm>
                <a:off x="1773" y="2575"/>
                <a:ext cx="485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参数：</a:t>
                </a: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1753" y="5297"/>
              <a:ext cx="3735" cy="774"/>
              <a:chOff x="1773" y="2569"/>
              <a:chExt cx="4896" cy="774"/>
            </a:xfrm>
          </p:grpSpPr>
          <p:sp>
            <p:nvSpPr>
              <p:cNvPr id="28" name="TextBox 6"/>
              <p:cNvSpPr txBox="1"/>
              <p:nvPr/>
            </p:nvSpPr>
            <p:spPr>
              <a:xfrm>
                <a:off x="4868" y="2569"/>
                <a:ext cx="1801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root</a:t>
                </a:r>
              </a:p>
            </p:txBody>
          </p:sp>
          <p:sp>
            <p:nvSpPr>
              <p:cNvPr id="29" name="TextBox 6"/>
              <p:cNvSpPr txBox="1"/>
              <p:nvPr/>
            </p:nvSpPr>
            <p:spPr>
              <a:xfrm>
                <a:off x="1773" y="2575"/>
                <a:ext cx="3095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278130" y="1764665"/>
            <a:ext cx="3703955" cy="669290"/>
            <a:chOff x="526" y="2731"/>
            <a:chExt cx="2948" cy="1054"/>
          </a:xfrm>
        </p:grpSpPr>
        <p:sp>
          <p:nvSpPr>
            <p:cNvPr id="2" name="矩形 1"/>
            <p:cNvSpPr/>
            <p:nvPr/>
          </p:nvSpPr>
          <p:spPr>
            <a:xfrm>
              <a:off x="526" y="2731"/>
              <a:ext cx="2949" cy="794"/>
            </a:xfrm>
            <a:prstGeom prst="rect">
              <a:avLst/>
            </a:prstGeom>
            <a:solidFill>
              <a:srgbClr val="0D9CD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2000" b="1" dirty="0" smtClean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（3）为用户组设置管理员</a:t>
              </a:r>
            </a:p>
          </p:txBody>
        </p:sp>
        <p:sp>
          <p:nvSpPr>
            <p:cNvPr id="3" name="Triangle rectangle 10"/>
            <p:cNvSpPr/>
            <p:nvPr/>
          </p:nvSpPr>
          <p:spPr>
            <a:xfrm rot="16200000" flipH="1">
              <a:off x="509" y="3542"/>
              <a:ext cx="260" cy="227"/>
            </a:xfrm>
            <a:prstGeom prst="rtTriangle">
              <a:avLst/>
            </a:prstGeom>
            <a:gradFill flip="none" rotWithShape="1">
              <a:gsLst>
                <a:gs pos="0">
                  <a:srgbClr val="0B9ACF"/>
                </a:gs>
                <a:gs pos="50000">
                  <a:schemeClr val="tx1">
                    <a:lumMod val="75000"/>
                    <a:lumOff val="25000"/>
                  </a:schemeClr>
                </a:gs>
                <a:gs pos="100000">
                  <a:srgbClr val="00B0F0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125210" y="1113790"/>
            <a:ext cx="5321935" cy="2867025"/>
            <a:chOff x="13227" y="6981"/>
            <a:chExt cx="5268" cy="2898"/>
          </a:xfrm>
        </p:grpSpPr>
        <p:grpSp>
          <p:nvGrpSpPr>
            <p:cNvPr id="6" name="组合 14"/>
            <p:cNvGrpSpPr/>
            <p:nvPr/>
          </p:nvGrpSpPr>
          <p:grpSpPr bwMode="auto">
            <a:xfrm>
              <a:off x="13357" y="7586"/>
              <a:ext cx="5138" cy="2293"/>
              <a:chOff x="1166778" y="1762785"/>
              <a:chExt cx="9858444" cy="1737653"/>
            </a:xfrm>
          </p:grpSpPr>
          <p:grpSp>
            <p:nvGrpSpPr>
              <p:cNvPr id="50" name="组合 12"/>
              <p:cNvGrpSpPr/>
              <p:nvPr/>
            </p:nvGrpSpPr>
            <p:grpSpPr bwMode="auto">
              <a:xfrm>
                <a:off x="1166778" y="1762785"/>
                <a:ext cx="9858444" cy="1737653"/>
                <a:chOff x="1166778" y="1762785"/>
                <a:chExt cx="9858444" cy="1737653"/>
              </a:xfrm>
            </p:grpSpPr>
            <p:sp>
              <p:nvSpPr>
                <p:cNvPr id="51" name="矩形 50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52" name="矩形 6"/>
                <p:cNvSpPr>
                  <a:spLocks noChangeArrowheads="1"/>
                </p:cNvSpPr>
                <p:nvPr/>
              </p:nvSpPr>
              <p:spPr bwMode="auto">
                <a:xfrm>
                  <a:off x="2455861" y="1762785"/>
                  <a:ext cx="4380122" cy="3502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53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198135" y="2051711"/>
                <a:ext cx="9654405" cy="1437332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eaLnBrk="1" latinLnBrk="0" hangingPunct="1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将指定的用户设置为指定用户组的管理员后，此管理员便具有类似root用户的管理权限，比如可以添加或移除用户，但这些管理权限只能在指定的用户组中进行管理，而对其他的用户组无权进行管理。</a:t>
                </a:r>
              </a:p>
            </p:txBody>
          </p:sp>
        </p:grpSp>
        <p:pic>
          <p:nvPicPr>
            <p:cNvPr id="54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227" y="6981"/>
              <a:ext cx="1063" cy="1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7" name="组合 16"/>
          <p:cNvGrpSpPr/>
          <p:nvPr/>
        </p:nvGrpSpPr>
        <p:grpSpPr>
          <a:xfrm>
            <a:off x="2528570" y="5465445"/>
            <a:ext cx="6675120" cy="662940"/>
            <a:chOff x="2556" y="8200"/>
            <a:chExt cx="10512" cy="1044"/>
          </a:xfrm>
        </p:grpSpPr>
        <p:sp>
          <p:nvSpPr>
            <p:cNvPr id="14" name="流程图: 过程 13"/>
            <p:cNvSpPr/>
            <p:nvPr/>
          </p:nvSpPr>
          <p:spPr>
            <a:xfrm>
              <a:off x="2556" y="8200"/>
              <a:ext cx="10512" cy="1045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0000" tIns="46800" rIns="90000" bIns="46800" numCol="1" anchor="ctr" anchorCtr="0" compatLnSpc="1"/>
            <a:lstStyle/>
            <a:p>
              <a:pPr indent="457200" algn="l">
                <a:lnSpc>
                  <a:spcPct val="150000"/>
                </a:lnSpc>
                <a:buFont typeface="Arial" panose="020B0604020202020204" pitchFamily="34" charset="0"/>
                <a:buNone/>
              </a:pPr>
              <a:endPara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anose="020B0604020202020204" pitchFamily="34" charset="-122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endPara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8"/>
                <a:sym typeface="Arial Unicode MS" panose="020B0604020202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556" y="8270"/>
              <a:ext cx="9931" cy="8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indent="457200" algn="l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[root@localhost  ~]#gpasswd –A u02 g01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159510" y="4172586"/>
            <a:ext cx="10113328" cy="989317"/>
            <a:chOff x="971600" y="3062290"/>
            <a:chExt cx="7300772" cy="894420"/>
          </a:xfrm>
        </p:grpSpPr>
        <p:sp>
          <p:nvSpPr>
            <p:cNvPr id="21" name="TextBox 2"/>
            <p:cNvSpPr txBox="1"/>
            <p:nvPr/>
          </p:nvSpPr>
          <p:spPr>
            <a:xfrm>
              <a:off x="971600" y="3293074"/>
              <a:ext cx="7300772" cy="663636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若要将用户u02设置为g01用户组的管理员，则命令使用方法为：</a:t>
              </a:r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1108808" y="3062290"/>
              <a:ext cx="1143007" cy="3996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14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3"/>
          <p:cNvSpPr/>
          <p:nvPr/>
        </p:nvSpPr>
        <p:spPr>
          <a:xfrm>
            <a:off x="1992313" y="1919288"/>
            <a:ext cx="8207375" cy="4368800"/>
          </a:xfrm>
          <a:prstGeom prst="roundRect">
            <a:avLst>
              <a:gd name="adj" fmla="val 2773"/>
            </a:avLst>
          </a:prstGeom>
          <a:noFill/>
          <a:ln w="317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indent="0" algn="ctr"/>
            <a:endParaRPr lang="zh-CN" altLang="en-US" dirty="0"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6148" name="AutoShape 4"/>
          <p:cNvSpPr/>
          <p:nvPr/>
        </p:nvSpPr>
        <p:spPr>
          <a:xfrm>
            <a:off x="2473325" y="1606550"/>
            <a:ext cx="7231063" cy="628650"/>
          </a:xfrm>
          <a:prstGeom prst="roundRect">
            <a:avLst>
              <a:gd name="adj" fmla="val 15657"/>
            </a:avLst>
          </a:prstGeom>
          <a:solidFill>
            <a:schemeClr val="bg1"/>
          </a:solidFill>
          <a:ln w="3175" cap="flat" cmpd="sng">
            <a:solidFill>
              <a:srgbClr val="333333">
                <a:alpha val="56862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indent="0" algn="ctr">
              <a:spcBef>
                <a:spcPct val="50000"/>
              </a:spcBef>
            </a:pPr>
            <a:r>
              <a:rPr lang="zh-CN" altLang="en-US" sz="32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本章要点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2665095" y="4958715"/>
            <a:ext cx="6736080" cy="657225"/>
            <a:chOff x="3" y="0"/>
            <a:chExt cx="4243" cy="333"/>
          </a:xfrm>
        </p:grpSpPr>
        <p:grpSp>
          <p:nvGrpSpPr>
            <p:cNvPr id="4" name="Group 6"/>
            <p:cNvGrpSpPr/>
            <p:nvPr/>
          </p:nvGrpSpPr>
          <p:grpSpPr>
            <a:xfrm>
              <a:off x="3" y="0"/>
              <a:ext cx="4243" cy="333"/>
              <a:chOff x="0" y="0"/>
              <a:chExt cx="4243" cy="333"/>
            </a:xfrm>
          </p:grpSpPr>
          <p:sp>
            <p:nvSpPr>
              <p:cNvPr id="20487" name="AutoShape 7"/>
              <p:cNvSpPr/>
              <p:nvPr/>
            </p:nvSpPr>
            <p:spPr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solidFill>
                <a:srgbClr val="00B0F0"/>
              </a:solidFill>
              <a:ln w="3175" cap="flat" cmpd="sng">
                <a:solidFill>
                  <a:srgbClr val="969696">
                    <a:alpha val="56862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20488" name="AutoShape 8"/>
              <p:cNvSpPr/>
              <p:nvPr/>
            </p:nvSpPr>
            <p:spPr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7999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rot="10800000" wrap="none" anchor="ctr"/>
              <a:lstStyle/>
              <a:p>
                <a:pPr lvl="0" indent="0" algn="ctr"/>
                <a:endParaRPr lang="zh-CN" altLang="en-US" dirty="0"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0489" name="Text Box 9"/>
            <p:cNvSpPr txBox="1"/>
            <p:nvPr/>
          </p:nvSpPr>
          <p:spPr>
            <a:xfrm>
              <a:off x="727" y="44"/>
              <a:ext cx="2860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lstStyle/>
            <a:p>
              <a:pPr lvl="0" indent="0" algn="l">
                <a:spcBef>
                  <a:spcPct val="50000"/>
                </a:spcBef>
              </a:pPr>
              <a:r>
                <a:rPr lang="zh-CN" altLang="en-US" sz="2400" b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6.3  查看用户和用户组状态</a:t>
              </a:r>
              <a:endPara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5" name="Group 10"/>
          <p:cNvGrpSpPr/>
          <p:nvPr/>
        </p:nvGrpSpPr>
        <p:grpSpPr>
          <a:xfrm>
            <a:off x="2665095" y="2471420"/>
            <a:ext cx="6736080" cy="605790"/>
            <a:chOff x="3" y="0"/>
            <a:chExt cx="4243" cy="333"/>
          </a:xfrm>
          <a:solidFill>
            <a:schemeClr val="bg2"/>
          </a:solidFill>
        </p:grpSpPr>
        <p:grpSp>
          <p:nvGrpSpPr>
            <p:cNvPr id="6" name="Group 11"/>
            <p:cNvGrpSpPr/>
            <p:nvPr/>
          </p:nvGrpSpPr>
          <p:grpSpPr>
            <a:xfrm>
              <a:off x="3" y="0"/>
              <a:ext cx="4243" cy="333"/>
              <a:chOff x="0" y="0"/>
              <a:chExt cx="4243" cy="333"/>
            </a:xfrm>
            <a:grpFill/>
          </p:grpSpPr>
          <p:sp>
            <p:nvSpPr>
              <p:cNvPr id="20492" name="AutoShape 12"/>
              <p:cNvSpPr/>
              <p:nvPr/>
            </p:nvSpPr>
            <p:spPr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grpFill/>
              <a:ln w="3175" cap="flat" cmpd="sng">
                <a:solidFill>
                  <a:srgbClr val="969696">
                    <a:alpha val="56862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20493" name="AutoShape 13"/>
              <p:cNvSpPr/>
              <p:nvPr/>
            </p:nvSpPr>
            <p:spPr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pFill/>
              <a:ln w="9525">
                <a:noFill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0494" name="Text Box 14"/>
            <p:cNvSpPr txBox="1"/>
            <p:nvPr/>
          </p:nvSpPr>
          <p:spPr>
            <a:xfrm>
              <a:off x="721" y="20"/>
              <a:ext cx="3016" cy="289"/>
            </a:xfrm>
            <a:prstGeom prst="rect">
              <a:avLst/>
            </a:prstGeom>
            <a:grpFill/>
            <a:ln w="9525">
              <a:noFill/>
            </a:ln>
          </p:spPr>
          <p:txBody>
            <a:bodyPr anchor="ctr"/>
            <a:lstStyle/>
            <a:p>
              <a:pPr lvl="0" indent="0" algn="l">
                <a:spcBef>
                  <a:spcPct val="50000"/>
                </a:spcBef>
              </a:pPr>
              <a:r>
                <a:rPr lang="zh-CN" altLang="en-US" sz="24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6.1  Linux系统用户账号的管理</a:t>
              </a:r>
            </a:p>
          </p:txBody>
        </p:sp>
      </p:grpSp>
      <p:grpSp>
        <p:nvGrpSpPr>
          <p:cNvPr id="7" name="Group 15"/>
          <p:cNvGrpSpPr/>
          <p:nvPr/>
        </p:nvGrpSpPr>
        <p:grpSpPr>
          <a:xfrm>
            <a:off x="2614295" y="3715385"/>
            <a:ext cx="6736080" cy="605155"/>
            <a:chOff x="3" y="0"/>
            <a:chExt cx="4243" cy="333"/>
          </a:xfrm>
          <a:solidFill>
            <a:schemeClr val="bg2"/>
          </a:solidFill>
        </p:grpSpPr>
        <p:grpSp>
          <p:nvGrpSpPr>
            <p:cNvPr id="8" name="Group 16"/>
            <p:cNvGrpSpPr/>
            <p:nvPr/>
          </p:nvGrpSpPr>
          <p:grpSpPr>
            <a:xfrm>
              <a:off x="3" y="0"/>
              <a:ext cx="4243" cy="333"/>
              <a:chOff x="0" y="0"/>
              <a:chExt cx="4243" cy="333"/>
            </a:xfrm>
            <a:grpFill/>
          </p:grpSpPr>
          <p:sp>
            <p:nvSpPr>
              <p:cNvPr id="20497" name="AutoShape 17"/>
              <p:cNvSpPr/>
              <p:nvPr/>
            </p:nvSpPr>
            <p:spPr>
              <a:xfrm>
                <a:off x="0" y="0"/>
                <a:ext cx="4243" cy="333"/>
              </a:xfrm>
              <a:prstGeom prst="roundRect">
                <a:avLst>
                  <a:gd name="adj" fmla="val 15657"/>
                </a:avLst>
              </a:prstGeom>
              <a:grpFill/>
              <a:ln w="3175" cap="flat" cmpd="sng">
                <a:solidFill>
                  <a:srgbClr val="969696">
                    <a:alpha val="56862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20498" name="AutoShape 18"/>
              <p:cNvSpPr/>
              <p:nvPr/>
            </p:nvSpPr>
            <p:spPr>
              <a:xfrm flipV="1">
                <a:off x="27" y="12"/>
                <a:ext cx="4184" cy="190"/>
              </a:xfrm>
              <a:prstGeom prst="roundRect">
                <a:avLst>
                  <a:gd name="adj" fmla="val 14324"/>
                </a:avLst>
              </a:prstGeom>
              <a:grpFill/>
              <a:ln w="9525">
                <a:noFill/>
              </a:ln>
            </p:spPr>
            <p:txBody>
              <a:bodyPr wrap="none" anchor="ctr"/>
              <a:lstStyle/>
              <a:p>
                <a:pPr lvl="0" indent="0" algn="ctr"/>
                <a:endParaRPr lang="zh-CN" alt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0499" name="Text Box 19"/>
            <p:cNvSpPr txBox="1"/>
            <p:nvPr/>
          </p:nvSpPr>
          <p:spPr>
            <a:xfrm>
              <a:off x="716" y="22"/>
              <a:ext cx="2801" cy="289"/>
            </a:xfrm>
            <a:prstGeom prst="rect">
              <a:avLst/>
            </a:prstGeom>
            <a:grpFill/>
            <a:ln w="9525">
              <a:noFill/>
            </a:ln>
          </p:spPr>
          <p:txBody>
            <a:bodyPr anchor="ctr"/>
            <a:lstStyle/>
            <a:p>
              <a:pPr lvl="0" indent="0" algn="l">
                <a:spcBef>
                  <a:spcPct val="50000"/>
                </a:spcBef>
              </a:pPr>
              <a:r>
                <a:rPr lang="zh-CN" altLang="en-US" sz="2400" b="1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6.2  Linux系统用户组的管理</a:t>
              </a:r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4260215" y="309245"/>
            <a:ext cx="2047875" cy="7156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目录</a:t>
            </a:r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  <p:bldLst>
      <p:bldP spid="6148" grpId="0" bldLvl="0"/>
      <p:bldP spid="6148" grpId="1" bldLvl="0"/>
      <p:bldP spid="6148" grpId="2" bldLvl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直接连接符 47"/>
          <p:cNvCxnSpPr/>
          <p:nvPr/>
        </p:nvCxnSpPr>
        <p:spPr>
          <a:xfrm flipV="1">
            <a:off x="6089015" y="3908795"/>
            <a:ext cx="5638800" cy="1270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6.3.1  查看用户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62675" y="4038968"/>
            <a:ext cx="5749925" cy="2246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-g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显示用户所属群组的ID。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-G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显示用户所属附加群组的ID。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-n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显示用户，所属群组或附加群组的名称。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-r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显示实际ID。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-u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显示用户ID。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596265" y="1785620"/>
            <a:ext cx="5492750" cy="4572318"/>
            <a:chOff x="596265" y="1785620"/>
            <a:chExt cx="5492750" cy="4572318"/>
          </a:xfrm>
        </p:grpSpPr>
        <p:sp>
          <p:nvSpPr>
            <p:cNvPr id="43" name="矩形 42"/>
            <p:cNvSpPr/>
            <p:nvPr/>
          </p:nvSpPr>
          <p:spPr>
            <a:xfrm>
              <a:off x="605155" y="1785620"/>
              <a:ext cx="5438775" cy="4572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596265" y="1858649"/>
              <a:ext cx="1454150" cy="1445260"/>
              <a:chOff x="939" y="2747"/>
              <a:chExt cx="2290" cy="2276"/>
            </a:xfrm>
          </p:grpSpPr>
          <p:pic>
            <p:nvPicPr>
              <p:cNvPr id="52" name="图片 5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9" y="2747"/>
                <a:ext cx="2290" cy="2277"/>
              </a:xfrm>
              <a:prstGeom prst="rect">
                <a:avLst/>
              </a:prstGeom>
            </p:spPr>
          </p:pic>
          <p:sp>
            <p:nvSpPr>
              <p:cNvPr id="47" name="TextBox 6"/>
              <p:cNvSpPr txBox="1"/>
              <p:nvPr/>
            </p:nvSpPr>
            <p:spPr>
              <a:xfrm rot="18836568">
                <a:off x="933" y="3214"/>
                <a:ext cx="1683" cy="7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id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命令</a:t>
                </a: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167130" y="2932786"/>
              <a:ext cx="4921885" cy="2196465"/>
              <a:chOff x="1838" y="2886"/>
              <a:chExt cx="7751" cy="3459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1860" y="4797"/>
                <a:ext cx="5679" cy="837"/>
                <a:chOff x="1395" y="8054"/>
                <a:chExt cx="6585" cy="837"/>
              </a:xfrm>
            </p:grpSpPr>
            <p:sp>
              <p:nvSpPr>
                <p:cNvPr id="8" name="TextBox 6"/>
                <p:cNvSpPr txBox="1"/>
                <p:nvPr/>
              </p:nvSpPr>
              <p:spPr>
                <a:xfrm>
                  <a:off x="1395" y="8099"/>
                  <a:ext cx="3159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2000" b="1">
                      <a:solidFill>
                        <a:srgbClr val="5F5E5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rgbClr val="0070C0"/>
                      </a:solidFill>
                      <a:sym typeface="+mn-ea"/>
                    </a:rPr>
                    <a:t>用法：</a:t>
                  </a:r>
                  <a:endPara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ea"/>
                  </a:endParaRPr>
                </a:p>
              </p:txBody>
            </p:sp>
            <p:grpSp>
              <p:nvGrpSpPr>
                <p:cNvPr id="15" name="组合 14"/>
                <p:cNvGrpSpPr/>
                <p:nvPr/>
              </p:nvGrpSpPr>
              <p:grpSpPr>
                <a:xfrm>
                  <a:off x="2848" y="8054"/>
                  <a:ext cx="5132" cy="837"/>
                  <a:chOff x="2768" y="8154"/>
                  <a:chExt cx="5132" cy="837"/>
                </a:xfrm>
              </p:grpSpPr>
              <p:sp>
                <p:nvSpPr>
                  <p:cNvPr id="9" name="流程图: 过程 8"/>
                  <p:cNvSpPr/>
                  <p:nvPr/>
                </p:nvSpPr>
                <p:spPr>
                  <a:xfrm>
                    <a:off x="2768" y="8273"/>
                    <a:ext cx="5132" cy="718"/>
                  </a:xfrm>
                  <a:prstGeom prst="flowChartProcess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9525" cap="flat" cmpd="sng" algn="ctr">
                    <a:solidFill>
                      <a:schemeClr val="bg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none" lIns="90000" tIns="46800" rIns="90000" bIns="46800" numCol="1" anchor="ctr" anchorCtr="0" compatLnSpc="1"/>
                  <a:lstStyle/>
                  <a:p>
                    <a:pPr indent="0" algn="l" eaLnBrk="1" fontAlgn="auto" latinLnBrk="0" hangingPunct="1">
                      <a:lnSpc>
                        <a:spcPct val="150000"/>
                      </a:lnSpc>
                      <a:buFont typeface="Arial" panose="020B0604020202020204" pitchFamily="34" charset="0"/>
                      <a:buNone/>
                      <a:defRPr/>
                    </a:pPr>
                    <a:endParaRPr lang="zh-CN" altLang="en-US" sz="18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endParaRPr>
                  </a:p>
                </p:txBody>
              </p:sp>
              <p:sp>
                <p:nvSpPr>
                  <p:cNvPr id="14" name="文本框 13"/>
                  <p:cNvSpPr txBox="1"/>
                  <p:nvPr/>
                </p:nvSpPr>
                <p:spPr>
                  <a:xfrm>
                    <a:off x="2794" y="8154"/>
                    <a:ext cx="4901" cy="79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indent="0" algn="l" eaLnBrk="1" fontAlgn="auto" latinLnBrk="0" hangingPunct="1">
                      <a:lnSpc>
                        <a:spcPct val="150000"/>
                      </a:lnSpc>
                      <a:buFont typeface="Arial" panose="020B0604020202020204" pitchFamily="34" charset="0"/>
                      <a:buNone/>
                      <a:defRPr/>
                    </a:pPr>
                    <a:r>
                      <a:rPr lang="zh-CN" altLang="en-US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rPr>
                      <a:t>id [参数选项] [用户名称]</a:t>
                    </a:r>
                  </a:p>
                </p:txBody>
              </p:sp>
            </p:grpSp>
          </p:grpSp>
          <p:grpSp>
            <p:nvGrpSpPr>
              <p:cNvPr id="16" name="组合 15"/>
              <p:cNvGrpSpPr/>
              <p:nvPr/>
            </p:nvGrpSpPr>
            <p:grpSpPr>
              <a:xfrm>
                <a:off x="3024" y="2886"/>
                <a:ext cx="4203" cy="768"/>
                <a:chOff x="1435" y="2677"/>
                <a:chExt cx="3817" cy="768"/>
              </a:xfrm>
            </p:grpSpPr>
            <p:sp>
              <p:nvSpPr>
                <p:cNvPr id="24" name="TextBox 6"/>
                <p:cNvSpPr txBox="1"/>
                <p:nvPr/>
              </p:nvSpPr>
              <p:spPr>
                <a:xfrm>
                  <a:off x="2892" y="2677"/>
                  <a:ext cx="2360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US" altLang="zh-CN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id</a:t>
                  </a:r>
                </a:p>
              </p:txBody>
            </p:sp>
            <p:sp>
              <p:nvSpPr>
                <p:cNvPr id="25" name="TextBox 6"/>
                <p:cNvSpPr txBox="1"/>
                <p:nvPr/>
              </p:nvSpPr>
              <p:spPr>
                <a:xfrm>
                  <a:off x="1435" y="2677"/>
                  <a:ext cx="1457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2000" b="1">
                      <a:solidFill>
                        <a:srgbClr val="5F5E5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rgbClr val="0070C0"/>
                      </a:solidFill>
                      <a:sym typeface="+mn-ea"/>
                    </a:rPr>
                    <a:t>命令：</a:t>
                  </a:r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1899" y="3545"/>
                <a:ext cx="7691" cy="1266"/>
                <a:chOff x="1144" y="6923"/>
                <a:chExt cx="7306" cy="1266"/>
              </a:xfrm>
            </p:grpSpPr>
            <p:sp>
              <p:nvSpPr>
                <p:cNvPr id="19" name="TextBox 6"/>
                <p:cNvSpPr txBox="1"/>
                <p:nvPr/>
              </p:nvSpPr>
              <p:spPr>
                <a:xfrm>
                  <a:off x="2476" y="6923"/>
                  <a:ext cx="5974" cy="12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zh-CN" altLang="en-US" sz="18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查看显示当前登录账户的uid和gid及所属分组及用户名</a:t>
                  </a:r>
                </a:p>
              </p:txBody>
            </p:sp>
            <p:sp>
              <p:nvSpPr>
                <p:cNvPr id="20" name="TextBox 6"/>
                <p:cNvSpPr txBox="1"/>
                <p:nvPr/>
              </p:nvSpPr>
              <p:spPr>
                <a:xfrm>
                  <a:off x="1144" y="7143"/>
                  <a:ext cx="1805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2000" b="1">
                      <a:solidFill>
                        <a:srgbClr val="5F5E5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rgbClr val="0070C0"/>
                      </a:solidFill>
                      <a:sym typeface="+mn-ea"/>
                    </a:rPr>
                    <a:t>功能：</a:t>
                  </a:r>
                  <a:endPara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ea"/>
                  </a:endParaRPr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>
                <a:off x="1838" y="5571"/>
                <a:ext cx="4501" cy="774"/>
                <a:chOff x="1773" y="2569"/>
                <a:chExt cx="5900" cy="774"/>
              </a:xfrm>
            </p:grpSpPr>
            <p:sp>
              <p:nvSpPr>
                <p:cNvPr id="28" name="TextBox 6"/>
                <p:cNvSpPr txBox="1"/>
                <p:nvPr/>
              </p:nvSpPr>
              <p:spPr>
                <a:xfrm>
                  <a:off x="4868" y="2569"/>
                  <a:ext cx="2805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所有用户</a:t>
                  </a:r>
                </a:p>
              </p:txBody>
            </p:sp>
            <p:sp>
              <p:nvSpPr>
                <p:cNvPr id="29" name="TextBox 6"/>
                <p:cNvSpPr txBox="1"/>
                <p:nvPr/>
              </p:nvSpPr>
              <p:spPr>
                <a:xfrm>
                  <a:off x="1773" y="2575"/>
                  <a:ext cx="3095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2000" b="1">
                      <a:solidFill>
                        <a:srgbClr val="5F5E5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rgbClr val="0070C0"/>
                      </a:solidFill>
                      <a:sym typeface="+mn-ea"/>
                    </a:rPr>
                    <a:t>使用权限：</a:t>
                  </a:r>
                </a:p>
              </p:txBody>
            </p:sp>
          </p:grpSp>
        </p:grpSp>
      </p:grpSp>
      <p:grpSp>
        <p:nvGrpSpPr>
          <p:cNvPr id="26" name="组合 25"/>
          <p:cNvGrpSpPr/>
          <p:nvPr/>
        </p:nvGrpSpPr>
        <p:grpSpPr>
          <a:xfrm>
            <a:off x="7444099" y="1351911"/>
            <a:ext cx="4262120" cy="2077085"/>
            <a:chOff x="13357" y="7209"/>
            <a:chExt cx="5138" cy="2670"/>
          </a:xfrm>
        </p:grpSpPr>
        <p:grpSp>
          <p:nvGrpSpPr>
            <p:cNvPr id="32" name="组合 14"/>
            <p:cNvGrpSpPr/>
            <p:nvPr/>
          </p:nvGrpSpPr>
          <p:grpSpPr bwMode="auto">
            <a:xfrm>
              <a:off x="13357" y="7372"/>
              <a:ext cx="5138" cy="2507"/>
              <a:chOff x="1166778" y="1601023"/>
              <a:chExt cx="9858444" cy="1899445"/>
            </a:xfrm>
          </p:grpSpPr>
          <p:grpSp>
            <p:nvGrpSpPr>
              <p:cNvPr id="33" name="组合 12"/>
              <p:cNvGrpSpPr/>
              <p:nvPr/>
            </p:nvGrpSpPr>
            <p:grpSpPr bwMode="auto">
              <a:xfrm>
                <a:off x="1166778" y="1601023"/>
                <a:ext cx="9858444" cy="1899415"/>
                <a:chOff x="1166778" y="1601023"/>
                <a:chExt cx="9858444" cy="1899415"/>
              </a:xfrm>
            </p:grpSpPr>
            <p:sp>
              <p:nvSpPr>
                <p:cNvPr id="34" name="矩形 33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35" name="矩形 6"/>
                <p:cNvSpPr>
                  <a:spLocks noChangeArrowheads="1"/>
                </p:cNvSpPr>
                <p:nvPr/>
              </p:nvSpPr>
              <p:spPr bwMode="auto">
                <a:xfrm>
                  <a:off x="2730367" y="1601023"/>
                  <a:ext cx="4380122" cy="445282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53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338318" y="2006466"/>
                <a:ext cx="9450547" cy="1494002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eaLnBrk="1" latinLnBrk="0" hangingPunct="1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id命令会显示用户以及所属群组的实际与有效ID。若两个ID相同，则仅显示实际ID。若仅指定用户名称，则显示目前用户的ID。</a:t>
                </a:r>
              </a:p>
            </p:txBody>
          </p:sp>
        </p:grpSp>
        <p:pic>
          <p:nvPicPr>
            <p:cNvPr id="54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443" y="7209"/>
              <a:ext cx="896" cy="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1" name="组合 70"/>
          <p:cNvGrpSpPr/>
          <p:nvPr/>
        </p:nvGrpSpPr>
        <p:grpSpPr>
          <a:xfrm>
            <a:off x="6162675" y="3295385"/>
            <a:ext cx="1093470" cy="563245"/>
            <a:chOff x="5535558" y="1311371"/>
            <a:chExt cx="2317027" cy="853106"/>
          </a:xfrm>
        </p:grpSpPr>
        <p:sp>
          <p:nvSpPr>
            <p:cNvPr id="72" name="TextBox 71"/>
            <p:cNvSpPr txBox="1"/>
            <p:nvPr/>
          </p:nvSpPr>
          <p:spPr>
            <a:xfrm>
              <a:off x="5620337" y="1311371"/>
              <a:ext cx="2232248" cy="841378"/>
            </a:xfrm>
            <a:prstGeom prst="roundRect">
              <a:avLst>
                <a:gd name="adj" fmla="val 8176"/>
              </a:avLst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参数：</a:t>
              </a:r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5626508" y="1743788"/>
              <a:ext cx="0" cy="420689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流程图: 联系 73"/>
            <p:cNvSpPr/>
            <p:nvPr/>
          </p:nvSpPr>
          <p:spPr>
            <a:xfrm>
              <a:off x="5535558" y="1724471"/>
              <a:ext cx="169589" cy="169589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5" name="直接连接符 74"/>
            <p:cNvCxnSpPr/>
            <p:nvPr/>
          </p:nvCxnSpPr>
          <p:spPr>
            <a:xfrm>
              <a:off x="5632781" y="2148655"/>
              <a:ext cx="321323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6.3.1  查看用户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82009" y="1744345"/>
            <a:ext cx="5491480" cy="2322195"/>
            <a:chOff x="939" y="2747"/>
            <a:chExt cx="8648" cy="3657"/>
          </a:xfrm>
        </p:grpSpPr>
        <p:sp>
          <p:nvSpPr>
            <p:cNvPr id="43" name="矩形 42"/>
            <p:cNvSpPr/>
            <p:nvPr/>
          </p:nvSpPr>
          <p:spPr>
            <a:xfrm>
              <a:off x="953" y="2812"/>
              <a:ext cx="8565" cy="35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939" y="2747"/>
              <a:ext cx="8649" cy="3597"/>
              <a:chOff x="939" y="2747"/>
              <a:chExt cx="8649" cy="3597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939" y="2747"/>
                <a:ext cx="2290" cy="2276"/>
                <a:chOff x="939" y="2747"/>
                <a:chExt cx="2290" cy="2276"/>
              </a:xfrm>
            </p:grpSpPr>
            <p:pic>
              <p:nvPicPr>
                <p:cNvPr id="52" name="图片 51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39" y="2747"/>
                  <a:ext cx="2290" cy="2277"/>
                </a:xfrm>
                <a:prstGeom prst="rect">
                  <a:avLst/>
                </a:prstGeom>
              </p:spPr>
            </p:pic>
            <p:sp>
              <p:nvSpPr>
                <p:cNvPr id="47" name="TextBox 6"/>
                <p:cNvSpPr txBox="1"/>
                <p:nvPr/>
              </p:nvSpPr>
              <p:spPr>
                <a:xfrm rot="18836568">
                  <a:off x="933" y="3214"/>
                  <a:ext cx="1683" cy="7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2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id</a:t>
                  </a:r>
                  <a:r>
                    <a:rPr lang="zh-CN" altLang="en-US" sz="2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命令</a:t>
                  </a: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838" y="2886"/>
                <a:ext cx="7751" cy="3459"/>
                <a:chOff x="1838" y="2886"/>
                <a:chExt cx="7751" cy="3459"/>
              </a:xfrm>
            </p:grpSpPr>
            <p:grpSp>
              <p:nvGrpSpPr>
                <p:cNvPr id="7" name="组合 6"/>
                <p:cNvGrpSpPr/>
                <p:nvPr/>
              </p:nvGrpSpPr>
              <p:grpSpPr>
                <a:xfrm>
                  <a:off x="1860" y="4797"/>
                  <a:ext cx="5679" cy="837"/>
                  <a:chOff x="1395" y="8054"/>
                  <a:chExt cx="6585" cy="837"/>
                </a:xfrm>
              </p:grpSpPr>
              <p:sp>
                <p:nvSpPr>
                  <p:cNvPr id="8" name="TextBox 6"/>
                  <p:cNvSpPr txBox="1"/>
                  <p:nvPr/>
                </p:nvSpPr>
                <p:spPr>
                  <a:xfrm>
                    <a:off x="1395" y="8099"/>
                    <a:ext cx="3159" cy="7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30000"/>
                      </a:lnSpc>
                      <a:defRPr sz="2000" b="1">
                        <a:solidFill>
                          <a:srgbClr val="5F5E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defRPr>
                    </a:lvl1pPr>
                  </a:lstStyle>
                  <a:p>
                    <a:r>
                      <a:rPr lang="zh-CN" altLang="en-US" dirty="0">
                        <a:solidFill>
                          <a:srgbClr val="0070C0"/>
                        </a:solidFill>
                        <a:sym typeface="+mn-ea"/>
                      </a:rPr>
                      <a:t>用法：</a:t>
                    </a:r>
                    <a:endParaRPr lang="zh-CN" altLang="en-US" sz="2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sym typeface="+mn-ea"/>
                    </a:endParaRPr>
                  </a:p>
                </p:txBody>
              </p:sp>
              <p:grpSp>
                <p:nvGrpSpPr>
                  <p:cNvPr id="15" name="组合 14"/>
                  <p:cNvGrpSpPr/>
                  <p:nvPr/>
                </p:nvGrpSpPr>
                <p:grpSpPr>
                  <a:xfrm>
                    <a:off x="2848" y="8054"/>
                    <a:ext cx="5132" cy="837"/>
                    <a:chOff x="2768" y="8154"/>
                    <a:chExt cx="5132" cy="837"/>
                  </a:xfrm>
                </p:grpSpPr>
                <p:sp>
                  <p:nvSpPr>
                    <p:cNvPr id="9" name="流程图: 过程 8"/>
                    <p:cNvSpPr/>
                    <p:nvPr/>
                  </p:nvSpPr>
                  <p:spPr>
                    <a:xfrm>
                      <a:off x="2768" y="8273"/>
                      <a:ext cx="5132" cy="718"/>
                    </a:xfrm>
                    <a:prstGeom prst="flowChartProcess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none" lIns="90000" tIns="46800" rIns="90000" bIns="46800" numCol="1" anchor="ctr" anchorCtr="0" compatLnSpc="1"/>
                    <a:lstStyle/>
                    <a:p>
                      <a:pPr indent="0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endParaRPr lang="zh-CN" altLang="en-US" sz="18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p:txBody>
                </p:sp>
                <p:sp>
                  <p:nvSpPr>
                    <p:cNvPr id="14" name="文本框 13"/>
                    <p:cNvSpPr txBox="1"/>
                    <p:nvPr/>
                  </p:nvSpPr>
                  <p:spPr>
                    <a:xfrm>
                      <a:off x="2794" y="8154"/>
                      <a:ext cx="4901" cy="79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indent="0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zh-CN" altLang="en-US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id [参数选项] [用户名称]</a:t>
                      </a:r>
                    </a:p>
                  </p:txBody>
                </p:sp>
              </p:grpSp>
            </p:grpSp>
            <p:grpSp>
              <p:nvGrpSpPr>
                <p:cNvPr id="16" name="组合 15"/>
                <p:cNvGrpSpPr/>
                <p:nvPr/>
              </p:nvGrpSpPr>
              <p:grpSpPr>
                <a:xfrm>
                  <a:off x="3024" y="2886"/>
                  <a:ext cx="4203" cy="768"/>
                  <a:chOff x="1435" y="2677"/>
                  <a:chExt cx="3817" cy="768"/>
                </a:xfrm>
              </p:grpSpPr>
              <p:sp>
                <p:nvSpPr>
                  <p:cNvPr id="24" name="TextBox 6"/>
                  <p:cNvSpPr txBox="1"/>
                  <p:nvPr/>
                </p:nvSpPr>
                <p:spPr>
                  <a:xfrm>
                    <a:off x="2892" y="2677"/>
                    <a:ext cx="2360" cy="7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30000"/>
                      </a:lnSpc>
                    </a:pPr>
                    <a:r>
                      <a:rPr lang="en-US" altLang="zh-CN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id</a:t>
                    </a:r>
                  </a:p>
                </p:txBody>
              </p:sp>
              <p:sp>
                <p:nvSpPr>
                  <p:cNvPr id="25" name="TextBox 6"/>
                  <p:cNvSpPr txBox="1"/>
                  <p:nvPr/>
                </p:nvSpPr>
                <p:spPr>
                  <a:xfrm>
                    <a:off x="1435" y="2677"/>
                    <a:ext cx="1457" cy="7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30000"/>
                      </a:lnSpc>
                      <a:defRPr sz="2000" b="1">
                        <a:solidFill>
                          <a:srgbClr val="5F5E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defRPr>
                    </a:lvl1pPr>
                  </a:lstStyle>
                  <a:p>
                    <a:r>
                      <a:rPr lang="zh-CN" altLang="en-US" dirty="0">
                        <a:solidFill>
                          <a:srgbClr val="0070C0"/>
                        </a:solidFill>
                        <a:sym typeface="+mn-ea"/>
                      </a:rPr>
                      <a:t>命令：</a:t>
                    </a:r>
                  </a:p>
                </p:txBody>
              </p:sp>
            </p:grpSp>
            <p:grpSp>
              <p:nvGrpSpPr>
                <p:cNvPr id="18" name="组合 17"/>
                <p:cNvGrpSpPr/>
                <p:nvPr/>
              </p:nvGrpSpPr>
              <p:grpSpPr>
                <a:xfrm>
                  <a:off x="1899" y="3545"/>
                  <a:ext cx="7691" cy="1266"/>
                  <a:chOff x="1144" y="6923"/>
                  <a:chExt cx="7306" cy="1266"/>
                </a:xfrm>
              </p:grpSpPr>
              <p:sp>
                <p:nvSpPr>
                  <p:cNvPr id="19" name="TextBox 6"/>
                  <p:cNvSpPr txBox="1"/>
                  <p:nvPr/>
                </p:nvSpPr>
                <p:spPr>
                  <a:xfrm>
                    <a:off x="2476" y="6923"/>
                    <a:ext cx="5974" cy="1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30000"/>
                      </a:lnSpc>
                    </a:pPr>
                    <a:r>
                      <a:rPr lang="zh-CN" altLang="en-US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查看显示当前登录账户的uid和gid及所属分组及用户名</a:t>
                    </a:r>
                  </a:p>
                </p:txBody>
              </p:sp>
              <p:sp>
                <p:nvSpPr>
                  <p:cNvPr id="20" name="TextBox 6"/>
                  <p:cNvSpPr txBox="1"/>
                  <p:nvPr/>
                </p:nvSpPr>
                <p:spPr>
                  <a:xfrm>
                    <a:off x="1144" y="7143"/>
                    <a:ext cx="1805" cy="7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30000"/>
                      </a:lnSpc>
                      <a:defRPr sz="2000" b="1">
                        <a:solidFill>
                          <a:srgbClr val="5F5E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defRPr>
                    </a:lvl1pPr>
                  </a:lstStyle>
                  <a:p>
                    <a:r>
                      <a:rPr lang="zh-CN" altLang="en-US" dirty="0">
                        <a:solidFill>
                          <a:srgbClr val="0070C0"/>
                        </a:solidFill>
                        <a:sym typeface="+mn-ea"/>
                      </a:rPr>
                      <a:t>功能：</a:t>
                    </a:r>
                    <a:endParaRPr lang="zh-CN" altLang="en-US" sz="2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sym typeface="+mn-ea"/>
                    </a:endParaRPr>
                  </a:p>
                </p:txBody>
              </p:sp>
            </p:grpSp>
            <p:grpSp>
              <p:nvGrpSpPr>
                <p:cNvPr id="27" name="组合 26"/>
                <p:cNvGrpSpPr/>
                <p:nvPr/>
              </p:nvGrpSpPr>
              <p:grpSpPr>
                <a:xfrm>
                  <a:off x="1838" y="5571"/>
                  <a:ext cx="4501" cy="774"/>
                  <a:chOff x="1773" y="2569"/>
                  <a:chExt cx="5900" cy="774"/>
                </a:xfrm>
              </p:grpSpPr>
              <p:sp>
                <p:nvSpPr>
                  <p:cNvPr id="28" name="TextBox 6"/>
                  <p:cNvSpPr txBox="1"/>
                  <p:nvPr/>
                </p:nvSpPr>
                <p:spPr>
                  <a:xfrm>
                    <a:off x="4868" y="2569"/>
                    <a:ext cx="2805" cy="7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30000"/>
                      </a:lnSpc>
                    </a:pPr>
                    <a:r>
                      <a:rPr lang="zh-CN" altLang="en-US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所有用户</a:t>
                    </a:r>
                  </a:p>
                </p:txBody>
              </p:sp>
              <p:sp>
                <p:nvSpPr>
                  <p:cNvPr id="29" name="TextBox 6"/>
                  <p:cNvSpPr txBox="1"/>
                  <p:nvPr/>
                </p:nvSpPr>
                <p:spPr>
                  <a:xfrm>
                    <a:off x="1773" y="2575"/>
                    <a:ext cx="3095" cy="7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30000"/>
                      </a:lnSpc>
                      <a:defRPr sz="2000" b="1">
                        <a:solidFill>
                          <a:srgbClr val="5F5E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defRPr>
                    </a:lvl1pPr>
                  </a:lstStyle>
                  <a:p>
                    <a:r>
                      <a:rPr lang="zh-CN" altLang="en-US" dirty="0">
                        <a:solidFill>
                          <a:srgbClr val="0070C0"/>
                        </a:solidFill>
                        <a:sym typeface="+mn-ea"/>
                      </a:rPr>
                      <a:t>使用权限：</a:t>
                    </a:r>
                  </a:p>
                </p:txBody>
              </p:sp>
            </p:grpSp>
          </p:grpSp>
        </p:grpSp>
      </p:grpSp>
      <p:grpSp>
        <p:nvGrpSpPr>
          <p:cNvPr id="11" name="组合 10"/>
          <p:cNvGrpSpPr/>
          <p:nvPr/>
        </p:nvGrpSpPr>
        <p:grpSpPr>
          <a:xfrm>
            <a:off x="1770070" y="4613592"/>
            <a:ext cx="9024620" cy="1421765"/>
            <a:chOff x="3305" y="7333"/>
            <a:chExt cx="14212" cy="2239"/>
          </a:xfrm>
        </p:grpSpPr>
        <p:sp>
          <p:nvSpPr>
            <p:cNvPr id="30" name="Text Box 44"/>
            <p:cNvSpPr txBox="1">
              <a:spLocks noChangeArrowheads="1"/>
            </p:cNvSpPr>
            <p:nvPr/>
          </p:nvSpPr>
          <p:spPr bwMode="auto">
            <a:xfrm>
              <a:off x="4946" y="8708"/>
              <a:ext cx="8769" cy="8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图6-15  【例6-15】命令用法及返回结果</a:t>
              </a:r>
            </a:p>
          </p:txBody>
        </p:sp>
        <p:pic>
          <p:nvPicPr>
            <p:cNvPr id="2" name="图片 -2147482608"/>
            <p:cNvPicPr>
              <a:picLocks noChangeAspect="1"/>
            </p:cNvPicPr>
            <p:nvPr/>
          </p:nvPicPr>
          <p:blipFill>
            <a:blip r:embed="rId3" cstate="print">
              <a:grayscl/>
            </a:blip>
            <a:stretch>
              <a:fillRect/>
            </a:stretch>
          </p:blipFill>
          <p:spPr>
            <a:xfrm>
              <a:off x="3305" y="7333"/>
              <a:ext cx="14213" cy="10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pic>
      </p:grpSp>
      <p:grpSp>
        <p:nvGrpSpPr>
          <p:cNvPr id="4" name="组合 3"/>
          <p:cNvGrpSpPr/>
          <p:nvPr/>
        </p:nvGrpSpPr>
        <p:grpSpPr>
          <a:xfrm>
            <a:off x="6660204" y="2129156"/>
            <a:ext cx="4698359" cy="1912647"/>
            <a:chOff x="971600" y="3062290"/>
            <a:chExt cx="3540781" cy="1729184"/>
          </a:xfrm>
        </p:grpSpPr>
        <p:sp>
          <p:nvSpPr>
            <p:cNvPr id="5" name="TextBox 2"/>
            <p:cNvSpPr txBox="1"/>
            <p:nvPr/>
          </p:nvSpPr>
          <p:spPr>
            <a:xfrm>
              <a:off x="971600" y="3293074"/>
              <a:ext cx="3540781" cy="1498400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若使用id命令查看当前登录账户的uid和gid信息，则命令用法及返回结果如图6-15所示</a:t>
              </a:r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。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anose="020B0604020202020204" pitchFamily="34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108808" y="3062290"/>
              <a:ext cx="1143007" cy="3996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直接连接符 47"/>
          <p:cNvCxnSpPr/>
          <p:nvPr/>
        </p:nvCxnSpPr>
        <p:spPr>
          <a:xfrm flipV="1">
            <a:off x="6095984" y="2501252"/>
            <a:ext cx="5638800" cy="1270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6.3.2  who命令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36640" y="2658406"/>
            <a:ext cx="5879465" cy="3385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-H	显示各栏位的标题信息列。</a:t>
            </a: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-I	显示闲置时间，若该用户在前一分钟之内有进行任何动作，将标示成“.”号；如  果该用户已超过24小时没有任何动作，则标示出“old”字符串。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-m	此参数的效果和指定“am i”字符串相同。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-q	只显示登入系统的账号名称和总人数。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596900" y="1543368"/>
            <a:ext cx="5503863" cy="4643120"/>
            <a:chOff x="596900" y="1543368"/>
            <a:chExt cx="5503863" cy="4643120"/>
          </a:xfrm>
        </p:grpSpPr>
        <p:sp>
          <p:nvSpPr>
            <p:cNvPr id="43" name="矩形 42"/>
            <p:cNvSpPr/>
            <p:nvPr/>
          </p:nvSpPr>
          <p:spPr>
            <a:xfrm>
              <a:off x="621665" y="1785620"/>
              <a:ext cx="5479098" cy="44008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TextBox 6"/>
            <p:cNvSpPr txBox="1"/>
            <p:nvPr/>
          </p:nvSpPr>
          <p:spPr>
            <a:xfrm rot="18836568">
              <a:off x="522730" y="2027045"/>
              <a:ext cx="1414780" cy="483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who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命令</a:t>
              </a:r>
            </a:p>
          </p:txBody>
        </p:sp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900" y="1729105"/>
              <a:ext cx="1454150" cy="1445895"/>
            </a:xfrm>
            <a:prstGeom prst="rect">
              <a:avLst/>
            </a:prstGeom>
          </p:spPr>
        </p:pic>
        <p:grpSp>
          <p:nvGrpSpPr>
            <p:cNvPr id="7" name="组合 6"/>
            <p:cNvGrpSpPr/>
            <p:nvPr/>
          </p:nvGrpSpPr>
          <p:grpSpPr>
            <a:xfrm>
              <a:off x="1054417" y="3700780"/>
              <a:ext cx="3061970" cy="531495"/>
              <a:chOff x="1395" y="8054"/>
              <a:chExt cx="5591" cy="837"/>
            </a:xfrm>
          </p:grpSpPr>
          <p:sp>
            <p:nvSpPr>
              <p:cNvPr id="8" name="TextBox 6"/>
              <p:cNvSpPr txBox="1"/>
              <p:nvPr/>
            </p:nvSpPr>
            <p:spPr>
              <a:xfrm>
                <a:off x="1395" y="8099"/>
                <a:ext cx="3159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用法：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2848" y="8054"/>
                <a:ext cx="4138" cy="837"/>
                <a:chOff x="2768" y="8154"/>
                <a:chExt cx="4138" cy="837"/>
              </a:xfrm>
            </p:grpSpPr>
            <p:sp>
              <p:nvSpPr>
                <p:cNvPr id="9" name="流程图: 过程 8"/>
                <p:cNvSpPr/>
                <p:nvPr/>
              </p:nvSpPr>
              <p:spPr>
                <a:xfrm>
                  <a:off x="2768" y="8273"/>
                  <a:ext cx="3342" cy="718"/>
                </a:xfrm>
                <a:prstGeom prst="flowChart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0000" tIns="46800" rIns="90000" bIns="46800" numCol="1" anchor="ctr" anchorCtr="0" compatLnSpc="1"/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endParaRPr lang="zh-CN" altLang="en-US" sz="1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14" name="文本框 13"/>
                <p:cNvSpPr txBox="1"/>
                <p:nvPr/>
              </p:nvSpPr>
              <p:spPr>
                <a:xfrm>
                  <a:off x="2794" y="8154"/>
                  <a:ext cx="4112" cy="7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0" algn="l" eaLnBrk="1" fontAlgn="auto" latinLnBrk="0" hangingPunct="1">
                    <a:lnSpc>
                      <a:spcPct val="150000"/>
                    </a:lnSpc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who [参数选项]</a:t>
                  </a:r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61402" y="3300730"/>
              <a:ext cx="4883785" cy="503555"/>
              <a:chOff x="1144" y="7143"/>
              <a:chExt cx="7306" cy="793"/>
            </a:xfrm>
          </p:grpSpPr>
          <p:sp>
            <p:nvSpPr>
              <p:cNvPr id="19" name="TextBox 6"/>
              <p:cNvSpPr txBox="1"/>
              <p:nvPr/>
            </p:nvSpPr>
            <p:spPr>
              <a:xfrm>
                <a:off x="2476" y="7231"/>
                <a:ext cx="5974" cy="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查看登录到本台机器的当前用户</a:t>
                </a:r>
              </a:p>
            </p:txBody>
          </p:sp>
          <p:sp>
            <p:nvSpPr>
              <p:cNvPr id="20" name="TextBox 6"/>
              <p:cNvSpPr txBox="1"/>
              <p:nvPr/>
            </p:nvSpPr>
            <p:spPr>
              <a:xfrm>
                <a:off x="1144" y="7143"/>
                <a:ext cx="1805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功能：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1061402" y="4186555"/>
              <a:ext cx="2858135" cy="491490"/>
              <a:chOff x="1773" y="2569"/>
              <a:chExt cx="5900" cy="774"/>
            </a:xfrm>
          </p:grpSpPr>
          <p:sp>
            <p:nvSpPr>
              <p:cNvPr id="28" name="TextBox 6"/>
              <p:cNvSpPr txBox="1"/>
              <p:nvPr/>
            </p:nvSpPr>
            <p:spPr>
              <a:xfrm>
                <a:off x="4868" y="2569"/>
                <a:ext cx="2805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所有用户</a:t>
                </a:r>
              </a:p>
            </p:txBody>
          </p:sp>
          <p:sp>
            <p:nvSpPr>
              <p:cNvPr id="29" name="TextBox 6"/>
              <p:cNvSpPr txBox="1"/>
              <p:nvPr/>
            </p:nvSpPr>
            <p:spPr>
              <a:xfrm>
                <a:off x="1773" y="2575"/>
                <a:ext cx="3095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  <p:sp>
          <p:nvSpPr>
            <p:cNvPr id="4" name="TextBox 6"/>
            <p:cNvSpPr txBox="1"/>
            <p:nvPr/>
          </p:nvSpPr>
          <p:spPr>
            <a:xfrm rot="18836568">
              <a:off x="427990" y="2009140"/>
              <a:ext cx="1414780" cy="483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who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命令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6249988" y="1899272"/>
            <a:ext cx="1093470" cy="563245"/>
            <a:chOff x="5535558" y="1311371"/>
            <a:chExt cx="2317027" cy="853106"/>
          </a:xfrm>
        </p:grpSpPr>
        <p:sp>
          <p:nvSpPr>
            <p:cNvPr id="72" name="TextBox 71"/>
            <p:cNvSpPr txBox="1"/>
            <p:nvPr/>
          </p:nvSpPr>
          <p:spPr>
            <a:xfrm>
              <a:off x="5620337" y="1311371"/>
              <a:ext cx="2232248" cy="841378"/>
            </a:xfrm>
            <a:prstGeom prst="roundRect">
              <a:avLst>
                <a:gd name="adj" fmla="val 8176"/>
              </a:avLst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参数：</a:t>
              </a:r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5626508" y="1743788"/>
              <a:ext cx="0" cy="420689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流程图: 联系 73"/>
            <p:cNvSpPr/>
            <p:nvPr/>
          </p:nvSpPr>
          <p:spPr>
            <a:xfrm>
              <a:off x="5535558" y="1724471"/>
              <a:ext cx="169589" cy="169589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5" name="直接连接符 74"/>
            <p:cNvCxnSpPr/>
            <p:nvPr/>
          </p:nvCxnSpPr>
          <p:spPr>
            <a:xfrm>
              <a:off x="5632781" y="2148655"/>
              <a:ext cx="321323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6"/>
          <p:cNvSpPr txBox="1"/>
          <p:nvPr/>
        </p:nvSpPr>
        <p:spPr>
          <a:xfrm rot="18836568">
            <a:off x="522730" y="2027045"/>
            <a:ext cx="1414780" cy="48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who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</a:p>
        </p:txBody>
      </p:sp>
      <p:sp>
        <p:nvSpPr>
          <p:cNvPr id="22" name="矩形 6"/>
          <p:cNvSpPr>
            <a:spLocks noChangeArrowheads="1"/>
          </p:cNvSpPr>
          <p:nvPr/>
        </p:nvSpPr>
        <p:spPr bwMode="auto">
          <a:xfrm>
            <a:off x="909320" y="1113790"/>
            <a:ext cx="3060065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6.3.2  who命令</a:t>
            </a:r>
          </a:p>
        </p:txBody>
      </p:sp>
      <p:sp>
        <p:nvSpPr>
          <p:cNvPr id="23" name="椭圆 22"/>
          <p:cNvSpPr/>
          <p:nvPr/>
        </p:nvSpPr>
        <p:spPr bwMode="auto">
          <a:xfrm>
            <a:off x="473710" y="1233170"/>
            <a:ext cx="323850" cy="32385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104900" fontAlgn="auto"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0066FF"/>
              </a:solidFill>
              <a:latin typeface="Arial Unicode MS" panose="020B0604020202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645770" y="4330065"/>
            <a:ext cx="5406390" cy="1445895"/>
            <a:chOff x="9566" y="6819"/>
            <a:chExt cx="8514" cy="2277"/>
          </a:xfrm>
        </p:grpSpPr>
        <p:sp>
          <p:nvSpPr>
            <p:cNvPr id="30" name="Text Box 44"/>
            <p:cNvSpPr txBox="1">
              <a:spLocks noChangeArrowheads="1"/>
            </p:cNvSpPr>
            <p:nvPr/>
          </p:nvSpPr>
          <p:spPr bwMode="auto">
            <a:xfrm>
              <a:off x="9566" y="8232"/>
              <a:ext cx="8515" cy="8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20725" eaLnBrk="0" hangingPunct="0"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 Unicode MS" panose="020B0604020202020204" pitchFamily="34" charset="-122"/>
                </a:rPr>
                <a:t>图6-16  【例6-16】命令用法及返回结果</a:t>
              </a:r>
            </a:p>
          </p:txBody>
        </p:sp>
        <p:pic>
          <p:nvPicPr>
            <p:cNvPr id="2" name="图片 -2147482607"/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9566" y="6819"/>
              <a:ext cx="8515" cy="109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pic>
      </p:grpSp>
      <p:grpSp>
        <p:nvGrpSpPr>
          <p:cNvPr id="25" name="组合 24"/>
          <p:cNvGrpSpPr/>
          <p:nvPr/>
        </p:nvGrpSpPr>
        <p:grpSpPr>
          <a:xfrm>
            <a:off x="596265" y="1558290"/>
            <a:ext cx="10591165" cy="1966595"/>
            <a:chOff x="939" y="2454"/>
            <a:chExt cx="16679" cy="3097"/>
          </a:xfrm>
        </p:grpSpPr>
        <p:sp>
          <p:nvSpPr>
            <p:cNvPr id="43" name="矩形 42"/>
            <p:cNvSpPr/>
            <p:nvPr/>
          </p:nvSpPr>
          <p:spPr>
            <a:xfrm>
              <a:off x="979" y="2812"/>
              <a:ext cx="16639" cy="27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939" y="2454"/>
              <a:ext cx="9612" cy="2880"/>
              <a:chOff x="939" y="2454"/>
              <a:chExt cx="9612" cy="2880"/>
            </a:xfrm>
          </p:grpSpPr>
          <p:pic>
            <p:nvPicPr>
              <p:cNvPr id="52" name="图片 5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9" y="2747"/>
                <a:ext cx="2290" cy="2277"/>
              </a:xfrm>
              <a:prstGeom prst="rect">
                <a:avLst/>
              </a:prstGeom>
            </p:spPr>
          </p:pic>
          <p:grpSp>
            <p:nvGrpSpPr>
              <p:cNvPr id="17" name="组合 16"/>
              <p:cNvGrpSpPr/>
              <p:nvPr/>
            </p:nvGrpSpPr>
            <p:grpSpPr>
              <a:xfrm>
                <a:off x="1407" y="2454"/>
                <a:ext cx="9145" cy="2881"/>
                <a:chOff x="1407" y="2454"/>
                <a:chExt cx="9145" cy="2881"/>
              </a:xfrm>
            </p:grpSpPr>
            <p:grpSp>
              <p:nvGrpSpPr>
                <p:cNvPr id="16" name="组合 15"/>
                <p:cNvGrpSpPr/>
                <p:nvPr/>
              </p:nvGrpSpPr>
              <p:grpSpPr>
                <a:xfrm>
                  <a:off x="2852" y="2837"/>
                  <a:ext cx="7701" cy="2499"/>
                  <a:chOff x="2852" y="2837"/>
                  <a:chExt cx="7701" cy="2499"/>
                </a:xfrm>
              </p:grpSpPr>
              <p:grpSp>
                <p:nvGrpSpPr>
                  <p:cNvPr id="7" name="组合 6"/>
                  <p:cNvGrpSpPr/>
                  <p:nvPr/>
                </p:nvGrpSpPr>
                <p:grpSpPr>
                  <a:xfrm>
                    <a:off x="2852" y="3512"/>
                    <a:ext cx="5384" cy="1010"/>
                    <a:chOff x="1395" y="8099"/>
                    <a:chExt cx="6243" cy="1010"/>
                  </a:xfrm>
                </p:grpSpPr>
                <p:sp>
                  <p:nvSpPr>
                    <p:cNvPr id="8" name="TextBox 6"/>
                    <p:cNvSpPr txBox="1"/>
                    <p:nvPr/>
                  </p:nvSpPr>
                  <p:spPr>
                    <a:xfrm>
                      <a:off x="1395" y="8099"/>
                      <a:ext cx="1934" cy="76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zh-CN"/>
                      </a:defPPr>
                      <a:lvl1pPr>
                        <a:lnSpc>
                          <a:spcPct val="130000"/>
                        </a:lnSpc>
                        <a:defRPr sz="2000" b="1">
                          <a:solidFill>
                            <a:srgbClr val="5F5E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</a:lstStyle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  <a:sym typeface="+mn-ea"/>
                        </a:rPr>
                        <a:t>用法：</a:t>
                      </a:r>
                      <a:endParaRPr lang="zh-CN" altLang="en-US" sz="2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sym typeface="+mn-ea"/>
                      </a:endParaRPr>
                    </a:p>
                  </p:txBody>
                </p:sp>
                <p:grpSp>
                  <p:nvGrpSpPr>
                    <p:cNvPr id="15" name="组合 14"/>
                    <p:cNvGrpSpPr/>
                    <p:nvPr/>
                  </p:nvGrpSpPr>
                  <p:grpSpPr>
                    <a:xfrm>
                      <a:off x="3044" y="8217"/>
                      <a:ext cx="4594" cy="892"/>
                      <a:chOff x="2964" y="8317"/>
                      <a:chExt cx="4594" cy="892"/>
                    </a:xfrm>
                  </p:grpSpPr>
                  <p:sp>
                    <p:nvSpPr>
                      <p:cNvPr id="9" name="流程图: 过程 8"/>
                      <p:cNvSpPr/>
                      <p:nvPr/>
                    </p:nvSpPr>
                    <p:spPr>
                      <a:xfrm>
                        <a:off x="2964" y="8465"/>
                        <a:ext cx="4594" cy="718"/>
                      </a:xfrm>
                      <a:prstGeom prst="flowChartProcess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9525" cap="flat" cmpd="sng" algn="ctr">
                        <a:solidFill>
                          <a:schemeClr val="bg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vert="horz" wrap="none" lIns="90000" tIns="46800" rIns="90000" bIns="46800" numCol="1" anchor="ctr" anchorCtr="0" compatLnSpc="1"/>
                      <a:lstStyle/>
                      <a:p>
                        <a:pPr indent="0" algn="l" eaLnBrk="1" fontAlgn="auto" latinLnBrk="0" hangingPunct="1">
                          <a:lnSpc>
                            <a:spcPct val="150000"/>
                          </a:lnSpc>
                          <a:buFont typeface="Arial" panose="020B0604020202020204" pitchFamily="34" charset="0"/>
                          <a:buNone/>
                          <a:defRPr/>
                        </a:pPr>
                        <a:endParaRPr lang="zh-CN" altLang="en-US" sz="18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endParaRPr>
                      </a:p>
                    </p:txBody>
                  </p:sp>
                  <p:sp>
                    <p:nvSpPr>
                      <p:cNvPr id="14" name="文本框 13"/>
                      <p:cNvSpPr txBox="1"/>
                      <p:nvPr/>
                    </p:nvSpPr>
                    <p:spPr>
                      <a:xfrm>
                        <a:off x="3250" y="8317"/>
                        <a:ext cx="4112" cy="89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indent="0" algn="l" eaLnBrk="1" fontAlgn="auto" latinLnBrk="0" hangingPunct="1">
                          <a:lnSpc>
                            <a:spcPct val="150000"/>
                          </a:lnSpc>
                          <a:buFont typeface="Arial" panose="020B0604020202020204" pitchFamily="34" charset="0"/>
                          <a:buNone/>
                          <a:defRPr/>
                        </a:pPr>
                        <a:r>
                          <a:rPr lang="zh-CN" altLang="en-US" sz="2000" b="1" dirty="0">
                            <a:solidFill>
                              <a:srgbClr val="0070C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  <a:sym typeface="+mn-ea"/>
                          </a:rPr>
                          <a:t>who [参数选项]</a:t>
                        </a:r>
                      </a:p>
                    </p:txBody>
                  </p:sp>
                </p:grpSp>
              </p:grpSp>
              <p:grpSp>
                <p:nvGrpSpPr>
                  <p:cNvPr id="18" name="组合 17"/>
                  <p:cNvGrpSpPr/>
                  <p:nvPr/>
                </p:nvGrpSpPr>
                <p:grpSpPr>
                  <a:xfrm>
                    <a:off x="2863" y="2837"/>
                    <a:ext cx="7691" cy="793"/>
                    <a:chOff x="1144" y="7143"/>
                    <a:chExt cx="7306" cy="793"/>
                  </a:xfrm>
                </p:grpSpPr>
                <p:sp>
                  <p:nvSpPr>
                    <p:cNvPr id="19" name="TextBox 6"/>
                    <p:cNvSpPr txBox="1"/>
                    <p:nvPr/>
                  </p:nvSpPr>
                  <p:spPr>
                    <a:xfrm>
                      <a:off x="2476" y="7231"/>
                      <a:ext cx="5974" cy="70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zh-CN" altLang="en-US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查看登录到本台机器的当前用户</a:t>
                      </a:r>
                    </a:p>
                  </p:txBody>
                </p:sp>
                <p:sp>
                  <p:nvSpPr>
                    <p:cNvPr id="20" name="TextBox 6"/>
                    <p:cNvSpPr txBox="1"/>
                    <p:nvPr/>
                  </p:nvSpPr>
                  <p:spPr>
                    <a:xfrm>
                      <a:off x="1144" y="7143"/>
                      <a:ext cx="1805" cy="76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zh-CN"/>
                      </a:defPPr>
                      <a:lvl1pPr>
                        <a:lnSpc>
                          <a:spcPct val="130000"/>
                        </a:lnSpc>
                        <a:defRPr sz="2000" b="1">
                          <a:solidFill>
                            <a:srgbClr val="5F5E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</a:lstStyle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  <a:sym typeface="+mn-ea"/>
                        </a:rPr>
                        <a:t>功能：</a:t>
                      </a:r>
                      <a:endParaRPr lang="zh-CN" altLang="en-US" sz="2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sym typeface="+mn-ea"/>
                      </a:endParaRPr>
                    </a:p>
                  </p:txBody>
                </p:sp>
              </p:grpSp>
              <p:grpSp>
                <p:nvGrpSpPr>
                  <p:cNvPr id="27" name="组合 26"/>
                  <p:cNvGrpSpPr/>
                  <p:nvPr/>
                </p:nvGrpSpPr>
                <p:grpSpPr>
                  <a:xfrm>
                    <a:off x="2863" y="4550"/>
                    <a:ext cx="4501" cy="786"/>
                    <a:chOff x="1773" y="2887"/>
                    <a:chExt cx="5900" cy="786"/>
                  </a:xfrm>
                </p:grpSpPr>
                <p:sp>
                  <p:nvSpPr>
                    <p:cNvPr id="28" name="TextBox 6"/>
                    <p:cNvSpPr txBox="1"/>
                    <p:nvPr/>
                  </p:nvSpPr>
                  <p:spPr>
                    <a:xfrm>
                      <a:off x="4868" y="2905"/>
                      <a:ext cx="2805" cy="76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zh-CN" altLang="en-US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所有用户</a:t>
                      </a:r>
                    </a:p>
                  </p:txBody>
                </p:sp>
                <p:sp>
                  <p:nvSpPr>
                    <p:cNvPr id="29" name="TextBox 6"/>
                    <p:cNvSpPr txBox="1"/>
                    <p:nvPr/>
                  </p:nvSpPr>
                  <p:spPr>
                    <a:xfrm>
                      <a:off x="1773" y="2887"/>
                      <a:ext cx="3095" cy="76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zh-CN"/>
                      </a:defPPr>
                      <a:lvl1pPr>
                        <a:lnSpc>
                          <a:spcPct val="130000"/>
                        </a:lnSpc>
                        <a:defRPr sz="2000" b="1">
                          <a:solidFill>
                            <a:srgbClr val="5F5E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</a:lstStyle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  <a:sym typeface="+mn-ea"/>
                        </a:rPr>
                        <a:t>使用权限：</a:t>
                      </a:r>
                    </a:p>
                  </p:txBody>
                </p:sp>
              </p:grpSp>
            </p:grpSp>
            <p:sp>
              <p:nvSpPr>
                <p:cNvPr id="4" name="TextBox 6"/>
                <p:cNvSpPr txBox="1"/>
                <p:nvPr/>
              </p:nvSpPr>
              <p:spPr>
                <a:xfrm rot="18836568">
                  <a:off x="673" y="3188"/>
                  <a:ext cx="2228" cy="7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2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who</a:t>
                  </a:r>
                  <a:r>
                    <a:rPr lang="zh-CN" altLang="en-US" sz="2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命令</a:t>
                  </a:r>
                </a:p>
              </p:txBody>
            </p:sp>
          </p:grpSp>
        </p:grpSp>
      </p:grpSp>
      <p:grpSp>
        <p:nvGrpSpPr>
          <p:cNvPr id="6" name="组合 5"/>
          <p:cNvGrpSpPr/>
          <p:nvPr/>
        </p:nvGrpSpPr>
        <p:grpSpPr>
          <a:xfrm>
            <a:off x="781035" y="3927475"/>
            <a:ext cx="4365625" cy="1896110"/>
            <a:chOff x="971600" y="3062290"/>
            <a:chExt cx="3290026" cy="1714233"/>
          </a:xfrm>
        </p:grpSpPr>
        <p:sp>
          <p:nvSpPr>
            <p:cNvPr id="10" name="TextBox 2"/>
            <p:cNvSpPr txBox="1"/>
            <p:nvPr/>
          </p:nvSpPr>
          <p:spPr>
            <a:xfrm>
              <a:off x="971600" y="3293074"/>
              <a:ext cx="3290026" cy="1483449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若使用who命令查看显示系统登录的用户，则命令用法及返回结果如图6-16所示。</a:t>
              </a: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108808" y="3062290"/>
              <a:ext cx="1143007" cy="3996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</a:p>
          </p:txBody>
        </p:sp>
      </p:grpSp>
      <p:pic>
        <p:nvPicPr>
          <p:cNvPr id="31" name="图片 30" descr="9bf1fdcc7b25a64bf5dd73128f30dce0_看图王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69200" y="1124593"/>
            <a:ext cx="3600262" cy="28027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473710" y="1113790"/>
            <a:ext cx="3495040" cy="529590"/>
            <a:chOff x="746" y="1754"/>
            <a:chExt cx="5504" cy="834"/>
          </a:xfrm>
        </p:grpSpPr>
        <p:sp>
          <p:nvSpPr>
            <p:cNvPr id="22" name="矩形 6"/>
            <p:cNvSpPr>
              <a:spLocks noChangeArrowheads="1"/>
            </p:cNvSpPr>
            <p:nvPr/>
          </p:nvSpPr>
          <p:spPr bwMode="auto">
            <a:xfrm>
              <a:off x="1432" y="1754"/>
              <a:ext cx="4819" cy="8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6.3.3  w命令</a:t>
              </a: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746" y="1942"/>
              <a:ext cx="510" cy="51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20204" pitchFamily="34" charset="0"/>
                <a:buNone/>
                <a:defRPr/>
              </a:pPr>
              <a:endParaRPr lang="zh-CN" altLang="en-US" sz="24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6452870" y="6018530"/>
            <a:ext cx="508127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sym typeface="Arial Unicode MS" panose="020B0604020202020204" pitchFamily="34" charset="-122"/>
              </a:rPr>
              <a:t>图6-17  【例6-17】命令用法及返回结果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6436995" y="1627505"/>
            <a:ext cx="3938905" cy="1603712"/>
            <a:chOff x="13357" y="7209"/>
            <a:chExt cx="5138" cy="2670"/>
          </a:xfrm>
        </p:grpSpPr>
        <p:grpSp>
          <p:nvGrpSpPr>
            <p:cNvPr id="32" name="组合 14"/>
            <p:cNvGrpSpPr/>
            <p:nvPr/>
          </p:nvGrpSpPr>
          <p:grpSpPr bwMode="auto">
            <a:xfrm>
              <a:off x="13357" y="7372"/>
              <a:ext cx="5138" cy="2507"/>
              <a:chOff x="1166778" y="1601023"/>
              <a:chExt cx="9858444" cy="1899415"/>
            </a:xfrm>
          </p:grpSpPr>
          <p:grpSp>
            <p:nvGrpSpPr>
              <p:cNvPr id="33" name="组合 12"/>
              <p:cNvGrpSpPr/>
              <p:nvPr/>
            </p:nvGrpSpPr>
            <p:grpSpPr bwMode="auto">
              <a:xfrm>
                <a:off x="1166778" y="1601023"/>
                <a:ext cx="9858444" cy="1899415"/>
                <a:chOff x="1166778" y="1601023"/>
                <a:chExt cx="9858444" cy="1899415"/>
              </a:xfrm>
            </p:grpSpPr>
            <p:sp>
              <p:nvSpPr>
                <p:cNvPr id="34" name="矩形 33"/>
                <p:cNvSpPr/>
                <p:nvPr/>
              </p:nvSpPr>
              <p:spPr>
                <a:xfrm>
                  <a:off x="1166778" y="1786456"/>
                  <a:ext cx="9858444" cy="171398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35" name="矩形 6"/>
                <p:cNvSpPr>
                  <a:spLocks noChangeArrowheads="1"/>
                </p:cNvSpPr>
                <p:nvPr/>
              </p:nvSpPr>
              <p:spPr bwMode="auto">
                <a:xfrm>
                  <a:off x="2730367" y="1601023"/>
                  <a:ext cx="4380122" cy="5767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500"/>
                    </a:spcAft>
                    <a:buFont typeface="Arial" panose="020B0604020202020204" pitchFamily="34" charset="0"/>
                    <a:buNone/>
                  </a:pPr>
                  <a:r>
                    <a:rPr lang="zh-CN" altLang="en-US" sz="2000" b="1">
                      <a:solidFill>
                        <a:srgbClr val="009900"/>
                      </a:solidFill>
                      <a:latin typeface="华康俪金黑W8(P)"/>
                      <a:ea typeface="华康俪金黑W8(P)"/>
                      <a:cs typeface="华康俪金黑W8(P)"/>
                    </a:rPr>
                    <a:t>说明</a:t>
                  </a:r>
                </a:p>
              </p:txBody>
            </p:sp>
          </p:grpSp>
          <p:sp>
            <p:nvSpPr>
              <p:cNvPr id="53" name="MH_Text_1"/>
              <p:cNvSpPr txBox="1"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332066" y="2071809"/>
                <a:ext cx="9454761" cy="1392159"/>
              </a:xfrm>
              <a:prstGeom prst="rect">
                <a:avLst/>
              </a:prstGeom>
              <a:solidFill>
                <a:srgbClr val="F2F2F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indent="457200" eaLnBrk="1" latinLnBrk="0" hangingPunct="1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who am i命令与whoami命令相似，但who am i命令显示的是当前登录用户的用户名。</a:t>
                </a:r>
              </a:p>
            </p:txBody>
          </p:sp>
        </p:grpSp>
        <p:pic>
          <p:nvPicPr>
            <p:cNvPr id="54" name="图片 4" descr="www.tuweimei.comComp_9747389_aloyhm04q205BMmtimdiv2o2HN82PIep.jpg"/>
            <p:cNvPicPr>
              <a:picLocks noGrp="1"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3443" y="7209"/>
              <a:ext cx="896" cy="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组合 8"/>
          <p:cNvGrpSpPr/>
          <p:nvPr/>
        </p:nvGrpSpPr>
        <p:grpSpPr>
          <a:xfrm>
            <a:off x="403860" y="1718310"/>
            <a:ext cx="5716905" cy="1901190"/>
            <a:chOff x="636" y="2706"/>
            <a:chExt cx="9003" cy="2994"/>
          </a:xfrm>
        </p:grpSpPr>
        <p:sp>
          <p:nvSpPr>
            <p:cNvPr id="43" name="矩形 42"/>
            <p:cNvSpPr/>
            <p:nvPr/>
          </p:nvSpPr>
          <p:spPr>
            <a:xfrm>
              <a:off x="680" y="2728"/>
              <a:ext cx="8959" cy="29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" y="2706"/>
              <a:ext cx="2632" cy="2618"/>
            </a:xfrm>
            <a:prstGeom prst="rect">
              <a:avLst/>
            </a:prstGeom>
          </p:spPr>
        </p:pic>
        <p:sp>
          <p:nvSpPr>
            <p:cNvPr id="47" name="TextBox 6"/>
            <p:cNvSpPr txBox="1"/>
            <p:nvPr/>
          </p:nvSpPr>
          <p:spPr>
            <a:xfrm rot="18836568">
              <a:off x="867" y="3170"/>
              <a:ext cx="1627" cy="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命令</a:t>
              </a:r>
            </a:p>
          </p:txBody>
        </p:sp>
        <p:sp>
          <p:nvSpPr>
            <p:cNvPr id="20" name="TextBox 6"/>
            <p:cNvSpPr txBox="1"/>
            <p:nvPr/>
          </p:nvSpPr>
          <p:spPr>
            <a:xfrm>
              <a:off x="2695" y="3096"/>
              <a:ext cx="6945" cy="1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000" b="1">
                  <a:solidFill>
                    <a:srgbClr val="5F5E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0070C0"/>
                  </a:solidFill>
                  <a:sym typeface="+mn-ea"/>
                </a:rPr>
                <a:t>w命令与who命令用法相似，只是显示的信息更加详细，这里不再赘述。</a:t>
              </a: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2695" y="4528"/>
              <a:ext cx="4147" cy="774"/>
              <a:chOff x="1773" y="2569"/>
              <a:chExt cx="5436" cy="774"/>
            </a:xfrm>
          </p:grpSpPr>
          <p:sp>
            <p:nvSpPr>
              <p:cNvPr id="3" name="TextBox 6"/>
              <p:cNvSpPr txBox="1"/>
              <p:nvPr/>
            </p:nvSpPr>
            <p:spPr>
              <a:xfrm>
                <a:off x="4404" y="2569"/>
                <a:ext cx="2805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所有用户</a:t>
                </a:r>
              </a:p>
            </p:txBody>
          </p:sp>
          <p:sp>
            <p:nvSpPr>
              <p:cNvPr id="4" name="TextBox 6"/>
              <p:cNvSpPr txBox="1"/>
              <p:nvPr/>
            </p:nvSpPr>
            <p:spPr>
              <a:xfrm>
                <a:off x="1773" y="2575"/>
                <a:ext cx="3095" cy="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000" b="1">
                    <a:solidFill>
                      <a:srgbClr val="5F5E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70C0"/>
                    </a:solidFill>
                    <a:sym typeface="+mn-ea"/>
                  </a:rPr>
                  <a:t>使用权限：</a:t>
                </a:r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530860" y="3853180"/>
            <a:ext cx="3495040" cy="529590"/>
            <a:chOff x="836" y="6068"/>
            <a:chExt cx="5504" cy="834"/>
          </a:xfrm>
        </p:grpSpPr>
        <p:sp>
          <p:nvSpPr>
            <p:cNvPr id="5" name="矩形 6"/>
            <p:cNvSpPr>
              <a:spLocks noChangeArrowheads="1"/>
            </p:cNvSpPr>
            <p:nvPr/>
          </p:nvSpPr>
          <p:spPr bwMode="auto">
            <a:xfrm>
              <a:off x="1522" y="6068"/>
              <a:ext cx="4819" cy="8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500"/>
                </a:spcAft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6.3.4  whoami命令</a:t>
              </a:r>
            </a:p>
          </p:txBody>
        </p:sp>
        <p:sp>
          <p:nvSpPr>
            <p:cNvPr id="6" name="椭圆 5"/>
            <p:cNvSpPr/>
            <p:nvPr/>
          </p:nvSpPr>
          <p:spPr bwMode="auto">
            <a:xfrm>
              <a:off x="836" y="6256"/>
              <a:ext cx="510" cy="510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104900" fontAlgn="auto">
                <a:buFont typeface="Arial" panose="020B0604020202020204" pitchFamily="34" charset="0"/>
                <a:buNone/>
                <a:defRPr/>
              </a:pPr>
              <a:endParaRPr lang="zh-CN" altLang="en-US" sz="2400" noProof="1">
                <a:solidFill>
                  <a:srgbClr val="0066FF"/>
                </a:solidFill>
                <a:latin typeface="Arial Unicode MS" panose="020B0604020202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30860" y="4261485"/>
            <a:ext cx="5781040" cy="2153285"/>
            <a:chOff x="836" y="6711"/>
            <a:chExt cx="9104" cy="3391"/>
          </a:xfrm>
        </p:grpSpPr>
        <p:grpSp>
          <p:nvGrpSpPr>
            <p:cNvPr id="18" name="组合 17"/>
            <p:cNvGrpSpPr/>
            <p:nvPr/>
          </p:nvGrpSpPr>
          <p:grpSpPr>
            <a:xfrm>
              <a:off x="880" y="7130"/>
              <a:ext cx="9061" cy="2972"/>
              <a:chOff x="880" y="7130"/>
              <a:chExt cx="9061" cy="2972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880" y="7130"/>
                <a:ext cx="8959" cy="29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>
                <a:off x="3069" y="7206"/>
                <a:ext cx="6873" cy="793"/>
                <a:chOff x="1144" y="7143"/>
                <a:chExt cx="7306" cy="793"/>
              </a:xfrm>
            </p:grpSpPr>
            <p:sp>
              <p:nvSpPr>
                <p:cNvPr id="16" name="TextBox 6"/>
                <p:cNvSpPr txBox="1"/>
                <p:nvPr/>
              </p:nvSpPr>
              <p:spPr>
                <a:xfrm>
                  <a:off x="2476" y="7231"/>
                  <a:ext cx="5974" cy="7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zh-CN" altLang="en-US" sz="18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查看显示当前操作用户的用户名</a:t>
                  </a:r>
                </a:p>
              </p:txBody>
            </p:sp>
            <p:sp>
              <p:nvSpPr>
                <p:cNvPr id="17" name="TextBox 6"/>
                <p:cNvSpPr txBox="1"/>
                <p:nvPr/>
              </p:nvSpPr>
              <p:spPr>
                <a:xfrm>
                  <a:off x="1144" y="7143"/>
                  <a:ext cx="1805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2000" b="1">
                      <a:solidFill>
                        <a:srgbClr val="5F5E5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rgbClr val="0070C0"/>
                      </a:solidFill>
                      <a:sym typeface="+mn-ea"/>
                    </a:rPr>
                    <a:t>功能：</a:t>
                  </a:r>
                  <a:endPara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ea"/>
                  </a:endParaRPr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3083" y="7941"/>
                <a:ext cx="3411" cy="829"/>
                <a:chOff x="1395" y="8099"/>
                <a:chExt cx="3955" cy="829"/>
              </a:xfrm>
            </p:grpSpPr>
            <p:sp>
              <p:nvSpPr>
                <p:cNvPr id="25" name="TextBox 6"/>
                <p:cNvSpPr txBox="1"/>
                <p:nvPr/>
              </p:nvSpPr>
              <p:spPr>
                <a:xfrm>
                  <a:off x="1395" y="8099"/>
                  <a:ext cx="3159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2000" b="1">
                      <a:solidFill>
                        <a:srgbClr val="5F5E5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rgbClr val="0070C0"/>
                      </a:solidFill>
                      <a:sym typeface="+mn-ea"/>
                    </a:rPr>
                    <a:t>用法：</a:t>
                  </a:r>
                  <a:endPara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ea"/>
                  </a:endParaRPr>
                </a:p>
              </p:txBody>
            </p:sp>
            <p:grpSp>
              <p:nvGrpSpPr>
                <p:cNvPr id="36" name="组合 35"/>
                <p:cNvGrpSpPr/>
                <p:nvPr/>
              </p:nvGrpSpPr>
              <p:grpSpPr>
                <a:xfrm>
                  <a:off x="2847" y="8136"/>
                  <a:ext cx="2503" cy="792"/>
                  <a:chOff x="2767" y="8236"/>
                  <a:chExt cx="2503" cy="792"/>
                </a:xfrm>
              </p:grpSpPr>
              <p:sp>
                <p:nvSpPr>
                  <p:cNvPr id="37" name="流程图: 过程 36"/>
                  <p:cNvSpPr/>
                  <p:nvPr/>
                </p:nvSpPr>
                <p:spPr>
                  <a:xfrm>
                    <a:off x="2768" y="8273"/>
                    <a:ext cx="2367" cy="718"/>
                  </a:xfrm>
                  <a:prstGeom prst="flowChartProcess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9525" cap="flat" cmpd="sng" algn="ctr">
                    <a:solidFill>
                      <a:schemeClr val="bg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none" lIns="90000" tIns="46800" rIns="90000" bIns="46800" numCol="1" anchor="ctr" anchorCtr="0" compatLnSpc="1"/>
                  <a:lstStyle/>
                  <a:p>
                    <a:pPr indent="0" algn="l" eaLnBrk="1" fontAlgn="auto" latinLnBrk="0" hangingPunct="1">
                      <a:lnSpc>
                        <a:spcPct val="150000"/>
                      </a:lnSpc>
                      <a:buFont typeface="Arial" panose="020B0604020202020204" pitchFamily="34" charset="0"/>
                      <a:buNone/>
                      <a:defRPr/>
                    </a:pPr>
                    <a:endParaRPr lang="zh-CN" altLang="en-US" sz="18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endParaRPr>
                  </a:p>
                </p:txBody>
              </p:sp>
              <p:sp>
                <p:nvSpPr>
                  <p:cNvPr id="38" name="文本框 37"/>
                  <p:cNvSpPr txBox="1"/>
                  <p:nvPr/>
                </p:nvSpPr>
                <p:spPr>
                  <a:xfrm>
                    <a:off x="2767" y="8236"/>
                    <a:ext cx="2503" cy="79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indent="0" algn="l" eaLnBrk="1" fontAlgn="auto" latinLnBrk="0" hangingPunct="1">
                      <a:lnSpc>
                        <a:spcPct val="150000"/>
                      </a:lnSpc>
                      <a:buFont typeface="Arial" panose="020B0604020202020204" pitchFamily="34" charset="0"/>
                      <a:buNone/>
                      <a:defRPr/>
                    </a:pPr>
                    <a:r>
                      <a:rPr lang="zh-CN" altLang="en-US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rPr>
                      <a:t>whoami</a:t>
                    </a:r>
                  </a:p>
                </p:txBody>
              </p:sp>
            </p:grpSp>
          </p:grpSp>
          <p:grpSp>
            <p:nvGrpSpPr>
              <p:cNvPr id="39" name="组合 38"/>
              <p:cNvGrpSpPr/>
              <p:nvPr/>
            </p:nvGrpSpPr>
            <p:grpSpPr>
              <a:xfrm>
                <a:off x="3027" y="8754"/>
                <a:ext cx="4147" cy="774"/>
                <a:chOff x="1773" y="2569"/>
                <a:chExt cx="5436" cy="774"/>
              </a:xfrm>
            </p:grpSpPr>
            <p:sp>
              <p:nvSpPr>
                <p:cNvPr id="40" name="TextBox 6"/>
                <p:cNvSpPr txBox="1"/>
                <p:nvPr/>
              </p:nvSpPr>
              <p:spPr>
                <a:xfrm>
                  <a:off x="4404" y="2569"/>
                  <a:ext cx="2805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所有用户</a:t>
                  </a:r>
                </a:p>
              </p:txBody>
            </p:sp>
            <p:sp>
              <p:nvSpPr>
                <p:cNvPr id="41" name="TextBox 6"/>
                <p:cNvSpPr txBox="1"/>
                <p:nvPr/>
              </p:nvSpPr>
              <p:spPr>
                <a:xfrm>
                  <a:off x="1773" y="2575"/>
                  <a:ext cx="3095" cy="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2000" b="1">
                      <a:solidFill>
                        <a:srgbClr val="5F5E5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rgbClr val="0070C0"/>
                      </a:solidFill>
                      <a:sym typeface="+mn-ea"/>
                    </a:rPr>
                    <a:t>使用权限：</a:t>
                  </a:r>
                </a:p>
              </p:txBody>
            </p:sp>
          </p:grpSp>
        </p:grp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" y="7108"/>
              <a:ext cx="2632" cy="2618"/>
            </a:xfrm>
            <a:prstGeom prst="rect">
              <a:avLst/>
            </a:prstGeom>
          </p:spPr>
        </p:pic>
        <p:sp>
          <p:nvSpPr>
            <p:cNvPr id="12" name="TextBox 6"/>
            <p:cNvSpPr txBox="1"/>
            <p:nvPr/>
          </p:nvSpPr>
          <p:spPr>
            <a:xfrm rot="18836568">
              <a:off x="605" y="7682"/>
              <a:ext cx="2600" cy="6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whoami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命令</a:t>
              </a:r>
            </a:p>
          </p:txBody>
        </p:sp>
      </p:grpSp>
      <p:pic>
        <p:nvPicPr>
          <p:cNvPr id="7" name="图片 -2147482606"/>
          <p:cNvPicPr>
            <a:picLocks noChangeAspect="1"/>
          </p:cNvPicPr>
          <p:nvPr/>
        </p:nvPicPr>
        <p:blipFill>
          <a:blip r:embed="rId5" cstate="print">
            <a:grayscl/>
          </a:blip>
          <a:stretch>
            <a:fillRect/>
          </a:stretch>
        </p:blipFill>
        <p:spPr>
          <a:xfrm>
            <a:off x="6384925" y="5060315"/>
            <a:ext cx="5244465" cy="958215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</p:pic>
      <p:grpSp>
        <p:nvGrpSpPr>
          <p:cNvPr id="8" name="组合 7"/>
          <p:cNvGrpSpPr/>
          <p:nvPr/>
        </p:nvGrpSpPr>
        <p:grpSpPr>
          <a:xfrm>
            <a:off x="57150" y="1715135"/>
            <a:ext cx="11617960" cy="2035810"/>
            <a:chOff x="90" y="2701"/>
            <a:chExt cx="18296" cy="3206"/>
          </a:xfrm>
        </p:grpSpPr>
        <p:cxnSp>
          <p:nvCxnSpPr>
            <p:cNvPr id="48" name="直接连接符 47"/>
            <p:cNvCxnSpPr/>
            <p:nvPr/>
          </p:nvCxnSpPr>
          <p:spPr>
            <a:xfrm flipV="1">
              <a:off x="9888" y="2725"/>
              <a:ext cx="8498" cy="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9888" y="2701"/>
              <a:ext cx="3" cy="3206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90" y="5883"/>
              <a:ext cx="9784" cy="5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6430010" y="3411220"/>
            <a:ext cx="5276215" cy="1347470"/>
            <a:chOff x="971600" y="3062290"/>
            <a:chExt cx="3290026" cy="1218219"/>
          </a:xfrm>
        </p:grpSpPr>
        <p:sp>
          <p:nvSpPr>
            <p:cNvPr id="27" name="TextBox 2"/>
            <p:cNvSpPr txBox="1"/>
            <p:nvPr/>
          </p:nvSpPr>
          <p:spPr>
            <a:xfrm>
              <a:off x="971600" y="3293074"/>
              <a:ext cx="3290026" cy="987435"/>
            </a:xfrm>
            <a:prstGeom prst="rect">
              <a:avLst/>
            </a:prstGeom>
            <a:noFill/>
            <a:ln w="28575">
              <a:solidFill>
                <a:srgbClr val="00A7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若使用</a:t>
              </a:r>
              <a:r>
                <a:rPr lang="zh-CN" altLang="en-US" sz="18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whoami命令</a:t>
              </a: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anose="020B0604020202020204" pitchFamily="34" charset="-122"/>
                </a:rPr>
                <a:t>查看显示当前操作用户的用户名，则命令用法及返回结果如图6-17所示。</a:t>
              </a: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1108808" y="3062290"/>
              <a:ext cx="1143007" cy="3996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A7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【例6-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17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图片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63513" y="-25400"/>
            <a:ext cx="12584113" cy="575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-161925" y="-25400"/>
            <a:ext cx="12582525" cy="7369175"/>
          </a:xfrm>
          <a:prstGeom prst="rect">
            <a:avLst/>
          </a:prstGeom>
          <a:solidFill>
            <a:srgbClr val="000E2A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-161925" y="4921250"/>
            <a:ext cx="12580938" cy="2422525"/>
          </a:xfrm>
          <a:custGeom>
            <a:avLst/>
            <a:gdLst>
              <a:gd name="connsiteX0" fmla="*/ 0 w 12192000"/>
              <a:gd name="connsiteY0" fmla="*/ 0 h 2070437"/>
              <a:gd name="connsiteX1" fmla="*/ 5436625 w 12192000"/>
              <a:gd name="connsiteY1" fmla="*/ 0 h 2070437"/>
              <a:gd name="connsiteX2" fmla="*/ 5525440 w 12192000"/>
              <a:gd name="connsiteY2" fmla="*/ 7837 h 2070437"/>
              <a:gd name="connsiteX3" fmla="*/ 6091201 w 12192000"/>
              <a:gd name="connsiteY3" fmla="*/ 559628 h 2070437"/>
              <a:gd name="connsiteX4" fmla="*/ 6096239 w 12192000"/>
              <a:gd name="connsiteY4" fmla="*/ 609600 h 2070437"/>
              <a:gd name="connsiteX5" fmla="*/ 6114805 w 12192000"/>
              <a:gd name="connsiteY5" fmla="*/ 609600 h 2070437"/>
              <a:gd name="connsiteX6" fmla="*/ 6119842 w 12192000"/>
              <a:gd name="connsiteY6" fmla="*/ 559628 h 2070437"/>
              <a:gd name="connsiteX7" fmla="*/ 6685604 w 12192000"/>
              <a:gd name="connsiteY7" fmla="*/ 7837 h 2070437"/>
              <a:gd name="connsiteX8" fmla="*/ 6774419 w 12192000"/>
              <a:gd name="connsiteY8" fmla="*/ 0 h 2070437"/>
              <a:gd name="connsiteX9" fmla="*/ 12192000 w 12192000"/>
              <a:gd name="connsiteY9" fmla="*/ 0 h 2070437"/>
              <a:gd name="connsiteX10" fmla="*/ 12192000 w 12192000"/>
              <a:gd name="connsiteY10" fmla="*/ 2070437 h 2070437"/>
              <a:gd name="connsiteX11" fmla="*/ 0 w 12192000"/>
              <a:gd name="connsiteY11" fmla="*/ 2070437 h 207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70437">
                <a:moveTo>
                  <a:pt x="0" y="0"/>
                </a:moveTo>
                <a:lnTo>
                  <a:pt x="5436625" y="0"/>
                </a:lnTo>
                <a:lnTo>
                  <a:pt x="5525440" y="7837"/>
                </a:lnTo>
                <a:cubicBezTo>
                  <a:pt x="5808922" y="58474"/>
                  <a:pt x="6033693" y="278587"/>
                  <a:pt x="6091201" y="559628"/>
                </a:cubicBezTo>
                <a:lnTo>
                  <a:pt x="6096239" y="609600"/>
                </a:lnTo>
                <a:lnTo>
                  <a:pt x="6114805" y="609600"/>
                </a:lnTo>
                <a:lnTo>
                  <a:pt x="6119842" y="559628"/>
                </a:lnTo>
                <a:cubicBezTo>
                  <a:pt x="6177351" y="278587"/>
                  <a:pt x="6402121" y="58474"/>
                  <a:pt x="6685604" y="7837"/>
                </a:cubicBezTo>
                <a:lnTo>
                  <a:pt x="6774419" y="0"/>
                </a:lnTo>
                <a:lnTo>
                  <a:pt x="12192000" y="0"/>
                </a:lnTo>
                <a:lnTo>
                  <a:pt x="12192000" y="2070437"/>
                </a:lnTo>
                <a:lnTo>
                  <a:pt x="0" y="2070437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文本框 1"/>
          <p:cNvSpPr txBox="1"/>
          <p:nvPr/>
        </p:nvSpPr>
        <p:spPr>
          <a:xfrm>
            <a:off x="2994659" y="2668270"/>
            <a:ext cx="62636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谢 谢 观 看</a:t>
            </a:r>
            <a:endParaRPr lang="zh-CN" altLang="en-US" sz="9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SubTitle"/>
  <p:tag name="MH_ORDER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Other"/>
  <p:tag name="MH_ORDER" val="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SubTitle"/>
  <p:tag name="MH_ORDER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Other"/>
  <p:tag name="MH_ORDER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SubTitle"/>
  <p:tag name="MH_ORDER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Other"/>
  <p:tag name="MH_ORDER" val="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SubTitle"/>
  <p:tag name="MH_ORDER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Other"/>
  <p:tag name="MH_ORDER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SubTitle"/>
  <p:tag name="MH_ORDER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Other"/>
  <p:tag name="MH_ORDER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SubTitle"/>
  <p:tag name="MH_ORDER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Other"/>
  <p:tag name="MH_ORDER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SubTitle"/>
  <p:tag name="MH_ORDER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Other"/>
  <p:tag name="MH_ORDER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SubTitle"/>
  <p:tag name="MH_ORDER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Other"/>
  <p:tag name="MH_ORDER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SubTitle"/>
  <p:tag name="MH_ORDE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72801"/>
  <p:tag name="MH_LIBRARY" val="GRAPHIC"/>
  <p:tag name="MH_TYPE" val="Other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05434"/>
  <p:tag name="MH_LIBRARY" val="GRAPHIC"/>
  <p:tag name="MH_TYPE" val="Text"/>
  <p:tag name="MH_ORDER" val="1"/>
</p:tagLst>
</file>

<file path=ppt/theme/theme1.xml><?xml version="1.0" encoding="utf-8"?>
<a:theme xmlns:a="http://schemas.openxmlformats.org/drawingml/2006/main" name="1_SAP_PartnerEdge2009_1[1].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rtnerEdge2008_1.0">
      <a:majorFont>
        <a:latin typeface="Arial Black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accent1"/>
          </a:buClr>
          <a:buSzPct val="80000"/>
          <a:buFont typeface="Wingdings" panose="05000000000000000000" pitchFamily="2" charset="2"/>
          <a:buNone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accent1"/>
          </a:buClr>
          <a:buSzPct val="80000"/>
          <a:buFont typeface="Wingdings" panose="05000000000000000000" pitchFamily="2" charset="2"/>
          <a:buNone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lnDef>
  </a:objectDefaults>
  <a:extraClrSchemeLst>
    <a:extraClrScheme>
      <a:clrScheme name="PartnerEdge2008_1.0 1">
        <a:dk1>
          <a:srgbClr val="000000"/>
        </a:dk1>
        <a:lt1>
          <a:srgbClr val="FFFFFF"/>
        </a:lt1>
        <a:dk2>
          <a:srgbClr val="44697D"/>
        </a:dk2>
        <a:lt2>
          <a:srgbClr val="CCCCCC"/>
        </a:lt2>
        <a:accent1>
          <a:srgbClr val="F0AB00"/>
        </a:accent1>
        <a:accent2>
          <a:srgbClr val="666666"/>
        </a:accent2>
        <a:accent3>
          <a:srgbClr val="FFFFFF"/>
        </a:accent3>
        <a:accent4>
          <a:srgbClr val="000000"/>
        </a:accent4>
        <a:accent5>
          <a:srgbClr val="F6D2AA"/>
        </a:accent5>
        <a:accent6>
          <a:srgbClr val="5C5C5C"/>
        </a:accent6>
        <a:hlink>
          <a:srgbClr val="04357B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rtnerEdge2008_1.0 2">
        <a:dk1>
          <a:srgbClr val="000000"/>
        </a:dk1>
        <a:lt1>
          <a:srgbClr val="FFFFFF"/>
        </a:lt1>
        <a:dk2>
          <a:srgbClr val="6996BE"/>
        </a:dk2>
        <a:lt2>
          <a:srgbClr val="CCCCCC"/>
        </a:lt2>
        <a:accent1>
          <a:srgbClr val="F0AB00"/>
        </a:accent1>
        <a:accent2>
          <a:srgbClr val="666666"/>
        </a:accent2>
        <a:accent3>
          <a:srgbClr val="FFFFFF"/>
        </a:accent3>
        <a:accent4>
          <a:srgbClr val="000000"/>
        </a:accent4>
        <a:accent5>
          <a:srgbClr val="F6D2AA"/>
        </a:accent5>
        <a:accent6>
          <a:srgbClr val="5C5C5C"/>
        </a:accent6>
        <a:hlink>
          <a:srgbClr val="04357B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rtnerEdge2008_1.0 3">
        <a:dk1>
          <a:srgbClr val="000000"/>
        </a:dk1>
        <a:lt1>
          <a:srgbClr val="FFFFFF"/>
        </a:lt1>
        <a:dk2>
          <a:srgbClr val="F0AB00"/>
        </a:dk2>
        <a:lt2>
          <a:srgbClr val="CCCCCC"/>
        </a:lt2>
        <a:accent1>
          <a:srgbClr val="6996BE"/>
        </a:accent1>
        <a:accent2>
          <a:srgbClr val="666666"/>
        </a:accent2>
        <a:accent3>
          <a:srgbClr val="FFFFFF"/>
        </a:accent3>
        <a:accent4>
          <a:srgbClr val="000000"/>
        </a:accent4>
        <a:accent5>
          <a:srgbClr val="B9C9DB"/>
        </a:accent5>
        <a:accent6>
          <a:srgbClr val="5C5C5C"/>
        </a:accent6>
        <a:hlink>
          <a:srgbClr val="04357B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2784</Words>
  <Application>Microsoft Office PowerPoint</Application>
  <PresentationFormat>自定义</PresentationFormat>
  <Paragraphs>379</Paragraphs>
  <Slides>31</Slides>
  <Notes>7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2" baseType="lpstr">
      <vt:lpstr>1_SAP_PartnerEdge2009_1[1].0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PC</cp:lastModifiedBy>
  <cp:revision>177</cp:revision>
  <dcterms:created xsi:type="dcterms:W3CDTF">2016-12-04T01:48:00Z</dcterms:created>
  <dcterms:modified xsi:type="dcterms:W3CDTF">2021-10-20T02:12:01Z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2052-10.1.0.6205</vt:lpwstr>
  </property>
</Properties>
</file>