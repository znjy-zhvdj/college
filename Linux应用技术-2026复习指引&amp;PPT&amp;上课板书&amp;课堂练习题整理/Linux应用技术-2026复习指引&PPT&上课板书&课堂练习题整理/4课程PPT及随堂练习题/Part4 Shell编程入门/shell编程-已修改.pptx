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3.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21.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2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23.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24.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25.xml" ContentType="application/vnd.openxmlformats-officedocument.presentationml.notesSlide+xml"/>
  <Override PartName="/ppt/tags/tag78.xml" ContentType="application/vnd.openxmlformats-officedocument.presentationml.tags+xml"/>
  <Override PartName="/ppt/notesSlides/notesSlide26.xml" ContentType="application/vnd.openxmlformats-officedocument.presentationml.notesSlide+xml"/>
  <Override PartName="/ppt/tags/tag79.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29.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30.xml" ContentType="application/vnd.openxmlformats-officedocument.presentationml.notesSlide+xml"/>
  <Override PartName="/ppt/tags/tag87.xml" ContentType="application/vnd.openxmlformats-officedocument.presentationml.tags+xml"/>
  <Override PartName="/ppt/notesSlides/notesSlide31.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0"/>
  </p:notesMasterIdLst>
  <p:handoutMasterIdLst>
    <p:handoutMasterId r:id="rId101"/>
  </p:handoutMasterIdLst>
  <p:sldIdLst>
    <p:sldId id="328" r:id="rId2"/>
    <p:sldId id="260" r:id="rId3"/>
    <p:sldId id="766" r:id="rId4"/>
    <p:sldId id="1972" r:id="rId5"/>
    <p:sldId id="1970" r:id="rId6"/>
    <p:sldId id="1649" r:id="rId7"/>
    <p:sldId id="1973" r:id="rId8"/>
    <p:sldId id="1976" r:id="rId9"/>
    <p:sldId id="1974" r:id="rId10"/>
    <p:sldId id="1871" r:id="rId11"/>
    <p:sldId id="1775" r:id="rId12"/>
    <p:sldId id="1776" r:id="rId13"/>
    <p:sldId id="1978" r:id="rId14"/>
    <p:sldId id="1778" r:id="rId15"/>
    <p:sldId id="1781" r:id="rId16"/>
    <p:sldId id="1780" r:id="rId17"/>
    <p:sldId id="2092" r:id="rId18"/>
    <p:sldId id="1880" r:id="rId19"/>
    <p:sldId id="1980" r:id="rId20"/>
    <p:sldId id="1981" r:id="rId21"/>
    <p:sldId id="1787" r:id="rId22"/>
    <p:sldId id="1789" r:id="rId23"/>
    <p:sldId id="1786" r:id="rId24"/>
    <p:sldId id="1790" r:id="rId25"/>
    <p:sldId id="1791" r:id="rId26"/>
    <p:sldId id="1792" r:id="rId27"/>
    <p:sldId id="2187" r:id="rId28"/>
    <p:sldId id="1983" r:id="rId29"/>
    <p:sldId id="1794" r:id="rId30"/>
    <p:sldId id="1795" r:id="rId31"/>
    <p:sldId id="1796" r:id="rId32"/>
    <p:sldId id="1797" r:id="rId33"/>
    <p:sldId id="1798" r:id="rId34"/>
    <p:sldId id="1799" r:id="rId35"/>
    <p:sldId id="1800" r:id="rId36"/>
    <p:sldId id="1801" r:id="rId37"/>
    <p:sldId id="1802" r:id="rId38"/>
    <p:sldId id="1803" r:id="rId39"/>
    <p:sldId id="1804" r:id="rId40"/>
    <p:sldId id="1881" r:id="rId41"/>
    <p:sldId id="1805" r:id="rId42"/>
    <p:sldId id="1806" r:id="rId43"/>
    <p:sldId id="1807" r:id="rId44"/>
    <p:sldId id="1985" r:id="rId45"/>
    <p:sldId id="1809" r:id="rId46"/>
    <p:sldId id="1810" r:id="rId47"/>
    <p:sldId id="1986" r:id="rId48"/>
    <p:sldId id="1989" r:id="rId49"/>
    <p:sldId id="1812" r:id="rId50"/>
    <p:sldId id="1990" r:id="rId51"/>
    <p:sldId id="1815" r:id="rId52"/>
    <p:sldId id="1816" r:id="rId53"/>
    <p:sldId id="1817" r:id="rId54"/>
    <p:sldId id="1882" r:id="rId55"/>
    <p:sldId id="1818" r:id="rId56"/>
    <p:sldId id="1819" r:id="rId57"/>
    <p:sldId id="1883" r:id="rId58"/>
    <p:sldId id="1831" r:id="rId59"/>
    <p:sldId id="1832" r:id="rId60"/>
    <p:sldId id="1833" r:id="rId61"/>
    <p:sldId id="1834" r:id="rId62"/>
    <p:sldId id="2193" r:id="rId63"/>
    <p:sldId id="1835" r:id="rId64"/>
    <p:sldId id="1836" r:id="rId65"/>
    <p:sldId id="1838" r:id="rId66"/>
    <p:sldId id="1839" r:id="rId67"/>
    <p:sldId id="1841" r:id="rId68"/>
    <p:sldId id="1842" r:id="rId69"/>
    <p:sldId id="1843" r:id="rId70"/>
    <p:sldId id="1845" r:id="rId71"/>
    <p:sldId id="1846" r:id="rId72"/>
    <p:sldId id="2089" r:id="rId73"/>
    <p:sldId id="1848" r:id="rId74"/>
    <p:sldId id="1850" r:id="rId75"/>
    <p:sldId id="1851" r:id="rId76"/>
    <p:sldId id="1852" r:id="rId77"/>
    <p:sldId id="1853" r:id="rId78"/>
    <p:sldId id="1854" r:id="rId79"/>
    <p:sldId id="1855" r:id="rId80"/>
    <p:sldId id="1856" r:id="rId81"/>
    <p:sldId id="1884" r:id="rId82"/>
    <p:sldId id="1857" r:id="rId83"/>
    <p:sldId id="1858" r:id="rId84"/>
    <p:sldId id="1859" r:id="rId85"/>
    <p:sldId id="1885" r:id="rId86"/>
    <p:sldId id="1860" r:id="rId87"/>
    <p:sldId id="1861" r:id="rId88"/>
    <p:sldId id="1886" r:id="rId89"/>
    <p:sldId id="1862" r:id="rId90"/>
    <p:sldId id="1888" r:id="rId91"/>
    <p:sldId id="1864" r:id="rId92"/>
    <p:sldId id="2195" r:id="rId93"/>
    <p:sldId id="2194" r:id="rId94"/>
    <p:sldId id="1867" r:id="rId95"/>
    <p:sldId id="1868" r:id="rId96"/>
    <p:sldId id="2191" r:id="rId97"/>
    <p:sldId id="2188" r:id="rId98"/>
    <p:sldId id="1435" r:id="rId99"/>
  </p:sldIdLst>
  <p:sldSz cx="12192000" cy="6858000"/>
  <p:notesSz cx="7104063"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1pPr>
    <a:lvl2pPr marL="4572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2pPr>
    <a:lvl3pPr marL="9144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3pPr>
    <a:lvl4pPr marL="13716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4pPr>
    <a:lvl5pPr marL="18288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5pPr>
    <a:lvl6pPr marL="22860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6pPr>
    <a:lvl7pPr marL="27432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7pPr>
    <a:lvl8pPr marL="32004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8pPr>
    <a:lvl9pPr marL="36576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9pPr>
  </p:defaultTextStyle>
  <p:extLst>
    <p:ext uri="{EFAFB233-063F-42B5-8137-9DF3F51BA10A}">
      <p15:sldGuideLst xmlns:p15="http://schemas.microsoft.com/office/powerpoint/2012/main">
        <p15:guide id="1" orient="horz" pos="1987">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00"/>
    <a:srgbClr val="009900"/>
    <a:srgbClr val="0B9ACF"/>
    <a:srgbClr val="DE2126"/>
    <a:srgbClr val="CC0000"/>
    <a:srgbClr val="D92227"/>
    <a:srgbClr val="FFC000"/>
    <a:srgbClr val="0B9BD0"/>
    <a:srgbClr val="0D9CD0"/>
    <a:srgbClr val="E8A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35" autoAdjust="0"/>
    <p:restoredTop sz="92019" autoAdjust="0"/>
  </p:normalViewPr>
  <p:slideViewPr>
    <p:cSldViewPr snapToGrid="0">
      <p:cViewPr varScale="1">
        <p:scale>
          <a:sx n="105" d="100"/>
          <a:sy n="105" d="100"/>
        </p:scale>
        <p:origin x="534" y="84"/>
      </p:cViewPr>
      <p:guideLst>
        <p:guide orient="horz" pos="198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fontAlgn="auto">
              <a:buFont typeface="Arial" panose="020B0604020202020204" pitchFamily="34" charset="0"/>
              <a:buNone/>
              <a:defRPr sz="1245" noProof="1"/>
            </a:lvl1pPr>
          </a:lstStyle>
          <a:p>
            <a:pPr>
              <a:defRPr/>
            </a:pPr>
            <a:endParaRPr lang="zh-CN" altLang="en-US"/>
          </a:p>
        </p:txBody>
      </p:sp>
      <p:sp>
        <p:nvSpPr>
          <p:cNvPr id="3" name="日期占位符 2"/>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fontAlgn="auto">
              <a:buFont typeface="Arial" panose="020B0604020202020204" pitchFamily="34" charset="0"/>
              <a:buNone/>
              <a:defRPr sz="1245" noProof="1">
                <a:latin typeface="+mn-lt"/>
                <a:ea typeface="+mn-ea"/>
                <a:cs typeface="+mn-cs"/>
              </a:defRPr>
            </a:lvl1pPr>
          </a:lstStyle>
          <a:p>
            <a:pPr>
              <a:defRPr/>
            </a:pPr>
            <a:fld id="{5C5A39C2-DCDB-4A91-B843-CEA163FE8BB4}" type="datetimeFigureOut">
              <a:rPr lang="zh-CN" altLang="en-US"/>
              <a:pPr>
                <a:defRPr/>
              </a:pPr>
              <a:t>2024/6/14</a:t>
            </a:fld>
            <a:endParaRPr lang="zh-CN" altLang="en-US"/>
          </a:p>
        </p:txBody>
      </p:sp>
      <p:sp>
        <p:nvSpPr>
          <p:cNvPr id="4" name="页脚占位符 3"/>
          <p:cNvSpPr>
            <a:spLocks noGrp="1"/>
          </p:cNvSpPr>
          <p:nvPr>
            <p:ph type="ftr" sz="quarter" idx="2"/>
          </p:nvPr>
        </p:nvSpPr>
        <p:spPr>
          <a:xfrm>
            <a:off x="0" y="9720263"/>
            <a:ext cx="3078163" cy="514350"/>
          </a:xfrm>
          <a:prstGeom prst="rect">
            <a:avLst/>
          </a:prstGeom>
        </p:spPr>
        <p:txBody>
          <a:bodyPr vert="horz" lIns="91440" tIns="45720" rIns="91440" bIns="45720" rtlCol="0" anchor="b"/>
          <a:lstStyle>
            <a:lvl1pPr algn="l" fontAlgn="auto">
              <a:buFont typeface="Arial" panose="020B0604020202020204" pitchFamily="34" charset="0"/>
              <a:buNone/>
              <a:defRPr sz="1245" noProof="1"/>
            </a:lvl1pPr>
          </a:lstStyle>
          <a:p>
            <a:pPr>
              <a:defRPr/>
            </a:pPr>
            <a:endParaRPr lang="zh-CN" altLang="en-US"/>
          </a:p>
        </p:txBody>
      </p:sp>
      <p:sp>
        <p:nvSpPr>
          <p:cNvPr id="5" name="灯片编号占位符 4"/>
          <p:cNvSpPr>
            <a:spLocks noGrp="1"/>
          </p:cNvSpPr>
          <p:nvPr>
            <p:ph type="sldNum" sz="quarter" idx="3"/>
          </p:nvPr>
        </p:nvSpPr>
        <p:spPr>
          <a:xfrm>
            <a:off x="4024313" y="9720263"/>
            <a:ext cx="3078162" cy="514350"/>
          </a:xfrm>
          <a:prstGeom prst="rect">
            <a:avLst/>
          </a:prstGeom>
        </p:spPr>
        <p:txBody>
          <a:bodyPr vert="horz" wrap="square" lIns="91440" tIns="45720" rIns="91440" bIns="45720" numCol="1" anchor="b" anchorCtr="0" compatLnSpc="1"/>
          <a:lstStyle>
            <a:lvl1pPr algn="r">
              <a:buFont typeface="Arial" panose="020B0604020202020204" pitchFamily="34" charset="0"/>
              <a:buNone/>
              <a:defRPr sz="1200"/>
            </a:lvl1pPr>
          </a:lstStyle>
          <a:p>
            <a:pPr>
              <a:defRPr/>
            </a:pPr>
            <a:fld id="{6BAC33A3-47FB-4082-826B-926D997FCDB6}"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fontAlgn="auto">
              <a:buFont typeface="Arial" panose="020B0604020202020204" pitchFamily="34" charset="0"/>
              <a:buNone/>
              <a:defRPr sz="1200" noProof="1"/>
            </a:lvl1pPr>
          </a:lstStyle>
          <a:p>
            <a:pPr>
              <a:defRPr/>
            </a:pPr>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fontAlgn="auto">
              <a:buFont typeface="Arial" panose="020B0604020202020204" pitchFamily="34" charset="0"/>
              <a:buNone/>
              <a:defRPr sz="1200" noProof="1">
                <a:latin typeface="+mn-lt"/>
                <a:ea typeface="+mn-ea"/>
                <a:cs typeface="+mn-cs"/>
              </a:defRPr>
            </a:lvl1pPr>
          </a:lstStyle>
          <a:p>
            <a:pPr>
              <a:defRPr/>
            </a:pPr>
            <a:fld id="{92D12AD9-1B21-46F8-893C-601AAB1B8675}" type="datetimeFigureOut">
              <a:rPr lang="zh-CN" altLang="en-US"/>
              <a:pPr>
                <a:defRPr/>
              </a:pPr>
              <a:t>2024/6/14</a:t>
            </a:fld>
            <a:endParaRPr lang="zh-CN" altLang="en-US"/>
          </a:p>
        </p:txBody>
      </p:sp>
      <p:sp>
        <p:nvSpPr>
          <p:cNvPr id="47108" name="幻灯片图像占位符 3"/>
          <p:cNvSpPr>
            <a:spLocks noGrp="1" noRot="1" noChangeAspect="1" noChangeArrowheads="1"/>
          </p:cNvSpPr>
          <p:nvPr>
            <p:ph type="sldImg" idx="4294967295"/>
          </p:nvPr>
        </p:nvSpPr>
        <p:spPr bwMode="auto">
          <a:xfrm>
            <a:off x="481013" y="1279525"/>
            <a:ext cx="6140450" cy="3454400"/>
          </a:xfrm>
          <a:prstGeom prst="rect">
            <a:avLst/>
          </a:prstGeom>
          <a:noFill/>
          <a:ln w="12700">
            <a:solidFill>
              <a:srgbClr val="000000"/>
            </a:solidFill>
            <a:round/>
          </a:ln>
        </p:spPr>
      </p:sp>
      <p:sp>
        <p:nvSpPr>
          <p:cNvPr id="8197" name="备注占位符 4"/>
          <p:cNvSpPr>
            <a:spLocks noGrp="1" noChangeArrowheads="1"/>
          </p:cNvSpPr>
          <p:nvPr>
            <p:ph type="body" sz="quarter" idx="9"/>
          </p:nvPr>
        </p:nvSpPr>
        <p:spPr bwMode="auto">
          <a:xfrm>
            <a:off x="709613" y="4926013"/>
            <a:ext cx="5683250" cy="4029075"/>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0263"/>
            <a:ext cx="3078163" cy="514350"/>
          </a:xfrm>
          <a:prstGeom prst="rect">
            <a:avLst/>
          </a:prstGeom>
        </p:spPr>
        <p:txBody>
          <a:bodyPr vert="horz" lIns="91440" tIns="45720" rIns="91440" bIns="45720" rtlCol="0" anchor="b"/>
          <a:lstStyle>
            <a:lvl1pPr algn="l" fontAlgn="auto">
              <a:buFont typeface="Arial" panose="020B0604020202020204" pitchFamily="34" charset="0"/>
              <a:buNone/>
              <a:defRPr sz="1200" noProof="1"/>
            </a:lvl1pPr>
          </a:lstStyle>
          <a:p>
            <a:pPr>
              <a:defRPr/>
            </a:pPr>
            <a:endParaRPr lang="zh-CN" altLang="en-US"/>
          </a:p>
        </p:txBody>
      </p:sp>
      <p:sp>
        <p:nvSpPr>
          <p:cNvPr id="7" name="灯片编号占位符 6"/>
          <p:cNvSpPr>
            <a:spLocks noGrp="1"/>
          </p:cNvSpPr>
          <p:nvPr>
            <p:ph type="sldNum" sz="quarter" idx="5"/>
          </p:nvPr>
        </p:nvSpPr>
        <p:spPr>
          <a:xfrm>
            <a:off x="4024313" y="9720263"/>
            <a:ext cx="3078162" cy="514350"/>
          </a:xfrm>
          <a:prstGeom prst="rect">
            <a:avLst/>
          </a:prstGeom>
        </p:spPr>
        <p:txBody>
          <a:bodyPr vert="horz" wrap="square" lIns="91440" tIns="45720" rIns="91440" bIns="45720" numCol="1" anchor="b" anchorCtr="0" compatLnSpc="1"/>
          <a:lstStyle>
            <a:lvl1pPr algn="r">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fld id="{2FDB1411-5CFF-45D5-9989-BCF80D1790E1}" type="slidenum">
              <a:rPr lang="zh-CN" altLang="en-US"/>
              <a:pPr>
                <a:defRPr/>
              </a:pPr>
              <a:t>‹#›</a:t>
            </a:fld>
            <a:endParaRPr lang="zh-CN" altLang="en-US"/>
          </a:p>
        </p:txBody>
      </p:sp>
    </p:spTree>
    <p:extLst>
      <p:ext uri="{BB962C8B-B14F-4D97-AF65-F5344CB8AC3E}">
        <p14:creationId xmlns:p14="http://schemas.microsoft.com/office/powerpoint/2010/main" val="2025618866"/>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ChangeArrowheads="1" noTextEdit="1"/>
          </p:cNvSpPr>
          <p:nvPr>
            <p:ph type="sldImg" idx="4294967295"/>
          </p:nvPr>
        </p:nvSpPr>
        <p:spPr>
          <a:ln>
            <a:miter lim="800000"/>
          </a:ln>
        </p:spPr>
      </p:sp>
      <p:sp>
        <p:nvSpPr>
          <p:cNvPr id="48131" name="文本占位符 2"/>
          <p:cNvSpPr>
            <a:spLocks noGrp="1" noChangeArrowheads="1"/>
          </p:cNvSpPr>
          <p:nvPr>
            <p:ph type="body" idx="4294967295"/>
          </p:nvPr>
        </p:nvSpPr>
        <p:spPr>
          <a:noFill/>
        </p:spPr>
        <p:txBody>
          <a:bodyPr/>
          <a:lstStyle/>
          <a:p>
            <a:pPr eaLnBrk="1" hangingPunct="1"/>
            <a:endParaRPr lang="zh-CN" altLang="en-US" dirty="0"/>
          </a:p>
        </p:txBody>
      </p:sp>
      <p:sp>
        <p:nvSpPr>
          <p:cNvPr id="48132" name="灯片编号占位符 3"/>
          <p:cNvSpPr>
            <a:spLocks noGrp="1" noChangeArrowheads="1"/>
          </p:cNvSpPr>
          <p:nvPr>
            <p:ph type="sldNum" sz="quarter" idx="5"/>
          </p:nvPr>
        </p:nvSpPr>
        <p:spPr bwMode="auto">
          <a:noFill/>
          <a:ln>
            <a:miter lim="800000"/>
          </a:ln>
        </p:spPr>
        <p:txBody>
          <a:bodyPr/>
          <a:lstStyle/>
          <a:p>
            <a:fld id="{EEAFF227-7F20-4DA8-8FDA-44BEEE954114}"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ChangeArrowheads="1" noTextEdit="1"/>
          </p:cNvSpPr>
          <p:nvPr>
            <p:ph type="sldImg" idx="4294967295"/>
          </p:nvPr>
        </p:nvSpPr>
        <p:spPr>
          <a:ln>
            <a:miter lim="800000"/>
          </a:ln>
        </p:spPr>
      </p:sp>
      <p:sp>
        <p:nvSpPr>
          <p:cNvPr id="49155" name="文本占位符 2"/>
          <p:cNvSpPr>
            <a:spLocks noGrp="1" noChangeArrowheads="1"/>
          </p:cNvSpPr>
          <p:nvPr>
            <p:ph type="body" idx="4294967295"/>
          </p:nvPr>
        </p:nvSpPr>
        <p:spPr>
          <a:noFill/>
        </p:spPr>
        <p:txBody>
          <a:bodyPr/>
          <a:lstStyle/>
          <a:p>
            <a:pPr eaLnBrk="1" hangingPunct="1"/>
            <a:endParaRPr lang="zh-CN" altLang="en-US"/>
          </a:p>
        </p:txBody>
      </p:sp>
      <p:sp>
        <p:nvSpPr>
          <p:cNvPr id="49156" name="灯片编号占位符 3"/>
          <p:cNvSpPr>
            <a:spLocks noGrp="1" noChangeArrowheads="1"/>
          </p:cNvSpPr>
          <p:nvPr>
            <p:ph type="sldNum" sz="quarter" idx="5"/>
          </p:nvPr>
        </p:nvSpPr>
        <p:spPr bwMode="auto">
          <a:noFill/>
          <a:ln>
            <a:miter lim="800000"/>
          </a:ln>
        </p:spPr>
        <p:txBody>
          <a:bodyPr/>
          <a:lstStyle/>
          <a:p>
            <a:fld id="{CCEDD406-8F44-4401-9932-B6C8EF0C44BA}"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3</a:t>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10</a:t>
            </a:fld>
            <a:endParaRPr lang="en-US"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latinLnBrk="1"/>
            <a:r>
              <a:rPr lang="en" altLang="zh-CN" sz="1200" b="0" i="0" kern="1200" dirty="0">
                <a:solidFill>
                  <a:schemeClr val="tx1"/>
                </a:solidFill>
                <a:effectLst/>
                <a:latin typeface="+mn-lt"/>
                <a:ea typeface="+mn-ea"/>
                <a:cs typeface="+mn-cs"/>
              </a:rPr>
              <a:t>echo -n </a:t>
            </a:r>
            <a:r>
              <a:rPr lang="zh-CN" altLang="en-US" sz="1200" b="0" i="0" kern="1200" dirty="0">
                <a:solidFill>
                  <a:schemeClr val="tx1"/>
                </a:solidFill>
                <a:effectLst/>
                <a:latin typeface="+mn-lt"/>
                <a:ea typeface="+mn-ea"/>
                <a:cs typeface="+mn-cs"/>
              </a:rPr>
              <a:t>表示不换行输出</a:t>
            </a:r>
          </a:p>
          <a:p>
            <a:br>
              <a:rPr lang="zh-CN" altLang="en-US" dirty="0"/>
            </a:br>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13</a:t>
            </a:fld>
            <a:endParaRPr lang="zh-CN" altLang="en-US"/>
          </a:p>
        </p:txBody>
      </p:sp>
    </p:spTree>
    <p:extLst>
      <p:ext uri="{BB962C8B-B14F-4D97-AF65-F5344CB8AC3E}">
        <p14:creationId xmlns:p14="http://schemas.microsoft.com/office/powerpoint/2010/main" val="332787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18</a:t>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反斜杠（</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）：使反斜杠后面的一个变量变为单纯的字符串。</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单引号（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）：转义其中所有的变量为单纯的字符串。</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双引号（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）：保留其中的变量属性，不进行转义处理。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反引号（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）：把其中的命令执行后返回结果。</a:t>
            </a:r>
            <a:endPar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endParaRPr>
          </a:p>
          <a:p>
            <a:pPr indent="152400" algn="just">
              <a:lnSpc>
                <a:spcPts val="1725"/>
              </a:lnSpc>
            </a:pPr>
            <a:endParaRPr lang="en-US" altLang="zh-CN" sz="1800" kern="0" dirty="0">
              <a:solidFill>
                <a:srgbClr val="3D4450"/>
              </a:solidFill>
              <a:effectLst/>
              <a:latin typeface="等线" panose="02010600030101010101" pitchFamily="2" charset="-122"/>
              <a:ea typeface="微软雅黑" panose="020B0503020204020204" pitchFamily="34" charset="-122"/>
              <a:cs typeface="Times New Roman" panose="02020603050405020304" pitchFamily="18" charset="0"/>
            </a:endParaRPr>
          </a:p>
          <a:p>
            <a:pPr marL="0" marR="0" lvl="0" indent="152400" algn="just" defTabSz="914400" rtl="0" eaLnBrk="0" fontAlgn="base" latinLnBrk="0" hangingPunct="0">
              <a:lnSpc>
                <a:spcPts val="1725"/>
              </a:lnSpc>
              <a:spcBef>
                <a:spcPct val="0"/>
              </a:spcBef>
              <a:spcAft>
                <a:spcPct val="0"/>
              </a:spcAft>
              <a:buClrTx/>
              <a:buSzTx/>
              <a:buFontTx/>
              <a:buNone/>
              <a:tabLst/>
              <a:defRPr/>
            </a:pPr>
            <a:r>
              <a:rPr lang="zh-CN" altLang="en-US" sz="1800" b="0" i="0" kern="1200" dirty="0">
                <a:solidFill>
                  <a:schemeClr val="tx1"/>
                </a:solidFill>
                <a:effectLst/>
                <a:latin typeface="+mn-lt"/>
                <a:ea typeface="+mn-ea"/>
                <a:cs typeface="+mn-cs"/>
              </a:rPr>
              <a:t>以单引号</a:t>
            </a:r>
            <a:r>
              <a:rPr lang="en-US" altLang="zh-CN" sz="1800" b="0" i="0" kern="1200" dirty="0">
                <a:solidFill>
                  <a:schemeClr val="tx1"/>
                </a:solidFill>
                <a:effectLst/>
                <a:latin typeface="+mn-lt"/>
                <a:ea typeface="+mn-ea"/>
                <a:cs typeface="+mn-cs"/>
              </a:rPr>
              <a:t>' '</a:t>
            </a:r>
            <a:r>
              <a:rPr lang="zh-CN" altLang="en-US" sz="1800" b="0" i="0" kern="1200" dirty="0">
                <a:solidFill>
                  <a:schemeClr val="tx1"/>
                </a:solidFill>
                <a:effectLst/>
                <a:latin typeface="+mn-lt"/>
                <a:ea typeface="+mn-ea"/>
                <a:cs typeface="+mn-cs"/>
              </a:rPr>
              <a:t>包围变量的值时，单引号里面是什么就输出什么，即使内容中有变量和命令（命令需要反引起来）也会把它们原样输出。这种方式比较适合定义显示纯字符串的情况，即不希望解析变量、命令等的场景。</a:t>
            </a:r>
            <a:br>
              <a:rPr lang="zh-CN" altLang="en-US" sz="1800" b="0" i="0" kern="1200" dirty="0">
                <a:solidFill>
                  <a:schemeClr val="tx1"/>
                </a:solidFill>
                <a:effectLst/>
                <a:latin typeface="+mn-lt"/>
                <a:ea typeface="+mn-ea"/>
                <a:cs typeface="+mn-cs"/>
              </a:rPr>
            </a:br>
            <a:r>
              <a:rPr lang="zh-CN" altLang="en-US" sz="1800" b="0" i="0" kern="1200" dirty="0">
                <a:solidFill>
                  <a:schemeClr val="tx1"/>
                </a:solidFill>
                <a:effectLst/>
                <a:latin typeface="+mn-lt"/>
                <a:ea typeface="+mn-ea"/>
                <a:cs typeface="+mn-cs"/>
              </a:rPr>
              <a:t>以双引号</a:t>
            </a:r>
            <a:r>
              <a:rPr lang="en-US" altLang="zh-CN" sz="1800" b="0" i="0" kern="1200" dirty="0">
                <a:solidFill>
                  <a:schemeClr val="tx1"/>
                </a:solidFill>
                <a:effectLst/>
                <a:latin typeface="+mn-lt"/>
                <a:ea typeface="+mn-ea"/>
                <a:cs typeface="+mn-cs"/>
              </a:rPr>
              <a:t>" "</a:t>
            </a:r>
            <a:r>
              <a:rPr lang="zh-CN" altLang="en-US" sz="1800" b="0" i="0" kern="1200" dirty="0">
                <a:solidFill>
                  <a:schemeClr val="tx1"/>
                </a:solidFill>
                <a:effectLst/>
                <a:latin typeface="+mn-lt"/>
                <a:ea typeface="+mn-ea"/>
                <a:cs typeface="+mn-cs"/>
              </a:rPr>
              <a:t>包围变量的值时，输出时会先解析里面的变量和命令，而不是把双引号中的变量名和命令原样输出。这种方式比较适合字符串中附带有变量和命令并且想将其解析后再输出的变量定义。</a:t>
            </a:r>
            <a:br>
              <a:rPr lang="zh-CN" altLang="en-US" sz="1800" b="0" i="0" kern="1200" dirty="0">
                <a:solidFill>
                  <a:schemeClr val="tx1"/>
                </a:solidFill>
                <a:effectLst/>
                <a:latin typeface="+mn-lt"/>
                <a:ea typeface="+mn-ea"/>
                <a:cs typeface="+mn-cs"/>
              </a:rPr>
            </a:br>
            <a:r>
              <a:rPr lang="zh-CN" altLang="en-US" sz="1800" b="0" i="0" kern="1200" dirty="0">
                <a:solidFill>
                  <a:schemeClr val="tx1"/>
                </a:solidFill>
                <a:effectLst/>
                <a:latin typeface="+mn-lt"/>
                <a:ea typeface="+mn-ea"/>
                <a:cs typeface="+mn-cs"/>
              </a:rPr>
              <a:t>建议：如果变量的内容是数字，那么可以不加引号；如果真的需要原样输出就加单引号；其他没有特别要求的字符串等最好都加上双引号，定义变量时加双引号是最常见的使用场景。</a:t>
            </a:r>
          </a:p>
          <a:p>
            <a:pPr indent="152400" algn="just">
              <a:lnSpc>
                <a:spcPts val="1725"/>
              </a:lnSpc>
            </a:pP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Eg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root@localhost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shell_test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echo "echo $SHELL"</a:t>
            </a:r>
          </a:p>
          <a:p>
            <a:pPr indent="152400" algn="just">
              <a:lnSpc>
                <a:spcPts val="1725"/>
              </a:lnSpc>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echo /bin/bash</a:t>
            </a:r>
          </a:p>
          <a:p>
            <a:pPr indent="152400" algn="just">
              <a:lnSpc>
                <a:spcPts val="1725"/>
              </a:lnSpc>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root@localhost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shell_test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echo `echo $SHELL`</a:t>
            </a:r>
          </a:p>
          <a:p>
            <a:pPr indent="152400" algn="just">
              <a:lnSpc>
                <a:spcPts val="1725"/>
              </a:lnSpc>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/bin/bash</a:t>
            </a:r>
          </a:p>
          <a:p>
            <a:pPr indent="152400" algn="just">
              <a:lnSpc>
                <a:spcPts val="1725"/>
              </a:lnSpc>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root@localhost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shell_test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echo 'echo $SHELL'</a:t>
            </a:r>
          </a:p>
          <a:p>
            <a:pPr indent="152400" algn="just">
              <a:lnSpc>
                <a:spcPts val="1725"/>
              </a:lnSpc>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echo $SHELL</a:t>
            </a:r>
          </a:p>
          <a:p>
            <a:pPr indent="152400" algn="just">
              <a:lnSpc>
                <a:spcPts val="1725"/>
              </a:lnSpc>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br>
              <a:rPr lang="zh-CN" altLang="en-US" dirty="0"/>
            </a:br>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20</a:t>
            </a:fld>
            <a:endParaRPr lang="zh-CN" altLang="en-US"/>
          </a:p>
        </p:txBody>
      </p:sp>
    </p:spTree>
    <p:extLst>
      <p:ext uri="{BB962C8B-B14F-4D97-AF65-F5344CB8AC3E}">
        <p14:creationId xmlns:p14="http://schemas.microsoft.com/office/powerpoint/2010/main" val="928293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21</a:t>
            </a:fld>
            <a:endParaRPr lang="zh-CN" altLang="en-US"/>
          </a:p>
        </p:txBody>
      </p:sp>
    </p:spTree>
    <p:extLst>
      <p:ext uri="{BB962C8B-B14F-4D97-AF65-F5344CB8AC3E}">
        <p14:creationId xmlns:p14="http://schemas.microsoft.com/office/powerpoint/2010/main" val="4075465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反斜杠（</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）：使反斜杠后面的一个变量变为单纯的字符串。</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单引号（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）：转义其中所有的变量为单纯的字符串。</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双引号（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）：保留其中的变量属性，不进行转义处理。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反引号（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）：把其中的命令执行后返回结果。</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22</a:t>
            </a:fld>
            <a:endParaRPr lang="zh-CN" altLang="en-US"/>
          </a:p>
        </p:txBody>
      </p:sp>
    </p:spTree>
    <p:extLst>
      <p:ext uri="{BB962C8B-B14F-4D97-AF65-F5344CB8AC3E}">
        <p14:creationId xmlns:p14="http://schemas.microsoft.com/office/powerpoint/2010/main" val="4007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反斜杠（</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）：使反斜杠后面的一个变量变为单纯的字符串。</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单引号（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）：转义其中所有的变量为单纯的字符串。</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spcAft>
                <a:spcPts val="750"/>
              </a:spcAft>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双引号（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）：保留其中的变量属性，不进行转义处理。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52400" algn="just">
              <a:lnSpc>
                <a:spcPts val="1725"/>
              </a:lnSpc>
            </a:pP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反引号（</a:t>
            </a:r>
            <a:r>
              <a:rPr lang="en-US"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a:t>
            </a:r>
            <a:r>
              <a:rPr lang="zh-CN" altLang="zh-CN" sz="1800" kern="0" dirty="0">
                <a:solidFill>
                  <a:srgbClr val="3D4450"/>
                </a:solidFill>
                <a:effectLst/>
                <a:latin typeface="等线" panose="02010600030101010101" pitchFamily="2" charset="-122"/>
                <a:ea typeface="微软雅黑" panose="020B0503020204020204" pitchFamily="34" charset="-122"/>
                <a:cs typeface="宋体" panose="02010600030101010101" pitchFamily="2" charset="-122"/>
              </a:rPr>
              <a:t>）：把其中的命令执行后返回结果。</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24</a:t>
            </a:fld>
            <a:endParaRPr lang="zh-CN" altLang="en-US"/>
          </a:p>
        </p:txBody>
      </p:sp>
    </p:spTree>
    <p:extLst>
      <p:ext uri="{BB962C8B-B14F-4D97-AF65-F5344CB8AC3E}">
        <p14:creationId xmlns:p14="http://schemas.microsoft.com/office/powerpoint/2010/main" val="474164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40</a:t>
            </a:fld>
            <a:endParaRPr lang="en-US"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b="0" i="0" kern="1200" dirty="0">
                <a:solidFill>
                  <a:schemeClr val="tx1"/>
                </a:solidFill>
                <a:effectLst/>
                <a:latin typeface="+mn-lt"/>
                <a:ea typeface="+mn-ea"/>
                <a:cs typeface="+mn-cs"/>
              </a:rPr>
              <a:t>内部变量：系统提供，不用定义，不能修改</a:t>
            </a:r>
            <a:br>
              <a:rPr lang="zh-CN" altLang="en-US" sz="1600" dirty="0"/>
            </a:br>
            <a:r>
              <a:rPr lang="zh-CN" altLang="en-US" sz="1600" b="0" i="0" kern="1200" dirty="0">
                <a:solidFill>
                  <a:schemeClr val="tx1"/>
                </a:solidFill>
                <a:effectLst/>
                <a:latin typeface="+mn-lt"/>
                <a:ea typeface="+mn-ea"/>
                <a:cs typeface="+mn-cs"/>
              </a:rPr>
              <a:t>环境变量：系统提供，不用定义，可以修改</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可以利用</a:t>
            </a:r>
            <a:r>
              <a:rPr lang="en" altLang="zh-CN" sz="1600" b="0" i="0" kern="1200" dirty="0">
                <a:solidFill>
                  <a:schemeClr val="tx1"/>
                </a:solidFill>
                <a:effectLst/>
                <a:latin typeface="+mn-lt"/>
                <a:ea typeface="+mn-ea"/>
                <a:cs typeface="+mn-cs"/>
              </a:rPr>
              <a:t>export</a:t>
            </a:r>
            <a:r>
              <a:rPr lang="zh-CN" altLang="en-US" sz="1600" b="0" i="0" kern="1200" dirty="0">
                <a:solidFill>
                  <a:schemeClr val="tx1"/>
                </a:solidFill>
                <a:effectLst/>
                <a:latin typeface="+mn-lt"/>
                <a:ea typeface="+mn-ea"/>
                <a:cs typeface="+mn-cs"/>
              </a:rPr>
              <a:t>将用户变量转为环境变量</a:t>
            </a:r>
            <a:r>
              <a:rPr lang="en-US" altLang="zh-CN" sz="1600" b="0" i="0" kern="1200" dirty="0">
                <a:solidFill>
                  <a:schemeClr val="tx1"/>
                </a:solidFill>
                <a:effectLst/>
                <a:latin typeface="+mn-lt"/>
                <a:ea typeface="+mn-ea"/>
                <a:cs typeface="+mn-cs"/>
              </a:rPr>
              <a:t>.</a:t>
            </a:r>
            <a:br>
              <a:rPr lang="zh-CN" altLang="en-US" sz="1600" dirty="0"/>
            </a:br>
            <a:r>
              <a:rPr lang="zh-CN" altLang="en-US" sz="1600" b="0" i="0" kern="1200" dirty="0">
                <a:solidFill>
                  <a:schemeClr val="tx1"/>
                </a:solidFill>
                <a:effectLst/>
                <a:latin typeface="+mn-lt"/>
                <a:ea typeface="+mn-ea"/>
                <a:cs typeface="+mn-cs"/>
              </a:rPr>
              <a:t>用户变量：用户定义，可以修改</a:t>
            </a:r>
            <a:endParaRPr lang="en-US" altLang="zh-CN" sz="1600" b="0" i="0" kern="1200" dirty="0">
              <a:solidFill>
                <a:schemeClr val="tx1"/>
              </a:solidFill>
              <a:effectLst/>
              <a:latin typeface="+mn-lt"/>
              <a:ea typeface="+mn-ea"/>
              <a:cs typeface="+mn-cs"/>
            </a:endParaRPr>
          </a:p>
          <a:p>
            <a:r>
              <a:rPr lang="en-US" altLang="zh-CN" sz="1600" b="0" i="0" kern="1200" dirty="0">
                <a:solidFill>
                  <a:schemeClr val="tx1"/>
                </a:solidFill>
                <a:effectLst/>
                <a:latin typeface="+mn-lt"/>
                <a:ea typeface="+mn-ea"/>
                <a:cs typeface="+mn-cs"/>
              </a:rPr>
              <a:t>(1)</a:t>
            </a:r>
            <a:r>
              <a:rPr lang="zh-CN" altLang="en-US" sz="1600" b="0" i="0" kern="1200" dirty="0">
                <a:solidFill>
                  <a:schemeClr val="tx1"/>
                </a:solidFill>
                <a:effectLst/>
                <a:latin typeface="+mn-lt"/>
                <a:ea typeface="+mn-ea"/>
                <a:cs typeface="+mn-cs"/>
              </a:rPr>
              <a:t>内部变量</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系统变量</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环境变量</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参数变量</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预定义变量</a:t>
            </a:r>
            <a:r>
              <a:rPr lang="en-US" altLang="zh-CN" sz="1600" b="0" i="0" kern="1200" dirty="0">
                <a:solidFill>
                  <a:schemeClr val="tx1"/>
                </a:solidFill>
                <a:effectLst/>
                <a:latin typeface="+mn-lt"/>
                <a:ea typeface="+mn-ea"/>
                <a:cs typeface="+mn-cs"/>
              </a:rPr>
              <a:t>)</a:t>
            </a:r>
            <a:br>
              <a:rPr lang="zh-CN" altLang="en-US" sz="1600" dirty="0"/>
            </a:br>
            <a:r>
              <a:rPr lang="zh-CN" altLang="en-US" sz="1600" b="0" i="0" kern="1200" dirty="0">
                <a:solidFill>
                  <a:schemeClr val="tx1"/>
                </a:solidFill>
                <a:effectLst/>
                <a:latin typeface="+mn-lt"/>
                <a:ea typeface="+mn-ea"/>
                <a:cs typeface="+mn-cs"/>
              </a:rPr>
              <a:t>内部变量是</a:t>
            </a:r>
            <a:r>
              <a:rPr lang="en" altLang="zh-CN" sz="1600" b="0" i="0" kern="1200" dirty="0">
                <a:solidFill>
                  <a:schemeClr val="tx1"/>
                </a:solidFill>
                <a:effectLst/>
                <a:latin typeface="+mn-lt"/>
                <a:ea typeface="+mn-ea"/>
                <a:cs typeface="+mn-cs"/>
              </a:rPr>
              <a:t>Linux</a:t>
            </a:r>
            <a:r>
              <a:rPr lang="zh-CN" altLang="en-US" sz="1600" b="0" i="0" kern="1200" dirty="0">
                <a:solidFill>
                  <a:schemeClr val="tx1"/>
                </a:solidFill>
                <a:effectLst/>
                <a:latin typeface="+mn-lt"/>
                <a:ea typeface="+mn-ea"/>
                <a:cs typeface="+mn-cs"/>
              </a:rPr>
              <a:t>所提供的一种特殊类型的变量，这类变量在程序中用来作出判断。在</a:t>
            </a:r>
            <a:r>
              <a:rPr lang="en" altLang="zh-CN" sz="1600" b="0" i="0" kern="1200" dirty="0">
                <a:solidFill>
                  <a:schemeClr val="tx1"/>
                </a:solidFill>
                <a:effectLst/>
                <a:latin typeface="+mn-lt"/>
                <a:ea typeface="+mn-ea"/>
                <a:cs typeface="+mn-cs"/>
              </a:rPr>
              <a:t>shell</a:t>
            </a:r>
            <a:r>
              <a:rPr lang="zh-CN" altLang="en-US" sz="1600" b="0" i="0" kern="1200" dirty="0">
                <a:solidFill>
                  <a:schemeClr val="tx1"/>
                </a:solidFill>
                <a:effectLst/>
                <a:latin typeface="+mn-lt"/>
                <a:ea typeface="+mn-ea"/>
                <a:cs typeface="+mn-cs"/>
              </a:rPr>
              <a:t>程序内这类变量的值是不能修改的。</a:t>
            </a:r>
            <a:br>
              <a:rPr lang="zh-CN" altLang="en-US" sz="1600" dirty="0"/>
            </a:br>
            <a:r>
              <a:rPr lang="zh-CN" altLang="en-US" sz="1600" b="0" i="0" kern="1200" dirty="0">
                <a:solidFill>
                  <a:schemeClr val="tx1"/>
                </a:solidFill>
                <a:effectLst/>
                <a:latin typeface="+mn-lt"/>
                <a:ea typeface="+mn-ea"/>
                <a:cs typeface="+mn-cs"/>
              </a:rPr>
              <a:t>表示方法 描述</a:t>
            </a:r>
            <a:br>
              <a:rPr lang="zh-CN" altLang="en-US" sz="1600" dirty="0"/>
            </a:br>
            <a:r>
              <a:rPr lang="en-US" altLang="zh-CN" sz="1600" b="0" i="0" kern="1200" dirty="0">
                <a:solidFill>
                  <a:schemeClr val="tx1"/>
                </a:solidFill>
                <a:effectLst/>
                <a:latin typeface="+mn-lt"/>
                <a:ea typeface="+mn-ea"/>
                <a:cs typeface="+mn-cs"/>
              </a:rPr>
              <a:t>$</a:t>
            </a:r>
            <a:r>
              <a:rPr lang="en" altLang="zh-CN" sz="1600" b="0" i="0" kern="1200" dirty="0">
                <a:solidFill>
                  <a:schemeClr val="tx1"/>
                </a:solidFill>
                <a:effectLst/>
                <a:latin typeface="+mn-lt"/>
                <a:ea typeface="+mn-ea"/>
                <a:cs typeface="+mn-cs"/>
              </a:rPr>
              <a:t>n $1 </a:t>
            </a:r>
            <a:r>
              <a:rPr lang="zh-CN" altLang="en-US" sz="1600" b="0" i="0" kern="1200" dirty="0">
                <a:solidFill>
                  <a:schemeClr val="tx1"/>
                </a:solidFill>
                <a:effectLst/>
                <a:latin typeface="+mn-lt"/>
                <a:ea typeface="+mn-ea"/>
                <a:cs typeface="+mn-cs"/>
              </a:rPr>
              <a:t>表示第一个参数，</a:t>
            </a:r>
            <a:r>
              <a:rPr lang="en-US" altLang="zh-CN" sz="1600" b="0" i="0" kern="1200" dirty="0">
                <a:solidFill>
                  <a:schemeClr val="tx1"/>
                </a:solidFill>
                <a:effectLst/>
                <a:latin typeface="+mn-lt"/>
                <a:ea typeface="+mn-ea"/>
                <a:cs typeface="+mn-cs"/>
              </a:rPr>
              <a:t>$2 </a:t>
            </a:r>
            <a:r>
              <a:rPr lang="zh-CN" altLang="en-US" sz="1600" b="0" i="0" kern="1200" dirty="0">
                <a:solidFill>
                  <a:schemeClr val="tx1"/>
                </a:solidFill>
                <a:effectLst/>
                <a:latin typeface="+mn-lt"/>
                <a:ea typeface="+mn-ea"/>
                <a:cs typeface="+mn-cs"/>
              </a:rPr>
              <a:t>表示第二个参数 </a:t>
            </a:r>
            <a:r>
              <a:rPr lang="en-US" altLang="zh-CN" sz="1600" b="0" i="0" kern="1200" dirty="0">
                <a:solidFill>
                  <a:schemeClr val="tx1"/>
                </a:solidFill>
                <a:effectLst/>
                <a:latin typeface="+mn-lt"/>
                <a:ea typeface="+mn-ea"/>
                <a:cs typeface="+mn-cs"/>
              </a:rPr>
              <a:t>...</a:t>
            </a:r>
            <a:br>
              <a:rPr lang="zh-CN" altLang="en-US" sz="1600" dirty="0"/>
            </a:b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命令行参数的个数</a:t>
            </a:r>
            <a:br>
              <a:rPr lang="zh-CN" altLang="en-US" sz="1600" dirty="0"/>
            </a:br>
            <a:r>
              <a:rPr lang="en-US" altLang="zh-CN" sz="1600" b="0" i="0" kern="1200" dirty="0">
                <a:solidFill>
                  <a:schemeClr val="tx1"/>
                </a:solidFill>
                <a:effectLst/>
                <a:latin typeface="+mn-lt"/>
                <a:ea typeface="+mn-ea"/>
                <a:cs typeface="+mn-cs"/>
              </a:rPr>
              <a:t>$0 </a:t>
            </a:r>
            <a:r>
              <a:rPr lang="zh-CN" altLang="en-US" sz="1600" b="0" i="0" kern="1200" dirty="0">
                <a:solidFill>
                  <a:schemeClr val="tx1"/>
                </a:solidFill>
                <a:effectLst/>
                <a:latin typeface="+mn-lt"/>
                <a:ea typeface="+mn-ea"/>
                <a:cs typeface="+mn-cs"/>
              </a:rPr>
              <a:t>当前程序的名称</a:t>
            </a:r>
            <a:br>
              <a:rPr lang="zh-CN" altLang="en-US" sz="1600" dirty="0"/>
            </a:b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前一个命令或函数的返回码</a:t>
            </a:r>
            <a:br>
              <a:rPr lang="zh-CN" altLang="en-US" sz="1600" dirty="0"/>
            </a:b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以</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参数</a:t>
            </a:r>
            <a:r>
              <a:rPr lang="en-US" altLang="zh-CN" sz="1600" b="0" i="0" kern="1200" dirty="0">
                <a:solidFill>
                  <a:schemeClr val="tx1"/>
                </a:solidFill>
                <a:effectLst/>
                <a:latin typeface="+mn-lt"/>
                <a:ea typeface="+mn-ea"/>
                <a:cs typeface="+mn-cs"/>
              </a:rPr>
              <a:t>1 </a:t>
            </a:r>
            <a:r>
              <a:rPr lang="zh-CN" altLang="en-US" sz="1600" b="0" i="0" kern="1200" dirty="0">
                <a:solidFill>
                  <a:schemeClr val="tx1"/>
                </a:solidFill>
                <a:effectLst/>
                <a:latin typeface="+mn-lt"/>
                <a:ea typeface="+mn-ea"/>
                <a:cs typeface="+mn-cs"/>
              </a:rPr>
              <a:t>参数</a:t>
            </a:r>
            <a:r>
              <a:rPr lang="en-US" altLang="zh-CN" sz="1600" b="0" i="0" kern="1200" dirty="0">
                <a:solidFill>
                  <a:schemeClr val="tx1"/>
                </a:solidFill>
                <a:effectLst/>
                <a:latin typeface="+mn-lt"/>
                <a:ea typeface="+mn-ea"/>
                <a:cs typeface="+mn-cs"/>
              </a:rPr>
              <a:t>2 ... " </a:t>
            </a:r>
            <a:r>
              <a:rPr lang="zh-CN" altLang="en-US" sz="1600" b="0" i="0" kern="1200" dirty="0">
                <a:solidFill>
                  <a:schemeClr val="tx1"/>
                </a:solidFill>
                <a:effectLst/>
                <a:latin typeface="+mn-lt"/>
                <a:ea typeface="+mn-ea"/>
                <a:cs typeface="+mn-cs"/>
              </a:rPr>
              <a:t>形式保存所有参数</a:t>
            </a:r>
            <a:br>
              <a:rPr lang="zh-CN" altLang="en-US" sz="1600" dirty="0"/>
            </a:b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以</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参数</a:t>
            </a:r>
            <a:r>
              <a:rPr lang="en-US" altLang="zh-CN" sz="1600" b="0" i="0" kern="1200" dirty="0">
                <a:solidFill>
                  <a:schemeClr val="tx1"/>
                </a:solidFill>
                <a:effectLst/>
                <a:latin typeface="+mn-lt"/>
                <a:ea typeface="+mn-ea"/>
                <a:cs typeface="+mn-cs"/>
              </a:rPr>
              <a:t>1" "</a:t>
            </a:r>
            <a:r>
              <a:rPr lang="zh-CN" altLang="en-US" sz="1600" b="0" i="0" kern="1200" dirty="0">
                <a:solidFill>
                  <a:schemeClr val="tx1"/>
                </a:solidFill>
                <a:effectLst/>
                <a:latin typeface="+mn-lt"/>
                <a:ea typeface="+mn-ea"/>
                <a:cs typeface="+mn-cs"/>
              </a:rPr>
              <a:t>参数</a:t>
            </a:r>
            <a:r>
              <a:rPr lang="en-US" altLang="zh-CN" sz="1600" b="0" i="0" kern="1200" dirty="0">
                <a:solidFill>
                  <a:schemeClr val="tx1"/>
                </a:solidFill>
                <a:effectLst/>
                <a:latin typeface="+mn-lt"/>
                <a:ea typeface="+mn-ea"/>
                <a:cs typeface="+mn-cs"/>
              </a:rPr>
              <a:t>2" ... </a:t>
            </a:r>
            <a:r>
              <a:rPr lang="zh-CN" altLang="en-US" sz="1600" b="0" i="0" kern="1200" dirty="0">
                <a:solidFill>
                  <a:schemeClr val="tx1"/>
                </a:solidFill>
                <a:effectLst/>
                <a:latin typeface="+mn-lt"/>
                <a:ea typeface="+mn-ea"/>
                <a:cs typeface="+mn-cs"/>
              </a:rPr>
              <a:t>形式保存所有参数</a:t>
            </a:r>
            <a:br>
              <a:rPr lang="zh-CN" altLang="en-US" sz="1600" dirty="0"/>
            </a:b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本程序的</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进程</a:t>
            </a:r>
            <a:r>
              <a:rPr lang="en" altLang="zh-CN" sz="1600" b="0" i="0" kern="1200" dirty="0">
                <a:solidFill>
                  <a:schemeClr val="tx1"/>
                </a:solidFill>
                <a:effectLst/>
                <a:latin typeface="+mn-lt"/>
                <a:ea typeface="+mn-ea"/>
                <a:cs typeface="+mn-cs"/>
              </a:rPr>
              <a:t>ID</a:t>
            </a:r>
            <a:r>
              <a:rPr lang="zh-CN" altLang="en-US" sz="1600" b="0" i="0" kern="1200" dirty="0">
                <a:solidFill>
                  <a:schemeClr val="tx1"/>
                </a:solidFill>
                <a:effectLst/>
                <a:latin typeface="+mn-lt"/>
                <a:ea typeface="+mn-ea"/>
                <a:cs typeface="+mn-cs"/>
              </a:rPr>
              <a:t>号</a:t>
            </a:r>
            <a:r>
              <a:rPr lang="en-US" altLang="zh-CN" sz="1600" b="0" i="0" kern="1200" dirty="0">
                <a:solidFill>
                  <a:schemeClr val="tx1"/>
                </a:solidFill>
                <a:effectLst/>
                <a:latin typeface="+mn-lt"/>
                <a:ea typeface="+mn-ea"/>
                <a:cs typeface="+mn-cs"/>
              </a:rPr>
              <a:t>)</a:t>
            </a:r>
            <a:r>
              <a:rPr lang="en" altLang="zh-CN" sz="1600" b="0" i="0" kern="1200" dirty="0">
                <a:solidFill>
                  <a:schemeClr val="tx1"/>
                </a:solidFill>
                <a:effectLst/>
                <a:latin typeface="+mn-lt"/>
                <a:ea typeface="+mn-ea"/>
                <a:cs typeface="+mn-cs"/>
              </a:rPr>
              <a:t>PID</a:t>
            </a:r>
            <a:br>
              <a:rPr lang="en" altLang="zh-CN" sz="1600" dirty="0"/>
            </a:br>
            <a:r>
              <a:rPr lang="en" altLang="zh-CN" sz="1600" b="0" i="0" kern="1200" dirty="0">
                <a:solidFill>
                  <a:schemeClr val="tx1"/>
                </a:solidFill>
                <a:effectLst/>
                <a:latin typeface="+mn-lt"/>
                <a:ea typeface="+mn-ea"/>
                <a:cs typeface="+mn-cs"/>
              </a:rPr>
              <a:t>(2) </a:t>
            </a:r>
            <a:r>
              <a:rPr lang="zh-CN" altLang="en-US" sz="1600" b="0" i="0" kern="1200" dirty="0">
                <a:solidFill>
                  <a:schemeClr val="tx1"/>
                </a:solidFill>
                <a:effectLst/>
                <a:latin typeface="+mn-lt"/>
                <a:ea typeface="+mn-ea"/>
                <a:cs typeface="+mn-cs"/>
              </a:rPr>
              <a:t>环境变量</a:t>
            </a:r>
            <a:br>
              <a:rPr lang="zh-CN" altLang="en-US" sz="1600" dirty="0"/>
            </a:br>
            <a:r>
              <a:rPr lang="en" altLang="zh-CN" sz="1600" b="0" i="0" kern="1200" dirty="0">
                <a:solidFill>
                  <a:schemeClr val="tx1"/>
                </a:solidFill>
                <a:effectLst/>
                <a:latin typeface="+mn-lt"/>
                <a:ea typeface="+mn-ea"/>
                <a:cs typeface="+mn-cs"/>
              </a:rPr>
              <a:t>Linux</a:t>
            </a:r>
            <a:r>
              <a:rPr lang="zh-CN" altLang="en-US" sz="1600" b="0" i="0" kern="1200" dirty="0">
                <a:solidFill>
                  <a:schemeClr val="tx1"/>
                </a:solidFill>
                <a:effectLst/>
                <a:latin typeface="+mn-lt"/>
                <a:ea typeface="+mn-ea"/>
                <a:cs typeface="+mn-cs"/>
              </a:rPr>
              <a:t>环境（也称为</a:t>
            </a:r>
            <a:r>
              <a:rPr lang="en" altLang="zh-CN" sz="1600" b="0" i="0" kern="1200" dirty="0">
                <a:solidFill>
                  <a:schemeClr val="tx1"/>
                </a:solidFill>
                <a:effectLst/>
                <a:latin typeface="+mn-lt"/>
                <a:ea typeface="+mn-ea"/>
                <a:cs typeface="+mn-cs"/>
              </a:rPr>
              <a:t>shell</a:t>
            </a:r>
            <a:r>
              <a:rPr lang="zh-CN" altLang="en-US" sz="1600" b="0" i="0" kern="1200" dirty="0">
                <a:solidFill>
                  <a:schemeClr val="tx1"/>
                </a:solidFill>
                <a:effectLst/>
                <a:latin typeface="+mn-lt"/>
                <a:ea typeface="+mn-ea"/>
                <a:cs typeface="+mn-cs"/>
              </a:rPr>
              <a:t>环境）由许多变量及这些变量的值组成，由这些变量和变量的值决定环境外观。这些变量就是环境变量。</a:t>
            </a:r>
            <a:br>
              <a:rPr lang="zh-CN" altLang="en-US" sz="1600" dirty="0"/>
            </a:br>
            <a:r>
              <a:rPr lang="zh-CN" altLang="en-US" sz="1600" b="0" i="0" kern="1200" dirty="0">
                <a:solidFill>
                  <a:schemeClr val="tx1"/>
                </a:solidFill>
                <a:effectLst/>
                <a:latin typeface="+mn-lt"/>
                <a:ea typeface="+mn-ea"/>
                <a:cs typeface="+mn-cs"/>
              </a:rPr>
              <a:t>包括两部分</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一是</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由系统设置的</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主要包括： </a:t>
            </a:r>
            <a:r>
              <a:rPr lang="en" altLang="zh-CN" sz="1600" b="0" i="0" kern="1200" dirty="0">
                <a:solidFill>
                  <a:schemeClr val="tx1"/>
                </a:solidFill>
                <a:effectLst/>
                <a:latin typeface="+mn-lt"/>
                <a:ea typeface="+mn-ea"/>
                <a:cs typeface="+mn-cs"/>
              </a:rPr>
              <a:t>HOME,LOGNAME,MAIL,PATH,PS1,PWD,SHELL,TERM</a:t>
            </a:r>
            <a:br>
              <a:rPr lang="en" altLang="zh-CN" sz="1600" dirty="0"/>
            </a:br>
            <a:r>
              <a:rPr lang="zh-CN" altLang="en-US" sz="1600" b="0" i="0" kern="1200" dirty="0">
                <a:solidFill>
                  <a:schemeClr val="tx1"/>
                </a:solidFill>
                <a:effectLst/>
                <a:latin typeface="+mn-lt"/>
                <a:ea typeface="+mn-ea"/>
                <a:cs typeface="+mn-cs"/>
              </a:rPr>
              <a:t>二是</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用户在命令行中设置的</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使用</a:t>
            </a:r>
            <a:r>
              <a:rPr lang="en" altLang="zh-CN" sz="1600" b="0" i="0" kern="1200" dirty="0">
                <a:solidFill>
                  <a:schemeClr val="tx1"/>
                </a:solidFill>
                <a:effectLst/>
                <a:latin typeface="+mn-lt"/>
                <a:ea typeface="+mn-ea"/>
                <a:cs typeface="+mn-cs"/>
              </a:rPr>
              <a:t>export</a:t>
            </a:r>
            <a:r>
              <a:rPr lang="zh-CN" altLang="en-US" sz="1600" b="0" i="0" kern="1200" dirty="0">
                <a:solidFill>
                  <a:schemeClr val="tx1"/>
                </a:solidFill>
                <a:effectLst/>
                <a:latin typeface="+mn-lt"/>
                <a:ea typeface="+mn-ea"/>
                <a:cs typeface="+mn-cs"/>
              </a:rPr>
              <a:t>命令</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但是用户注销时值将丢失</a:t>
            </a:r>
            <a:br>
              <a:rPr lang="zh-CN" altLang="en-US" sz="1600" dirty="0"/>
            </a:br>
            <a:r>
              <a:rPr lang="en-US" altLang="zh-CN" sz="1600" b="0" i="0" kern="1200" dirty="0">
                <a:solidFill>
                  <a:schemeClr val="tx1"/>
                </a:solidFill>
                <a:effectLst/>
                <a:latin typeface="+mn-lt"/>
                <a:ea typeface="+mn-ea"/>
                <a:cs typeface="+mn-cs"/>
              </a:rPr>
              <a:t>(3)</a:t>
            </a:r>
            <a:r>
              <a:rPr lang="zh-CN" altLang="en-US" sz="1600" b="0" i="0" kern="1200" dirty="0">
                <a:solidFill>
                  <a:schemeClr val="tx1"/>
                </a:solidFill>
                <a:effectLst/>
                <a:latin typeface="+mn-lt"/>
                <a:ea typeface="+mn-ea"/>
                <a:cs typeface="+mn-cs"/>
              </a:rPr>
              <a:t>用户变量</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私有变量</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本地变量</a:t>
            </a:r>
            <a:r>
              <a:rPr lang="en-US" altLang="zh-CN" sz="1600" b="0" i="0" kern="1200" dirty="0">
                <a:solidFill>
                  <a:schemeClr val="tx1"/>
                </a:solidFill>
                <a:effectLst/>
                <a:latin typeface="+mn-lt"/>
                <a:ea typeface="+mn-ea"/>
                <a:cs typeface="+mn-cs"/>
              </a:rPr>
              <a:t>)</a:t>
            </a:r>
            <a:br>
              <a:rPr lang="zh-CN" altLang="en-US" sz="1600" dirty="0"/>
            </a:br>
            <a:r>
              <a:rPr lang="zh-CN" altLang="en-US" sz="1600" b="0" i="0" kern="1200" dirty="0">
                <a:solidFill>
                  <a:schemeClr val="tx1"/>
                </a:solidFill>
                <a:effectLst/>
                <a:latin typeface="+mn-lt"/>
                <a:ea typeface="+mn-ea"/>
                <a:cs typeface="+mn-cs"/>
              </a:rPr>
              <a:t>在命令行中自己设定的</a:t>
            </a:r>
            <a:r>
              <a:rPr lang="en-US" altLang="zh-CN" sz="1600" b="0" i="0" kern="1200" dirty="0">
                <a:solidFill>
                  <a:schemeClr val="tx1"/>
                </a:solidFill>
                <a:effectLst/>
                <a:latin typeface="+mn-lt"/>
                <a:ea typeface="+mn-ea"/>
                <a:cs typeface="+mn-cs"/>
              </a:rPr>
              <a:t>.</a:t>
            </a:r>
            <a:endParaRPr kumimoji="1" lang="en-US" altLang="zh-CN" sz="16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41</a:t>
            </a:fld>
            <a:endParaRPr lang="zh-CN" altLang="en-US"/>
          </a:p>
        </p:txBody>
      </p:sp>
    </p:spTree>
    <p:extLst>
      <p:ext uri="{BB962C8B-B14F-4D97-AF65-F5344CB8AC3E}">
        <p14:creationId xmlns:p14="http://schemas.microsoft.com/office/powerpoint/2010/main" val="3510173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位置参数是</a:t>
            </a:r>
            <a:r>
              <a:rPr lang="en"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的一种特殊的变量，用于运行</a:t>
            </a:r>
            <a:r>
              <a:rPr lang="en"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的时候向程序传递参数。</a:t>
            </a:r>
            <a:endParaRPr lang="en-US" altLang="zh-CN" sz="1200" b="1"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dirty="0"/>
              <a:t>$?:</a:t>
            </a:r>
            <a:r>
              <a:rPr lang="zh-CN" altLang="en-US" sz="1200" dirty="0">
                <a:latin typeface="微软雅黑" panose="020B0503020204020204" pitchFamily="34" charset="-122"/>
                <a:ea typeface="微软雅黑" panose="020B0503020204020204" pitchFamily="34" charset="-122"/>
                <a:sym typeface="+mn-ea"/>
              </a:rPr>
              <a:t>上条命令执行是否成功，</a:t>
            </a:r>
            <a:r>
              <a:rPr lang="en-US" altLang="zh-CN" sz="1200" dirty="0">
                <a:latin typeface="微软雅黑" panose="020B0503020204020204" pitchFamily="34" charset="-122"/>
                <a:ea typeface="微软雅黑" panose="020B0503020204020204" pitchFamily="34" charset="-122"/>
                <a:sym typeface="+mn-ea"/>
              </a:rPr>
              <a:t>0</a:t>
            </a:r>
            <a:r>
              <a:rPr lang="zh-CN" altLang="en-US" sz="1200" dirty="0">
                <a:latin typeface="微软雅黑" panose="020B0503020204020204" pitchFamily="34" charset="-122"/>
                <a:ea typeface="微软雅黑" panose="020B0503020204020204" pitchFamily="34" charset="-122"/>
                <a:sym typeface="+mn-ea"/>
              </a:rPr>
              <a:t>是成功</a:t>
            </a:r>
            <a:endParaRPr lang="zh-CN" altLang="en-US" sz="1200" b="1" dirty="0">
              <a:solidFill>
                <a:schemeClr val="tx1"/>
              </a:solidFill>
              <a:latin typeface="微软雅黑" panose="020B0503020204020204" pitchFamily="34" charset="-122"/>
              <a:ea typeface="微软雅黑" panose="020B0503020204020204" pitchFamily="34" charset="-122"/>
              <a:sym typeface="+mn-ea"/>
            </a:endParaRPr>
          </a:p>
          <a:p>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44</a:t>
            </a:fld>
            <a:endParaRPr lang="zh-CN" altLang="en-US"/>
          </a:p>
        </p:txBody>
      </p:sp>
    </p:spTree>
    <p:extLst>
      <p:ext uri="{BB962C8B-B14F-4D97-AF65-F5344CB8AC3E}">
        <p14:creationId xmlns:p14="http://schemas.microsoft.com/office/powerpoint/2010/main" val="2790038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48</a:t>
            </a:fld>
            <a:endParaRPr lang="zh-CN" altLang="en-US"/>
          </a:p>
        </p:txBody>
      </p:sp>
    </p:spTree>
    <p:extLst>
      <p:ext uri="{BB962C8B-B14F-4D97-AF65-F5344CB8AC3E}">
        <p14:creationId xmlns:p14="http://schemas.microsoft.com/office/powerpoint/2010/main" val="2190884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位置参数是</a:t>
            </a:r>
            <a:r>
              <a:rPr lang="en"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的一种特殊的变量，用于运行</a:t>
            </a:r>
            <a:r>
              <a:rPr lang="en"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的时候向程序传递参数。</a:t>
            </a:r>
            <a:endParaRPr lang="en-US" altLang="zh-CN" sz="1200" b="0" i="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位置参数 ：在命令行传递给</a:t>
            </a:r>
            <a:r>
              <a:rPr lang="en" altLang="zh-CN" sz="1200" kern="1200" dirty="0">
                <a:solidFill>
                  <a:schemeClr val="tx1"/>
                </a:solidFill>
                <a:effectLst/>
                <a:latin typeface="+mn-lt"/>
                <a:ea typeface="+mn-ea"/>
                <a:cs typeface="+mn-cs"/>
              </a:rPr>
              <a:t>shell</a:t>
            </a:r>
            <a:r>
              <a:rPr lang="zh-CN" altLang="en-US" sz="1200" kern="1200" dirty="0">
                <a:solidFill>
                  <a:schemeClr val="tx1"/>
                </a:solidFill>
                <a:effectLst/>
                <a:latin typeface="+mn-lt"/>
                <a:ea typeface="+mn-ea"/>
                <a:cs typeface="+mn-cs"/>
              </a:rPr>
              <a:t>脚本的参数。 </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共有十个位置参数，依次是 </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$9 </a:t>
            </a:r>
            <a:r>
              <a:rPr lang="zh-CN" altLang="en-US" sz="1200" kern="1200" dirty="0">
                <a:solidFill>
                  <a:schemeClr val="tx1"/>
                </a:solidFill>
                <a:effectLst/>
                <a:latin typeface="+mn-lt"/>
                <a:ea typeface="+mn-ea"/>
                <a:cs typeface="+mn-cs"/>
              </a:rPr>
              <a:t>，必有</a:t>
            </a:r>
            <a:r>
              <a:rPr lang="en-US" altLang="zh-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；而其他位置参数依据实际需求，可有可无。</a:t>
            </a:r>
          </a:p>
          <a:p>
            <a:r>
              <a:rPr lang="zh-CN" altLang="en-US" sz="1200" kern="1200" dirty="0">
                <a:solidFill>
                  <a:schemeClr val="tx1"/>
                </a:solidFill>
                <a:effectLst/>
                <a:latin typeface="+mn-lt"/>
                <a:ea typeface="+mn-ea"/>
                <a:cs typeface="+mn-cs"/>
              </a:rPr>
              <a:t>输出位置参数  ：可以用</a:t>
            </a:r>
            <a:r>
              <a:rPr lang="en" altLang="zh-CN" sz="1200" kern="1200" dirty="0">
                <a:solidFill>
                  <a:schemeClr val="tx1"/>
                </a:solidFill>
                <a:effectLst/>
                <a:latin typeface="+mn-lt"/>
                <a:ea typeface="+mn-ea"/>
                <a:cs typeface="+mn-cs"/>
              </a:rPr>
              <a:t>echo</a:t>
            </a:r>
            <a:r>
              <a:rPr lang="zh-CN" altLang="en-US" sz="1200" kern="1200" dirty="0">
                <a:solidFill>
                  <a:schemeClr val="tx1"/>
                </a:solidFill>
                <a:effectLst/>
                <a:latin typeface="+mn-lt"/>
                <a:ea typeface="+mn-ea"/>
                <a:cs typeface="+mn-cs"/>
              </a:rPr>
              <a:t>命令输出位置参数 </a:t>
            </a:r>
          </a:p>
          <a:p>
            <a:endParaRPr kumimoji="1" lang="en-US" altLang="zh-CN" dirty="0"/>
          </a:p>
          <a:p>
            <a:r>
              <a:rPr kumimoji="1" lang="en-US" altLang="zh-CN" dirty="0"/>
              <a:t>$* </a:t>
            </a:r>
            <a:r>
              <a:rPr kumimoji="1" lang="zh-CN" altLang="en-US" dirty="0"/>
              <a:t>和 </a:t>
            </a:r>
            <a:r>
              <a:rPr kumimoji="1" lang="en-US" altLang="zh-CN" dirty="0"/>
              <a:t>$@</a:t>
            </a:r>
            <a:r>
              <a:rPr kumimoji="1" lang="zh-CN" altLang="en-US" dirty="0"/>
              <a:t>的区别</a:t>
            </a:r>
            <a:endParaRPr kumimoji="1" lang="en-US" altLang="zh-CN" dirty="0"/>
          </a:p>
          <a:p>
            <a:r>
              <a:rPr lang="zh-CN" altLang="en-US" sz="1200" b="0" i="0" kern="1200" dirty="0">
                <a:solidFill>
                  <a:schemeClr val="tx1"/>
                </a:solidFill>
                <a:effectLst/>
                <a:latin typeface="+mn-lt"/>
                <a:ea typeface="+mn-ea"/>
                <a:cs typeface="+mn-cs"/>
              </a:rPr>
              <a:t>相同点：都是引用所有参数。</a:t>
            </a:r>
          </a:p>
          <a:p>
            <a:r>
              <a:rPr lang="zh-CN" altLang="en-US" sz="1200" b="0" i="0" kern="1200" dirty="0">
                <a:solidFill>
                  <a:schemeClr val="tx1"/>
                </a:solidFill>
                <a:effectLst/>
                <a:latin typeface="+mn-lt"/>
                <a:ea typeface="+mn-ea"/>
                <a:cs typeface="+mn-cs"/>
              </a:rPr>
              <a:t>不同点：只有在双引号中体现出来。假设在脚本运行时写了三个参数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则 </a:t>
            </a:r>
            <a:r>
              <a:rPr lang="en-US" altLang="zh-CN" sz="1200" b="1" i="0" kern="1200" dirty="0">
                <a:solidFill>
                  <a:schemeClr val="tx1"/>
                </a:solidFill>
                <a:effectLst/>
                <a:latin typeface="+mn-lt"/>
                <a:ea typeface="+mn-ea"/>
                <a:cs typeface="+mn-cs"/>
              </a:rPr>
              <a:t>" * " </a:t>
            </a:r>
            <a:r>
              <a:rPr lang="zh-CN" altLang="en-US" sz="1200" b="1" i="0" kern="1200" dirty="0">
                <a:solidFill>
                  <a:schemeClr val="tx1"/>
                </a:solidFill>
                <a:effectLst/>
                <a:latin typeface="+mn-lt"/>
                <a:ea typeface="+mn-ea"/>
                <a:cs typeface="+mn-cs"/>
              </a:rPr>
              <a:t>等价于 </a:t>
            </a:r>
            <a:r>
              <a:rPr lang="en-US" altLang="zh-CN" sz="1200" b="1" i="0" kern="1200" dirty="0">
                <a:solidFill>
                  <a:schemeClr val="tx1"/>
                </a:solidFill>
                <a:effectLst/>
                <a:latin typeface="+mn-lt"/>
                <a:ea typeface="+mn-ea"/>
                <a:cs typeface="+mn-cs"/>
              </a:rPr>
              <a:t>"1 2 3"</a:t>
            </a:r>
            <a:r>
              <a:rPr lang="zh-CN" altLang="en-US" sz="1200" b="1" i="0" kern="1200" dirty="0">
                <a:solidFill>
                  <a:schemeClr val="tx1"/>
                </a:solidFill>
                <a:effectLst/>
                <a:latin typeface="+mn-lt"/>
                <a:ea typeface="+mn-ea"/>
                <a:cs typeface="+mn-cs"/>
              </a:rPr>
              <a:t>（传递了一个参数），而 </a:t>
            </a:r>
            <a:r>
              <a:rPr lang="en-US"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等价于 </a:t>
            </a:r>
            <a:r>
              <a:rPr lang="en-US" altLang="zh-CN" sz="1200" b="1" i="0" kern="1200" dirty="0">
                <a:solidFill>
                  <a:schemeClr val="tx1"/>
                </a:solidFill>
                <a:effectLst/>
                <a:latin typeface="+mn-lt"/>
                <a:ea typeface="+mn-ea"/>
                <a:cs typeface="+mn-cs"/>
              </a:rPr>
              <a:t>"1" "2" "3"</a:t>
            </a:r>
            <a:r>
              <a:rPr lang="zh-CN" altLang="en-US" sz="1200" b="1" i="0" kern="1200" dirty="0">
                <a:solidFill>
                  <a:schemeClr val="tx1"/>
                </a:solidFill>
                <a:effectLst/>
                <a:latin typeface="+mn-lt"/>
                <a:ea typeface="+mn-ea"/>
                <a:cs typeface="+mn-cs"/>
              </a:rPr>
              <a:t>（传递了三个参数）。</a:t>
            </a:r>
            <a:endParaRPr lang="zh-CN" altLang="en-US" sz="1200" b="0" i="0" kern="1200" dirty="0">
              <a:solidFill>
                <a:schemeClr val="tx1"/>
              </a:solidFill>
              <a:effectLst/>
              <a:latin typeface="+mn-lt"/>
              <a:ea typeface="+mn-ea"/>
              <a:cs typeface="+mn-cs"/>
            </a:endParaRPr>
          </a:p>
          <a:p>
            <a:br>
              <a:rPr lang="zh-CN" altLang="en-US" dirty="0"/>
            </a:br>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50</a:t>
            </a:fld>
            <a:endParaRPr lang="zh-CN" altLang="en-US"/>
          </a:p>
        </p:txBody>
      </p:sp>
    </p:spTree>
    <p:extLst>
      <p:ext uri="{BB962C8B-B14F-4D97-AF65-F5344CB8AC3E}">
        <p14:creationId xmlns:p14="http://schemas.microsoft.com/office/powerpoint/2010/main" val="1549262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0"/>
              </a:spcBef>
              <a:spcAft>
                <a:spcPct val="0"/>
              </a:spcAft>
              <a:buClrTx/>
              <a:buSzTx/>
              <a:buFontTx/>
              <a:buNone/>
              <a:tabLst/>
              <a:defRPr/>
            </a:pPr>
            <a:r>
              <a:rPr lang="zh-CN" altLang="en-US" sz="1200" b="0" i="0" kern="1200" dirty="0">
                <a:solidFill>
                  <a:schemeClr val="tx1"/>
                </a:solidFill>
                <a:effectLst/>
                <a:latin typeface="+mn-lt"/>
                <a:ea typeface="+mn-ea"/>
                <a:cs typeface="+mn-cs"/>
              </a:rPr>
              <a:t>调用 </a:t>
            </a:r>
            <a:r>
              <a:rPr lang="en" altLang="zh-CN" sz="1200" b="0" i="0" kern="1200" dirty="0">
                <a:solidFill>
                  <a:schemeClr val="tx1"/>
                </a:solidFill>
                <a:effectLst/>
                <a:latin typeface="+mn-lt"/>
                <a:ea typeface="+mn-ea"/>
                <a:cs typeface="+mn-cs"/>
              </a:rPr>
              <a:t>set </a:t>
            </a:r>
            <a:r>
              <a:rPr lang="zh-CN" altLang="en-US" sz="1200" b="0" i="0" kern="1200" dirty="0">
                <a:solidFill>
                  <a:schemeClr val="tx1"/>
                </a:solidFill>
                <a:effectLst/>
                <a:latin typeface="+mn-lt"/>
                <a:ea typeface="+mn-ea"/>
                <a:cs typeface="+mn-cs"/>
              </a:rPr>
              <a:t>是接一个或多个参数时，</a:t>
            </a:r>
            <a:r>
              <a:rPr lang="en" altLang="zh-CN" sz="1200" b="0" i="0" kern="1200" dirty="0">
                <a:solidFill>
                  <a:schemeClr val="tx1"/>
                </a:solidFill>
                <a:effectLst/>
                <a:latin typeface="+mn-lt"/>
                <a:ea typeface="+mn-ea"/>
                <a:cs typeface="+mn-cs"/>
              </a:rPr>
              <a:t>set </a:t>
            </a:r>
            <a:r>
              <a:rPr lang="zh-CN" altLang="en-US" sz="1200" b="0" i="0" kern="1200" dirty="0">
                <a:solidFill>
                  <a:schemeClr val="tx1"/>
                </a:solidFill>
                <a:effectLst/>
                <a:latin typeface="+mn-lt"/>
                <a:ea typeface="+mn-ea"/>
                <a:cs typeface="+mn-cs"/>
              </a:rPr>
              <a:t>会把参数的值赋予位置参数，从 </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开始赋值。如下例子：</a:t>
            </a:r>
            <a:endParaRPr lang="en-US" altLang="zh-CN" sz="1200" b="0" i="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0"/>
              </a:spcBef>
              <a:spcAft>
                <a:spcPct val="0"/>
              </a:spcAft>
              <a:buClrTx/>
              <a:buSzTx/>
              <a:buFontTx/>
              <a:buNone/>
              <a:tabLst/>
              <a:defRPr/>
            </a:pPr>
            <a:endParaRPr kumimoji="1" lang="en-US" altLang="zh-CN" sz="1200" b="0" i="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0"/>
              </a:spcBef>
              <a:spcAft>
                <a:spcPct val="0"/>
              </a:spcAft>
              <a:buClrTx/>
              <a:buSzTx/>
              <a:buFontTx/>
              <a:buNone/>
              <a:tabLst/>
              <a:defRPr/>
            </a:pPr>
            <a:r>
              <a:rPr lang="en" altLang="zh-CN" sz="1200" b="0" i="0" kern="1200" dirty="0">
                <a:solidFill>
                  <a:schemeClr val="tx1"/>
                </a:solidFill>
                <a:effectLst/>
                <a:latin typeface="+mn-lt"/>
                <a:ea typeface="+mn-ea"/>
                <a:cs typeface="+mn-cs"/>
              </a:rPr>
              <a:t>$ cat set-</a:t>
            </a:r>
            <a:r>
              <a:rPr lang="en" altLang="zh-CN" sz="1200" b="0" i="0" kern="1200" dirty="0" err="1">
                <a:solidFill>
                  <a:schemeClr val="tx1"/>
                </a:solidFill>
                <a:effectLst/>
                <a:latin typeface="+mn-lt"/>
                <a:ea typeface="+mn-ea"/>
                <a:cs typeface="+mn-cs"/>
              </a:rPr>
              <a:t>it.sh</a:t>
            </a:r>
            <a:r>
              <a:rPr lang="en" altLang="zh-CN" sz="1200" b="0" i="0" kern="1200" dirty="0">
                <a:solidFill>
                  <a:schemeClr val="tx1"/>
                </a:solidFill>
                <a:effectLst/>
                <a:latin typeface="+mn-lt"/>
                <a:ea typeface="+mn-ea"/>
                <a:cs typeface="+mn-cs"/>
              </a:rPr>
              <a:t> </a:t>
            </a:r>
          </a:p>
          <a:p>
            <a:pPr marL="0" marR="0" indent="0" algn="l" defTabSz="914400" rtl="0" eaLnBrk="0" fontAlgn="base" latinLnBrk="0" hangingPunct="0">
              <a:lnSpc>
                <a:spcPct val="100000"/>
              </a:lnSpc>
              <a:spcBef>
                <a:spcPct val="0"/>
              </a:spcBef>
              <a:spcAft>
                <a:spcPct val="0"/>
              </a:spcAft>
              <a:buClrTx/>
              <a:buSzTx/>
              <a:buFontTx/>
              <a:buNone/>
              <a:tabLst/>
              <a:defRPr/>
            </a:pPr>
            <a:r>
              <a:rPr lang="en" altLang="zh-CN" sz="1200" b="0" i="0" kern="1200" dirty="0">
                <a:solidFill>
                  <a:schemeClr val="tx1"/>
                </a:solidFill>
                <a:effectLst/>
                <a:latin typeface="+mn-lt"/>
                <a:ea typeface="+mn-ea"/>
                <a:cs typeface="+mn-cs"/>
              </a:rPr>
              <a:t>#!/bin/bash </a:t>
            </a:r>
          </a:p>
          <a:p>
            <a:pPr marL="0" marR="0" indent="0" algn="l" defTabSz="914400" rtl="0" eaLnBrk="0" fontAlgn="base" latinLnBrk="0" hangingPunct="0">
              <a:lnSpc>
                <a:spcPct val="100000"/>
              </a:lnSpc>
              <a:spcBef>
                <a:spcPct val="0"/>
              </a:spcBef>
              <a:spcAft>
                <a:spcPct val="0"/>
              </a:spcAft>
              <a:buClrTx/>
              <a:buSzTx/>
              <a:buFontTx/>
              <a:buNone/>
              <a:tabLst/>
              <a:defRPr/>
            </a:pPr>
            <a:r>
              <a:rPr lang="en" altLang="zh-CN" sz="1200" b="0" i="0" kern="1200" dirty="0">
                <a:solidFill>
                  <a:schemeClr val="tx1"/>
                </a:solidFill>
                <a:effectLst/>
                <a:latin typeface="+mn-lt"/>
                <a:ea typeface="+mn-ea"/>
                <a:cs typeface="+mn-cs"/>
              </a:rPr>
              <a:t>set first second third </a:t>
            </a:r>
          </a:p>
          <a:p>
            <a:pPr marL="0" marR="0" indent="0" algn="l" defTabSz="914400" rtl="0" eaLnBrk="0" fontAlgn="base" latinLnBrk="0" hangingPunct="0">
              <a:lnSpc>
                <a:spcPct val="100000"/>
              </a:lnSpc>
              <a:spcBef>
                <a:spcPct val="0"/>
              </a:spcBef>
              <a:spcAft>
                <a:spcPct val="0"/>
              </a:spcAft>
              <a:buClrTx/>
              <a:buSzTx/>
              <a:buFontTx/>
              <a:buNone/>
              <a:tabLst/>
              <a:defRPr/>
            </a:pPr>
            <a:r>
              <a:rPr lang="en" altLang="zh-CN" sz="1200" b="0" i="0" kern="1200" dirty="0">
                <a:solidFill>
                  <a:schemeClr val="tx1"/>
                </a:solidFill>
                <a:effectLst/>
                <a:latin typeface="+mn-lt"/>
                <a:ea typeface="+mn-ea"/>
                <a:cs typeface="+mn-cs"/>
              </a:rPr>
              <a:t>echo $3 $2 $1 </a:t>
            </a:r>
          </a:p>
          <a:p>
            <a:pPr marL="0" marR="0" indent="0" algn="l" defTabSz="914400" rtl="0" eaLnBrk="0" fontAlgn="base" latinLnBrk="0" hangingPunct="0">
              <a:lnSpc>
                <a:spcPct val="100000"/>
              </a:lnSpc>
              <a:spcBef>
                <a:spcPct val="0"/>
              </a:spcBef>
              <a:spcAft>
                <a:spcPct val="0"/>
              </a:spcAft>
              <a:buClrTx/>
              <a:buSzTx/>
              <a:buFontTx/>
              <a:buNone/>
              <a:tabLst/>
              <a:defRPr/>
            </a:pPr>
            <a:r>
              <a:rPr lang="en" altLang="zh-CN" sz="1200" b="0" i="0" kern="1200" dirty="0">
                <a:solidFill>
                  <a:schemeClr val="tx1"/>
                </a:solidFill>
                <a:effectLst/>
                <a:latin typeface="+mn-lt"/>
                <a:ea typeface="+mn-ea"/>
                <a:cs typeface="+mn-cs"/>
              </a:rPr>
              <a:t>$ ./set-</a:t>
            </a:r>
            <a:r>
              <a:rPr lang="en" altLang="zh-CN" sz="1200" b="0" i="0" kern="1200" dirty="0" err="1">
                <a:solidFill>
                  <a:schemeClr val="tx1"/>
                </a:solidFill>
                <a:effectLst/>
                <a:latin typeface="+mn-lt"/>
                <a:ea typeface="+mn-ea"/>
                <a:cs typeface="+mn-cs"/>
              </a:rPr>
              <a:t>it.sh</a:t>
            </a:r>
            <a:r>
              <a:rPr lang="en" altLang="zh-CN" sz="1200" b="0" i="0" kern="1200" dirty="0">
                <a:solidFill>
                  <a:schemeClr val="tx1"/>
                </a:solidFill>
                <a:effectLst/>
                <a:latin typeface="+mn-lt"/>
                <a:ea typeface="+mn-ea"/>
                <a:cs typeface="+mn-cs"/>
              </a:rPr>
              <a:t> </a:t>
            </a:r>
          </a:p>
          <a:p>
            <a:pPr marL="0" marR="0" indent="0" algn="l" defTabSz="914400" rtl="0" eaLnBrk="0" fontAlgn="base" latinLnBrk="0" hangingPunct="0">
              <a:lnSpc>
                <a:spcPct val="100000"/>
              </a:lnSpc>
              <a:spcBef>
                <a:spcPct val="0"/>
              </a:spcBef>
              <a:spcAft>
                <a:spcPct val="0"/>
              </a:spcAft>
              <a:buClrTx/>
              <a:buSzTx/>
              <a:buFontTx/>
              <a:buNone/>
              <a:tabLst/>
              <a:defRPr/>
            </a:pPr>
            <a:r>
              <a:rPr lang="en" altLang="zh-CN" sz="1200" b="0" i="0" kern="1200" dirty="0">
                <a:solidFill>
                  <a:schemeClr val="tx1"/>
                </a:solidFill>
                <a:effectLst/>
                <a:latin typeface="+mn-lt"/>
                <a:ea typeface="+mn-ea"/>
                <a:cs typeface="+mn-cs"/>
              </a:rPr>
              <a:t>third second first</a:t>
            </a:r>
          </a:p>
          <a:p>
            <a:pPr marL="0" marR="0" indent="0" algn="l" defTabSz="914400" rtl="0" eaLnBrk="0" fontAlgn="base" latinLnBrk="0" hangingPunct="0">
              <a:lnSpc>
                <a:spcPct val="100000"/>
              </a:lnSpc>
              <a:spcBef>
                <a:spcPct val="0"/>
              </a:spcBef>
              <a:spcAft>
                <a:spcPct val="0"/>
              </a:spcAft>
              <a:buClrTx/>
              <a:buSzTx/>
              <a:buFontTx/>
              <a:buNone/>
              <a:tabLst/>
              <a:defRPr/>
            </a:pPr>
            <a:endParaRPr kumimoji="1" lang="en" altLang="zh-CN" sz="1200" b="0" i="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0"/>
              </a:spcBef>
              <a:spcAft>
                <a:spcPct val="0"/>
              </a:spcAft>
              <a:buClrTx/>
              <a:buSzTx/>
              <a:buFontTx/>
              <a:buNone/>
              <a:tabLst/>
              <a:defRPr/>
            </a:pPr>
            <a:r>
              <a:rPr lang="zh-CN" altLang="en-US" sz="1200" b="0" i="0" kern="1200" dirty="0">
                <a:solidFill>
                  <a:schemeClr val="tx1"/>
                </a:solidFill>
                <a:effectLst/>
                <a:latin typeface="+mn-lt"/>
                <a:ea typeface="+mn-ea"/>
                <a:cs typeface="+mn-cs"/>
              </a:rPr>
              <a:t>如上，在执行 </a:t>
            </a:r>
            <a:r>
              <a:rPr lang="en" altLang="zh-CN" dirty="0"/>
              <a:t>set-</a:t>
            </a:r>
            <a:r>
              <a:rPr lang="en" altLang="zh-CN" dirty="0" err="1"/>
              <a:t>it.sh</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脚本时并没有输入参数，但是使用 </a:t>
            </a:r>
            <a:r>
              <a:rPr lang="en" altLang="zh-CN" sz="1200" b="0" i="0" kern="1200" dirty="0">
                <a:solidFill>
                  <a:schemeClr val="tx1"/>
                </a:solidFill>
                <a:effectLst/>
                <a:latin typeface="+mn-lt"/>
                <a:ea typeface="+mn-ea"/>
                <a:cs typeface="+mn-cs"/>
              </a:rPr>
              <a:t>set </a:t>
            </a:r>
            <a:r>
              <a:rPr lang="zh-CN" altLang="en-US" sz="1200" b="0" i="0" kern="1200" dirty="0">
                <a:solidFill>
                  <a:schemeClr val="tx1"/>
                </a:solidFill>
                <a:effectLst/>
                <a:latin typeface="+mn-lt"/>
                <a:ea typeface="+mn-ea"/>
                <a:cs typeface="+mn-cs"/>
              </a:rPr>
              <a:t>指令后会对位置参数进行赋值。</a:t>
            </a:r>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52</a:t>
            </a:fld>
            <a:endParaRPr lang="zh-CN" altLang="en-US"/>
          </a:p>
        </p:txBody>
      </p:sp>
    </p:spTree>
    <p:extLst>
      <p:ext uri="{BB962C8B-B14F-4D97-AF65-F5344CB8AC3E}">
        <p14:creationId xmlns:p14="http://schemas.microsoft.com/office/powerpoint/2010/main" val="269841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54</a:t>
            </a:fld>
            <a:endParaRPr lang="en-US"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正则表达式：字符串匹配，常用来在文件中匹配查找内容。</a:t>
            </a:r>
          </a:p>
          <a:p>
            <a:r>
              <a:rPr lang="zh-CN" altLang="en-US" sz="1200" b="0" i="0" u="none" strike="noStrike" kern="1200" dirty="0">
                <a:solidFill>
                  <a:schemeClr val="tx1"/>
                </a:solidFill>
                <a:effectLst/>
                <a:latin typeface="+mn-lt"/>
                <a:ea typeface="+mn-ea"/>
                <a:cs typeface="+mn-cs"/>
              </a:rPr>
              <a:t>通配符：文件名完全匹配，常用来匹配查找文件名，大部分命令都可以使用</a:t>
            </a:r>
            <a:endParaRPr lang="en-US" altLang="zh-CN" sz="1200" b="0" i="0" u="none" strike="noStrike" kern="1200" dirty="0">
              <a:solidFill>
                <a:schemeClr val="tx1"/>
              </a:solidFill>
              <a:effectLst/>
              <a:latin typeface="+mn-lt"/>
              <a:ea typeface="+mn-ea"/>
              <a:cs typeface="+mn-cs"/>
            </a:endParaRPr>
          </a:p>
          <a:p>
            <a:r>
              <a:rPr lang="en" altLang="zh-CN" sz="1200" b="0" i="0" kern="1200" dirty="0">
                <a:solidFill>
                  <a:schemeClr val="tx1"/>
                </a:solidFill>
                <a:effectLst/>
                <a:latin typeface="+mn-lt"/>
                <a:ea typeface="+mn-ea"/>
                <a:cs typeface="+mn-cs"/>
              </a:rPr>
              <a:t>ls find cp</a:t>
            </a:r>
            <a:r>
              <a:rPr lang="zh-CN" altLang="en-US" sz="1200" b="0" i="0" kern="1200" dirty="0">
                <a:solidFill>
                  <a:schemeClr val="tx1"/>
                </a:solidFill>
                <a:effectLst/>
                <a:latin typeface="+mn-lt"/>
                <a:ea typeface="+mn-ea"/>
                <a:cs typeface="+mn-cs"/>
              </a:rPr>
              <a:t>是不支持正则表达式的</a:t>
            </a:r>
          </a:p>
          <a:p>
            <a:r>
              <a:rPr lang="zh-CN" altLang="en-US" sz="1200" b="0" i="0" kern="1200" dirty="0">
                <a:solidFill>
                  <a:schemeClr val="tx1"/>
                </a:solidFill>
                <a:effectLst/>
                <a:latin typeface="+mn-lt"/>
                <a:ea typeface="+mn-ea"/>
                <a:cs typeface="+mn-cs"/>
              </a:rPr>
              <a:t>但是</a:t>
            </a:r>
            <a:r>
              <a:rPr lang="en" altLang="zh-CN" sz="1200" b="0" i="0" kern="1200" dirty="0">
                <a:solidFill>
                  <a:schemeClr val="tx1"/>
                </a:solidFill>
                <a:effectLst/>
                <a:latin typeface="+mn-lt"/>
                <a:ea typeface="+mn-ea"/>
                <a:cs typeface="+mn-cs"/>
              </a:rPr>
              <a:t>grep awk sed</a:t>
            </a:r>
            <a:r>
              <a:rPr lang="zh-CN" altLang="en-US" sz="1200" b="0" i="0" kern="1200" dirty="0">
                <a:solidFill>
                  <a:schemeClr val="tx1"/>
                </a:solidFill>
                <a:effectLst/>
                <a:latin typeface="+mn-lt"/>
                <a:ea typeface="+mn-ea"/>
                <a:cs typeface="+mn-cs"/>
              </a:rPr>
              <a:t>支持正则表达式</a:t>
            </a:r>
          </a:p>
          <a:p>
            <a:endParaRPr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在正则表达式中 * 匹配前面元字符</a:t>
            </a:r>
            <a:r>
              <a:rPr lang="en-US" altLang="zh-CN" sz="1200" b="0" i="0" u="none" strike="noStrike" kern="1200" dirty="0">
                <a:solidFill>
                  <a:schemeClr val="tx1"/>
                </a:solidFill>
                <a:effectLst/>
                <a:latin typeface="+mn-lt"/>
                <a:ea typeface="+mn-ea"/>
                <a:cs typeface="+mn-cs"/>
              </a:rPr>
              <a:t>0</a:t>
            </a:r>
            <a:r>
              <a:rPr lang="zh-CN" altLang="en-US" sz="1200" b="0" i="0" u="none" strike="noStrike" kern="1200" dirty="0">
                <a:solidFill>
                  <a:schemeClr val="tx1"/>
                </a:solidFill>
                <a:effectLst/>
                <a:latin typeface="+mn-lt"/>
                <a:ea typeface="+mn-ea"/>
                <a:cs typeface="+mn-cs"/>
              </a:rPr>
              <a:t>次或多次，</a:t>
            </a:r>
            <a:r>
              <a:rPr lang="en-US" altLang="zh-CN" sz="1200" b="0" i="0" u="none" strike="noStrike" kern="1200" dirty="0">
                <a:solidFill>
                  <a:schemeClr val="tx1"/>
                </a:solidFill>
                <a:effectLst/>
                <a:latin typeface="+mn-lt"/>
                <a:ea typeface="+mn-ea"/>
                <a:cs typeface="+mn-cs"/>
              </a:rPr>
              <a:t>/</a:t>
            </a:r>
            <a:r>
              <a:rPr lang="en" altLang="zh-CN" sz="1200" b="0" i="0" u="none" strike="noStrike" kern="1200" dirty="0" err="1">
                <a:solidFill>
                  <a:schemeClr val="tx1"/>
                </a:solidFill>
                <a:effectLst/>
                <a:latin typeface="+mn-lt"/>
                <a:ea typeface="+mn-ea"/>
                <a:cs typeface="+mn-cs"/>
              </a:rPr>
              <a:t>ba</a:t>
            </a:r>
            <a:r>
              <a:rPr lang="en"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将匹配</a:t>
            </a:r>
            <a:r>
              <a:rPr lang="en" altLang="zh-CN" sz="1200" b="0" i="0" u="none" strike="noStrike" kern="1200" dirty="0" err="1">
                <a:solidFill>
                  <a:schemeClr val="tx1"/>
                </a:solidFill>
                <a:effectLst/>
                <a:latin typeface="+mn-lt"/>
                <a:ea typeface="+mn-ea"/>
                <a:cs typeface="+mn-cs"/>
              </a:rPr>
              <a:t>b,ba,baa,baaa</a:t>
            </a:r>
            <a:r>
              <a:rPr lang="zh-CN" altLang="en-US" sz="1200" b="0" i="0" u="none" strike="noStrike" kern="1200" dirty="0">
                <a:solidFill>
                  <a:schemeClr val="tx1"/>
                </a:solidFill>
                <a:effectLst/>
                <a:latin typeface="+mn-lt"/>
                <a:ea typeface="+mn-ea"/>
                <a:cs typeface="+mn-cs"/>
              </a:rPr>
              <a:t>，这点和通配符*含义不同，例如在正则表达式中</a:t>
            </a:r>
            <a:endParaRPr lang="en-US" altLang="zh-CN" sz="1200" b="0" i="0" u="none" strike="noStrike" kern="1200" dirty="0">
              <a:solidFill>
                <a:schemeClr val="tx1"/>
              </a:solidFill>
              <a:effectLst/>
              <a:latin typeface="+mn-lt"/>
              <a:ea typeface="+mn-ea"/>
              <a:cs typeface="+mn-cs"/>
            </a:endParaRPr>
          </a:p>
          <a:p>
            <a:pPr latinLnBrk="1"/>
            <a:r>
              <a:rPr lang="en" altLang="zh-CN" sz="1200" b="1" i="0" kern="1200" dirty="0" err="1">
                <a:solidFill>
                  <a:schemeClr val="tx1"/>
                </a:solidFill>
                <a:effectLst/>
                <a:latin typeface="+mn-lt"/>
                <a:ea typeface="+mn-ea"/>
                <a:cs typeface="+mn-cs"/>
              </a:rPr>
              <a:t>runoo+b</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可以匹配 </a:t>
            </a:r>
            <a:r>
              <a:rPr lang="en" altLang="zh-CN" sz="1200" b="0" i="0" kern="1200" dirty="0" err="1">
                <a:solidFill>
                  <a:schemeClr val="tx1"/>
                </a:solidFill>
                <a:effectLst/>
                <a:latin typeface="+mn-lt"/>
                <a:ea typeface="+mn-ea"/>
                <a:cs typeface="+mn-cs"/>
              </a:rPr>
              <a:t>runoob</a:t>
            </a:r>
            <a:r>
              <a:rPr lang="zh-CN" altLang="en" sz="1200" b="0" i="0" kern="1200" dirty="0">
                <a:solidFill>
                  <a:schemeClr val="tx1"/>
                </a:solidFill>
                <a:effectLst/>
                <a:latin typeface="+mn-lt"/>
                <a:ea typeface="+mn-ea"/>
                <a:cs typeface="+mn-cs"/>
              </a:rPr>
              <a:t>、</a:t>
            </a:r>
            <a:r>
              <a:rPr lang="en" altLang="zh-CN" sz="1200" b="0" i="0" kern="1200" dirty="0" err="1">
                <a:solidFill>
                  <a:schemeClr val="tx1"/>
                </a:solidFill>
                <a:effectLst/>
                <a:latin typeface="+mn-lt"/>
                <a:ea typeface="+mn-ea"/>
                <a:cs typeface="+mn-cs"/>
              </a:rPr>
              <a:t>runooob</a:t>
            </a:r>
            <a:r>
              <a:rPr lang="zh-CN" altLang="en" sz="1200" b="0" i="0" kern="1200" dirty="0">
                <a:solidFill>
                  <a:schemeClr val="tx1"/>
                </a:solidFill>
                <a:effectLst/>
                <a:latin typeface="+mn-lt"/>
                <a:ea typeface="+mn-ea"/>
                <a:cs typeface="+mn-cs"/>
              </a:rPr>
              <a:t>、</a:t>
            </a:r>
            <a:r>
              <a:rPr lang="en" altLang="zh-CN" sz="1200" b="0" i="0" kern="1200" dirty="0" err="1">
                <a:solidFill>
                  <a:schemeClr val="tx1"/>
                </a:solidFill>
                <a:effectLst/>
                <a:latin typeface="+mn-lt"/>
                <a:ea typeface="+mn-ea"/>
                <a:cs typeface="+mn-cs"/>
              </a:rPr>
              <a:t>runoooooob</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等，</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号代表前面的字符必须至少出现一次（</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次或多次）。</a:t>
            </a:r>
          </a:p>
          <a:p>
            <a:pPr latinLnBrk="1"/>
            <a:r>
              <a:rPr lang="en" altLang="zh-CN" sz="1200" b="1" i="0" kern="1200" dirty="0" err="1">
                <a:solidFill>
                  <a:schemeClr val="tx1"/>
                </a:solidFill>
                <a:effectLst/>
                <a:latin typeface="+mn-lt"/>
                <a:ea typeface="+mn-ea"/>
                <a:cs typeface="+mn-cs"/>
              </a:rPr>
              <a:t>runoo</a:t>
            </a:r>
            <a:r>
              <a:rPr lang="en" altLang="zh-CN" sz="1200" b="1" i="0" kern="1200" dirty="0">
                <a:solidFill>
                  <a:schemeClr val="tx1"/>
                </a:solidFill>
                <a:effectLst/>
                <a:latin typeface="+mn-lt"/>
                <a:ea typeface="+mn-ea"/>
                <a:cs typeface="+mn-cs"/>
              </a:rPr>
              <a:t>*b</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可以匹配 </a:t>
            </a:r>
            <a:r>
              <a:rPr lang="en" altLang="zh-CN" sz="1200" b="0" i="0" kern="1200" dirty="0" err="1">
                <a:solidFill>
                  <a:schemeClr val="tx1"/>
                </a:solidFill>
                <a:effectLst/>
                <a:latin typeface="+mn-lt"/>
                <a:ea typeface="+mn-ea"/>
                <a:cs typeface="+mn-cs"/>
              </a:rPr>
              <a:t>runob</a:t>
            </a:r>
            <a:r>
              <a:rPr lang="zh-CN" altLang="en" sz="1200" b="0" i="0" kern="1200" dirty="0">
                <a:solidFill>
                  <a:schemeClr val="tx1"/>
                </a:solidFill>
                <a:effectLst/>
                <a:latin typeface="+mn-lt"/>
                <a:ea typeface="+mn-ea"/>
                <a:cs typeface="+mn-cs"/>
              </a:rPr>
              <a:t>、</a:t>
            </a:r>
            <a:r>
              <a:rPr lang="en" altLang="zh-CN" sz="1200" b="0" i="0" kern="1200" dirty="0" err="1">
                <a:solidFill>
                  <a:schemeClr val="tx1"/>
                </a:solidFill>
                <a:effectLst/>
                <a:latin typeface="+mn-lt"/>
                <a:ea typeface="+mn-ea"/>
                <a:cs typeface="+mn-cs"/>
              </a:rPr>
              <a:t>runoob</a:t>
            </a:r>
            <a:r>
              <a:rPr lang="zh-CN" altLang="en" sz="1200" b="0" i="0" kern="1200" dirty="0">
                <a:solidFill>
                  <a:schemeClr val="tx1"/>
                </a:solidFill>
                <a:effectLst/>
                <a:latin typeface="+mn-lt"/>
                <a:ea typeface="+mn-ea"/>
                <a:cs typeface="+mn-cs"/>
              </a:rPr>
              <a:t>、</a:t>
            </a:r>
            <a:r>
              <a:rPr lang="en" altLang="zh-CN" sz="1200" b="0" i="0" kern="1200" dirty="0" err="1">
                <a:solidFill>
                  <a:schemeClr val="tx1"/>
                </a:solidFill>
                <a:effectLst/>
                <a:latin typeface="+mn-lt"/>
                <a:ea typeface="+mn-ea"/>
                <a:cs typeface="+mn-cs"/>
              </a:rPr>
              <a:t>runoooooob</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等，* 号代表前面的字符可以不出现，也可以出现一次或者多次（</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次、或</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次、或多次）。</a:t>
            </a:r>
          </a:p>
          <a:p>
            <a:pPr latinLnBrk="1"/>
            <a:r>
              <a:rPr lang="en" altLang="zh-CN" sz="1200" b="1" i="0" kern="1200" dirty="0" err="1">
                <a:solidFill>
                  <a:schemeClr val="tx1"/>
                </a:solidFill>
                <a:effectLst/>
                <a:latin typeface="+mn-lt"/>
                <a:ea typeface="+mn-ea"/>
                <a:cs typeface="+mn-cs"/>
              </a:rPr>
              <a:t>colou?r</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可以匹配 </a:t>
            </a:r>
            <a:r>
              <a:rPr lang="en" altLang="zh-CN" sz="1200" b="0" i="0" kern="1200" dirty="0">
                <a:solidFill>
                  <a:schemeClr val="tx1"/>
                </a:solidFill>
                <a:effectLst/>
                <a:latin typeface="+mn-lt"/>
                <a:ea typeface="+mn-ea"/>
                <a:cs typeface="+mn-cs"/>
              </a:rPr>
              <a:t>color </a:t>
            </a:r>
            <a:r>
              <a:rPr lang="zh-CN" altLang="en-US" sz="1200" b="0" i="0" kern="1200" dirty="0">
                <a:solidFill>
                  <a:schemeClr val="tx1"/>
                </a:solidFill>
                <a:effectLst/>
                <a:latin typeface="+mn-lt"/>
                <a:ea typeface="+mn-ea"/>
                <a:cs typeface="+mn-cs"/>
              </a:rPr>
              <a:t>或者 </a:t>
            </a:r>
            <a:r>
              <a:rPr lang="en" altLang="zh-CN" sz="1200" b="0" i="0" kern="1200" dirty="0" err="1">
                <a:solidFill>
                  <a:schemeClr val="tx1"/>
                </a:solidFill>
                <a:effectLst/>
                <a:latin typeface="+mn-lt"/>
                <a:ea typeface="+mn-ea"/>
                <a:cs typeface="+mn-cs"/>
              </a:rPr>
              <a:t>colour</a:t>
            </a:r>
            <a:r>
              <a:rPr lang="zh-CN" altLang="e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问号代表前面的字符最多只可以出现一次（</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次、或</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次）。</a:t>
            </a:r>
          </a:p>
          <a:p>
            <a:endParaRPr lang="en-US" altLang="zh-CN" sz="1200" b="0" i="0" u="none" strike="noStrike"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各自的使用：</a:t>
            </a:r>
          </a:p>
          <a:p>
            <a:r>
              <a:rPr lang="zh-CN" altLang="en-US" sz="1200" b="0" i="0" u="none" strike="noStrike" kern="1200" dirty="0">
                <a:solidFill>
                  <a:schemeClr val="tx1"/>
                </a:solidFill>
                <a:effectLst/>
                <a:latin typeface="+mn-lt"/>
                <a:ea typeface="+mn-ea"/>
                <a:cs typeface="+mn-cs"/>
              </a:rPr>
              <a:t>　　正则表达式使用能够支持正则表达式的工具软件进行字符串处理时你就可以使用正则表达式，可以在支持正则表达式的语言中使用正则表 达式，比如</a:t>
            </a:r>
            <a:r>
              <a:rPr lang="en" altLang="zh-CN" sz="1200" b="0" i="0" u="none" strike="noStrike" kern="1200" dirty="0" err="1">
                <a:solidFill>
                  <a:schemeClr val="tx1"/>
                </a:solidFill>
                <a:effectLst/>
                <a:latin typeface="+mn-lt"/>
                <a:ea typeface="+mn-ea"/>
                <a:cs typeface="+mn-cs"/>
              </a:rPr>
              <a:t>perl</a:t>
            </a:r>
            <a:r>
              <a:rPr lang="en" altLang="zh-CN" sz="1200" b="0" i="0" u="none" strike="noStrike" kern="1200" dirty="0">
                <a:solidFill>
                  <a:schemeClr val="tx1"/>
                </a:solidFill>
                <a:effectLst/>
                <a:latin typeface="+mn-lt"/>
                <a:ea typeface="+mn-ea"/>
                <a:cs typeface="+mn-cs"/>
              </a:rPr>
              <a:t>, java... C++</a:t>
            </a:r>
            <a:r>
              <a:rPr lang="zh-CN" altLang="en-US" sz="1200" b="0" i="0" u="none" strike="noStrike" kern="1200" dirty="0">
                <a:solidFill>
                  <a:schemeClr val="tx1"/>
                </a:solidFill>
                <a:effectLst/>
                <a:latin typeface="+mn-lt"/>
                <a:ea typeface="+mn-ea"/>
                <a:cs typeface="+mn-cs"/>
              </a:rPr>
              <a:t>中也有专门用于支持正则表达式的库。正则还可以在</a:t>
            </a:r>
            <a:r>
              <a:rPr lang="en" altLang="zh-CN" sz="1200" b="0" i="0" u="none" strike="noStrike" kern="1200" dirty="0" err="1">
                <a:solidFill>
                  <a:schemeClr val="tx1"/>
                </a:solidFill>
                <a:effectLst/>
                <a:latin typeface="+mn-lt"/>
                <a:ea typeface="+mn-ea"/>
                <a:cs typeface="+mn-cs"/>
              </a:rPr>
              <a:t>linux</a:t>
            </a:r>
            <a:r>
              <a:rPr lang="zh-CN" altLang="en-US" sz="1200" b="0" i="0" u="none" strike="noStrike" kern="1200" dirty="0">
                <a:solidFill>
                  <a:schemeClr val="tx1"/>
                </a:solidFill>
                <a:effectLst/>
                <a:latin typeface="+mn-lt"/>
                <a:ea typeface="+mn-ea"/>
                <a:cs typeface="+mn-cs"/>
              </a:rPr>
              <a:t>中的</a:t>
            </a:r>
            <a:r>
              <a:rPr lang="en" altLang="zh-CN" sz="1200" b="0" i="0" u="none" strike="noStrike" kern="1200" dirty="0">
                <a:solidFill>
                  <a:schemeClr val="tx1"/>
                </a:solidFill>
                <a:effectLst/>
                <a:latin typeface="+mn-lt"/>
                <a:ea typeface="+mn-ea"/>
                <a:cs typeface="+mn-cs"/>
              </a:rPr>
              <a:t>grep</a:t>
            </a:r>
            <a:r>
              <a:rPr lang="zh-CN" altLang="en-US" sz="1200" b="0" i="0" u="none" strike="noStrike" kern="1200" dirty="0">
                <a:solidFill>
                  <a:schemeClr val="tx1"/>
                </a:solidFill>
                <a:effectLst/>
                <a:latin typeface="+mn-lt"/>
                <a:ea typeface="+mn-ea"/>
                <a:cs typeface="+mn-cs"/>
              </a:rPr>
              <a:t>命令进行指定文件的内容字符串查找匹配。</a:t>
            </a:r>
            <a:endParaRPr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通配符常用于相关文件名命令如：</a:t>
            </a:r>
            <a:r>
              <a:rPr lang="en" altLang="zh-CN" sz="1200" b="0" i="0" u="none" strike="noStrike" kern="1200" dirty="0">
                <a:solidFill>
                  <a:schemeClr val="tx1"/>
                </a:solidFill>
                <a:effectLst/>
                <a:latin typeface="+mn-lt"/>
                <a:ea typeface="+mn-ea"/>
                <a:cs typeface="+mn-cs"/>
              </a:rPr>
              <a:t>find, ls, cp</a:t>
            </a:r>
            <a:r>
              <a:rPr lang="zh-CN" altLang="en-US" sz="1200" b="0" i="0" u="none" strike="noStrike" kern="1200" dirty="0">
                <a:solidFill>
                  <a:schemeClr val="tx1"/>
                </a:solidFill>
                <a:effectLst/>
                <a:latin typeface="+mn-lt"/>
                <a:ea typeface="+mn-ea"/>
                <a:cs typeface="+mn-cs"/>
              </a:rPr>
              <a:t>等，是</a:t>
            </a:r>
            <a:r>
              <a:rPr lang="en" altLang="zh-CN" sz="1200" b="0" i="0" u="none" strike="noStrike" kern="1200" dirty="0">
                <a:solidFill>
                  <a:schemeClr val="tx1"/>
                </a:solidFill>
                <a:effectLst/>
                <a:latin typeface="+mn-lt"/>
                <a:ea typeface="+mn-ea"/>
                <a:cs typeface="+mn-cs"/>
              </a:rPr>
              <a:t>shell</a:t>
            </a:r>
            <a:r>
              <a:rPr lang="zh-CN" altLang="en-US" sz="1200" b="0" i="0" u="none" strike="noStrike" kern="1200" dirty="0">
                <a:solidFill>
                  <a:schemeClr val="tx1"/>
                </a:solidFill>
                <a:effectLst/>
                <a:latin typeface="+mn-lt"/>
                <a:ea typeface="+mn-ea"/>
                <a:cs typeface="+mn-cs"/>
              </a:rPr>
              <a:t>内置解析的。</a:t>
            </a:r>
          </a:p>
          <a:p>
            <a:br>
              <a:rPr lang="zh-CN" altLang="en-US" dirty="0"/>
            </a:b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正则表达式是在文件中匹配符合条件的字符串的。</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在什么地方使用通配符？答案是只要是</a:t>
            </a:r>
            <a:r>
              <a:rPr lang="en"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命令行或者</a:t>
            </a:r>
            <a:r>
              <a:rPr lang="en"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脚本中，你都可以使用通配符；</a:t>
            </a:r>
            <a:br>
              <a:rPr lang="zh-CN" altLang="en-US" dirty="0"/>
            </a:br>
            <a:r>
              <a:rPr lang="zh-CN" altLang="en-US" sz="1200" b="0" i="0" kern="1200" dirty="0">
                <a:solidFill>
                  <a:schemeClr val="tx1"/>
                </a:solidFill>
                <a:effectLst/>
                <a:latin typeface="+mn-lt"/>
                <a:ea typeface="+mn-ea"/>
                <a:cs typeface="+mn-cs"/>
              </a:rPr>
              <a:t>    在什么地方使用正则表达式？当你使用能够支持正则表达式的工具软件进行字符串处理时你就可以使用正则表达式。你还可以在支持正则表达式的语言中使用正则表 达式，比如</a:t>
            </a:r>
            <a:r>
              <a:rPr lang="en" altLang="zh-CN" sz="1200" b="0" i="0" kern="1200" dirty="0" err="1">
                <a:solidFill>
                  <a:schemeClr val="tx1"/>
                </a:solidFill>
                <a:effectLst/>
                <a:latin typeface="+mn-lt"/>
                <a:ea typeface="+mn-ea"/>
                <a:cs typeface="+mn-cs"/>
              </a:rPr>
              <a:t>perl</a:t>
            </a:r>
            <a:r>
              <a:rPr lang="en" altLang="zh-CN" sz="1200" b="0" i="0" kern="1200" dirty="0">
                <a:solidFill>
                  <a:schemeClr val="tx1"/>
                </a:solidFill>
                <a:effectLst/>
                <a:latin typeface="+mn-lt"/>
                <a:ea typeface="+mn-ea"/>
                <a:cs typeface="+mn-cs"/>
              </a:rPr>
              <a:t>, java... C++</a:t>
            </a:r>
            <a:r>
              <a:rPr lang="zh-CN" altLang="en-US" sz="1200" b="0" i="0" kern="1200" dirty="0">
                <a:solidFill>
                  <a:schemeClr val="tx1"/>
                </a:solidFill>
                <a:effectLst/>
                <a:latin typeface="+mn-lt"/>
                <a:ea typeface="+mn-ea"/>
                <a:cs typeface="+mn-cs"/>
              </a:rPr>
              <a:t>中也有专门用于支持正则表达式的库。正则表达式总是和“使用什么工具软件或者语言”相关。相对来说，不同的工具和语言对正则表达式的支持程度不 同，*</a:t>
            </a:r>
            <a:r>
              <a:rPr lang="en" altLang="zh-CN" sz="1200" b="0" i="0" kern="1200" dirty="0">
                <a:solidFill>
                  <a:schemeClr val="tx1"/>
                </a:solidFill>
                <a:effectLst/>
                <a:latin typeface="+mn-lt"/>
                <a:ea typeface="+mn-ea"/>
                <a:cs typeface="+mn-cs"/>
              </a:rPr>
              <a:t>nix</a:t>
            </a:r>
            <a:r>
              <a:rPr lang="zh-CN" altLang="en-US" sz="1200" b="0" i="0" kern="1200" dirty="0">
                <a:solidFill>
                  <a:schemeClr val="tx1"/>
                </a:solidFill>
                <a:effectLst/>
                <a:latin typeface="+mn-lt"/>
                <a:ea typeface="+mn-ea"/>
                <a:cs typeface="+mn-cs"/>
              </a:rPr>
              <a:t>里面将这些工具软件的对正则表达式的支持分类，因此也就有了“基础正则表达式”和“扩展正则表达式”。</a:t>
            </a:r>
            <a:endParaRPr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在文本过滤工具里，都是用正则表达式，比如像</a:t>
            </a:r>
            <a:r>
              <a:rPr lang="en-US" altLang="zh-CN" sz="1200" b="0" i="0" kern="1200" dirty="0">
                <a:solidFill>
                  <a:schemeClr val="tx1"/>
                </a:solidFill>
                <a:effectLst/>
                <a:latin typeface="+mn-lt"/>
                <a:ea typeface="+mn-ea"/>
                <a:cs typeface="+mn-cs"/>
              </a:rPr>
              <a:t>grep </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egrep</a:t>
            </a:r>
            <a:r>
              <a:rPr lang="zh-CN" altLang="en-US" sz="1200" b="0" i="0" kern="1200" dirty="0">
                <a:solidFill>
                  <a:schemeClr val="tx1"/>
                </a:solidFill>
                <a:effectLst/>
                <a:latin typeface="+mn-lt"/>
                <a:ea typeface="+mn-ea"/>
                <a:cs typeface="+mn-cs"/>
              </a:rPr>
              <a:t>等，是针对文件的内容的</a:t>
            </a:r>
          </a:p>
          <a:p>
            <a:r>
              <a:rPr lang="zh-CN" altLang="en-US" sz="1200" b="0" i="0" kern="1200" dirty="0">
                <a:solidFill>
                  <a:schemeClr val="tx1"/>
                </a:solidFill>
                <a:effectLst/>
                <a:latin typeface="+mn-lt"/>
                <a:ea typeface="+mn-ea"/>
                <a:cs typeface="+mn-cs"/>
              </a:rPr>
              <a:t>而通配符多用在文件名上，比如查找</a:t>
            </a:r>
            <a:r>
              <a:rPr lang="en" altLang="zh-CN" sz="1200" b="0" i="0" kern="1200" dirty="0">
                <a:solidFill>
                  <a:schemeClr val="tx1"/>
                </a:solidFill>
                <a:effectLst/>
                <a:latin typeface="+mn-lt"/>
                <a:ea typeface="+mn-ea"/>
                <a:cs typeface="+mn-cs"/>
              </a:rPr>
              <a:t>find</a:t>
            </a:r>
            <a:r>
              <a:rPr lang="zh-CN" altLang="e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ls</a:t>
            </a:r>
            <a:r>
              <a:rPr lang="zh-CN" altLang="e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cp</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等等</a:t>
            </a:r>
          </a:p>
          <a:p>
            <a:endParaRPr kumimoji="1" lang="en-US" altLang="zh-CN" sz="1200" b="0" i="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55</a:t>
            </a:fld>
            <a:endParaRPr lang="zh-CN" altLang="en-US"/>
          </a:p>
        </p:txBody>
      </p:sp>
    </p:spTree>
    <p:extLst>
      <p:ext uri="{BB962C8B-B14F-4D97-AF65-F5344CB8AC3E}">
        <p14:creationId xmlns:p14="http://schemas.microsoft.com/office/powerpoint/2010/main" val="1549120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57</a:t>
            </a:fld>
            <a:endParaRPr lang="en-US"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嵌套时注意最后一定要以一个</a:t>
            </a:r>
            <a:endParaRPr lang="en-US" altLang="zh-CN" sz="1200" b="1" i="0" kern="1200" dirty="0">
              <a:solidFill>
                <a:schemeClr val="tx1"/>
              </a:solidFill>
              <a:effectLst/>
              <a:latin typeface="+mn-lt"/>
              <a:ea typeface="+mn-ea"/>
              <a:cs typeface="+mn-cs"/>
            </a:endParaRPr>
          </a:p>
          <a:p>
            <a:r>
              <a:rPr lang="en" altLang="zh-CN" sz="1200" b="1" i="0" kern="1200" dirty="0">
                <a:solidFill>
                  <a:schemeClr val="tx1"/>
                </a:solidFill>
                <a:effectLst/>
                <a:latin typeface="+mn-lt"/>
                <a:ea typeface="+mn-ea"/>
                <a:cs typeface="+mn-cs"/>
              </a:rPr>
              <a:t>else</a:t>
            </a:r>
            <a:r>
              <a:rPr lang="zh-CN" altLang="en-US" sz="1200" b="1" i="0" kern="1200" dirty="0">
                <a:solidFill>
                  <a:schemeClr val="tx1"/>
                </a:solidFill>
                <a:effectLst/>
                <a:latin typeface="+mn-lt"/>
                <a:ea typeface="+mn-ea"/>
                <a:cs typeface="+mn-cs"/>
              </a:rPr>
              <a:t>。。。。</a:t>
            </a:r>
            <a:endParaRPr lang="en-US" altLang="zh-CN" sz="1200" b="1"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fi</a:t>
            </a:r>
          </a:p>
          <a:p>
            <a:r>
              <a:rPr lang="zh-CN" altLang="en-US" sz="1200" b="1" i="0" kern="1200" dirty="0">
                <a:solidFill>
                  <a:schemeClr val="tx1"/>
                </a:solidFill>
                <a:effectLst/>
                <a:latin typeface="+mn-lt"/>
                <a:ea typeface="+mn-ea"/>
                <a:cs typeface="+mn-cs"/>
              </a:rPr>
              <a:t>结尾</a:t>
            </a:r>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64</a:t>
            </a:fld>
            <a:endParaRPr lang="zh-CN" altLang="en-US"/>
          </a:p>
        </p:txBody>
      </p:sp>
    </p:spTree>
    <p:extLst>
      <p:ext uri="{BB962C8B-B14F-4D97-AF65-F5344CB8AC3E}">
        <p14:creationId xmlns:p14="http://schemas.microsoft.com/office/powerpoint/2010/main" val="3345498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a:t>
            </a:r>
            <a:r>
              <a:rPr lang="en" altLang="zh-CN" sz="1200" b="0" i="0" kern="1200" dirty="0">
                <a:solidFill>
                  <a:schemeClr val="tx1"/>
                </a:solidFill>
                <a:effectLst/>
                <a:latin typeface="+mn-lt"/>
                <a:ea typeface="+mn-ea"/>
                <a:cs typeface="+mn-cs"/>
              </a:rPr>
              <a:t>shell</a:t>
            </a:r>
            <a:r>
              <a:rPr lang="zh-CN" altLang="en-US" sz="1200" b="0" i="0" kern="1200" dirty="0">
                <a:solidFill>
                  <a:schemeClr val="tx1"/>
                </a:solidFill>
                <a:effectLst/>
                <a:latin typeface="+mn-lt"/>
                <a:ea typeface="+mn-ea"/>
                <a:cs typeface="+mn-cs"/>
              </a:rPr>
              <a:t>中处理文本时，常用使用</a:t>
            </a:r>
            <a:r>
              <a:rPr lang="en" altLang="zh-CN" sz="1200" b="0" i="0" kern="1200" dirty="0">
                <a:solidFill>
                  <a:schemeClr val="tx1"/>
                </a:solidFill>
                <a:effectLst/>
                <a:latin typeface="+mn-lt"/>
                <a:ea typeface="+mn-ea"/>
                <a:cs typeface="+mn-cs"/>
              </a:rPr>
              <a:t>while</a:t>
            </a:r>
            <a:r>
              <a:rPr lang="zh-CN" altLang="en-US" sz="1200" b="0" i="0" kern="1200" dirty="0">
                <a:solidFill>
                  <a:schemeClr val="tx1"/>
                </a:solidFill>
                <a:effectLst/>
                <a:latin typeface="+mn-lt"/>
                <a:ea typeface="+mn-ea"/>
                <a:cs typeface="+mn-cs"/>
              </a:rPr>
              <a:t>和</a:t>
            </a:r>
            <a:r>
              <a:rPr lang="en" altLang="zh-CN" sz="1200" b="0" i="0" kern="1200" dirty="0">
                <a:solidFill>
                  <a:schemeClr val="tx1"/>
                </a:solidFill>
                <a:effectLst/>
                <a:latin typeface="+mn-lt"/>
                <a:ea typeface="+mn-ea"/>
                <a:cs typeface="+mn-cs"/>
              </a:rPr>
              <a:t>read</a:t>
            </a:r>
            <a:r>
              <a:rPr lang="zh-CN" altLang="en-US" sz="1200" b="0" i="0" kern="1200" dirty="0">
                <a:solidFill>
                  <a:schemeClr val="tx1"/>
                </a:solidFill>
                <a:effectLst/>
                <a:latin typeface="+mn-lt"/>
                <a:ea typeface="+mn-ea"/>
                <a:cs typeface="+mn-cs"/>
              </a:rPr>
              <a:t>进行配合实现。</a:t>
            </a:r>
          </a:p>
          <a:p>
            <a:r>
              <a:rPr lang="zh-CN" altLang="en-US" sz="1200" b="0" i="0" kern="1200" dirty="0">
                <a:solidFill>
                  <a:schemeClr val="tx1"/>
                </a:solidFill>
                <a:effectLst/>
                <a:latin typeface="+mn-lt"/>
                <a:ea typeface="+mn-ea"/>
                <a:cs typeface="+mn-cs"/>
              </a:rPr>
              <a:t>使用方法是 </a:t>
            </a:r>
            <a:r>
              <a:rPr lang="en" altLang="zh-CN" sz="1200" b="0" i="0" kern="1200" dirty="0">
                <a:solidFill>
                  <a:schemeClr val="tx1"/>
                </a:solidFill>
                <a:effectLst/>
                <a:latin typeface="+mn-lt"/>
                <a:ea typeface="+mn-ea"/>
                <a:cs typeface="+mn-cs"/>
              </a:rPr>
              <a:t>while </a:t>
            </a:r>
            <a:r>
              <a:rPr lang="en" altLang="zh-CN" sz="1200" b="0" i="0" kern="1200" dirty="0" err="1">
                <a:solidFill>
                  <a:schemeClr val="tx1"/>
                </a:solidFill>
                <a:effectLst/>
                <a:latin typeface="+mn-lt"/>
                <a:ea typeface="+mn-ea"/>
                <a:cs typeface="+mn-cs"/>
              </a:rPr>
              <a:t>read;do</a:t>
            </a:r>
            <a:r>
              <a:rPr lang="en" altLang="zh-CN" sz="1200" b="0" i="0" kern="1200" dirty="0">
                <a:solidFill>
                  <a:schemeClr val="tx1"/>
                </a:solidFill>
                <a:effectLst/>
                <a:latin typeface="+mn-lt"/>
                <a:ea typeface="+mn-ea"/>
                <a:cs typeface="+mn-cs"/>
              </a:rPr>
              <a:t>  </a:t>
            </a:r>
            <a:r>
              <a:rPr lang="en" altLang="zh-CN" sz="1200" b="0" i="0" kern="1200" dirty="0" err="1">
                <a:solidFill>
                  <a:schemeClr val="tx1"/>
                </a:solidFill>
                <a:effectLst/>
                <a:latin typeface="+mn-lt"/>
                <a:ea typeface="+mn-ea"/>
                <a:cs typeface="+mn-cs"/>
              </a:rPr>
              <a:t>xxxx;done</a:t>
            </a:r>
            <a:r>
              <a:rPr lang="en" altLang="zh-CN" sz="1200" b="0" i="0" kern="1200" dirty="0">
                <a:solidFill>
                  <a:schemeClr val="tx1"/>
                </a:solidFill>
                <a:effectLst/>
                <a:latin typeface="+mn-lt"/>
                <a:ea typeface="+mn-ea"/>
                <a:cs typeface="+mn-cs"/>
              </a:rPr>
              <a:t> &lt; </a:t>
            </a:r>
            <a:r>
              <a:rPr lang="en" altLang="zh-CN" sz="1200" b="0" i="0" kern="1200" dirty="0" err="1">
                <a:solidFill>
                  <a:schemeClr val="tx1"/>
                </a:solidFill>
                <a:effectLst/>
                <a:latin typeface="+mn-lt"/>
                <a:ea typeface="+mn-ea"/>
                <a:cs typeface="+mn-cs"/>
              </a:rPr>
              <a:t>xxx.txt</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形式一），为什么不是</a:t>
            </a:r>
            <a:r>
              <a:rPr lang="en" altLang="zh-CN" sz="1200" b="0" i="0" kern="1200" dirty="0">
                <a:solidFill>
                  <a:schemeClr val="tx1"/>
                </a:solidFill>
                <a:effectLst/>
                <a:latin typeface="+mn-lt"/>
                <a:ea typeface="+mn-ea"/>
                <a:cs typeface="+mn-cs"/>
              </a:rPr>
              <a:t>while read&lt; </a:t>
            </a:r>
            <a:r>
              <a:rPr lang="en" altLang="zh-CN" sz="1200" b="0" i="0" kern="1200" dirty="0" err="1">
                <a:solidFill>
                  <a:schemeClr val="tx1"/>
                </a:solidFill>
                <a:effectLst/>
                <a:latin typeface="+mn-lt"/>
                <a:ea typeface="+mn-ea"/>
                <a:cs typeface="+mn-cs"/>
              </a:rPr>
              <a:t>xxx.txt;do</a:t>
            </a:r>
            <a:r>
              <a:rPr lang="en" altLang="zh-CN" sz="1200" b="0" i="0" kern="1200" dirty="0">
                <a:solidFill>
                  <a:schemeClr val="tx1"/>
                </a:solidFill>
                <a:effectLst/>
                <a:latin typeface="+mn-lt"/>
                <a:ea typeface="+mn-ea"/>
                <a:cs typeface="+mn-cs"/>
              </a:rPr>
              <a:t> </a:t>
            </a:r>
            <a:r>
              <a:rPr lang="en" altLang="zh-CN" sz="1200" b="0" i="0" kern="1200" dirty="0" err="1">
                <a:solidFill>
                  <a:schemeClr val="tx1"/>
                </a:solidFill>
                <a:effectLst/>
                <a:latin typeface="+mn-lt"/>
                <a:ea typeface="+mn-ea"/>
                <a:cs typeface="+mn-cs"/>
              </a:rPr>
              <a:t>xxx;done</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形式二） 的形式。</a:t>
            </a:r>
          </a:p>
          <a:p>
            <a:r>
              <a:rPr lang="zh-CN" altLang="en-US" sz="1200" b="0" i="0" kern="1200" dirty="0">
                <a:solidFill>
                  <a:schemeClr val="tx1"/>
                </a:solidFill>
                <a:effectLst/>
                <a:latin typeface="+mn-lt"/>
                <a:ea typeface="+mn-ea"/>
                <a:cs typeface="+mn-cs"/>
              </a:rPr>
              <a:t>原因如下：</a:t>
            </a:r>
          </a:p>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形式一是将</a:t>
            </a:r>
            <a:r>
              <a:rPr lang="en" altLang="zh-CN" sz="1200" b="0" i="0" kern="1200" dirty="0" err="1">
                <a:solidFill>
                  <a:schemeClr val="tx1"/>
                </a:solidFill>
                <a:effectLst/>
                <a:latin typeface="+mn-lt"/>
                <a:ea typeface="+mn-ea"/>
                <a:cs typeface="+mn-cs"/>
              </a:rPr>
              <a:t>xxx.txt</a:t>
            </a:r>
            <a:r>
              <a:rPr lang="zh-CN" altLang="en-US" sz="1200" b="0" i="0" kern="1200" dirty="0">
                <a:solidFill>
                  <a:schemeClr val="tx1"/>
                </a:solidFill>
                <a:effectLst/>
                <a:latin typeface="+mn-lt"/>
                <a:ea typeface="+mn-ea"/>
                <a:cs typeface="+mn-cs"/>
              </a:rPr>
              <a:t>的内容作为</a:t>
            </a:r>
            <a:r>
              <a:rPr lang="en" altLang="zh-CN" sz="1200" b="0" i="0" kern="1200" dirty="0">
                <a:solidFill>
                  <a:schemeClr val="tx1"/>
                </a:solidFill>
                <a:effectLst/>
                <a:latin typeface="+mn-lt"/>
                <a:ea typeface="+mn-ea"/>
                <a:cs typeface="+mn-cs"/>
              </a:rPr>
              <a:t>while</a:t>
            </a:r>
            <a:r>
              <a:rPr lang="zh-CN" altLang="en-US" sz="1200" b="0" i="0" kern="1200" dirty="0">
                <a:solidFill>
                  <a:schemeClr val="tx1"/>
                </a:solidFill>
                <a:effectLst/>
                <a:latin typeface="+mn-lt"/>
                <a:ea typeface="+mn-ea"/>
                <a:cs typeface="+mn-cs"/>
              </a:rPr>
              <a:t>命令的标准输入，也就是</a:t>
            </a:r>
            <a:r>
              <a:rPr lang="en" altLang="zh-CN" sz="1200" b="0" i="0" kern="1200" dirty="0">
                <a:solidFill>
                  <a:schemeClr val="tx1"/>
                </a:solidFill>
                <a:effectLst/>
                <a:latin typeface="+mn-lt"/>
                <a:ea typeface="+mn-ea"/>
                <a:cs typeface="+mn-cs"/>
              </a:rPr>
              <a:t>while</a:t>
            </a:r>
            <a:r>
              <a:rPr lang="zh-CN" altLang="en-US" sz="1200" b="0" i="0" kern="1200" dirty="0">
                <a:solidFill>
                  <a:schemeClr val="tx1"/>
                </a:solidFill>
                <a:effectLst/>
                <a:latin typeface="+mn-lt"/>
                <a:ea typeface="+mn-ea"/>
                <a:cs typeface="+mn-cs"/>
              </a:rPr>
              <a:t>命令里面包含的命令都能获取到</a:t>
            </a:r>
            <a:r>
              <a:rPr lang="en" altLang="zh-CN" sz="1200" b="0" i="0" kern="1200" dirty="0">
                <a:solidFill>
                  <a:schemeClr val="tx1"/>
                </a:solidFill>
                <a:effectLst/>
                <a:latin typeface="+mn-lt"/>
                <a:ea typeface="+mn-ea"/>
                <a:cs typeface="+mn-cs"/>
              </a:rPr>
              <a:t>while</a:t>
            </a:r>
            <a:r>
              <a:rPr lang="zh-CN" altLang="en-US" sz="1200" b="0" i="0" kern="1200" dirty="0">
                <a:solidFill>
                  <a:schemeClr val="tx1"/>
                </a:solidFill>
                <a:effectLst/>
                <a:latin typeface="+mn-lt"/>
                <a:ea typeface="+mn-ea"/>
                <a:cs typeface="+mn-cs"/>
              </a:rPr>
              <a:t>的标准输入。</a:t>
            </a: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形式二是将</a:t>
            </a:r>
            <a:r>
              <a:rPr lang="en" altLang="zh-CN" sz="1200" b="0" i="0" kern="1200" dirty="0" err="1">
                <a:solidFill>
                  <a:schemeClr val="tx1"/>
                </a:solidFill>
                <a:effectLst/>
                <a:latin typeface="+mn-lt"/>
                <a:ea typeface="+mn-ea"/>
                <a:cs typeface="+mn-cs"/>
              </a:rPr>
              <a:t>xxx.txt</a:t>
            </a:r>
            <a:r>
              <a:rPr lang="zh-CN" altLang="en-US" sz="1200" b="0" i="0" kern="1200" dirty="0">
                <a:solidFill>
                  <a:schemeClr val="tx1"/>
                </a:solidFill>
                <a:effectLst/>
                <a:latin typeface="+mn-lt"/>
                <a:ea typeface="+mn-ea"/>
                <a:cs typeface="+mn-cs"/>
              </a:rPr>
              <a:t>的内容只作为</a:t>
            </a:r>
            <a:r>
              <a:rPr lang="en" altLang="zh-CN" sz="1200" b="0" i="0" kern="1200" dirty="0">
                <a:solidFill>
                  <a:schemeClr val="tx1"/>
                </a:solidFill>
                <a:effectLst/>
                <a:latin typeface="+mn-lt"/>
                <a:ea typeface="+mn-ea"/>
                <a:cs typeface="+mn-cs"/>
              </a:rPr>
              <a:t>read</a:t>
            </a:r>
            <a:r>
              <a:rPr lang="zh-CN" altLang="en-US" sz="1200" b="0" i="0" kern="1200" dirty="0">
                <a:solidFill>
                  <a:schemeClr val="tx1"/>
                </a:solidFill>
                <a:effectLst/>
                <a:latin typeface="+mn-lt"/>
                <a:ea typeface="+mn-ea"/>
                <a:cs typeface="+mn-cs"/>
              </a:rPr>
              <a:t>命令的标准输入，只有</a:t>
            </a:r>
            <a:r>
              <a:rPr lang="en" altLang="zh-CN" sz="1200" b="0" i="0" kern="1200" dirty="0">
                <a:solidFill>
                  <a:schemeClr val="tx1"/>
                </a:solidFill>
                <a:effectLst/>
                <a:latin typeface="+mn-lt"/>
                <a:ea typeface="+mn-ea"/>
                <a:cs typeface="+mn-cs"/>
              </a:rPr>
              <a:t>read</a:t>
            </a:r>
            <a:r>
              <a:rPr lang="zh-CN" altLang="en-US" sz="1200" b="0" i="0" kern="1200" dirty="0">
                <a:solidFill>
                  <a:schemeClr val="tx1"/>
                </a:solidFill>
                <a:effectLst/>
                <a:latin typeface="+mn-lt"/>
                <a:ea typeface="+mn-ea"/>
                <a:cs typeface="+mn-cs"/>
              </a:rPr>
              <a:t>才能读到。</a:t>
            </a:r>
          </a:p>
          <a:p>
            <a:r>
              <a:rPr lang="en-US" altLang="zh-CN" sz="1200" b="0" i="0" kern="1200" dirty="0">
                <a:solidFill>
                  <a:schemeClr val="tx1"/>
                </a:solidFill>
                <a:effectLst/>
                <a:latin typeface="+mn-lt"/>
                <a:ea typeface="+mn-ea"/>
                <a:cs typeface="+mn-cs"/>
              </a:rPr>
              <a:t>3.</a:t>
            </a:r>
            <a:r>
              <a:rPr lang="en" altLang="zh-CN" sz="1200" b="0" i="0" kern="1200" dirty="0">
                <a:solidFill>
                  <a:schemeClr val="tx1"/>
                </a:solidFill>
                <a:effectLst/>
                <a:latin typeface="+mn-lt"/>
                <a:ea typeface="+mn-ea"/>
                <a:cs typeface="+mn-cs"/>
              </a:rPr>
              <a:t>read</a:t>
            </a:r>
            <a:r>
              <a:rPr lang="zh-CN" altLang="en-US" sz="1200" b="0" i="0" kern="1200" dirty="0">
                <a:solidFill>
                  <a:schemeClr val="tx1"/>
                </a:solidFill>
                <a:effectLst/>
                <a:latin typeface="+mn-lt"/>
                <a:ea typeface="+mn-ea"/>
                <a:cs typeface="+mn-cs"/>
              </a:rPr>
              <a:t>是一次从标准输入获取一行，所以将</a:t>
            </a:r>
            <a:r>
              <a:rPr lang="en" altLang="zh-CN" sz="1200" b="0" i="0" kern="1200" dirty="0" err="1">
                <a:solidFill>
                  <a:schemeClr val="tx1"/>
                </a:solidFill>
                <a:effectLst/>
                <a:latin typeface="+mn-lt"/>
                <a:ea typeface="+mn-ea"/>
                <a:cs typeface="+mn-cs"/>
              </a:rPr>
              <a:t>xxx.txt</a:t>
            </a:r>
            <a:r>
              <a:rPr lang="zh-CN" altLang="en-US" sz="1200" b="0" i="0" kern="1200" dirty="0">
                <a:solidFill>
                  <a:schemeClr val="tx1"/>
                </a:solidFill>
                <a:effectLst/>
                <a:latin typeface="+mn-lt"/>
                <a:ea typeface="+mn-ea"/>
                <a:cs typeface="+mn-cs"/>
              </a:rPr>
              <a:t>的内容给</a:t>
            </a:r>
            <a:r>
              <a:rPr lang="en" altLang="zh-CN" sz="1200" b="0" i="0" kern="1200" dirty="0">
                <a:solidFill>
                  <a:schemeClr val="tx1"/>
                </a:solidFill>
                <a:effectLst/>
                <a:latin typeface="+mn-lt"/>
                <a:ea typeface="+mn-ea"/>
                <a:cs typeface="+mn-cs"/>
              </a:rPr>
              <a:t>read</a:t>
            </a:r>
            <a:r>
              <a:rPr lang="zh-CN" altLang="e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read</a:t>
            </a:r>
            <a:r>
              <a:rPr lang="zh-CN" altLang="en-US" sz="1200" b="0" i="0" kern="1200" dirty="0">
                <a:solidFill>
                  <a:schemeClr val="tx1"/>
                </a:solidFill>
                <a:effectLst/>
                <a:latin typeface="+mn-lt"/>
                <a:ea typeface="+mn-ea"/>
                <a:cs typeface="+mn-cs"/>
              </a:rPr>
              <a:t>也只能读取一行。而配合</a:t>
            </a:r>
            <a:r>
              <a:rPr lang="en" altLang="zh-CN" sz="1200" b="0" i="0" kern="1200" dirty="0">
                <a:solidFill>
                  <a:schemeClr val="tx1"/>
                </a:solidFill>
                <a:effectLst/>
                <a:latin typeface="+mn-lt"/>
                <a:ea typeface="+mn-ea"/>
                <a:cs typeface="+mn-cs"/>
              </a:rPr>
              <a:t>while</a:t>
            </a:r>
            <a:r>
              <a:rPr lang="zh-CN" altLang="en-US" sz="1200" b="0" i="0" kern="1200" dirty="0">
                <a:solidFill>
                  <a:schemeClr val="tx1"/>
                </a:solidFill>
                <a:effectLst/>
                <a:latin typeface="+mn-lt"/>
                <a:ea typeface="+mn-ea"/>
                <a:cs typeface="+mn-cs"/>
              </a:rPr>
              <a:t>的时候，</a:t>
            </a:r>
            <a:r>
              <a:rPr lang="en" altLang="zh-CN" sz="1200" b="0" i="0" kern="1200" dirty="0">
                <a:solidFill>
                  <a:schemeClr val="tx1"/>
                </a:solidFill>
                <a:effectLst/>
                <a:latin typeface="+mn-lt"/>
                <a:ea typeface="+mn-ea"/>
                <a:cs typeface="+mn-cs"/>
              </a:rPr>
              <a:t>read</a:t>
            </a:r>
            <a:r>
              <a:rPr lang="zh-CN" altLang="en-US" sz="1200" b="0" i="0" kern="1200" dirty="0">
                <a:solidFill>
                  <a:schemeClr val="tx1"/>
                </a:solidFill>
                <a:effectLst/>
                <a:latin typeface="+mn-lt"/>
                <a:ea typeface="+mn-ea"/>
                <a:cs typeface="+mn-cs"/>
              </a:rPr>
              <a:t>就是一行一行的去把</a:t>
            </a:r>
            <a:r>
              <a:rPr lang="en" altLang="zh-CN" sz="1200" b="0" i="0" kern="1200" dirty="0">
                <a:solidFill>
                  <a:schemeClr val="tx1"/>
                </a:solidFill>
                <a:effectLst/>
                <a:latin typeface="+mn-lt"/>
                <a:ea typeface="+mn-ea"/>
                <a:cs typeface="+mn-cs"/>
              </a:rPr>
              <a:t>while</a:t>
            </a:r>
            <a:r>
              <a:rPr lang="zh-CN" altLang="en-US" sz="1200" b="0" i="0" kern="1200" dirty="0">
                <a:solidFill>
                  <a:schemeClr val="tx1"/>
                </a:solidFill>
                <a:effectLst/>
                <a:latin typeface="+mn-lt"/>
                <a:ea typeface="+mn-ea"/>
                <a:cs typeface="+mn-cs"/>
              </a:rPr>
              <a:t>的标准输入消耗掉。</a:t>
            </a:r>
          </a:p>
          <a:p>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74</a:t>
            </a:fld>
            <a:endParaRPr lang="zh-CN" altLang="en-US"/>
          </a:p>
        </p:txBody>
      </p:sp>
    </p:spTree>
    <p:extLst>
      <p:ext uri="{BB962C8B-B14F-4D97-AF65-F5344CB8AC3E}">
        <p14:creationId xmlns:p14="http://schemas.microsoft.com/office/powerpoint/2010/main" val="2770493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是字符串：以</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参数</a:t>
            </a:r>
            <a:r>
              <a:rPr lang="en-US" altLang="zh-CN" sz="1200" b="0" i="0" kern="1200" dirty="0">
                <a:solidFill>
                  <a:schemeClr val="tx1"/>
                </a:solidFill>
                <a:effectLst/>
                <a:latin typeface="+mn-lt"/>
                <a:ea typeface="+mn-ea"/>
                <a:cs typeface="+mn-cs"/>
              </a:rPr>
              <a:t>1 </a:t>
            </a:r>
            <a:r>
              <a:rPr lang="zh-CN" altLang="en-US" sz="1200" b="0" i="0" kern="1200" dirty="0">
                <a:solidFill>
                  <a:schemeClr val="tx1"/>
                </a:solidFill>
                <a:effectLst/>
                <a:latin typeface="+mn-lt"/>
                <a:ea typeface="+mn-ea"/>
                <a:cs typeface="+mn-cs"/>
              </a:rPr>
              <a:t>参数</a:t>
            </a:r>
            <a:r>
              <a:rPr lang="en-US" altLang="zh-CN" sz="1200" b="0" i="0" kern="1200" dirty="0">
                <a:solidFill>
                  <a:schemeClr val="tx1"/>
                </a:solidFill>
                <a:effectLst/>
                <a:latin typeface="+mn-lt"/>
                <a:ea typeface="+mn-ea"/>
                <a:cs typeface="+mn-cs"/>
              </a:rPr>
              <a:t>2 ... " </a:t>
            </a:r>
            <a:r>
              <a:rPr lang="zh-CN" altLang="en-US" sz="1200" b="0" i="0" kern="1200" dirty="0">
                <a:solidFill>
                  <a:schemeClr val="tx1"/>
                </a:solidFill>
                <a:effectLst/>
                <a:latin typeface="+mn-lt"/>
                <a:ea typeface="+mn-ea"/>
                <a:cs typeface="+mn-cs"/>
              </a:rPr>
              <a:t>形式保存所有参数 </a:t>
            </a:r>
            <a:endParaRPr lang="en-US" altLang="zh-CN" sz="1200" b="0" i="0" kern="1200" dirty="0">
              <a:solidFill>
                <a:schemeClr val="tx1"/>
              </a:solidFill>
              <a:effectLst/>
              <a:latin typeface="+mn-lt"/>
              <a:ea typeface="+mn-ea"/>
              <a:cs typeface="+mn-cs"/>
            </a:endParaRPr>
          </a:p>
          <a:p>
            <a:r>
              <a:rPr kumimoji="1" lang="en-US" altLang="zh-CN" dirty="0"/>
              <a:t>$* </a:t>
            </a:r>
            <a:r>
              <a:rPr kumimoji="1" lang="zh-CN" altLang="en-US" dirty="0"/>
              <a:t>和 </a:t>
            </a:r>
            <a:r>
              <a:rPr kumimoji="1" lang="en-US" altLang="zh-CN" dirty="0"/>
              <a:t>$@</a:t>
            </a:r>
            <a:r>
              <a:rPr kumimoji="1" lang="zh-CN" altLang="en-US" dirty="0"/>
              <a:t>的区别</a:t>
            </a:r>
            <a:endParaRPr kumimoji="1" lang="en-US" altLang="zh-CN" dirty="0"/>
          </a:p>
          <a:p>
            <a:pPr marL="0" marR="0" indent="0" algn="l" defTabSz="914400" rtl="0" eaLnBrk="0" fontAlgn="base" latinLnBrk="0" hangingPunct="0">
              <a:lnSpc>
                <a:spcPct val="100000"/>
              </a:lnSpc>
              <a:spcBef>
                <a:spcPct val="0"/>
              </a:spcBef>
              <a:spcAft>
                <a:spcPct val="0"/>
              </a:spcAft>
              <a:buClrTx/>
              <a:buSzTx/>
              <a:buFontTx/>
              <a:buNone/>
              <a:tabLst/>
              <a:defRPr/>
            </a:pPr>
            <a:r>
              <a:rPr lang="zh-CN" altLang="en-US" sz="1200" b="0" i="0" kern="1200" dirty="0">
                <a:solidFill>
                  <a:schemeClr val="tx1"/>
                </a:solidFill>
                <a:effectLst/>
                <a:latin typeface="+mn-lt"/>
                <a:ea typeface="+mn-ea"/>
                <a:cs typeface="+mn-cs"/>
              </a:rPr>
              <a:t>相同点：当</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不被双引号</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包含时，都以”</a:t>
            </a:r>
            <a:r>
              <a:rPr lang="en-US" altLang="zh-CN" sz="1200" b="0" i="0" kern="1200" dirty="0">
                <a:solidFill>
                  <a:schemeClr val="tx1"/>
                </a:solidFill>
                <a:effectLst/>
                <a:latin typeface="+mn-lt"/>
                <a:ea typeface="+mn-ea"/>
                <a:cs typeface="+mn-cs"/>
              </a:rPr>
              <a:t>$1” “$2” … “$</a:t>
            </a:r>
            <a:r>
              <a:rPr lang="en" altLang="zh-CN" sz="1200" b="0" i="0" kern="1200" dirty="0">
                <a:solidFill>
                  <a:schemeClr val="tx1"/>
                </a:solidFill>
                <a:effectLst/>
                <a:latin typeface="+mn-lt"/>
                <a:ea typeface="+mn-ea"/>
                <a:cs typeface="+mn-cs"/>
              </a:rPr>
              <a:t>n” </a:t>
            </a:r>
            <a:r>
              <a:rPr lang="zh-CN" altLang="en-US" sz="1200" b="0" i="0" kern="1200" dirty="0">
                <a:solidFill>
                  <a:schemeClr val="tx1"/>
                </a:solidFill>
                <a:effectLst/>
                <a:latin typeface="+mn-lt"/>
                <a:ea typeface="+mn-ea"/>
                <a:cs typeface="+mn-cs"/>
              </a:rPr>
              <a:t>的形式输出所有参数。都是引用所有参数。</a:t>
            </a:r>
          </a:p>
          <a:p>
            <a:pPr marL="0" marR="0" indent="0" algn="l" defTabSz="914400" rtl="0" eaLnBrk="0" fontAlgn="base" latinLnBrk="0" hangingPunct="0">
              <a:lnSpc>
                <a:spcPct val="100000"/>
              </a:lnSpc>
              <a:spcBef>
                <a:spcPct val="0"/>
              </a:spcBef>
              <a:spcAft>
                <a:spcPct val="0"/>
              </a:spcAft>
              <a:buClrTx/>
              <a:buSzTx/>
              <a:buFontTx/>
              <a:buNone/>
              <a:tabLst/>
              <a:defRPr/>
            </a:pPr>
            <a:r>
              <a:rPr lang="zh-CN" altLang="en-US" sz="1200" b="0" i="0" kern="1200" dirty="0">
                <a:solidFill>
                  <a:schemeClr val="tx1"/>
                </a:solidFill>
                <a:effectLst/>
                <a:latin typeface="+mn-lt"/>
                <a:ea typeface="+mn-ea"/>
                <a:cs typeface="+mn-cs"/>
              </a:rPr>
              <a:t>不同点：当它们被双引号</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包含时，就会有区别了。只有在双引号中体现出来。假设在脚本运行时写了三个参数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则 </a:t>
            </a:r>
            <a:r>
              <a:rPr lang="en-US" altLang="zh-CN" sz="1200" b="1" i="0" kern="1200" dirty="0">
                <a:solidFill>
                  <a:schemeClr val="tx1"/>
                </a:solidFill>
                <a:effectLst/>
                <a:latin typeface="+mn-lt"/>
                <a:ea typeface="+mn-ea"/>
                <a:cs typeface="+mn-cs"/>
              </a:rPr>
              <a:t>" * " </a:t>
            </a:r>
            <a:r>
              <a:rPr lang="zh-CN" altLang="en-US" sz="1200" b="1" i="0" kern="1200" dirty="0">
                <a:solidFill>
                  <a:schemeClr val="tx1"/>
                </a:solidFill>
                <a:effectLst/>
                <a:latin typeface="+mn-lt"/>
                <a:ea typeface="+mn-ea"/>
                <a:cs typeface="+mn-cs"/>
              </a:rPr>
              <a:t>等价于 </a:t>
            </a:r>
            <a:r>
              <a:rPr lang="en-US" altLang="zh-CN" sz="1200" b="1" i="0" kern="1200" dirty="0">
                <a:solidFill>
                  <a:schemeClr val="tx1"/>
                </a:solidFill>
                <a:effectLst/>
                <a:latin typeface="+mn-lt"/>
                <a:ea typeface="+mn-ea"/>
                <a:cs typeface="+mn-cs"/>
              </a:rPr>
              <a:t>"1 2 3"</a:t>
            </a:r>
            <a:r>
              <a:rPr lang="zh-CN" altLang="en-US" sz="1200" b="1" i="0" kern="1200" dirty="0">
                <a:solidFill>
                  <a:schemeClr val="tx1"/>
                </a:solidFill>
                <a:effectLst/>
                <a:latin typeface="+mn-lt"/>
                <a:ea typeface="+mn-ea"/>
                <a:cs typeface="+mn-cs"/>
              </a:rPr>
              <a:t>（传递了一个参数），而 </a:t>
            </a:r>
            <a:r>
              <a:rPr lang="en-US"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等价于 </a:t>
            </a:r>
            <a:r>
              <a:rPr lang="en-US" altLang="zh-CN" sz="1200" b="1" i="0" kern="1200" dirty="0">
                <a:solidFill>
                  <a:schemeClr val="tx1"/>
                </a:solidFill>
                <a:effectLst/>
                <a:latin typeface="+mn-lt"/>
                <a:ea typeface="+mn-ea"/>
                <a:cs typeface="+mn-cs"/>
              </a:rPr>
              <a:t>"1" "2" "3"</a:t>
            </a:r>
            <a:r>
              <a:rPr lang="zh-CN" altLang="en-US" sz="1200" b="1" i="0" kern="1200" dirty="0">
                <a:solidFill>
                  <a:schemeClr val="tx1"/>
                </a:solidFill>
                <a:effectLst/>
                <a:latin typeface="+mn-lt"/>
                <a:ea typeface="+mn-ea"/>
                <a:cs typeface="+mn-cs"/>
              </a:rPr>
              <a:t>（传递了三个参数）。</a:t>
            </a:r>
            <a:endParaRPr lang="zh-CN" altLang="en-US"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a:t>
            </a:r>
            <a:r>
              <a:rPr kumimoji="1" lang="en-US" altLang="zh-CN" sz="1200" b="0" i="0" kern="1200" dirty="0" err="1">
                <a:solidFill>
                  <a:schemeClr val="tx1"/>
                </a:solidFill>
                <a:effectLst/>
                <a:latin typeface="+mn-lt"/>
                <a:ea typeface="+mn-ea"/>
                <a:cs typeface="+mn-cs"/>
              </a:rPr>
              <a:t>root@elephant</a:t>
            </a:r>
            <a:r>
              <a:rPr kumimoji="1" lang="en-US" altLang="zh-CN" sz="1200" b="0" i="0" kern="1200" dirty="0">
                <a:solidFill>
                  <a:schemeClr val="tx1"/>
                </a:solidFill>
                <a:effectLst/>
                <a:latin typeface="+mn-lt"/>
                <a:ea typeface="+mn-ea"/>
                <a:cs typeface="+mn-cs"/>
              </a:rPr>
              <a:t> scripts]# cat </a:t>
            </a:r>
            <a:r>
              <a:rPr kumimoji="1" lang="en-US" altLang="zh-CN" sz="1200" b="0" i="0" kern="1200" dirty="0" err="1">
                <a:solidFill>
                  <a:schemeClr val="tx1"/>
                </a:solidFill>
                <a:effectLst/>
                <a:latin typeface="+mn-lt"/>
                <a:ea typeface="+mn-ea"/>
                <a:cs typeface="+mn-cs"/>
              </a:rPr>
              <a:t>test.sh</a:t>
            </a:r>
            <a:r>
              <a:rPr kumimoji="1" lang="en-US" altLang="zh-CN" sz="1200" b="0" i="0" kern="1200" dirty="0">
                <a:solidFill>
                  <a:schemeClr val="tx1"/>
                </a:solidFill>
                <a:effectLst/>
                <a:latin typeface="+mn-lt"/>
                <a:ea typeface="+mn-ea"/>
                <a:cs typeface="+mn-cs"/>
              </a:rPr>
              <a:t> </a:t>
            </a:r>
          </a:p>
          <a:p>
            <a:r>
              <a:rPr kumimoji="1" lang="en-US" altLang="zh-CN" sz="1200" b="0" i="0" kern="1200" dirty="0">
                <a:solidFill>
                  <a:schemeClr val="tx1"/>
                </a:solidFill>
                <a:effectLst/>
                <a:latin typeface="+mn-lt"/>
                <a:ea typeface="+mn-ea"/>
                <a:cs typeface="+mn-cs"/>
              </a:rPr>
              <a:t>#!/bin/bash</a:t>
            </a:r>
          </a:p>
          <a:p>
            <a:r>
              <a:rPr kumimoji="1" lang="en-US" altLang="zh-CN" sz="1200" b="0" i="0" kern="1200" dirty="0">
                <a:solidFill>
                  <a:schemeClr val="tx1"/>
                </a:solidFill>
                <a:effectLst/>
                <a:latin typeface="+mn-lt"/>
                <a:ea typeface="+mn-ea"/>
                <a:cs typeface="+mn-cs"/>
              </a:rPr>
              <a:t>#test_by_ncs_2019-11-18</a:t>
            </a:r>
          </a:p>
          <a:p>
            <a:r>
              <a:rPr kumimoji="1" lang="en-US" altLang="zh-CN" sz="1200" b="0" i="0" kern="1200" dirty="0">
                <a:solidFill>
                  <a:schemeClr val="tx1"/>
                </a:solidFill>
                <a:effectLst/>
                <a:latin typeface="+mn-lt"/>
                <a:ea typeface="+mn-ea"/>
                <a:cs typeface="+mn-cs"/>
              </a:rPr>
              <a:t>#!/bin/bash</a:t>
            </a:r>
          </a:p>
          <a:p>
            <a:r>
              <a:rPr kumimoji="1" lang="en-US" altLang="zh-CN" sz="1200" b="0" i="0" kern="1200" dirty="0">
                <a:solidFill>
                  <a:schemeClr val="tx1"/>
                </a:solidFill>
                <a:effectLst/>
                <a:latin typeface="+mn-lt"/>
                <a:ea typeface="+mn-ea"/>
                <a:cs typeface="+mn-cs"/>
              </a:rPr>
              <a:t>echo "\"\$*\""</a:t>
            </a:r>
          </a:p>
          <a:p>
            <a:r>
              <a:rPr kumimoji="1" lang="en-US" altLang="zh-CN" sz="1200" b="0" i="0" kern="1200" dirty="0">
                <a:solidFill>
                  <a:schemeClr val="tx1"/>
                </a:solidFill>
                <a:effectLst/>
                <a:latin typeface="+mn-lt"/>
                <a:ea typeface="+mn-ea"/>
                <a:cs typeface="+mn-cs"/>
              </a:rPr>
              <a:t>for num in "$*"</a:t>
            </a:r>
          </a:p>
          <a:p>
            <a:r>
              <a:rPr kumimoji="1" lang="en-US" altLang="zh-CN" sz="1200" b="0" i="0" kern="1200" dirty="0">
                <a:solidFill>
                  <a:schemeClr val="tx1"/>
                </a:solidFill>
                <a:effectLst/>
                <a:latin typeface="+mn-lt"/>
                <a:ea typeface="+mn-ea"/>
                <a:cs typeface="+mn-cs"/>
              </a:rPr>
              <a:t>do</a:t>
            </a:r>
          </a:p>
          <a:p>
            <a:r>
              <a:rPr kumimoji="1" lang="en-US" altLang="zh-CN" sz="1200" b="0" i="0" kern="1200" dirty="0">
                <a:solidFill>
                  <a:schemeClr val="tx1"/>
                </a:solidFill>
                <a:effectLst/>
                <a:latin typeface="+mn-lt"/>
                <a:ea typeface="+mn-ea"/>
                <a:cs typeface="+mn-cs"/>
              </a:rPr>
              <a:t>    echo "$num"</a:t>
            </a:r>
          </a:p>
          <a:p>
            <a:r>
              <a:rPr kumimoji="1" lang="en-US" altLang="zh-CN" sz="1200" b="0" i="0" kern="1200" dirty="0">
                <a:solidFill>
                  <a:schemeClr val="tx1"/>
                </a:solidFill>
                <a:effectLst/>
                <a:latin typeface="+mn-lt"/>
                <a:ea typeface="+mn-ea"/>
                <a:cs typeface="+mn-cs"/>
              </a:rPr>
              <a:t>done</a:t>
            </a:r>
          </a:p>
          <a:p>
            <a:endParaRPr kumimoji="1" lang="en-US" altLang="zh-CN"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echo "\"\$@\""</a:t>
            </a:r>
          </a:p>
          <a:p>
            <a:r>
              <a:rPr kumimoji="1" lang="en-US" altLang="zh-CN" sz="1200" b="0" i="0" kern="1200" dirty="0">
                <a:solidFill>
                  <a:schemeClr val="tx1"/>
                </a:solidFill>
                <a:effectLst/>
                <a:latin typeface="+mn-lt"/>
                <a:ea typeface="+mn-ea"/>
                <a:cs typeface="+mn-cs"/>
              </a:rPr>
              <a:t>for sum in "$@"</a:t>
            </a:r>
          </a:p>
          <a:p>
            <a:r>
              <a:rPr kumimoji="1" lang="en-US" altLang="zh-CN" sz="1200" b="0" i="0" kern="1200" dirty="0">
                <a:solidFill>
                  <a:schemeClr val="tx1"/>
                </a:solidFill>
                <a:effectLst/>
                <a:latin typeface="+mn-lt"/>
                <a:ea typeface="+mn-ea"/>
                <a:cs typeface="+mn-cs"/>
              </a:rPr>
              <a:t>do</a:t>
            </a:r>
          </a:p>
          <a:p>
            <a:r>
              <a:rPr kumimoji="1" lang="en-US" altLang="zh-CN" sz="1200" b="0" i="0" kern="1200" dirty="0">
                <a:solidFill>
                  <a:schemeClr val="tx1"/>
                </a:solidFill>
                <a:effectLst/>
                <a:latin typeface="+mn-lt"/>
                <a:ea typeface="+mn-ea"/>
                <a:cs typeface="+mn-cs"/>
              </a:rPr>
              <a:t>    echo "$sum"</a:t>
            </a:r>
          </a:p>
          <a:p>
            <a:r>
              <a:rPr kumimoji="1" lang="en-US" altLang="zh-CN" sz="1200" b="0" i="0" kern="1200" dirty="0">
                <a:solidFill>
                  <a:schemeClr val="tx1"/>
                </a:solidFill>
                <a:effectLst/>
                <a:latin typeface="+mn-lt"/>
                <a:ea typeface="+mn-ea"/>
                <a:cs typeface="+mn-cs"/>
              </a:rPr>
              <a:t>Done</a:t>
            </a:r>
          </a:p>
          <a:p>
            <a:endParaRPr kumimoji="1"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a:t>
            </a:r>
            <a:r>
              <a:rPr kumimoji="1" lang="en-US" altLang="zh-CN" sz="1200" b="0" i="0" kern="1200" dirty="0" err="1">
                <a:solidFill>
                  <a:schemeClr val="tx1"/>
                </a:solidFill>
                <a:effectLst/>
                <a:latin typeface="+mn-lt"/>
                <a:ea typeface="+mn-ea"/>
                <a:cs typeface="+mn-cs"/>
              </a:rPr>
              <a:t>root@elephant</a:t>
            </a:r>
            <a:r>
              <a:rPr kumimoji="1" lang="en-US" altLang="zh-CN" sz="1200" b="0" i="0" kern="1200" dirty="0">
                <a:solidFill>
                  <a:schemeClr val="tx1"/>
                </a:solidFill>
                <a:effectLst/>
                <a:latin typeface="+mn-lt"/>
                <a:ea typeface="+mn-ea"/>
                <a:cs typeface="+mn-cs"/>
              </a:rPr>
              <a:t> scripts]#</a:t>
            </a:r>
            <a:r>
              <a:rPr kumimoji="1" lang="en-US" altLang="zh-CN" sz="1200" b="0" i="0" kern="1200" dirty="0" err="1">
                <a:solidFill>
                  <a:schemeClr val="tx1"/>
                </a:solidFill>
                <a:effectLst/>
                <a:latin typeface="+mn-lt"/>
                <a:ea typeface="+mn-ea"/>
                <a:cs typeface="+mn-cs"/>
              </a:rPr>
              <a:t>sh</a:t>
            </a:r>
            <a:r>
              <a:rPr kumimoji="1" lang="zh-CN" altLang="en-US" sz="1200" b="0" i="0" kern="1200" dirty="0">
                <a:solidFill>
                  <a:schemeClr val="tx1"/>
                </a:solidFill>
                <a:effectLst/>
                <a:latin typeface="+mn-lt"/>
                <a:ea typeface="+mn-ea"/>
                <a:cs typeface="+mn-cs"/>
              </a:rPr>
              <a:t> </a:t>
            </a:r>
            <a:r>
              <a:rPr kumimoji="1" lang="en-US" altLang="zh-CN" sz="1200" b="0" i="0" kern="1200" dirty="0" err="1">
                <a:solidFill>
                  <a:schemeClr val="tx1"/>
                </a:solidFill>
                <a:effectLst/>
                <a:latin typeface="+mn-lt"/>
                <a:ea typeface="+mn-ea"/>
                <a:cs typeface="+mn-cs"/>
              </a:rPr>
              <a:t>test.sh</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1</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2</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3</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4</a:t>
            </a:r>
          </a:p>
          <a:p>
            <a:endParaRPr kumimoji="1" lang="en-US" altLang="zh-CN"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a:t>
            </a:r>
          </a:p>
          <a:p>
            <a:r>
              <a:rPr kumimoji="1" lang="en-US" altLang="zh-CN" sz="1200" b="0" i="0" kern="1200" dirty="0">
                <a:solidFill>
                  <a:schemeClr val="tx1"/>
                </a:solidFill>
                <a:effectLst/>
                <a:latin typeface="+mn-lt"/>
                <a:ea typeface="+mn-ea"/>
                <a:cs typeface="+mn-cs"/>
              </a:rPr>
              <a:t>1</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2</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3</a:t>
            </a:r>
            <a:r>
              <a:rPr kumimoji="1" lang="zh-CN" altLang="en-US" sz="1200" b="0" i="0" kern="1200" dirty="0">
                <a:solidFill>
                  <a:schemeClr val="tx1"/>
                </a:solidFill>
                <a:effectLst/>
                <a:latin typeface="+mn-lt"/>
                <a:ea typeface="+mn-ea"/>
                <a:cs typeface="+mn-cs"/>
              </a:rPr>
              <a:t> </a:t>
            </a:r>
            <a:r>
              <a:rPr kumimoji="1" lang="en-US" altLang="zh-CN" sz="1200" b="0" i="0" kern="1200" dirty="0">
                <a:solidFill>
                  <a:schemeClr val="tx1"/>
                </a:solidFill>
                <a:effectLst/>
                <a:latin typeface="+mn-lt"/>
                <a:ea typeface="+mn-ea"/>
                <a:cs typeface="+mn-cs"/>
              </a:rPr>
              <a:t>4</a:t>
            </a:r>
          </a:p>
          <a:p>
            <a:endParaRPr kumimoji="1" lang="en-US" altLang="zh-CN"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a:t>
            </a:r>
          </a:p>
          <a:p>
            <a:r>
              <a:rPr kumimoji="1" lang="en-US" altLang="zh-CN" sz="1200" b="0" i="0" kern="1200" dirty="0">
                <a:solidFill>
                  <a:schemeClr val="tx1"/>
                </a:solidFill>
                <a:effectLst/>
                <a:latin typeface="+mn-lt"/>
                <a:ea typeface="+mn-ea"/>
                <a:cs typeface="+mn-cs"/>
              </a:rPr>
              <a:t>1</a:t>
            </a:r>
          </a:p>
          <a:p>
            <a:r>
              <a:rPr kumimoji="1" lang="en-US" altLang="zh-CN" sz="1200" b="0" i="0" kern="1200" dirty="0">
                <a:solidFill>
                  <a:schemeClr val="tx1"/>
                </a:solidFill>
                <a:effectLst/>
                <a:latin typeface="+mn-lt"/>
                <a:ea typeface="+mn-ea"/>
                <a:cs typeface="+mn-cs"/>
              </a:rPr>
              <a:t>2</a:t>
            </a:r>
          </a:p>
          <a:p>
            <a:r>
              <a:rPr kumimoji="1" lang="en-US" altLang="zh-CN" sz="1200" b="0" i="0" kern="1200" dirty="0">
                <a:solidFill>
                  <a:schemeClr val="tx1"/>
                </a:solidFill>
                <a:effectLst/>
                <a:latin typeface="+mn-lt"/>
                <a:ea typeface="+mn-ea"/>
                <a:cs typeface="+mn-cs"/>
              </a:rPr>
              <a:t>3</a:t>
            </a:r>
          </a:p>
          <a:p>
            <a:r>
              <a:rPr kumimoji="1" lang="en-US" altLang="zh-CN" sz="1200" b="0" i="0" kern="1200" dirty="0">
                <a:solidFill>
                  <a:schemeClr val="tx1"/>
                </a:solidFill>
                <a:effectLst/>
                <a:latin typeface="+mn-lt"/>
                <a:ea typeface="+mn-ea"/>
                <a:cs typeface="+mn-cs"/>
              </a:rPr>
              <a:t>4</a:t>
            </a:r>
          </a:p>
          <a:p>
            <a:endParaRPr kumimoji="1"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a:p>
            <a:endParaRPr kumimoji="1"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78</a:t>
            </a:fld>
            <a:endParaRPr lang="zh-CN" altLang="en-US"/>
          </a:p>
        </p:txBody>
      </p:sp>
    </p:spTree>
    <p:extLst>
      <p:ext uri="{BB962C8B-B14F-4D97-AF65-F5344CB8AC3E}">
        <p14:creationId xmlns:p14="http://schemas.microsoft.com/office/powerpoint/2010/main" val="39018008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 sz="1200" b="0" i="0" kern="1200" dirty="0">
                <a:solidFill>
                  <a:schemeClr val="tx1"/>
                </a:solidFill>
                <a:effectLst/>
                <a:latin typeface="+mn-lt"/>
                <a:ea typeface="+mn-ea"/>
                <a:cs typeface="+mn-cs"/>
              </a:rPr>
              <a:t>本例</a:t>
            </a:r>
            <a:r>
              <a:rPr lang="zh-CN" altLang="en-US" sz="1200" b="0" i="0" kern="1200" dirty="0">
                <a:solidFill>
                  <a:schemeClr val="tx1"/>
                </a:solidFill>
                <a:effectLst/>
                <a:latin typeface="+mn-lt"/>
                <a:ea typeface="+mn-ea"/>
                <a:cs typeface="+mn-cs"/>
              </a:rPr>
              <a:t>执行举例：</a:t>
            </a:r>
            <a:endParaRPr lang="en-US" altLang="zh-CN" sz="1200" b="0" i="0" kern="1200" dirty="0">
              <a:solidFill>
                <a:schemeClr val="tx1"/>
              </a:solidFill>
              <a:effectLst/>
              <a:latin typeface="+mn-lt"/>
              <a:ea typeface="+mn-ea"/>
              <a:cs typeface="+mn-cs"/>
            </a:endParaRPr>
          </a:p>
          <a:p>
            <a:r>
              <a:rPr lang="en" altLang="zh-CN" sz="1200" b="0" i="0" kern="1200" dirty="0">
                <a:solidFill>
                  <a:schemeClr val="tx1"/>
                </a:solidFill>
                <a:effectLst/>
                <a:latin typeface="+mn-lt"/>
                <a:ea typeface="+mn-ea"/>
                <a:cs typeface="+mn-cs"/>
              </a:rPr>
              <a:t>[root@centos7 home]# </a:t>
            </a:r>
            <a:r>
              <a:rPr lang="en" altLang="zh-CN" sz="1200" b="0" i="0" kern="1200" dirty="0" err="1">
                <a:solidFill>
                  <a:schemeClr val="tx1"/>
                </a:solidFill>
                <a:effectLst/>
                <a:latin typeface="+mn-lt"/>
                <a:ea typeface="+mn-ea"/>
                <a:cs typeface="+mn-cs"/>
              </a:rPr>
              <a:t>sh</a:t>
            </a:r>
            <a:r>
              <a:rPr lang="en" altLang="zh-CN" sz="1200" b="0" i="0" kern="1200" dirty="0">
                <a:solidFill>
                  <a:schemeClr val="tx1"/>
                </a:solidFill>
                <a:effectLst/>
                <a:latin typeface="+mn-lt"/>
                <a:ea typeface="+mn-ea"/>
                <a:cs typeface="+mn-cs"/>
              </a:rPr>
              <a:t> test444.sh /home/</a:t>
            </a:r>
            <a:r>
              <a:rPr lang="en" altLang="zh-CN" sz="1200" b="0" i="0" kern="1200" dirty="0" err="1">
                <a:solidFill>
                  <a:schemeClr val="tx1"/>
                </a:solidFill>
                <a:effectLst/>
                <a:latin typeface="+mn-lt"/>
                <a:ea typeface="+mn-ea"/>
                <a:cs typeface="+mn-cs"/>
              </a:rPr>
              <a:t>wangbo</a:t>
            </a:r>
            <a:r>
              <a:rPr lang="en" altLang="zh-CN" sz="1200" b="0" i="0" kern="1200" dirty="0">
                <a:solidFill>
                  <a:schemeClr val="tx1"/>
                </a:solidFill>
                <a:effectLst/>
                <a:latin typeface="+mn-lt"/>
                <a:ea typeface="+mn-ea"/>
                <a:cs typeface="+mn-cs"/>
              </a:rPr>
              <a:t>/</a:t>
            </a:r>
            <a:r>
              <a:rPr lang="en" altLang="zh-CN" sz="1200" b="0" i="0" kern="1200" dirty="0" err="1">
                <a:solidFill>
                  <a:schemeClr val="tx1"/>
                </a:solidFill>
                <a:effectLst/>
                <a:latin typeface="+mn-lt"/>
                <a:ea typeface="+mn-ea"/>
                <a:cs typeface="+mn-cs"/>
              </a:rPr>
              <a:t>testdir</a:t>
            </a:r>
            <a:r>
              <a:rPr lang="en" altLang="zh-CN" sz="1200" b="0" i="0" kern="1200" dirty="0">
                <a:solidFill>
                  <a:schemeClr val="tx1"/>
                </a:solidFill>
                <a:effectLst/>
                <a:latin typeface="+mn-lt"/>
                <a:ea typeface="+mn-ea"/>
                <a:cs typeface="+mn-cs"/>
              </a:rPr>
              <a:t> testfile1 testfile2</a:t>
            </a:r>
          </a:p>
          <a:p>
            <a:r>
              <a:rPr lang="en" altLang="zh-CN" sz="1200" b="0" i="0" kern="1200" dirty="0" err="1">
                <a:solidFill>
                  <a:schemeClr val="tx1"/>
                </a:solidFill>
                <a:effectLst/>
                <a:latin typeface="+mn-lt"/>
                <a:ea typeface="+mn-ea"/>
                <a:cs typeface="+mn-cs"/>
              </a:rPr>
              <a:t>aaaa</a:t>
            </a:r>
            <a:endParaRPr lang="en" altLang="zh-CN" sz="1200" b="0" i="0" kern="1200" dirty="0">
              <a:solidFill>
                <a:schemeClr val="tx1"/>
              </a:solidFill>
              <a:effectLst/>
              <a:latin typeface="+mn-lt"/>
              <a:ea typeface="+mn-ea"/>
              <a:cs typeface="+mn-cs"/>
            </a:endParaRPr>
          </a:p>
          <a:p>
            <a:r>
              <a:rPr lang="en" altLang="zh-CN" sz="1200" b="0" i="0" kern="1200" dirty="0" err="1">
                <a:solidFill>
                  <a:schemeClr val="tx1"/>
                </a:solidFill>
                <a:effectLst/>
                <a:latin typeface="+mn-lt"/>
                <a:ea typeface="+mn-ea"/>
                <a:cs typeface="+mn-cs"/>
              </a:rPr>
              <a:t>aaaa</a:t>
            </a:r>
            <a:endParaRPr lang="en" altLang="zh-CN" sz="1200" b="0" i="0" kern="1200" dirty="0">
              <a:solidFill>
                <a:schemeClr val="tx1"/>
              </a:solidFill>
              <a:effectLst/>
              <a:latin typeface="+mn-lt"/>
              <a:ea typeface="+mn-ea"/>
              <a:cs typeface="+mn-cs"/>
            </a:endParaRPr>
          </a:p>
          <a:p>
            <a:r>
              <a:rPr lang="en" altLang="zh-CN" sz="1200" b="0" i="0" kern="1200" dirty="0">
                <a:solidFill>
                  <a:schemeClr val="tx1"/>
                </a:solidFill>
                <a:effectLst/>
                <a:latin typeface="+mn-lt"/>
                <a:ea typeface="+mn-ea"/>
                <a:cs typeface="+mn-cs"/>
              </a:rPr>
              <a:t>End of /home/</a:t>
            </a:r>
            <a:r>
              <a:rPr lang="en" altLang="zh-CN" sz="1200" b="0" i="0" kern="1200" dirty="0" err="1">
                <a:solidFill>
                  <a:schemeClr val="tx1"/>
                </a:solidFill>
                <a:effectLst/>
                <a:latin typeface="+mn-lt"/>
                <a:ea typeface="+mn-ea"/>
                <a:cs typeface="+mn-cs"/>
              </a:rPr>
              <a:t>wangbo</a:t>
            </a:r>
            <a:r>
              <a:rPr lang="en" altLang="zh-CN" sz="1200" b="0" i="0" kern="1200" dirty="0">
                <a:solidFill>
                  <a:schemeClr val="tx1"/>
                </a:solidFill>
                <a:effectLst/>
                <a:latin typeface="+mn-lt"/>
                <a:ea typeface="+mn-ea"/>
                <a:cs typeface="+mn-cs"/>
              </a:rPr>
              <a:t>/</a:t>
            </a:r>
            <a:r>
              <a:rPr lang="en" altLang="zh-CN" sz="1200" b="0" i="0" kern="1200" dirty="0" err="1">
                <a:solidFill>
                  <a:schemeClr val="tx1"/>
                </a:solidFill>
                <a:effectLst/>
                <a:latin typeface="+mn-lt"/>
                <a:ea typeface="+mn-ea"/>
                <a:cs typeface="+mn-cs"/>
              </a:rPr>
              <a:t>testdir</a:t>
            </a:r>
            <a:r>
              <a:rPr lang="en" altLang="zh-CN" sz="1200" b="0" i="0" kern="1200" dirty="0">
                <a:solidFill>
                  <a:schemeClr val="tx1"/>
                </a:solidFill>
                <a:effectLst/>
                <a:latin typeface="+mn-lt"/>
                <a:ea typeface="+mn-ea"/>
                <a:cs typeface="+mn-cs"/>
              </a:rPr>
              <a:t>/testfile1</a:t>
            </a:r>
          </a:p>
          <a:p>
            <a:r>
              <a:rPr lang="en" altLang="zh-CN" sz="1200" b="0" i="0" kern="1200" dirty="0" err="1">
                <a:solidFill>
                  <a:schemeClr val="tx1"/>
                </a:solidFill>
                <a:effectLst/>
                <a:latin typeface="+mn-lt"/>
                <a:ea typeface="+mn-ea"/>
                <a:cs typeface="+mn-cs"/>
              </a:rPr>
              <a:t>bbbb</a:t>
            </a:r>
            <a:endParaRPr lang="en" altLang="zh-CN" sz="1200" b="0" i="0" kern="1200" dirty="0">
              <a:solidFill>
                <a:schemeClr val="tx1"/>
              </a:solidFill>
              <a:effectLst/>
              <a:latin typeface="+mn-lt"/>
              <a:ea typeface="+mn-ea"/>
              <a:cs typeface="+mn-cs"/>
            </a:endParaRPr>
          </a:p>
          <a:p>
            <a:r>
              <a:rPr lang="en" altLang="zh-CN" sz="1200" b="0" i="0" kern="1200" dirty="0" err="1">
                <a:solidFill>
                  <a:schemeClr val="tx1"/>
                </a:solidFill>
                <a:effectLst/>
                <a:latin typeface="+mn-lt"/>
                <a:ea typeface="+mn-ea"/>
                <a:cs typeface="+mn-cs"/>
              </a:rPr>
              <a:t>bbbb</a:t>
            </a:r>
            <a:endParaRPr lang="en" altLang="zh-CN" sz="1200" b="0" i="0" kern="1200" dirty="0">
              <a:solidFill>
                <a:schemeClr val="tx1"/>
              </a:solidFill>
              <a:effectLst/>
              <a:latin typeface="+mn-lt"/>
              <a:ea typeface="+mn-ea"/>
              <a:cs typeface="+mn-cs"/>
            </a:endParaRPr>
          </a:p>
          <a:p>
            <a:r>
              <a:rPr lang="en" altLang="zh-CN" sz="1200" b="0" i="0" kern="1200" dirty="0">
                <a:solidFill>
                  <a:schemeClr val="tx1"/>
                </a:solidFill>
                <a:effectLst/>
                <a:latin typeface="+mn-lt"/>
                <a:ea typeface="+mn-ea"/>
                <a:cs typeface="+mn-cs"/>
              </a:rPr>
              <a:t>End of /home/</a:t>
            </a:r>
            <a:r>
              <a:rPr lang="en" altLang="zh-CN" sz="1200" b="0" i="0" kern="1200" dirty="0" err="1">
                <a:solidFill>
                  <a:schemeClr val="tx1"/>
                </a:solidFill>
                <a:effectLst/>
                <a:latin typeface="+mn-lt"/>
                <a:ea typeface="+mn-ea"/>
                <a:cs typeface="+mn-cs"/>
              </a:rPr>
              <a:t>wangbo</a:t>
            </a:r>
            <a:r>
              <a:rPr lang="en" altLang="zh-CN" sz="1200" b="0" i="0" kern="1200" dirty="0">
                <a:solidFill>
                  <a:schemeClr val="tx1"/>
                </a:solidFill>
                <a:effectLst/>
                <a:latin typeface="+mn-lt"/>
                <a:ea typeface="+mn-ea"/>
                <a:cs typeface="+mn-cs"/>
              </a:rPr>
              <a:t>/</a:t>
            </a:r>
            <a:r>
              <a:rPr lang="en" altLang="zh-CN" sz="1200" b="0" i="0" kern="1200" dirty="0" err="1">
                <a:solidFill>
                  <a:schemeClr val="tx1"/>
                </a:solidFill>
                <a:effectLst/>
                <a:latin typeface="+mn-lt"/>
                <a:ea typeface="+mn-ea"/>
                <a:cs typeface="+mn-cs"/>
              </a:rPr>
              <a:t>testdir</a:t>
            </a:r>
            <a:r>
              <a:rPr lang="en" altLang="zh-CN" sz="1200" b="0" i="0" kern="1200" dirty="0">
                <a:solidFill>
                  <a:schemeClr val="tx1"/>
                </a:solidFill>
                <a:effectLst/>
                <a:latin typeface="+mn-lt"/>
                <a:ea typeface="+mn-ea"/>
                <a:cs typeface="+mn-cs"/>
              </a:rPr>
              <a:t>/testfile2</a:t>
            </a:r>
          </a:p>
          <a:p>
            <a:endParaRPr lang="en" altLang="zh-CN" sz="1200" b="0" i="0" kern="1200" dirty="0">
              <a:solidFill>
                <a:schemeClr val="tx1"/>
              </a:solidFill>
              <a:effectLst/>
              <a:latin typeface="+mn-lt"/>
              <a:ea typeface="+mn-ea"/>
              <a:cs typeface="+mn-cs"/>
            </a:endParaRPr>
          </a:p>
          <a:p>
            <a:endParaRPr lang="en" altLang="zh-CN" sz="1200" b="0" i="0" kern="1200" dirty="0">
              <a:solidFill>
                <a:schemeClr val="tx1"/>
              </a:solidFill>
              <a:effectLst/>
              <a:latin typeface="+mn-lt"/>
              <a:ea typeface="+mn-ea"/>
              <a:cs typeface="+mn-cs"/>
            </a:endParaRPr>
          </a:p>
          <a:p>
            <a:r>
              <a:rPr lang="en" altLang="zh-CN" sz="1200" b="0" i="0" kern="1200" dirty="0">
                <a:solidFill>
                  <a:schemeClr val="tx1"/>
                </a:solidFill>
                <a:effectLst/>
                <a:latin typeface="+mn-lt"/>
                <a:ea typeface="+mn-ea"/>
                <a:cs typeface="+mn-cs"/>
              </a:rPr>
              <a:t># display files under a given directory</a:t>
            </a:r>
            <a:br>
              <a:rPr lang="en" altLang="zh-CN" dirty="0"/>
            </a:br>
            <a:r>
              <a:rPr lang="en" altLang="zh-CN" sz="1200" b="0" i="0" kern="1200" dirty="0">
                <a:solidFill>
                  <a:schemeClr val="tx1"/>
                </a:solidFill>
                <a:effectLst/>
                <a:latin typeface="+mn-lt"/>
                <a:ea typeface="+mn-ea"/>
                <a:cs typeface="+mn-cs"/>
              </a:rPr>
              <a:t># $1-the </a:t>
            </a:r>
            <a:r>
              <a:rPr lang="en" altLang="zh-CN" sz="1200" b="0" i="0" kern="1200" dirty="0" err="1">
                <a:solidFill>
                  <a:schemeClr val="tx1"/>
                </a:solidFill>
                <a:effectLst/>
                <a:latin typeface="+mn-lt"/>
                <a:ea typeface="+mn-ea"/>
                <a:cs typeface="+mn-cs"/>
              </a:rPr>
              <a:t>nameof</a:t>
            </a:r>
            <a:r>
              <a:rPr lang="en" altLang="zh-CN" sz="1200" b="0" i="0" kern="1200" dirty="0">
                <a:solidFill>
                  <a:schemeClr val="tx1"/>
                </a:solidFill>
                <a:effectLst/>
                <a:latin typeface="+mn-lt"/>
                <a:ea typeface="+mn-ea"/>
                <a:cs typeface="+mn-cs"/>
              </a:rPr>
              <a:t> the </a:t>
            </a:r>
            <a:r>
              <a:rPr lang="en" altLang="zh-CN" sz="1200" b="0" i="0" kern="1200" dirty="0" err="1">
                <a:solidFill>
                  <a:schemeClr val="tx1"/>
                </a:solidFill>
                <a:effectLst/>
                <a:latin typeface="+mn-lt"/>
                <a:ea typeface="+mn-ea"/>
                <a:cs typeface="+mn-cs"/>
              </a:rPr>
              <a:t>diectory</a:t>
            </a:r>
            <a:br>
              <a:rPr lang="en" altLang="zh-CN" dirty="0"/>
            </a:br>
            <a:r>
              <a:rPr lang="en" altLang="zh-CN" sz="1200" b="0" i="0" kern="1200" dirty="0">
                <a:solidFill>
                  <a:schemeClr val="tx1"/>
                </a:solidFill>
                <a:effectLst/>
                <a:latin typeface="+mn-lt"/>
                <a:ea typeface="+mn-ea"/>
                <a:cs typeface="+mn-cs"/>
              </a:rPr>
              <a:t># $2-the of files</a:t>
            </a:r>
            <a:br>
              <a:rPr lang="en" altLang="zh-CN" dirty="0"/>
            </a:br>
            <a:r>
              <a:rPr lang="en" altLang="zh-CN" sz="1200" b="0" i="0" kern="1200" dirty="0" err="1">
                <a:solidFill>
                  <a:schemeClr val="tx1"/>
                </a:solidFill>
                <a:effectLst/>
                <a:latin typeface="+mn-lt"/>
                <a:ea typeface="+mn-ea"/>
                <a:cs typeface="+mn-cs"/>
              </a:rPr>
              <a:t>dir</a:t>
            </a:r>
            <a:r>
              <a:rPr lang="en" altLang="zh-CN" sz="1200" b="0" i="0" kern="1200" dirty="0">
                <a:solidFill>
                  <a:schemeClr val="tx1"/>
                </a:solidFill>
                <a:effectLst/>
                <a:latin typeface="+mn-lt"/>
                <a:ea typeface="+mn-ea"/>
                <a:cs typeface="+mn-cs"/>
              </a:rPr>
              <a:t>=$1;shift</a:t>
            </a:r>
            <a:br>
              <a:rPr lang="en" altLang="zh-CN" dirty="0"/>
            </a:br>
            <a:r>
              <a:rPr lang="en" altLang="zh-CN" sz="1200" b="0" i="0" kern="1200" dirty="0">
                <a:solidFill>
                  <a:schemeClr val="tx1"/>
                </a:solidFill>
                <a:effectLst/>
                <a:latin typeface="+mn-lt"/>
                <a:ea typeface="+mn-ea"/>
                <a:cs typeface="+mn-cs"/>
              </a:rPr>
              <a:t>if [ - d $ </a:t>
            </a:r>
            <a:r>
              <a:rPr lang="en" altLang="zh-CN" sz="1200" b="0" i="0" kern="1200" dirty="0" err="1">
                <a:solidFill>
                  <a:schemeClr val="tx1"/>
                </a:solidFill>
                <a:effectLst/>
                <a:latin typeface="+mn-lt"/>
                <a:ea typeface="+mn-ea"/>
                <a:cs typeface="+mn-cs"/>
              </a:rPr>
              <a:t>dir</a:t>
            </a:r>
            <a:r>
              <a:rPr lang="en" altLang="zh-CN" sz="1200" b="0" i="0" kern="1200" dirty="0">
                <a:solidFill>
                  <a:schemeClr val="tx1"/>
                </a:solidFill>
                <a:effectLst/>
                <a:latin typeface="+mn-lt"/>
                <a:ea typeface="+mn-ea"/>
                <a:cs typeface="+mn-cs"/>
              </a:rPr>
              <a:t> ] ##</a:t>
            </a:r>
            <a:r>
              <a:rPr lang="zh-CN" altLang="en-US" sz="1200" b="0" i="0" kern="1200" dirty="0">
                <a:solidFill>
                  <a:schemeClr val="tx1"/>
                </a:solidFill>
                <a:effectLst/>
                <a:latin typeface="+mn-lt"/>
                <a:ea typeface="+mn-ea"/>
                <a:cs typeface="+mn-cs"/>
              </a:rPr>
              <a:t>判断</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是否是文件目录</a:t>
            </a:r>
            <a:br>
              <a:rPr lang="zh-CN" altLang="en-US" dirty="0"/>
            </a:br>
            <a:r>
              <a:rPr lang="en" altLang="zh-CN" sz="1200" b="0" i="0" kern="1200" dirty="0">
                <a:solidFill>
                  <a:schemeClr val="tx1"/>
                </a:solidFill>
                <a:effectLst/>
                <a:latin typeface="+mn-lt"/>
                <a:ea typeface="+mn-ea"/>
                <a:cs typeface="+mn-cs"/>
              </a:rPr>
              <a:t>then </a:t>
            </a:r>
            <a:br>
              <a:rPr lang="en" altLang="zh-CN" dirty="0"/>
            </a:br>
            <a:r>
              <a:rPr lang="en" altLang="zh-CN" sz="1200" b="0" i="0" kern="1200" dirty="0">
                <a:solidFill>
                  <a:schemeClr val="tx1"/>
                </a:solidFill>
                <a:effectLst/>
                <a:latin typeface="+mn-lt"/>
                <a:ea typeface="+mn-ea"/>
                <a:cs typeface="+mn-cs"/>
              </a:rPr>
              <a:t>cd $</a:t>
            </a:r>
            <a:r>
              <a:rPr lang="en" altLang="zh-CN" sz="1200" b="0" i="0" kern="1200" dirty="0" err="1">
                <a:solidFill>
                  <a:schemeClr val="tx1"/>
                </a:solidFill>
                <a:effectLst/>
                <a:latin typeface="+mn-lt"/>
                <a:ea typeface="+mn-ea"/>
                <a:cs typeface="+mn-cs"/>
              </a:rPr>
              <a:t>dir</a:t>
            </a:r>
            <a:r>
              <a:rPr lang="en"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是，进入该文件目录</a:t>
            </a:r>
            <a:br>
              <a:rPr lang="zh-CN" altLang="en-US" dirty="0"/>
            </a:br>
            <a:r>
              <a:rPr lang="en" altLang="zh-CN" sz="1200" b="0" i="0" kern="1200" dirty="0">
                <a:solidFill>
                  <a:schemeClr val="tx1"/>
                </a:solidFill>
                <a:effectLst/>
                <a:latin typeface="+mn-lt"/>
                <a:ea typeface="+mn-ea"/>
                <a:cs typeface="+mn-cs"/>
              </a:rPr>
              <a:t>for name ## </a:t>
            </a:r>
            <a:r>
              <a:rPr lang="zh-CN" altLang="en-US" sz="1200" b="0" i="0" kern="1200" dirty="0">
                <a:solidFill>
                  <a:schemeClr val="tx1"/>
                </a:solidFill>
                <a:effectLst/>
                <a:latin typeface="+mn-lt"/>
                <a:ea typeface="+mn-ea"/>
                <a:cs typeface="+mn-cs"/>
              </a:rPr>
              <a:t>基本上就是遍历</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目录的下的文件了</a:t>
            </a:r>
            <a:br>
              <a:rPr lang="zh-CN" altLang="en-US" dirty="0"/>
            </a:br>
            <a:r>
              <a:rPr lang="en" altLang="zh-CN" sz="1200" b="0" i="0" kern="1200" dirty="0">
                <a:solidFill>
                  <a:schemeClr val="tx1"/>
                </a:solidFill>
                <a:effectLst/>
                <a:latin typeface="+mn-lt"/>
                <a:ea typeface="+mn-ea"/>
                <a:cs typeface="+mn-cs"/>
              </a:rPr>
              <a:t>do</a:t>
            </a:r>
            <a:br>
              <a:rPr lang="en" altLang="zh-CN" dirty="0"/>
            </a:br>
            <a:r>
              <a:rPr lang="en" altLang="zh-CN" sz="1200" b="0" i="0" kern="1200" dirty="0">
                <a:solidFill>
                  <a:schemeClr val="tx1"/>
                </a:solidFill>
                <a:effectLst/>
                <a:latin typeface="+mn-lt"/>
                <a:ea typeface="+mn-ea"/>
                <a:cs typeface="+mn-cs"/>
              </a:rPr>
              <a:t>if [ -f $name ] ## </a:t>
            </a:r>
            <a:r>
              <a:rPr lang="zh-CN" altLang="en-US" sz="1200" b="0" i="0" kern="1200" dirty="0">
                <a:solidFill>
                  <a:schemeClr val="tx1"/>
                </a:solidFill>
                <a:effectLst/>
                <a:latin typeface="+mn-lt"/>
                <a:ea typeface="+mn-ea"/>
                <a:cs typeface="+mn-cs"/>
              </a:rPr>
              <a:t>判断</a:t>
            </a:r>
            <a:r>
              <a:rPr lang="en-US" altLang="zh-CN" sz="1200" b="0" i="0" kern="1200" dirty="0">
                <a:solidFill>
                  <a:schemeClr val="tx1"/>
                </a:solidFill>
                <a:effectLst/>
                <a:latin typeface="+mn-lt"/>
                <a:ea typeface="+mn-ea"/>
                <a:cs typeface="+mn-cs"/>
              </a:rPr>
              <a:t>$</a:t>
            </a:r>
            <a:r>
              <a:rPr lang="en" altLang="zh-CN" sz="1200" b="0" i="0" kern="1200" dirty="0">
                <a:solidFill>
                  <a:schemeClr val="tx1"/>
                </a:solidFill>
                <a:effectLst/>
                <a:latin typeface="+mn-lt"/>
                <a:ea typeface="+mn-ea"/>
                <a:cs typeface="+mn-cs"/>
              </a:rPr>
              <a:t>name</a:t>
            </a:r>
            <a:r>
              <a:rPr lang="zh-CN" altLang="en-US" sz="1200" b="0" i="0" kern="1200" dirty="0">
                <a:solidFill>
                  <a:schemeClr val="tx1"/>
                </a:solidFill>
                <a:effectLst/>
                <a:latin typeface="+mn-lt"/>
                <a:ea typeface="+mn-ea"/>
                <a:cs typeface="+mn-cs"/>
              </a:rPr>
              <a:t>是否是普通文件，是，显示文件内容 </a:t>
            </a:r>
            <a:br>
              <a:rPr lang="zh-CN" altLang="en-US" dirty="0"/>
            </a:br>
            <a:r>
              <a:rPr lang="en" altLang="zh-CN" sz="1200" b="0" i="0" kern="1200" dirty="0">
                <a:solidFill>
                  <a:schemeClr val="tx1"/>
                </a:solidFill>
                <a:effectLst/>
                <a:latin typeface="+mn-lt"/>
                <a:ea typeface="+mn-ea"/>
                <a:cs typeface="+mn-cs"/>
              </a:rPr>
              <a:t>then cat $name</a:t>
            </a:r>
            <a:br>
              <a:rPr lang="en" altLang="zh-CN" dirty="0"/>
            </a:br>
            <a:r>
              <a:rPr lang="en" altLang="zh-CN" sz="1200" b="0" i="0" kern="1200" dirty="0">
                <a:solidFill>
                  <a:schemeClr val="tx1"/>
                </a:solidFill>
                <a:effectLst/>
                <a:latin typeface="+mn-lt"/>
                <a:ea typeface="+mn-ea"/>
                <a:cs typeface="+mn-cs"/>
              </a:rPr>
              <a:t>echo "End of $ {</a:t>
            </a:r>
            <a:r>
              <a:rPr lang="en" altLang="zh-CN" sz="1200" b="0" i="0" kern="1200" dirty="0" err="1">
                <a:solidFill>
                  <a:schemeClr val="tx1"/>
                </a:solidFill>
                <a:effectLst/>
                <a:latin typeface="+mn-lt"/>
                <a:ea typeface="+mn-ea"/>
                <a:cs typeface="+mn-cs"/>
              </a:rPr>
              <a:t>dir</a:t>
            </a:r>
            <a:r>
              <a:rPr lang="en" altLang="zh-CN" sz="1200" b="0" i="0" kern="1200" dirty="0">
                <a:solidFill>
                  <a:schemeClr val="tx1"/>
                </a:solidFill>
                <a:effectLst/>
                <a:latin typeface="+mn-lt"/>
                <a:ea typeface="+mn-ea"/>
                <a:cs typeface="+mn-cs"/>
              </a:rPr>
              <a:t>} / $name"</a:t>
            </a:r>
            <a:br>
              <a:rPr lang="en" altLang="zh-CN" dirty="0"/>
            </a:br>
            <a:r>
              <a:rPr lang="en" altLang="zh-CN" sz="1200" b="0" i="0" kern="1200" dirty="0">
                <a:solidFill>
                  <a:schemeClr val="tx1"/>
                </a:solidFill>
                <a:effectLst/>
                <a:latin typeface="+mn-lt"/>
                <a:ea typeface="+mn-ea"/>
                <a:cs typeface="+mn-cs"/>
              </a:rPr>
              <a:t>else echo "Invalid file name: $ {</a:t>
            </a:r>
            <a:r>
              <a:rPr lang="en" altLang="zh-CN" sz="1200" b="0" i="0" kern="1200" dirty="0" err="1">
                <a:solidFill>
                  <a:schemeClr val="tx1"/>
                </a:solidFill>
                <a:effectLst/>
                <a:latin typeface="+mn-lt"/>
                <a:ea typeface="+mn-ea"/>
                <a:cs typeface="+mn-cs"/>
              </a:rPr>
              <a:t>dir</a:t>
            </a:r>
            <a:r>
              <a:rPr lang="en" altLang="zh-CN" sz="1200" b="0" i="0" kern="1200" dirty="0">
                <a:solidFill>
                  <a:schemeClr val="tx1"/>
                </a:solidFill>
                <a:effectLst/>
                <a:latin typeface="+mn-lt"/>
                <a:ea typeface="+mn-ea"/>
                <a:cs typeface="+mn-cs"/>
              </a:rPr>
              <a:t>} / $name"</a:t>
            </a:r>
            <a:br>
              <a:rPr lang="en" altLang="zh-CN" dirty="0"/>
            </a:br>
            <a:r>
              <a:rPr lang="en" altLang="zh-CN" sz="1200" b="0" i="0" kern="1200" dirty="0">
                <a:solidFill>
                  <a:schemeClr val="tx1"/>
                </a:solidFill>
                <a:effectLst/>
                <a:latin typeface="+mn-lt"/>
                <a:ea typeface="+mn-ea"/>
                <a:cs typeface="+mn-cs"/>
              </a:rPr>
              <a:t>fi</a:t>
            </a:r>
            <a:br>
              <a:rPr lang="en" altLang="zh-CN" dirty="0"/>
            </a:br>
            <a:r>
              <a:rPr lang="en" altLang="zh-CN" sz="1200" b="0" i="0" kern="1200" dirty="0">
                <a:solidFill>
                  <a:schemeClr val="tx1"/>
                </a:solidFill>
                <a:effectLst/>
                <a:latin typeface="+mn-lt"/>
                <a:ea typeface="+mn-ea"/>
                <a:cs typeface="+mn-cs"/>
              </a:rPr>
              <a:t>done</a:t>
            </a:r>
            <a:br>
              <a:rPr lang="en" altLang="zh-CN" dirty="0"/>
            </a:br>
            <a:r>
              <a:rPr lang="en" altLang="zh-CN" sz="1200" b="0" i="0" kern="1200" dirty="0">
                <a:solidFill>
                  <a:schemeClr val="tx1"/>
                </a:solidFill>
                <a:effectLst/>
                <a:latin typeface="+mn-lt"/>
                <a:ea typeface="+mn-ea"/>
                <a:cs typeface="+mn-cs"/>
              </a:rPr>
              <a:t>else echo "Bad directory name : $</a:t>
            </a:r>
            <a:r>
              <a:rPr lang="en" altLang="zh-CN" sz="1200" b="0" i="0" kern="1200" dirty="0" err="1">
                <a:solidFill>
                  <a:schemeClr val="tx1"/>
                </a:solidFill>
                <a:effectLst/>
                <a:latin typeface="+mn-lt"/>
                <a:ea typeface="+mn-ea"/>
                <a:cs typeface="+mn-cs"/>
              </a:rPr>
              <a:t>dir</a:t>
            </a:r>
            <a:r>
              <a:rPr lang="en" altLang="zh-CN" sz="1200" b="0" i="0" kern="1200" dirty="0">
                <a:solidFill>
                  <a:schemeClr val="tx1"/>
                </a:solidFill>
                <a:effectLst/>
                <a:latin typeface="+mn-lt"/>
                <a:ea typeface="+mn-ea"/>
                <a:cs typeface="+mn-cs"/>
              </a:rPr>
              <a:t>"</a:t>
            </a:r>
            <a:br>
              <a:rPr lang="en" altLang="zh-CN" dirty="0"/>
            </a:br>
            <a:r>
              <a:rPr lang="en" altLang="zh-CN" sz="1200" b="0" i="0" kern="1200" dirty="0">
                <a:solidFill>
                  <a:schemeClr val="tx1"/>
                </a:solidFill>
                <a:effectLst/>
                <a:latin typeface="+mn-lt"/>
                <a:ea typeface="+mn-ea"/>
                <a:cs typeface="+mn-cs"/>
              </a:rPr>
              <a:t>fi</a:t>
            </a:r>
            <a:br>
              <a:rPr lang="en" altLang="zh-CN" dirty="0"/>
            </a:br>
            <a:br>
              <a:rPr lang="en" altLang="zh-CN" dirty="0"/>
            </a:br>
            <a:r>
              <a:rPr lang="zh-CN" altLang="en-US" sz="1200" b="0" i="0" kern="1200" dirty="0">
                <a:solidFill>
                  <a:schemeClr val="tx1"/>
                </a:solidFill>
                <a:effectLst/>
                <a:latin typeface="+mn-lt"/>
                <a:ea typeface="+mn-ea"/>
                <a:cs typeface="+mn-cs"/>
              </a:rPr>
              <a:t>总的来说，就是进入一个文件目录，然后打印每个文件的内容</a:t>
            </a:r>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79</a:t>
            </a:fld>
            <a:endParaRPr lang="zh-CN" altLang="en-US"/>
          </a:p>
        </p:txBody>
      </p:sp>
    </p:spTree>
    <p:extLst>
      <p:ext uri="{BB962C8B-B14F-4D97-AF65-F5344CB8AC3E}">
        <p14:creationId xmlns:p14="http://schemas.microsoft.com/office/powerpoint/2010/main" val="29732680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81</a:t>
            </a:fld>
            <a:endParaRPr lang="en-US" altLang="zh-CN">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t>
            </a:r>
            <a:r>
              <a:rPr kumimoji="1" lang="zh-CN" altLang="en-US" dirty="0"/>
              <a:t>：表示所有脚</a:t>
            </a:r>
            <a:r>
              <a:rPr kumimoji="1" lang="en" altLang="zh-CN" dirty="0"/>
              <a:t>bai</a:t>
            </a:r>
            <a:r>
              <a:rPr kumimoji="1" lang="zh-CN" altLang="en-US" dirty="0"/>
              <a:t>本参</a:t>
            </a:r>
            <a:r>
              <a:rPr kumimoji="1" lang="en" altLang="zh-CN" dirty="0"/>
              <a:t>du</a:t>
            </a:r>
            <a:r>
              <a:rPr kumimoji="1" lang="zh-CN" altLang="en-US" dirty="0"/>
              <a:t>数</a:t>
            </a:r>
            <a:r>
              <a:rPr kumimoji="1" lang="en" altLang="zh-CN" dirty="0" err="1"/>
              <a:t>zhi</a:t>
            </a:r>
            <a:r>
              <a:rPr kumimoji="1" lang="zh-CN" altLang="en-US" dirty="0"/>
              <a:t>的内容  ；</a:t>
            </a:r>
            <a:r>
              <a:rPr kumimoji="1" lang="en-US" altLang="zh-CN" dirty="0"/>
              <a:t>$#:</a:t>
            </a:r>
            <a:r>
              <a:rPr kumimoji="1" lang="zh-CN" altLang="en-US" dirty="0"/>
              <a:t>表示返回所有脚本参数的个数。</a:t>
            </a:r>
            <a:endParaRPr kumimoji="1" lang="en-US" altLang="zh-CN" dirty="0"/>
          </a:p>
          <a:p>
            <a:r>
              <a:rPr lang="zh-CN" altLang="en-US" sz="1200" b="0" i="0" kern="1200" dirty="0">
                <a:solidFill>
                  <a:schemeClr val="tx1"/>
                </a:solidFill>
                <a:effectLst/>
                <a:latin typeface="+mn-lt"/>
                <a:ea typeface="+mn-ea"/>
                <a:cs typeface="+mn-cs"/>
              </a:rPr>
              <a:t>语法：</a:t>
            </a:r>
            <a:r>
              <a:rPr lang="en" altLang="zh-CN" sz="1200" b="0" i="0" kern="1200" dirty="0">
                <a:solidFill>
                  <a:schemeClr val="tx1"/>
                </a:solidFill>
                <a:effectLst/>
                <a:latin typeface="+mn-lt"/>
                <a:ea typeface="+mn-ea"/>
                <a:cs typeface="+mn-cs"/>
              </a:rPr>
              <a:t>eval </a:t>
            </a:r>
            <a:r>
              <a:rPr lang="en" altLang="zh-CN" sz="1200" b="0" i="0" kern="1200" dirty="0" err="1">
                <a:solidFill>
                  <a:schemeClr val="tx1"/>
                </a:solidFill>
                <a:effectLst/>
                <a:latin typeface="+mn-lt"/>
                <a:ea typeface="+mn-ea"/>
                <a:cs typeface="+mn-cs"/>
              </a:rPr>
              <a:t>cmdLine</a:t>
            </a:r>
            <a:br>
              <a:rPr lang="en" altLang="zh-CN" sz="1200" b="0" i="0" kern="1200" dirty="0">
                <a:solidFill>
                  <a:schemeClr val="tx1"/>
                </a:solidFill>
                <a:effectLst/>
                <a:latin typeface="+mn-lt"/>
                <a:ea typeface="+mn-ea"/>
                <a:cs typeface="+mn-cs"/>
              </a:rPr>
            </a:br>
            <a:endParaRPr lang="en" altLang="zh-CN" sz="1200" b="0" i="0" kern="1200" dirty="0">
              <a:solidFill>
                <a:schemeClr val="tx1"/>
              </a:solidFill>
              <a:effectLst/>
              <a:latin typeface="+mn-lt"/>
              <a:ea typeface="+mn-ea"/>
              <a:cs typeface="+mn-cs"/>
            </a:endParaRPr>
          </a:p>
          <a:p>
            <a:r>
              <a:rPr lang="zh-CN" altLang="en" sz="1200" b="0" i="0" kern="1200" dirty="0">
                <a:solidFill>
                  <a:schemeClr val="tx1"/>
                </a:solidFill>
                <a:effectLst/>
                <a:latin typeface="+mn-lt"/>
                <a:ea typeface="+mn-ea"/>
                <a:cs typeface="+mn-cs"/>
              </a:rPr>
              <a:t>　　　　</a:t>
            </a:r>
            <a:r>
              <a:rPr lang="en" altLang="zh-CN" sz="1200" b="0" i="0" kern="1200" dirty="0">
                <a:solidFill>
                  <a:schemeClr val="tx1"/>
                </a:solidFill>
                <a:effectLst/>
                <a:latin typeface="+mn-lt"/>
                <a:ea typeface="+mn-ea"/>
                <a:cs typeface="+mn-cs"/>
              </a:rPr>
              <a:t>eval</a:t>
            </a:r>
            <a:r>
              <a:rPr lang="zh-CN" altLang="en-US" sz="1200" b="0" i="0" kern="1200" dirty="0">
                <a:solidFill>
                  <a:schemeClr val="tx1"/>
                </a:solidFill>
                <a:effectLst/>
                <a:latin typeface="+mn-lt"/>
                <a:ea typeface="+mn-ea"/>
                <a:cs typeface="+mn-cs"/>
              </a:rPr>
              <a:t>会对后面的</a:t>
            </a:r>
            <a:r>
              <a:rPr lang="en" altLang="zh-CN" sz="1200" b="0" i="0" kern="1200" dirty="0" err="1">
                <a:solidFill>
                  <a:schemeClr val="tx1"/>
                </a:solidFill>
                <a:effectLst/>
                <a:latin typeface="+mn-lt"/>
                <a:ea typeface="+mn-ea"/>
                <a:cs typeface="+mn-cs"/>
              </a:rPr>
              <a:t>cmdLine</a:t>
            </a:r>
            <a:r>
              <a:rPr lang="zh-CN" altLang="en-US" sz="1200" b="0" i="0" kern="1200" dirty="0">
                <a:solidFill>
                  <a:schemeClr val="tx1"/>
                </a:solidFill>
                <a:effectLst/>
                <a:latin typeface="+mn-lt"/>
                <a:ea typeface="+mn-ea"/>
                <a:cs typeface="+mn-cs"/>
              </a:rPr>
              <a:t>进行两遍扫描，如果在第一遍扫面后</a:t>
            </a:r>
            <a:r>
              <a:rPr lang="en" altLang="zh-CN" sz="1200" b="0" i="0" kern="1200" dirty="0" err="1">
                <a:solidFill>
                  <a:schemeClr val="tx1"/>
                </a:solidFill>
                <a:effectLst/>
                <a:latin typeface="+mn-lt"/>
                <a:ea typeface="+mn-ea"/>
                <a:cs typeface="+mn-cs"/>
              </a:rPr>
              <a:t>cmdLine</a:t>
            </a:r>
            <a:r>
              <a:rPr lang="zh-CN" altLang="en-US" sz="1200" b="0" i="0" kern="1200" dirty="0">
                <a:solidFill>
                  <a:schemeClr val="tx1"/>
                </a:solidFill>
                <a:effectLst/>
                <a:latin typeface="+mn-lt"/>
                <a:ea typeface="+mn-ea"/>
                <a:cs typeface="+mn-cs"/>
              </a:rPr>
              <a:t>是一个普通命令，则执行此命令；如果</a:t>
            </a:r>
            <a:r>
              <a:rPr lang="en" altLang="zh-CN" sz="1200" b="0" i="0" kern="1200" dirty="0" err="1">
                <a:solidFill>
                  <a:schemeClr val="tx1"/>
                </a:solidFill>
                <a:effectLst/>
                <a:latin typeface="+mn-lt"/>
                <a:ea typeface="+mn-ea"/>
                <a:cs typeface="+mn-cs"/>
              </a:rPr>
              <a:t>cmdLine</a:t>
            </a:r>
            <a:r>
              <a:rPr lang="zh-CN" altLang="en-US" sz="1200" b="0" i="0" kern="1200" dirty="0">
                <a:solidFill>
                  <a:schemeClr val="tx1"/>
                </a:solidFill>
                <a:effectLst/>
                <a:latin typeface="+mn-lt"/>
                <a:ea typeface="+mn-ea"/>
                <a:cs typeface="+mn-cs"/>
              </a:rPr>
              <a:t>中含有变量的间接引用，则保证简介引用的语义。</a:t>
            </a:r>
          </a:p>
          <a:p>
            <a:r>
              <a:rPr lang="zh-CN" altLang="en-US" sz="1200" b="0" i="0" kern="1200" dirty="0">
                <a:solidFill>
                  <a:schemeClr val="tx1"/>
                </a:solidFill>
                <a:effectLst/>
                <a:latin typeface="+mn-lt"/>
                <a:ea typeface="+mn-ea"/>
                <a:cs typeface="+mn-cs"/>
              </a:rPr>
              <a:t>　　举例如下：</a:t>
            </a:r>
          </a:p>
          <a:p>
            <a:r>
              <a:rPr lang="zh-CN" altLang="en-US" sz="1200" b="0" i="0" kern="1200" dirty="0">
                <a:solidFill>
                  <a:schemeClr val="tx1"/>
                </a:solidFill>
                <a:effectLst/>
                <a:latin typeface="+mn-lt"/>
                <a:ea typeface="+mn-ea"/>
                <a:cs typeface="+mn-cs"/>
              </a:rPr>
              <a:t>　　　　</a:t>
            </a:r>
            <a:r>
              <a:rPr lang="en" altLang="zh-CN" sz="1200" b="0" i="0" kern="1200" dirty="0">
                <a:solidFill>
                  <a:schemeClr val="tx1"/>
                </a:solidFill>
                <a:effectLst/>
                <a:latin typeface="+mn-lt"/>
                <a:ea typeface="+mn-ea"/>
                <a:cs typeface="+mn-cs"/>
              </a:rPr>
              <a:t>set 11 22 33 44</a:t>
            </a:r>
          </a:p>
          <a:p>
            <a:r>
              <a:rPr lang="zh-CN" altLang="e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如果要输出最近一个参数，即</a:t>
            </a:r>
            <a:r>
              <a:rPr lang="en-US" altLang="zh-CN" sz="1200" b="0" i="0" kern="1200" dirty="0">
                <a:solidFill>
                  <a:schemeClr val="tx1"/>
                </a:solidFill>
                <a:effectLst/>
                <a:latin typeface="+mn-lt"/>
                <a:ea typeface="+mn-ea"/>
                <a:cs typeface="+mn-cs"/>
              </a:rPr>
              <a:t>44</a:t>
            </a:r>
            <a:r>
              <a:rPr lang="zh-CN" altLang="en-US" sz="1200" b="0" i="0" kern="1200" dirty="0">
                <a:solidFill>
                  <a:schemeClr val="tx1"/>
                </a:solidFill>
                <a:effectLst/>
                <a:latin typeface="+mn-lt"/>
                <a:ea typeface="+mn-ea"/>
                <a:cs typeface="+mn-cs"/>
              </a:rPr>
              <a:t>，可以使用如下命令，</a:t>
            </a:r>
          </a:p>
          <a:p>
            <a:r>
              <a:rPr lang="zh-CN" altLang="en-US" sz="1200" b="0" i="0" kern="1200" dirty="0">
                <a:solidFill>
                  <a:schemeClr val="tx1"/>
                </a:solidFill>
                <a:effectLst/>
                <a:latin typeface="+mn-lt"/>
                <a:ea typeface="+mn-ea"/>
                <a:cs typeface="+mn-cs"/>
              </a:rPr>
              <a:t>　　　　</a:t>
            </a:r>
            <a:r>
              <a:rPr lang="en" altLang="zh-CN" sz="1200" b="0" i="0" kern="1200" dirty="0">
                <a:solidFill>
                  <a:schemeClr val="tx1"/>
                </a:solidFill>
                <a:effectLst/>
                <a:latin typeface="+mn-lt"/>
                <a:ea typeface="+mn-ea"/>
                <a:cs typeface="+mn-cs"/>
              </a:rPr>
              <a:t>echo $4</a:t>
            </a:r>
          </a:p>
          <a:p>
            <a:r>
              <a:rPr lang="zh-CN" altLang="e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但是如果我们不知道是几个参数的时候，要输出最后一个参数，大家可能会想到使用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来输出最后一个参数，</a:t>
            </a:r>
          </a:p>
          <a:p>
            <a:r>
              <a:rPr lang="zh-CN" altLang="en-US" sz="1200" b="0" i="0" kern="1200" dirty="0">
                <a:solidFill>
                  <a:schemeClr val="tx1"/>
                </a:solidFill>
                <a:effectLst/>
                <a:latin typeface="+mn-lt"/>
                <a:ea typeface="+mn-ea"/>
                <a:cs typeface="+mn-cs"/>
              </a:rPr>
              <a:t>　　如果使用命令：</a:t>
            </a:r>
          </a:p>
          <a:p>
            <a:r>
              <a:rPr lang="zh-CN" altLang="en-US" sz="1200" b="0" i="0" kern="1200" dirty="0">
                <a:solidFill>
                  <a:schemeClr val="tx1"/>
                </a:solidFill>
                <a:effectLst/>
                <a:latin typeface="+mn-lt"/>
                <a:ea typeface="+mn-ea"/>
                <a:cs typeface="+mn-cs"/>
              </a:rPr>
              <a:t>　　　　</a:t>
            </a:r>
            <a:r>
              <a:rPr lang="en" altLang="zh-CN" sz="1200" b="0" i="0" kern="1200" dirty="0">
                <a:solidFill>
                  <a:schemeClr val="tx1"/>
                </a:solidFill>
                <a:effectLst/>
                <a:latin typeface="+mn-lt"/>
                <a:ea typeface="+mn-ea"/>
                <a:cs typeface="+mn-cs"/>
              </a:rPr>
              <a:t>echo "\$$#"</a:t>
            </a:r>
          </a:p>
          <a:p>
            <a:r>
              <a:rPr lang="zh-CN" altLang="e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则得到的结果是</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，而不是我们想要的</a:t>
            </a:r>
            <a:r>
              <a:rPr lang="en-US" altLang="zh-CN" sz="1200" b="0" i="0" kern="1200" dirty="0">
                <a:solidFill>
                  <a:schemeClr val="tx1"/>
                </a:solidFill>
                <a:effectLst/>
                <a:latin typeface="+mn-lt"/>
                <a:ea typeface="+mn-ea"/>
                <a:cs typeface="+mn-cs"/>
              </a:rPr>
              <a:t>44.</a:t>
            </a:r>
            <a:r>
              <a:rPr lang="zh-CN" altLang="en-US" sz="1200" b="0" i="0" kern="1200" dirty="0">
                <a:solidFill>
                  <a:schemeClr val="tx1"/>
                </a:solidFill>
                <a:effectLst/>
                <a:latin typeface="+mn-lt"/>
                <a:ea typeface="+mn-ea"/>
                <a:cs typeface="+mn-cs"/>
              </a:rPr>
              <a:t>这里涉及到一个变量简介引用的问题，我们的本意是输出</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，默认情况下，命令后忽略变量简介引用的情况。</a:t>
            </a:r>
          </a:p>
          <a:p>
            <a:r>
              <a:rPr lang="zh-CN" altLang="en-US" sz="1200" b="0" i="0" kern="1200" dirty="0">
                <a:solidFill>
                  <a:schemeClr val="tx1"/>
                </a:solidFill>
                <a:effectLst/>
                <a:latin typeface="+mn-lt"/>
                <a:ea typeface="+mn-ea"/>
                <a:cs typeface="+mn-cs"/>
              </a:rPr>
              <a:t>　　这时候，就可以使用</a:t>
            </a:r>
            <a:r>
              <a:rPr lang="en" altLang="zh-CN" sz="1200" b="0" i="0" kern="1200" dirty="0">
                <a:solidFill>
                  <a:schemeClr val="tx1"/>
                </a:solidFill>
                <a:effectLst/>
                <a:latin typeface="+mn-lt"/>
                <a:ea typeface="+mn-ea"/>
                <a:cs typeface="+mn-cs"/>
              </a:rPr>
              <a:t>eval</a:t>
            </a:r>
            <a:r>
              <a:rPr lang="zh-CN" altLang="en-US" sz="1200" b="0" i="0" kern="1200" dirty="0">
                <a:solidFill>
                  <a:schemeClr val="tx1"/>
                </a:solidFill>
                <a:effectLst/>
                <a:latin typeface="+mn-lt"/>
                <a:ea typeface="+mn-ea"/>
                <a:cs typeface="+mn-cs"/>
              </a:rPr>
              <a:t>命令。</a:t>
            </a:r>
          </a:p>
          <a:p>
            <a:r>
              <a:rPr lang="zh-CN" altLang="en-US" sz="1200" b="0" i="0" kern="1200" dirty="0">
                <a:solidFill>
                  <a:schemeClr val="tx1"/>
                </a:solidFill>
                <a:effectLst/>
                <a:latin typeface="+mn-lt"/>
                <a:ea typeface="+mn-ea"/>
                <a:cs typeface="+mn-cs"/>
              </a:rPr>
              <a:t>　　</a:t>
            </a:r>
            <a:r>
              <a:rPr lang="en" altLang="zh-CN" sz="1200" b="0" i="0" kern="1200" dirty="0">
                <a:solidFill>
                  <a:schemeClr val="tx1"/>
                </a:solidFill>
                <a:effectLst/>
                <a:latin typeface="+mn-lt"/>
                <a:ea typeface="+mn-ea"/>
                <a:cs typeface="+mn-cs"/>
              </a:rPr>
              <a:t>eval echo "\$$#"</a:t>
            </a:r>
          </a:p>
          <a:p>
            <a:r>
              <a:rPr lang="zh-CN" altLang="e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得到结果为</a:t>
            </a:r>
            <a:r>
              <a:rPr lang="en-US" altLang="zh-CN" sz="1200" b="0" i="0" kern="1200" dirty="0">
                <a:solidFill>
                  <a:schemeClr val="tx1"/>
                </a:solidFill>
                <a:effectLst/>
                <a:latin typeface="+mn-lt"/>
                <a:ea typeface="+mn-ea"/>
                <a:cs typeface="+mn-cs"/>
              </a:rPr>
              <a:t>44.</a:t>
            </a:r>
          </a:p>
          <a:p>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82</a:t>
            </a:fld>
            <a:endParaRPr lang="zh-CN" altLang="en-US"/>
          </a:p>
        </p:txBody>
      </p:sp>
    </p:spTree>
    <p:extLst>
      <p:ext uri="{BB962C8B-B14F-4D97-AF65-F5344CB8AC3E}">
        <p14:creationId xmlns:p14="http://schemas.microsoft.com/office/powerpoint/2010/main" val="20192998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如果在 </a:t>
            </a:r>
            <a:r>
              <a:rPr lang="en" altLang="zh-CN" sz="1200" b="0" i="0" kern="1200" dirty="0">
                <a:solidFill>
                  <a:schemeClr val="tx1"/>
                </a:solidFill>
                <a:effectLst/>
                <a:latin typeface="+mn-lt"/>
                <a:ea typeface="+mn-ea"/>
                <a:cs typeface="+mn-cs"/>
              </a:rPr>
              <a:t>exit </a:t>
            </a:r>
            <a:r>
              <a:rPr lang="zh-CN" altLang="en-US" sz="1200" b="0" i="0" kern="1200" dirty="0">
                <a:solidFill>
                  <a:schemeClr val="tx1"/>
                </a:solidFill>
                <a:effectLst/>
                <a:latin typeface="+mn-lt"/>
                <a:ea typeface="+mn-ea"/>
                <a:cs typeface="+mn-cs"/>
              </a:rPr>
              <a:t>之后定义了返回值，那么这个脚本执行之后的返回值就是我们自己定义的返回值。可以通过</a:t>
            </a:r>
            <a:r>
              <a:rPr lang="en-US" altLang="zh-CN" sz="1200" b="0" i="0" kern="1200" dirty="0">
                <a:solidFill>
                  <a:schemeClr val="tx1"/>
                </a:solidFill>
                <a:effectLst/>
                <a:latin typeface="+mn-lt"/>
                <a:ea typeface="+mn-ea"/>
                <a:cs typeface="+mn-cs"/>
              </a:rPr>
              <a:t>echo</a:t>
            </a:r>
            <a:r>
              <a:rPr lang="zh-CN" altLang="en-US" sz="1200" b="0" i="0" kern="1200" dirty="0">
                <a:solidFill>
                  <a:schemeClr val="tx1"/>
                </a:solidFill>
                <a:effectLst/>
                <a:latin typeface="+mn-lt"/>
                <a:ea typeface="+mn-ea"/>
                <a:cs typeface="+mn-cs"/>
              </a:rPr>
              <a:t>查询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这个变量来査看返回值。</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如果 </a:t>
            </a:r>
            <a:r>
              <a:rPr lang="en" altLang="zh-CN" sz="1200" b="0" i="0" kern="1200" dirty="0">
                <a:solidFill>
                  <a:schemeClr val="tx1"/>
                </a:solidFill>
                <a:effectLst/>
                <a:latin typeface="+mn-lt"/>
                <a:ea typeface="+mn-ea"/>
                <a:cs typeface="+mn-cs"/>
              </a:rPr>
              <a:t>exit </a:t>
            </a:r>
            <a:r>
              <a:rPr lang="zh-CN" altLang="en-US" sz="1200" b="0" i="0" kern="1200" dirty="0">
                <a:solidFill>
                  <a:schemeClr val="tx1"/>
                </a:solidFill>
                <a:effectLst/>
                <a:latin typeface="+mn-lt"/>
                <a:ea typeface="+mn-ea"/>
                <a:cs typeface="+mn-cs"/>
              </a:rPr>
              <a:t>之后没有定义返回值，则脚本执行之后的返回值是执行 </a:t>
            </a:r>
            <a:r>
              <a:rPr lang="en" altLang="zh-CN" sz="1200" b="0" i="0" kern="1200" dirty="0">
                <a:solidFill>
                  <a:schemeClr val="tx1"/>
                </a:solidFill>
                <a:effectLst/>
                <a:latin typeface="+mn-lt"/>
                <a:ea typeface="+mn-ea"/>
                <a:cs typeface="+mn-cs"/>
              </a:rPr>
              <a:t>exit </a:t>
            </a:r>
            <a:r>
              <a:rPr lang="zh-CN" altLang="en-US" sz="1200" b="0" i="0" kern="1200" dirty="0">
                <a:solidFill>
                  <a:schemeClr val="tx1"/>
                </a:solidFill>
                <a:effectLst/>
                <a:latin typeface="+mn-lt"/>
                <a:ea typeface="+mn-ea"/>
                <a:cs typeface="+mn-cs"/>
              </a:rPr>
              <a:t>语句之前最后执行的一条命令的返回值</a:t>
            </a:r>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84</a:t>
            </a:fld>
            <a:endParaRPr lang="zh-CN" altLang="en-US"/>
          </a:p>
        </p:txBody>
      </p:sp>
    </p:spTree>
    <p:extLst>
      <p:ext uri="{BB962C8B-B14F-4D97-AF65-F5344CB8AC3E}">
        <p14:creationId xmlns:p14="http://schemas.microsoft.com/office/powerpoint/2010/main" val="2665873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85</a:t>
            </a:fld>
            <a:endParaRPr lang="en-US"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88</a:t>
            </a:fld>
            <a:endParaRPr lang="en-US" altLang="zh-CN">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90</a:t>
            </a:fld>
            <a:endParaRPr lang="en-US" altLang="zh-CN">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dirty="0"/>
              <a:t>$#:</a:t>
            </a:r>
            <a:r>
              <a:rPr kumimoji="1" lang="zh-CN" altLang="en-US" dirty="0"/>
              <a:t>表示返回所有脚本参数的个数。</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2FDB1411-5CFF-45D5-9989-BCF80D1790E1}" type="slidenum">
              <a:rPr lang="zh-CN" altLang="en-US" smtClean="0"/>
              <a:pPr>
                <a:defRPr/>
              </a:pPr>
              <a:t>91</a:t>
            </a:fld>
            <a:endParaRPr lang="zh-CN" altLang="en-US"/>
          </a:p>
        </p:txBody>
      </p:sp>
    </p:spTree>
    <p:extLst>
      <p:ext uri="{BB962C8B-B14F-4D97-AF65-F5344CB8AC3E}">
        <p14:creationId xmlns:p14="http://schemas.microsoft.com/office/powerpoint/2010/main" val="30112093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a:ln>
            <a:miter lim="800000"/>
          </a:ln>
        </p:spPr>
      </p:sp>
      <p:sp>
        <p:nvSpPr>
          <p:cNvPr id="74755" name="文本占位符 2"/>
          <p:cNvSpPr>
            <a:spLocks noGrp="1" noChangeArrowheads="1"/>
          </p:cNvSpPr>
          <p:nvPr>
            <p:ph type="body" idx="4294967295"/>
          </p:nvPr>
        </p:nvSpPr>
        <p:spPr>
          <a:noFill/>
        </p:spPr>
        <p:txBody>
          <a:bodyPr/>
          <a:lstStyle/>
          <a:p>
            <a:pPr eaLnBrk="1" hangingPunct="1"/>
            <a:endParaRPr lang="zh-CN" altLang="en-US"/>
          </a:p>
        </p:txBody>
      </p:sp>
      <p:sp>
        <p:nvSpPr>
          <p:cNvPr id="74756" name="灯片编号占位符 3"/>
          <p:cNvSpPr>
            <a:spLocks noGrp="1" noChangeArrowheads="1"/>
          </p:cNvSpPr>
          <p:nvPr>
            <p:ph type="sldNum" sz="quarter" idx="5"/>
          </p:nvPr>
        </p:nvSpPr>
        <p:spPr bwMode="auto">
          <a:noFill/>
          <a:ln>
            <a:miter lim="800000"/>
          </a:ln>
        </p:spPr>
        <p:txBody>
          <a:bodyPr/>
          <a:lstStyle/>
          <a:p>
            <a:fld id="{65B7EC01-864E-40D4-8ACF-B22006FE1010}" type="slidenum">
              <a:rPr lang="zh-CN" altLang="en-US" smtClean="0"/>
              <a:pPr/>
              <a:t>98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Box 5"/>
          <p:cNvSpPr txBox="1">
            <a:spLocks noChangeArrowheads="1"/>
          </p:cNvSpPr>
          <p:nvPr userDrawn="1"/>
        </p:nvSpPr>
        <p:spPr bwMode="auto">
          <a:xfrm>
            <a:off x="379413" y="1557338"/>
            <a:ext cx="277812" cy="4086225"/>
          </a:xfrm>
          <a:prstGeom prst="rect">
            <a:avLst/>
          </a:prstGeom>
          <a:noFill/>
          <a:ln w="9525">
            <a:noFill/>
            <a:miter lim="800000"/>
          </a:ln>
        </p:spPr>
        <p:txBody>
          <a:bodyPr vert="eaVert" lIns="0" tIns="0" rIns="0" bIns="0" anchor="ctr">
            <a:spAutoFit/>
          </a:bodyPr>
          <a:lstStyle/>
          <a:p>
            <a:pPr>
              <a:buFont typeface="Arial" panose="020B0604020202020204" pitchFamily="34" charset="0"/>
              <a:buNone/>
              <a:defRPr/>
            </a:pPr>
            <a:r>
              <a:rPr lang="zh-CN" altLang="en-US">
                <a:solidFill>
                  <a:schemeClr val="bg1"/>
                </a:solidFill>
                <a:latin typeface="Impact" panose="020B0806030902050204" pitchFamily="34" charset="0"/>
                <a:ea typeface="微软雅黑" panose="020B0503020204020204" pitchFamily="34" charset="-122"/>
              </a:rPr>
              <a:t>从零起步</a:t>
            </a:r>
            <a:r>
              <a:rPr lang="en-US" altLang="zh-CN">
                <a:solidFill>
                  <a:schemeClr val="bg1"/>
                </a:solidFill>
                <a:latin typeface="Impact" panose="020B0806030902050204" pitchFamily="34" charset="0"/>
                <a:ea typeface="微软雅黑" panose="020B0503020204020204" pitchFamily="34" charset="-122"/>
              </a:rPr>
              <a:t>—— </a:t>
            </a:r>
            <a:r>
              <a:rPr lang="en-US" altLang="en-US">
                <a:solidFill>
                  <a:schemeClr val="bg1"/>
                </a:solidFill>
                <a:latin typeface="Impact" panose="020B0806030902050204" pitchFamily="34" charset="0"/>
                <a:ea typeface="微软雅黑" panose="020B0503020204020204" pitchFamily="34" charset="-122"/>
              </a:rPr>
              <a:t>Premiere Pro CS6 </a:t>
            </a:r>
            <a:r>
              <a:rPr lang="zh-CN" altLang="en-US">
                <a:solidFill>
                  <a:schemeClr val="bg1"/>
                </a:solidFill>
                <a:latin typeface="Impact" panose="020B0806030902050204" pitchFamily="34" charset="0"/>
                <a:ea typeface="微软雅黑" panose="020B0503020204020204" pitchFamily="34" charset="-122"/>
              </a:rPr>
              <a:t>快速上手</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 name="标题 1"/>
          <p:cNvSpPr>
            <a:spLocks noGrp="1"/>
          </p:cNvSpPr>
          <p:nvPr userDrawn="1"/>
        </p:nvSpPr>
        <p:spPr>
          <a:xfrm>
            <a:off x="3215958" y="321310"/>
            <a:ext cx="2047875" cy="52070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章前导读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userDrawn="1"/>
        </p:nvSpPr>
        <p:spPr>
          <a:xfrm>
            <a:off x="3175000" y="280670"/>
            <a:ext cx="3367405" cy="55435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5.1  shell概述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2" grpId="3"/>
      <p:bldP spid="2" grpId="4"/>
      <p:bldP spid="2" grpId="5"/>
      <p:bldP spid="2" grpId="6"/>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074035" y="294640"/>
            <a:ext cx="4784725"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5.2  创建和执行shell脚本</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136900" y="269240"/>
            <a:ext cx="4046855"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5.3  shell特殊字符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188970" y="269240"/>
            <a:ext cx="4661535"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5.4  shell变量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188970" y="281940"/>
            <a:ext cx="5211445"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5.5  正则表达式与算术运算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188335" y="281940"/>
            <a:ext cx="385191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5.6  控制结构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215005" y="255905"/>
            <a:ext cx="323723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5.7  其他语句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176270" y="256540"/>
            <a:ext cx="323723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5.8  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227070" y="256540"/>
            <a:ext cx="365633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5.9  调试shell脚本</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227070" y="256540"/>
            <a:ext cx="365633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5.10  实例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与封底">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lvl1pPr fontAlgn="auto">
              <a:spcBef>
                <a:spcPts val="0"/>
              </a:spcBef>
              <a:spcAft>
                <a:spcPts val="0"/>
              </a:spcAft>
              <a:buFontTx/>
              <a:buNone/>
              <a:defRPr sz="1200">
                <a:solidFill>
                  <a:schemeClr val="tx1">
                    <a:tint val="75000"/>
                  </a:schemeClr>
                </a:solidFill>
                <a:latin typeface="+mn-lt"/>
                <a:ea typeface="+mn-ea"/>
                <a:cs typeface="+mn-cs"/>
              </a:defRPr>
            </a:lvl1pPr>
          </a:lstStyle>
          <a:p>
            <a:pPr>
              <a:defRPr/>
            </a:pPr>
            <a:endParaRPr lang="zh-CN" altLang="en-US"/>
          </a:p>
        </p:txBody>
      </p:sp>
      <p:sp>
        <p:nvSpPr>
          <p:cNvPr id="3" name="页脚占位符 2"/>
          <p:cNvSpPr>
            <a:spLocks noGrp="1"/>
          </p:cNvSpPr>
          <p:nvPr>
            <p:ph type="ftr" sz="quarter" idx="11"/>
          </p:nvPr>
        </p:nvSpPr>
        <p:spPr>
          <a:xfrm>
            <a:off x="4038600" y="6356350"/>
            <a:ext cx="4114800" cy="365125"/>
          </a:xfrm>
        </p:spPr>
        <p:txBody>
          <a:bodyPr/>
          <a:lstStyle>
            <a:lvl1pPr algn="ctr" fontAlgn="auto">
              <a:spcBef>
                <a:spcPts val="0"/>
              </a:spcBef>
              <a:spcAft>
                <a:spcPts val="0"/>
              </a:spcAft>
              <a:buFontTx/>
              <a:buNone/>
              <a:defRPr sz="1200">
                <a:solidFill>
                  <a:schemeClr val="tx1">
                    <a:tint val="75000"/>
                  </a:schemeClr>
                </a:solidFill>
                <a:latin typeface="+mn-lt"/>
                <a:ea typeface="+mn-ea"/>
                <a:cs typeface="+mn-cs"/>
              </a:defRPr>
            </a:lvl1pPr>
          </a:lstStyle>
          <a:p>
            <a:pPr>
              <a:defRPr/>
            </a:pPr>
            <a:endParaRPr lang="zh-CN" altLang="en-US"/>
          </a:p>
        </p:txBody>
      </p:sp>
      <p:sp>
        <p:nvSpPr>
          <p:cNvPr id="4" name="灯片编号占位符 3"/>
          <p:cNvSpPr>
            <a:spLocks noGrp="1"/>
          </p:cNvSpPr>
          <p:nvPr>
            <p:ph type="sldNum" sz="quarter" idx="12"/>
          </p:nvPr>
        </p:nvSpPr>
        <p:spPr>
          <a:xfrm>
            <a:off x="8610600" y="6356350"/>
            <a:ext cx="2743200" cy="365125"/>
          </a:xfrm>
        </p:spPr>
        <p:txBody>
          <a:bodyPr vert="horz" wrap="square" lIns="91440" tIns="45720" rIns="91440" bIns="45720" numCol="1" anchor="t" anchorCtr="0" compatLnSpc="1"/>
          <a:lstStyle>
            <a:lvl1pPr algn="r">
              <a:buFont typeface="Arial" panose="020B0604020202020204" pitchFamily="34" charset="0"/>
              <a:buNone/>
              <a:defRPr sz="1200">
                <a:solidFill>
                  <a:srgbClr val="898989"/>
                </a:solidFill>
              </a:defRPr>
            </a:lvl1pPr>
          </a:lstStyle>
          <a:p>
            <a:pPr>
              <a:defRPr/>
            </a:pPr>
            <a:fld id="{262AF1DA-47BD-40E3-817E-BD52F294368A}" type="slidenum">
              <a:rPr lang="zh-CN" altLang="en-US"/>
              <a:pPr>
                <a:defRPr/>
              </a:pPr>
              <a:t>‹#›</a:t>
            </a:fld>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封面与封底">
    <p:spTree>
      <p:nvGrpSpPr>
        <p:cNvPr id="1" name=""/>
        <p:cNvGrpSpPr/>
        <p:nvPr/>
      </p:nvGrpSpPr>
      <p:grpSpPr>
        <a:xfrm>
          <a:off x="0" y="0"/>
          <a:ext cx="0" cy="0"/>
          <a:chOff x="0" y="0"/>
          <a:chExt cx="0" cy="0"/>
        </a:xfrm>
      </p:grpSpPr>
      <p:sp>
        <p:nvSpPr>
          <p:cNvPr id="2" name="标题 1"/>
          <p:cNvSpPr>
            <a:spLocks noGrp="1"/>
          </p:cNvSpPr>
          <p:nvPr userDrawn="1"/>
        </p:nvSpPr>
        <p:spPr>
          <a:xfrm>
            <a:off x="3440430" y="323850"/>
            <a:ext cx="2852420"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64599" name="Rectangle 23"/>
          <p:cNvSpPr>
            <a:spLocks noChangeArrowheads="1"/>
          </p:cNvSpPr>
          <p:nvPr/>
        </p:nvSpPr>
        <p:spPr bwMode="gray">
          <a:xfrm>
            <a:off x="438150" y="163830"/>
            <a:ext cx="2275205" cy="814070"/>
          </a:xfrm>
          <a:prstGeom prst="rect">
            <a:avLst/>
          </a:prstGeom>
          <a:ln>
            <a:noFill/>
          </a:ln>
        </p:spPr>
        <p:style>
          <a:lnRef idx="1">
            <a:schemeClr val="dk1"/>
          </a:lnRef>
          <a:fillRef idx="2">
            <a:schemeClr val="dk1"/>
          </a:fillRef>
          <a:effectRef idx="1">
            <a:schemeClr val="dk1"/>
          </a:effectRef>
          <a:fontRef idx="minor">
            <a:schemeClr val="dk1"/>
          </a:fontRef>
        </p:style>
        <p:txBody>
          <a:bodyPr wrap="none" anchor="ctr"/>
          <a:lstStyle/>
          <a:p>
            <a:pPr fontAlgn="auto">
              <a:buFont typeface="Arial" panose="020B0604020202020204" pitchFamily="34" charset="0"/>
              <a:buNone/>
              <a:defRPr/>
            </a:pPr>
            <a:endParaRPr lang="zh-CN" altLang="en-US" noProof="1"/>
          </a:p>
        </p:txBody>
      </p:sp>
      <p:pic>
        <p:nvPicPr>
          <p:cNvPr id="1027" name="图片 3" descr="timg"/>
          <p:cNvPicPr>
            <a:picLocks noChangeAspect="1" noChangeArrowheads="1"/>
          </p:cNvPicPr>
          <p:nvPr/>
        </p:nvPicPr>
        <p:blipFill>
          <a:blip r:embed="rId15" cstate="print"/>
          <a:srcRect/>
          <a:stretch>
            <a:fillRect/>
          </a:stretch>
        </p:blipFill>
        <p:spPr bwMode="auto">
          <a:xfrm>
            <a:off x="527685" y="313373"/>
            <a:ext cx="541338" cy="504825"/>
          </a:xfrm>
          <a:prstGeom prst="rect">
            <a:avLst/>
          </a:prstGeom>
          <a:noFill/>
          <a:ln w="9525">
            <a:noFill/>
            <a:miter lim="800000"/>
            <a:headEnd/>
            <a:tailEnd/>
          </a:ln>
        </p:spPr>
      </p:pic>
      <p:sp>
        <p:nvSpPr>
          <p:cNvPr id="1028" name="TextBox 4"/>
          <p:cNvSpPr txBox="1">
            <a:spLocks noChangeArrowheads="1"/>
          </p:cNvSpPr>
          <p:nvPr/>
        </p:nvSpPr>
        <p:spPr bwMode="auto">
          <a:xfrm>
            <a:off x="923290" y="313690"/>
            <a:ext cx="1971675" cy="483235"/>
          </a:xfrm>
          <a:prstGeom prst="rect">
            <a:avLst/>
          </a:prstGeom>
          <a:noFill/>
          <a:ln w="9525">
            <a:noFill/>
            <a:miter lim="800000"/>
          </a:ln>
        </p:spPr>
        <p:txBody>
          <a:bodyPr wrap="square">
            <a:spAutoFit/>
          </a:bodyPr>
          <a:lstStyle/>
          <a:p>
            <a:pPr>
              <a:buFont typeface="Arial" panose="020B0604020202020204" pitchFamily="34" charset="0"/>
              <a:buNone/>
              <a:defRPr/>
            </a:pPr>
            <a:r>
              <a:rPr lang="en-US" altLang="zh-CN" sz="2400" b="1">
                <a:latin typeface="微软雅黑" panose="020B0503020204020204" pitchFamily="34" charset="-122"/>
                <a:ea typeface="微软雅黑" panose="020B0503020204020204" pitchFamily="34" charset="-122"/>
              </a:rPr>
              <a:t>  </a:t>
            </a:r>
            <a:r>
              <a:rPr lang="zh-CN" altLang="en-US" sz="2400" b="1">
                <a:ea typeface="微软雅黑" panose="020B0503020204020204" pitchFamily="34" charset="-122"/>
              </a:rPr>
              <a:t>shell编程</a:t>
            </a:r>
          </a:p>
        </p:txBody>
      </p:sp>
      <p:sp>
        <p:nvSpPr>
          <p:cNvPr id="36" name="矩形 35"/>
          <p:cNvSpPr/>
          <p:nvPr/>
        </p:nvSpPr>
        <p:spPr>
          <a:xfrm>
            <a:off x="41275" y="152400"/>
            <a:ext cx="396875" cy="827088"/>
          </a:xfrm>
          <a:prstGeom prst="rect">
            <a:avLst/>
          </a:prstGeom>
          <a:ln>
            <a:noFill/>
          </a:ln>
        </p:spPr>
        <p:style>
          <a:lnRef idx="1">
            <a:schemeClr val="dk1"/>
          </a:lnRef>
          <a:fillRef idx="2">
            <a:schemeClr val="dk1"/>
          </a:fillRef>
          <a:effectRef idx="1">
            <a:schemeClr val="dk1"/>
          </a:effectRef>
          <a:fontRef idx="minor">
            <a:schemeClr val="dk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sp>
        <p:nvSpPr>
          <p:cNvPr id="1030" name="TextBox 4"/>
          <p:cNvSpPr txBox="1">
            <a:spLocks noChangeArrowheads="1"/>
          </p:cNvSpPr>
          <p:nvPr/>
        </p:nvSpPr>
        <p:spPr bwMode="auto">
          <a:xfrm>
            <a:off x="109221" y="98425"/>
            <a:ext cx="260985" cy="955675"/>
          </a:xfrm>
          <a:prstGeom prst="rect">
            <a:avLst/>
          </a:prstGeom>
          <a:noFill/>
          <a:ln w="9525">
            <a:noFill/>
            <a:miter lim="800000"/>
          </a:ln>
        </p:spPr>
        <p:txBody>
          <a:bodyPr vert="eaVert" lIns="0" tIns="0" rIns="0" bIns="0" anchor="ctr">
            <a:spAutoFit/>
          </a:bodyPr>
          <a:lstStyle/>
          <a:p>
            <a:pPr algn="ctr">
              <a:buFont typeface="Arial" panose="020B0604020202020204" pitchFamily="34" charset="0"/>
              <a:buNone/>
              <a:defRPr/>
            </a:pPr>
            <a:r>
              <a:rPr lang="zh-CN" altLang="en-US" sz="1600">
                <a:solidFill>
                  <a:srgbClr val="404040"/>
                </a:solidFill>
                <a:latin typeface="微软雅黑" panose="020B0503020204020204" pitchFamily="34" charset="-122"/>
                <a:ea typeface="微软雅黑" panose="020B0503020204020204" pitchFamily="34" charset="-122"/>
              </a:rPr>
              <a:t>第五章</a:t>
            </a:r>
          </a:p>
        </p:txBody>
      </p:sp>
      <p:sp>
        <p:nvSpPr>
          <p:cNvPr id="1031" name="饼形 9"/>
          <p:cNvSpPr>
            <a:spLocks noChangeArrowheads="1"/>
          </p:cNvSpPr>
          <p:nvPr/>
        </p:nvSpPr>
        <p:spPr bwMode="auto">
          <a:xfrm rot="-10440000">
            <a:off x="11614150" y="6323013"/>
            <a:ext cx="1189038" cy="1089025"/>
          </a:xfrm>
          <a:custGeom>
            <a:avLst/>
            <a:gdLst/>
            <a:ahLst/>
            <a:cxnLst>
              <a:cxn ang="0">
                <a:pos x="1184933" y="482865"/>
              </a:cxn>
              <a:cxn ang="0">
                <a:pos x="1188720" y="544195"/>
              </a:cxn>
              <a:cxn ang="0">
                <a:pos x="650440" y="1085999"/>
              </a:cxn>
              <a:cxn ang="0">
                <a:pos x="594360" y="544195"/>
              </a:cxn>
            </a:cxnLst>
            <a:rect l="0" t="0" r="r" b="b"/>
            <a:pathLst>
              <a:path w="1188720" h="1088390">
                <a:moveTo>
                  <a:pt x="1184933" y="482865"/>
                </a:moveTo>
                <a:cubicBezTo>
                  <a:pt x="1187451" y="502959"/>
                  <a:pt x="1188720" y="523442"/>
                  <a:pt x="1188720" y="544195"/>
                </a:cubicBezTo>
                <a:cubicBezTo>
                  <a:pt x="1188720" y="827482"/>
                  <a:pt x="952307" y="1060213"/>
                  <a:pt x="650440" y="1085999"/>
                </a:cubicBezTo>
                <a:lnTo>
                  <a:pt x="594360" y="544195"/>
                </a:lnTo>
                <a:close/>
              </a:path>
            </a:pathLst>
          </a:custGeom>
          <a:solidFill>
            <a:srgbClr val="00B0F0"/>
          </a:solidFill>
          <a:ln w="9525">
            <a:noFill/>
            <a:round/>
          </a:ln>
        </p:spPr>
        <p:txBody>
          <a:bodyPr/>
          <a:lstStyle/>
          <a:p>
            <a:pPr>
              <a:buFont typeface="Arial" panose="020B0604020202020204" pitchFamily="34" charset="0"/>
              <a:buNone/>
              <a:defRPr/>
            </a:pPr>
            <a:endParaRPr lang="zh-CN" altLang="en-US"/>
          </a:p>
        </p:txBody>
      </p:sp>
      <p:sp>
        <p:nvSpPr>
          <p:cNvPr id="11" name="文本框 10"/>
          <p:cNvSpPr txBox="1"/>
          <p:nvPr/>
        </p:nvSpPr>
        <p:spPr>
          <a:xfrm>
            <a:off x="11648440" y="6453505"/>
            <a:ext cx="659765" cy="365760"/>
          </a:xfrm>
          <a:prstGeom prst="rect">
            <a:avLst/>
          </a:prstGeom>
          <a:noFill/>
        </p:spPr>
        <p:txBody>
          <a:bodyPr wrap="square">
            <a:spAutoFit/>
          </a:bodyPr>
          <a:lstStyle/>
          <a:p>
            <a:pPr fontAlgn="auto">
              <a:buFont typeface="Arial" panose="020B0604020202020204" pitchFamily="34" charset="0"/>
              <a:buNone/>
              <a:defRPr/>
            </a:pPr>
            <a:fld id="{814D200E-B95F-4368-AFE5-0261574EA689}" type="slidenum">
              <a:rPr lang="zh-CN" altLang="en-US" b="1" noProof="1">
                <a:effectLst>
                  <a:innerShdw blurRad="63500" dist="50800" dir="18900000">
                    <a:prstClr val="black">
                      <a:alpha val="50000"/>
                    </a:prstClr>
                  </a:innerShdw>
                </a:effectLst>
                <a:latin typeface="Times New Roman" panose="02020603050405020304" pitchFamily="18" charset="0"/>
                <a:ea typeface="楷体" panose="02010609060101010101" pitchFamily="49" charset="-122"/>
                <a:cs typeface="Arial Unicode MS" panose="020B0604020202020204" pitchFamily="34" charset="-122"/>
              </a:rPr>
              <a:pPr fontAlgn="auto">
                <a:buFont typeface="Arial" panose="020B0604020202020204" pitchFamily="34" charset="0"/>
                <a:buNone/>
                <a:defRPr/>
              </a:pPr>
              <a:t>‹#›</a:t>
            </a:fld>
            <a:endParaRPr lang="zh-CN" altLang="en-US" b="1" noProof="1">
              <a:effectLst>
                <a:innerShdw blurRad="63500" dist="50800" dir="18900000">
                  <a:prstClr val="black">
                    <a:alpha val="50000"/>
                  </a:prstClr>
                </a:innerShdw>
              </a:effectLst>
              <a:latin typeface="Times New Roman" panose="02020603050405020304" pitchFamily="18" charset="0"/>
              <a:ea typeface="楷体" panose="02010609060101010101" pitchFamily="49" charset="-122"/>
              <a:cs typeface="Arial Unicode MS" panose="020B0604020202020204" pitchFamily="34" charset="-122"/>
            </a:endParaRPr>
          </a:p>
        </p:txBody>
      </p:sp>
      <p:sp>
        <p:nvSpPr>
          <p:cNvPr id="1033" name="矩形 5"/>
          <p:cNvSpPr>
            <a:spLocks noChangeArrowheads="1"/>
          </p:cNvSpPr>
          <p:nvPr/>
        </p:nvSpPr>
        <p:spPr bwMode="auto">
          <a:xfrm>
            <a:off x="2894965" y="166370"/>
            <a:ext cx="8894445" cy="820420"/>
          </a:xfrm>
          <a:prstGeom prst="rect">
            <a:avLst/>
          </a:prstGeom>
          <a:gradFill rotWithShape="1">
            <a:gsLst>
              <a:gs pos="0">
                <a:srgbClr val="00B0F0"/>
              </a:gs>
              <a:gs pos="50000">
                <a:srgbClr val="0070C0"/>
              </a:gs>
              <a:gs pos="100000">
                <a:srgbClr val="00B0F0"/>
              </a:gs>
            </a:gsLst>
            <a:lin ang="15720000"/>
          </a:gradFill>
          <a:ln w="9525">
            <a:noFill/>
            <a:miter lim="800000"/>
          </a:ln>
        </p:spPr>
        <p:txBody>
          <a:bodyPr wrap="none" lIns="90000" tIns="46800" rIns="90000" bIns="46800" anchor="ctr"/>
          <a:lstStyle/>
          <a:p>
            <a:pPr algn="ctr">
              <a:buClr>
                <a:schemeClr val="accent1"/>
              </a:buClr>
              <a:buSzPct val="80000"/>
              <a:buFont typeface="Wingdings" panose="05000000000000000000" pitchFamily="2" charset="2"/>
              <a:buNone/>
              <a:defRPr/>
            </a:pPr>
            <a:endParaRPr lang="de-DE" alt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xStyles>
    <p:titleStyle>
      <a:lvl1pPr algn="l" rtl="0" eaLnBrk="0" fontAlgn="base" hangingPunct="0">
        <a:spcBef>
          <a:spcPct val="0"/>
        </a:spcBef>
        <a:spcAft>
          <a:spcPct val="0"/>
        </a:spcAft>
        <a:defRPr sz="24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cs typeface="+mj-cs"/>
        </a:defRPr>
      </a:lvl1pPr>
      <a:lvl2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2pPr>
      <a:lvl3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3pPr>
      <a:lvl4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4pPr>
      <a:lvl5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5pPr>
      <a:lvl6pPr marL="4572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6pPr>
      <a:lvl7pPr marL="9144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7pPr>
      <a:lvl8pPr marL="13716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8pPr>
      <a:lvl9pPr marL="18288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9pPr>
    </p:titleStyle>
    <p:bodyStyle>
      <a:lvl1pPr marL="342900" indent="-342900" algn="l" rtl="0" eaLnBrk="0" fontAlgn="base" hangingPunct="0">
        <a:spcBef>
          <a:spcPct val="75000"/>
        </a:spcBef>
        <a:spcAft>
          <a:spcPct val="0"/>
        </a:spcAft>
        <a:buClr>
          <a:schemeClr val="tx1"/>
        </a:buClr>
        <a:buSzPct val="80000"/>
        <a:buFont typeface="Wingdings" panose="05000000000000000000" pitchFamily="2" charset="2"/>
        <a:buChar char="•"/>
        <a:defRPr sz="3200">
          <a:solidFill>
            <a:schemeClr val="tx1"/>
          </a:solidFill>
          <a:latin typeface="宋体" panose="02010600030101010101" pitchFamily="2" charset="-122"/>
          <a:ea typeface="宋体" panose="02010600030101010101" pitchFamily="2" charset="-122"/>
          <a:cs typeface="+mn-cs"/>
        </a:defRPr>
      </a:lvl1pPr>
      <a:lvl2pPr marL="184150" indent="-182880" algn="l" rtl="0" eaLnBrk="0" fontAlgn="base" hangingPunct="0">
        <a:spcBef>
          <a:spcPct val="25000"/>
        </a:spcBef>
        <a:spcAft>
          <a:spcPct val="0"/>
        </a:spcAft>
        <a:buClr>
          <a:srgbClr val="F0AB00"/>
        </a:buClr>
        <a:buSzPct val="80000"/>
        <a:buFont typeface="Wingdings" panose="05000000000000000000" pitchFamily="2" charset="2"/>
        <a:buChar char="n"/>
        <a:defRPr sz="1600">
          <a:solidFill>
            <a:schemeClr val="tx1"/>
          </a:solidFill>
          <a:latin typeface="宋体" panose="02010600030101010101" pitchFamily="2" charset="-122"/>
          <a:ea typeface="宋体" panose="02010600030101010101" pitchFamily="2" charset="-122"/>
          <a:cs typeface="+mn-cs"/>
        </a:defRPr>
      </a:lvl2pPr>
      <a:lvl3pPr marL="541655" indent="-195580" algn="l" rtl="0" eaLnBrk="0" fontAlgn="base" hangingPunct="0">
        <a:spcBef>
          <a:spcPct val="25000"/>
        </a:spcBef>
        <a:spcAft>
          <a:spcPct val="0"/>
        </a:spcAft>
        <a:buClr>
          <a:srgbClr val="666666"/>
        </a:buClr>
        <a:buSzPct val="80000"/>
        <a:buFont typeface="Wingdings" panose="05000000000000000000" pitchFamily="2" charset="2"/>
        <a:buChar char="n"/>
        <a:defRPr sz="1600">
          <a:solidFill>
            <a:schemeClr val="tx1"/>
          </a:solidFill>
          <a:latin typeface="宋体" panose="02010600030101010101" pitchFamily="2" charset="-122"/>
          <a:ea typeface="宋体" panose="02010600030101010101" pitchFamily="2" charset="-122"/>
          <a:cs typeface="+mn-cs"/>
        </a:defRPr>
      </a:lvl3pPr>
      <a:lvl4pPr marL="708025" indent="-165100" algn="l" rtl="0" eaLnBrk="0" fontAlgn="base" hangingPunct="0">
        <a:spcBef>
          <a:spcPct val="25000"/>
        </a:spcBef>
        <a:spcAft>
          <a:spcPct val="0"/>
        </a:spcAft>
        <a:buClr>
          <a:srgbClr val="666666"/>
        </a:buClr>
        <a:buSzPct val="80000"/>
        <a:buFont typeface="Arial" panose="020B0604020202020204" pitchFamily="34" charset="0"/>
        <a:buChar char="–"/>
        <a:defRPr sz="1600">
          <a:solidFill>
            <a:schemeClr val="tx1"/>
          </a:solidFill>
          <a:latin typeface="宋体" panose="02010600030101010101" pitchFamily="2" charset="-122"/>
          <a:ea typeface="宋体" panose="02010600030101010101" pitchFamily="2" charset="-122"/>
          <a:cs typeface="+mn-cs"/>
        </a:defRPr>
      </a:lvl4pPr>
      <a:lvl5pPr marL="904875" indent="-195580" algn="l" rtl="0" eaLnBrk="0" fontAlgn="base" hangingPunct="0">
        <a:spcBef>
          <a:spcPct val="15000"/>
        </a:spcBef>
        <a:spcAft>
          <a:spcPct val="0"/>
        </a:spcAft>
        <a:buClr>
          <a:srgbClr val="666666"/>
        </a:buClr>
        <a:buSzPct val="80000"/>
        <a:buFont typeface="Arial" panose="020B0604020202020204" pitchFamily="34" charset="0"/>
        <a:buChar char="–"/>
        <a:defRPr sz="1400">
          <a:solidFill>
            <a:schemeClr val="tx1"/>
          </a:solidFill>
          <a:latin typeface="宋体" panose="02010600030101010101" pitchFamily="2" charset="-122"/>
          <a:ea typeface="宋体" panose="02010600030101010101" pitchFamily="2" charset="-122"/>
          <a:cs typeface="+mn-cs"/>
        </a:defRPr>
      </a:lvl5pPr>
      <a:lvl6pPr marL="13620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6pPr>
      <a:lvl7pPr marL="18192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7pPr>
      <a:lvl8pPr marL="22764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8pPr>
      <a:lvl9pPr marL="27336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5" Type="http://schemas.openxmlformats.org/officeDocument/2006/relationships/image" Target="../media/image11.jpe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xml"/><Relationship Id="rId1" Type="http://schemas.openxmlformats.org/officeDocument/2006/relationships/tags" Target="../tags/tag1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9.xml"/><Relationship Id="rId1" Type="http://schemas.openxmlformats.org/officeDocument/2006/relationships/tags" Target="../tags/tag18.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slideLayout" Target="../slideLayouts/slideLayout4.xml"/><Relationship Id="rId4" Type="http://schemas.openxmlformats.org/officeDocument/2006/relationships/tags" Target="../tags/tag2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5.xml"/><Relationship Id="rId1" Type="http://schemas.openxmlformats.org/officeDocument/2006/relationships/tags" Target="../tags/tag2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7.xml"/><Relationship Id="rId1" Type="http://schemas.openxmlformats.org/officeDocument/2006/relationships/tags" Target="../tags/tag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1.xml"/><Relationship Id="rId1" Type="http://schemas.openxmlformats.org/officeDocument/2006/relationships/tags" Target="../tags/tag30.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4.xml"/><Relationship Id="rId1" Type="http://schemas.openxmlformats.org/officeDocument/2006/relationships/tags" Target="../tags/tag3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notesSlide" Target="../notesSlides/notesSlide13.xml"/><Relationship Id="rId4" Type="http://schemas.openxmlformats.org/officeDocument/2006/relationships/tags" Target="../tags/tag40.xml"/><Relationship Id="rId9"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slideLayout" Target="../slideLayouts/slideLayout5.xml"/><Relationship Id="rId4" Type="http://schemas.openxmlformats.org/officeDocument/2006/relationships/tags" Target="../tags/tag5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notesSlide" Target="../notesSlides/notesSlide1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notesSlide" Target="../notesSlides/notesSlide2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0.xml"/><Relationship Id="rId1" Type="http://schemas.openxmlformats.org/officeDocument/2006/relationships/tags" Target="../tags/tag59.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1.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3.xml"/><Relationship Id="rId1" Type="http://schemas.openxmlformats.org/officeDocument/2006/relationships/tags" Target="../tags/tag6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5.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6.xml"/></Relationships>
</file>

<file path=ppt/slides/_rels/slide7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7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1.xml"/><Relationship Id="rId1" Type="http://schemas.openxmlformats.org/officeDocument/2006/relationships/tags" Target="../tags/tag70.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3.xml"/><Relationship Id="rId1" Type="http://schemas.openxmlformats.org/officeDocument/2006/relationships/tags" Target="../tags/tag72.xml"/><Relationship Id="rId5" Type="http://schemas.openxmlformats.org/officeDocument/2006/relationships/image" Target="../media/image18.jpeg"/><Relationship Id="rId4" Type="http://schemas.openxmlformats.org/officeDocument/2006/relationships/notesSlide" Target="../notesSlides/notesSlide23.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5.xml"/><Relationship Id="rId1" Type="http://schemas.openxmlformats.org/officeDocument/2006/relationships/tags" Target="../tags/tag74.xml"/><Relationship Id="rId4" Type="http://schemas.openxmlformats.org/officeDocument/2006/relationships/notesSlide" Target="../notesSlides/notesSlide24.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7.xml"/><Relationship Id="rId1" Type="http://schemas.openxmlformats.org/officeDocument/2006/relationships/tags" Target="../tags/tag7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78.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9.xml"/></Relationships>
</file>

<file path=ppt/slides/_rels/slide8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20.jpe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81.xml"/><Relationship Id="rId1" Type="http://schemas.openxmlformats.org/officeDocument/2006/relationships/tags" Target="../tags/tag80.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83.xml"/><Relationship Id="rId1" Type="http://schemas.openxmlformats.org/officeDocument/2006/relationships/tags" Target="../tags/tag8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 Id="rId4"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1.xml"/><Relationship Id="rId1" Type="http://schemas.openxmlformats.org/officeDocument/2006/relationships/tags" Target="../tags/tag87.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88.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89.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91.xml"/><Relationship Id="rId1" Type="http://schemas.openxmlformats.org/officeDocument/2006/relationships/tags" Target="../tags/tag90.xml"/></Relationships>
</file>

<file path=ppt/slides/_rels/slide95.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4"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图片 2"/>
          <p:cNvPicPr>
            <a:picLocks noChangeAspect="1" noChangeArrowheads="1"/>
          </p:cNvPicPr>
          <p:nvPr/>
        </p:nvPicPr>
        <p:blipFill>
          <a:blip r:embed="rId3" cstate="print"/>
          <a:srcRect/>
          <a:stretch>
            <a:fillRect/>
          </a:stretch>
        </p:blipFill>
        <p:spPr bwMode="auto">
          <a:xfrm>
            <a:off x="-163513" y="-25400"/>
            <a:ext cx="12584113" cy="5757863"/>
          </a:xfrm>
          <a:prstGeom prst="rect">
            <a:avLst/>
          </a:prstGeom>
          <a:noFill/>
          <a:ln w="9525">
            <a:noFill/>
            <a:miter lim="800000"/>
            <a:headEnd/>
            <a:tailEnd/>
          </a:ln>
        </p:spPr>
      </p:pic>
      <p:sp>
        <p:nvSpPr>
          <p:cNvPr id="4" name="矩形 3"/>
          <p:cNvSpPr/>
          <p:nvPr/>
        </p:nvSpPr>
        <p:spPr>
          <a:xfrm>
            <a:off x="-161925" y="-25400"/>
            <a:ext cx="12582525" cy="7369175"/>
          </a:xfrm>
          <a:prstGeom prst="rect">
            <a:avLst/>
          </a:prstGeom>
          <a:solidFill>
            <a:srgbClr val="000E2A">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24" name="文本框 4"/>
          <p:cNvSpPr txBox="1">
            <a:spLocks noChangeArrowheads="1"/>
          </p:cNvSpPr>
          <p:nvPr/>
        </p:nvSpPr>
        <p:spPr bwMode="auto">
          <a:xfrm>
            <a:off x="1400175" y="2384425"/>
            <a:ext cx="9967913" cy="1108075"/>
          </a:xfrm>
          <a:prstGeom prst="rect">
            <a:avLst/>
          </a:prstGeom>
          <a:noFill/>
          <a:ln w="9525">
            <a:noFill/>
            <a:miter lim="800000"/>
          </a:ln>
        </p:spPr>
        <p:txBody>
          <a:bodyPr wrap="none">
            <a:spAutoFit/>
          </a:bodyPr>
          <a:lstStyle/>
          <a:p>
            <a:pPr algn="ctr">
              <a:defRPr/>
            </a:pPr>
            <a:r>
              <a:rPr lang="en-US" altLang="zh-CN" sz="6600" b="1" dirty="0">
                <a:solidFill>
                  <a:schemeClr val="bg1"/>
                </a:solidFill>
                <a:latin typeface="Times New Roman" panose="02020603050405020304" pitchFamily="18" charset="0"/>
                <a:ea typeface="微软雅黑" panose="020B0503020204020204" pitchFamily="34" charset="-122"/>
                <a:cs typeface="+mn-cs"/>
              </a:rPr>
              <a:t>Linux</a:t>
            </a:r>
            <a:r>
              <a:rPr lang="zh-CN" altLang="en-US" sz="6600" b="1" dirty="0">
                <a:solidFill>
                  <a:schemeClr val="bg1"/>
                </a:solidFill>
                <a:latin typeface="微软雅黑" panose="020B0503020204020204" pitchFamily="34" charset="-122"/>
                <a:ea typeface="微软雅黑" panose="020B0503020204020204" pitchFamily="34" charset="-122"/>
                <a:cs typeface="+mn-cs"/>
              </a:rPr>
              <a:t>操作系统及应用技术</a:t>
            </a:r>
          </a:p>
        </p:txBody>
      </p:sp>
      <p:sp>
        <p:nvSpPr>
          <p:cNvPr id="6" name="矩形 5"/>
          <p:cNvSpPr/>
          <p:nvPr/>
        </p:nvSpPr>
        <p:spPr>
          <a:xfrm>
            <a:off x="3712210" y="3867150"/>
            <a:ext cx="5147945" cy="6794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sz="2800" dirty="0">
                <a:solidFill>
                  <a:schemeClr val="bg1">
                    <a:lumMod val="75000"/>
                  </a:schemeClr>
                </a:solidFill>
                <a:latin typeface="微软雅黑" panose="020B0503020204020204" pitchFamily="34" charset="-122"/>
                <a:ea typeface="微软雅黑" panose="020B0503020204020204" pitchFamily="34" charset="-122"/>
              </a:rPr>
              <a:t>第五章  </a:t>
            </a:r>
            <a:r>
              <a:rPr sz="2800" dirty="0">
                <a:solidFill>
                  <a:schemeClr val="bg1">
                    <a:lumMod val="75000"/>
                  </a:schemeClr>
                </a:solidFill>
                <a:ea typeface="微软雅黑" panose="020B0503020204020204" pitchFamily="34" charset="-122"/>
              </a:rPr>
              <a:t>shell编程</a:t>
            </a:r>
          </a:p>
        </p:txBody>
      </p:sp>
      <p:sp>
        <p:nvSpPr>
          <p:cNvPr id="9" name="任意多边形 8"/>
          <p:cNvSpPr/>
          <p:nvPr/>
        </p:nvSpPr>
        <p:spPr>
          <a:xfrm>
            <a:off x="-161925" y="4921250"/>
            <a:ext cx="12580938" cy="2422525"/>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513715" y="1949450"/>
            <a:ext cx="5842000" cy="3831818"/>
          </a:xfrm>
          <a:prstGeom prst="rect">
            <a:avLst/>
          </a:prstGeom>
          <a:noFill/>
          <a:ln w="9525">
            <a:noFill/>
            <a:miter lim="800000"/>
          </a:ln>
        </p:spPr>
        <p:txBody>
          <a:bodyPr wrap="square">
            <a:spAutoFit/>
          </a:bodyPr>
          <a:lstStyle/>
          <a:p>
            <a:pPr indent="457200">
              <a:lnSpc>
                <a:spcPct val="150000"/>
              </a:lnSpc>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英文shell的本意是“壳”。它形象地说明了shell在Linux系统中的作用。shell就是紧紧包裹在Linux内核外面的一个</a:t>
            </a:r>
            <a:r>
              <a:rPr lang="zh-CN" altLang="en-US" b="1" dirty="0">
                <a:solidFill>
                  <a:srgbClr val="0070C0"/>
                </a:solidFill>
                <a:latin typeface="微软雅黑" panose="020B0503020204020204" pitchFamily="34" charset="-122"/>
                <a:ea typeface="微软雅黑" panose="020B0503020204020204" pitchFamily="34" charset="-122"/>
              </a:rPr>
              <a:t>壳程序</a:t>
            </a:r>
            <a:r>
              <a:rPr lang="zh-CN" altLang="en-US" dirty="0">
                <a:latin typeface="微软雅黑" panose="020B0503020204020204" pitchFamily="34" charset="-122"/>
                <a:ea typeface="微软雅黑" panose="020B0503020204020204" pitchFamily="34" charset="-122"/>
              </a:rPr>
              <a:t>。用户让操作系统做的所有任务，都是通过shell与系统内核的交互来完成的。shell所处的地位，就相当于DOS中的command.com程序，但比command.com的功能更加强大。</a:t>
            </a:r>
          </a:p>
          <a:p>
            <a:pPr indent="457200">
              <a:lnSpc>
                <a:spcPct val="150000"/>
              </a:lnSpc>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shell是用户与操作系统的内核之间的</a:t>
            </a:r>
            <a:r>
              <a:rPr lang="zh-CN" altLang="en-US" b="1" dirty="0">
                <a:solidFill>
                  <a:srgbClr val="0070C0"/>
                </a:solidFill>
                <a:latin typeface="微软雅黑" panose="020B0503020204020204" pitchFamily="34" charset="-122"/>
                <a:ea typeface="微软雅黑" panose="020B0503020204020204" pitchFamily="34" charset="-122"/>
              </a:rPr>
              <a:t>接口</a:t>
            </a:r>
            <a:r>
              <a:rPr lang="zh-CN" altLang="en-US" dirty="0">
                <a:latin typeface="微软雅黑" panose="020B0503020204020204" pitchFamily="34" charset="-122"/>
                <a:ea typeface="微软雅黑" panose="020B0503020204020204" pitchFamily="34" charset="-122"/>
              </a:rPr>
              <a:t>，是系统的</a:t>
            </a:r>
            <a:r>
              <a:rPr lang="zh-CN" altLang="en-US" b="1" dirty="0">
                <a:solidFill>
                  <a:srgbClr val="0070C0"/>
                </a:solidFill>
                <a:latin typeface="微软雅黑" panose="020B0503020204020204" pitchFamily="34" charset="-122"/>
                <a:ea typeface="微软雅黑" panose="020B0503020204020204" pitchFamily="34" charset="-122"/>
              </a:rPr>
              <a:t>用户界面</a:t>
            </a:r>
            <a:r>
              <a:rPr lang="zh-CN" altLang="en-US" dirty="0">
                <a:latin typeface="微软雅黑" panose="020B0503020204020204" pitchFamily="34" charset="-122"/>
                <a:ea typeface="微软雅黑" panose="020B0503020204020204" pitchFamily="34" charset="-122"/>
              </a:rPr>
              <a:t>，并且具有相当丰富的功能。利用shell可以编写出代码简捷，但功能很强的脚本文件。</a:t>
            </a:r>
          </a:p>
        </p:txBody>
      </p:sp>
      <p:sp>
        <p:nvSpPr>
          <p:cNvPr id="19" name="矩形 18"/>
          <p:cNvSpPr/>
          <p:nvPr/>
        </p:nvSpPr>
        <p:spPr>
          <a:xfrm flipV="1">
            <a:off x="37147" y="6096000"/>
            <a:ext cx="12117388" cy="93663"/>
          </a:xfrm>
          <a:prstGeom prst="rect">
            <a:avLst/>
          </a:prstGeom>
          <a:solidFill>
            <a:srgbClr val="00B0F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pic>
        <p:nvPicPr>
          <p:cNvPr id="4099" name="Picture 3" descr="C:\Users\Administrator\桌面\b6762199-ee66-4a22-9d9c-f0d761a45996.jpgb6762199-ee66-4a22-9d9c-f0d761a45996"/>
          <p:cNvPicPr>
            <a:picLocks noChangeAspect="1" noChangeArrowheads="1"/>
          </p:cNvPicPr>
          <p:nvPr/>
        </p:nvPicPr>
        <p:blipFill>
          <a:blip r:embed="rId3" cstate="print"/>
          <a:srcRect/>
          <a:stretch>
            <a:fillRect/>
          </a:stretch>
        </p:blipFill>
        <p:spPr bwMode="auto">
          <a:xfrm>
            <a:off x="6525895" y="2033270"/>
            <a:ext cx="5066665" cy="379857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fade">
                                      <p:cBhvr>
                                        <p:cTn id="7" dur="500"/>
                                        <p:tgtEl>
                                          <p:spTgt spid="4099"/>
                                        </p:tgtEl>
                                      </p:cBhvr>
                                    </p:animEffect>
                                  </p:childTnLst>
                                </p:cTn>
                              </p:par>
                            </p:childTnLst>
                          </p:cTn>
                        </p:par>
                        <p:par>
                          <p:cTn id="8" fill="hold">
                            <p:stCondLst>
                              <p:cond delay="500"/>
                            </p:stCondLst>
                            <p:childTnLst>
                              <p:par>
                                <p:cTn id="9" presetID="17" presetClass="entr" presetSubtype="1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strVal val="#ppt_h"/>
                                          </p:val>
                                        </p:tav>
                                        <p:tav tm="100000">
                                          <p:val>
                                            <p:strVal val="#ppt_h"/>
                                          </p:val>
                                        </p:tav>
                                      </p:tavLst>
                                    </p:anim>
                                  </p:childTnLst>
                                </p:cTn>
                              </p:par>
                              <p:par>
                                <p:cTn id="13" presetID="22" presetClass="entr" presetSubtype="2"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right)">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25" name="Group 5"/>
          <p:cNvGrpSpPr/>
          <p:nvPr/>
        </p:nvGrpSpPr>
        <p:grpSpPr bwMode="auto">
          <a:xfrm>
            <a:off x="2001520" y="3188335"/>
            <a:ext cx="4091940" cy="48133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dirty="0">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52" presetClass="entr" presetSubtype="0" fill="hold" grpId="0" nodeType="afterEffect">
                                  <p:stCondLst>
                                    <p:cond delay="0"/>
                                  </p:stCondLst>
                                  <p:childTnLst>
                                    <p:set>
                                      <p:cBhvr>
                                        <p:cTn id="10" dur="1" fill="hold">
                                          <p:stCondLst>
                                            <p:cond delay="0"/>
                                          </p:stCondLst>
                                        </p:cTn>
                                        <p:tgtEl>
                                          <p:spTgt spid="6147"/>
                                        </p:tgtEl>
                                        <p:attrNameLst>
                                          <p:attrName>style.visibility</p:attrName>
                                        </p:attrNameLst>
                                      </p:cBhvr>
                                      <p:to>
                                        <p:strVal val="visible"/>
                                      </p:to>
                                    </p:set>
                                    <p:animScale>
                                      <p:cBhvr>
                                        <p:cTn id="11" dur="500" decel="50000" fill="hold">
                                          <p:stCondLst>
                                            <p:cond delay="0"/>
                                          </p:stCondLst>
                                        </p:cTn>
                                        <p:tgtEl>
                                          <p:spTgt spid="614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2" dur="500" decel="50000" fill="hold">
                                          <p:stCondLst>
                                            <p:cond delay="0"/>
                                          </p:stCondLst>
                                        </p:cTn>
                                        <p:tgtEl>
                                          <p:spTgt spid="6147"/>
                                        </p:tgtEl>
                                        <p:attrNameLst>
                                          <p:attrName>ppt_x</p:attrName>
                                          <p:attrName>ppt_y</p:attrName>
                                        </p:attrNameLst>
                                      </p:cBhvr>
                                      <p:rCtr x="0" y="0"/>
                                    </p:animMotion>
                                    <p:animEffect transition="in" filter="fade">
                                      <p:cBhvr>
                                        <p:cTn id="13" dur="500"/>
                                        <p:tgtEl>
                                          <p:spTgt spid="6147"/>
                                        </p:tgtEl>
                                      </p:cBhvr>
                                    </p:animEffect>
                                  </p:childTnLst>
                                </p:cTn>
                              </p:par>
                            </p:childTnLst>
                          </p:cTn>
                        </p:par>
                        <p:par>
                          <p:cTn id="14" fill="hold">
                            <p:stCondLst>
                              <p:cond delay="1000"/>
                            </p:stCondLst>
                            <p:childTnLst>
                              <p:par>
                                <p:cTn id="15" presetID="52" presetClass="entr" presetSubtype="0" fill="hold" grpId="3" nodeType="afterEffect">
                                  <p:stCondLst>
                                    <p:cond delay="0"/>
                                  </p:stCondLst>
                                  <p:childTnLst>
                                    <p:set>
                                      <p:cBhvr>
                                        <p:cTn id="16" dur="1" fill="hold">
                                          <p:stCondLst>
                                            <p:cond delay="0"/>
                                          </p:stCondLst>
                                        </p:cTn>
                                        <p:tgtEl>
                                          <p:spTgt spid="6148"/>
                                        </p:tgtEl>
                                        <p:attrNameLst>
                                          <p:attrName>style.visibility</p:attrName>
                                        </p:attrNameLst>
                                      </p:cBhvr>
                                      <p:to>
                                        <p:strVal val="visible"/>
                                      </p:to>
                                    </p:set>
                                    <p:animScale>
                                      <p:cBhvr>
                                        <p:cTn id="17" dur="1000" decel="50000" fill="hold">
                                          <p:stCondLst>
                                            <p:cond delay="0"/>
                                          </p:stCondLst>
                                        </p:cTn>
                                        <p:tgtEl>
                                          <p:spTgt spid="61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8" dur="1000" decel="50000" fill="hold">
                                          <p:stCondLst>
                                            <p:cond delay="0"/>
                                          </p:stCondLst>
                                        </p:cTn>
                                        <p:tgtEl>
                                          <p:spTgt spid="6148"/>
                                        </p:tgtEl>
                                        <p:attrNameLst>
                                          <p:attrName>ppt_x</p:attrName>
                                          <p:attrName>ppt_y</p:attrName>
                                        </p:attrNameLst>
                                      </p:cBhvr>
                                      <p:rCtr x="0" y="0"/>
                                    </p:animMotion>
                                    <p:animEffect transition="in" filter="fade">
                                      <p:cBhvr>
                                        <p:cTn id="19" dur="1000"/>
                                        <p:tgtEl>
                                          <p:spTgt spid="6148"/>
                                        </p:tgtEl>
                                      </p:cBhvr>
                                    </p:animEffect>
                                  </p:childTnLst>
                                </p:cTn>
                              </p:par>
                            </p:childTnLst>
                          </p:cTn>
                        </p:par>
                        <p:par>
                          <p:cTn id="20" fill="hold">
                            <p:stCondLst>
                              <p:cond delay="2000"/>
                            </p:stCondLst>
                            <p:childTnLst>
                              <p:par>
                                <p:cTn id="21" presetID="52"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Scale>
                                      <p:cBhvr>
                                        <p:cTn id="23" dur="5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4" dur="500" decel="50000" fill="hold">
                                          <p:stCondLst>
                                            <p:cond delay="0"/>
                                          </p:stCondLst>
                                        </p:cTn>
                                        <p:tgtEl>
                                          <p:spTgt spid="20"/>
                                        </p:tgtEl>
                                        <p:attrNameLst>
                                          <p:attrName>ppt_x</p:attrName>
                                          <p:attrName>ppt_y</p:attrName>
                                        </p:attrNameLst>
                                      </p:cBhvr>
                                      <p:rCtr x="0" y="0"/>
                                    </p:animMotion>
                                    <p:animEffect transition="in" filter="fade">
                                      <p:cBhvr>
                                        <p:cTn id="25" dur="500"/>
                                        <p:tgtEl>
                                          <p:spTgt spid="20"/>
                                        </p:tgtEl>
                                      </p:cBhvr>
                                    </p:animEffect>
                                  </p:childTnLst>
                                </p:cTn>
                              </p:par>
                            </p:childTnLst>
                          </p:cTn>
                        </p:par>
                        <p:par>
                          <p:cTn id="26" fill="hold">
                            <p:stCondLst>
                              <p:cond delay="2500"/>
                            </p:stCondLst>
                            <p:childTnLst>
                              <p:par>
                                <p:cTn id="27" presetID="52" presetClass="entr" presetSubtype="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Scale>
                                      <p:cBhvr>
                                        <p:cTn id="29" dur="500" decel="50000" fill="hold">
                                          <p:stCondLst>
                                            <p:cond delay="0"/>
                                          </p:stCondLst>
                                        </p:cTn>
                                        <p:tgtEl>
                                          <p:spTgt spid="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500" decel="50000" fill="hold">
                                          <p:stCondLst>
                                            <p:cond delay="0"/>
                                          </p:stCondLst>
                                        </p:cTn>
                                        <p:tgtEl>
                                          <p:spTgt spid="25"/>
                                        </p:tgtEl>
                                        <p:attrNameLst>
                                          <p:attrName>ppt_x</p:attrName>
                                          <p:attrName>ppt_y</p:attrName>
                                        </p:attrNameLst>
                                      </p:cBhvr>
                                      <p:rCtr x="0" y="0"/>
                                    </p:animMotion>
                                    <p:animEffect transition="in" filter="fade">
                                      <p:cBhvr>
                                        <p:cTn id="31" dur="500"/>
                                        <p:tgtEl>
                                          <p:spTgt spid="25"/>
                                        </p:tgtEl>
                                      </p:cBhvr>
                                    </p:animEffect>
                                  </p:childTnLst>
                                </p:cTn>
                              </p:par>
                            </p:childTnLst>
                          </p:cTn>
                        </p:par>
                        <p:par>
                          <p:cTn id="32" fill="hold">
                            <p:stCondLst>
                              <p:cond delay="3000"/>
                            </p:stCondLst>
                            <p:childTnLst>
                              <p:par>
                                <p:cTn id="33" presetID="52" presetClass="entr" presetSubtype="0" fill="hold" nodeType="afterEffect">
                                  <p:stCondLst>
                                    <p:cond delay="0"/>
                                  </p:stCondLst>
                                  <p:childTnLst>
                                    <p:set>
                                      <p:cBhvr>
                                        <p:cTn id="34" dur="1" fill="hold">
                                          <p:stCondLst>
                                            <p:cond delay="0"/>
                                          </p:stCondLst>
                                        </p:cTn>
                                        <p:tgtEl>
                                          <p:spTgt spid="30"/>
                                        </p:tgtEl>
                                        <p:attrNameLst>
                                          <p:attrName>style.visibility</p:attrName>
                                        </p:attrNameLst>
                                      </p:cBhvr>
                                      <p:to>
                                        <p:strVal val="visible"/>
                                      </p:to>
                                    </p:set>
                                    <p:animScale>
                                      <p:cBhvr>
                                        <p:cTn id="35" dur="500" decel="50000" fill="hold">
                                          <p:stCondLst>
                                            <p:cond delay="0"/>
                                          </p:stCondLst>
                                        </p:cTn>
                                        <p:tgtEl>
                                          <p:spTgt spid="3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6" dur="500" decel="50000" fill="hold">
                                          <p:stCondLst>
                                            <p:cond delay="0"/>
                                          </p:stCondLst>
                                        </p:cTn>
                                        <p:tgtEl>
                                          <p:spTgt spid="30"/>
                                        </p:tgtEl>
                                        <p:attrNameLst>
                                          <p:attrName>ppt_x</p:attrName>
                                          <p:attrName>ppt_y</p:attrName>
                                        </p:attrNameLst>
                                      </p:cBhvr>
                                      <p:rCtr x="0" y="0"/>
                                    </p:animMotion>
                                    <p:animEffect transition="in" filter="fade">
                                      <p:cBhvr>
                                        <p:cTn id="37" dur="500"/>
                                        <p:tgtEl>
                                          <p:spTgt spid="30"/>
                                        </p:tgtEl>
                                      </p:cBhvr>
                                    </p:animEffect>
                                  </p:childTnLst>
                                </p:cTn>
                              </p:par>
                            </p:childTnLst>
                          </p:cTn>
                        </p:par>
                        <p:par>
                          <p:cTn id="38" fill="hold">
                            <p:stCondLst>
                              <p:cond delay="3500"/>
                            </p:stCondLst>
                            <p:childTnLst>
                              <p:par>
                                <p:cTn id="39" presetID="52" presetClass="entr" presetSubtype="0" fill="hold" nodeType="afterEffect">
                                  <p:stCondLst>
                                    <p:cond delay="0"/>
                                  </p:stCondLst>
                                  <p:childTnLst>
                                    <p:set>
                                      <p:cBhvr>
                                        <p:cTn id="40" dur="1" fill="hold">
                                          <p:stCondLst>
                                            <p:cond delay="0"/>
                                          </p:stCondLst>
                                        </p:cTn>
                                        <p:tgtEl>
                                          <p:spTgt spid="35"/>
                                        </p:tgtEl>
                                        <p:attrNameLst>
                                          <p:attrName>style.visibility</p:attrName>
                                        </p:attrNameLst>
                                      </p:cBhvr>
                                      <p:to>
                                        <p:strVal val="visible"/>
                                      </p:to>
                                    </p:set>
                                    <p:animScale>
                                      <p:cBhvr>
                                        <p:cTn id="41" dur="500" decel="50000" fill="hold">
                                          <p:stCondLst>
                                            <p:cond delay="0"/>
                                          </p:stCondLst>
                                        </p:cTn>
                                        <p:tgtEl>
                                          <p:spTgt spid="3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42" dur="500" decel="50000" fill="hold">
                                          <p:stCondLst>
                                            <p:cond delay="0"/>
                                          </p:stCondLst>
                                        </p:cTn>
                                        <p:tgtEl>
                                          <p:spTgt spid="35"/>
                                        </p:tgtEl>
                                        <p:attrNameLst>
                                          <p:attrName>ppt_x</p:attrName>
                                          <p:attrName>ppt_y</p:attrName>
                                        </p:attrNameLst>
                                      </p:cBhvr>
                                      <p:rCtr x="0" y="0"/>
                                    </p:animMotion>
                                    <p:animEffect transition="in" filter="fade">
                                      <p:cBhvr>
                                        <p:cTn id="43" dur="500"/>
                                        <p:tgtEl>
                                          <p:spTgt spid="35"/>
                                        </p:tgtEl>
                                      </p:cBhvr>
                                    </p:animEffect>
                                  </p:childTnLst>
                                </p:cTn>
                              </p:par>
                            </p:childTnLst>
                          </p:cTn>
                        </p:par>
                        <p:par>
                          <p:cTn id="44" fill="hold">
                            <p:stCondLst>
                              <p:cond delay="4000"/>
                            </p:stCondLst>
                            <p:childTnLst>
                              <p:par>
                                <p:cTn id="45" presetID="52" presetClass="entr" presetSubtype="0" fill="hold" nodeType="afterEffect">
                                  <p:stCondLst>
                                    <p:cond delay="0"/>
                                  </p:stCondLst>
                                  <p:childTnLst>
                                    <p:set>
                                      <p:cBhvr>
                                        <p:cTn id="46" dur="1" fill="hold">
                                          <p:stCondLst>
                                            <p:cond delay="0"/>
                                          </p:stCondLst>
                                        </p:cTn>
                                        <p:tgtEl>
                                          <p:spTgt spid="40"/>
                                        </p:tgtEl>
                                        <p:attrNameLst>
                                          <p:attrName>style.visibility</p:attrName>
                                        </p:attrNameLst>
                                      </p:cBhvr>
                                      <p:to>
                                        <p:strVal val="visible"/>
                                      </p:to>
                                    </p:set>
                                    <p:animScale>
                                      <p:cBhvr>
                                        <p:cTn id="47" dur="500" decel="50000" fill="hold">
                                          <p:stCondLst>
                                            <p:cond delay="0"/>
                                          </p:stCondLst>
                                        </p:cTn>
                                        <p:tgtEl>
                                          <p:spTgt spid="4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48" dur="500" decel="50000" fill="hold">
                                          <p:stCondLst>
                                            <p:cond delay="0"/>
                                          </p:stCondLst>
                                        </p:cTn>
                                        <p:tgtEl>
                                          <p:spTgt spid="40"/>
                                        </p:tgtEl>
                                        <p:attrNameLst>
                                          <p:attrName>ppt_x</p:attrName>
                                          <p:attrName>ppt_y</p:attrName>
                                        </p:attrNameLst>
                                      </p:cBhvr>
                                      <p:rCtr x="0" y="0"/>
                                    </p:animMotion>
                                    <p:animEffect transition="in" filter="fade">
                                      <p:cBhvr>
                                        <p:cTn id="49" dur="500"/>
                                        <p:tgtEl>
                                          <p:spTgt spid="40"/>
                                        </p:tgtEl>
                                      </p:cBhvr>
                                    </p:animEffect>
                                  </p:childTnLst>
                                </p:cTn>
                              </p:par>
                            </p:childTnLst>
                          </p:cTn>
                        </p:par>
                        <p:par>
                          <p:cTn id="50" fill="hold">
                            <p:stCondLst>
                              <p:cond delay="4500"/>
                            </p:stCondLst>
                            <p:childTnLst>
                              <p:par>
                                <p:cTn id="51" presetID="52" presetClass="entr" presetSubtype="0" fill="hold" nodeType="afterEffect">
                                  <p:stCondLst>
                                    <p:cond delay="0"/>
                                  </p:stCondLst>
                                  <p:childTnLst>
                                    <p:set>
                                      <p:cBhvr>
                                        <p:cTn id="52" dur="1" fill="hold">
                                          <p:stCondLst>
                                            <p:cond delay="0"/>
                                          </p:stCondLst>
                                        </p:cTn>
                                        <p:tgtEl>
                                          <p:spTgt spid="45"/>
                                        </p:tgtEl>
                                        <p:attrNameLst>
                                          <p:attrName>style.visibility</p:attrName>
                                        </p:attrNameLst>
                                      </p:cBhvr>
                                      <p:to>
                                        <p:strVal val="visible"/>
                                      </p:to>
                                    </p:set>
                                    <p:animScale>
                                      <p:cBhvr>
                                        <p:cTn id="53" dur="5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54" dur="500" decel="50000" fill="hold">
                                          <p:stCondLst>
                                            <p:cond delay="0"/>
                                          </p:stCondLst>
                                        </p:cTn>
                                        <p:tgtEl>
                                          <p:spTgt spid="45"/>
                                        </p:tgtEl>
                                        <p:attrNameLst>
                                          <p:attrName>ppt_x</p:attrName>
                                          <p:attrName>ppt_y</p:attrName>
                                        </p:attrNameLst>
                                      </p:cBhvr>
                                      <p:rCtr x="0" y="0"/>
                                    </p:animMotion>
                                    <p:animEffect transition="in" filter="fade">
                                      <p:cBhvr>
                                        <p:cTn id="55" dur="500"/>
                                        <p:tgtEl>
                                          <p:spTgt spid="45"/>
                                        </p:tgtEl>
                                      </p:cBhvr>
                                    </p:animEffect>
                                  </p:childTnLst>
                                </p:cTn>
                              </p:par>
                            </p:childTnLst>
                          </p:cTn>
                        </p:par>
                        <p:par>
                          <p:cTn id="56" fill="hold">
                            <p:stCondLst>
                              <p:cond delay="5000"/>
                            </p:stCondLst>
                            <p:childTnLst>
                              <p:par>
                                <p:cTn id="57" presetID="52" presetClass="entr" presetSubtype="0" fill="hold" nodeType="afterEffect">
                                  <p:stCondLst>
                                    <p:cond delay="0"/>
                                  </p:stCondLst>
                                  <p:childTnLst>
                                    <p:set>
                                      <p:cBhvr>
                                        <p:cTn id="58" dur="1" fill="hold">
                                          <p:stCondLst>
                                            <p:cond delay="0"/>
                                          </p:stCondLst>
                                        </p:cTn>
                                        <p:tgtEl>
                                          <p:spTgt spid="15"/>
                                        </p:tgtEl>
                                        <p:attrNameLst>
                                          <p:attrName>style.visibility</p:attrName>
                                        </p:attrNameLst>
                                      </p:cBhvr>
                                      <p:to>
                                        <p:strVal val="visible"/>
                                      </p:to>
                                    </p:set>
                                    <p:animScale>
                                      <p:cBhvr>
                                        <p:cTn id="59" dur="500" decel="50000" fill="hold">
                                          <p:stCondLst>
                                            <p:cond delay="0"/>
                                          </p:stCondLst>
                                        </p:cTn>
                                        <p:tgtEl>
                                          <p:spTgt spid="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60" dur="500" decel="50000" fill="hold">
                                          <p:stCondLst>
                                            <p:cond delay="0"/>
                                          </p:stCondLst>
                                        </p:cTn>
                                        <p:tgtEl>
                                          <p:spTgt spid="15"/>
                                        </p:tgtEl>
                                        <p:attrNameLst>
                                          <p:attrName>ppt_x</p:attrName>
                                          <p:attrName>ppt_y</p:attrName>
                                        </p:attrNameLst>
                                      </p:cBhvr>
                                      <p:rCtr x="0" y="0"/>
                                    </p:animMotion>
                                    <p:animEffect transition="in" filter="fade">
                                      <p:cBhvr>
                                        <p:cTn id="61" dur="500"/>
                                        <p:tgtEl>
                                          <p:spTgt spid="15"/>
                                        </p:tgtEl>
                                      </p:cBhvr>
                                    </p:animEffect>
                                  </p:childTnLst>
                                </p:cTn>
                              </p:par>
                            </p:childTnLst>
                          </p:cTn>
                        </p:par>
                        <p:par>
                          <p:cTn id="62" fill="hold">
                            <p:stCondLst>
                              <p:cond delay="5500"/>
                            </p:stCondLst>
                            <p:childTnLst>
                              <p:par>
                                <p:cTn id="63" presetID="52" presetClass="entr" presetSubtype="0" fill="hold" nodeType="afterEffect">
                                  <p:stCondLst>
                                    <p:cond delay="0"/>
                                  </p:stCondLst>
                                  <p:childTnLst>
                                    <p:set>
                                      <p:cBhvr>
                                        <p:cTn id="64" dur="1" fill="hold">
                                          <p:stCondLst>
                                            <p:cond delay="0"/>
                                          </p:stCondLst>
                                        </p:cTn>
                                        <p:tgtEl>
                                          <p:spTgt spid="10"/>
                                        </p:tgtEl>
                                        <p:attrNameLst>
                                          <p:attrName>style.visibility</p:attrName>
                                        </p:attrNameLst>
                                      </p:cBhvr>
                                      <p:to>
                                        <p:strVal val="visible"/>
                                      </p:to>
                                    </p:set>
                                    <p:animScale>
                                      <p:cBhvr>
                                        <p:cTn id="65" dur="5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66" dur="500" decel="50000" fill="hold">
                                          <p:stCondLst>
                                            <p:cond delay="0"/>
                                          </p:stCondLst>
                                        </p:cTn>
                                        <p:tgtEl>
                                          <p:spTgt spid="10"/>
                                        </p:tgtEl>
                                        <p:attrNameLst>
                                          <p:attrName>ppt_x</p:attrName>
                                          <p:attrName>ppt_y</p:attrName>
                                        </p:attrNameLst>
                                      </p:cBhvr>
                                      <p:rCtr x="0" y="0"/>
                                    </p:animMotion>
                                    <p:animEffect transition="in" filter="fade">
                                      <p:cBhvr>
                                        <p:cTn id="67" dur="500"/>
                                        <p:tgtEl>
                                          <p:spTgt spid="10"/>
                                        </p:tgtEl>
                                      </p:cBhvr>
                                    </p:animEffect>
                                  </p:childTnLst>
                                </p:cTn>
                              </p:par>
                            </p:childTnLst>
                          </p:cTn>
                        </p:par>
                        <p:par>
                          <p:cTn id="68" fill="hold">
                            <p:stCondLst>
                              <p:cond delay="6000"/>
                            </p:stCondLst>
                            <p:childTnLst>
                              <p:par>
                                <p:cTn id="69" presetID="52" presetClass="entr" presetSubtype="0" fill="hold" nodeType="afterEffect">
                                  <p:stCondLst>
                                    <p:cond delay="0"/>
                                  </p:stCondLst>
                                  <p:childTnLst>
                                    <p:set>
                                      <p:cBhvr>
                                        <p:cTn id="70" dur="1" fill="hold">
                                          <p:stCondLst>
                                            <p:cond delay="0"/>
                                          </p:stCondLst>
                                        </p:cTn>
                                        <p:tgtEl>
                                          <p:spTgt spid="4"/>
                                        </p:tgtEl>
                                        <p:attrNameLst>
                                          <p:attrName>style.visibility</p:attrName>
                                        </p:attrNameLst>
                                      </p:cBhvr>
                                      <p:to>
                                        <p:strVal val="visible"/>
                                      </p:to>
                                    </p:set>
                                    <p:animScale>
                                      <p:cBhvr>
                                        <p:cTn id="71" dur="5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72" dur="500" decel="50000" fill="hold">
                                          <p:stCondLst>
                                            <p:cond delay="0"/>
                                          </p:stCondLst>
                                        </p:cTn>
                                        <p:tgtEl>
                                          <p:spTgt spid="4"/>
                                        </p:tgtEl>
                                        <p:attrNameLst>
                                          <p:attrName>ppt_x</p:attrName>
                                          <p:attrName>ppt_y</p:attrName>
                                        </p:attrNameLst>
                                      </p:cBhvr>
                                      <p:rCtr x="0" y="0"/>
                                    </p:animMotion>
                                    <p:animEffect transition="in" filter="fade">
                                      <p:cBhvr>
                                        <p:cTn id="73" dur="500"/>
                                        <p:tgtEl>
                                          <p:spTgt spid="4"/>
                                        </p:tgtEl>
                                      </p:cBhvr>
                                    </p:animEffect>
                                  </p:childTnLst>
                                </p:cTn>
                              </p:par>
                            </p:childTnLst>
                          </p:cTn>
                        </p:par>
                        <p:par>
                          <p:cTn id="74" fill="hold">
                            <p:stCondLst>
                              <p:cond delay="6500"/>
                            </p:stCondLst>
                            <p:childTnLst>
                              <p:par>
                                <p:cTn id="75" presetID="52" presetClass="entr" presetSubtype="0" fill="hold" nodeType="afterEffect">
                                  <p:stCondLst>
                                    <p:cond delay="0"/>
                                  </p:stCondLst>
                                  <p:childTnLst>
                                    <p:set>
                                      <p:cBhvr>
                                        <p:cTn id="76" dur="1" fill="hold">
                                          <p:stCondLst>
                                            <p:cond delay="0"/>
                                          </p:stCondLst>
                                        </p:cTn>
                                        <p:tgtEl>
                                          <p:spTgt spid="2"/>
                                        </p:tgtEl>
                                        <p:attrNameLst>
                                          <p:attrName>style.visibility</p:attrName>
                                        </p:attrNameLst>
                                      </p:cBhvr>
                                      <p:to>
                                        <p:strVal val="visible"/>
                                      </p:to>
                                    </p:set>
                                    <p:animScale>
                                      <p:cBhvr>
                                        <p:cTn id="77" dur="5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78" dur="500" decel="50000" fill="hold">
                                          <p:stCondLst>
                                            <p:cond delay="0"/>
                                          </p:stCondLst>
                                        </p:cTn>
                                        <p:tgtEl>
                                          <p:spTgt spid="2"/>
                                        </p:tgtEl>
                                        <p:attrNameLst>
                                          <p:attrName>ppt_x</p:attrName>
                                          <p:attrName>ppt_y</p:attrName>
                                        </p:attrNameLst>
                                      </p:cBhvr>
                                      <p:rCtr x="0" y="0"/>
                                    </p:animMotion>
                                    <p:animEffect transition="in" filter="fade">
                                      <p:cBhvr>
                                        <p:cTn id="7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ldLvl="0" animBg="1"/>
      <p:bldP spid="6148" grpId="0" bldLvl="0"/>
      <p:bldP spid="6148" grpId="1" bldLvl="0"/>
      <p:bldP spid="6148" grpId="2" bldLvl="0"/>
      <p:bldP spid="6148" grpId="3" bldLvl="0" animBg="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p:cNvGrpSpPr/>
          <p:nvPr/>
        </p:nvGrpSpPr>
        <p:grpSpPr bwMode="auto">
          <a:xfrm>
            <a:off x="556895" y="1178878"/>
            <a:ext cx="517207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1．shell的特点</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pic>
        <p:nvPicPr>
          <p:cNvPr id="2050" name="Picture 2"/>
          <p:cNvPicPr>
            <a:picLocks noChangeAspect="1" noChangeArrowheads="1"/>
          </p:cNvPicPr>
          <p:nvPr/>
        </p:nvPicPr>
        <p:blipFill>
          <a:blip r:embed="rId2" cstate="print"/>
          <a:srcRect/>
          <a:stretch>
            <a:fillRect/>
          </a:stretch>
        </p:blipFill>
        <p:spPr bwMode="auto">
          <a:xfrm>
            <a:off x="666712" y="2143116"/>
            <a:ext cx="5976846" cy="3714776"/>
          </a:xfrm>
          <a:prstGeom prst="rect">
            <a:avLst/>
          </a:prstGeom>
          <a:noFill/>
          <a:ln w="9525">
            <a:noFill/>
            <a:miter lim="800000"/>
            <a:headEnd/>
            <a:tailEnd/>
          </a:ln>
          <a:effectLst/>
        </p:spPr>
      </p:pic>
      <p:grpSp>
        <p:nvGrpSpPr>
          <p:cNvPr id="2" name="组合 1"/>
          <p:cNvGrpSpPr/>
          <p:nvPr/>
        </p:nvGrpSpPr>
        <p:grpSpPr>
          <a:xfrm>
            <a:off x="7024694" y="1928802"/>
            <a:ext cx="4429156" cy="4214842"/>
            <a:chOff x="6810380" y="1785926"/>
            <a:chExt cx="4286280" cy="4071966"/>
          </a:xfrm>
        </p:grpSpPr>
        <p:sp>
          <p:nvSpPr>
            <p:cNvPr id="17" name="弦形 16"/>
            <p:cNvSpPr/>
            <p:nvPr/>
          </p:nvSpPr>
          <p:spPr>
            <a:xfrm>
              <a:off x="6810380" y="1785926"/>
              <a:ext cx="4286280" cy="4071966"/>
            </a:xfrm>
            <a:prstGeom prst="chord">
              <a:avLst>
                <a:gd name="adj1" fmla="val 310437"/>
                <a:gd name="adj2" fmla="val 306747"/>
              </a:avLst>
            </a:prstGeom>
            <a:solidFill>
              <a:srgbClr val="F0F0F0"/>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弦形 17"/>
            <p:cNvSpPr/>
            <p:nvPr/>
          </p:nvSpPr>
          <p:spPr>
            <a:xfrm>
              <a:off x="7024694" y="2000240"/>
              <a:ext cx="3867320" cy="3673954"/>
            </a:xfrm>
            <a:prstGeom prst="chord">
              <a:avLst>
                <a:gd name="adj1" fmla="val 1653967"/>
                <a:gd name="adj2" fmla="val 1538455"/>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19"/>
          <p:cNvSpPr/>
          <p:nvPr/>
        </p:nvSpPr>
        <p:spPr>
          <a:xfrm>
            <a:off x="7779397" y="2766371"/>
            <a:ext cx="2928958" cy="2468880"/>
          </a:xfrm>
          <a:prstGeom prst="rect">
            <a:avLst/>
          </a:prstGeom>
        </p:spPr>
        <p:txBody>
          <a:bodyPr wrap="square">
            <a:spAutoFit/>
          </a:bodyPr>
          <a:lstStyle/>
          <a:p>
            <a:pPr indent="457200" eaLnBrk="1" latinLnBrk="0" hangingPunct="1">
              <a:lnSpc>
                <a:spcPct val="130000"/>
              </a:lnSpc>
            </a:pPr>
            <a:r>
              <a:rPr lang="zh-CN" altLang="en-US" sz="2000" b="1" dirty="0">
                <a:solidFill>
                  <a:schemeClr val="bg1"/>
                </a:solidFill>
                <a:latin typeface="微软雅黑" panose="020B0503020204020204" pitchFamily="34" charset="-122"/>
                <a:ea typeface="微软雅黑" panose="020B0503020204020204" pitchFamily="34" charset="-122"/>
                <a:sym typeface="+mn-ea"/>
              </a:rPr>
              <a:t>Linux系统为用户提供了shell高级程序设计语言，大大方便了管理人员对系统的维护和普通用户的应用开发，提高了编程效率。</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p:cTn id="11" dur="500" fill="hold"/>
                                        <p:tgtEl>
                                          <p:spTgt spid="2050"/>
                                        </p:tgtEl>
                                        <p:attrNameLst>
                                          <p:attrName>ppt_w</p:attrName>
                                        </p:attrNameLst>
                                      </p:cBhvr>
                                      <p:tavLst>
                                        <p:tav tm="0">
                                          <p:val>
                                            <p:fltVal val="0"/>
                                          </p:val>
                                        </p:tav>
                                        <p:tav tm="100000">
                                          <p:val>
                                            <p:strVal val="#ppt_w"/>
                                          </p:val>
                                        </p:tav>
                                      </p:tavLst>
                                    </p:anim>
                                    <p:anim calcmode="lin" valueType="num">
                                      <p:cBhvr>
                                        <p:cTn id="12" dur="500" fill="hold"/>
                                        <p:tgtEl>
                                          <p:spTgt spid="2050"/>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31" presetClass="entr" presetSubtype="0" fill="hold" nodeType="afterEffect">
                                  <p:stCondLst>
                                    <p:cond delay="0"/>
                                  </p:stCondLst>
                                  <p:iterate type="lt">
                                    <p:tmPct val="5000"/>
                                  </p:iterate>
                                  <p:childTnLst>
                                    <p:set>
                                      <p:cBhvr>
                                        <p:cTn id="15" dur="1" fill="hold">
                                          <p:stCondLst>
                                            <p:cond delay="0"/>
                                          </p:stCondLst>
                                        </p:cTn>
                                        <p:tgtEl>
                                          <p:spTgt spid="2"/>
                                        </p:tgtEl>
                                        <p:attrNameLst>
                                          <p:attrName>style.visibility</p:attrName>
                                        </p:attrNameLst>
                                      </p:cBhvr>
                                      <p:to>
                                        <p:strVal val="visible"/>
                                      </p:to>
                                    </p:set>
                                    <p:anim calcmode="lin" valueType="num">
                                      <p:cBhvr>
                                        <p:cTn id="16" dur="1000" fill="hold"/>
                                        <p:tgtEl>
                                          <p:spTgt spid="2"/>
                                        </p:tgtEl>
                                        <p:attrNameLst>
                                          <p:attrName>ppt_w</p:attrName>
                                        </p:attrNameLst>
                                      </p:cBhvr>
                                      <p:tavLst>
                                        <p:tav tm="0">
                                          <p:val>
                                            <p:fltVal val="0"/>
                                          </p:val>
                                        </p:tav>
                                        <p:tav tm="100000">
                                          <p:val>
                                            <p:strVal val="#ppt_w"/>
                                          </p:val>
                                        </p:tav>
                                      </p:tavLst>
                                    </p:anim>
                                    <p:anim calcmode="lin" valueType="num">
                                      <p:cBhvr>
                                        <p:cTn id="17" dur="1000" fill="hold"/>
                                        <p:tgtEl>
                                          <p:spTgt spid="2"/>
                                        </p:tgtEl>
                                        <p:attrNameLst>
                                          <p:attrName>ppt_h</p:attrName>
                                        </p:attrNameLst>
                                      </p:cBhvr>
                                      <p:tavLst>
                                        <p:tav tm="0">
                                          <p:val>
                                            <p:fltVal val="0"/>
                                          </p:val>
                                        </p:tav>
                                        <p:tav tm="100000">
                                          <p:val>
                                            <p:strVal val="#ppt_h"/>
                                          </p:val>
                                        </p:tav>
                                      </p:tavLst>
                                    </p:anim>
                                    <p:anim calcmode="lin" valueType="num">
                                      <p:cBhvr>
                                        <p:cTn id="18" dur="1000" fill="hold"/>
                                        <p:tgtEl>
                                          <p:spTgt spid="2"/>
                                        </p:tgtEl>
                                        <p:attrNameLst>
                                          <p:attrName>style.rotation</p:attrName>
                                        </p:attrNameLst>
                                      </p:cBhvr>
                                      <p:tavLst>
                                        <p:tav tm="0">
                                          <p:val>
                                            <p:fltVal val="90"/>
                                          </p:val>
                                        </p:tav>
                                        <p:tav tm="100000">
                                          <p:val>
                                            <p:fltVal val="0"/>
                                          </p:val>
                                        </p:tav>
                                      </p:tavLst>
                                    </p:anim>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4" name="直接连接符 133"/>
          <p:cNvCxnSpPr/>
          <p:nvPr/>
        </p:nvCxnSpPr>
        <p:spPr>
          <a:xfrm>
            <a:off x="605436" y="1712582"/>
            <a:ext cx="2643206" cy="1588"/>
          </a:xfrm>
          <a:prstGeom prst="line">
            <a:avLst/>
          </a:prstGeom>
        </p:spPr>
        <p:style>
          <a:lnRef idx="1">
            <a:schemeClr val="accent6"/>
          </a:lnRef>
          <a:fillRef idx="0">
            <a:schemeClr val="accent6"/>
          </a:fillRef>
          <a:effectRef idx="0">
            <a:schemeClr val="accent6"/>
          </a:effectRef>
          <a:fontRef idx="minor">
            <a:schemeClr val="tx1"/>
          </a:fontRef>
        </p:style>
      </p:cxnSp>
      <p:grpSp>
        <p:nvGrpSpPr>
          <p:cNvPr id="135" name="组合 134"/>
          <p:cNvGrpSpPr/>
          <p:nvPr/>
        </p:nvGrpSpPr>
        <p:grpSpPr>
          <a:xfrm>
            <a:off x="2404393" y="3364232"/>
            <a:ext cx="3071834" cy="3086106"/>
            <a:chOff x="-91303" y="3174230"/>
            <a:chExt cx="3071834" cy="3086106"/>
          </a:xfrm>
        </p:grpSpPr>
        <p:grpSp>
          <p:nvGrpSpPr>
            <p:cNvPr id="136" name="组合 16"/>
            <p:cNvGrpSpPr/>
            <p:nvPr/>
          </p:nvGrpSpPr>
          <p:grpSpPr>
            <a:xfrm>
              <a:off x="-91303" y="3174230"/>
              <a:ext cx="3071834" cy="3086106"/>
              <a:chOff x="-91303" y="3174230"/>
              <a:chExt cx="3071834" cy="3086106"/>
            </a:xfrm>
          </p:grpSpPr>
          <p:grpSp>
            <p:nvGrpSpPr>
              <p:cNvPr id="137" name="Group 19"/>
              <p:cNvGrpSpPr/>
              <p:nvPr/>
            </p:nvGrpSpPr>
            <p:grpSpPr bwMode="auto">
              <a:xfrm>
                <a:off x="2202656" y="3174230"/>
                <a:ext cx="777875" cy="758826"/>
                <a:chOff x="2341" y="1703"/>
                <a:chExt cx="1242" cy="1216"/>
              </a:xfrm>
              <a:solidFill>
                <a:schemeClr val="accent6">
                  <a:lumMod val="75000"/>
                </a:schemeClr>
              </a:solidFill>
            </p:grpSpPr>
            <p:grpSp>
              <p:nvGrpSpPr>
                <p:cNvPr id="138" name="Group 20"/>
                <p:cNvGrpSpPr/>
                <p:nvPr/>
              </p:nvGrpSpPr>
              <p:grpSpPr bwMode="auto">
                <a:xfrm>
                  <a:off x="2341" y="1703"/>
                  <a:ext cx="1242" cy="1216"/>
                  <a:chOff x="2341" y="1703"/>
                  <a:chExt cx="1242" cy="1216"/>
                </a:xfrm>
                <a:grpFill/>
              </p:grpSpPr>
              <p:sp>
                <p:nvSpPr>
                  <p:cNvPr id="139" name="Oval 21"/>
                  <p:cNvSpPr>
                    <a:spLocks noChangeArrowheads="1"/>
                  </p:cNvSpPr>
                  <p:nvPr/>
                </p:nvSpPr>
                <p:spPr bwMode="gray">
                  <a:xfrm>
                    <a:off x="2341" y="1703"/>
                    <a:ext cx="1242" cy="1216"/>
                  </a:xfrm>
                  <a:prstGeom prst="ellipse">
                    <a:avLst/>
                  </a:prstGeom>
                  <a:grpFill/>
                  <a:ln w="28575" algn="ctr">
                    <a:solidFill>
                      <a:srgbClr val="C0C0C0"/>
                    </a:solidFill>
                    <a:round/>
                  </a:ln>
                  <a:effectLst/>
                </p:spPr>
                <p:txBody>
                  <a:bodyPr vert="eaVert" wrap="none" anchor="ctr"/>
                  <a:lstStyle/>
                  <a:p>
                    <a:pPr>
                      <a:defRPr/>
                    </a:pPr>
                    <a:endParaRPr lang="zh-CN" altLang="en-US">
                      <a:solidFill>
                        <a:prstClr val="black"/>
                      </a:solidFill>
                    </a:endParaRPr>
                  </a:p>
                </p:txBody>
              </p:sp>
              <p:sp>
                <p:nvSpPr>
                  <p:cNvPr id="140" name="Freeform 22"/>
                  <p:cNvSpPr/>
                  <p:nvPr/>
                </p:nvSpPr>
                <p:spPr bwMode="auto">
                  <a:xfrm rot="5400000">
                    <a:off x="2741" y="1375"/>
                    <a:ext cx="458" cy="1136"/>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141" name="Freeform 23"/>
                <p:cNvSpPr/>
                <p:nvPr/>
              </p:nvSpPr>
              <p:spPr bwMode="auto">
                <a:xfrm rot="-18000000">
                  <a:off x="3064" y="2263"/>
                  <a:ext cx="194" cy="758"/>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142" name="Line 2"/>
              <p:cNvSpPr>
                <a:spLocks noChangeShapeType="1"/>
              </p:cNvSpPr>
              <p:nvPr/>
            </p:nvSpPr>
            <p:spPr bwMode="auto">
              <a:xfrm rot="5400000" flipH="1">
                <a:off x="1568585" y="4977171"/>
                <a:ext cx="2088231" cy="0"/>
              </a:xfrm>
              <a:prstGeom prst="line">
                <a:avLst/>
              </a:prstGeom>
              <a:noFill/>
              <a:ln w="19050">
                <a:solidFill>
                  <a:srgbClr val="808080"/>
                </a:solidFill>
                <a:round/>
              </a:ln>
            </p:spPr>
            <p:txBody>
              <a:bodyPr/>
              <a:lstStyle/>
              <a:p>
                <a:endParaRPr lang="zh-CN" altLang="en-US">
                  <a:solidFill>
                    <a:prstClr val="black"/>
                  </a:solidFill>
                </a:endParaRPr>
              </a:p>
            </p:txBody>
          </p:sp>
          <p:sp>
            <p:nvSpPr>
              <p:cNvPr id="143" name="Rectangle 41"/>
              <p:cNvSpPr>
                <a:spLocks noChangeArrowheads="1"/>
              </p:cNvSpPr>
              <p:nvPr/>
            </p:nvSpPr>
            <p:spPr bwMode="auto">
              <a:xfrm>
                <a:off x="-91303" y="4031486"/>
                <a:ext cx="2712601" cy="2228850"/>
              </a:xfrm>
              <a:prstGeom prst="rect">
                <a:avLst/>
              </a:prstGeom>
              <a:noFill/>
              <a:ln w="9525" algn="ctr">
                <a:noFill/>
                <a:miter lim="800000"/>
              </a:ln>
            </p:spPr>
            <p:txBody>
              <a:bodyPr wrap="square">
                <a:spAutoFit/>
              </a:bodyPr>
              <a:lstStyle/>
              <a:p>
                <a:pPr>
                  <a:lnSpc>
                    <a:spcPct val="130000"/>
                  </a:lnSpc>
                </a:pPr>
                <a:r>
                  <a:rPr lang="zh-CN" altLang="en-US" sz="1600" b="1" dirty="0">
                    <a:solidFill>
                      <a:schemeClr val="accent6"/>
                    </a:solidFill>
                    <a:latin typeface="微软雅黑" panose="020B0503020204020204" pitchFamily="34" charset="-122"/>
                    <a:ea typeface="微软雅黑" panose="020B0503020204020204" pitchFamily="34" charset="-122"/>
                  </a:rPr>
                  <a:t>（</a:t>
                </a:r>
                <a:r>
                  <a:rPr lang="en-US" altLang="zh-CN" sz="1600" b="1" dirty="0">
                    <a:solidFill>
                      <a:schemeClr val="accent6"/>
                    </a:solidFill>
                    <a:latin typeface="微软雅黑" panose="020B0503020204020204" pitchFamily="34" charset="-122"/>
                    <a:ea typeface="微软雅黑" panose="020B0503020204020204" pitchFamily="34" charset="-122"/>
                  </a:rPr>
                  <a:t>2</a:t>
                </a:r>
                <a:r>
                  <a:rPr lang="zh-CN" altLang="en-US" sz="1600" b="1" dirty="0">
                    <a:solidFill>
                      <a:schemeClr val="accent6"/>
                    </a:solidFill>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mn-cs"/>
                    <a:sym typeface="+mn-ea"/>
                  </a:rPr>
                  <a:t>提供了</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文件名扩展字符</a:t>
                </a:r>
                <a:r>
                  <a:rPr lang="zh-CN" altLang="en-US" sz="1800" dirty="0">
                    <a:latin typeface="微软雅黑" panose="020B0503020204020204" pitchFamily="34" charset="-122"/>
                    <a:ea typeface="微软雅黑" panose="020B0503020204020204" pitchFamily="34" charset="-122"/>
                    <a:cs typeface="+mn-cs"/>
                    <a:sym typeface="+mn-ea"/>
                  </a:rPr>
                  <a:t>（通配符，如*，?，[]），使得用单一的字符串可以匹配多个文件名，省去了键入一长串文件名的麻烦。</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endParaRPr>
              </a:p>
            </p:txBody>
          </p:sp>
          <p:sp>
            <p:nvSpPr>
              <p:cNvPr id="144" name="Line 30"/>
              <p:cNvSpPr>
                <a:spLocks noChangeShapeType="1"/>
              </p:cNvSpPr>
              <p:nvPr/>
            </p:nvSpPr>
            <p:spPr bwMode="auto">
              <a:xfrm flipH="1">
                <a:off x="1408895" y="3573016"/>
                <a:ext cx="614362"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grpSp>
        <p:sp>
          <p:nvSpPr>
            <p:cNvPr id="145" name="WordArt 36"/>
            <p:cNvSpPr>
              <a:spLocks noChangeArrowheads="1" noChangeShapeType="1" noTextEdit="1"/>
            </p:cNvSpPr>
            <p:nvPr/>
          </p:nvSpPr>
          <p:spPr bwMode="auto">
            <a:xfrm>
              <a:off x="2470154" y="3363590"/>
              <a:ext cx="244475"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2</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grpSp>
      <p:grpSp>
        <p:nvGrpSpPr>
          <p:cNvPr id="146" name="组合 145"/>
          <p:cNvGrpSpPr/>
          <p:nvPr/>
        </p:nvGrpSpPr>
        <p:grpSpPr>
          <a:xfrm>
            <a:off x="5619103" y="1311898"/>
            <a:ext cx="6169025" cy="2782128"/>
            <a:chOff x="2618231" y="1150928"/>
            <a:chExt cx="6169025" cy="2782128"/>
          </a:xfrm>
        </p:grpSpPr>
        <p:grpSp>
          <p:nvGrpSpPr>
            <p:cNvPr id="147" name="Group 14"/>
            <p:cNvGrpSpPr/>
            <p:nvPr/>
          </p:nvGrpSpPr>
          <p:grpSpPr bwMode="auto">
            <a:xfrm>
              <a:off x="3514729" y="3174231"/>
              <a:ext cx="777875" cy="758825"/>
              <a:chOff x="2341" y="1703"/>
              <a:chExt cx="1242" cy="1216"/>
            </a:xfrm>
            <a:solidFill>
              <a:srgbClr val="00B0F0"/>
            </a:solidFill>
          </p:grpSpPr>
          <p:grpSp>
            <p:nvGrpSpPr>
              <p:cNvPr id="148" name="Group 15"/>
              <p:cNvGrpSpPr/>
              <p:nvPr/>
            </p:nvGrpSpPr>
            <p:grpSpPr bwMode="auto">
              <a:xfrm>
                <a:off x="2341" y="1703"/>
                <a:ext cx="1242" cy="1216"/>
                <a:chOff x="2341" y="1703"/>
                <a:chExt cx="1242" cy="1216"/>
              </a:xfrm>
              <a:grpFill/>
            </p:grpSpPr>
            <p:sp>
              <p:nvSpPr>
                <p:cNvPr id="149" name="Oval 16"/>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50" name="Freeform 17"/>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51" name="Freeform 18"/>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52" name="Line 30"/>
            <p:cNvSpPr>
              <a:spLocks noChangeShapeType="1"/>
            </p:cNvSpPr>
            <p:nvPr/>
          </p:nvSpPr>
          <p:spPr bwMode="auto">
            <a:xfrm flipH="1">
              <a:off x="2618231" y="3573016"/>
              <a:ext cx="614362"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153" name="WordArt 33"/>
            <p:cNvSpPr>
              <a:spLocks noChangeArrowheads="1" noChangeShapeType="1" noTextEdit="1"/>
            </p:cNvSpPr>
            <p:nvPr/>
          </p:nvSpPr>
          <p:spPr bwMode="auto">
            <a:xfrm>
              <a:off x="3711575" y="3363590"/>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3</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sp>
          <p:nvSpPr>
            <p:cNvPr id="154" name="Line 39"/>
            <p:cNvSpPr>
              <a:spLocks noChangeShapeType="1"/>
            </p:cNvSpPr>
            <p:nvPr/>
          </p:nvSpPr>
          <p:spPr bwMode="auto">
            <a:xfrm rot="5400000" flipH="1">
              <a:off x="2930424" y="2212456"/>
              <a:ext cx="1933779" cy="0"/>
            </a:xfrm>
            <a:prstGeom prst="line">
              <a:avLst/>
            </a:prstGeom>
            <a:noFill/>
            <a:ln w="19050">
              <a:solidFill>
                <a:srgbClr val="808080"/>
              </a:solidFill>
              <a:round/>
            </a:ln>
          </p:spPr>
          <p:txBody>
            <a:bodyPr/>
            <a:lstStyle/>
            <a:p>
              <a:endParaRPr lang="zh-CN" altLang="en-US">
                <a:solidFill>
                  <a:prstClr val="black"/>
                </a:solidFill>
              </a:endParaRPr>
            </a:p>
          </p:txBody>
        </p:sp>
        <p:sp>
          <p:nvSpPr>
            <p:cNvPr id="155" name="Rectangle 40"/>
            <p:cNvSpPr>
              <a:spLocks noChangeArrowheads="1"/>
            </p:cNvSpPr>
            <p:nvPr/>
          </p:nvSpPr>
          <p:spPr bwMode="auto">
            <a:xfrm>
              <a:off x="3897121" y="1150928"/>
              <a:ext cx="4890135" cy="2032000"/>
            </a:xfrm>
            <a:prstGeom prst="rect">
              <a:avLst/>
            </a:prstGeom>
            <a:noFill/>
            <a:ln w="9525" algn="ctr">
              <a:noFill/>
              <a:miter lim="800000"/>
            </a:ln>
          </p:spPr>
          <p:txBody>
            <a:bodyPr wrap="square">
              <a:spAutoFit/>
            </a:bodyPr>
            <a:lstStyle/>
            <a:p>
              <a:pPr indent="0" eaLnBrk="1" fontAlgn="auto" latinLnBrk="0" hangingPunct="1">
                <a:lnSpc>
                  <a:spcPct val="130000"/>
                </a:lnSpc>
                <a:buFont typeface="Arial" panose="020B0604020202020204" pitchFamily="34" charset="0"/>
                <a:buNone/>
                <a:defRPr/>
              </a:pPr>
              <a:r>
                <a:rPr lang="zh-CN" altLang="en-US" sz="1800" b="1" dirty="0">
                  <a:solidFill>
                    <a:srgbClr val="00B0F0"/>
                  </a:solidFill>
                  <a:latin typeface="微软雅黑" panose="020B0503020204020204" pitchFamily="34" charset="-122"/>
                  <a:ea typeface="微软雅黑" panose="020B0503020204020204" pitchFamily="34" charset="-122"/>
                </a:rPr>
                <a:t>（</a:t>
              </a:r>
              <a:r>
                <a:rPr lang="en-US" altLang="zh-CN" sz="1800" b="1" dirty="0">
                  <a:solidFill>
                    <a:srgbClr val="00B0F0"/>
                  </a:solidFill>
                  <a:latin typeface="微软雅黑" panose="020B0503020204020204" pitchFamily="34" charset="-122"/>
                  <a:ea typeface="微软雅黑" panose="020B0503020204020204" pitchFamily="34" charset="-122"/>
                </a:rPr>
                <a:t>3</a:t>
              </a:r>
              <a:r>
                <a:rPr lang="zh-CN" altLang="en-US" sz="1800" b="1" dirty="0">
                  <a:solidFill>
                    <a:srgbClr val="00B0F0"/>
                  </a:solidFill>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mn-cs"/>
                  <a:sym typeface="+mn-ea"/>
                </a:rPr>
                <a:t>可以直接使用shell的</a:t>
              </a: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内置命令</a:t>
              </a:r>
              <a:r>
                <a:rPr lang="zh-CN" altLang="en-US" sz="1600" dirty="0">
                  <a:latin typeface="微软雅黑" panose="020B0503020204020204" pitchFamily="34" charset="-122"/>
                  <a:ea typeface="微软雅黑" panose="020B0503020204020204" pitchFamily="34" charset="-122"/>
                  <a:cs typeface="+mn-cs"/>
                  <a:sym typeface="+mn-ea"/>
                </a:rPr>
                <a:t>，而不需创建新的进程，如shell中提供的cd、help、kill、pwd、echo、alias、unalias、bg、fg、exit、export、fc、read、readonly等命令。为防止因某些shell不支持这类命令而出现麻烦，许多命令都提供了对应的二进制代码，从而也可以在新进程中运算。</a:t>
              </a:r>
              <a:endPar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156" name="组合 155"/>
          <p:cNvGrpSpPr/>
          <p:nvPr/>
        </p:nvGrpSpPr>
        <p:grpSpPr>
          <a:xfrm>
            <a:off x="5839685" y="3335202"/>
            <a:ext cx="3279880" cy="2977110"/>
            <a:chOff x="2371624" y="3174231"/>
            <a:chExt cx="3279880" cy="2977110"/>
          </a:xfrm>
        </p:grpSpPr>
        <p:grpSp>
          <p:nvGrpSpPr>
            <p:cNvPr id="157" name="Group 9"/>
            <p:cNvGrpSpPr/>
            <p:nvPr/>
          </p:nvGrpSpPr>
          <p:grpSpPr bwMode="auto">
            <a:xfrm>
              <a:off x="4873629" y="3174231"/>
              <a:ext cx="777875" cy="758825"/>
              <a:chOff x="2341" y="1703"/>
              <a:chExt cx="1242" cy="1216"/>
            </a:xfrm>
            <a:solidFill>
              <a:srgbClr val="FFC000"/>
            </a:solidFill>
          </p:grpSpPr>
          <p:grpSp>
            <p:nvGrpSpPr>
              <p:cNvPr id="158" name="Group 10"/>
              <p:cNvGrpSpPr/>
              <p:nvPr/>
            </p:nvGrpSpPr>
            <p:grpSpPr bwMode="auto">
              <a:xfrm>
                <a:off x="2341" y="1703"/>
                <a:ext cx="1242" cy="1216"/>
                <a:chOff x="2341" y="1703"/>
                <a:chExt cx="1242" cy="1216"/>
              </a:xfrm>
              <a:grpFill/>
            </p:grpSpPr>
            <p:sp>
              <p:nvSpPr>
                <p:cNvPr id="159" name="Oval 11"/>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60" name="Freeform 12"/>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61" name="Freeform 13"/>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62" name="Line 31"/>
            <p:cNvSpPr>
              <a:spLocks noChangeShapeType="1"/>
            </p:cNvSpPr>
            <p:nvPr/>
          </p:nvSpPr>
          <p:spPr bwMode="auto">
            <a:xfrm flipH="1">
              <a:off x="3952784" y="3573016"/>
              <a:ext cx="652463"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163" name="WordArt 34"/>
            <p:cNvSpPr>
              <a:spLocks noChangeArrowheads="1" noChangeShapeType="1" noTextEdit="1"/>
            </p:cNvSpPr>
            <p:nvPr/>
          </p:nvSpPr>
          <p:spPr bwMode="auto">
            <a:xfrm>
              <a:off x="5055096" y="3363590"/>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4</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sp>
          <p:nvSpPr>
            <p:cNvPr id="164" name="Rectangle 43"/>
            <p:cNvSpPr>
              <a:spLocks noChangeArrowheads="1"/>
            </p:cNvSpPr>
            <p:nvPr/>
          </p:nvSpPr>
          <p:spPr bwMode="auto">
            <a:xfrm>
              <a:off x="2371624" y="4099021"/>
              <a:ext cx="2696618" cy="2052320"/>
            </a:xfrm>
            <a:prstGeom prst="rect">
              <a:avLst/>
            </a:prstGeom>
            <a:noFill/>
            <a:ln w="9525" algn="ctr">
              <a:noFill/>
              <a:miter lim="800000"/>
            </a:ln>
          </p:spPr>
          <p:txBody>
            <a:bodyPr wrap="square">
              <a:spAutoFit/>
            </a:bodyPr>
            <a:lstStyle/>
            <a:p>
              <a:pPr>
                <a:lnSpc>
                  <a:spcPct val="140000"/>
                </a:lnSpc>
                <a:spcBef>
                  <a:spcPts val="1200"/>
                </a:spcBef>
                <a:spcAft>
                  <a:spcPts val="1200"/>
                </a:spcAft>
              </a:pPr>
              <a:r>
                <a:rPr lang="zh-CN" altLang="en-US" sz="2000" b="1" dirty="0">
                  <a:solidFill>
                    <a:srgbClr val="FFC000"/>
                  </a:solidFill>
                  <a:latin typeface="微软雅黑" panose="020B0503020204020204" pitchFamily="34" charset="-122"/>
                  <a:ea typeface="微软雅黑" panose="020B0503020204020204" pitchFamily="34" charset="-122"/>
                </a:rPr>
                <a:t>（</a:t>
              </a:r>
              <a:r>
                <a:rPr lang="en-US" altLang="zh-CN" sz="2000" b="1" dirty="0">
                  <a:solidFill>
                    <a:srgbClr val="FFC000"/>
                  </a:solidFill>
                  <a:latin typeface="微软雅黑" panose="020B0503020204020204" pitchFamily="34" charset="-122"/>
                  <a:ea typeface="微软雅黑" panose="020B0503020204020204" pitchFamily="34" charset="-122"/>
                </a:rPr>
                <a:t>4</a:t>
              </a:r>
              <a:r>
                <a:rPr lang="zh-CN" altLang="en-US" sz="2000" b="1" dirty="0">
                  <a:solidFill>
                    <a:srgbClr val="FFC000"/>
                  </a:solidFill>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mn-cs"/>
                  <a:sym typeface="+mn-ea"/>
                </a:rPr>
                <a:t>允许灵活地使用</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数据流</a:t>
              </a:r>
              <a:r>
                <a:rPr lang="zh-CN" altLang="en-US" sz="1800" dirty="0">
                  <a:latin typeface="微软雅黑" panose="020B0503020204020204" pitchFamily="34" charset="-122"/>
                  <a:ea typeface="微软雅黑" panose="020B0503020204020204" pitchFamily="34" charset="-122"/>
                  <a:cs typeface="+mn-cs"/>
                  <a:sym typeface="+mn-ea"/>
                </a:rPr>
                <a:t>，提供通配符、输入输出重定向、管道线等机制，方便了模式匹配、I/O处理及数据传输。</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endParaRPr>
            </a:p>
          </p:txBody>
        </p:sp>
        <p:sp>
          <p:nvSpPr>
            <p:cNvPr id="165" name="Line 2"/>
            <p:cNvSpPr>
              <a:spLocks noChangeShapeType="1"/>
            </p:cNvSpPr>
            <p:nvPr/>
          </p:nvSpPr>
          <p:spPr bwMode="auto">
            <a:xfrm rot="5400000" flipH="1">
              <a:off x="4179927" y="4973201"/>
              <a:ext cx="2088232" cy="7941"/>
            </a:xfrm>
            <a:prstGeom prst="line">
              <a:avLst/>
            </a:prstGeom>
            <a:noFill/>
            <a:ln w="19050">
              <a:solidFill>
                <a:srgbClr val="808080"/>
              </a:solidFill>
              <a:round/>
            </a:ln>
          </p:spPr>
          <p:txBody>
            <a:bodyPr/>
            <a:lstStyle/>
            <a:p>
              <a:endParaRPr lang="zh-CN" altLang="en-US">
                <a:solidFill>
                  <a:prstClr val="black"/>
                </a:solidFill>
              </a:endParaRPr>
            </a:p>
          </p:txBody>
        </p:sp>
      </p:grpSp>
      <p:grpSp>
        <p:nvGrpSpPr>
          <p:cNvPr id="186" name="组合 185"/>
          <p:cNvGrpSpPr/>
          <p:nvPr/>
        </p:nvGrpSpPr>
        <p:grpSpPr>
          <a:xfrm>
            <a:off x="2985721" y="1382536"/>
            <a:ext cx="3133448" cy="2711490"/>
            <a:chOff x="974829" y="1221566"/>
            <a:chExt cx="3133448" cy="2711490"/>
          </a:xfrm>
        </p:grpSpPr>
        <p:grpSp>
          <p:nvGrpSpPr>
            <p:cNvPr id="187" name="组合 78"/>
            <p:cNvGrpSpPr/>
            <p:nvPr/>
          </p:nvGrpSpPr>
          <p:grpSpPr>
            <a:xfrm>
              <a:off x="974829" y="1221566"/>
              <a:ext cx="3133448" cy="2711490"/>
              <a:chOff x="974829" y="1221566"/>
              <a:chExt cx="3133448" cy="2711490"/>
            </a:xfrm>
          </p:grpSpPr>
          <p:grpSp>
            <p:nvGrpSpPr>
              <p:cNvPr id="188" name="Group 19"/>
              <p:cNvGrpSpPr/>
              <p:nvPr/>
            </p:nvGrpSpPr>
            <p:grpSpPr bwMode="auto">
              <a:xfrm>
                <a:off x="974829" y="3174231"/>
                <a:ext cx="777875" cy="758825"/>
                <a:chOff x="2341" y="1703"/>
                <a:chExt cx="1242" cy="1216"/>
              </a:xfrm>
              <a:solidFill>
                <a:srgbClr val="99CC00"/>
              </a:solidFill>
            </p:grpSpPr>
            <p:grpSp>
              <p:nvGrpSpPr>
                <p:cNvPr id="189" name="Group 20"/>
                <p:cNvGrpSpPr/>
                <p:nvPr/>
              </p:nvGrpSpPr>
              <p:grpSpPr bwMode="auto">
                <a:xfrm>
                  <a:off x="2341" y="1703"/>
                  <a:ext cx="1242" cy="1216"/>
                  <a:chOff x="2341" y="1703"/>
                  <a:chExt cx="1242" cy="1216"/>
                </a:xfrm>
                <a:grpFill/>
              </p:grpSpPr>
              <p:sp>
                <p:nvSpPr>
                  <p:cNvPr id="190" name="Oval 21"/>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91" name="Freeform 22"/>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92" name="Freeform 23"/>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93" name="Rectangle 38"/>
              <p:cNvSpPr>
                <a:spLocks noChangeArrowheads="1"/>
              </p:cNvSpPr>
              <p:nvPr/>
            </p:nvSpPr>
            <p:spPr bwMode="auto">
              <a:xfrm>
                <a:off x="1391866" y="1221566"/>
                <a:ext cx="2716411" cy="1676400"/>
              </a:xfrm>
              <a:prstGeom prst="rect">
                <a:avLst/>
              </a:prstGeom>
              <a:noFill/>
              <a:ln w="9525" algn="ctr">
                <a:noFill/>
                <a:miter lim="800000"/>
              </a:ln>
            </p:spPr>
            <p:txBody>
              <a:bodyPr wrap="square">
                <a:spAutoFit/>
              </a:bodyPr>
              <a:lstStyle/>
              <a:p>
                <a:pPr>
                  <a:lnSpc>
                    <a:spcPct val="130000"/>
                  </a:lnSpc>
                </a:pPr>
                <a:r>
                  <a:rPr lang="zh-CN" altLang="en-US" sz="1800" b="1" dirty="0">
                    <a:solidFill>
                      <a:srgbClr val="99CC00"/>
                    </a:solidFill>
                    <a:latin typeface="微软雅黑" panose="020B0503020204020204" pitchFamily="34" charset="-122"/>
                    <a:ea typeface="微软雅黑" panose="020B0503020204020204" pitchFamily="34" charset="-122"/>
                    <a:cs typeface="+mn-cs"/>
                    <a:sym typeface="+mn-ea"/>
                  </a:rPr>
                  <a:t>（1）</a:t>
                </a:r>
                <a:r>
                  <a:rPr lang="zh-CN" altLang="en-US" sz="2000" dirty="0">
                    <a:latin typeface="微软雅黑" panose="020B0503020204020204" pitchFamily="34" charset="-122"/>
                    <a:ea typeface="微软雅黑" panose="020B0503020204020204" pitchFamily="34" charset="-122"/>
                    <a:cs typeface="+mn-cs"/>
                    <a:sym typeface="+mn-ea"/>
                  </a:rPr>
                  <a:t>对已有命令进行适当组合，构成</a:t>
                </a: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新的命令</a:t>
                </a:r>
                <a:r>
                  <a:rPr lang="zh-CN" altLang="en-US" sz="2000" dirty="0">
                    <a:latin typeface="微软雅黑" panose="020B0503020204020204" pitchFamily="34" charset="-122"/>
                    <a:ea typeface="微软雅黑" panose="020B0503020204020204" pitchFamily="34" charset="-122"/>
                    <a:cs typeface="+mn-cs"/>
                    <a:sym typeface="+mn-ea"/>
                  </a:rPr>
                  <a:t>，而且组合方式很简单。</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endParaRPr>
              </a:p>
            </p:txBody>
          </p:sp>
          <p:sp>
            <p:nvSpPr>
              <p:cNvPr id="194" name="Line 39"/>
              <p:cNvSpPr>
                <a:spLocks noChangeShapeType="1"/>
              </p:cNvSpPr>
              <p:nvPr/>
            </p:nvSpPr>
            <p:spPr bwMode="auto">
              <a:xfrm rot="5400000" flipH="1">
                <a:off x="339869" y="2225554"/>
                <a:ext cx="1959976" cy="0"/>
              </a:xfrm>
              <a:prstGeom prst="line">
                <a:avLst/>
              </a:prstGeom>
              <a:noFill/>
              <a:ln w="19050">
                <a:solidFill>
                  <a:srgbClr val="808080"/>
                </a:solidFill>
                <a:round/>
              </a:ln>
            </p:spPr>
            <p:txBody>
              <a:bodyPr/>
              <a:lstStyle/>
              <a:p>
                <a:endParaRPr lang="zh-CN" altLang="en-US">
                  <a:solidFill>
                    <a:prstClr val="black"/>
                  </a:solidFill>
                </a:endParaRPr>
              </a:p>
            </p:txBody>
          </p:sp>
        </p:grpSp>
        <p:sp>
          <p:nvSpPr>
            <p:cNvPr id="195" name="WordArt 36"/>
            <p:cNvSpPr>
              <a:spLocks noChangeArrowheads="1" noChangeShapeType="1" noTextEdit="1"/>
            </p:cNvSpPr>
            <p:nvPr/>
          </p:nvSpPr>
          <p:spPr bwMode="auto">
            <a:xfrm>
              <a:off x="1192217" y="3291582"/>
              <a:ext cx="244475"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1</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grpSp>
      <p:sp>
        <p:nvSpPr>
          <p:cNvPr id="196" name="文本框 195"/>
          <p:cNvSpPr txBox="1"/>
          <p:nvPr/>
        </p:nvSpPr>
        <p:spPr>
          <a:xfrm>
            <a:off x="770890" y="1191895"/>
            <a:ext cx="2547620" cy="457200"/>
          </a:xfrm>
          <a:prstGeom prst="rect">
            <a:avLst/>
          </a:prstGeom>
          <a:noFill/>
        </p:spPr>
        <p:txBody>
          <a:bodyPr wrap="none" rtlCol="0" anchor="t">
            <a:spAutoFit/>
          </a:bodyPr>
          <a:lstStyle/>
          <a:p>
            <a:pPr>
              <a:lnSpc>
                <a:spcPct val="120000"/>
              </a:lnSpc>
              <a:spcAft>
                <a:spcPts val="500"/>
              </a:spcAft>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shell具有如下特点：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86"/>
                                        </p:tgtEl>
                                        <p:attrNameLst>
                                          <p:attrName>style.visibility</p:attrName>
                                        </p:attrNameLst>
                                      </p:cBhvr>
                                      <p:to>
                                        <p:strVal val="visible"/>
                                      </p:to>
                                    </p:set>
                                    <p:anim calcmode="lin" valueType="num">
                                      <p:cBhvr additive="base">
                                        <p:cTn id="7" dur="500" fill="hold"/>
                                        <p:tgtEl>
                                          <p:spTgt spid="186"/>
                                        </p:tgtEl>
                                        <p:attrNameLst>
                                          <p:attrName>ppt_x</p:attrName>
                                        </p:attrNameLst>
                                      </p:cBhvr>
                                      <p:tavLst>
                                        <p:tav tm="0">
                                          <p:val>
                                            <p:strVal val="1+#ppt_w/2"/>
                                          </p:val>
                                        </p:tav>
                                        <p:tav tm="100000">
                                          <p:val>
                                            <p:strVal val="#ppt_x"/>
                                          </p:val>
                                        </p:tav>
                                      </p:tavLst>
                                    </p:anim>
                                    <p:anim calcmode="lin" valueType="num">
                                      <p:cBhvr additive="base">
                                        <p:cTn id="8" dur="500" fill="hold"/>
                                        <p:tgtEl>
                                          <p:spTgt spid="18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150"/>
                                  </p:stCondLst>
                                  <p:childTnLst>
                                    <p:set>
                                      <p:cBhvr>
                                        <p:cTn id="10" dur="1" fill="hold">
                                          <p:stCondLst>
                                            <p:cond delay="0"/>
                                          </p:stCondLst>
                                        </p:cTn>
                                        <p:tgtEl>
                                          <p:spTgt spid="135"/>
                                        </p:tgtEl>
                                        <p:attrNameLst>
                                          <p:attrName>style.visibility</p:attrName>
                                        </p:attrNameLst>
                                      </p:cBhvr>
                                      <p:to>
                                        <p:strVal val="visible"/>
                                      </p:to>
                                    </p:set>
                                    <p:anim calcmode="lin" valueType="num">
                                      <p:cBhvr additive="base">
                                        <p:cTn id="11" dur="500" fill="hold"/>
                                        <p:tgtEl>
                                          <p:spTgt spid="135"/>
                                        </p:tgtEl>
                                        <p:attrNameLst>
                                          <p:attrName>ppt_x</p:attrName>
                                        </p:attrNameLst>
                                      </p:cBhvr>
                                      <p:tavLst>
                                        <p:tav tm="0">
                                          <p:val>
                                            <p:strVal val="1+#ppt_w/2"/>
                                          </p:val>
                                        </p:tav>
                                        <p:tav tm="100000">
                                          <p:val>
                                            <p:strVal val="#ppt_x"/>
                                          </p:val>
                                        </p:tav>
                                      </p:tavLst>
                                    </p:anim>
                                    <p:anim calcmode="lin" valueType="num">
                                      <p:cBhvr additive="base">
                                        <p:cTn id="12" dur="500" fill="hold"/>
                                        <p:tgtEl>
                                          <p:spTgt spid="135"/>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300"/>
                                  </p:stCondLst>
                                  <p:childTnLst>
                                    <p:set>
                                      <p:cBhvr>
                                        <p:cTn id="14" dur="1" fill="hold">
                                          <p:stCondLst>
                                            <p:cond delay="0"/>
                                          </p:stCondLst>
                                        </p:cTn>
                                        <p:tgtEl>
                                          <p:spTgt spid="146"/>
                                        </p:tgtEl>
                                        <p:attrNameLst>
                                          <p:attrName>style.visibility</p:attrName>
                                        </p:attrNameLst>
                                      </p:cBhvr>
                                      <p:to>
                                        <p:strVal val="visible"/>
                                      </p:to>
                                    </p:set>
                                    <p:anim calcmode="lin" valueType="num">
                                      <p:cBhvr additive="base">
                                        <p:cTn id="15" dur="500" fill="hold"/>
                                        <p:tgtEl>
                                          <p:spTgt spid="146"/>
                                        </p:tgtEl>
                                        <p:attrNameLst>
                                          <p:attrName>ppt_x</p:attrName>
                                        </p:attrNameLst>
                                      </p:cBhvr>
                                      <p:tavLst>
                                        <p:tav tm="0">
                                          <p:val>
                                            <p:strVal val="1+#ppt_w/2"/>
                                          </p:val>
                                        </p:tav>
                                        <p:tav tm="100000">
                                          <p:val>
                                            <p:strVal val="#ppt_x"/>
                                          </p:val>
                                        </p:tav>
                                      </p:tavLst>
                                    </p:anim>
                                    <p:anim calcmode="lin" valueType="num">
                                      <p:cBhvr additive="base">
                                        <p:cTn id="16" dur="500" fill="hold"/>
                                        <p:tgtEl>
                                          <p:spTgt spid="14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450"/>
                                  </p:stCondLst>
                                  <p:childTnLst>
                                    <p:set>
                                      <p:cBhvr>
                                        <p:cTn id="18" dur="1" fill="hold">
                                          <p:stCondLst>
                                            <p:cond delay="0"/>
                                          </p:stCondLst>
                                        </p:cTn>
                                        <p:tgtEl>
                                          <p:spTgt spid="156"/>
                                        </p:tgtEl>
                                        <p:attrNameLst>
                                          <p:attrName>style.visibility</p:attrName>
                                        </p:attrNameLst>
                                      </p:cBhvr>
                                      <p:to>
                                        <p:strVal val="visible"/>
                                      </p:to>
                                    </p:set>
                                    <p:anim calcmode="lin" valueType="num">
                                      <p:cBhvr additive="base">
                                        <p:cTn id="19" dur="500" fill="hold"/>
                                        <p:tgtEl>
                                          <p:spTgt spid="156"/>
                                        </p:tgtEl>
                                        <p:attrNameLst>
                                          <p:attrName>ppt_x</p:attrName>
                                        </p:attrNameLst>
                                      </p:cBhvr>
                                      <p:tavLst>
                                        <p:tav tm="0">
                                          <p:val>
                                            <p:strVal val="1+#ppt_w/2"/>
                                          </p:val>
                                        </p:tav>
                                        <p:tav tm="100000">
                                          <p:val>
                                            <p:strVal val="#ppt_x"/>
                                          </p:val>
                                        </p:tav>
                                      </p:tavLst>
                                    </p:anim>
                                    <p:anim calcmode="lin" valueType="num">
                                      <p:cBhvr additive="base">
                                        <p:cTn id="20" dur="500" fill="hold"/>
                                        <p:tgtEl>
                                          <p:spTgt spid="1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组合 134"/>
          <p:cNvGrpSpPr/>
          <p:nvPr/>
        </p:nvGrpSpPr>
        <p:grpSpPr>
          <a:xfrm>
            <a:off x="689258" y="3272792"/>
            <a:ext cx="2470489" cy="2847057"/>
            <a:chOff x="510042" y="3174230"/>
            <a:chExt cx="2470489" cy="2847057"/>
          </a:xfrm>
        </p:grpSpPr>
        <p:grpSp>
          <p:nvGrpSpPr>
            <p:cNvPr id="136" name="组合 16"/>
            <p:cNvGrpSpPr/>
            <p:nvPr/>
          </p:nvGrpSpPr>
          <p:grpSpPr>
            <a:xfrm>
              <a:off x="510042" y="3174230"/>
              <a:ext cx="2470489" cy="2847057"/>
              <a:chOff x="510042" y="3174230"/>
              <a:chExt cx="2470489" cy="2847057"/>
            </a:xfrm>
          </p:grpSpPr>
          <p:grpSp>
            <p:nvGrpSpPr>
              <p:cNvPr id="137" name="Group 19"/>
              <p:cNvGrpSpPr/>
              <p:nvPr/>
            </p:nvGrpSpPr>
            <p:grpSpPr bwMode="auto">
              <a:xfrm>
                <a:off x="2202656" y="3174230"/>
                <a:ext cx="777875" cy="758826"/>
                <a:chOff x="2341" y="1703"/>
                <a:chExt cx="1242" cy="1216"/>
              </a:xfrm>
              <a:solidFill>
                <a:schemeClr val="accent6">
                  <a:lumMod val="75000"/>
                </a:schemeClr>
              </a:solidFill>
            </p:grpSpPr>
            <p:grpSp>
              <p:nvGrpSpPr>
                <p:cNvPr id="138" name="Group 20"/>
                <p:cNvGrpSpPr/>
                <p:nvPr/>
              </p:nvGrpSpPr>
              <p:grpSpPr bwMode="auto">
                <a:xfrm>
                  <a:off x="2341" y="1703"/>
                  <a:ext cx="1242" cy="1216"/>
                  <a:chOff x="2341" y="1703"/>
                  <a:chExt cx="1242" cy="1216"/>
                </a:xfrm>
                <a:grpFill/>
              </p:grpSpPr>
              <p:sp>
                <p:nvSpPr>
                  <p:cNvPr id="139" name="Oval 21"/>
                  <p:cNvSpPr>
                    <a:spLocks noChangeArrowheads="1"/>
                  </p:cNvSpPr>
                  <p:nvPr/>
                </p:nvSpPr>
                <p:spPr bwMode="gray">
                  <a:xfrm>
                    <a:off x="2341" y="1703"/>
                    <a:ext cx="1242" cy="1216"/>
                  </a:xfrm>
                  <a:prstGeom prst="ellipse">
                    <a:avLst/>
                  </a:prstGeom>
                  <a:grpFill/>
                  <a:ln w="28575" algn="ctr">
                    <a:solidFill>
                      <a:srgbClr val="C0C0C0"/>
                    </a:solidFill>
                    <a:round/>
                  </a:ln>
                  <a:effectLst/>
                </p:spPr>
                <p:txBody>
                  <a:bodyPr vert="eaVert" wrap="none" anchor="ctr"/>
                  <a:lstStyle/>
                  <a:p>
                    <a:pPr>
                      <a:defRPr/>
                    </a:pPr>
                    <a:endParaRPr lang="zh-CN" altLang="en-US">
                      <a:solidFill>
                        <a:prstClr val="black"/>
                      </a:solidFill>
                    </a:endParaRPr>
                  </a:p>
                </p:txBody>
              </p:sp>
              <p:sp>
                <p:nvSpPr>
                  <p:cNvPr id="140" name="Freeform 22"/>
                  <p:cNvSpPr/>
                  <p:nvPr/>
                </p:nvSpPr>
                <p:spPr bwMode="auto">
                  <a:xfrm rot="5400000">
                    <a:off x="2741" y="1375"/>
                    <a:ext cx="458" cy="1136"/>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141" name="Freeform 23"/>
                <p:cNvSpPr/>
                <p:nvPr/>
              </p:nvSpPr>
              <p:spPr bwMode="auto">
                <a:xfrm rot="-18000000">
                  <a:off x="3064" y="2263"/>
                  <a:ext cx="194" cy="758"/>
                </a:xfrm>
                <a:custGeom>
                  <a:avLst/>
                  <a:gdLst/>
                  <a:ahLst/>
                  <a:cxnLst>
                    <a:cxn ang="0">
                      <a:pos x="173" y="0"/>
                    </a:cxn>
                    <a:cxn ang="0">
                      <a:pos x="0" y="173"/>
                    </a:cxn>
                    <a:cxn ang="0">
                      <a:pos x="174" y="348"/>
                    </a:cxn>
                    <a:cxn ang="0">
                      <a:pos x="174" y="174"/>
                    </a:cxn>
                    <a:cxn ang="0">
                      <a:pos x="173" y="0"/>
                    </a:cxn>
                  </a:cxnLst>
                  <a:rect l="0" t="0" r="r" b="b"/>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prstDash val="solid"/>
                  <a:round/>
                </a:ln>
              </p:spPr>
              <p:txBody>
                <a:bodyPr/>
                <a:lstStyle/>
                <a:p>
                  <a:pPr>
                    <a:defRPr/>
                  </a:pPr>
                  <a:endParaRPr lang="zh-CN" altLang="en-US">
                    <a:solidFill>
                      <a:prstClr val="black"/>
                    </a:solidFill>
                  </a:endParaRPr>
                </a:p>
              </p:txBody>
            </p:sp>
          </p:grpSp>
          <p:sp>
            <p:nvSpPr>
              <p:cNvPr id="142" name="Line 2"/>
              <p:cNvSpPr>
                <a:spLocks noChangeShapeType="1"/>
              </p:cNvSpPr>
              <p:nvPr/>
            </p:nvSpPr>
            <p:spPr bwMode="auto">
              <a:xfrm rot="5400000" flipH="1">
                <a:off x="1568585" y="4977171"/>
                <a:ext cx="2088231" cy="0"/>
              </a:xfrm>
              <a:prstGeom prst="line">
                <a:avLst/>
              </a:prstGeom>
              <a:noFill/>
              <a:ln w="19050">
                <a:solidFill>
                  <a:srgbClr val="808080"/>
                </a:solidFill>
                <a:round/>
              </a:ln>
            </p:spPr>
            <p:txBody>
              <a:bodyPr/>
              <a:lstStyle/>
              <a:p>
                <a:endParaRPr lang="zh-CN" altLang="en-US">
                  <a:solidFill>
                    <a:prstClr val="black"/>
                  </a:solidFill>
                </a:endParaRPr>
              </a:p>
            </p:txBody>
          </p:sp>
          <p:sp>
            <p:nvSpPr>
              <p:cNvPr id="143" name="Rectangle 41"/>
              <p:cNvSpPr>
                <a:spLocks noChangeArrowheads="1"/>
              </p:cNvSpPr>
              <p:nvPr/>
            </p:nvSpPr>
            <p:spPr bwMode="auto">
              <a:xfrm>
                <a:off x="510042" y="4031480"/>
                <a:ext cx="2111375" cy="1872615"/>
              </a:xfrm>
              <a:prstGeom prst="rect">
                <a:avLst/>
              </a:prstGeom>
              <a:noFill/>
              <a:ln w="9525" algn="ctr">
                <a:noFill/>
                <a:miter lim="800000"/>
              </a:ln>
            </p:spPr>
            <p:txBody>
              <a:bodyPr wrap="square">
                <a:spAutoFit/>
              </a:bodyPr>
              <a:lstStyle/>
              <a:p>
                <a:pPr>
                  <a:lnSpc>
                    <a:spcPct val="130000"/>
                  </a:lnSpc>
                </a:pPr>
                <a:r>
                  <a:rPr lang="zh-CN" altLang="en-US" sz="1800" b="1" dirty="0">
                    <a:solidFill>
                      <a:schemeClr val="accent6"/>
                    </a:solidFill>
                    <a:latin typeface="微软雅黑" panose="020B0503020204020204" pitchFamily="34" charset="-122"/>
                    <a:ea typeface="微软雅黑" panose="020B0503020204020204" pitchFamily="34" charset="-122"/>
                  </a:rPr>
                  <a:t>（</a:t>
                </a:r>
                <a:r>
                  <a:rPr lang="en-US" altLang="zh-CN" sz="1800" b="1" dirty="0">
                    <a:solidFill>
                      <a:schemeClr val="accent6"/>
                    </a:solidFill>
                    <a:latin typeface="微软雅黑" panose="020B0503020204020204" pitchFamily="34" charset="-122"/>
                    <a:ea typeface="微软雅黑" panose="020B0503020204020204" pitchFamily="34" charset="-122"/>
                  </a:rPr>
                  <a:t>5</a:t>
                </a:r>
                <a:r>
                  <a:rPr lang="zh-CN" altLang="en-US" sz="1800" b="1" dirty="0">
                    <a:solidFill>
                      <a:schemeClr val="accent6"/>
                    </a:solidFill>
                    <a:latin typeface="微软雅黑" panose="020B0503020204020204" pitchFamily="34" charset="-122"/>
                    <a:ea typeface="微软雅黑" panose="020B0503020204020204" pitchFamily="34" charset="-122"/>
                  </a:rPr>
                  <a:t>）</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结构化的程序模块</a:t>
                </a:r>
                <a:r>
                  <a:rPr lang="zh-CN" altLang="en-US" sz="1800" dirty="0">
                    <a:latin typeface="微软雅黑" panose="020B0503020204020204" pitchFamily="34" charset="-122"/>
                    <a:ea typeface="微软雅黑" panose="020B0503020204020204" pitchFamily="34" charset="-122"/>
                    <a:cs typeface="+mn-cs"/>
                    <a:sym typeface="+mn-ea"/>
                  </a:rPr>
                  <a:t>，提供了顺序流程控制、分支流程控制及循环流程控制等。</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endParaRPr>
              </a:p>
            </p:txBody>
          </p:sp>
        </p:grpSp>
        <p:sp>
          <p:nvSpPr>
            <p:cNvPr id="145" name="WordArt 36"/>
            <p:cNvSpPr>
              <a:spLocks noChangeArrowheads="1" noChangeShapeType="1" noTextEdit="1"/>
            </p:cNvSpPr>
            <p:nvPr/>
          </p:nvSpPr>
          <p:spPr bwMode="auto">
            <a:xfrm>
              <a:off x="2470154" y="3363590"/>
              <a:ext cx="244475"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5</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grpSp>
      <p:grpSp>
        <p:nvGrpSpPr>
          <p:cNvPr id="146" name="组合 145"/>
          <p:cNvGrpSpPr/>
          <p:nvPr/>
        </p:nvGrpSpPr>
        <p:grpSpPr>
          <a:xfrm>
            <a:off x="3302623" y="1220458"/>
            <a:ext cx="4311015" cy="2782128"/>
            <a:chOff x="2618231" y="1150928"/>
            <a:chExt cx="4311015" cy="2782128"/>
          </a:xfrm>
        </p:grpSpPr>
        <p:grpSp>
          <p:nvGrpSpPr>
            <p:cNvPr id="147" name="Group 14"/>
            <p:cNvGrpSpPr/>
            <p:nvPr/>
          </p:nvGrpSpPr>
          <p:grpSpPr bwMode="auto">
            <a:xfrm>
              <a:off x="3514729" y="3174231"/>
              <a:ext cx="777875" cy="758825"/>
              <a:chOff x="2341" y="1703"/>
              <a:chExt cx="1242" cy="1216"/>
            </a:xfrm>
            <a:solidFill>
              <a:srgbClr val="00B0F0"/>
            </a:solidFill>
          </p:grpSpPr>
          <p:grpSp>
            <p:nvGrpSpPr>
              <p:cNvPr id="148" name="Group 15"/>
              <p:cNvGrpSpPr/>
              <p:nvPr/>
            </p:nvGrpSpPr>
            <p:grpSpPr bwMode="auto">
              <a:xfrm>
                <a:off x="2341" y="1703"/>
                <a:ext cx="1242" cy="1216"/>
                <a:chOff x="2341" y="1703"/>
                <a:chExt cx="1242" cy="1216"/>
              </a:xfrm>
              <a:grpFill/>
            </p:grpSpPr>
            <p:sp>
              <p:nvSpPr>
                <p:cNvPr id="149" name="Oval 16"/>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50" name="Freeform 17"/>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51" name="Freeform 18"/>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52" name="Line 30"/>
            <p:cNvSpPr>
              <a:spLocks noChangeShapeType="1"/>
            </p:cNvSpPr>
            <p:nvPr/>
          </p:nvSpPr>
          <p:spPr bwMode="auto">
            <a:xfrm flipH="1">
              <a:off x="2618231" y="3573016"/>
              <a:ext cx="614362"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153" name="WordArt 33"/>
            <p:cNvSpPr>
              <a:spLocks noChangeArrowheads="1" noChangeShapeType="1" noTextEdit="1"/>
            </p:cNvSpPr>
            <p:nvPr/>
          </p:nvSpPr>
          <p:spPr bwMode="auto">
            <a:xfrm>
              <a:off x="3711575" y="3363590"/>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6</a:t>
              </a:r>
            </a:p>
          </p:txBody>
        </p:sp>
        <p:sp>
          <p:nvSpPr>
            <p:cNvPr id="154" name="Line 39"/>
            <p:cNvSpPr>
              <a:spLocks noChangeShapeType="1"/>
            </p:cNvSpPr>
            <p:nvPr/>
          </p:nvSpPr>
          <p:spPr bwMode="auto">
            <a:xfrm rot="5400000" flipH="1">
              <a:off x="2930424" y="2212456"/>
              <a:ext cx="1933779" cy="0"/>
            </a:xfrm>
            <a:prstGeom prst="line">
              <a:avLst/>
            </a:prstGeom>
            <a:noFill/>
            <a:ln w="19050">
              <a:solidFill>
                <a:srgbClr val="808080"/>
              </a:solidFill>
              <a:round/>
            </a:ln>
          </p:spPr>
          <p:txBody>
            <a:bodyPr/>
            <a:lstStyle/>
            <a:p>
              <a:endParaRPr lang="zh-CN" altLang="en-US">
                <a:solidFill>
                  <a:prstClr val="black"/>
                </a:solidFill>
              </a:endParaRPr>
            </a:p>
          </p:txBody>
        </p:sp>
        <p:sp>
          <p:nvSpPr>
            <p:cNvPr id="155" name="Rectangle 40"/>
            <p:cNvSpPr>
              <a:spLocks noChangeArrowheads="1"/>
            </p:cNvSpPr>
            <p:nvPr/>
          </p:nvSpPr>
          <p:spPr bwMode="auto">
            <a:xfrm>
              <a:off x="3897121" y="1150928"/>
              <a:ext cx="3032125" cy="962660"/>
            </a:xfrm>
            <a:prstGeom prst="rect">
              <a:avLst/>
            </a:prstGeom>
            <a:noFill/>
            <a:ln w="9525" algn="ctr">
              <a:noFill/>
              <a:miter lim="800000"/>
            </a:ln>
          </p:spPr>
          <p:txBody>
            <a:bodyPr wrap="square">
              <a:spAutoFit/>
            </a:bodyPr>
            <a:lstStyle/>
            <a:p>
              <a:pPr indent="0" eaLnBrk="1" fontAlgn="auto" latinLnBrk="0" hangingPunct="1">
                <a:lnSpc>
                  <a:spcPct val="130000"/>
                </a:lnSpc>
                <a:buFont typeface="Arial" panose="020B0604020202020204" pitchFamily="34" charset="0"/>
                <a:buNone/>
                <a:defRPr/>
              </a:pPr>
              <a:r>
                <a:rPr lang="zh-CN" altLang="en-US" sz="2400" b="1" dirty="0">
                  <a:solidFill>
                    <a:srgbClr val="00B0F0"/>
                  </a:solidFill>
                  <a:latin typeface="微软雅黑" panose="020B0503020204020204" pitchFamily="34" charset="-122"/>
                  <a:ea typeface="微软雅黑" panose="020B0503020204020204" pitchFamily="34" charset="-122"/>
                </a:rPr>
                <a:t>（</a:t>
              </a:r>
              <a:r>
                <a:rPr lang="en-US" altLang="zh-CN" sz="2400" b="1" dirty="0">
                  <a:solidFill>
                    <a:srgbClr val="00B0F0"/>
                  </a:solidFill>
                  <a:latin typeface="微软雅黑" panose="020B0503020204020204" pitchFamily="34" charset="-122"/>
                  <a:ea typeface="微软雅黑" panose="020B0503020204020204" pitchFamily="34" charset="-122"/>
                </a:rPr>
                <a:t>6</a:t>
              </a:r>
              <a:r>
                <a:rPr lang="zh-CN" altLang="en-US" sz="2400" b="1" dirty="0">
                  <a:solidFill>
                    <a:srgbClr val="00B0F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mn-cs"/>
                  <a:sym typeface="+mn-ea"/>
                </a:rPr>
                <a:t>提供了在后台（&amp;）执行命令的能力。</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endParaRPr>
            </a:p>
          </p:txBody>
        </p:sp>
      </p:grpSp>
      <p:grpSp>
        <p:nvGrpSpPr>
          <p:cNvPr id="156" name="组合 155"/>
          <p:cNvGrpSpPr/>
          <p:nvPr/>
        </p:nvGrpSpPr>
        <p:grpSpPr>
          <a:xfrm>
            <a:off x="3523205" y="3243762"/>
            <a:ext cx="3279880" cy="2847057"/>
            <a:chOff x="2371624" y="3174231"/>
            <a:chExt cx="3279880" cy="2847057"/>
          </a:xfrm>
        </p:grpSpPr>
        <p:grpSp>
          <p:nvGrpSpPr>
            <p:cNvPr id="157" name="Group 9"/>
            <p:cNvGrpSpPr/>
            <p:nvPr/>
          </p:nvGrpSpPr>
          <p:grpSpPr bwMode="auto">
            <a:xfrm>
              <a:off x="4873629" y="3174231"/>
              <a:ext cx="777875" cy="758825"/>
              <a:chOff x="2341" y="1703"/>
              <a:chExt cx="1242" cy="1216"/>
            </a:xfrm>
            <a:solidFill>
              <a:srgbClr val="FFC000"/>
            </a:solidFill>
          </p:grpSpPr>
          <p:grpSp>
            <p:nvGrpSpPr>
              <p:cNvPr id="158" name="Group 10"/>
              <p:cNvGrpSpPr/>
              <p:nvPr/>
            </p:nvGrpSpPr>
            <p:grpSpPr bwMode="auto">
              <a:xfrm>
                <a:off x="2341" y="1703"/>
                <a:ext cx="1242" cy="1216"/>
                <a:chOff x="2341" y="1703"/>
                <a:chExt cx="1242" cy="1216"/>
              </a:xfrm>
              <a:grpFill/>
            </p:grpSpPr>
            <p:sp>
              <p:nvSpPr>
                <p:cNvPr id="159" name="Oval 11"/>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60" name="Freeform 12"/>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61" name="Freeform 13"/>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62" name="Line 31"/>
            <p:cNvSpPr>
              <a:spLocks noChangeShapeType="1"/>
            </p:cNvSpPr>
            <p:nvPr/>
          </p:nvSpPr>
          <p:spPr bwMode="auto">
            <a:xfrm flipH="1">
              <a:off x="3952784" y="3573016"/>
              <a:ext cx="652463"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163" name="WordArt 34"/>
            <p:cNvSpPr>
              <a:spLocks noChangeArrowheads="1" noChangeShapeType="1" noTextEdit="1"/>
            </p:cNvSpPr>
            <p:nvPr/>
          </p:nvSpPr>
          <p:spPr bwMode="auto">
            <a:xfrm>
              <a:off x="5055096" y="3363590"/>
              <a:ext cx="381000" cy="425450"/>
            </a:xfrm>
            <a:prstGeom prst="rect">
              <a:avLst/>
            </a:prstGeom>
          </p:spPr>
          <p:txBody>
            <a:bodyPr wrap="none" fromWordArt="1">
              <a:prstTxWarp prst="textPlain">
                <a:avLst>
                  <a:gd name="adj" fmla="val 50000"/>
                </a:avLst>
              </a:prstTxWarp>
            </a:bodyPr>
            <a:lstStyle/>
            <a:p>
              <a:pPr algn="ctr"/>
              <a:r>
                <a:rPr 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7</a:t>
              </a:r>
            </a:p>
          </p:txBody>
        </p:sp>
        <p:sp>
          <p:nvSpPr>
            <p:cNvPr id="164" name="Rectangle 43"/>
            <p:cNvSpPr>
              <a:spLocks noChangeArrowheads="1"/>
            </p:cNvSpPr>
            <p:nvPr/>
          </p:nvSpPr>
          <p:spPr bwMode="auto">
            <a:xfrm>
              <a:off x="2371624" y="4099021"/>
              <a:ext cx="2696618" cy="1668780"/>
            </a:xfrm>
            <a:prstGeom prst="rect">
              <a:avLst/>
            </a:prstGeom>
            <a:noFill/>
            <a:ln w="9525" algn="ctr">
              <a:noFill/>
              <a:miter lim="800000"/>
            </a:ln>
          </p:spPr>
          <p:txBody>
            <a:bodyPr wrap="square">
              <a:spAutoFit/>
            </a:bodyPr>
            <a:lstStyle/>
            <a:p>
              <a:pPr>
                <a:lnSpc>
                  <a:spcPct val="140000"/>
                </a:lnSpc>
                <a:spcBef>
                  <a:spcPts val="1200"/>
                </a:spcBef>
                <a:spcAft>
                  <a:spcPts val="1200"/>
                </a:spcAft>
              </a:pPr>
              <a:r>
                <a:rPr lang="zh-CN" altLang="en-US" sz="2000" b="1" dirty="0">
                  <a:solidFill>
                    <a:srgbClr val="FFC000"/>
                  </a:solidFill>
                  <a:latin typeface="微软雅黑" panose="020B0503020204020204" pitchFamily="34" charset="-122"/>
                  <a:ea typeface="微软雅黑" panose="020B0503020204020204" pitchFamily="34" charset="-122"/>
                </a:rPr>
                <a:t>（</a:t>
              </a:r>
              <a:r>
                <a:rPr lang="en-US" altLang="zh-CN" sz="2000" b="1" dirty="0">
                  <a:solidFill>
                    <a:srgbClr val="FFC000"/>
                  </a:solidFill>
                  <a:latin typeface="微软雅黑" panose="020B0503020204020204" pitchFamily="34" charset="-122"/>
                  <a:ea typeface="微软雅黑" panose="020B0503020204020204" pitchFamily="34" charset="-122"/>
                </a:rPr>
                <a:t>7</a:t>
              </a:r>
              <a:r>
                <a:rPr lang="zh-CN" altLang="en-US" sz="2000" b="1" dirty="0">
                  <a:solidFill>
                    <a:srgbClr val="FFC000"/>
                  </a:solidFill>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mn-cs"/>
                  <a:sym typeface="+mn-ea"/>
                </a:rPr>
                <a:t>提供了</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可配置的环境</a:t>
              </a:r>
              <a:r>
                <a:rPr lang="zh-CN" altLang="en-US" sz="1800" dirty="0">
                  <a:latin typeface="微软雅黑" panose="020B0503020204020204" pitchFamily="34" charset="-122"/>
                  <a:ea typeface="微软雅黑" panose="020B0503020204020204" pitchFamily="34" charset="-122"/>
                  <a:cs typeface="+mn-cs"/>
                  <a:sym typeface="+mn-ea"/>
                </a:rPr>
                <a:t>，允许用户</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创建和修改</a:t>
              </a:r>
              <a:r>
                <a:rPr lang="zh-CN" altLang="en-US" sz="1800" dirty="0">
                  <a:latin typeface="微软雅黑" panose="020B0503020204020204" pitchFamily="34" charset="-122"/>
                  <a:ea typeface="微软雅黑" panose="020B0503020204020204" pitchFamily="34" charset="-122"/>
                  <a:cs typeface="+mn-cs"/>
                  <a:sym typeface="+mn-ea"/>
                </a:rPr>
                <a:t>命令、命令提示符及其他的系统行为。</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endParaRPr>
            </a:p>
          </p:txBody>
        </p:sp>
        <p:sp>
          <p:nvSpPr>
            <p:cNvPr id="165" name="Line 2"/>
            <p:cNvSpPr>
              <a:spLocks noChangeShapeType="1"/>
            </p:cNvSpPr>
            <p:nvPr/>
          </p:nvSpPr>
          <p:spPr bwMode="auto">
            <a:xfrm rot="5400000" flipH="1">
              <a:off x="4179927" y="4973201"/>
              <a:ext cx="2088232" cy="7941"/>
            </a:xfrm>
            <a:prstGeom prst="line">
              <a:avLst/>
            </a:prstGeom>
            <a:noFill/>
            <a:ln w="19050">
              <a:solidFill>
                <a:srgbClr val="808080"/>
              </a:solidFill>
              <a:round/>
            </a:ln>
          </p:spPr>
          <p:txBody>
            <a:bodyPr/>
            <a:lstStyle/>
            <a:p>
              <a:endParaRPr lang="zh-CN" altLang="en-US">
                <a:solidFill>
                  <a:prstClr val="black"/>
                </a:solidFill>
              </a:endParaRPr>
            </a:p>
          </p:txBody>
        </p:sp>
      </p:grpSp>
      <p:cxnSp>
        <p:nvCxnSpPr>
          <p:cNvPr id="134" name="直接连接符 133"/>
          <p:cNvCxnSpPr/>
          <p:nvPr/>
        </p:nvCxnSpPr>
        <p:spPr>
          <a:xfrm>
            <a:off x="407316" y="1712582"/>
            <a:ext cx="2643206" cy="1588"/>
          </a:xfrm>
          <a:prstGeom prst="line">
            <a:avLst/>
          </a:prstGeom>
        </p:spPr>
        <p:style>
          <a:lnRef idx="1">
            <a:schemeClr val="accent6"/>
          </a:lnRef>
          <a:fillRef idx="0">
            <a:schemeClr val="accent6"/>
          </a:fillRef>
          <a:effectRef idx="0">
            <a:schemeClr val="accent6"/>
          </a:effectRef>
          <a:fontRef idx="minor">
            <a:schemeClr val="tx1"/>
          </a:fontRef>
        </p:style>
      </p:cxnSp>
      <p:sp>
        <p:nvSpPr>
          <p:cNvPr id="196" name="文本框 195"/>
          <p:cNvSpPr txBox="1"/>
          <p:nvPr/>
        </p:nvSpPr>
        <p:spPr>
          <a:xfrm>
            <a:off x="572770" y="1191895"/>
            <a:ext cx="2547620" cy="457200"/>
          </a:xfrm>
          <a:prstGeom prst="rect">
            <a:avLst/>
          </a:prstGeom>
          <a:noFill/>
        </p:spPr>
        <p:txBody>
          <a:bodyPr wrap="none" rtlCol="0" anchor="t">
            <a:spAutoFit/>
          </a:bodyPr>
          <a:lstStyle/>
          <a:p>
            <a:pPr>
              <a:lnSpc>
                <a:spcPct val="120000"/>
              </a:lnSpc>
              <a:spcAft>
                <a:spcPts val="500"/>
              </a:spcAft>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shell具有如下特点：</a:t>
            </a:r>
          </a:p>
        </p:txBody>
      </p:sp>
      <p:grpSp>
        <p:nvGrpSpPr>
          <p:cNvPr id="95" name="组合 94"/>
          <p:cNvGrpSpPr/>
          <p:nvPr/>
        </p:nvGrpSpPr>
        <p:grpSpPr>
          <a:xfrm>
            <a:off x="6930721" y="1191883"/>
            <a:ext cx="4482171" cy="3202940"/>
            <a:chOff x="5284317" y="1168073"/>
            <a:chExt cx="4482171" cy="3202940"/>
          </a:xfrm>
        </p:grpSpPr>
        <p:grpSp>
          <p:nvGrpSpPr>
            <p:cNvPr id="96" name="Group 4"/>
            <p:cNvGrpSpPr/>
            <p:nvPr/>
          </p:nvGrpSpPr>
          <p:grpSpPr bwMode="auto">
            <a:xfrm>
              <a:off x="6300192" y="3174231"/>
              <a:ext cx="777875" cy="758825"/>
              <a:chOff x="2341" y="1703"/>
              <a:chExt cx="1242" cy="1216"/>
            </a:xfrm>
            <a:solidFill>
              <a:srgbClr val="7030A0"/>
            </a:solidFill>
          </p:grpSpPr>
          <p:grpSp>
            <p:nvGrpSpPr>
              <p:cNvPr id="101" name="Group 5"/>
              <p:cNvGrpSpPr/>
              <p:nvPr/>
            </p:nvGrpSpPr>
            <p:grpSpPr bwMode="auto">
              <a:xfrm>
                <a:off x="2341" y="1703"/>
                <a:ext cx="1242" cy="1216"/>
                <a:chOff x="2341" y="1703"/>
                <a:chExt cx="1242" cy="1216"/>
              </a:xfrm>
              <a:grpFill/>
            </p:grpSpPr>
            <p:sp>
              <p:nvSpPr>
                <p:cNvPr id="103" name="Oval 6"/>
                <p:cNvSpPr>
                  <a:spLocks noChangeArrowheads="1"/>
                </p:cNvSpPr>
                <p:nvPr/>
              </p:nvSpPr>
              <p:spPr bwMode="gray">
                <a:xfrm>
                  <a:off x="2341" y="1703"/>
                  <a:ext cx="1242" cy="1216"/>
                </a:xfrm>
                <a:prstGeom prst="ellipse">
                  <a:avLst/>
                </a:prstGeom>
                <a:grpFill/>
                <a:ln w="28575" algn="ctr">
                  <a:solidFill>
                    <a:srgbClr val="C0C0C0"/>
                  </a:solidFill>
                  <a:round/>
                </a:ln>
              </p:spPr>
              <p:txBody>
                <a:bodyPr vert="eaVert" wrap="none" anchor="ctr"/>
                <a:lstStyle/>
                <a:p>
                  <a:endParaRPr lang="zh-CN" altLang="en-US">
                    <a:solidFill>
                      <a:prstClr val="black"/>
                    </a:solidFill>
                  </a:endParaRPr>
                </a:p>
              </p:txBody>
            </p:sp>
            <p:sp>
              <p:nvSpPr>
                <p:cNvPr id="104" name="Freeform 7"/>
                <p:cNvSpPr/>
                <p:nvPr/>
              </p:nvSpPr>
              <p:spPr bwMode="auto">
                <a:xfrm rot="5400000">
                  <a:off x="2741" y="1375"/>
                  <a:ext cx="458" cy="1136"/>
                </a:xfrm>
                <a:custGeom>
                  <a:avLst/>
                  <a:gdLst>
                    <a:gd name="T0" fmla="*/ 8299 w 174"/>
                    <a:gd name="T1" fmla="*/ 0 h 348"/>
                    <a:gd name="T2" fmla="*/ 0 w 174"/>
                    <a:gd name="T3" fmla="*/ 19648 h 348"/>
                    <a:gd name="T4" fmla="*/ 8355 w 174"/>
                    <a:gd name="T5" fmla="*/ 39512 h 348"/>
                    <a:gd name="T6" fmla="*/ 8355 w 174"/>
                    <a:gd name="T7" fmla="*/ 19756 h 348"/>
                    <a:gd name="T8" fmla="*/ 8299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102" name="Freeform 8"/>
              <p:cNvSpPr/>
              <p:nvPr/>
            </p:nvSpPr>
            <p:spPr bwMode="auto">
              <a:xfrm rot="3600000">
                <a:off x="3064" y="2263"/>
                <a:ext cx="194" cy="758"/>
              </a:xfrm>
              <a:custGeom>
                <a:avLst/>
                <a:gdLst>
                  <a:gd name="T0" fmla="*/ 268 w 174"/>
                  <a:gd name="T1" fmla="*/ 0 h 348"/>
                  <a:gd name="T2" fmla="*/ 0 w 174"/>
                  <a:gd name="T3" fmla="*/ 3895 h 348"/>
                  <a:gd name="T4" fmla="*/ 269 w 174"/>
                  <a:gd name="T5" fmla="*/ 7833 h 348"/>
                  <a:gd name="T6" fmla="*/ 269 w 174"/>
                  <a:gd name="T7" fmla="*/ 3919 h 348"/>
                  <a:gd name="T8" fmla="*/ 268 w 174"/>
                  <a:gd name="T9" fmla="*/ 0 h 348"/>
                  <a:gd name="T10" fmla="*/ 0 60000 65536"/>
                  <a:gd name="T11" fmla="*/ 0 60000 65536"/>
                  <a:gd name="T12" fmla="*/ 0 60000 65536"/>
                  <a:gd name="T13" fmla="*/ 0 60000 65536"/>
                  <a:gd name="T14" fmla="*/ 0 60000 65536"/>
                  <a:gd name="T15" fmla="*/ 0 w 174"/>
                  <a:gd name="T16" fmla="*/ 0 h 348"/>
                  <a:gd name="T17" fmla="*/ 174 w 174"/>
                  <a:gd name="T18" fmla="*/ 348 h 348"/>
                </a:gdLst>
                <a:ahLst/>
                <a:cxnLst>
                  <a:cxn ang="T10">
                    <a:pos x="T0" y="T1"/>
                  </a:cxn>
                  <a:cxn ang="T11">
                    <a:pos x="T2" y="T3"/>
                  </a:cxn>
                  <a:cxn ang="T12">
                    <a:pos x="T4" y="T5"/>
                  </a:cxn>
                  <a:cxn ang="T13">
                    <a:pos x="T6" y="T7"/>
                  </a:cxn>
                  <a:cxn ang="T14">
                    <a:pos x="T8" y="T9"/>
                  </a:cxn>
                </a:cxnLst>
                <a:rect l="T15" t="T16" r="T17" b="T18"/>
                <a:pathLst>
                  <a:path w="174" h="348">
                    <a:moveTo>
                      <a:pt x="173" y="0"/>
                    </a:moveTo>
                    <a:cubicBezTo>
                      <a:pt x="77" y="0"/>
                      <a:pt x="0" y="77"/>
                      <a:pt x="0" y="173"/>
                    </a:cubicBezTo>
                    <a:cubicBezTo>
                      <a:pt x="0" y="270"/>
                      <a:pt x="77" y="348"/>
                      <a:pt x="174" y="348"/>
                    </a:cubicBezTo>
                    <a:lnTo>
                      <a:pt x="174" y="174"/>
                    </a:lnTo>
                    <a:lnTo>
                      <a:pt x="173" y="0"/>
                    </a:lnTo>
                    <a:close/>
                  </a:path>
                </a:pathLst>
              </a:custGeom>
              <a:grpFill/>
              <a:ln w="38100">
                <a:noFill/>
                <a:round/>
              </a:ln>
            </p:spPr>
            <p:txBody>
              <a:bodyPr/>
              <a:lstStyle/>
              <a:p>
                <a:endParaRPr lang="zh-CN" altLang="en-US">
                  <a:solidFill>
                    <a:prstClr val="black"/>
                  </a:solidFill>
                </a:endParaRPr>
              </a:p>
            </p:txBody>
          </p:sp>
        </p:grpSp>
        <p:sp>
          <p:nvSpPr>
            <p:cNvPr id="97" name="Line 32"/>
            <p:cNvSpPr>
              <a:spLocks noChangeShapeType="1"/>
            </p:cNvSpPr>
            <p:nvPr/>
          </p:nvSpPr>
          <p:spPr bwMode="auto">
            <a:xfrm flipH="1">
              <a:off x="5284317" y="3573016"/>
              <a:ext cx="682625" cy="0"/>
            </a:xfrm>
            <a:prstGeom prst="line">
              <a:avLst/>
            </a:prstGeom>
            <a:noFill/>
            <a:ln w="9525">
              <a:solidFill>
                <a:srgbClr val="808080"/>
              </a:solidFill>
              <a:round/>
              <a:headEnd type="oval" w="med" len="med"/>
            </a:ln>
          </p:spPr>
          <p:txBody>
            <a:bodyPr/>
            <a:lstStyle/>
            <a:p>
              <a:endParaRPr lang="zh-CN" altLang="en-US">
                <a:solidFill>
                  <a:prstClr val="black"/>
                </a:solidFill>
              </a:endParaRPr>
            </a:p>
          </p:txBody>
        </p:sp>
        <p:sp>
          <p:nvSpPr>
            <p:cNvPr id="98" name="WordArt 35"/>
            <p:cNvSpPr>
              <a:spLocks noChangeArrowheads="1" noChangeShapeType="1" noTextEdit="1"/>
            </p:cNvSpPr>
            <p:nvPr/>
          </p:nvSpPr>
          <p:spPr bwMode="auto">
            <a:xfrm>
              <a:off x="6495256" y="3356992"/>
              <a:ext cx="381000" cy="425450"/>
            </a:xfrm>
            <a:prstGeom prst="rect">
              <a:avLst/>
            </a:prstGeom>
          </p:spPr>
          <p:txBody>
            <a:bodyPr wrap="none" fromWordArt="1">
              <a:prstTxWarp prst="textPlain">
                <a:avLst>
                  <a:gd name="adj" fmla="val 50000"/>
                </a:avLst>
              </a:prstTxWarp>
            </a:bodyPr>
            <a:lstStyle/>
            <a:p>
              <a:pPr algn="ctr"/>
              <a:r>
                <a:rPr lang="en-US" altLang="zh-CN"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rPr>
                <a:t>8</a:t>
              </a:r>
              <a:endParaRPr lang="zh-CN" altLang="en-US" sz="2400" kern="10" dirty="0">
                <a:ln w="9525">
                  <a:solidFill>
                    <a:prstClr val="white"/>
                  </a:solidFill>
                  <a:round/>
                </a:ln>
                <a:gradFill rotWithShape="1">
                  <a:gsLst>
                    <a:gs pos="0">
                      <a:srgbClr val="EAEAEA"/>
                    </a:gs>
                    <a:gs pos="100000">
                      <a:srgbClr val="B2B2B2"/>
                    </a:gs>
                  </a:gsLst>
                  <a:lin ang="5400000" scaled="1"/>
                </a:gradFill>
                <a:latin typeface="黑体" panose="02010609060101010101" charset="-122"/>
                <a:ea typeface="黑体" panose="02010609060101010101" charset="-122"/>
              </a:endParaRPr>
            </a:p>
          </p:txBody>
        </p:sp>
        <p:sp>
          <p:nvSpPr>
            <p:cNvPr id="99" name="Rectangle 54"/>
            <p:cNvSpPr>
              <a:spLocks noChangeArrowheads="1"/>
            </p:cNvSpPr>
            <p:nvPr/>
          </p:nvSpPr>
          <p:spPr bwMode="auto">
            <a:xfrm>
              <a:off x="7178119" y="1168073"/>
              <a:ext cx="2588369" cy="3202940"/>
            </a:xfrm>
            <a:prstGeom prst="rect">
              <a:avLst/>
            </a:prstGeom>
            <a:noFill/>
            <a:ln w="9525" algn="ctr">
              <a:noFill/>
              <a:miter lim="800000"/>
            </a:ln>
          </p:spPr>
          <p:txBody>
            <a:bodyPr wrap="square">
              <a:spAutoFit/>
            </a:bodyPr>
            <a:lstStyle/>
            <a:p>
              <a:pPr>
                <a:lnSpc>
                  <a:spcPct val="140000"/>
                </a:lnSpc>
              </a:pPr>
              <a:r>
                <a:rPr lang="zh-CN" altLang="en-US" sz="1800" b="1" dirty="0">
                  <a:solidFill>
                    <a:srgbClr val="7030A0"/>
                  </a:solidFill>
                  <a:latin typeface="微软雅黑" panose="020B0503020204020204" pitchFamily="34" charset="-122"/>
                  <a:ea typeface="微软雅黑" panose="020B0503020204020204" pitchFamily="34" charset="-122"/>
                </a:rPr>
                <a:t>（</a:t>
              </a:r>
              <a:r>
                <a:rPr lang="en-US" altLang="zh-CN" sz="1800" b="1" dirty="0">
                  <a:solidFill>
                    <a:srgbClr val="7030A0"/>
                  </a:solidFill>
                  <a:latin typeface="微软雅黑" panose="020B0503020204020204" pitchFamily="34" charset="-122"/>
                  <a:ea typeface="微软雅黑" panose="020B0503020204020204" pitchFamily="34" charset="-122"/>
                </a:rPr>
                <a:t>8</a:t>
              </a:r>
              <a:r>
                <a:rPr lang="zh-CN" altLang="en-US" sz="1800" b="1" dirty="0">
                  <a:solidFill>
                    <a:srgbClr val="7030A0"/>
                  </a:solidFill>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mn-cs"/>
                  <a:sym typeface="+mn-ea"/>
                </a:rPr>
                <a:t>提供一个</a:t>
              </a: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高级的命令语言</a:t>
              </a:r>
              <a:r>
                <a:rPr lang="zh-CN" altLang="en-US" sz="1600" dirty="0">
                  <a:latin typeface="微软雅黑" panose="020B0503020204020204" pitchFamily="34" charset="-122"/>
                  <a:ea typeface="微软雅黑" panose="020B0503020204020204" pitchFamily="34" charset="-122"/>
                  <a:cs typeface="+mn-cs"/>
                  <a:sym typeface="+mn-ea"/>
                </a:rPr>
                <a:t>，允许用户能创建</a:t>
              </a: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从简单到复杂</a:t>
              </a:r>
              <a:r>
                <a:rPr lang="zh-CN" altLang="en-US" sz="1600" dirty="0">
                  <a:latin typeface="微软雅黑" panose="020B0503020204020204" pitchFamily="34" charset="-122"/>
                  <a:ea typeface="微软雅黑" panose="020B0503020204020204" pitchFamily="34" charset="-122"/>
                  <a:cs typeface="+mn-cs"/>
                  <a:sym typeface="+mn-ea"/>
                </a:rPr>
                <a:t>的程序。这些shell程序被称为shell脚本。利用shell脚本，可将用户编写的可执行程序与Linux命令结合在一起，可以作为新的命令使用，从而便于用户开发新的命令。</a:t>
              </a:r>
              <a:endParaRPr lang="zh-CN"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Line 39"/>
            <p:cNvSpPr>
              <a:spLocks noChangeShapeType="1"/>
            </p:cNvSpPr>
            <p:nvPr/>
          </p:nvSpPr>
          <p:spPr bwMode="auto">
            <a:xfrm rot="5400000" flipH="1">
              <a:off x="5738724" y="2197414"/>
              <a:ext cx="1963864" cy="0"/>
            </a:xfrm>
            <a:prstGeom prst="line">
              <a:avLst/>
            </a:prstGeom>
            <a:noFill/>
            <a:ln w="19050">
              <a:solidFill>
                <a:srgbClr val="808080"/>
              </a:solidFill>
              <a:round/>
            </a:ln>
          </p:spPr>
          <p:txBody>
            <a:bodyPr/>
            <a:lstStyle/>
            <a:p>
              <a:endParaRPr lang="zh-CN" altLang="en-US">
                <a:solidFill>
                  <a:prstClr val="black"/>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150"/>
                                  </p:stCondLst>
                                  <p:childTnLst>
                                    <p:set>
                                      <p:cBhvr>
                                        <p:cTn id="6" dur="1" fill="hold">
                                          <p:stCondLst>
                                            <p:cond delay="0"/>
                                          </p:stCondLst>
                                        </p:cTn>
                                        <p:tgtEl>
                                          <p:spTgt spid="135"/>
                                        </p:tgtEl>
                                        <p:attrNameLst>
                                          <p:attrName>style.visibility</p:attrName>
                                        </p:attrNameLst>
                                      </p:cBhvr>
                                      <p:to>
                                        <p:strVal val="visible"/>
                                      </p:to>
                                    </p:set>
                                    <p:anim calcmode="lin" valueType="num">
                                      <p:cBhvr additive="base">
                                        <p:cTn id="7" dur="500" fill="hold"/>
                                        <p:tgtEl>
                                          <p:spTgt spid="135"/>
                                        </p:tgtEl>
                                        <p:attrNameLst>
                                          <p:attrName>ppt_x</p:attrName>
                                        </p:attrNameLst>
                                      </p:cBhvr>
                                      <p:tavLst>
                                        <p:tav tm="0">
                                          <p:val>
                                            <p:strVal val="1+#ppt_w/2"/>
                                          </p:val>
                                        </p:tav>
                                        <p:tav tm="100000">
                                          <p:val>
                                            <p:strVal val="#ppt_x"/>
                                          </p:val>
                                        </p:tav>
                                      </p:tavLst>
                                    </p:anim>
                                    <p:anim calcmode="lin" valueType="num">
                                      <p:cBhvr additive="base">
                                        <p:cTn id="8" dur="500" fill="hold"/>
                                        <p:tgtEl>
                                          <p:spTgt spid="13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300"/>
                                  </p:stCondLst>
                                  <p:childTnLst>
                                    <p:set>
                                      <p:cBhvr>
                                        <p:cTn id="10" dur="1" fill="hold">
                                          <p:stCondLst>
                                            <p:cond delay="0"/>
                                          </p:stCondLst>
                                        </p:cTn>
                                        <p:tgtEl>
                                          <p:spTgt spid="146"/>
                                        </p:tgtEl>
                                        <p:attrNameLst>
                                          <p:attrName>style.visibility</p:attrName>
                                        </p:attrNameLst>
                                      </p:cBhvr>
                                      <p:to>
                                        <p:strVal val="visible"/>
                                      </p:to>
                                    </p:set>
                                    <p:anim calcmode="lin" valueType="num">
                                      <p:cBhvr additive="base">
                                        <p:cTn id="11" dur="500" fill="hold"/>
                                        <p:tgtEl>
                                          <p:spTgt spid="146"/>
                                        </p:tgtEl>
                                        <p:attrNameLst>
                                          <p:attrName>ppt_x</p:attrName>
                                        </p:attrNameLst>
                                      </p:cBhvr>
                                      <p:tavLst>
                                        <p:tav tm="0">
                                          <p:val>
                                            <p:strVal val="1+#ppt_w/2"/>
                                          </p:val>
                                        </p:tav>
                                        <p:tav tm="100000">
                                          <p:val>
                                            <p:strVal val="#ppt_x"/>
                                          </p:val>
                                        </p:tav>
                                      </p:tavLst>
                                    </p:anim>
                                    <p:anim calcmode="lin" valueType="num">
                                      <p:cBhvr additive="base">
                                        <p:cTn id="12" dur="500" fill="hold"/>
                                        <p:tgtEl>
                                          <p:spTgt spid="146"/>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450"/>
                                  </p:stCondLst>
                                  <p:childTnLst>
                                    <p:set>
                                      <p:cBhvr>
                                        <p:cTn id="14" dur="1" fill="hold">
                                          <p:stCondLst>
                                            <p:cond delay="0"/>
                                          </p:stCondLst>
                                        </p:cTn>
                                        <p:tgtEl>
                                          <p:spTgt spid="156"/>
                                        </p:tgtEl>
                                        <p:attrNameLst>
                                          <p:attrName>style.visibility</p:attrName>
                                        </p:attrNameLst>
                                      </p:cBhvr>
                                      <p:to>
                                        <p:strVal val="visible"/>
                                      </p:to>
                                    </p:set>
                                    <p:anim calcmode="lin" valueType="num">
                                      <p:cBhvr additive="base">
                                        <p:cTn id="15" dur="500" fill="hold"/>
                                        <p:tgtEl>
                                          <p:spTgt spid="156"/>
                                        </p:tgtEl>
                                        <p:attrNameLst>
                                          <p:attrName>ppt_x</p:attrName>
                                        </p:attrNameLst>
                                      </p:cBhvr>
                                      <p:tavLst>
                                        <p:tav tm="0">
                                          <p:val>
                                            <p:strVal val="1+#ppt_w/2"/>
                                          </p:val>
                                        </p:tav>
                                        <p:tav tm="100000">
                                          <p:val>
                                            <p:strVal val="#ppt_x"/>
                                          </p:val>
                                        </p:tav>
                                      </p:tavLst>
                                    </p:anim>
                                    <p:anim calcmode="lin" valueType="num">
                                      <p:cBhvr additive="base">
                                        <p:cTn id="16" dur="500" fill="hold"/>
                                        <p:tgtEl>
                                          <p:spTgt spid="15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600"/>
                                  </p:stCondLst>
                                  <p:childTnLst>
                                    <p:set>
                                      <p:cBhvr>
                                        <p:cTn id="18" dur="1" fill="hold">
                                          <p:stCondLst>
                                            <p:cond delay="0"/>
                                          </p:stCondLst>
                                        </p:cTn>
                                        <p:tgtEl>
                                          <p:spTgt spid="95"/>
                                        </p:tgtEl>
                                        <p:attrNameLst>
                                          <p:attrName>style.visibility</p:attrName>
                                        </p:attrNameLst>
                                      </p:cBhvr>
                                      <p:to>
                                        <p:strVal val="visible"/>
                                      </p:to>
                                    </p:set>
                                    <p:anim calcmode="lin" valueType="num">
                                      <p:cBhvr additive="base">
                                        <p:cTn id="19" dur="500" fill="hold"/>
                                        <p:tgtEl>
                                          <p:spTgt spid="95"/>
                                        </p:tgtEl>
                                        <p:attrNameLst>
                                          <p:attrName>ppt_x</p:attrName>
                                        </p:attrNameLst>
                                      </p:cBhvr>
                                      <p:tavLst>
                                        <p:tav tm="0">
                                          <p:val>
                                            <p:strVal val="1+#ppt_w/2"/>
                                          </p:val>
                                        </p:tav>
                                        <p:tav tm="100000">
                                          <p:val>
                                            <p:strVal val="#ppt_x"/>
                                          </p:val>
                                        </p:tav>
                                      </p:tavLst>
                                    </p:anim>
                                    <p:anim calcmode="lin" valueType="num">
                                      <p:cBhvr additive="base">
                                        <p:cTn id="20"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p:cNvGrpSpPr/>
          <p:nvPr/>
        </p:nvGrpSpPr>
        <p:grpSpPr bwMode="auto">
          <a:xfrm>
            <a:off x="534670" y="1285240"/>
            <a:ext cx="404431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2．shell的主要版本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grpSp>
        <p:nvGrpSpPr>
          <p:cNvPr id="25" name="组合 24"/>
          <p:cNvGrpSpPr/>
          <p:nvPr/>
        </p:nvGrpSpPr>
        <p:grpSpPr>
          <a:xfrm>
            <a:off x="6236713" y="2717801"/>
            <a:ext cx="5434588" cy="3035299"/>
            <a:chOff x="5068312" y="3830871"/>
            <a:chExt cx="6601083" cy="2467058"/>
          </a:xfrm>
        </p:grpSpPr>
        <p:sp>
          <p:nvSpPr>
            <p:cNvPr id="31" name="AutoShape 8"/>
            <p:cNvSpPr>
              <a:spLocks noChangeArrowheads="1"/>
            </p:cNvSpPr>
            <p:nvPr/>
          </p:nvSpPr>
          <p:spPr bwMode="auto">
            <a:xfrm>
              <a:off x="5085715" y="3944416"/>
              <a:ext cx="6583680" cy="2353513"/>
            </a:xfrm>
            <a:prstGeom prst="roundRect">
              <a:avLst>
                <a:gd name="adj" fmla="val 4801"/>
              </a:avLst>
            </a:prstGeom>
            <a:gradFill rotWithShape="1">
              <a:gsLst>
                <a:gs pos="0">
                  <a:srgbClr val="98442C"/>
                </a:gs>
                <a:gs pos="100000">
                  <a:srgbClr val="C95839"/>
                </a:gs>
              </a:gsLst>
              <a:lin ang="0" scaled="1"/>
            </a:gradFill>
            <a:ln>
              <a:noFill/>
            </a:ln>
            <a:effectLst/>
          </p:spPr>
          <p:txBody>
            <a:bodyPr wrap="none" anchor="ctr"/>
            <a:lstStyle/>
            <a:p>
              <a:pPr algn="ctr"/>
              <a:endParaRPr lang="zh-CN" altLang="zh-CN"/>
            </a:p>
          </p:txBody>
        </p:sp>
        <p:sp>
          <p:nvSpPr>
            <p:cNvPr id="32" name="AutoShape 9" descr="10%"/>
            <p:cNvSpPr>
              <a:spLocks noChangeArrowheads="1"/>
            </p:cNvSpPr>
            <p:nvPr/>
          </p:nvSpPr>
          <p:spPr bwMode="auto">
            <a:xfrm rot="5612519">
              <a:off x="5050353" y="3848830"/>
              <a:ext cx="432436" cy="396518"/>
            </a:xfrm>
            <a:prstGeom prst="rtTriangle">
              <a:avLst/>
            </a:prstGeom>
            <a:pattFill prst="pct10">
              <a:fgClr>
                <a:schemeClr val="bg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Box 51"/>
            <p:cNvSpPr txBox="1"/>
            <p:nvPr/>
          </p:nvSpPr>
          <p:spPr>
            <a:xfrm>
              <a:off x="5486889" y="3990636"/>
              <a:ext cx="4996039" cy="384810"/>
            </a:xfrm>
            <a:prstGeom prst="rect">
              <a:avLst/>
            </a:prstGeom>
            <a:noFill/>
          </p:spPr>
          <p:txBody>
            <a:bodyPr wrap="square" rtlCol="0">
              <a:spAutoFit/>
            </a:bodyPr>
            <a:lstStyle/>
            <a:p>
              <a:r>
                <a:rPr altLang="en-US" sz="1800" b="1" dirty="0">
                  <a:solidFill>
                    <a:schemeClr val="bg1"/>
                  </a:solidFill>
                  <a:latin typeface="微软雅黑" panose="020B0503020204020204" pitchFamily="34" charset="-122"/>
                  <a:ea typeface="微软雅黑" panose="020B0503020204020204" pitchFamily="34" charset="-122"/>
                </a:rPr>
                <a:t>（2）C shell（csh）：</a:t>
              </a:r>
            </a:p>
          </p:txBody>
        </p:sp>
        <p:grpSp>
          <p:nvGrpSpPr>
            <p:cNvPr id="41" name="Group 35"/>
            <p:cNvGrpSpPr/>
            <p:nvPr/>
          </p:nvGrpSpPr>
          <p:grpSpPr bwMode="auto">
            <a:xfrm rot="5400000" flipH="1">
              <a:off x="5267894" y="4946070"/>
              <a:ext cx="386714" cy="325438"/>
              <a:chOff x="4124" y="570"/>
              <a:chExt cx="203" cy="205"/>
            </a:xfrm>
            <a:solidFill>
              <a:srgbClr val="FBCB33"/>
            </a:solidFill>
          </p:grpSpPr>
          <p:sp>
            <p:nvSpPr>
              <p:cNvPr id="42" name="Freeform 36"/>
              <p:cNvSpPr/>
              <p:nvPr/>
            </p:nvSpPr>
            <p:spPr bwMode="auto">
              <a:xfrm>
                <a:off x="4176" y="624"/>
                <a:ext cx="99" cy="151"/>
              </a:xfrm>
              <a:custGeom>
                <a:avLst/>
                <a:gdLst>
                  <a:gd name="T0" fmla="*/ 64 w 42"/>
                  <a:gd name="T1" fmla="*/ 151 h 64"/>
                  <a:gd name="T2" fmla="*/ 64 w 42"/>
                  <a:gd name="T3" fmla="*/ 54 h 64"/>
                  <a:gd name="T4" fmla="*/ 99 w 42"/>
                  <a:gd name="T5" fmla="*/ 87 h 64"/>
                  <a:gd name="T6" fmla="*/ 99 w 42"/>
                  <a:gd name="T7" fmla="*/ 50 h 64"/>
                  <a:gd name="T8" fmla="*/ 50 w 42"/>
                  <a:gd name="T9" fmla="*/ 0 h 64"/>
                  <a:gd name="T10" fmla="*/ 0 w 42"/>
                  <a:gd name="T11" fmla="*/ 50 h 64"/>
                  <a:gd name="T12" fmla="*/ 0 w 42"/>
                  <a:gd name="T13" fmla="*/ 87 h 64"/>
                  <a:gd name="T14" fmla="*/ 35 w 42"/>
                  <a:gd name="T15" fmla="*/ 54 h 64"/>
                  <a:gd name="T16" fmla="*/ 35 w 42"/>
                  <a:gd name="T17" fmla="*/ 151 h 64"/>
                  <a:gd name="T18" fmla="*/ 64 w 42"/>
                  <a:gd name="T19" fmla="*/ 151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64">
                    <a:moveTo>
                      <a:pt x="27" y="64"/>
                    </a:moveTo>
                    <a:cubicBezTo>
                      <a:pt x="27" y="23"/>
                      <a:pt x="27" y="23"/>
                      <a:pt x="27" y="23"/>
                    </a:cubicBezTo>
                    <a:cubicBezTo>
                      <a:pt x="33" y="29"/>
                      <a:pt x="42" y="37"/>
                      <a:pt x="42" y="37"/>
                    </a:cubicBezTo>
                    <a:cubicBezTo>
                      <a:pt x="42" y="21"/>
                      <a:pt x="42" y="21"/>
                      <a:pt x="42" y="21"/>
                    </a:cubicBezTo>
                    <a:cubicBezTo>
                      <a:pt x="21" y="0"/>
                      <a:pt x="21" y="0"/>
                      <a:pt x="21" y="0"/>
                    </a:cubicBezTo>
                    <a:cubicBezTo>
                      <a:pt x="0" y="21"/>
                      <a:pt x="0" y="21"/>
                      <a:pt x="0" y="21"/>
                    </a:cubicBezTo>
                    <a:cubicBezTo>
                      <a:pt x="0" y="37"/>
                      <a:pt x="0" y="37"/>
                      <a:pt x="0" y="37"/>
                    </a:cubicBezTo>
                    <a:cubicBezTo>
                      <a:pt x="0" y="37"/>
                      <a:pt x="9" y="29"/>
                      <a:pt x="15" y="23"/>
                    </a:cubicBezTo>
                    <a:cubicBezTo>
                      <a:pt x="15" y="64"/>
                      <a:pt x="15" y="64"/>
                      <a:pt x="15" y="64"/>
                    </a:cubicBezTo>
                    <a:lnTo>
                      <a:pt x="27"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 name="Freeform 37"/>
              <p:cNvSpPr/>
              <p:nvPr/>
            </p:nvSpPr>
            <p:spPr bwMode="auto">
              <a:xfrm>
                <a:off x="4124" y="570"/>
                <a:ext cx="203" cy="205"/>
              </a:xfrm>
              <a:custGeom>
                <a:avLst/>
                <a:gdLst>
                  <a:gd name="T0" fmla="*/ 26 w 86"/>
                  <a:gd name="T1" fmla="*/ 177 h 87"/>
                  <a:gd name="T2" fmla="*/ 26 w 86"/>
                  <a:gd name="T3" fmla="*/ 28 h 87"/>
                  <a:gd name="T4" fmla="*/ 177 w 86"/>
                  <a:gd name="T5" fmla="*/ 28 h 87"/>
                  <a:gd name="T6" fmla="*/ 177 w 86"/>
                  <a:gd name="T7" fmla="*/ 177 h 87"/>
                  <a:gd name="T8" fmla="*/ 151 w 86"/>
                  <a:gd name="T9" fmla="*/ 177 h 87"/>
                  <a:gd name="T10" fmla="*/ 151 w 86"/>
                  <a:gd name="T11" fmla="*/ 205 h 87"/>
                  <a:gd name="T12" fmla="*/ 203 w 86"/>
                  <a:gd name="T13" fmla="*/ 205 h 87"/>
                  <a:gd name="T14" fmla="*/ 203 w 86"/>
                  <a:gd name="T15" fmla="*/ 191 h 87"/>
                  <a:gd name="T16" fmla="*/ 203 w 86"/>
                  <a:gd name="T17" fmla="*/ 0 h 87"/>
                  <a:gd name="T18" fmla="*/ 0 w 86"/>
                  <a:gd name="T19" fmla="*/ 0 h 87"/>
                  <a:gd name="T20" fmla="*/ 0 w 86"/>
                  <a:gd name="T21" fmla="*/ 205 h 87"/>
                  <a:gd name="T22" fmla="*/ 52 w 86"/>
                  <a:gd name="T23" fmla="*/ 205 h 87"/>
                  <a:gd name="T24" fmla="*/ 52 w 86"/>
                  <a:gd name="T25" fmla="*/ 177 h 87"/>
                  <a:gd name="T26" fmla="*/ 26 w 86"/>
                  <a:gd name="T27" fmla="*/ 177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6" h="87">
                    <a:moveTo>
                      <a:pt x="11" y="75"/>
                    </a:moveTo>
                    <a:cubicBezTo>
                      <a:pt x="11" y="66"/>
                      <a:pt x="11" y="21"/>
                      <a:pt x="11" y="12"/>
                    </a:cubicBezTo>
                    <a:cubicBezTo>
                      <a:pt x="20" y="12"/>
                      <a:pt x="66" y="12"/>
                      <a:pt x="75" y="12"/>
                    </a:cubicBezTo>
                    <a:cubicBezTo>
                      <a:pt x="75" y="21"/>
                      <a:pt x="75" y="66"/>
                      <a:pt x="75" y="75"/>
                    </a:cubicBezTo>
                    <a:cubicBezTo>
                      <a:pt x="73" y="75"/>
                      <a:pt x="69" y="75"/>
                      <a:pt x="64" y="75"/>
                    </a:cubicBezTo>
                    <a:cubicBezTo>
                      <a:pt x="64" y="87"/>
                      <a:pt x="64" y="87"/>
                      <a:pt x="64" y="87"/>
                    </a:cubicBezTo>
                    <a:cubicBezTo>
                      <a:pt x="86" y="87"/>
                      <a:pt x="86" y="87"/>
                      <a:pt x="86" y="87"/>
                    </a:cubicBezTo>
                    <a:cubicBezTo>
                      <a:pt x="86" y="81"/>
                      <a:pt x="86" y="81"/>
                      <a:pt x="86" y="81"/>
                    </a:cubicBezTo>
                    <a:cubicBezTo>
                      <a:pt x="86" y="0"/>
                      <a:pt x="86" y="0"/>
                      <a:pt x="86" y="0"/>
                    </a:cubicBezTo>
                    <a:cubicBezTo>
                      <a:pt x="0" y="0"/>
                      <a:pt x="0" y="0"/>
                      <a:pt x="0" y="0"/>
                    </a:cubicBezTo>
                    <a:cubicBezTo>
                      <a:pt x="0" y="87"/>
                      <a:pt x="0" y="87"/>
                      <a:pt x="0" y="87"/>
                    </a:cubicBezTo>
                    <a:cubicBezTo>
                      <a:pt x="22" y="87"/>
                      <a:pt x="22" y="87"/>
                      <a:pt x="22" y="87"/>
                    </a:cubicBezTo>
                    <a:cubicBezTo>
                      <a:pt x="22" y="75"/>
                      <a:pt x="22" y="75"/>
                      <a:pt x="22" y="75"/>
                    </a:cubicBezTo>
                    <a:cubicBezTo>
                      <a:pt x="17" y="75"/>
                      <a:pt x="13" y="75"/>
                      <a:pt x="11"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48" name="Rectangle 23"/>
            <p:cNvSpPr>
              <a:spLocks noChangeArrowheads="1"/>
            </p:cNvSpPr>
            <p:nvPr/>
          </p:nvSpPr>
          <p:spPr bwMode="auto">
            <a:xfrm>
              <a:off x="5752465" y="4375150"/>
              <a:ext cx="5774055" cy="1872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nSpc>
                  <a:spcPct val="130000"/>
                </a:lnSpc>
                <a:defRPr/>
              </a:pPr>
              <a:r>
                <a:rPr lang="zh-CN" altLang="en-US" sz="1800" dirty="0">
                  <a:solidFill>
                    <a:schemeClr val="bg1"/>
                  </a:solidFill>
                  <a:latin typeface="微软雅黑" panose="020B0503020204020204" pitchFamily="34" charset="-122"/>
                  <a:ea typeface="微软雅黑" panose="020B0503020204020204" pitchFamily="34" charset="-122"/>
                </a:rPr>
                <a:t>它最初由Bill Joy编写，更多地考虑了用户界面的友好性，支持命令补齐等一些Bourne shell所不支持的特性，但其编程接口做得不如Bourne shell。Cshell被很多Ｃ程序员使用，因为C shell的语法和C语言的很相似，故C shell也由此得名。</a:t>
              </a:r>
            </a:p>
          </p:txBody>
        </p:sp>
        <p:cxnSp>
          <p:nvCxnSpPr>
            <p:cNvPr id="49" name="直接连接符 48"/>
            <p:cNvCxnSpPr/>
            <p:nvPr/>
          </p:nvCxnSpPr>
          <p:spPr>
            <a:xfrm>
              <a:off x="5547995" y="4390390"/>
              <a:ext cx="6110605" cy="3175"/>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544573" y="2819401"/>
            <a:ext cx="5475227" cy="2920999"/>
            <a:chOff x="5053072" y="1177011"/>
            <a:chExt cx="6616323" cy="2260879"/>
          </a:xfrm>
        </p:grpSpPr>
        <p:sp>
          <p:nvSpPr>
            <p:cNvPr id="29" name="AutoShape 4"/>
            <p:cNvSpPr>
              <a:spLocks noChangeArrowheads="1"/>
            </p:cNvSpPr>
            <p:nvPr/>
          </p:nvSpPr>
          <p:spPr bwMode="auto">
            <a:xfrm>
              <a:off x="5085715" y="1219835"/>
              <a:ext cx="6583680" cy="2218055"/>
            </a:xfrm>
            <a:prstGeom prst="roundRect">
              <a:avLst>
                <a:gd name="adj" fmla="val 4801"/>
              </a:avLst>
            </a:prstGeom>
            <a:solidFill>
              <a:schemeClr val="accent3">
                <a:lumMod val="75000"/>
              </a:schemeClr>
            </a:solidFill>
            <a:ln>
              <a:noFill/>
            </a:ln>
            <a:effectLst/>
          </p:spPr>
          <p:txBody>
            <a:bodyPr wrap="none" anchor="ctr"/>
            <a:lstStyle/>
            <a:p>
              <a:endParaRPr lang="zh-CN" altLang="en-US"/>
            </a:p>
          </p:txBody>
        </p:sp>
        <p:sp>
          <p:nvSpPr>
            <p:cNvPr id="30" name="AutoShape 5" descr="10%"/>
            <p:cNvSpPr>
              <a:spLocks noChangeArrowheads="1"/>
            </p:cNvSpPr>
            <p:nvPr/>
          </p:nvSpPr>
          <p:spPr bwMode="auto">
            <a:xfrm rot="5612519">
              <a:off x="5035113" y="1194970"/>
              <a:ext cx="432436" cy="396518"/>
            </a:xfrm>
            <a:prstGeom prst="rtTriangle">
              <a:avLst/>
            </a:prstGeom>
            <a:solidFill>
              <a:schemeClr val="bg1"/>
            </a:solidFill>
            <a:ln>
              <a:noFill/>
            </a:ln>
            <a:effectLst/>
          </p:spPr>
          <p:txBody>
            <a:bodyPr wrap="none" anchor="ctr"/>
            <a:lstStyle/>
            <a:p>
              <a:endParaRPr lang="zh-CN" altLang="en-US"/>
            </a:p>
          </p:txBody>
        </p:sp>
        <p:sp>
          <p:nvSpPr>
            <p:cNvPr id="35" name="TextBox 46"/>
            <p:cNvSpPr txBox="1"/>
            <p:nvPr/>
          </p:nvSpPr>
          <p:spPr>
            <a:xfrm>
              <a:off x="5492799" y="1367385"/>
              <a:ext cx="4994575" cy="384810"/>
            </a:xfrm>
            <a:prstGeom prst="rect">
              <a:avLst/>
            </a:prstGeom>
            <a:noFill/>
          </p:spPr>
          <p:txBody>
            <a:bodyPr wrap="square" rtlCol="0">
              <a:spAutoFit/>
            </a:bodyPr>
            <a:lstStyle/>
            <a:p>
              <a:r>
                <a:rPr altLang="en-US" sz="1800" b="1" dirty="0">
                  <a:solidFill>
                    <a:schemeClr val="bg1"/>
                  </a:solidFill>
                  <a:latin typeface="微软雅黑" panose="020B0503020204020204" pitchFamily="34" charset="-122"/>
                  <a:ea typeface="微软雅黑" panose="020B0503020204020204" pitchFamily="34" charset="-122"/>
                </a:rPr>
                <a:t>（1）Bourne shell（sh）：</a:t>
              </a:r>
            </a:p>
          </p:txBody>
        </p:sp>
        <p:cxnSp>
          <p:nvCxnSpPr>
            <p:cNvPr id="36" name="直接连接符 35"/>
            <p:cNvCxnSpPr/>
            <p:nvPr/>
          </p:nvCxnSpPr>
          <p:spPr>
            <a:xfrm flipV="1">
              <a:off x="5487670" y="1665605"/>
              <a:ext cx="6033770" cy="762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37" name="Group 35"/>
            <p:cNvGrpSpPr/>
            <p:nvPr/>
          </p:nvGrpSpPr>
          <p:grpSpPr bwMode="auto">
            <a:xfrm rot="5400000" flipH="1">
              <a:off x="5268089" y="2225640"/>
              <a:ext cx="386714" cy="325438"/>
              <a:chOff x="4124" y="570"/>
              <a:chExt cx="203" cy="205"/>
            </a:xfrm>
            <a:solidFill>
              <a:srgbClr val="98442C"/>
            </a:solidFill>
          </p:grpSpPr>
          <p:sp>
            <p:nvSpPr>
              <p:cNvPr id="38" name="Freeform 36"/>
              <p:cNvSpPr/>
              <p:nvPr/>
            </p:nvSpPr>
            <p:spPr bwMode="auto">
              <a:xfrm>
                <a:off x="4176" y="624"/>
                <a:ext cx="99" cy="151"/>
              </a:xfrm>
              <a:custGeom>
                <a:avLst/>
                <a:gdLst>
                  <a:gd name="T0" fmla="*/ 64 w 42"/>
                  <a:gd name="T1" fmla="*/ 151 h 64"/>
                  <a:gd name="T2" fmla="*/ 64 w 42"/>
                  <a:gd name="T3" fmla="*/ 54 h 64"/>
                  <a:gd name="T4" fmla="*/ 99 w 42"/>
                  <a:gd name="T5" fmla="*/ 87 h 64"/>
                  <a:gd name="T6" fmla="*/ 99 w 42"/>
                  <a:gd name="T7" fmla="*/ 50 h 64"/>
                  <a:gd name="T8" fmla="*/ 50 w 42"/>
                  <a:gd name="T9" fmla="*/ 0 h 64"/>
                  <a:gd name="T10" fmla="*/ 0 w 42"/>
                  <a:gd name="T11" fmla="*/ 50 h 64"/>
                  <a:gd name="T12" fmla="*/ 0 w 42"/>
                  <a:gd name="T13" fmla="*/ 87 h 64"/>
                  <a:gd name="T14" fmla="*/ 35 w 42"/>
                  <a:gd name="T15" fmla="*/ 54 h 64"/>
                  <a:gd name="T16" fmla="*/ 35 w 42"/>
                  <a:gd name="T17" fmla="*/ 151 h 64"/>
                  <a:gd name="T18" fmla="*/ 64 w 42"/>
                  <a:gd name="T19" fmla="*/ 151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64">
                    <a:moveTo>
                      <a:pt x="27" y="64"/>
                    </a:moveTo>
                    <a:cubicBezTo>
                      <a:pt x="27" y="23"/>
                      <a:pt x="27" y="23"/>
                      <a:pt x="27" y="23"/>
                    </a:cubicBezTo>
                    <a:cubicBezTo>
                      <a:pt x="33" y="29"/>
                      <a:pt x="42" y="37"/>
                      <a:pt x="42" y="37"/>
                    </a:cubicBezTo>
                    <a:cubicBezTo>
                      <a:pt x="42" y="21"/>
                      <a:pt x="42" y="21"/>
                      <a:pt x="42" y="21"/>
                    </a:cubicBezTo>
                    <a:cubicBezTo>
                      <a:pt x="21" y="0"/>
                      <a:pt x="21" y="0"/>
                      <a:pt x="21" y="0"/>
                    </a:cubicBezTo>
                    <a:cubicBezTo>
                      <a:pt x="0" y="21"/>
                      <a:pt x="0" y="21"/>
                      <a:pt x="0" y="21"/>
                    </a:cubicBezTo>
                    <a:cubicBezTo>
                      <a:pt x="0" y="37"/>
                      <a:pt x="0" y="37"/>
                      <a:pt x="0" y="37"/>
                    </a:cubicBezTo>
                    <a:cubicBezTo>
                      <a:pt x="0" y="37"/>
                      <a:pt x="9" y="29"/>
                      <a:pt x="15" y="23"/>
                    </a:cubicBezTo>
                    <a:cubicBezTo>
                      <a:pt x="15" y="64"/>
                      <a:pt x="15" y="64"/>
                      <a:pt x="15" y="64"/>
                    </a:cubicBezTo>
                    <a:lnTo>
                      <a:pt x="27"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9" name="Freeform 37"/>
              <p:cNvSpPr/>
              <p:nvPr/>
            </p:nvSpPr>
            <p:spPr bwMode="auto">
              <a:xfrm>
                <a:off x="4124" y="570"/>
                <a:ext cx="203" cy="205"/>
              </a:xfrm>
              <a:custGeom>
                <a:avLst/>
                <a:gdLst>
                  <a:gd name="T0" fmla="*/ 26 w 86"/>
                  <a:gd name="T1" fmla="*/ 177 h 87"/>
                  <a:gd name="T2" fmla="*/ 26 w 86"/>
                  <a:gd name="T3" fmla="*/ 28 h 87"/>
                  <a:gd name="T4" fmla="*/ 177 w 86"/>
                  <a:gd name="T5" fmla="*/ 28 h 87"/>
                  <a:gd name="T6" fmla="*/ 177 w 86"/>
                  <a:gd name="T7" fmla="*/ 177 h 87"/>
                  <a:gd name="T8" fmla="*/ 151 w 86"/>
                  <a:gd name="T9" fmla="*/ 177 h 87"/>
                  <a:gd name="T10" fmla="*/ 151 w 86"/>
                  <a:gd name="T11" fmla="*/ 205 h 87"/>
                  <a:gd name="T12" fmla="*/ 203 w 86"/>
                  <a:gd name="T13" fmla="*/ 205 h 87"/>
                  <a:gd name="T14" fmla="*/ 203 w 86"/>
                  <a:gd name="T15" fmla="*/ 191 h 87"/>
                  <a:gd name="T16" fmla="*/ 203 w 86"/>
                  <a:gd name="T17" fmla="*/ 0 h 87"/>
                  <a:gd name="T18" fmla="*/ 0 w 86"/>
                  <a:gd name="T19" fmla="*/ 0 h 87"/>
                  <a:gd name="T20" fmla="*/ 0 w 86"/>
                  <a:gd name="T21" fmla="*/ 205 h 87"/>
                  <a:gd name="T22" fmla="*/ 52 w 86"/>
                  <a:gd name="T23" fmla="*/ 205 h 87"/>
                  <a:gd name="T24" fmla="*/ 52 w 86"/>
                  <a:gd name="T25" fmla="*/ 177 h 87"/>
                  <a:gd name="T26" fmla="*/ 26 w 86"/>
                  <a:gd name="T27" fmla="*/ 177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6" h="87">
                    <a:moveTo>
                      <a:pt x="11" y="75"/>
                    </a:moveTo>
                    <a:cubicBezTo>
                      <a:pt x="11" y="66"/>
                      <a:pt x="11" y="21"/>
                      <a:pt x="11" y="12"/>
                    </a:cubicBezTo>
                    <a:cubicBezTo>
                      <a:pt x="20" y="12"/>
                      <a:pt x="66" y="12"/>
                      <a:pt x="75" y="12"/>
                    </a:cubicBezTo>
                    <a:cubicBezTo>
                      <a:pt x="75" y="21"/>
                      <a:pt x="75" y="66"/>
                      <a:pt x="75" y="75"/>
                    </a:cubicBezTo>
                    <a:cubicBezTo>
                      <a:pt x="73" y="75"/>
                      <a:pt x="69" y="75"/>
                      <a:pt x="64" y="75"/>
                    </a:cubicBezTo>
                    <a:cubicBezTo>
                      <a:pt x="64" y="87"/>
                      <a:pt x="64" y="87"/>
                      <a:pt x="64" y="87"/>
                    </a:cubicBezTo>
                    <a:cubicBezTo>
                      <a:pt x="86" y="87"/>
                      <a:pt x="86" y="87"/>
                      <a:pt x="86" y="87"/>
                    </a:cubicBezTo>
                    <a:cubicBezTo>
                      <a:pt x="86" y="81"/>
                      <a:pt x="86" y="81"/>
                      <a:pt x="86" y="81"/>
                    </a:cubicBezTo>
                    <a:cubicBezTo>
                      <a:pt x="86" y="0"/>
                      <a:pt x="86" y="0"/>
                      <a:pt x="86" y="0"/>
                    </a:cubicBezTo>
                    <a:cubicBezTo>
                      <a:pt x="0" y="0"/>
                      <a:pt x="0" y="0"/>
                      <a:pt x="0" y="0"/>
                    </a:cubicBezTo>
                    <a:cubicBezTo>
                      <a:pt x="0" y="87"/>
                      <a:pt x="0" y="87"/>
                      <a:pt x="0" y="87"/>
                    </a:cubicBezTo>
                    <a:cubicBezTo>
                      <a:pt x="22" y="87"/>
                      <a:pt x="22" y="87"/>
                      <a:pt x="22" y="87"/>
                    </a:cubicBezTo>
                    <a:cubicBezTo>
                      <a:pt x="22" y="75"/>
                      <a:pt x="22" y="75"/>
                      <a:pt x="22" y="75"/>
                    </a:cubicBezTo>
                    <a:cubicBezTo>
                      <a:pt x="17" y="75"/>
                      <a:pt x="13" y="75"/>
                      <a:pt x="11"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2" name="Rectangle 23"/>
            <p:cNvSpPr>
              <a:spLocks noChangeArrowheads="1"/>
            </p:cNvSpPr>
            <p:nvPr/>
          </p:nvSpPr>
          <p:spPr bwMode="auto">
            <a:xfrm>
              <a:off x="5687060" y="1868170"/>
              <a:ext cx="5788025" cy="128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nSpc>
                  <a:spcPct val="130000"/>
                </a:lnSpc>
                <a:defRPr/>
              </a:pPr>
              <a:r>
                <a:rPr lang="zh-CN" altLang="en-US" sz="2000" dirty="0">
                  <a:solidFill>
                    <a:schemeClr val="bg1"/>
                  </a:solidFill>
                  <a:latin typeface="微软雅黑" panose="020B0503020204020204" pitchFamily="34" charset="-122"/>
                  <a:ea typeface="微软雅黑" panose="020B0503020204020204" pitchFamily="34" charset="-122"/>
                </a:rPr>
                <a:t>它是UNIX最初使用的shell，并且在每种UNIX上都可以使用。它在shell编程方面相当优秀，但处理与用户的交互方面不如其他几种shell。</a:t>
              </a:r>
            </a:p>
          </p:txBody>
        </p:sp>
      </p:grpSp>
      <p:sp>
        <p:nvSpPr>
          <p:cNvPr id="5" name="矩形 6"/>
          <p:cNvSpPr>
            <a:spLocks noChangeArrowheads="1"/>
          </p:cNvSpPr>
          <p:nvPr/>
        </p:nvSpPr>
        <p:spPr bwMode="auto">
          <a:xfrm>
            <a:off x="673735" y="1865630"/>
            <a:ext cx="5612765" cy="46166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在Linux系统中，常见的shell版本有以下几种：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p:cNvGrpSpPr/>
          <p:nvPr/>
        </p:nvGrpSpPr>
        <p:grpSpPr bwMode="auto">
          <a:xfrm>
            <a:off x="534670" y="1043940"/>
            <a:ext cx="404431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2．shell的主要版本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sp>
        <p:nvSpPr>
          <p:cNvPr id="33" name="AutoShape 11"/>
          <p:cNvSpPr>
            <a:spLocks noChangeArrowheads="1"/>
          </p:cNvSpPr>
          <p:nvPr/>
        </p:nvSpPr>
        <p:spPr bwMode="auto">
          <a:xfrm>
            <a:off x="508635" y="1918335"/>
            <a:ext cx="6604000" cy="1590040"/>
          </a:xfrm>
          <a:prstGeom prst="roundRect">
            <a:avLst>
              <a:gd name="adj" fmla="val 4801"/>
            </a:avLst>
          </a:prstGeom>
          <a:gradFill rotWithShape="1">
            <a:gsLst>
              <a:gs pos="0">
                <a:srgbClr val="FFC000"/>
              </a:gs>
              <a:gs pos="100000">
                <a:srgbClr val="FBCB33"/>
              </a:gs>
            </a:gsLst>
            <a:lin ang="0" scaled="1"/>
          </a:gradFill>
          <a:ln>
            <a:noFill/>
          </a:ln>
          <a:effectLst/>
        </p:spPr>
        <p:txBody>
          <a:bodyPr wrap="none" anchor="ctr"/>
          <a:lstStyle/>
          <a:p>
            <a:endParaRPr lang="zh-CN" altLang="en-US"/>
          </a:p>
        </p:txBody>
      </p:sp>
      <p:sp>
        <p:nvSpPr>
          <p:cNvPr id="34" name="AutoShape 12" descr="10%"/>
          <p:cNvSpPr>
            <a:spLocks noChangeArrowheads="1"/>
          </p:cNvSpPr>
          <p:nvPr/>
        </p:nvSpPr>
        <p:spPr bwMode="auto">
          <a:xfrm rot="5612519">
            <a:off x="478353" y="1877383"/>
            <a:ext cx="432436" cy="396518"/>
          </a:xfrm>
          <a:prstGeom prst="rtTriangle">
            <a:avLst/>
          </a:prstGeom>
          <a:pattFill prst="pct10">
            <a:fgClr>
              <a:schemeClr val="bg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TextBox 55"/>
          <p:cNvSpPr txBox="1"/>
          <p:nvPr/>
        </p:nvSpPr>
        <p:spPr>
          <a:xfrm>
            <a:off x="936040" y="1949792"/>
            <a:ext cx="4994573" cy="384810"/>
          </a:xfrm>
          <a:prstGeom prst="rect">
            <a:avLst/>
          </a:prstGeom>
          <a:noFill/>
        </p:spPr>
        <p:txBody>
          <a:bodyPr wrap="square" rtlCol="0">
            <a:spAutoFit/>
          </a:bodyPr>
          <a:lstStyle/>
          <a:p>
            <a:r>
              <a:rPr altLang="en-US" sz="1800" b="1" dirty="0">
                <a:solidFill>
                  <a:schemeClr val="tx1">
                    <a:lumMod val="85000"/>
                    <a:lumOff val="15000"/>
                  </a:schemeClr>
                </a:solidFill>
                <a:latin typeface="微软雅黑" panose="020B0503020204020204" pitchFamily="34" charset="-122"/>
                <a:ea typeface="微软雅黑" panose="020B0503020204020204" pitchFamily="34" charset="-122"/>
              </a:rPr>
              <a:t>（3）Korn shell（ksh）：</a:t>
            </a:r>
          </a:p>
        </p:txBody>
      </p:sp>
      <p:grpSp>
        <p:nvGrpSpPr>
          <p:cNvPr id="45" name="Group 35"/>
          <p:cNvGrpSpPr/>
          <p:nvPr/>
        </p:nvGrpSpPr>
        <p:grpSpPr bwMode="auto">
          <a:xfrm rot="5400000" flipH="1">
            <a:off x="711329" y="2847216"/>
            <a:ext cx="386714" cy="325438"/>
            <a:chOff x="4124" y="570"/>
            <a:chExt cx="203" cy="205"/>
          </a:xfrm>
          <a:solidFill>
            <a:srgbClr val="3A8E5E"/>
          </a:solidFill>
        </p:grpSpPr>
        <p:sp>
          <p:nvSpPr>
            <p:cNvPr id="46" name="Freeform 36"/>
            <p:cNvSpPr/>
            <p:nvPr/>
          </p:nvSpPr>
          <p:spPr bwMode="auto">
            <a:xfrm>
              <a:off x="4176" y="624"/>
              <a:ext cx="99" cy="151"/>
            </a:xfrm>
            <a:custGeom>
              <a:avLst/>
              <a:gdLst>
                <a:gd name="T0" fmla="*/ 64 w 42"/>
                <a:gd name="T1" fmla="*/ 151 h 64"/>
                <a:gd name="T2" fmla="*/ 64 w 42"/>
                <a:gd name="T3" fmla="*/ 54 h 64"/>
                <a:gd name="T4" fmla="*/ 99 w 42"/>
                <a:gd name="T5" fmla="*/ 87 h 64"/>
                <a:gd name="T6" fmla="*/ 99 w 42"/>
                <a:gd name="T7" fmla="*/ 50 h 64"/>
                <a:gd name="T8" fmla="*/ 50 w 42"/>
                <a:gd name="T9" fmla="*/ 0 h 64"/>
                <a:gd name="T10" fmla="*/ 0 w 42"/>
                <a:gd name="T11" fmla="*/ 50 h 64"/>
                <a:gd name="T12" fmla="*/ 0 w 42"/>
                <a:gd name="T13" fmla="*/ 87 h 64"/>
                <a:gd name="T14" fmla="*/ 35 w 42"/>
                <a:gd name="T15" fmla="*/ 54 h 64"/>
                <a:gd name="T16" fmla="*/ 35 w 42"/>
                <a:gd name="T17" fmla="*/ 151 h 64"/>
                <a:gd name="T18" fmla="*/ 64 w 42"/>
                <a:gd name="T19" fmla="*/ 151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64">
                  <a:moveTo>
                    <a:pt x="27" y="64"/>
                  </a:moveTo>
                  <a:cubicBezTo>
                    <a:pt x="27" y="23"/>
                    <a:pt x="27" y="23"/>
                    <a:pt x="27" y="23"/>
                  </a:cubicBezTo>
                  <a:cubicBezTo>
                    <a:pt x="33" y="29"/>
                    <a:pt x="42" y="37"/>
                    <a:pt x="42" y="37"/>
                  </a:cubicBezTo>
                  <a:cubicBezTo>
                    <a:pt x="42" y="21"/>
                    <a:pt x="42" y="21"/>
                    <a:pt x="42" y="21"/>
                  </a:cubicBezTo>
                  <a:cubicBezTo>
                    <a:pt x="21" y="0"/>
                    <a:pt x="21" y="0"/>
                    <a:pt x="21" y="0"/>
                  </a:cubicBezTo>
                  <a:cubicBezTo>
                    <a:pt x="0" y="21"/>
                    <a:pt x="0" y="21"/>
                    <a:pt x="0" y="21"/>
                  </a:cubicBezTo>
                  <a:cubicBezTo>
                    <a:pt x="0" y="37"/>
                    <a:pt x="0" y="37"/>
                    <a:pt x="0" y="37"/>
                  </a:cubicBezTo>
                  <a:cubicBezTo>
                    <a:pt x="0" y="37"/>
                    <a:pt x="9" y="29"/>
                    <a:pt x="15" y="23"/>
                  </a:cubicBezTo>
                  <a:cubicBezTo>
                    <a:pt x="15" y="64"/>
                    <a:pt x="15" y="64"/>
                    <a:pt x="15" y="64"/>
                  </a:cubicBezTo>
                  <a:lnTo>
                    <a:pt x="27"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 name="Freeform 37"/>
            <p:cNvSpPr/>
            <p:nvPr/>
          </p:nvSpPr>
          <p:spPr bwMode="auto">
            <a:xfrm>
              <a:off x="4124" y="570"/>
              <a:ext cx="203" cy="205"/>
            </a:xfrm>
            <a:custGeom>
              <a:avLst/>
              <a:gdLst>
                <a:gd name="T0" fmla="*/ 26 w 86"/>
                <a:gd name="T1" fmla="*/ 177 h 87"/>
                <a:gd name="T2" fmla="*/ 26 w 86"/>
                <a:gd name="T3" fmla="*/ 28 h 87"/>
                <a:gd name="T4" fmla="*/ 177 w 86"/>
                <a:gd name="T5" fmla="*/ 28 h 87"/>
                <a:gd name="T6" fmla="*/ 177 w 86"/>
                <a:gd name="T7" fmla="*/ 177 h 87"/>
                <a:gd name="T8" fmla="*/ 151 w 86"/>
                <a:gd name="T9" fmla="*/ 177 h 87"/>
                <a:gd name="T10" fmla="*/ 151 w 86"/>
                <a:gd name="T11" fmla="*/ 205 h 87"/>
                <a:gd name="T12" fmla="*/ 203 w 86"/>
                <a:gd name="T13" fmla="*/ 205 h 87"/>
                <a:gd name="T14" fmla="*/ 203 w 86"/>
                <a:gd name="T15" fmla="*/ 191 h 87"/>
                <a:gd name="T16" fmla="*/ 203 w 86"/>
                <a:gd name="T17" fmla="*/ 0 h 87"/>
                <a:gd name="T18" fmla="*/ 0 w 86"/>
                <a:gd name="T19" fmla="*/ 0 h 87"/>
                <a:gd name="T20" fmla="*/ 0 w 86"/>
                <a:gd name="T21" fmla="*/ 205 h 87"/>
                <a:gd name="T22" fmla="*/ 52 w 86"/>
                <a:gd name="T23" fmla="*/ 205 h 87"/>
                <a:gd name="T24" fmla="*/ 52 w 86"/>
                <a:gd name="T25" fmla="*/ 177 h 87"/>
                <a:gd name="T26" fmla="*/ 26 w 86"/>
                <a:gd name="T27" fmla="*/ 177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6" h="87">
                  <a:moveTo>
                    <a:pt x="11" y="75"/>
                  </a:moveTo>
                  <a:cubicBezTo>
                    <a:pt x="11" y="66"/>
                    <a:pt x="11" y="21"/>
                    <a:pt x="11" y="12"/>
                  </a:cubicBezTo>
                  <a:cubicBezTo>
                    <a:pt x="20" y="12"/>
                    <a:pt x="66" y="12"/>
                    <a:pt x="75" y="12"/>
                  </a:cubicBezTo>
                  <a:cubicBezTo>
                    <a:pt x="75" y="21"/>
                    <a:pt x="75" y="66"/>
                    <a:pt x="75" y="75"/>
                  </a:cubicBezTo>
                  <a:cubicBezTo>
                    <a:pt x="73" y="75"/>
                    <a:pt x="69" y="75"/>
                    <a:pt x="64" y="75"/>
                  </a:cubicBezTo>
                  <a:cubicBezTo>
                    <a:pt x="64" y="87"/>
                    <a:pt x="64" y="87"/>
                    <a:pt x="64" y="87"/>
                  </a:cubicBezTo>
                  <a:cubicBezTo>
                    <a:pt x="86" y="87"/>
                    <a:pt x="86" y="87"/>
                    <a:pt x="86" y="87"/>
                  </a:cubicBezTo>
                  <a:cubicBezTo>
                    <a:pt x="86" y="81"/>
                    <a:pt x="86" y="81"/>
                    <a:pt x="86" y="81"/>
                  </a:cubicBezTo>
                  <a:cubicBezTo>
                    <a:pt x="86" y="0"/>
                    <a:pt x="86" y="0"/>
                    <a:pt x="86" y="0"/>
                  </a:cubicBezTo>
                  <a:cubicBezTo>
                    <a:pt x="0" y="0"/>
                    <a:pt x="0" y="0"/>
                    <a:pt x="0" y="0"/>
                  </a:cubicBezTo>
                  <a:cubicBezTo>
                    <a:pt x="0" y="87"/>
                    <a:pt x="0" y="87"/>
                    <a:pt x="0" y="87"/>
                  </a:cubicBezTo>
                  <a:cubicBezTo>
                    <a:pt x="22" y="87"/>
                    <a:pt x="22" y="87"/>
                    <a:pt x="22" y="87"/>
                  </a:cubicBezTo>
                  <a:cubicBezTo>
                    <a:pt x="22" y="75"/>
                    <a:pt x="22" y="75"/>
                    <a:pt x="22" y="75"/>
                  </a:cubicBezTo>
                  <a:cubicBezTo>
                    <a:pt x="17" y="75"/>
                    <a:pt x="13" y="75"/>
                    <a:pt x="11"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cxnSp>
        <p:nvCxnSpPr>
          <p:cNvPr id="50" name="直接连接符 49"/>
          <p:cNvCxnSpPr/>
          <p:nvPr/>
        </p:nvCxnSpPr>
        <p:spPr>
          <a:xfrm>
            <a:off x="931068" y="2335143"/>
            <a:ext cx="5174804"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Rectangle 23"/>
          <p:cNvSpPr>
            <a:spLocks noChangeArrowheads="1"/>
          </p:cNvSpPr>
          <p:nvPr/>
        </p:nvSpPr>
        <p:spPr bwMode="auto">
          <a:xfrm>
            <a:off x="1305560" y="2451735"/>
            <a:ext cx="4799965" cy="883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nSpc>
                <a:spcPct val="130000"/>
              </a:lnSpc>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它集合了C shell和Bourne shell的优点，并且与Bourne shell完全兼容。</a:t>
            </a:r>
          </a:p>
        </p:txBody>
      </p:sp>
      <p:sp>
        <p:nvSpPr>
          <p:cNvPr id="3" name="AutoShape 4"/>
          <p:cNvSpPr>
            <a:spLocks noChangeArrowheads="1"/>
          </p:cNvSpPr>
          <p:nvPr/>
        </p:nvSpPr>
        <p:spPr bwMode="auto">
          <a:xfrm>
            <a:off x="504190" y="3839210"/>
            <a:ext cx="11139170" cy="2570480"/>
          </a:xfrm>
          <a:prstGeom prst="roundRect">
            <a:avLst>
              <a:gd name="adj" fmla="val 4801"/>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2700000" scaled="1"/>
            <a:tileRect/>
          </a:gradFill>
          <a:ln>
            <a:noFill/>
          </a:ln>
          <a:effectLst/>
        </p:spPr>
        <p:txBody>
          <a:bodyPr wrap="none" anchor="ctr"/>
          <a:lstStyle/>
          <a:p>
            <a:endParaRPr lang="zh-CN" altLang="en-US"/>
          </a:p>
        </p:txBody>
      </p:sp>
      <p:sp>
        <p:nvSpPr>
          <p:cNvPr id="6" name="AutoShape 5" descr="10%"/>
          <p:cNvSpPr>
            <a:spLocks noChangeArrowheads="1"/>
          </p:cNvSpPr>
          <p:nvPr/>
        </p:nvSpPr>
        <p:spPr bwMode="auto">
          <a:xfrm rot="5400000">
            <a:off x="490418" y="3840380"/>
            <a:ext cx="432436" cy="396518"/>
          </a:xfrm>
          <a:prstGeom prst="rtTriangle">
            <a:avLst/>
          </a:prstGeom>
          <a:solidFill>
            <a:schemeClr val="bg1"/>
          </a:solidFill>
          <a:ln>
            <a:noFill/>
          </a:ln>
          <a:effectLst/>
        </p:spPr>
        <p:txBody>
          <a:bodyPr wrap="none" anchor="ctr"/>
          <a:lstStyle/>
          <a:p>
            <a:endParaRPr lang="zh-CN" altLang="en-US"/>
          </a:p>
        </p:txBody>
      </p:sp>
      <p:sp>
        <p:nvSpPr>
          <p:cNvPr id="7" name="TextBox 46"/>
          <p:cNvSpPr txBox="1"/>
          <p:nvPr/>
        </p:nvSpPr>
        <p:spPr>
          <a:xfrm>
            <a:off x="1103679" y="3925036"/>
            <a:ext cx="4994575" cy="417830"/>
          </a:xfrm>
          <a:prstGeom prst="rect">
            <a:avLst/>
          </a:prstGeom>
          <a:noFill/>
        </p:spPr>
        <p:txBody>
          <a:bodyPr wrap="square" rtlCol="0">
            <a:spAutoFit/>
          </a:bodyPr>
          <a:lstStyle/>
          <a:p>
            <a:r>
              <a:rPr altLang="en-US" sz="2000" b="1" dirty="0">
                <a:solidFill>
                  <a:schemeClr val="bg1"/>
                </a:solidFill>
                <a:latin typeface="微软雅黑" panose="020B0503020204020204" pitchFamily="34" charset="-122"/>
                <a:ea typeface="微软雅黑" panose="020B0503020204020204" pitchFamily="34" charset="-122"/>
              </a:rPr>
              <a:t>（4）Bourne Again shell（bash）：</a:t>
            </a:r>
          </a:p>
        </p:txBody>
      </p:sp>
      <p:cxnSp>
        <p:nvCxnSpPr>
          <p:cNvPr id="9" name="直接连接符 8"/>
          <p:cNvCxnSpPr/>
          <p:nvPr/>
        </p:nvCxnSpPr>
        <p:spPr>
          <a:xfrm>
            <a:off x="1105535" y="4378325"/>
            <a:ext cx="10522585"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14" name="Group 35"/>
          <p:cNvGrpSpPr/>
          <p:nvPr/>
        </p:nvGrpSpPr>
        <p:grpSpPr bwMode="auto">
          <a:xfrm rot="5400000" flipH="1">
            <a:off x="589409" y="5106000"/>
            <a:ext cx="386714" cy="325438"/>
            <a:chOff x="4124" y="570"/>
            <a:chExt cx="203" cy="205"/>
          </a:xfrm>
          <a:solidFill>
            <a:srgbClr val="98442C"/>
          </a:solidFill>
        </p:grpSpPr>
        <p:sp>
          <p:nvSpPr>
            <p:cNvPr id="15" name="Freeform 36"/>
            <p:cNvSpPr/>
            <p:nvPr/>
          </p:nvSpPr>
          <p:spPr bwMode="auto">
            <a:xfrm>
              <a:off x="4176" y="624"/>
              <a:ext cx="99" cy="151"/>
            </a:xfrm>
            <a:custGeom>
              <a:avLst/>
              <a:gdLst>
                <a:gd name="T0" fmla="*/ 64 w 42"/>
                <a:gd name="T1" fmla="*/ 151 h 64"/>
                <a:gd name="T2" fmla="*/ 64 w 42"/>
                <a:gd name="T3" fmla="*/ 54 h 64"/>
                <a:gd name="T4" fmla="*/ 99 w 42"/>
                <a:gd name="T5" fmla="*/ 87 h 64"/>
                <a:gd name="T6" fmla="*/ 99 w 42"/>
                <a:gd name="T7" fmla="*/ 50 h 64"/>
                <a:gd name="T8" fmla="*/ 50 w 42"/>
                <a:gd name="T9" fmla="*/ 0 h 64"/>
                <a:gd name="T10" fmla="*/ 0 w 42"/>
                <a:gd name="T11" fmla="*/ 50 h 64"/>
                <a:gd name="T12" fmla="*/ 0 w 42"/>
                <a:gd name="T13" fmla="*/ 87 h 64"/>
                <a:gd name="T14" fmla="*/ 35 w 42"/>
                <a:gd name="T15" fmla="*/ 54 h 64"/>
                <a:gd name="T16" fmla="*/ 35 w 42"/>
                <a:gd name="T17" fmla="*/ 151 h 64"/>
                <a:gd name="T18" fmla="*/ 64 w 42"/>
                <a:gd name="T19" fmla="*/ 151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64">
                  <a:moveTo>
                    <a:pt x="27" y="64"/>
                  </a:moveTo>
                  <a:cubicBezTo>
                    <a:pt x="27" y="23"/>
                    <a:pt x="27" y="23"/>
                    <a:pt x="27" y="23"/>
                  </a:cubicBezTo>
                  <a:cubicBezTo>
                    <a:pt x="33" y="29"/>
                    <a:pt x="42" y="37"/>
                    <a:pt x="42" y="37"/>
                  </a:cubicBezTo>
                  <a:cubicBezTo>
                    <a:pt x="42" y="21"/>
                    <a:pt x="42" y="21"/>
                    <a:pt x="42" y="21"/>
                  </a:cubicBezTo>
                  <a:cubicBezTo>
                    <a:pt x="21" y="0"/>
                    <a:pt x="21" y="0"/>
                    <a:pt x="21" y="0"/>
                  </a:cubicBezTo>
                  <a:cubicBezTo>
                    <a:pt x="0" y="21"/>
                    <a:pt x="0" y="21"/>
                    <a:pt x="0" y="21"/>
                  </a:cubicBezTo>
                  <a:cubicBezTo>
                    <a:pt x="0" y="37"/>
                    <a:pt x="0" y="37"/>
                    <a:pt x="0" y="37"/>
                  </a:cubicBezTo>
                  <a:cubicBezTo>
                    <a:pt x="0" y="37"/>
                    <a:pt x="9" y="29"/>
                    <a:pt x="15" y="23"/>
                  </a:cubicBezTo>
                  <a:cubicBezTo>
                    <a:pt x="15" y="64"/>
                    <a:pt x="15" y="64"/>
                    <a:pt x="15" y="64"/>
                  </a:cubicBezTo>
                  <a:lnTo>
                    <a:pt x="27"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 name="Freeform 37"/>
            <p:cNvSpPr/>
            <p:nvPr/>
          </p:nvSpPr>
          <p:spPr bwMode="auto">
            <a:xfrm>
              <a:off x="4124" y="570"/>
              <a:ext cx="203" cy="205"/>
            </a:xfrm>
            <a:custGeom>
              <a:avLst/>
              <a:gdLst>
                <a:gd name="T0" fmla="*/ 26 w 86"/>
                <a:gd name="T1" fmla="*/ 177 h 87"/>
                <a:gd name="T2" fmla="*/ 26 w 86"/>
                <a:gd name="T3" fmla="*/ 28 h 87"/>
                <a:gd name="T4" fmla="*/ 177 w 86"/>
                <a:gd name="T5" fmla="*/ 28 h 87"/>
                <a:gd name="T6" fmla="*/ 177 w 86"/>
                <a:gd name="T7" fmla="*/ 177 h 87"/>
                <a:gd name="T8" fmla="*/ 151 w 86"/>
                <a:gd name="T9" fmla="*/ 177 h 87"/>
                <a:gd name="T10" fmla="*/ 151 w 86"/>
                <a:gd name="T11" fmla="*/ 205 h 87"/>
                <a:gd name="T12" fmla="*/ 203 w 86"/>
                <a:gd name="T13" fmla="*/ 205 h 87"/>
                <a:gd name="T14" fmla="*/ 203 w 86"/>
                <a:gd name="T15" fmla="*/ 191 h 87"/>
                <a:gd name="T16" fmla="*/ 203 w 86"/>
                <a:gd name="T17" fmla="*/ 0 h 87"/>
                <a:gd name="T18" fmla="*/ 0 w 86"/>
                <a:gd name="T19" fmla="*/ 0 h 87"/>
                <a:gd name="T20" fmla="*/ 0 w 86"/>
                <a:gd name="T21" fmla="*/ 205 h 87"/>
                <a:gd name="T22" fmla="*/ 52 w 86"/>
                <a:gd name="T23" fmla="*/ 205 h 87"/>
                <a:gd name="T24" fmla="*/ 52 w 86"/>
                <a:gd name="T25" fmla="*/ 177 h 87"/>
                <a:gd name="T26" fmla="*/ 26 w 86"/>
                <a:gd name="T27" fmla="*/ 177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6" h="87">
                  <a:moveTo>
                    <a:pt x="11" y="75"/>
                  </a:moveTo>
                  <a:cubicBezTo>
                    <a:pt x="11" y="66"/>
                    <a:pt x="11" y="21"/>
                    <a:pt x="11" y="12"/>
                  </a:cubicBezTo>
                  <a:cubicBezTo>
                    <a:pt x="20" y="12"/>
                    <a:pt x="66" y="12"/>
                    <a:pt x="75" y="12"/>
                  </a:cubicBezTo>
                  <a:cubicBezTo>
                    <a:pt x="75" y="21"/>
                    <a:pt x="75" y="66"/>
                    <a:pt x="75" y="75"/>
                  </a:cubicBezTo>
                  <a:cubicBezTo>
                    <a:pt x="73" y="75"/>
                    <a:pt x="69" y="75"/>
                    <a:pt x="64" y="75"/>
                  </a:cubicBezTo>
                  <a:cubicBezTo>
                    <a:pt x="64" y="87"/>
                    <a:pt x="64" y="87"/>
                    <a:pt x="64" y="87"/>
                  </a:cubicBezTo>
                  <a:cubicBezTo>
                    <a:pt x="86" y="87"/>
                    <a:pt x="86" y="87"/>
                    <a:pt x="86" y="87"/>
                  </a:cubicBezTo>
                  <a:cubicBezTo>
                    <a:pt x="86" y="81"/>
                    <a:pt x="86" y="81"/>
                    <a:pt x="86" y="81"/>
                  </a:cubicBezTo>
                  <a:cubicBezTo>
                    <a:pt x="86" y="0"/>
                    <a:pt x="86" y="0"/>
                    <a:pt x="86" y="0"/>
                  </a:cubicBezTo>
                  <a:cubicBezTo>
                    <a:pt x="0" y="0"/>
                    <a:pt x="0" y="0"/>
                    <a:pt x="0" y="0"/>
                  </a:cubicBezTo>
                  <a:cubicBezTo>
                    <a:pt x="0" y="87"/>
                    <a:pt x="0" y="87"/>
                    <a:pt x="0" y="87"/>
                  </a:cubicBezTo>
                  <a:cubicBezTo>
                    <a:pt x="22" y="87"/>
                    <a:pt x="22" y="87"/>
                    <a:pt x="22" y="87"/>
                  </a:cubicBezTo>
                  <a:cubicBezTo>
                    <a:pt x="22" y="75"/>
                    <a:pt x="22" y="75"/>
                    <a:pt x="22" y="75"/>
                  </a:cubicBezTo>
                  <a:cubicBezTo>
                    <a:pt x="17" y="75"/>
                    <a:pt x="13" y="75"/>
                    <a:pt x="11"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7" name="Rectangle 23"/>
          <p:cNvSpPr>
            <a:spLocks noChangeArrowheads="1"/>
          </p:cNvSpPr>
          <p:nvPr/>
        </p:nvSpPr>
        <p:spPr bwMode="auto">
          <a:xfrm>
            <a:off x="1012190" y="4376420"/>
            <a:ext cx="1046924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nSpc>
                <a:spcPct val="130000"/>
              </a:lnSpc>
              <a:defRPr/>
            </a:pPr>
            <a:r>
              <a:rPr lang="zh-CN" altLang="en-US" sz="2000" dirty="0">
                <a:solidFill>
                  <a:schemeClr val="bg1"/>
                </a:solidFill>
                <a:latin typeface="微软雅黑" panose="020B0503020204020204" pitchFamily="34" charset="-122"/>
                <a:ea typeface="微软雅黑" panose="020B0503020204020204" pitchFamily="34" charset="-122"/>
              </a:rPr>
              <a:t>bash是大多数Linux系统的默认shell。它是Bourne shell的扩展，并与Bourne shell完全向后兼容，而且在Bourne shell的基础上增加和增强了很多特性。Bash放在/bin/bash中，可以提供自动补全命令行、命令行编辑及命令历史列表等功能。它还包含了很多Cshell和Korn shell中的优点，有灵活和强大的编程接口，同时又有很友好的用户界面。</a:t>
            </a:r>
          </a:p>
        </p:txBody>
      </p:sp>
      <p:grpSp>
        <p:nvGrpSpPr>
          <p:cNvPr id="18" name="组合 17"/>
          <p:cNvGrpSpPr/>
          <p:nvPr/>
        </p:nvGrpSpPr>
        <p:grpSpPr>
          <a:xfrm>
            <a:off x="8047990" y="1569720"/>
            <a:ext cx="3281045" cy="1893019"/>
            <a:chOff x="15107" y="7916"/>
            <a:chExt cx="4871" cy="3409"/>
          </a:xfrm>
        </p:grpSpPr>
        <p:grpSp>
          <p:nvGrpSpPr>
            <p:cNvPr id="19" name="组合 14"/>
            <p:cNvGrpSpPr/>
            <p:nvPr/>
          </p:nvGrpSpPr>
          <p:grpSpPr bwMode="auto">
            <a:xfrm>
              <a:off x="15107" y="8481"/>
              <a:ext cx="4871" cy="2844"/>
              <a:chOff x="1165348" y="1723580"/>
              <a:chExt cx="9859874" cy="2154859"/>
            </a:xfrm>
          </p:grpSpPr>
          <p:grpSp>
            <p:nvGrpSpPr>
              <p:cNvPr id="20" name="组合 12"/>
              <p:cNvGrpSpPr/>
              <p:nvPr/>
            </p:nvGrpSpPr>
            <p:grpSpPr bwMode="auto">
              <a:xfrm>
                <a:off x="1166778" y="1723580"/>
                <a:ext cx="9857966" cy="2154859"/>
                <a:chOff x="1166778" y="1723580"/>
                <a:chExt cx="9857966" cy="2154859"/>
              </a:xfrm>
            </p:grpSpPr>
            <p:sp>
              <p:nvSpPr>
                <p:cNvPr id="24" name="矩形 23"/>
                <p:cNvSpPr/>
                <p:nvPr/>
              </p:nvSpPr>
              <p:spPr>
                <a:xfrm>
                  <a:off x="1166778" y="1786831"/>
                  <a:ext cx="9857966" cy="2091608"/>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5" name="矩形 6"/>
                <p:cNvSpPr>
                  <a:spLocks noChangeArrowheads="1"/>
                </p:cNvSpPr>
                <p:nvPr/>
              </p:nvSpPr>
              <p:spPr bwMode="auto">
                <a:xfrm>
                  <a:off x="3338877" y="1723580"/>
                  <a:ext cx="2479793" cy="62384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26" name="MH_Text_1"/>
              <p:cNvSpPr txBox="1">
                <a:spLocks noChangeArrowheads="1"/>
              </p:cNvSpPr>
              <p:nvPr>
                <p:custDataLst>
                  <p:tags r:id="rId1"/>
                </p:custDataLst>
              </p:nvPr>
            </p:nvSpPr>
            <p:spPr bwMode="auto">
              <a:xfrm>
                <a:off x="1165348" y="2305834"/>
                <a:ext cx="9859874" cy="1537080"/>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sz="1800" b="1">
                    <a:solidFill>
                      <a:srgbClr val="0070C0"/>
                    </a:solidFill>
                    <a:latin typeface="微软雅黑" panose="020B0503020204020204" pitchFamily="34" charset="-122"/>
                    <a:ea typeface="微软雅黑" panose="020B0503020204020204" pitchFamily="34" charset="-122"/>
                  </a:rPr>
                  <a:t>在Red Hat Linux中，系统默认提供给每个用户的shell是bash。</a:t>
                </a:r>
              </a:p>
            </p:txBody>
          </p:sp>
        </p:grpSp>
        <p:pic>
          <p:nvPicPr>
            <p:cNvPr id="28" name="图片 4" descr="www.tuweimei.comComp_9747389_aloyhm04q205BMmtimdiv2o2HN82PIep.jpg"/>
            <p:cNvPicPr>
              <a:picLocks noGrp="1"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107" y="7916"/>
              <a:ext cx="1144" cy="1463"/>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checkerboard(across)">
                                      <p:cBhvr>
                                        <p:cTn id="7" dur="500"/>
                                        <p:tgtEl>
                                          <p:spTgt spid="3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checkerboard(across)">
                                      <p:cBhvr>
                                        <p:cTn id="10" dur="500"/>
                                        <p:tgtEl>
                                          <p:spTgt spid="3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checkerboard(across)">
                                      <p:cBhvr>
                                        <p:cTn id="13" dur="500"/>
                                        <p:tgtEl>
                                          <p:spTgt spid="44"/>
                                        </p:tgtEl>
                                      </p:cBhvr>
                                    </p:animEffect>
                                  </p:childTnLst>
                                </p:cTn>
                              </p:par>
                              <p:par>
                                <p:cTn id="14" presetID="5" presetClass="entr" presetSubtype="10" fill="hold"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checkerboard(across)">
                                      <p:cBhvr>
                                        <p:cTn id="16" dur="500"/>
                                        <p:tgtEl>
                                          <p:spTgt spid="45"/>
                                        </p:tgtEl>
                                      </p:cBhvr>
                                    </p:animEffect>
                                  </p:childTnLst>
                                </p:cTn>
                              </p:par>
                              <p:par>
                                <p:cTn id="17" presetID="5" presetClass="entr" presetSubtype="1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checkerboard(across)">
                                      <p:cBhvr>
                                        <p:cTn id="19" dur="500"/>
                                        <p:tgtEl>
                                          <p:spTgt spid="50"/>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checkerboard(across)">
                                      <p:cBhvr>
                                        <p:cTn id="22" dur="500"/>
                                        <p:tgtEl>
                                          <p:spTgt spid="51"/>
                                        </p:tgtEl>
                                      </p:cBhvr>
                                    </p:animEffect>
                                  </p:childTnLst>
                                </p:cTn>
                              </p:par>
                            </p:childTnLst>
                          </p:cTn>
                        </p:par>
                        <p:par>
                          <p:cTn id="23" fill="hold">
                            <p:stCondLst>
                              <p:cond delay="500"/>
                            </p:stCondLst>
                            <p:childTnLst>
                              <p:par>
                                <p:cTn id="24" presetID="5" presetClass="entr" presetSubtype="10"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checkerboard(across)">
                                      <p:cBhvr>
                                        <p:cTn id="26" dur="500"/>
                                        <p:tgtEl>
                                          <p:spTgt spid="3"/>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checkerboard(across)">
                                      <p:cBhvr>
                                        <p:cTn id="29" dur="500"/>
                                        <p:tgtEl>
                                          <p:spTgt spid="6"/>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heckerboard(across)">
                                      <p:cBhvr>
                                        <p:cTn id="32" dur="500"/>
                                        <p:tgtEl>
                                          <p:spTgt spid="7"/>
                                        </p:tgtEl>
                                      </p:cBhvr>
                                    </p:animEffect>
                                  </p:childTnLst>
                                </p:cTn>
                              </p:par>
                              <p:par>
                                <p:cTn id="33" presetID="5" presetClass="entr" presetSubtype="1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checkerboard(across)">
                                      <p:cBhvr>
                                        <p:cTn id="35" dur="500"/>
                                        <p:tgtEl>
                                          <p:spTgt spid="9"/>
                                        </p:tgtEl>
                                      </p:cBhvr>
                                    </p:animEffect>
                                  </p:childTnLst>
                                </p:cTn>
                              </p:par>
                              <p:par>
                                <p:cTn id="36" presetID="5" presetClass="entr" presetSubtype="1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checkerboard(across)">
                                      <p:cBhvr>
                                        <p:cTn id="38" dur="500"/>
                                        <p:tgtEl>
                                          <p:spTgt spid="14"/>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checkerboard(across)">
                                      <p:cBhvr>
                                        <p:cTn id="41" dur="500"/>
                                        <p:tgtEl>
                                          <p:spTgt spid="17"/>
                                        </p:tgtEl>
                                      </p:cBhvr>
                                    </p:animEffect>
                                  </p:childTnLst>
                                </p:cTn>
                              </p:par>
                            </p:childTnLst>
                          </p:cTn>
                        </p:par>
                        <p:par>
                          <p:cTn id="42" fill="hold">
                            <p:stCondLst>
                              <p:cond delay="1000"/>
                            </p:stCondLst>
                            <p:childTnLst>
                              <p:par>
                                <p:cTn id="43" presetID="18" presetClass="entr" presetSubtype="6" fill="hold"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strips(downRight)">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34" grpId="0" bldLvl="0" animBg="1"/>
      <p:bldP spid="44" grpId="0"/>
      <p:bldP spid="51" grpId="0" bldLvl="0" animBg="1"/>
      <p:bldP spid="3" grpId="0" bldLvl="0" animBg="1"/>
      <p:bldP spid="6" grpId="0" bldLvl="0" animBg="1"/>
      <p:bldP spid="7" grpId="0"/>
      <p:bldP spid="17"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p:cNvGrpSpPr/>
          <p:nvPr/>
        </p:nvGrpSpPr>
        <p:grpSpPr bwMode="auto">
          <a:xfrm>
            <a:off x="358775" y="1041718"/>
            <a:ext cx="517207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2．shell的主要版本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sp>
        <p:nvSpPr>
          <p:cNvPr id="31" name="AutoShape 8"/>
          <p:cNvSpPr>
            <a:spLocks noChangeArrowheads="1"/>
          </p:cNvSpPr>
          <p:nvPr/>
        </p:nvSpPr>
        <p:spPr bwMode="auto">
          <a:xfrm>
            <a:off x="630555" y="1774825"/>
            <a:ext cx="10656570" cy="1990725"/>
          </a:xfrm>
          <a:prstGeom prst="roundRect">
            <a:avLst>
              <a:gd name="adj" fmla="val 4801"/>
            </a:avLst>
          </a:prstGeom>
          <a:solidFill>
            <a:schemeClr val="accent4">
              <a:lumMod val="75000"/>
            </a:schemeClr>
          </a:solidFill>
          <a:ln>
            <a:noFill/>
          </a:ln>
          <a:effectLst/>
        </p:spPr>
        <p:txBody>
          <a:bodyPr wrap="none" anchor="ctr"/>
          <a:lstStyle/>
          <a:p>
            <a:pPr algn="ctr"/>
            <a:endParaRPr lang="zh-CN" altLang="zh-CN"/>
          </a:p>
        </p:txBody>
      </p:sp>
      <p:sp>
        <p:nvSpPr>
          <p:cNvPr id="32" name="AutoShape 9" descr="10%"/>
          <p:cNvSpPr>
            <a:spLocks noChangeArrowheads="1"/>
          </p:cNvSpPr>
          <p:nvPr/>
        </p:nvSpPr>
        <p:spPr bwMode="auto">
          <a:xfrm rot="5612519">
            <a:off x="595193" y="1766030"/>
            <a:ext cx="432436" cy="396518"/>
          </a:xfrm>
          <a:prstGeom prst="rtTriangle">
            <a:avLst/>
          </a:prstGeom>
          <a:pattFill prst="pct10">
            <a:fgClr>
              <a:schemeClr val="bg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AutoShape 11"/>
          <p:cNvSpPr>
            <a:spLocks noChangeArrowheads="1"/>
          </p:cNvSpPr>
          <p:nvPr/>
        </p:nvSpPr>
        <p:spPr bwMode="auto">
          <a:xfrm>
            <a:off x="635000" y="3869690"/>
            <a:ext cx="10611485" cy="2513965"/>
          </a:xfrm>
          <a:prstGeom prst="roundRect">
            <a:avLst>
              <a:gd name="adj" fmla="val 4801"/>
            </a:avLst>
          </a:prstGeom>
          <a:solidFill>
            <a:schemeClr val="accent3">
              <a:lumMod val="60000"/>
              <a:lumOff val="40000"/>
            </a:schemeClr>
          </a:solidFill>
          <a:ln>
            <a:noFill/>
          </a:ln>
          <a:effectLst/>
        </p:spPr>
        <p:txBody>
          <a:bodyPr wrap="none" anchor="ctr"/>
          <a:lstStyle/>
          <a:p>
            <a:endParaRPr lang="zh-CN" altLang="en-US"/>
          </a:p>
        </p:txBody>
      </p:sp>
      <p:sp>
        <p:nvSpPr>
          <p:cNvPr id="34" name="AutoShape 12" descr="10%"/>
          <p:cNvSpPr>
            <a:spLocks noChangeArrowheads="1"/>
          </p:cNvSpPr>
          <p:nvPr/>
        </p:nvSpPr>
        <p:spPr bwMode="auto">
          <a:xfrm rot="5400000">
            <a:off x="668655" y="3804285"/>
            <a:ext cx="438150" cy="511810"/>
          </a:xfrm>
          <a:prstGeom prst="rtTriangle">
            <a:avLst/>
          </a:prstGeom>
          <a:pattFill prst="pct10">
            <a:fgClr>
              <a:schemeClr val="bg2"/>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zh-CN"/>
          </a:p>
        </p:txBody>
      </p:sp>
      <p:sp>
        <p:nvSpPr>
          <p:cNvPr id="40" name="TextBox 51"/>
          <p:cNvSpPr txBox="1"/>
          <p:nvPr/>
        </p:nvSpPr>
        <p:spPr>
          <a:xfrm>
            <a:off x="945515" y="1856740"/>
            <a:ext cx="1518285" cy="417830"/>
          </a:xfrm>
          <a:prstGeom prst="rect">
            <a:avLst/>
          </a:prstGeom>
          <a:noFill/>
        </p:spPr>
        <p:txBody>
          <a:bodyPr wrap="square" rtlCol="0">
            <a:spAutoFit/>
          </a:bodyPr>
          <a:lstStyle/>
          <a:p>
            <a:r>
              <a:rPr altLang="en-US" sz="2000" b="1" dirty="0">
                <a:solidFill>
                  <a:schemeClr val="bg1"/>
                </a:solidFill>
                <a:latin typeface="微软雅黑" panose="020B0503020204020204" pitchFamily="34" charset="-122"/>
                <a:ea typeface="微软雅黑" panose="020B0503020204020204" pitchFamily="34" charset="-122"/>
              </a:rPr>
              <a:t>（5）tcsh：</a:t>
            </a:r>
          </a:p>
        </p:txBody>
      </p:sp>
      <p:grpSp>
        <p:nvGrpSpPr>
          <p:cNvPr id="41" name="Group 35"/>
          <p:cNvGrpSpPr/>
          <p:nvPr/>
        </p:nvGrpSpPr>
        <p:grpSpPr bwMode="auto">
          <a:xfrm rot="5400000" flipH="1">
            <a:off x="711134" y="2934390"/>
            <a:ext cx="386714" cy="325438"/>
            <a:chOff x="4124" y="570"/>
            <a:chExt cx="203" cy="205"/>
          </a:xfrm>
          <a:solidFill>
            <a:srgbClr val="FBCB33"/>
          </a:solidFill>
        </p:grpSpPr>
        <p:sp>
          <p:nvSpPr>
            <p:cNvPr id="42" name="Freeform 36"/>
            <p:cNvSpPr/>
            <p:nvPr/>
          </p:nvSpPr>
          <p:spPr bwMode="auto">
            <a:xfrm>
              <a:off x="4176" y="624"/>
              <a:ext cx="99" cy="151"/>
            </a:xfrm>
            <a:custGeom>
              <a:avLst/>
              <a:gdLst>
                <a:gd name="T0" fmla="*/ 64 w 42"/>
                <a:gd name="T1" fmla="*/ 151 h 64"/>
                <a:gd name="T2" fmla="*/ 64 w 42"/>
                <a:gd name="T3" fmla="*/ 54 h 64"/>
                <a:gd name="T4" fmla="*/ 99 w 42"/>
                <a:gd name="T5" fmla="*/ 87 h 64"/>
                <a:gd name="T6" fmla="*/ 99 w 42"/>
                <a:gd name="T7" fmla="*/ 50 h 64"/>
                <a:gd name="T8" fmla="*/ 50 w 42"/>
                <a:gd name="T9" fmla="*/ 0 h 64"/>
                <a:gd name="T10" fmla="*/ 0 w 42"/>
                <a:gd name="T11" fmla="*/ 50 h 64"/>
                <a:gd name="T12" fmla="*/ 0 w 42"/>
                <a:gd name="T13" fmla="*/ 87 h 64"/>
                <a:gd name="T14" fmla="*/ 35 w 42"/>
                <a:gd name="T15" fmla="*/ 54 h 64"/>
                <a:gd name="T16" fmla="*/ 35 w 42"/>
                <a:gd name="T17" fmla="*/ 151 h 64"/>
                <a:gd name="T18" fmla="*/ 64 w 42"/>
                <a:gd name="T19" fmla="*/ 151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64">
                  <a:moveTo>
                    <a:pt x="27" y="64"/>
                  </a:moveTo>
                  <a:cubicBezTo>
                    <a:pt x="27" y="23"/>
                    <a:pt x="27" y="23"/>
                    <a:pt x="27" y="23"/>
                  </a:cubicBezTo>
                  <a:cubicBezTo>
                    <a:pt x="33" y="29"/>
                    <a:pt x="42" y="37"/>
                    <a:pt x="42" y="37"/>
                  </a:cubicBezTo>
                  <a:cubicBezTo>
                    <a:pt x="42" y="21"/>
                    <a:pt x="42" y="21"/>
                    <a:pt x="42" y="21"/>
                  </a:cubicBezTo>
                  <a:cubicBezTo>
                    <a:pt x="21" y="0"/>
                    <a:pt x="21" y="0"/>
                    <a:pt x="21" y="0"/>
                  </a:cubicBezTo>
                  <a:cubicBezTo>
                    <a:pt x="0" y="21"/>
                    <a:pt x="0" y="21"/>
                    <a:pt x="0" y="21"/>
                  </a:cubicBezTo>
                  <a:cubicBezTo>
                    <a:pt x="0" y="37"/>
                    <a:pt x="0" y="37"/>
                    <a:pt x="0" y="37"/>
                  </a:cubicBezTo>
                  <a:cubicBezTo>
                    <a:pt x="0" y="37"/>
                    <a:pt x="9" y="29"/>
                    <a:pt x="15" y="23"/>
                  </a:cubicBezTo>
                  <a:cubicBezTo>
                    <a:pt x="15" y="64"/>
                    <a:pt x="15" y="64"/>
                    <a:pt x="15" y="64"/>
                  </a:cubicBezTo>
                  <a:lnTo>
                    <a:pt x="27"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3" name="Freeform 37"/>
            <p:cNvSpPr/>
            <p:nvPr/>
          </p:nvSpPr>
          <p:spPr bwMode="auto">
            <a:xfrm>
              <a:off x="4124" y="570"/>
              <a:ext cx="203" cy="205"/>
            </a:xfrm>
            <a:custGeom>
              <a:avLst/>
              <a:gdLst>
                <a:gd name="T0" fmla="*/ 26 w 86"/>
                <a:gd name="T1" fmla="*/ 177 h 87"/>
                <a:gd name="T2" fmla="*/ 26 w 86"/>
                <a:gd name="T3" fmla="*/ 28 h 87"/>
                <a:gd name="T4" fmla="*/ 177 w 86"/>
                <a:gd name="T5" fmla="*/ 28 h 87"/>
                <a:gd name="T6" fmla="*/ 177 w 86"/>
                <a:gd name="T7" fmla="*/ 177 h 87"/>
                <a:gd name="T8" fmla="*/ 151 w 86"/>
                <a:gd name="T9" fmla="*/ 177 h 87"/>
                <a:gd name="T10" fmla="*/ 151 w 86"/>
                <a:gd name="T11" fmla="*/ 205 h 87"/>
                <a:gd name="T12" fmla="*/ 203 w 86"/>
                <a:gd name="T13" fmla="*/ 205 h 87"/>
                <a:gd name="T14" fmla="*/ 203 w 86"/>
                <a:gd name="T15" fmla="*/ 191 h 87"/>
                <a:gd name="T16" fmla="*/ 203 w 86"/>
                <a:gd name="T17" fmla="*/ 0 h 87"/>
                <a:gd name="T18" fmla="*/ 0 w 86"/>
                <a:gd name="T19" fmla="*/ 0 h 87"/>
                <a:gd name="T20" fmla="*/ 0 w 86"/>
                <a:gd name="T21" fmla="*/ 205 h 87"/>
                <a:gd name="T22" fmla="*/ 52 w 86"/>
                <a:gd name="T23" fmla="*/ 205 h 87"/>
                <a:gd name="T24" fmla="*/ 52 w 86"/>
                <a:gd name="T25" fmla="*/ 177 h 87"/>
                <a:gd name="T26" fmla="*/ 26 w 86"/>
                <a:gd name="T27" fmla="*/ 177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6" h="87">
                  <a:moveTo>
                    <a:pt x="11" y="75"/>
                  </a:moveTo>
                  <a:cubicBezTo>
                    <a:pt x="11" y="66"/>
                    <a:pt x="11" y="21"/>
                    <a:pt x="11" y="12"/>
                  </a:cubicBezTo>
                  <a:cubicBezTo>
                    <a:pt x="20" y="12"/>
                    <a:pt x="66" y="12"/>
                    <a:pt x="75" y="12"/>
                  </a:cubicBezTo>
                  <a:cubicBezTo>
                    <a:pt x="75" y="21"/>
                    <a:pt x="75" y="66"/>
                    <a:pt x="75" y="75"/>
                  </a:cubicBezTo>
                  <a:cubicBezTo>
                    <a:pt x="73" y="75"/>
                    <a:pt x="69" y="75"/>
                    <a:pt x="64" y="75"/>
                  </a:cubicBezTo>
                  <a:cubicBezTo>
                    <a:pt x="64" y="87"/>
                    <a:pt x="64" y="87"/>
                    <a:pt x="64" y="87"/>
                  </a:cubicBezTo>
                  <a:cubicBezTo>
                    <a:pt x="86" y="87"/>
                    <a:pt x="86" y="87"/>
                    <a:pt x="86" y="87"/>
                  </a:cubicBezTo>
                  <a:cubicBezTo>
                    <a:pt x="86" y="81"/>
                    <a:pt x="86" y="81"/>
                    <a:pt x="86" y="81"/>
                  </a:cubicBezTo>
                  <a:cubicBezTo>
                    <a:pt x="86" y="0"/>
                    <a:pt x="86" y="0"/>
                    <a:pt x="86" y="0"/>
                  </a:cubicBezTo>
                  <a:cubicBezTo>
                    <a:pt x="0" y="0"/>
                    <a:pt x="0" y="0"/>
                    <a:pt x="0" y="0"/>
                  </a:cubicBezTo>
                  <a:cubicBezTo>
                    <a:pt x="0" y="87"/>
                    <a:pt x="0" y="87"/>
                    <a:pt x="0" y="87"/>
                  </a:cubicBezTo>
                  <a:cubicBezTo>
                    <a:pt x="22" y="87"/>
                    <a:pt x="22" y="87"/>
                    <a:pt x="22" y="87"/>
                  </a:cubicBezTo>
                  <a:cubicBezTo>
                    <a:pt x="22" y="75"/>
                    <a:pt x="22" y="75"/>
                    <a:pt x="22" y="75"/>
                  </a:cubicBezTo>
                  <a:cubicBezTo>
                    <a:pt x="17" y="75"/>
                    <a:pt x="13" y="75"/>
                    <a:pt x="11"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44" name="TextBox 55"/>
          <p:cNvSpPr txBox="1"/>
          <p:nvPr/>
        </p:nvSpPr>
        <p:spPr>
          <a:xfrm>
            <a:off x="1143000" y="3993515"/>
            <a:ext cx="5353685" cy="417830"/>
          </a:xfrm>
          <a:prstGeom prst="rect">
            <a:avLst/>
          </a:prstGeom>
          <a:noFill/>
        </p:spPr>
        <p:txBody>
          <a:bodyPr wrap="square" rtlCol="0">
            <a:spAutoFit/>
          </a:bodyPr>
          <a:lstStyle/>
          <a:p>
            <a:r>
              <a:rPr altLang="en-US" sz="2000" b="1" dirty="0">
                <a:solidFill>
                  <a:schemeClr val="tx1">
                    <a:lumMod val="85000"/>
                    <a:lumOff val="15000"/>
                  </a:schemeClr>
                </a:solidFill>
                <a:latin typeface="微软雅黑" panose="020B0503020204020204" pitchFamily="34" charset="-122"/>
                <a:ea typeface="微软雅黑" panose="020B0503020204020204" pitchFamily="34" charset="-122"/>
              </a:rPr>
              <a:t>（6）pdksh：</a:t>
            </a:r>
          </a:p>
        </p:txBody>
      </p:sp>
      <p:grpSp>
        <p:nvGrpSpPr>
          <p:cNvPr id="45" name="Group 35"/>
          <p:cNvGrpSpPr/>
          <p:nvPr/>
        </p:nvGrpSpPr>
        <p:grpSpPr bwMode="auto">
          <a:xfrm rot="5400000" flipH="1">
            <a:off x="767080" y="5286375"/>
            <a:ext cx="386715" cy="327660"/>
            <a:chOff x="4124" y="570"/>
            <a:chExt cx="203" cy="205"/>
          </a:xfrm>
          <a:solidFill>
            <a:srgbClr val="3A8E5E"/>
          </a:solidFill>
        </p:grpSpPr>
        <p:sp>
          <p:nvSpPr>
            <p:cNvPr id="46" name="Freeform 36"/>
            <p:cNvSpPr/>
            <p:nvPr/>
          </p:nvSpPr>
          <p:spPr bwMode="auto">
            <a:xfrm>
              <a:off x="4176" y="624"/>
              <a:ext cx="99" cy="151"/>
            </a:xfrm>
            <a:custGeom>
              <a:avLst/>
              <a:gdLst>
                <a:gd name="T0" fmla="*/ 64 w 42"/>
                <a:gd name="T1" fmla="*/ 151 h 64"/>
                <a:gd name="T2" fmla="*/ 64 w 42"/>
                <a:gd name="T3" fmla="*/ 54 h 64"/>
                <a:gd name="T4" fmla="*/ 99 w 42"/>
                <a:gd name="T5" fmla="*/ 87 h 64"/>
                <a:gd name="T6" fmla="*/ 99 w 42"/>
                <a:gd name="T7" fmla="*/ 50 h 64"/>
                <a:gd name="T8" fmla="*/ 50 w 42"/>
                <a:gd name="T9" fmla="*/ 0 h 64"/>
                <a:gd name="T10" fmla="*/ 0 w 42"/>
                <a:gd name="T11" fmla="*/ 50 h 64"/>
                <a:gd name="T12" fmla="*/ 0 w 42"/>
                <a:gd name="T13" fmla="*/ 87 h 64"/>
                <a:gd name="T14" fmla="*/ 35 w 42"/>
                <a:gd name="T15" fmla="*/ 54 h 64"/>
                <a:gd name="T16" fmla="*/ 35 w 42"/>
                <a:gd name="T17" fmla="*/ 151 h 64"/>
                <a:gd name="T18" fmla="*/ 64 w 42"/>
                <a:gd name="T19" fmla="*/ 151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64">
                  <a:moveTo>
                    <a:pt x="27" y="64"/>
                  </a:moveTo>
                  <a:cubicBezTo>
                    <a:pt x="27" y="23"/>
                    <a:pt x="27" y="23"/>
                    <a:pt x="27" y="23"/>
                  </a:cubicBezTo>
                  <a:cubicBezTo>
                    <a:pt x="33" y="29"/>
                    <a:pt x="42" y="37"/>
                    <a:pt x="42" y="37"/>
                  </a:cubicBezTo>
                  <a:cubicBezTo>
                    <a:pt x="42" y="21"/>
                    <a:pt x="42" y="21"/>
                    <a:pt x="42" y="21"/>
                  </a:cubicBezTo>
                  <a:cubicBezTo>
                    <a:pt x="21" y="0"/>
                    <a:pt x="21" y="0"/>
                    <a:pt x="21" y="0"/>
                  </a:cubicBezTo>
                  <a:cubicBezTo>
                    <a:pt x="0" y="21"/>
                    <a:pt x="0" y="21"/>
                    <a:pt x="0" y="21"/>
                  </a:cubicBezTo>
                  <a:cubicBezTo>
                    <a:pt x="0" y="37"/>
                    <a:pt x="0" y="37"/>
                    <a:pt x="0" y="37"/>
                  </a:cubicBezTo>
                  <a:cubicBezTo>
                    <a:pt x="0" y="37"/>
                    <a:pt x="9" y="29"/>
                    <a:pt x="15" y="23"/>
                  </a:cubicBezTo>
                  <a:cubicBezTo>
                    <a:pt x="15" y="64"/>
                    <a:pt x="15" y="64"/>
                    <a:pt x="15" y="64"/>
                  </a:cubicBezTo>
                  <a:lnTo>
                    <a:pt x="27" y="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7" name="Freeform 37"/>
            <p:cNvSpPr/>
            <p:nvPr/>
          </p:nvSpPr>
          <p:spPr bwMode="auto">
            <a:xfrm>
              <a:off x="4124" y="570"/>
              <a:ext cx="203" cy="205"/>
            </a:xfrm>
            <a:custGeom>
              <a:avLst/>
              <a:gdLst>
                <a:gd name="T0" fmla="*/ 26 w 86"/>
                <a:gd name="T1" fmla="*/ 177 h 87"/>
                <a:gd name="T2" fmla="*/ 26 w 86"/>
                <a:gd name="T3" fmla="*/ 28 h 87"/>
                <a:gd name="T4" fmla="*/ 177 w 86"/>
                <a:gd name="T5" fmla="*/ 28 h 87"/>
                <a:gd name="T6" fmla="*/ 177 w 86"/>
                <a:gd name="T7" fmla="*/ 177 h 87"/>
                <a:gd name="T8" fmla="*/ 151 w 86"/>
                <a:gd name="T9" fmla="*/ 177 h 87"/>
                <a:gd name="T10" fmla="*/ 151 w 86"/>
                <a:gd name="T11" fmla="*/ 205 h 87"/>
                <a:gd name="T12" fmla="*/ 203 w 86"/>
                <a:gd name="T13" fmla="*/ 205 h 87"/>
                <a:gd name="T14" fmla="*/ 203 w 86"/>
                <a:gd name="T15" fmla="*/ 191 h 87"/>
                <a:gd name="T16" fmla="*/ 203 w 86"/>
                <a:gd name="T17" fmla="*/ 0 h 87"/>
                <a:gd name="T18" fmla="*/ 0 w 86"/>
                <a:gd name="T19" fmla="*/ 0 h 87"/>
                <a:gd name="T20" fmla="*/ 0 w 86"/>
                <a:gd name="T21" fmla="*/ 205 h 87"/>
                <a:gd name="T22" fmla="*/ 52 w 86"/>
                <a:gd name="T23" fmla="*/ 205 h 87"/>
                <a:gd name="T24" fmla="*/ 52 w 86"/>
                <a:gd name="T25" fmla="*/ 177 h 87"/>
                <a:gd name="T26" fmla="*/ 26 w 86"/>
                <a:gd name="T27" fmla="*/ 177 h 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6" h="87">
                  <a:moveTo>
                    <a:pt x="11" y="75"/>
                  </a:moveTo>
                  <a:cubicBezTo>
                    <a:pt x="11" y="66"/>
                    <a:pt x="11" y="21"/>
                    <a:pt x="11" y="12"/>
                  </a:cubicBezTo>
                  <a:cubicBezTo>
                    <a:pt x="20" y="12"/>
                    <a:pt x="66" y="12"/>
                    <a:pt x="75" y="12"/>
                  </a:cubicBezTo>
                  <a:cubicBezTo>
                    <a:pt x="75" y="21"/>
                    <a:pt x="75" y="66"/>
                    <a:pt x="75" y="75"/>
                  </a:cubicBezTo>
                  <a:cubicBezTo>
                    <a:pt x="73" y="75"/>
                    <a:pt x="69" y="75"/>
                    <a:pt x="64" y="75"/>
                  </a:cubicBezTo>
                  <a:cubicBezTo>
                    <a:pt x="64" y="87"/>
                    <a:pt x="64" y="87"/>
                    <a:pt x="64" y="87"/>
                  </a:cubicBezTo>
                  <a:cubicBezTo>
                    <a:pt x="86" y="87"/>
                    <a:pt x="86" y="87"/>
                    <a:pt x="86" y="87"/>
                  </a:cubicBezTo>
                  <a:cubicBezTo>
                    <a:pt x="86" y="81"/>
                    <a:pt x="86" y="81"/>
                    <a:pt x="86" y="81"/>
                  </a:cubicBezTo>
                  <a:cubicBezTo>
                    <a:pt x="86" y="0"/>
                    <a:pt x="86" y="0"/>
                    <a:pt x="86" y="0"/>
                  </a:cubicBezTo>
                  <a:cubicBezTo>
                    <a:pt x="0" y="0"/>
                    <a:pt x="0" y="0"/>
                    <a:pt x="0" y="0"/>
                  </a:cubicBezTo>
                  <a:cubicBezTo>
                    <a:pt x="0" y="87"/>
                    <a:pt x="0" y="87"/>
                    <a:pt x="0" y="87"/>
                  </a:cubicBezTo>
                  <a:cubicBezTo>
                    <a:pt x="22" y="87"/>
                    <a:pt x="22" y="87"/>
                    <a:pt x="22" y="87"/>
                  </a:cubicBezTo>
                  <a:cubicBezTo>
                    <a:pt x="22" y="75"/>
                    <a:pt x="22" y="75"/>
                    <a:pt x="22" y="75"/>
                  </a:cubicBezTo>
                  <a:cubicBezTo>
                    <a:pt x="17" y="75"/>
                    <a:pt x="13" y="75"/>
                    <a:pt x="11"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48" name="Rectangle 23"/>
          <p:cNvSpPr>
            <a:spLocks noChangeArrowheads="1"/>
          </p:cNvSpPr>
          <p:nvPr/>
        </p:nvSpPr>
        <p:spPr bwMode="auto">
          <a:xfrm>
            <a:off x="1107440" y="2366645"/>
            <a:ext cx="9070340" cy="1160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nSpc>
                <a:spcPct val="130000"/>
              </a:lnSpc>
              <a:defRPr/>
            </a:pPr>
            <a:r>
              <a:rPr lang="zh-CN" altLang="en-US" sz="1800" dirty="0">
                <a:solidFill>
                  <a:schemeClr val="bg1"/>
                </a:solidFill>
                <a:latin typeface="微软雅黑" panose="020B0503020204020204" pitchFamily="34" charset="-122"/>
                <a:ea typeface="微软雅黑" panose="020B0503020204020204" pitchFamily="34" charset="-122"/>
                <a:cs typeface="+mn-cs"/>
                <a:sym typeface="+mn-ea"/>
              </a:rPr>
              <a:t>它是</a:t>
            </a:r>
            <a:r>
              <a:rPr lang="zh-CN" altLang="en-US" sz="1800" b="1" dirty="0">
                <a:solidFill>
                  <a:schemeClr val="bg1"/>
                </a:solidFill>
                <a:latin typeface="微软雅黑" panose="020B0503020204020204" pitchFamily="34" charset="-122"/>
                <a:ea typeface="微软雅黑" panose="020B0503020204020204" pitchFamily="34" charset="-122"/>
                <a:cs typeface="+mn-cs"/>
                <a:sym typeface="+mn-ea"/>
              </a:rPr>
              <a:t>Cshell</a:t>
            </a:r>
            <a:r>
              <a:rPr lang="zh-CN" altLang="en-US" sz="1800" dirty="0">
                <a:solidFill>
                  <a:schemeClr val="bg1"/>
                </a:solidFill>
                <a:latin typeface="微软雅黑" panose="020B0503020204020204" pitchFamily="34" charset="-122"/>
                <a:ea typeface="微软雅黑" panose="020B0503020204020204" pitchFamily="34" charset="-122"/>
                <a:cs typeface="+mn-cs"/>
                <a:sym typeface="+mn-ea"/>
              </a:rPr>
              <a:t>的一个</a:t>
            </a:r>
            <a:r>
              <a:rPr lang="zh-CN" altLang="en-US" sz="1800" b="1" dirty="0">
                <a:solidFill>
                  <a:schemeClr val="bg1"/>
                </a:solidFill>
                <a:latin typeface="微软雅黑" panose="020B0503020204020204" pitchFamily="34" charset="-122"/>
                <a:ea typeface="微软雅黑" panose="020B0503020204020204" pitchFamily="34" charset="-122"/>
                <a:cs typeface="+mn-cs"/>
                <a:sym typeface="+mn-ea"/>
              </a:rPr>
              <a:t>扩展版本</a:t>
            </a:r>
            <a:r>
              <a:rPr lang="zh-CN" altLang="en-US" sz="1800" dirty="0">
                <a:solidFill>
                  <a:schemeClr val="bg1"/>
                </a:solidFill>
                <a:latin typeface="微软雅黑" panose="020B0503020204020204" pitchFamily="34" charset="-122"/>
                <a:ea typeface="微软雅黑" panose="020B0503020204020204" pitchFamily="34" charset="-122"/>
                <a:cs typeface="+mn-cs"/>
                <a:sym typeface="+mn-ea"/>
              </a:rPr>
              <a:t>，与csh完全向后兼容，包含了更多方便用户使用的新特性，在命令行编辑和历史浏览方面有更大的提高。它不仅与Bash shell提示符兼容，而且还提供比Bash shell更多的提示符参数。</a:t>
            </a:r>
          </a:p>
        </p:txBody>
      </p:sp>
      <p:cxnSp>
        <p:nvCxnSpPr>
          <p:cNvPr id="49" name="直接连接符 48"/>
          <p:cNvCxnSpPr/>
          <p:nvPr/>
        </p:nvCxnSpPr>
        <p:spPr>
          <a:xfrm>
            <a:off x="617855" y="2363470"/>
            <a:ext cx="10461625" cy="18415"/>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785018" y="4500493"/>
            <a:ext cx="10343515"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901065" y="4552315"/>
            <a:ext cx="9756140" cy="1820545"/>
            <a:chOff x="1419" y="7169"/>
            <a:chExt cx="15364" cy="2867"/>
          </a:xfrm>
        </p:grpSpPr>
        <p:sp>
          <p:nvSpPr>
            <p:cNvPr id="51" name="Rectangle 23"/>
            <p:cNvSpPr>
              <a:spLocks noChangeArrowheads="1"/>
            </p:cNvSpPr>
            <p:nvPr/>
          </p:nvSpPr>
          <p:spPr bwMode="auto">
            <a:xfrm>
              <a:off x="2088" y="7169"/>
              <a:ext cx="14219" cy="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nSpc>
                  <a:spcPct val="130000"/>
                </a:lnSpc>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pdksh：</a:t>
              </a:r>
              <a:r>
                <a:rPr lang="zh-CN" altLang="en-US" sz="2000" dirty="0">
                  <a:latin typeface="微软雅黑" panose="020B0503020204020204" pitchFamily="34" charset="-122"/>
                  <a:ea typeface="微软雅黑" panose="020B0503020204020204" pitchFamily="34" charset="-122"/>
                  <a:cs typeface="+mn-cs"/>
                  <a:sym typeface="+mn-ea"/>
                </a:rPr>
                <a:t>它是一个专门为Linux系统编写的</a:t>
              </a: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Korn shell（ksh）的扩展版本</a:t>
              </a:r>
              <a:r>
                <a:rPr lang="zh-CN" altLang="en-US" sz="2000" dirty="0">
                  <a:latin typeface="微软雅黑" panose="020B0503020204020204" pitchFamily="34" charset="-122"/>
                  <a:ea typeface="微软雅黑" panose="020B0503020204020204" pitchFamily="34" charset="-122"/>
                  <a:cs typeface="+mn-cs"/>
                  <a:sym typeface="+mn-ea"/>
                </a:rPr>
                <a:t>。Ksh是一个商用shell，不能免费提供，而pdksh是免费的。</a:t>
              </a:r>
              <a:endParaRPr lang="zh-CN" altLang="en-US" sz="2000" dirty="0">
                <a:solidFill>
                  <a:schemeClr val="bg1"/>
                </a:solidFill>
                <a:latin typeface="微软雅黑" panose="020B0503020204020204" pitchFamily="34" charset="-122"/>
                <a:ea typeface="微软雅黑" panose="020B0503020204020204" pitchFamily="34" charset="-122"/>
                <a:cs typeface="+mn-cs"/>
                <a:sym typeface="+mn-ea"/>
              </a:endParaRPr>
            </a:p>
          </p:txBody>
        </p:sp>
        <p:sp>
          <p:nvSpPr>
            <p:cNvPr id="2" name="文本框 1"/>
            <p:cNvSpPr txBox="1"/>
            <p:nvPr/>
          </p:nvSpPr>
          <p:spPr>
            <a:xfrm>
              <a:off x="1419" y="9172"/>
              <a:ext cx="15364" cy="864"/>
            </a:xfrm>
            <a:prstGeom prst="rect">
              <a:avLst/>
            </a:prstGeom>
            <a:noFill/>
          </p:spPr>
          <p:txBody>
            <a:bodyPr wrap="square" rtlCol="0" anchor="t">
              <a:spAutoFit/>
            </a:bodyPr>
            <a:lstStyle/>
            <a:p>
              <a:pPr indent="457200" eaLnBrk="1" fontAlgn="auto" latinLnBrk="0" hangingPunct="1">
                <a:lnSpc>
                  <a:spcPct val="150000"/>
                </a:lnSpc>
                <a:buFont typeface="Arial" panose="020B0604020202020204" pitchFamily="34" charset="0"/>
                <a:buNone/>
                <a:defRPr/>
              </a:pPr>
              <a:r>
                <a:rPr lang="zh-CN" altLang="en-US" sz="2000" dirty="0">
                  <a:latin typeface="微软雅黑" panose="020B0503020204020204" pitchFamily="34" charset="-122"/>
                  <a:ea typeface="微软雅黑" panose="020B0503020204020204" pitchFamily="34" charset="-122"/>
                  <a:cs typeface="+mn-cs"/>
                  <a:sym typeface="+mn-ea"/>
                </a:rPr>
                <a:t>此外，其他常见的shell还有</a:t>
              </a: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ash、zsh</a:t>
              </a:r>
              <a:r>
                <a:rPr lang="zh-CN" altLang="en-US" sz="2000" dirty="0">
                  <a:latin typeface="微软雅黑" panose="020B0503020204020204" pitchFamily="34" charset="-122"/>
                  <a:ea typeface="微软雅黑" panose="020B0503020204020204" pitchFamily="34" charset="-122"/>
                  <a:cs typeface="+mn-cs"/>
                  <a:sym typeface="+mn-ea"/>
                </a:rPr>
                <a:t>等。</a:t>
              </a:r>
              <a:endParaRPr lang="zh-CN" altLang="en-US" sz="200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checkerboard(across)">
                                      <p:cBhvr>
                                        <p:cTn id="7" dur="500"/>
                                        <p:tgtEl>
                                          <p:spTgt spid="3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checkerboard(across)">
                                      <p:cBhvr>
                                        <p:cTn id="10" dur="500"/>
                                        <p:tgtEl>
                                          <p:spTgt spid="3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checkerboard(across)">
                                      <p:cBhvr>
                                        <p:cTn id="13" dur="500"/>
                                        <p:tgtEl>
                                          <p:spTgt spid="40"/>
                                        </p:tgtEl>
                                      </p:cBhvr>
                                    </p:animEffect>
                                  </p:childTnLst>
                                </p:cTn>
                              </p:par>
                              <p:par>
                                <p:cTn id="14" presetID="5" presetClass="entr" presetSubtype="10" fill="hold"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checkerboard(across)">
                                      <p:cBhvr>
                                        <p:cTn id="16" dur="500"/>
                                        <p:tgtEl>
                                          <p:spTgt spid="41"/>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checkerboard(across)">
                                      <p:cBhvr>
                                        <p:cTn id="19" dur="500"/>
                                        <p:tgtEl>
                                          <p:spTgt spid="48"/>
                                        </p:tgtEl>
                                      </p:cBhvr>
                                    </p:animEffect>
                                  </p:childTnLst>
                                </p:cTn>
                              </p:par>
                              <p:par>
                                <p:cTn id="20" presetID="5" presetClass="entr" presetSubtype="10" fill="hold" nodeType="with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checkerboard(across)">
                                      <p:cBhvr>
                                        <p:cTn id="22" dur="500"/>
                                        <p:tgtEl>
                                          <p:spTgt spid="49"/>
                                        </p:tgtEl>
                                      </p:cBhvr>
                                    </p:animEffect>
                                  </p:childTnLst>
                                </p:cTn>
                              </p:par>
                            </p:childTnLst>
                          </p:cTn>
                        </p:par>
                        <p:par>
                          <p:cTn id="23" fill="hold">
                            <p:stCondLst>
                              <p:cond delay="500"/>
                            </p:stCondLst>
                            <p:childTnLst>
                              <p:par>
                                <p:cTn id="24" presetID="5" presetClass="entr" presetSubtype="10" fill="hold" grpId="0" nodeType="after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checkerboard(across)">
                                      <p:cBhvr>
                                        <p:cTn id="26" dur="500"/>
                                        <p:tgtEl>
                                          <p:spTgt spid="33"/>
                                        </p:tgtEl>
                                      </p:cBhvr>
                                    </p:animEffect>
                                  </p:childTnLst>
                                </p:cTn>
                              </p:par>
                              <p:par>
                                <p:cTn id="27" presetID="5" presetClass="entr" presetSubtype="1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checkerboard(across)">
                                      <p:cBhvr>
                                        <p:cTn id="29" dur="500"/>
                                        <p:tgtEl>
                                          <p:spTgt spid="34"/>
                                        </p:tgtEl>
                                      </p:cBhvr>
                                    </p:animEffect>
                                  </p:childTnLst>
                                </p:cTn>
                              </p:par>
                              <p:par>
                                <p:cTn id="30" presetID="5" presetClass="entr" presetSubtype="10" fill="hold"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checkerboard(across)">
                                      <p:cBhvr>
                                        <p:cTn id="32" dur="500"/>
                                        <p:tgtEl>
                                          <p:spTgt spid="44"/>
                                        </p:tgtEl>
                                      </p:cBhvr>
                                    </p:animEffect>
                                  </p:childTnLst>
                                </p:cTn>
                              </p:par>
                              <p:par>
                                <p:cTn id="33" presetID="5" presetClass="entr" presetSubtype="10"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checkerboard(across)">
                                      <p:cBhvr>
                                        <p:cTn id="35" dur="500"/>
                                        <p:tgtEl>
                                          <p:spTgt spid="45"/>
                                        </p:tgtEl>
                                      </p:cBhvr>
                                    </p:animEffect>
                                  </p:childTnLst>
                                </p:cTn>
                              </p:par>
                              <p:par>
                                <p:cTn id="36" presetID="5" presetClass="entr" presetSubtype="10" fill="hold" nodeType="with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checkerboard(across)">
                                      <p:cBhvr>
                                        <p:cTn id="38" dur="500"/>
                                        <p:tgtEl>
                                          <p:spTgt spid="50"/>
                                        </p:tgtEl>
                                      </p:cBhvr>
                                    </p:animEffect>
                                  </p:childTnLst>
                                </p:cTn>
                              </p:par>
                              <p:par>
                                <p:cTn id="39" presetID="5" presetClass="entr" presetSubtype="10" fill="hold" nodeType="with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checkerboard(across)">
                                      <p:cBhvr>
                                        <p:cTn id="4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2" grpId="0" bldLvl="0" animBg="1"/>
      <p:bldP spid="33" grpId="0" bldLvl="0" animBg="1"/>
      <p:bldP spid="40" grpId="0"/>
      <p:bldP spid="48"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p:cNvGrpSpPr/>
          <p:nvPr/>
        </p:nvGrpSpPr>
        <p:grpSpPr bwMode="auto">
          <a:xfrm>
            <a:off x="511175" y="1117918"/>
            <a:ext cx="517207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1．建立shell脚本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cxnSp>
        <p:nvCxnSpPr>
          <p:cNvPr id="19" name="直接连接符 18"/>
          <p:cNvCxnSpPr/>
          <p:nvPr/>
        </p:nvCxnSpPr>
        <p:spPr>
          <a:xfrm flipH="1" flipV="1">
            <a:off x="1096645" y="1759585"/>
            <a:ext cx="635" cy="1323340"/>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cxnSp>
        <p:nvCxnSpPr>
          <p:cNvPr id="11" name="直接连接符 10"/>
          <p:cNvCxnSpPr/>
          <p:nvPr/>
        </p:nvCxnSpPr>
        <p:spPr>
          <a:xfrm flipH="1">
            <a:off x="1162050" y="3189605"/>
            <a:ext cx="6671310" cy="5080"/>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sp>
        <p:nvSpPr>
          <p:cNvPr id="24" name="矩形 23"/>
          <p:cNvSpPr/>
          <p:nvPr/>
        </p:nvSpPr>
        <p:spPr>
          <a:xfrm>
            <a:off x="1238885" y="1789430"/>
            <a:ext cx="6276975" cy="1280160"/>
          </a:xfrm>
          <a:prstGeom prst="rect">
            <a:avLst/>
          </a:prstGeom>
        </p:spPr>
        <p:txBody>
          <a:bodyPr wrap="square">
            <a:spAutoFit/>
          </a:bodyPr>
          <a:lstStyle/>
          <a:p>
            <a:pPr indent="457200">
              <a:lnSpc>
                <a:spcPct val="130000"/>
              </a:lnSpc>
            </a:pPr>
            <a:r>
              <a:rPr lang="zh-CN" altLang="en-US" sz="2000" dirty="0">
                <a:latin typeface="微软雅黑" panose="020B0503020204020204" pitchFamily="34" charset="-122"/>
                <a:ea typeface="微软雅黑" panose="020B0503020204020204" pitchFamily="34" charset="-122"/>
              </a:rPr>
              <a:t>shell脚本（shell script）是指使用用户环境shell提供的语句所编写的</a:t>
            </a:r>
            <a:r>
              <a:rPr lang="zh-CN" altLang="en-US" sz="2000" b="1" dirty="0">
                <a:solidFill>
                  <a:srgbClr val="0070C0"/>
                </a:solidFill>
                <a:latin typeface="微软雅黑" panose="020B0503020204020204" pitchFamily="34" charset="-122"/>
                <a:ea typeface="微软雅黑" panose="020B0503020204020204" pitchFamily="34" charset="-122"/>
              </a:rPr>
              <a:t>命令文件</a:t>
            </a:r>
            <a:r>
              <a:rPr lang="zh-CN" altLang="en-US" sz="2000" dirty="0">
                <a:latin typeface="微软雅黑" panose="020B0503020204020204" pitchFamily="34" charset="-122"/>
                <a:ea typeface="微软雅黑" panose="020B0503020204020204" pitchFamily="34" charset="-122"/>
              </a:rPr>
              <a:t>。shell脚本可以包含任意从键盘输入的Linux命令。</a:t>
            </a:r>
          </a:p>
        </p:txBody>
      </p:sp>
      <p:sp>
        <p:nvSpPr>
          <p:cNvPr id="33" name="矩形 32"/>
          <p:cNvSpPr/>
          <p:nvPr/>
        </p:nvSpPr>
        <p:spPr>
          <a:xfrm>
            <a:off x="1238885" y="3294380"/>
            <a:ext cx="6518275" cy="1676400"/>
          </a:xfrm>
          <a:prstGeom prst="rect">
            <a:avLst/>
          </a:prstGeom>
        </p:spPr>
        <p:txBody>
          <a:bodyPr wrap="square">
            <a:spAutoFit/>
          </a:bodyPr>
          <a:lstStyle/>
          <a:p>
            <a:pPr indent="457200">
              <a:lnSpc>
                <a:spcPct val="130000"/>
              </a:lnSpc>
            </a:pPr>
            <a:r>
              <a:rPr sz="2000" dirty="0">
                <a:latin typeface="微软雅黑" panose="020B0503020204020204" pitchFamily="34" charset="-122"/>
                <a:ea typeface="微软雅黑" panose="020B0503020204020204" pitchFamily="34" charset="-122"/>
              </a:rPr>
              <a:t>建立shell脚本的步骤与建立普通文本文件的方式相同，利用</a:t>
            </a:r>
            <a:r>
              <a:rPr sz="2000" b="1" dirty="0">
                <a:solidFill>
                  <a:srgbClr val="0070C0"/>
                </a:solidFill>
                <a:latin typeface="微软雅黑" panose="020B0503020204020204" pitchFamily="34" charset="-122"/>
                <a:ea typeface="微软雅黑" panose="020B0503020204020204" pitchFamily="34" charset="-122"/>
              </a:rPr>
              <a:t>文字编辑器（如vi）</a:t>
            </a:r>
            <a:r>
              <a:rPr sz="2000" dirty="0">
                <a:latin typeface="微软雅黑" panose="020B0503020204020204" pitchFamily="34" charset="-122"/>
                <a:ea typeface="微软雅黑" panose="020B0503020204020204" pitchFamily="34" charset="-122"/>
              </a:rPr>
              <a:t>进行程序录入和编辑加工。例如，建立一个名为examplel的shell脚本，可在提示符后输入命令：</a:t>
            </a:r>
          </a:p>
        </p:txBody>
      </p:sp>
      <p:cxnSp>
        <p:nvCxnSpPr>
          <p:cNvPr id="34" name="直接连接符 33"/>
          <p:cNvCxnSpPr/>
          <p:nvPr/>
        </p:nvCxnSpPr>
        <p:spPr>
          <a:xfrm flipV="1">
            <a:off x="1095375" y="3555365"/>
            <a:ext cx="1905" cy="2889250"/>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cxnSp>
        <p:nvCxnSpPr>
          <p:cNvPr id="35" name="直接连接符 34"/>
          <p:cNvCxnSpPr/>
          <p:nvPr/>
        </p:nvCxnSpPr>
        <p:spPr>
          <a:xfrm flipH="1">
            <a:off x="1198245" y="6511925"/>
            <a:ext cx="6711315" cy="3175"/>
          </a:xfrm>
          <a:prstGeom prst="line">
            <a:avLst/>
          </a:prstGeom>
          <a:ln>
            <a:solidFill>
              <a:srgbClr val="F5A7FB"/>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grpSp>
        <p:nvGrpSpPr>
          <p:cNvPr id="15" name="组合 14"/>
          <p:cNvGrpSpPr/>
          <p:nvPr/>
        </p:nvGrpSpPr>
        <p:grpSpPr>
          <a:xfrm>
            <a:off x="2846070" y="4618990"/>
            <a:ext cx="3371850" cy="732790"/>
            <a:chOff x="4482" y="7274"/>
            <a:chExt cx="5310" cy="1154"/>
          </a:xfrm>
        </p:grpSpPr>
        <p:sp>
          <p:nvSpPr>
            <p:cNvPr id="14" name="流程图: 过程 13"/>
            <p:cNvSpPr/>
            <p:nvPr/>
          </p:nvSpPr>
          <p:spPr>
            <a:xfrm>
              <a:off x="4482" y="7464"/>
              <a:ext cx="4822" cy="964"/>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2" name="文本框 11"/>
            <p:cNvSpPr txBox="1"/>
            <p:nvPr/>
          </p:nvSpPr>
          <p:spPr>
            <a:xfrm>
              <a:off x="4906" y="7274"/>
              <a:ext cx="4886" cy="1152"/>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800" b="1" dirty="0">
                  <a:solidFill>
                    <a:srgbClr val="0070C0"/>
                  </a:solidFill>
                  <a:latin typeface="微软雅黑" panose="020B0503020204020204" pitchFamily="34" charset="-122"/>
                  <a:ea typeface="微软雅黑" panose="020B0503020204020204" pitchFamily="34" charset="-122"/>
                  <a:cs typeface="+mn-cs"/>
                  <a:sym typeface="+mn-ea"/>
                </a:rPr>
                <a:t>$vi  example1</a:t>
              </a:r>
            </a:p>
          </p:txBody>
        </p:sp>
      </p:grpSp>
      <p:sp>
        <p:nvSpPr>
          <p:cNvPr id="13" name="TextBox 6"/>
          <p:cNvSpPr txBox="1"/>
          <p:nvPr/>
        </p:nvSpPr>
        <p:spPr>
          <a:xfrm>
            <a:off x="1096645" y="5351780"/>
            <a:ext cx="6809105" cy="883920"/>
          </a:xfrm>
          <a:prstGeom prst="rect">
            <a:avLst/>
          </a:prstGeom>
          <a:noFill/>
        </p:spPr>
        <p:txBody>
          <a:bodyPr wrap="square" rtlCol="0">
            <a:spAutoFit/>
          </a:bodyPr>
          <a:lstStyle/>
          <a:p>
            <a:pPr indent="457200" eaLnBrk="1" latinLnBrk="0" hangingPunct="1">
              <a:lnSpc>
                <a:spcPct val="13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进入vi的</a:t>
            </a:r>
            <a:r>
              <a:rPr lang="zh-CN" altLang="en-US" sz="2000" b="1" dirty="0">
                <a:solidFill>
                  <a:srgbClr val="0070C0"/>
                </a:solidFill>
                <a:latin typeface="微软雅黑" panose="020B0503020204020204" pitchFamily="34" charset="-122"/>
                <a:ea typeface="微软雅黑" panose="020B0503020204020204" pitchFamily="34" charset="-122"/>
              </a:rPr>
              <a:t>插入方式</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后，就可录入程序行。完成编辑之后，将编辑缓冲区中的内空写入文件中，返回到shell命令状态。</a:t>
            </a:r>
          </a:p>
        </p:txBody>
      </p:sp>
      <p:pic>
        <p:nvPicPr>
          <p:cNvPr id="16" name="图片 15" descr="b863be977d85f89558525af7b387fd05"/>
          <p:cNvPicPr>
            <a:picLocks noChangeAspect="1"/>
          </p:cNvPicPr>
          <p:nvPr/>
        </p:nvPicPr>
        <p:blipFill>
          <a:blip r:embed="rId2" cstate="print"/>
          <a:stretch>
            <a:fillRect/>
          </a:stretch>
        </p:blipFill>
        <p:spPr>
          <a:xfrm>
            <a:off x="8220075" y="2172335"/>
            <a:ext cx="3161665" cy="364553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par>
                                <p:cTn id="8" presetID="22" presetClass="entr" presetSubtype="1"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up)">
                                      <p:cBhvr>
                                        <p:cTn id="10" dur="500"/>
                                        <p:tgtEl>
                                          <p:spTgt spid="19"/>
                                        </p:tgtEl>
                                      </p:cBhvr>
                                    </p:animEffect>
                                  </p:childTnLst>
                                </p:cTn>
                              </p:par>
                              <p:par>
                                <p:cTn id="11" presetID="22" presetClass="entr" presetSubtype="8"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childTnLst>
                          </p:cTn>
                        </p:par>
                        <p:par>
                          <p:cTn id="14" fill="hold">
                            <p:stCondLst>
                              <p:cond delay="500"/>
                            </p:stCondLst>
                            <p:childTnLst>
                              <p:par>
                                <p:cTn id="15" presetID="12" presetClass="entr" presetSubtype="2"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slide(fromRight)">
                                      <p:cBhvr>
                                        <p:cTn id="17" dur="500"/>
                                        <p:tgtEl>
                                          <p:spTgt spid="24"/>
                                        </p:tgtEl>
                                      </p:cBhvr>
                                    </p:animEffect>
                                  </p:childTnLst>
                                </p:cTn>
                              </p:par>
                              <p:par>
                                <p:cTn id="18" presetID="22" presetClass="entr" presetSubtype="2" fill="hold"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right)">
                                      <p:cBhvr>
                                        <p:cTn id="20" dur="500"/>
                                        <p:tgtEl>
                                          <p:spTgt spid="35"/>
                                        </p:tgtEl>
                                      </p:cBhvr>
                                    </p:animEffect>
                                  </p:childTnLst>
                                </p:cTn>
                              </p:par>
                              <p:par>
                                <p:cTn id="21" presetID="22" presetClass="entr" presetSubtype="1"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up)">
                                      <p:cBhvr>
                                        <p:cTn id="23" dur="500"/>
                                        <p:tgtEl>
                                          <p:spTgt spid="34"/>
                                        </p:tgtEl>
                                      </p:cBhvr>
                                    </p:animEffect>
                                  </p:childTnLst>
                                </p:cTn>
                              </p:par>
                            </p:childTnLst>
                          </p:cTn>
                        </p:par>
                        <p:par>
                          <p:cTn id="24" fill="hold">
                            <p:stCondLst>
                              <p:cond delay="1000"/>
                            </p:stCondLst>
                            <p:childTnLst>
                              <p:par>
                                <p:cTn id="25" presetID="12" presetClass="entr" presetSubtype="2" fill="hold" grpId="0"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slide(fromRight)">
                                      <p:cBhvr>
                                        <p:cTn id="27" dur="500"/>
                                        <p:tgtEl>
                                          <p:spTgt spid="33"/>
                                        </p:tgtEl>
                                      </p:cBhvr>
                                    </p:animEffect>
                                  </p:childTnLst>
                                </p:cTn>
                              </p:par>
                            </p:childTnLst>
                          </p:cTn>
                        </p:par>
                        <p:par>
                          <p:cTn id="28" fill="hold">
                            <p:stCondLst>
                              <p:cond delay="1500"/>
                            </p:stCondLst>
                            <p:childTnLst>
                              <p:par>
                                <p:cTn id="29" presetID="12" presetClass="entr" presetSubtype="2"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p:tgtEl>
                                          <p:spTgt spid="15"/>
                                        </p:tgtEl>
                                        <p:attrNameLst>
                                          <p:attrName>ppt_x</p:attrName>
                                        </p:attrNameLst>
                                      </p:cBhvr>
                                      <p:tavLst>
                                        <p:tav tm="0">
                                          <p:val>
                                            <p:strVal val="#ppt_x+#ppt_w*1.125000"/>
                                          </p:val>
                                        </p:tav>
                                        <p:tav tm="100000">
                                          <p:val>
                                            <p:strVal val="#ppt_x"/>
                                          </p:val>
                                        </p:tav>
                                      </p:tavLst>
                                    </p:anim>
                                    <p:animEffect transition="in" filter="wipe(left)">
                                      <p:cBhvr>
                                        <p:cTn id="32" dur="500"/>
                                        <p:tgtEl>
                                          <p:spTgt spid="15"/>
                                        </p:tgtEl>
                                      </p:cBhvr>
                                    </p:animEffect>
                                  </p:childTnLst>
                                </p:cTn>
                              </p:par>
                              <p:par>
                                <p:cTn id="33" presetID="12" presetClass="entr" presetSubtype="2" fill="hold" grpId="1"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p:tgtEl>
                                          <p:spTgt spid="13"/>
                                        </p:tgtEl>
                                        <p:attrNameLst>
                                          <p:attrName>ppt_x</p:attrName>
                                        </p:attrNameLst>
                                      </p:cBhvr>
                                      <p:tavLst>
                                        <p:tav tm="0">
                                          <p:val>
                                            <p:strVal val="#ppt_x+#ppt_w*1.125000"/>
                                          </p:val>
                                        </p:tav>
                                        <p:tav tm="100000">
                                          <p:val>
                                            <p:strVal val="#ppt_x"/>
                                          </p:val>
                                        </p:tav>
                                      </p:tavLst>
                                    </p:anim>
                                    <p:animEffect transition="in" filter="wipe(left)">
                                      <p:cBhvr>
                                        <p:cTn id="36" dur="500"/>
                                        <p:tgtEl>
                                          <p:spTgt spid="13"/>
                                        </p:tgtEl>
                                      </p:cBhvr>
                                    </p:animEffect>
                                  </p:childTnLst>
                                </p:cTn>
                              </p:par>
                            </p:childTnLst>
                          </p:cTn>
                        </p:par>
                        <p:par>
                          <p:cTn id="37" fill="hold">
                            <p:stCondLst>
                              <p:cond delay="2000"/>
                            </p:stCondLst>
                            <p:childTnLst>
                              <p:par>
                                <p:cTn id="38" presetID="3" presetClass="entr" presetSubtype="10" fill="hold"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linds(horizontal)">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3" grpId="0"/>
      <p:bldP spid="13" grpId="0"/>
      <p:bldP spid="1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781050" y="1184910"/>
            <a:ext cx="10044430" cy="883920"/>
          </a:xfrm>
          <a:prstGeom prst="rect">
            <a:avLst/>
          </a:prstGeom>
          <a:noFill/>
        </p:spPr>
        <p:txBody>
          <a:bodyPr wrap="square" rtlCol="0">
            <a:spAutoFit/>
          </a:bodyPr>
          <a:lstStyle/>
          <a:p>
            <a:pPr indent="457200" eaLnBrk="1" latinLnBrk="0" hangingPunct="1">
              <a:lnSpc>
                <a:spcPct val="130000"/>
              </a:lnSpc>
            </a:pPr>
            <a:r>
              <a:rPr lang="zh-CN" altLang="en-US" sz="2000" dirty="0">
                <a:solidFill>
                  <a:srgbClr val="FF0000"/>
                </a:solidFill>
                <a:latin typeface="微软雅黑" panose="020B0503020204020204" pitchFamily="34" charset="-122"/>
                <a:ea typeface="微软雅黑" panose="020B0503020204020204" pitchFamily="34" charset="-122"/>
              </a:rPr>
              <a:t>如果经常用到相同执行顺序的操作命令，便可以将这些命令</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写成</a:t>
            </a:r>
            <a:r>
              <a:rPr lang="zh-CN" altLang="en-US" sz="2000" b="1" dirty="0">
                <a:solidFill>
                  <a:srgbClr val="FF0000"/>
                </a:solidFill>
                <a:latin typeface="微软雅黑" panose="020B0503020204020204" pitchFamily="34" charset="-122"/>
                <a:ea typeface="微软雅黑" panose="020B0503020204020204" pitchFamily="34" charset="-122"/>
              </a:rPr>
              <a:t>脚本文件</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。这样以后要做同样的事情时，只要在命令行输入其文件名即可。</a:t>
            </a:r>
          </a:p>
        </p:txBody>
      </p:sp>
      <p:grpSp>
        <p:nvGrpSpPr>
          <p:cNvPr id="3" name="组合 2"/>
          <p:cNvGrpSpPr/>
          <p:nvPr/>
        </p:nvGrpSpPr>
        <p:grpSpPr>
          <a:xfrm>
            <a:off x="668655" y="2313305"/>
            <a:ext cx="10960735" cy="4173855"/>
            <a:chOff x="953" y="3403"/>
            <a:chExt cx="17261" cy="6573"/>
          </a:xfrm>
        </p:grpSpPr>
        <p:grpSp>
          <p:nvGrpSpPr>
            <p:cNvPr id="13" name="组合 12"/>
            <p:cNvGrpSpPr/>
            <p:nvPr/>
          </p:nvGrpSpPr>
          <p:grpSpPr>
            <a:xfrm>
              <a:off x="953" y="3403"/>
              <a:ext cx="17261" cy="6573"/>
              <a:chOff x="953" y="3403"/>
              <a:chExt cx="17261" cy="6573"/>
            </a:xfrm>
          </p:grpSpPr>
          <p:grpSp>
            <p:nvGrpSpPr>
              <p:cNvPr id="9" name="组合 14"/>
              <p:cNvGrpSpPr/>
              <p:nvPr/>
            </p:nvGrpSpPr>
            <p:grpSpPr bwMode="auto">
              <a:xfrm>
                <a:off x="953" y="3403"/>
                <a:ext cx="17261" cy="6573"/>
                <a:chOff x="1179162" y="1786456"/>
                <a:chExt cx="9858444" cy="1713982"/>
              </a:xfrm>
            </p:grpSpPr>
            <p:grpSp>
              <p:nvGrpSpPr>
                <p:cNvPr id="10249" name="组合 12"/>
                <p:cNvGrpSpPr/>
                <p:nvPr/>
              </p:nvGrpSpPr>
              <p:grpSpPr bwMode="auto">
                <a:xfrm>
                  <a:off x="1179162" y="1786456"/>
                  <a:ext cx="9858444" cy="1713982"/>
                  <a:chOff x="1179162" y="1786456"/>
                  <a:chExt cx="9858444" cy="1713982"/>
                </a:xfrm>
              </p:grpSpPr>
              <p:sp>
                <p:nvSpPr>
                  <p:cNvPr id="15" name="矩形 14"/>
                  <p:cNvSpPr/>
                  <p:nvPr/>
                </p:nvSpPr>
                <p:spPr>
                  <a:xfrm>
                    <a:off x="1179162"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252" name="矩形 6"/>
                  <p:cNvSpPr>
                    <a:spLocks noChangeArrowheads="1"/>
                  </p:cNvSpPr>
                  <p:nvPr/>
                </p:nvSpPr>
                <p:spPr bwMode="auto">
                  <a:xfrm>
                    <a:off x="1303784" y="1787225"/>
                    <a:ext cx="8307706" cy="18775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FF0000"/>
                        </a:solidFill>
                        <a:latin typeface="微软雅黑" panose="020B0503020204020204" pitchFamily="34" charset="-122"/>
                        <a:ea typeface="微软雅黑" panose="020B0503020204020204" pitchFamily="34" charset="-122"/>
                        <a:cs typeface="+mn-cs"/>
                        <a:sym typeface="+mn-ea"/>
                      </a:rPr>
                      <a:t>【例5-1】</a:t>
                    </a:r>
                    <a:r>
                      <a:rPr lang="zh-CN" altLang="en-US" sz="2000" b="1" dirty="0">
                        <a:solidFill>
                          <a:srgbClr val="009900"/>
                        </a:solidFill>
                        <a:latin typeface="微软雅黑" panose="020B0503020204020204" pitchFamily="34" charset="-122"/>
                        <a:ea typeface="微软雅黑" panose="020B0503020204020204" pitchFamily="34" charset="-122"/>
                        <a:cs typeface="+mn-cs"/>
                        <a:sym typeface="+mn-ea"/>
                      </a:rPr>
                      <a:t>显示当前的日期时间、执行路径、用户账号及所在的目录位置。</a:t>
                    </a:r>
                  </a:p>
                </p:txBody>
              </p:sp>
            </p:grpSp>
            <p:sp>
              <p:nvSpPr>
                <p:cNvPr id="10250" name="MH_Text_1"/>
                <p:cNvSpPr txBox="1">
                  <a:spLocks noChangeArrowheads="1"/>
                </p:cNvSpPr>
                <p:nvPr>
                  <p:custDataLst>
                    <p:tags r:id="rId3"/>
                  </p:custDataLst>
                </p:nvPr>
              </p:nvSpPr>
              <p:spPr bwMode="auto">
                <a:xfrm>
                  <a:off x="1260264" y="2351037"/>
                  <a:ext cx="5046020" cy="1112734"/>
                </a:xfrm>
                <a:prstGeom prst="rect">
                  <a:avLst/>
                </a:prstGeom>
                <a:solidFill>
                  <a:srgbClr val="F2F2F2"/>
                </a:solidFill>
                <a:ln w="9525">
                  <a:noFill/>
                  <a:miter lim="800000"/>
                </a:ln>
              </p:spPr>
              <p:txBody>
                <a:bodyPr/>
                <a:lstStyle/>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#This script is a test! </a:t>
                  </a:r>
                </a:p>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–n "Date and time is :" </a:t>
                  </a:r>
                </a:p>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date  </a:t>
                  </a:r>
                </a:p>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–n  "The executable path is :"$PATH </a:t>
                  </a:r>
                </a:p>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"Your name is :`whoami`"</a:t>
                  </a:r>
                </a:p>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-n  "Your current directory is :" pwd</a:t>
                  </a:r>
                </a:p>
                <a:p>
                  <a:pPr indent="457200"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 </a:t>
                  </a:r>
                </a:p>
                <a:p>
                  <a:pPr indent="457200" eaLnBrk="1" latinLnBrk="0" hangingPunct="1">
                    <a:lnSpc>
                      <a:spcPct val="120000"/>
                    </a:lnSpc>
                    <a:buFont typeface="Arial" panose="020B0604020202020204" pitchFamily="34" charset="0"/>
                    <a:buNone/>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grpSp>
          <p:sp>
            <p:nvSpPr>
              <p:cNvPr id="10" name="MH_Text_1"/>
              <p:cNvSpPr txBox="1">
                <a:spLocks noChangeArrowheads="1"/>
              </p:cNvSpPr>
              <p:nvPr>
                <p:custDataLst>
                  <p:tags r:id="rId2"/>
                </p:custDataLst>
              </p:nvPr>
            </p:nvSpPr>
            <p:spPr bwMode="auto">
              <a:xfrm>
                <a:off x="4696" y="4125"/>
                <a:ext cx="5466" cy="826"/>
              </a:xfrm>
              <a:prstGeom prst="rect">
                <a:avLst/>
              </a:prstGeom>
              <a:solidFill>
                <a:srgbClr val="F2F2F2"/>
              </a:solidFill>
              <a:ln w="9525">
                <a:noFill/>
                <a:miter lim="800000"/>
              </a:ln>
            </p:spPr>
            <p:txBody>
              <a:bodyPr/>
              <a:lstStyle/>
              <a:p>
                <a:pPr indent="457200"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vi  example1 </a:t>
                </a:r>
              </a:p>
            </p:txBody>
          </p:sp>
          <p:sp>
            <p:nvSpPr>
              <p:cNvPr id="11" name="矩形 6"/>
              <p:cNvSpPr>
                <a:spLocks noChangeArrowheads="1"/>
              </p:cNvSpPr>
              <p:nvPr/>
            </p:nvSpPr>
            <p:spPr bwMode="auto">
              <a:xfrm>
                <a:off x="1475" y="4135"/>
                <a:ext cx="3221"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在命令行中输入：</a:t>
                </a:r>
              </a:p>
            </p:txBody>
          </p:sp>
          <p:sp>
            <p:nvSpPr>
              <p:cNvPr id="12" name="矩形 6"/>
              <p:cNvSpPr>
                <a:spLocks noChangeArrowheads="1"/>
              </p:cNvSpPr>
              <p:nvPr/>
            </p:nvSpPr>
            <p:spPr bwMode="auto">
              <a:xfrm>
                <a:off x="1475" y="4807"/>
                <a:ext cx="6700"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mn-cs"/>
                    <a:sym typeface="+mn-ea"/>
                  </a:rPr>
                  <a:t>在vi编辑器中输入下列内容：</a:t>
                </a:r>
              </a:p>
            </p:txBody>
          </p:sp>
        </p:grpSp>
        <p:sp>
          <p:nvSpPr>
            <p:cNvPr id="14" name="MH_Text_1"/>
            <p:cNvSpPr txBox="1">
              <a:spLocks noChangeArrowheads="1"/>
            </p:cNvSpPr>
            <p:nvPr>
              <p:custDataLst>
                <p:tags r:id="rId1"/>
              </p:custDataLst>
            </p:nvPr>
          </p:nvSpPr>
          <p:spPr bwMode="auto">
            <a:xfrm>
              <a:off x="10521" y="4510"/>
              <a:ext cx="7617" cy="5466"/>
            </a:xfrm>
            <a:prstGeom prst="rect">
              <a:avLst/>
            </a:prstGeom>
            <a:solidFill>
              <a:srgbClr val="F2F2F2"/>
            </a:solidFill>
            <a:ln w="9525">
              <a:noFill/>
              <a:miter lim="800000"/>
            </a:ln>
          </p:spPr>
          <p:txBody>
            <a:bodyPr/>
            <a:lstStyle/>
            <a:p>
              <a:pPr indent="457200" eaLnBrk="1" fontAlgn="auto" latinLnBrk="0" hangingPunct="1">
                <a:lnSpc>
                  <a:spcPct val="130000"/>
                </a:lnSpc>
                <a:buFont typeface="Arial" panose="020B0604020202020204" pitchFamily="34" charset="0"/>
                <a:buNone/>
                <a:defRPr/>
              </a:pPr>
              <a:r>
                <a:rPr lang="zh-CN" altLang="en-US" sz="2000" dirty="0">
                  <a:latin typeface="微软雅黑" panose="020B0503020204020204" pitchFamily="34" charset="-122"/>
                  <a:ea typeface="微软雅黑" panose="020B0503020204020204" pitchFamily="34" charset="-122"/>
                  <a:sym typeface="+mn-ea"/>
                </a:rPr>
                <a:t>文件中以</a:t>
              </a:r>
              <a:r>
                <a:rPr lang="zh-CN" altLang="en-US" sz="2000" b="1" dirty="0">
                  <a:solidFill>
                    <a:srgbClr val="0070C0"/>
                  </a:solidFill>
                  <a:latin typeface="微软雅黑" panose="020B0503020204020204" pitchFamily="34" charset="-122"/>
                  <a:ea typeface="微软雅黑" panose="020B0503020204020204" pitchFamily="34" charset="-122"/>
                  <a:sym typeface="+mn-ea"/>
                </a:rPr>
                <a:t>“#”开头</a:t>
              </a:r>
              <a:r>
                <a:rPr lang="zh-CN" altLang="en-US" sz="2000" dirty="0">
                  <a:latin typeface="微软雅黑" panose="020B0503020204020204" pitchFamily="34" charset="-122"/>
                  <a:ea typeface="微软雅黑" panose="020B0503020204020204" pitchFamily="34" charset="-122"/>
                  <a:sym typeface="+mn-ea"/>
                </a:rPr>
                <a:t>的行是注释行，在执行时会被忽略。特别是其中的第1行“#!/bin/bash”，用来指定脚本以bash执行。如果要设置以tcsh执行，则应设成“#!/bin/tcsh”。要指定执行的shell时，一定要将它写在第1行；如果没有指定，则以当前正在执行的shell来解释。</a:t>
              </a:r>
              <a:endParaRPr lang="zh-CN" altLang="en-US" sz="2000" b="1" dirty="0">
                <a:solidFill>
                  <a:srgbClr val="0070C0"/>
                </a:solidFill>
                <a:latin typeface="微软雅黑" panose="020B0503020204020204" pitchFamily="34" charset="-122"/>
                <a:ea typeface="微软雅黑" panose="020B0503020204020204" pitchFamily="34" charset="-122"/>
                <a:cs typeface="+mn-cs"/>
                <a:sym typeface="+mn-ea"/>
              </a:endParaRPr>
            </a:p>
            <a:p>
              <a:pPr indent="457200" eaLnBrk="1" latinLnBrk="0" hangingPunct="1">
                <a:lnSpc>
                  <a:spcPct val="120000"/>
                </a:lnSpc>
                <a:buFont typeface="Arial" panose="020B0604020202020204" pitchFamily="34" charset="0"/>
                <a:buNone/>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Righ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C:\Documents and Settings\tdz\桌面\未标题-1 拷贝.png"/>
          <p:cNvPicPr>
            <a:picLocks noChangeAspect="1" noChangeArrowheads="1"/>
          </p:cNvPicPr>
          <p:nvPr/>
        </p:nvPicPr>
        <p:blipFill>
          <a:blip r:embed="rId3" cstate="print"/>
          <a:srcRect/>
          <a:stretch>
            <a:fillRect/>
          </a:stretch>
        </p:blipFill>
        <p:spPr bwMode="auto">
          <a:xfrm>
            <a:off x="8243687" y="857232"/>
            <a:ext cx="3067287" cy="583451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接连接符 5"/>
          <p:cNvCxnSpPr/>
          <p:nvPr/>
        </p:nvCxnSpPr>
        <p:spPr>
          <a:xfrm>
            <a:off x="957396" y="6213494"/>
            <a:ext cx="6572296" cy="1588"/>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cxnSp>
        <p:nvCxnSpPr>
          <p:cNvPr id="7" name="直接连接符 6"/>
          <p:cNvCxnSpPr/>
          <p:nvPr/>
        </p:nvCxnSpPr>
        <p:spPr>
          <a:xfrm>
            <a:off x="952464" y="1712900"/>
            <a:ext cx="0" cy="4393060"/>
          </a:xfrm>
          <a:prstGeom prst="line">
            <a:avLst/>
          </a:prstGeom>
          <a:noFill/>
          <a:ln w="9525" cap="flat" cmpd="sng">
            <a:solidFill>
              <a:srgbClr val="C00000"/>
            </a:solidFill>
            <a:prstDash val="dash"/>
            <a:round/>
            <a:headEnd type="oval" w="med" len="med"/>
            <a:tailEnd type="oval"/>
          </a:ln>
          <a:extLst>
            <a:ext uri="{909E8E84-426E-40DD-AFC4-6F175D3DCCD1}">
              <a14:hiddenFill xmlns:a14="http://schemas.microsoft.com/office/drawing/2010/main">
                <a:noFill/>
              </a14:hiddenFill>
            </a:ext>
          </a:extLst>
        </p:spPr>
      </p:cxnSp>
      <p:sp>
        <p:nvSpPr>
          <p:cNvPr id="10" name="矩形 9"/>
          <p:cNvSpPr/>
          <p:nvPr/>
        </p:nvSpPr>
        <p:spPr>
          <a:xfrm>
            <a:off x="1238250" y="1945005"/>
            <a:ext cx="6127115" cy="4053840"/>
          </a:xfrm>
          <a:prstGeom prst="rect">
            <a:avLst/>
          </a:prstGeom>
        </p:spPr>
        <p:txBody>
          <a:bodyPr wrap="square">
            <a:spAutoFit/>
          </a:bodyPr>
          <a:lstStyle/>
          <a:p>
            <a:pPr indent="457200" eaLnBrk="1" latinLnBrk="0" hangingPunct="1">
              <a:lnSpc>
                <a:spcPct val="13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echo命令</a:t>
            </a:r>
            <a:r>
              <a:rPr lang="zh-CN" altLang="en-US" sz="2000" dirty="0">
                <a:latin typeface="微软雅黑" panose="020B0503020204020204" pitchFamily="34" charset="-122"/>
                <a:ea typeface="微软雅黑" panose="020B0503020204020204" pitchFamily="34" charset="-122"/>
                <a:sym typeface="+mn-ea"/>
              </a:rPr>
              <a:t>用来显示提示信息，参数“-n”表示在显示信息时不自动换行（默认会自动换行），如第3行</a:t>
            </a:r>
            <a:r>
              <a:rPr lang="zh-CN" altLang="en-US" sz="2000" dirty="0">
                <a:solidFill>
                  <a:srgbClr val="FF0000"/>
                </a:solidFill>
                <a:latin typeface="微软雅黑" panose="020B0503020204020204" pitchFamily="34" charset="-122"/>
                <a:ea typeface="微软雅黑" panose="020B0503020204020204" pitchFamily="34" charset="-122"/>
                <a:sym typeface="+mn-ea"/>
              </a:rPr>
              <a:t>的“echo -n……”，表示此行输出后不换行</a:t>
            </a:r>
            <a:r>
              <a:rPr lang="zh-CN" altLang="en-US" sz="2000" dirty="0">
                <a:latin typeface="微软雅黑" panose="020B0503020204020204" pitchFamily="34" charset="-122"/>
                <a:ea typeface="微软雅黑" panose="020B0503020204020204" pitchFamily="34" charset="-122"/>
                <a:sym typeface="+mn-ea"/>
              </a:rPr>
              <a:t>。下一行的date命令执行结果就会接在“Date and time is:”之后显示。</a:t>
            </a:r>
          </a:p>
          <a:p>
            <a:pPr indent="457200" eaLnBrk="1" latinLnBrk="0" hangingPunct="1">
              <a:lnSpc>
                <a:spcPct val="130000"/>
              </a:lnSpc>
            </a:pPr>
            <a:r>
              <a:rPr lang="zh-CN" altLang="en-US" sz="2000" dirty="0">
                <a:latin typeface="微软雅黑" panose="020B0503020204020204" pitchFamily="34" charset="-122"/>
                <a:ea typeface="微软雅黑" panose="020B0503020204020204" pitchFamily="34" charset="-122"/>
                <a:sym typeface="+mn-ea"/>
              </a:rPr>
              <a:t>第6行的`whoami`字符串左右的倒引号（`）用于</a:t>
            </a:r>
            <a:r>
              <a:rPr lang="zh-CN" altLang="en-US" sz="2000" b="1" dirty="0">
                <a:solidFill>
                  <a:srgbClr val="0070C0"/>
                </a:solidFill>
                <a:latin typeface="微软雅黑" panose="020B0503020204020204" pitchFamily="34" charset="-122"/>
                <a:ea typeface="微软雅黑" panose="020B0503020204020204" pitchFamily="34" charset="-122"/>
                <a:sym typeface="+mn-ea"/>
              </a:rPr>
              <a:t>命令转换</a:t>
            </a:r>
            <a:r>
              <a:rPr lang="zh-CN" altLang="en-US" sz="2000" dirty="0">
                <a:latin typeface="微软雅黑" panose="020B0503020204020204" pitchFamily="34" charset="-122"/>
                <a:ea typeface="微软雅黑" panose="020B0503020204020204" pitchFamily="34" charset="-122"/>
                <a:sym typeface="+mn-ea"/>
              </a:rPr>
              <a:t>，也就是将它所括起来的字符串视为</a:t>
            </a:r>
            <a:r>
              <a:rPr lang="zh-CN" altLang="en-US" sz="2000" b="1" dirty="0">
                <a:solidFill>
                  <a:srgbClr val="0070C0"/>
                </a:solidFill>
                <a:latin typeface="微软雅黑" panose="020B0503020204020204" pitchFamily="34" charset="-122"/>
                <a:ea typeface="微软雅黑" panose="020B0503020204020204" pitchFamily="34" charset="-122"/>
                <a:sym typeface="+mn-ea"/>
              </a:rPr>
              <a:t>命令执行</a:t>
            </a:r>
            <a:r>
              <a:rPr lang="zh-CN" altLang="en-US" sz="2000" dirty="0">
                <a:latin typeface="微软雅黑" panose="020B0503020204020204" pitchFamily="34" charset="-122"/>
                <a:ea typeface="微软雅黑" panose="020B0503020204020204" pitchFamily="34" charset="-122"/>
                <a:sym typeface="+mn-ea"/>
              </a:rPr>
              <a:t>，并将其输出字符串在原地展开。第3行也可以改写成与第6行相同的写法“echo Date and time is : `date`”。</a:t>
            </a:r>
            <a:endParaRPr lang="zh-CN" altLang="en-US" sz="2000" kern="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Left)">
                                      <p:cBhvr>
                                        <p:cTn id="7" dur="500"/>
                                        <p:tgtEl>
                                          <p:spTgt spid="7"/>
                                        </p:tgtEl>
                                      </p:cBhvr>
                                    </p:animEffect>
                                  </p:childTnLst>
                                </p:cTn>
                              </p:par>
                              <p:par>
                                <p:cTn id="8" presetID="1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lide(fromLeft)">
                                      <p:cBhvr>
                                        <p:cTn id="10" dur="500"/>
                                        <p:tgtEl>
                                          <p:spTgt spid="6"/>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par>
                          <p:cTn id="17" fill="hold">
                            <p:stCondLst>
                              <p:cond delay="1000"/>
                            </p:stCondLst>
                            <p:childTnLst>
                              <p:par>
                                <p:cTn id="18" presetID="12" presetClass="entr" presetSubtype="2"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lide(fromRight)">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415925" y="1205230"/>
            <a:ext cx="11360150" cy="5161915"/>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21" name="组合 1"/>
          <p:cNvGrpSpPr/>
          <p:nvPr/>
        </p:nvGrpSpPr>
        <p:grpSpPr bwMode="auto">
          <a:xfrm>
            <a:off x="602615" y="1194118"/>
            <a:ext cx="517207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2．执行shell脚本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grpSp>
        <p:nvGrpSpPr>
          <p:cNvPr id="4" name="组合 3"/>
          <p:cNvGrpSpPr/>
          <p:nvPr/>
        </p:nvGrpSpPr>
        <p:grpSpPr>
          <a:xfrm>
            <a:off x="415925" y="1758315"/>
            <a:ext cx="10593070" cy="2604770"/>
            <a:chOff x="655" y="2769"/>
            <a:chExt cx="16682" cy="4102"/>
          </a:xfrm>
        </p:grpSpPr>
        <p:sp>
          <p:nvSpPr>
            <p:cNvPr id="9" name="对角圆角矩形 8"/>
            <p:cNvSpPr/>
            <p:nvPr/>
          </p:nvSpPr>
          <p:spPr>
            <a:xfrm>
              <a:off x="655" y="3902"/>
              <a:ext cx="6272" cy="878"/>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（1）输入重定向到shell脚本</a:t>
              </a:r>
            </a:p>
          </p:txBody>
        </p:sp>
        <p:grpSp>
          <p:nvGrpSpPr>
            <p:cNvPr id="3" name="组合 2"/>
            <p:cNvGrpSpPr/>
            <p:nvPr/>
          </p:nvGrpSpPr>
          <p:grpSpPr>
            <a:xfrm>
              <a:off x="949" y="2769"/>
              <a:ext cx="16388" cy="4102"/>
              <a:chOff x="949" y="2769"/>
              <a:chExt cx="16388" cy="4102"/>
            </a:xfrm>
          </p:grpSpPr>
          <p:sp>
            <p:nvSpPr>
              <p:cNvPr id="6" name="TextBox 6"/>
              <p:cNvSpPr txBox="1"/>
              <p:nvPr/>
            </p:nvSpPr>
            <p:spPr>
              <a:xfrm>
                <a:off x="1519" y="2769"/>
                <a:ext cx="15818" cy="768"/>
              </a:xfrm>
              <a:prstGeom prst="rect">
                <a:avLst/>
              </a:prstGeom>
              <a:noFill/>
            </p:spPr>
            <p:txBody>
              <a:bodyPr wrap="square" rtlCol="0">
                <a:spAutoFit/>
              </a:bodyPr>
              <a:lstStyle/>
              <a:p>
                <a:pPr indent="457200" eaLnBrk="1" latinLnBrk="0" hangingPunct="1">
                  <a:lnSpc>
                    <a:spcPct val="130000"/>
                  </a:lnSpc>
                </a:pPr>
                <a:r>
                  <a:rPr lang="zh-CN" altLang="en-US" sz="2000" dirty="0">
                    <a:latin typeface="微软雅黑" panose="020B0503020204020204" pitchFamily="34" charset="-122"/>
                    <a:ea typeface="微软雅黑" panose="020B0503020204020204" pitchFamily="34" charset="-122"/>
                  </a:rPr>
                  <a:t>执行shell脚本的方式基本上有下述3种：</a:t>
                </a:r>
              </a:p>
            </p:txBody>
          </p:sp>
          <p:sp>
            <p:nvSpPr>
              <p:cNvPr id="8" name="TextBox 6"/>
              <p:cNvSpPr txBox="1"/>
              <p:nvPr/>
            </p:nvSpPr>
            <p:spPr>
              <a:xfrm>
                <a:off x="949" y="5016"/>
                <a:ext cx="15516" cy="768"/>
              </a:xfrm>
              <a:prstGeom prst="rect">
                <a:avLst/>
              </a:prstGeom>
              <a:noFill/>
            </p:spPr>
            <p:txBody>
              <a:bodyPr wrap="square" rtlCol="0">
                <a:spAutoFit/>
              </a:bodyPr>
              <a:lstStyle/>
              <a:p>
                <a:pPr indent="457200" eaLnBrk="1" latinLnBrk="0" hangingPunct="1">
                  <a:lnSpc>
                    <a:spcPct val="130000"/>
                  </a:lnSpc>
                </a:pPr>
                <a:r>
                  <a:rPr lang="zh-CN" altLang="en-US" sz="2000" dirty="0">
                    <a:latin typeface="微软雅黑" panose="020B0503020204020204" pitchFamily="34" charset="-122"/>
                    <a:ea typeface="微软雅黑" panose="020B0503020204020204" pitchFamily="34" charset="-122"/>
                  </a:rPr>
                  <a:t>这种方式是用输入重定向方式让shell从给定的文件中</a:t>
                </a:r>
                <a:r>
                  <a:rPr lang="zh-CN" altLang="en-US" sz="2000" b="1" dirty="0">
                    <a:solidFill>
                      <a:srgbClr val="0070C0"/>
                    </a:solidFill>
                    <a:latin typeface="微软雅黑" panose="020B0503020204020204" pitchFamily="34" charset="-122"/>
                    <a:ea typeface="微软雅黑" panose="020B0503020204020204" pitchFamily="34" charset="-122"/>
                  </a:rPr>
                  <a:t>读入命令行</a:t>
                </a:r>
                <a:r>
                  <a:rPr lang="zh-CN" altLang="en-US" sz="2000" dirty="0">
                    <a:latin typeface="微软雅黑" panose="020B0503020204020204" pitchFamily="34" charset="-122"/>
                    <a:ea typeface="微软雅黑" panose="020B0503020204020204" pitchFamily="34" charset="-122"/>
                  </a:rPr>
                  <a:t>，并进行相应处理。</a:t>
                </a:r>
              </a:p>
            </p:txBody>
          </p:sp>
          <p:grpSp>
            <p:nvGrpSpPr>
              <p:cNvPr id="10" name="组合 9"/>
              <p:cNvGrpSpPr/>
              <p:nvPr/>
            </p:nvGrpSpPr>
            <p:grpSpPr>
              <a:xfrm>
                <a:off x="1519" y="5966"/>
                <a:ext cx="7635" cy="875"/>
                <a:chOff x="1496" y="3707"/>
                <a:chExt cx="7635" cy="875"/>
              </a:xfrm>
            </p:grpSpPr>
            <p:sp>
              <p:nvSpPr>
                <p:cNvPr id="45" name="Text Box 44"/>
                <p:cNvSpPr txBox="1">
                  <a:spLocks noChangeArrowheads="1"/>
                </p:cNvSpPr>
                <p:nvPr/>
              </p:nvSpPr>
              <p:spPr bwMode="auto">
                <a:xfrm>
                  <a:off x="1496" y="3707"/>
                  <a:ext cx="4353"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其一般形式是：</a:t>
                  </a:r>
                </a:p>
              </p:txBody>
            </p:sp>
            <p:grpSp>
              <p:nvGrpSpPr>
                <p:cNvPr id="11" name="组合 10"/>
                <p:cNvGrpSpPr/>
                <p:nvPr/>
              </p:nvGrpSpPr>
              <p:grpSpPr>
                <a:xfrm>
                  <a:off x="4466" y="3707"/>
                  <a:ext cx="4665" cy="875"/>
                  <a:chOff x="1589" y="5012"/>
                  <a:chExt cx="4665" cy="875"/>
                </a:xfrm>
              </p:grpSpPr>
              <p:sp>
                <p:nvSpPr>
                  <p:cNvPr id="12" name="流程图: 过程 11"/>
                  <p:cNvSpPr/>
                  <p:nvPr/>
                </p:nvSpPr>
                <p:spPr>
                  <a:xfrm>
                    <a:off x="1589" y="5012"/>
                    <a:ext cx="343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3" name="文本框 12"/>
                  <p:cNvSpPr txBox="1"/>
                  <p:nvPr/>
                </p:nvSpPr>
                <p:spPr>
                  <a:xfrm>
                    <a:off x="1742" y="5012"/>
                    <a:ext cx="4512"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$bash&lt;脚本名</a:t>
                    </a:r>
                  </a:p>
                </p:txBody>
              </p:sp>
            </p:grpSp>
          </p:grpSp>
          <p:grpSp>
            <p:nvGrpSpPr>
              <p:cNvPr id="14" name="组合 13"/>
              <p:cNvGrpSpPr/>
              <p:nvPr/>
            </p:nvGrpSpPr>
            <p:grpSpPr>
              <a:xfrm>
                <a:off x="8506" y="5966"/>
                <a:ext cx="5356" cy="905"/>
                <a:chOff x="1088" y="3572"/>
                <a:chExt cx="8081" cy="1010"/>
              </a:xfrm>
            </p:grpSpPr>
            <p:sp>
              <p:nvSpPr>
                <p:cNvPr id="15" name="Text Box 44"/>
                <p:cNvSpPr txBox="1">
                  <a:spLocks noChangeArrowheads="1"/>
                </p:cNvSpPr>
                <p:nvPr/>
              </p:nvSpPr>
              <p:spPr bwMode="auto">
                <a:xfrm>
                  <a:off x="1088" y="3679"/>
                  <a:ext cx="3378" cy="88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例如：</a:t>
                  </a:r>
                </a:p>
              </p:txBody>
            </p:sp>
            <p:grpSp>
              <p:nvGrpSpPr>
                <p:cNvPr id="16" name="组合 15"/>
                <p:cNvGrpSpPr/>
                <p:nvPr/>
              </p:nvGrpSpPr>
              <p:grpSpPr>
                <a:xfrm>
                  <a:off x="3099" y="3572"/>
                  <a:ext cx="6070" cy="1010"/>
                  <a:chOff x="222" y="4877"/>
                  <a:chExt cx="6070" cy="1010"/>
                </a:xfrm>
              </p:grpSpPr>
              <p:sp>
                <p:nvSpPr>
                  <p:cNvPr id="17" name="流程图: 过程 16"/>
                  <p:cNvSpPr/>
                  <p:nvPr/>
                </p:nvSpPr>
                <p:spPr>
                  <a:xfrm>
                    <a:off x="222" y="5012"/>
                    <a:ext cx="5662"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8" name="文本框 17"/>
                  <p:cNvSpPr txBox="1"/>
                  <p:nvPr/>
                </p:nvSpPr>
                <p:spPr>
                  <a:xfrm>
                    <a:off x="222" y="4877"/>
                    <a:ext cx="6070" cy="965"/>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$bash &lt;example1</a:t>
                    </a:r>
                  </a:p>
                </p:txBody>
              </p:sp>
            </p:grpSp>
          </p:grpSp>
        </p:grpSp>
      </p:grpSp>
      <p:sp>
        <p:nvSpPr>
          <p:cNvPr id="5" name="圆角矩形 4"/>
          <p:cNvSpPr/>
          <p:nvPr/>
        </p:nvSpPr>
        <p:spPr>
          <a:xfrm>
            <a:off x="690245" y="4597400"/>
            <a:ext cx="10593070" cy="132588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shell从文件example1中读取</a:t>
            </a:r>
            <a:r>
              <a:rPr lang="zh-CN" altLang="en-US" sz="2000" b="1" dirty="0">
                <a:solidFill>
                  <a:srgbClr val="0070C0"/>
                </a:solidFill>
                <a:latin typeface="微软雅黑" panose="020B0503020204020204" pitchFamily="34" charset="-122"/>
                <a:ea typeface="微软雅黑" panose="020B0503020204020204" pitchFamily="34" charset="-122"/>
                <a:sym typeface="+mn-ea"/>
              </a:rPr>
              <a:t>命令符</a:t>
            </a:r>
            <a:r>
              <a:rPr lang="zh-CN" altLang="en-US" sz="2000" dirty="0">
                <a:solidFill>
                  <a:schemeClr val="tx1"/>
                </a:solidFill>
                <a:latin typeface="微软雅黑" panose="020B0503020204020204" pitchFamily="34" charset="-122"/>
                <a:ea typeface="微软雅黑" panose="020B0503020204020204" pitchFamily="34" charset="-122"/>
                <a:sym typeface="+mn-ea"/>
              </a:rPr>
              <a:t>，并执行它们。当shell到达文件末尾，就终止执行并将控制返回到</a:t>
            </a:r>
            <a:r>
              <a:rPr lang="zh-CN" altLang="en-US" sz="2000" b="1" dirty="0">
                <a:solidFill>
                  <a:srgbClr val="0070C0"/>
                </a:solidFill>
                <a:latin typeface="微软雅黑" panose="020B0503020204020204" pitchFamily="34" charset="-122"/>
                <a:ea typeface="微软雅黑" panose="020B0503020204020204" pitchFamily="34" charset="-122"/>
                <a:sym typeface="+mn-ea"/>
              </a:rPr>
              <a:t>shell命令状态</a:t>
            </a:r>
            <a:r>
              <a:rPr lang="zh-CN" altLang="en-US" sz="2000" dirty="0">
                <a:solidFill>
                  <a:schemeClr val="tx1"/>
                </a:solidFill>
                <a:latin typeface="微软雅黑" panose="020B0503020204020204" pitchFamily="34" charset="-122"/>
                <a:ea typeface="微软雅黑" panose="020B0503020204020204" pitchFamily="34" charset="-122"/>
                <a:sym typeface="+mn-ea"/>
              </a:rPr>
              <a:t>。此时，脚本名后面不能带参数。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15925" y="1194435"/>
            <a:ext cx="11360150" cy="5370195"/>
            <a:chOff x="655" y="1881"/>
            <a:chExt cx="17890" cy="8457"/>
          </a:xfrm>
        </p:grpSpPr>
        <p:grpSp>
          <p:nvGrpSpPr>
            <p:cNvPr id="6" name="组合 5"/>
            <p:cNvGrpSpPr/>
            <p:nvPr/>
          </p:nvGrpSpPr>
          <p:grpSpPr>
            <a:xfrm>
              <a:off x="655" y="1898"/>
              <a:ext cx="17890" cy="8440"/>
              <a:chOff x="655" y="1898"/>
              <a:chExt cx="17890" cy="8440"/>
            </a:xfrm>
          </p:grpSpPr>
          <p:sp>
            <p:nvSpPr>
              <p:cNvPr id="2" name="AutoShape 13"/>
              <p:cNvSpPr>
                <a:spLocks noChangeArrowheads="1"/>
              </p:cNvSpPr>
              <p:nvPr/>
            </p:nvSpPr>
            <p:spPr bwMode="gray">
              <a:xfrm>
                <a:off x="655" y="1898"/>
                <a:ext cx="17890" cy="844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8" name="TextBox 6"/>
              <p:cNvSpPr txBox="1"/>
              <p:nvPr/>
            </p:nvSpPr>
            <p:spPr>
              <a:xfrm>
                <a:off x="1309" y="9227"/>
                <a:ext cx="15516" cy="768"/>
              </a:xfrm>
              <a:prstGeom prst="rect">
                <a:avLst/>
              </a:prstGeom>
              <a:noFill/>
            </p:spPr>
            <p:txBody>
              <a:bodyPr wrap="square" rtlCol="0">
                <a:spAutoFit/>
              </a:bodyPr>
              <a:lstStyle/>
              <a:p>
                <a:pPr indent="457200" eaLnBrk="1" latinLnBrk="0" hangingPunct="1">
                  <a:lnSpc>
                    <a:spcPct val="130000"/>
                  </a:lnSpc>
                </a:pPr>
                <a:r>
                  <a:rPr lang="zh-CN" altLang="en-US" sz="2000" dirty="0">
                    <a:latin typeface="微软雅黑" panose="020B0503020204020204" pitchFamily="34" charset="-122"/>
                    <a:ea typeface="微软雅黑" panose="020B0503020204020204" pitchFamily="34" charset="-122"/>
                  </a:rPr>
                  <a:t>以shell脚本作为shell的命令行参数，这种方式可用来进行</a:t>
                </a:r>
                <a:r>
                  <a:rPr lang="zh-CN" altLang="en-US" sz="2000" b="1" dirty="0">
                    <a:solidFill>
                      <a:srgbClr val="0070C0"/>
                    </a:solidFill>
                    <a:latin typeface="微软雅黑" panose="020B0503020204020204" pitchFamily="34" charset="-122"/>
                    <a:ea typeface="微软雅黑" panose="020B0503020204020204" pitchFamily="34" charset="-122"/>
                  </a:rPr>
                  <a:t>脚本调试</a:t>
                </a:r>
                <a:r>
                  <a:rPr lang="zh-CN" altLang="en-US" sz="2000" dirty="0">
                    <a:latin typeface="微软雅黑" panose="020B0503020204020204" pitchFamily="34" charset="-122"/>
                    <a:ea typeface="微软雅黑" panose="020B0503020204020204" pitchFamily="34" charset="-122"/>
                  </a:rPr>
                  <a:t>。</a:t>
                </a:r>
              </a:p>
            </p:txBody>
          </p:sp>
          <p:sp>
            <p:nvSpPr>
              <p:cNvPr id="9" name="对角圆角矩形 8"/>
              <p:cNvSpPr/>
              <p:nvPr/>
            </p:nvSpPr>
            <p:spPr>
              <a:xfrm>
                <a:off x="655" y="2990"/>
                <a:ext cx="6272" cy="878"/>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（2）以脚本名作为参数</a:t>
                </a:r>
              </a:p>
            </p:txBody>
          </p:sp>
          <p:grpSp>
            <p:nvGrpSpPr>
              <p:cNvPr id="10" name="组合 9"/>
              <p:cNvGrpSpPr/>
              <p:nvPr/>
            </p:nvGrpSpPr>
            <p:grpSpPr>
              <a:xfrm>
                <a:off x="1039" y="4142"/>
                <a:ext cx="7125" cy="927"/>
                <a:chOff x="1496" y="3515"/>
                <a:chExt cx="6401" cy="927"/>
              </a:xfrm>
            </p:grpSpPr>
            <p:sp>
              <p:nvSpPr>
                <p:cNvPr id="45" name="Text Box 44"/>
                <p:cNvSpPr txBox="1">
                  <a:spLocks noChangeArrowheads="1"/>
                </p:cNvSpPr>
                <p:nvPr/>
              </p:nvSpPr>
              <p:spPr bwMode="auto">
                <a:xfrm>
                  <a:off x="1496" y="3627"/>
                  <a:ext cx="4353"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其一般形式是：</a:t>
                  </a:r>
                </a:p>
              </p:txBody>
            </p:sp>
            <p:grpSp>
              <p:nvGrpSpPr>
                <p:cNvPr id="11" name="组合 10"/>
                <p:cNvGrpSpPr/>
                <p:nvPr/>
              </p:nvGrpSpPr>
              <p:grpSpPr>
                <a:xfrm>
                  <a:off x="4143" y="3515"/>
                  <a:ext cx="3754" cy="927"/>
                  <a:chOff x="1266" y="4820"/>
                  <a:chExt cx="3754" cy="927"/>
                </a:xfrm>
              </p:grpSpPr>
              <p:sp>
                <p:nvSpPr>
                  <p:cNvPr id="12" name="流程图: 过程 11"/>
                  <p:cNvSpPr/>
                  <p:nvPr/>
                </p:nvSpPr>
                <p:spPr>
                  <a:xfrm>
                    <a:off x="1266" y="4872"/>
                    <a:ext cx="3754"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3" name="文本框 12"/>
                  <p:cNvSpPr txBox="1"/>
                  <p:nvPr/>
                </p:nvSpPr>
                <p:spPr>
                  <a:xfrm>
                    <a:off x="1349" y="4820"/>
                    <a:ext cx="3586"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$bash脚本名  [参数]</a:t>
                    </a:r>
                  </a:p>
                </p:txBody>
              </p:sp>
            </p:grpSp>
          </p:grpSp>
          <p:grpSp>
            <p:nvGrpSpPr>
              <p:cNvPr id="14" name="组合 13"/>
              <p:cNvGrpSpPr/>
              <p:nvPr/>
            </p:nvGrpSpPr>
            <p:grpSpPr>
              <a:xfrm>
                <a:off x="8818" y="4057"/>
                <a:ext cx="5356" cy="972"/>
                <a:chOff x="1088" y="3325"/>
                <a:chExt cx="8081" cy="1084"/>
              </a:xfrm>
            </p:grpSpPr>
            <p:sp>
              <p:nvSpPr>
                <p:cNvPr id="15" name="Text Box 44"/>
                <p:cNvSpPr txBox="1">
                  <a:spLocks noChangeArrowheads="1"/>
                </p:cNvSpPr>
                <p:nvPr/>
              </p:nvSpPr>
              <p:spPr bwMode="auto">
                <a:xfrm>
                  <a:off x="1088" y="3525"/>
                  <a:ext cx="3378" cy="88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例如：</a:t>
                  </a:r>
                </a:p>
              </p:txBody>
            </p:sp>
            <p:grpSp>
              <p:nvGrpSpPr>
                <p:cNvPr id="16" name="组合 15"/>
                <p:cNvGrpSpPr/>
                <p:nvPr/>
              </p:nvGrpSpPr>
              <p:grpSpPr>
                <a:xfrm>
                  <a:off x="3099" y="3325"/>
                  <a:ext cx="6070" cy="1032"/>
                  <a:chOff x="222" y="4630"/>
                  <a:chExt cx="6070" cy="1032"/>
                </a:xfrm>
              </p:grpSpPr>
              <p:sp>
                <p:nvSpPr>
                  <p:cNvPr id="17" name="流程图: 过程 16"/>
                  <p:cNvSpPr/>
                  <p:nvPr/>
                </p:nvSpPr>
                <p:spPr>
                  <a:xfrm>
                    <a:off x="222" y="4788"/>
                    <a:ext cx="5662" cy="874"/>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8" name="文本框 17"/>
                  <p:cNvSpPr txBox="1"/>
                  <p:nvPr/>
                </p:nvSpPr>
                <p:spPr>
                  <a:xfrm>
                    <a:off x="222" y="4630"/>
                    <a:ext cx="6070" cy="9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$bash  example1</a:t>
                    </a:r>
                  </a:p>
                </p:txBody>
              </p:sp>
            </p:grpSp>
          </p:grpSp>
          <p:grpSp>
            <p:nvGrpSpPr>
              <p:cNvPr id="3" name="组合 14"/>
              <p:cNvGrpSpPr/>
              <p:nvPr/>
            </p:nvGrpSpPr>
            <p:grpSpPr bwMode="auto">
              <a:xfrm>
                <a:off x="1220" y="7521"/>
                <a:ext cx="16540" cy="1650"/>
                <a:chOff x="720878" y="1993840"/>
                <a:chExt cx="11329026" cy="1714236"/>
              </a:xfrm>
            </p:grpSpPr>
            <p:grpSp>
              <p:nvGrpSpPr>
                <p:cNvPr id="4" name="组合 12"/>
                <p:cNvGrpSpPr/>
                <p:nvPr/>
              </p:nvGrpSpPr>
              <p:grpSpPr bwMode="auto">
                <a:xfrm>
                  <a:off x="720878" y="1993840"/>
                  <a:ext cx="11329026" cy="1714236"/>
                  <a:chOff x="720878" y="1993840"/>
                  <a:chExt cx="11329026" cy="1714236"/>
                </a:xfrm>
              </p:grpSpPr>
              <p:sp>
                <p:nvSpPr>
                  <p:cNvPr id="20" name="矩形 19"/>
                  <p:cNvSpPr/>
                  <p:nvPr/>
                </p:nvSpPr>
                <p:spPr>
                  <a:xfrm>
                    <a:off x="720878" y="1993840"/>
                    <a:ext cx="11329026" cy="1714236"/>
                  </a:xfrm>
                  <a:prstGeom prst="rect">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 name="矩形 6"/>
                  <p:cNvSpPr>
                    <a:spLocks noChangeArrowheads="1"/>
                  </p:cNvSpPr>
                  <p:nvPr/>
                </p:nvSpPr>
                <p:spPr bwMode="auto">
                  <a:xfrm>
                    <a:off x="1166778" y="2003660"/>
                    <a:ext cx="8783438" cy="74782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如果以当前shell执行一个shell脚本时，则可以使用如下简便形式：</a:t>
                    </a:r>
                  </a:p>
                </p:txBody>
              </p:sp>
            </p:grpSp>
            <p:sp>
              <p:nvSpPr>
                <p:cNvPr id="24" name="MH_Text_1"/>
                <p:cNvSpPr txBox="1">
                  <a:spLocks noChangeArrowheads="1"/>
                </p:cNvSpPr>
                <p:nvPr>
                  <p:custDataLst>
                    <p:tags r:id="rId1"/>
                  </p:custDataLst>
                </p:nvPr>
              </p:nvSpPr>
              <p:spPr bwMode="auto">
                <a:xfrm>
                  <a:off x="1210741" y="2712967"/>
                  <a:ext cx="9566530" cy="867321"/>
                </a:xfrm>
                <a:prstGeom prst="rect">
                  <a:avLst/>
                </a:prstGeom>
                <a:solidFill>
                  <a:srgbClr val="F2F2F2"/>
                </a:solidFill>
                <a:ln w="9525">
                  <a:noFill/>
                  <a:miter lim="800000"/>
                </a:ln>
              </p:spPr>
              <p:txBody>
                <a:bodyPr/>
                <a:lstStyle/>
                <a:p>
                  <a:pPr indent="0" algn="ctr"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$．脚本名  [参数] </a:t>
                  </a:r>
                </a:p>
              </p:txBody>
            </p:sp>
          </p:grpSp>
        </p:grpSp>
        <p:grpSp>
          <p:nvGrpSpPr>
            <p:cNvPr id="21" name="组合 1"/>
            <p:cNvGrpSpPr/>
            <p:nvPr/>
          </p:nvGrpSpPr>
          <p:grpSpPr bwMode="auto">
            <a:xfrm>
              <a:off x="949" y="1881"/>
              <a:ext cx="8145" cy="83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2．执行shell脚本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grpSp>
      <p:sp>
        <p:nvSpPr>
          <p:cNvPr id="26" name="圆角矩形 25"/>
          <p:cNvSpPr/>
          <p:nvPr/>
        </p:nvSpPr>
        <p:spPr>
          <a:xfrm>
            <a:off x="741045" y="3365500"/>
            <a:ext cx="10593070" cy="132588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30000"/>
              </a:lnSpc>
            </a:pPr>
            <a:r>
              <a:rPr lang="zh-CN" altLang="en-US" sz="2000" dirty="0">
                <a:solidFill>
                  <a:schemeClr val="tx1"/>
                </a:solidFill>
                <a:latin typeface="微软雅黑" panose="020B0503020204020204" pitchFamily="34" charset="-122"/>
                <a:ea typeface="微软雅黑" panose="020B0503020204020204" pitchFamily="34" charset="-122"/>
              </a:rPr>
              <a:t>其执行过程与上一种方式一样。这种方式的好处是，能在脚本名后面</a:t>
            </a:r>
            <a:r>
              <a:rPr lang="zh-CN" altLang="en-US" sz="2000" b="1" dirty="0">
                <a:solidFill>
                  <a:srgbClr val="0070C0"/>
                </a:solidFill>
                <a:latin typeface="微软雅黑" panose="020B0503020204020204" pitchFamily="34" charset="-122"/>
                <a:ea typeface="微软雅黑" panose="020B0503020204020204" pitchFamily="34" charset="-122"/>
              </a:rPr>
              <a:t>带有参数</a:t>
            </a:r>
            <a:r>
              <a:rPr lang="zh-CN" altLang="en-US" sz="2000" dirty="0">
                <a:solidFill>
                  <a:schemeClr val="tx1"/>
                </a:solidFill>
                <a:latin typeface="微软雅黑" panose="020B0503020204020204" pitchFamily="34" charset="-122"/>
                <a:ea typeface="微软雅黑" panose="020B0503020204020204" pitchFamily="34" charset="-122"/>
              </a:rPr>
              <a:t>，从而将参数值传递给程序中的命令，使一个shell脚本可以处理多种情况，就如同函数调用时可根据具体问题给定相应的实参。</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3" presetClass="entr" presetSubtype="16" fill="hold" grpId="2" nodeType="withEffect">
                                  <p:stCondLst>
                                    <p:cond delay="0"/>
                                  </p:stCondLst>
                                  <p:childTnLst>
                                    <p:set>
                                      <p:cBhvr>
                                        <p:cTn id="9" dur="1" fill="hold">
                                          <p:stCondLst>
                                            <p:cond delay="0"/>
                                          </p:stCondLst>
                                        </p:cTn>
                                        <p:tgtEl>
                                          <p:spTgt spid="26"/>
                                        </p:tgtEl>
                                        <p:attrNameLst>
                                          <p:attrName>style.visibility</p:attrName>
                                        </p:attrNameLst>
                                      </p:cBhvr>
                                      <p:to>
                                        <p:strVal val="visible"/>
                                      </p:to>
                                    </p:set>
                                    <p:anim calcmode="lin" valueType="num">
                                      <p:cBhvr>
                                        <p:cTn id="10" dur="500" fill="hold"/>
                                        <p:tgtEl>
                                          <p:spTgt spid="26"/>
                                        </p:tgtEl>
                                        <p:attrNameLst>
                                          <p:attrName>ppt_w</p:attrName>
                                        </p:attrNameLst>
                                      </p:cBhvr>
                                      <p:tavLst>
                                        <p:tav tm="0">
                                          <p:val>
                                            <p:fltVal val="0"/>
                                          </p:val>
                                        </p:tav>
                                        <p:tav tm="100000">
                                          <p:val>
                                            <p:strVal val="#ppt_w"/>
                                          </p:val>
                                        </p:tav>
                                      </p:tavLst>
                                    </p:anim>
                                    <p:anim calcmode="lin" valueType="num">
                                      <p:cBhvr>
                                        <p:cTn id="11" dur="500" fill="hold"/>
                                        <p:tgtEl>
                                          <p:spTgt spid="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6" grpId="1" animBg="1"/>
      <p:bldP spid="26" grpId="2"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415925" y="1205230"/>
            <a:ext cx="11360150" cy="53594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21" name="组合 1"/>
          <p:cNvGrpSpPr/>
          <p:nvPr/>
        </p:nvGrpSpPr>
        <p:grpSpPr bwMode="auto">
          <a:xfrm>
            <a:off x="602615" y="1194118"/>
            <a:ext cx="517207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2．执行shell脚本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grpSp>
        <p:nvGrpSpPr>
          <p:cNvPr id="6" name="组合 5"/>
          <p:cNvGrpSpPr/>
          <p:nvPr/>
        </p:nvGrpSpPr>
        <p:grpSpPr>
          <a:xfrm>
            <a:off x="415925" y="1898650"/>
            <a:ext cx="10949305" cy="4331970"/>
            <a:chOff x="655" y="2990"/>
            <a:chExt cx="17243" cy="6822"/>
          </a:xfrm>
        </p:grpSpPr>
        <p:sp>
          <p:nvSpPr>
            <p:cNvPr id="9" name="对角圆角矩形 8"/>
            <p:cNvSpPr/>
            <p:nvPr/>
          </p:nvSpPr>
          <p:spPr>
            <a:xfrm>
              <a:off x="655" y="2990"/>
              <a:ext cx="16170" cy="890"/>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（3）将shell脚本的权限设置为可执行，然后在提示符下直接执行它</a:t>
              </a:r>
            </a:p>
          </p:txBody>
        </p:sp>
        <p:grpSp>
          <p:nvGrpSpPr>
            <p:cNvPr id="14" name="组合 13"/>
            <p:cNvGrpSpPr/>
            <p:nvPr/>
          </p:nvGrpSpPr>
          <p:grpSpPr>
            <a:xfrm>
              <a:off x="1272" y="8844"/>
              <a:ext cx="15553" cy="968"/>
              <a:chOff x="1088" y="3483"/>
              <a:chExt cx="28426" cy="1080"/>
            </a:xfrm>
          </p:grpSpPr>
          <p:sp>
            <p:nvSpPr>
              <p:cNvPr id="15" name="Text Box 44"/>
              <p:cNvSpPr txBox="1">
                <a:spLocks noChangeArrowheads="1"/>
              </p:cNvSpPr>
              <p:nvPr/>
            </p:nvSpPr>
            <p:spPr bwMode="auto">
              <a:xfrm>
                <a:off x="1088" y="3679"/>
                <a:ext cx="3378" cy="88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例如：</a:t>
                </a:r>
              </a:p>
            </p:txBody>
          </p:sp>
          <p:grpSp>
            <p:nvGrpSpPr>
              <p:cNvPr id="16" name="组合 15"/>
              <p:cNvGrpSpPr/>
              <p:nvPr/>
            </p:nvGrpSpPr>
            <p:grpSpPr>
              <a:xfrm>
                <a:off x="13730" y="3483"/>
                <a:ext cx="15784" cy="1009"/>
                <a:chOff x="10853" y="4788"/>
                <a:chExt cx="15784" cy="1009"/>
              </a:xfrm>
            </p:grpSpPr>
            <p:sp>
              <p:nvSpPr>
                <p:cNvPr id="17" name="流程图: 过程 16"/>
                <p:cNvSpPr/>
                <p:nvPr/>
              </p:nvSpPr>
              <p:spPr>
                <a:xfrm>
                  <a:off x="10853" y="4922"/>
                  <a:ext cx="5662"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8" name="文本框 17"/>
                <p:cNvSpPr txBox="1"/>
                <p:nvPr/>
              </p:nvSpPr>
              <p:spPr>
                <a:xfrm>
                  <a:off x="10985" y="4788"/>
                  <a:ext cx="15652" cy="878"/>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$example1</a:t>
                  </a:r>
                  <a:r>
                    <a:rPr lang="en-US" altLang="zh-CN" sz="2000" b="1" dirty="0">
                      <a:solidFill>
                        <a:srgbClr val="0070C0"/>
                      </a:solidFill>
                      <a:latin typeface="微软雅黑" panose="020B0503020204020204" pitchFamily="34" charset="-122"/>
                      <a:ea typeface="微软雅黑" panose="020B0503020204020204" pitchFamily="34" charset="-122"/>
                      <a:cs typeface="+mn-cs"/>
                      <a:sym typeface="+mn-ea"/>
                    </a:rPr>
                    <a:t>  </a:t>
                  </a:r>
                  <a:r>
                    <a:rPr lang="en-US" altLang="zh-CN" sz="2000" b="1" dirty="0">
                      <a:solidFill>
                        <a:srgbClr val="C00000"/>
                      </a:solidFill>
                      <a:latin typeface="微软雅黑" panose="020B0503020204020204" pitchFamily="34" charset="-122"/>
                      <a:ea typeface="微软雅黑" panose="020B0503020204020204" pitchFamily="34" charset="-122"/>
                      <a:cs typeface="+mn-cs"/>
                      <a:sym typeface="+mn-ea"/>
                    </a:rPr>
                    <a:t>// </a:t>
                  </a:r>
                  <a:r>
                    <a:rPr lang="zh-CN" altLang="en-US" sz="2000" b="1" dirty="0">
                      <a:solidFill>
                        <a:srgbClr val="C00000"/>
                      </a:solidFill>
                      <a:latin typeface="微软雅黑" panose="020B0503020204020204" pitchFamily="34" charset="-122"/>
                      <a:ea typeface="微软雅黑" panose="020B0503020204020204" pitchFamily="34" charset="-122"/>
                      <a:cs typeface="+mn-cs"/>
                      <a:sym typeface="+mn-ea"/>
                    </a:rPr>
                    <a:t>实际应该是 ：</a:t>
                  </a:r>
                  <a:r>
                    <a:rPr lang="en-US" altLang="zh-CN" sz="2000" b="1" dirty="0">
                      <a:solidFill>
                        <a:srgbClr val="C00000"/>
                      </a:solidFill>
                      <a:latin typeface="微软雅黑" panose="020B0503020204020204" pitchFamily="34" charset="-122"/>
                      <a:ea typeface="微软雅黑" panose="020B0503020204020204" pitchFamily="34" charset="-122"/>
                      <a:cs typeface="+mn-cs"/>
                      <a:sym typeface="+mn-ea"/>
                    </a:rPr>
                    <a:t>./example1</a:t>
                  </a:r>
                  <a:endParaRPr lang="zh-CN" altLang="en-US" sz="2000" b="1" dirty="0">
                    <a:solidFill>
                      <a:srgbClr val="C00000"/>
                    </a:solidFill>
                    <a:latin typeface="微软雅黑" panose="020B0503020204020204" pitchFamily="34" charset="-122"/>
                    <a:ea typeface="微软雅黑" panose="020B0503020204020204" pitchFamily="34" charset="-122"/>
                    <a:cs typeface="+mn-cs"/>
                    <a:sym typeface="+mn-ea"/>
                  </a:endParaRPr>
                </a:p>
              </p:txBody>
            </p:sp>
          </p:grpSp>
        </p:grpSp>
        <p:sp>
          <p:nvSpPr>
            <p:cNvPr id="19" name="TextBox 6"/>
            <p:cNvSpPr txBox="1"/>
            <p:nvPr/>
          </p:nvSpPr>
          <p:spPr>
            <a:xfrm>
              <a:off x="655" y="3880"/>
              <a:ext cx="17243" cy="2016"/>
            </a:xfrm>
            <a:prstGeom prst="rect">
              <a:avLst/>
            </a:prstGeom>
            <a:noFill/>
          </p:spPr>
          <p:txBody>
            <a:bodyPr wrap="square" rtlCol="0">
              <a:spAutoFit/>
            </a:bodyPr>
            <a:lstStyle/>
            <a:p>
              <a:pPr indent="457200" eaLnBrk="1" latinLnBrk="0" hangingPunct="1">
                <a:lnSpc>
                  <a:spcPct val="130000"/>
                </a:lnSpc>
              </a:pPr>
              <a:r>
                <a:rPr lang="zh-CN" altLang="en-US" sz="2000" dirty="0">
                  <a:latin typeface="微软雅黑" panose="020B0503020204020204" pitchFamily="34" charset="-122"/>
                  <a:ea typeface="微软雅黑" panose="020B0503020204020204" pitchFamily="34" charset="-122"/>
                </a:rPr>
                <a:t>通常，用户是不能直接执行由</a:t>
              </a:r>
              <a:r>
                <a:rPr lang="zh-CN" altLang="en-US" sz="2000" b="1" dirty="0">
                  <a:solidFill>
                    <a:srgbClr val="0070C0"/>
                  </a:solidFill>
                  <a:latin typeface="微软雅黑" panose="020B0503020204020204" pitchFamily="34" charset="-122"/>
                  <a:ea typeface="微软雅黑" panose="020B0503020204020204" pitchFamily="34" charset="-122"/>
                </a:rPr>
                <a:t>文本编辑器</a:t>
              </a:r>
              <a:r>
                <a:rPr lang="zh-CN" altLang="en-US" sz="2000" dirty="0">
                  <a:latin typeface="微软雅黑" panose="020B0503020204020204" pitchFamily="34" charset="-122"/>
                  <a:ea typeface="微软雅黑" panose="020B0503020204020204" pitchFamily="34" charset="-122"/>
                </a:rPr>
                <a:t>（如vi）建立的shell脚本的，因为直接编辑生成的脚本文件没有“执行”权限。如果要将shell脚本直接当作命令执行，就需要利用</a:t>
              </a:r>
              <a:r>
                <a:rPr lang="zh-CN" altLang="en-US" sz="2000" b="1" dirty="0">
                  <a:solidFill>
                    <a:srgbClr val="0070C0"/>
                  </a:solidFill>
                  <a:latin typeface="微软雅黑" panose="020B0503020204020204" pitchFamily="34" charset="-122"/>
                  <a:ea typeface="微软雅黑" panose="020B0503020204020204" pitchFamily="34" charset="-122"/>
                </a:rPr>
                <a:t>命令chmod</a:t>
              </a:r>
              <a:r>
                <a:rPr lang="zh-CN" altLang="en-US" sz="2000" dirty="0">
                  <a:latin typeface="微软雅黑" panose="020B0503020204020204" pitchFamily="34" charset="-122"/>
                  <a:ea typeface="微软雅黑" panose="020B0503020204020204" pitchFamily="34" charset="-122"/>
                </a:rPr>
                <a:t>将它置为有“执行”权限。</a:t>
              </a:r>
            </a:p>
          </p:txBody>
        </p:sp>
        <p:grpSp>
          <p:nvGrpSpPr>
            <p:cNvPr id="3" name="组合 14"/>
            <p:cNvGrpSpPr/>
            <p:nvPr/>
          </p:nvGrpSpPr>
          <p:grpSpPr bwMode="auto">
            <a:xfrm>
              <a:off x="1127" y="6092"/>
              <a:ext cx="16771" cy="2467"/>
              <a:chOff x="1166778" y="1786456"/>
              <a:chExt cx="9858444" cy="1713982"/>
            </a:xfrm>
          </p:grpSpPr>
          <p:grpSp>
            <p:nvGrpSpPr>
              <p:cNvPr id="4" name="组合 12"/>
              <p:cNvGrpSpPr/>
              <p:nvPr/>
            </p:nvGrpSpPr>
            <p:grpSpPr bwMode="auto">
              <a:xfrm>
                <a:off x="1166778" y="1786456"/>
                <a:ext cx="9858444" cy="1713982"/>
                <a:chOff x="1166778" y="1786456"/>
                <a:chExt cx="9858444" cy="1713982"/>
              </a:xfrm>
            </p:grpSpPr>
            <p:sp>
              <p:nvSpPr>
                <p:cNvPr id="20" name="矩形 19"/>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 name="矩形 6"/>
                <p:cNvSpPr>
                  <a:spLocks noChangeArrowheads="1"/>
                </p:cNvSpPr>
                <p:nvPr/>
              </p:nvSpPr>
              <p:spPr bwMode="auto">
                <a:xfrm>
                  <a:off x="1166778" y="1817563"/>
                  <a:ext cx="8784092" cy="96989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例如</a:t>
                  </a:r>
                  <a:r>
                    <a:rPr lang="en-US" altLang="zh-CN" sz="2000" b="1" dirty="0">
                      <a:solidFill>
                        <a:srgbClr val="009900"/>
                      </a:solidFill>
                      <a:latin typeface="微软雅黑" panose="020B0503020204020204" pitchFamily="34" charset="-122"/>
                      <a:ea typeface="微软雅黑" panose="020B0503020204020204" pitchFamily="34" charset="-122"/>
                      <a:cs typeface="华康俪金黑W8(P)"/>
                    </a:rPr>
                    <a:t>,</a:t>
                  </a:r>
                  <a:endParaRPr lang="zh-CN" altLang="en-US" sz="2000" b="1" dirty="0">
                    <a:solidFill>
                      <a:srgbClr val="009900"/>
                    </a:solidFill>
                    <a:latin typeface="微软雅黑" panose="020B0503020204020204" pitchFamily="34" charset="-122"/>
                    <a:ea typeface="微软雅黑" panose="020B0503020204020204" pitchFamily="34" charset="-122"/>
                    <a:cs typeface="华康俪金黑W8(P)"/>
                  </a:endParaRPr>
                </a:p>
                <a:p>
                  <a:pPr>
                    <a:lnSpc>
                      <a:spcPct val="120000"/>
                    </a:lnSpc>
                    <a:spcAft>
                      <a:spcPts val="500"/>
                    </a:spcAft>
                    <a:buFont typeface="Arial" panose="020B0604020202020204" pitchFamily="34" charset="0"/>
                    <a:buNone/>
                  </a:pPr>
                  <a:endParaRPr lang="zh-CN" altLang="en-US" sz="2000" b="1" dirty="0">
                    <a:solidFill>
                      <a:srgbClr val="009900"/>
                    </a:solidFill>
                    <a:latin typeface="微软雅黑" panose="020B0503020204020204" pitchFamily="34" charset="-122"/>
                    <a:ea typeface="微软雅黑" panose="020B0503020204020204" pitchFamily="34" charset="-122"/>
                    <a:cs typeface="华康俪金黑W8(P)"/>
                  </a:endParaRPr>
                </a:p>
              </p:txBody>
            </p:sp>
          </p:grpSp>
          <p:sp>
            <p:nvSpPr>
              <p:cNvPr id="24" name="MH_Text_1"/>
              <p:cNvSpPr txBox="1">
                <a:spLocks noChangeArrowheads="1"/>
              </p:cNvSpPr>
              <p:nvPr>
                <p:custDataLst>
                  <p:tags r:id="rId1"/>
                </p:custDataLst>
              </p:nvPr>
            </p:nvSpPr>
            <p:spPr bwMode="auto">
              <a:xfrm>
                <a:off x="1252013" y="2421471"/>
                <a:ext cx="9566294" cy="983785"/>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2000" b="1" dirty="0">
                    <a:latin typeface="微软雅黑" panose="020B0503020204020204" pitchFamily="34" charset="-122"/>
                    <a:ea typeface="微软雅黑" panose="020B0503020204020204" pitchFamily="34" charset="-122"/>
                    <a:cs typeface="+mn-cs"/>
                    <a:sym typeface="+mn-ea"/>
                  </a:rPr>
                  <a:t>“$chmod a+x example1”就把shell脚本example1设置为对所有用户都有“执行”权限。然后，在提示符后输入脚本名example1就可直接执行该文件了。</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1"/>
          <p:cNvGrpSpPr/>
          <p:nvPr/>
        </p:nvGrpSpPr>
        <p:grpSpPr bwMode="auto">
          <a:xfrm>
            <a:off x="602615" y="1194118"/>
            <a:ext cx="5172075" cy="530225"/>
            <a:chOff x="1131471" y="1692739"/>
            <a:chExt cx="5170817" cy="530225"/>
          </a:xfrm>
        </p:grpSpPr>
        <p:sp>
          <p:nvSpPr>
            <p:cNvPr id="22" name="矩形 6"/>
            <p:cNvSpPr>
              <a:spLocks noChangeArrowheads="1"/>
            </p:cNvSpPr>
            <p:nvPr/>
          </p:nvSpPr>
          <p:spPr bwMode="auto">
            <a:xfrm>
              <a:off x="1455648" y="1692739"/>
              <a:ext cx="4846640" cy="530225"/>
            </a:xfrm>
            <a:prstGeom prst="rect">
              <a:avLst/>
            </a:prstGeom>
            <a:noFill/>
            <a:ln w="9525">
              <a:noFill/>
              <a:miter lim="800000"/>
            </a:ln>
          </p:spPr>
          <p:txBody>
            <a:bodyPr>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2．执行shell脚本</a:t>
              </a:r>
            </a:p>
          </p:txBody>
        </p:sp>
        <p:sp>
          <p:nvSpPr>
            <p:cNvPr id="23" name="椭圆 22"/>
            <p:cNvSpPr/>
            <p:nvPr/>
          </p:nvSpPr>
          <p:spPr bwMode="auto">
            <a:xfrm>
              <a:off x="1131471" y="1795926"/>
              <a:ext cx="323771" cy="3238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600" noProof="1">
                <a:solidFill>
                  <a:srgbClr val="0066FF"/>
                </a:solidFill>
                <a:latin typeface="Arial Unicode MS" panose="020B0604020202020204" pitchFamily="34" charset="-122"/>
              </a:endParaRPr>
            </a:p>
          </p:txBody>
        </p:sp>
      </p:grpSp>
      <p:sp>
        <p:nvSpPr>
          <p:cNvPr id="9" name="对角圆角矩形 8"/>
          <p:cNvSpPr/>
          <p:nvPr/>
        </p:nvSpPr>
        <p:spPr>
          <a:xfrm>
            <a:off x="616585" y="2049780"/>
            <a:ext cx="10114280" cy="569864"/>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（3）将shell脚本的权限设置为可执行，然后在提示符下直接执行它</a:t>
            </a:r>
          </a:p>
        </p:txBody>
      </p:sp>
      <p:sp>
        <p:nvSpPr>
          <p:cNvPr id="4" name="竖卷形 3"/>
          <p:cNvSpPr/>
          <p:nvPr/>
        </p:nvSpPr>
        <p:spPr>
          <a:xfrm>
            <a:off x="368300" y="3100070"/>
            <a:ext cx="11033760" cy="3005887"/>
          </a:xfrm>
          <a:prstGeom prst="verticalScroll">
            <a:avLst/>
          </a:prstGeom>
          <a:solidFill>
            <a:schemeClr val="accent1">
              <a:lumMod val="20000"/>
              <a:lumOff val="80000"/>
            </a:schemeClr>
          </a:solidFill>
          <a:ln>
            <a:solidFill>
              <a:schemeClr val="bg2">
                <a:lumMod val="25000"/>
              </a:schemeClr>
            </a:solidFill>
          </a:ln>
        </p:spPr>
        <p:txBody>
          <a:bodyPr wrap="square">
            <a:spAutoFit/>
          </a:bodyPr>
          <a:lstStyle/>
          <a:p>
            <a:pPr indent="457200" eaLnBrk="1" latinLnBrk="0" hangingPunct="1">
              <a:lnSpc>
                <a:spcPct val="150000"/>
              </a:lnSpc>
            </a:pPr>
            <a:r>
              <a:rPr lang="zh-CN" altLang="en-US" sz="2000" dirty="0">
                <a:latin typeface="微软雅黑" panose="020B0503020204020204" pitchFamily="34" charset="-122"/>
                <a:ea typeface="微软雅黑" panose="020B0503020204020204" pitchFamily="34" charset="-122"/>
                <a:sym typeface="+mn-ea"/>
              </a:rPr>
              <a:t>shell</a:t>
            </a:r>
            <a:r>
              <a:rPr lang="zh-CN" altLang="en-US" sz="2000" b="1" dirty="0">
                <a:solidFill>
                  <a:srgbClr val="0070C0"/>
                </a:solidFill>
                <a:latin typeface="微软雅黑" panose="020B0503020204020204" pitchFamily="34" charset="-122"/>
                <a:ea typeface="微软雅黑" panose="020B0503020204020204" pitchFamily="34" charset="-122"/>
                <a:sym typeface="+mn-ea"/>
              </a:rPr>
              <a:t>接收用户</a:t>
            </a:r>
            <a:r>
              <a:rPr lang="zh-CN" altLang="en-US" sz="2000" dirty="0">
                <a:latin typeface="微软雅黑" panose="020B0503020204020204" pitchFamily="34" charset="-122"/>
                <a:ea typeface="微软雅黑" panose="020B0503020204020204" pitchFamily="34" charset="-122"/>
                <a:sym typeface="+mn-ea"/>
              </a:rPr>
              <a:t>输入的命令（脚本名），并进行</a:t>
            </a:r>
            <a:r>
              <a:rPr lang="zh-CN" altLang="en-US" sz="2000" b="1" dirty="0">
                <a:solidFill>
                  <a:srgbClr val="0070C0"/>
                </a:solidFill>
                <a:latin typeface="微软雅黑" panose="020B0503020204020204" pitchFamily="34" charset="-122"/>
                <a:ea typeface="微软雅黑" panose="020B0503020204020204" pitchFamily="34" charset="-122"/>
                <a:sym typeface="+mn-ea"/>
              </a:rPr>
              <a:t>分析</a:t>
            </a:r>
            <a:r>
              <a:rPr lang="zh-CN" altLang="en-US" sz="2000" dirty="0">
                <a:latin typeface="微软雅黑" panose="020B0503020204020204" pitchFamily="34" charset="-122"/>
                <a:ea typeface="微软雅黑" panose="020B0503020204020204" pitchFamily="34" charset="-122"/>
                <a:sym typeface="+mn-ea"/>
              </a:rPr>
              <a:t>。如果文件被标记为可执行的，但不是被编译过的程序，shell就认为它是一个shell脚本。shell将读取其中的内容，并加以解释执行。所以，从用户的观点来看，执行shell脚本的方式与执行一般的</a:t>
            </a:r>
            <a:r>
              <a:rPr lang="zh-CN" altLang="en-US" sz="2000" b="1" dirty="0">
                <a:solidFill>
                  <a:srgbClr val="0070C0"/>
                </a:solidFill>
                <a:latin typeface="微软雅黑" panose="020B0503020204020204" pitchFamily="34" charset="-122"/>
                <a:ea typeface="微软雅黑" panose="020B0503020204020204" pitchFamily="34" charset="-122"/>
                <a:sym typeface="+mn-ea"/>
              </a:rPr>
              <a:t>可执行文件的方式相似</a:t>
            </a:r>
            <a:r>
              <a:rPr lang="zh-CN" altLang="en-US" sz="2000" dirty="0">
                <a:latin typeface="微软雅黑" panose="020B0503020204020204" pitchFamily="34" charset="-122"/>
                <a:ea typeface="微软雅黑" panose="020B0503020204020204" pitchFamily="34" charset="-122"/>
                <a:sym typeface="+mn-ea"/>
              </a:rPr>
              <a:t>。因此，用户开发的shell脚本可以驻留在命令搜索路径的目录下（通常是“/bin”，“/usr/bin”等），像普通命令一样使用。</a:t>
            </a:r>
            <a:endParaRPr lang="zh-CN" altLang="en-US" sz="2000" kern="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heckerboard(across)">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2031365" y="3965575"/>
            <a:ext cx="4074160" cy="481330"/>
            <a:chOff x="3" y="0"/>
            <a:chExt cx="4243" cy="333"/>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cstate="screen"/>
          <a:stretch>
            <a:fillRect/>
          </a:stretch>
        </p:blipFill>
        <p:spPr>
          <a:xfrm>
            <a:off x="7743787" y="2996952"/>
            <a:ext cx="4448213" cy="3861048"/>
          </a:xfrm>
          <a:prstGeom prst="rect">
            <a:avLst/>
          </a:prstGeom>
        </p:spPr>
      </p:pic>
      <p:sp>
        <p:nvSpPr>
          <p:cNvPr id="16" name="对角圆角矩形 15"/>
          <p:cNvSpPr/>
          <p:nvPr/>
        </p:nvSpPr>
        <p:spPr>
          <a:xfrm rot="21346829">
            <a:off x="1130976" y="1716789"/>
            <a:ext cx="7247686" cy="4403872"/>
          </a:xfrm>
          <a:prstGeom prst="round2DiagRect">
            <a:avLst>
              <a:gd name="adj1" fmla="val 12682"/>
              <a:gd name="adj2" fmla="val 0"/>
            </a:avLst>
          </a:prstGeom>
          <a:gradFill flip="none" rotWithShape="1">
            <a:gsLst>
              <a:gs pos="0">
                <a:srgbClr val="00B0F0"/>
              </a:gs>
              <a:gs pos="100000">
                <a:srgbClr val="0070C0"/>
              </a:gs>
            </a:gsLst>
            <a:lin ang="2700000" scaled="1"/>
            <a:tileRect/>
          </a:gradFill>
          <a:ln w="19050">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zh-CN" altLang="en-US">
              <a:solidFill>
                <a:prstClr val="white"/>
              </a:solidFill>
            </a:endParaRPr>
          </a:p>
        </p:txBody>
      </p:sp>
      <p:pic>
        <p:nvPicPr>
          <p:cNvPr id="19" name="Picture 3" descr="C:\TDDOWNLOAD\pencil.png"/>
          <p:cNvPicPr>
            <a:picLocks noChangeAspect="1" noChangeArrowheads="1"/>
          </p:cNvPicPr>
          <p:nvPr/>
        </p:nvPicPr>
        <p:blipFill>
          <a:blip r:embed="rId3" cstate="screen"/>
          <a:srcRect/>
          <a:stretch>
            <a:fillRect/>
          </a:stretch>
        </p:blipFill>
        <p:spPr bwMode="auto">
          <a:xfrm>
            <a:off x="623504" y="1484896"/>
            <a:ext cx="1008000" cy="1008000"/>
          </a:xfrm>
          <a:prstGeom prst="rect">
            <a:avLst/>
          </a:prstGeom>
          <a:noFill/>
          <a:ln w="9525">
            <a:noFill/>
            <a:miter lim="800000"/>
            <a:headEnd/>
            <a:tailEnd/>
          </a:ln>
        </p:spPr>
      </p:pic>
      <p:sp>
        <p:nvSpPr>
          <p:cNvPr id="20" name="内容占位符 2"/>
          <p:cNvSpPr txBox="1"/>
          <p:nvPr/>
        </p:nvSpPr>
        <p:spPr>
          <a:xfrm rot="21302421">
            <a:off x="1376680" y="1666240"/>
            <a:ext cx="6827520" cy="412559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40000"/>
              </a:lnSpc>
              <a:buNone/>
            </a:pPr>
            <a:endParaRPr lang="en-US" altLang="zh-CN" sz="2400" dirty="0">
              <a:solidFill>
                <a:schemeClr val="bg1"/>
              </a:solidFill>
              <a:latin typeface="微软雅黑" panose="020B0503020204020204" pitchFamily="34" charset="-122"/>
              <a:ea typeface="微软雅黑" panose="020B0503020204020204" pitchFamily="34" charset="-122"/>
            </a:endParaRPr>
          </a:p>
          <a:p>
            <a:pPr lvl="0" indent="457200" eaLnBrk="1" latinLnBrk="0" hangingPunct="1">
              <a:lnSpc>
                <a:spcPct val="150000"/>
              </a:lnSpc>
              <a:buClr>
                <a:schemeClr val="accent2"/>
              </a:buClr>
              <a:buFont typeface="Wingdings" panose="05000000000000000000" pitchFamily="2" charset="2"/>
              <a:buNone/>
            </a:pPr>
            <a:r>
              <a:rPr lang="en-US" altLang="zh-CN" sz="2400" dirty="0">
                <a:solidFill>
                  <a:schemeClr val="bg1"/>
                </a:solidFill>
                <a:latin typeface="微软雅黑" panose="020B0503020204020204" pitchFamily="34" charset="-122"/>
                <a:ea typeface="微软雅黑" panose="020B0503020204020204" pitchFamily="34" charset="-122"/>
                <a:sym typeface="+mn-ea"/>
              </a:rPr>
              <a:t>在Linux shell中，某些字符具有特殊的含义，所以利用它们作为变量名或者字符串的一部分时，会导致程序出现错误。当字符串含有这类特殊字符时，必须使用</a:t>
            </a:r>
            <a:r>
              <a:rPr lang="en-US" altLang="zh-CN" sz="2400" b="1" dirty="0">
                <a:solidFill>
                  <a:schemeClr val="bg1"/>
                </a:solidFill>
                <a:latin typeface="微软雅黑" panose="020B0503020204020204" pitchFamily="34" charset="-122"/>
                <a:ea typeface="微软雅黑" panose="020B0503020204020204" pitchFamily="34" charset="-122"/>
                <a:sym typeface="+mn-ea"/>
              </a:rPr>
              <a:t>转义字符（反</a:t>
            </a:r>
            <a:r>
              <a:rPr lang="zh-CN" altLang="en-US" sz="2400" b="1" dirty="0">
                <a:solidFill>
                  <a:schemeClr val="bg1"/>
                </a:solidFill>
                <a:latin typeface="微软雅黑" panose="020B0503020204020204" pitchFamily="34" charset="-122"/>
                <a:ea typeface="微软雅黑" panose="020B0503020204020204" pitchFamily="34" charset="-122"/>
                <a:sym typeface="+mn-ea"/>
              </a:rPr>
              <a:t>斜</a:t>
            </a:r>
            <a:r>
              <a:rPr lang="en-US" altLang="zh-CN" sz="2400" b="1" dirty="0" err="1">
                <a:solidFill>
                  <a:schemeClr val="bg1"/>
                </a:solidFill>
                <a:latin typeface="微软雅黑" panose="020B0503020204020204" pitchFamily="34" charset="-122"/>
                <a:ea typeface="微软雅黑" panose="020B0503020204020204" pitchFamily="34" charset="-122"/>
                <a:sym typeface="+mn-ea"/>
              </a:rPr>
              <a:t>杠）</a:t>
            </a:r>
            <a:r>
              <a:rPr lang="en-US" altLang="zh-CN" sz="2400" dirty="0" err="1">
                <a:solidFill>
                  <a:schemeClr val="bg1"/>
                </a:solidFill>
                <a:latin typeface="微软雅黑" panose="020B0503020204020204" pitchFamily="34" charset="-122"/>
                <a:ea typeface="微软雅黑" panose="020B0503020204020204" pitchFamily="34" charset="-122"/>
                <a:sym typeface="+mn-ea"/>
              </a:rPr>
              <a:t>来指明这些特殊字符不作为特殊字符来处理。在使用时应注意它们表示的意义和作用范围</a:t>
            </a:r>
            <a:r>
              <a:rPr lang="en-US" altLang="zh-CN" sz="2400" dirty="0">
                <a:solidFill>
                  <a:schemeClr val="bg1"/>
                </a:solidFill>
                <a:latin typeface="微软雅黑" panose="020B0503020204020204" pitchFamily="34" charset="-122"/>
                <a:ea typeface="微软雅黑" panose="020B0503020204020204" pitchFamily="34" charset="-122"/>
                <a:sym typeface="+mn-ea"/>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250" fill="hold"/>
                                        <p:tgtEl>
                                          <p:spTgt spid="19"/>
                                        </p:tgtEl>
                                        <p:attrNameLst>
                                          <p:attrName>ppt_x</p:attrName>
                                        </p:attrNameLst>
                                      </p:cBhvr>
                                      <p:tavLst>
                                        <p:tav tm="0">
                                          <p:val>
                                            <p:strVal val="0-#ppt_w/2"/>
                                          </p:val>
                                        </p:tav>
                                        <p:tav tm="100000">
                                          <p:val>
                                            <p:strVal val="#ppt_x"/>
                                          </p:val>
                                        </p:tav>
                                      </p:tavLst>
                                    </p:anim>
                                    <p:anim calcmode="lin" valueType="num">
                                      <p:cBhvr additive="base">
                                        <p:cTn id="8" dur="25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outHorizontal)">
                                      <p:cBhvr>
                                        <p:cTn id="12" dur="500"/>
                                        <p:tgtEl>
                                          <p:spTgt spid="16"/>
                                        </p:tgtEl>
                                      </p:cBhvr>
                                    </p:animEffect>
                                  </p:childTnLst>
                                </p:cTn>
                              </p:par>
                            </p:childTnLst>
                          </p:cTn>
                        </p:par>
                        <p:par>
                          <p:cTn id="13" fill="hold">
                            <p:stCondLst>
                              <p:cond delay="1000"/>
                            </p:stCondLst>
                            <p:childTnLst>
                              <p:par>
                                <p:cTn id="14" presetID="15" presetClass="entr" presetSubtype="0" fill="hold" grpId="0" nodeType="after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p:cTn id="16" dur="1000" fill="hold"/>
                                        <p:tgtEl>
                                          <p:spTgt spid="20"/>
                                        </p:tgtEl>
                                        <p:attrNameLst>
                                          <p:attrName>ppt_w</p:attrName>
                                        </p:attrNameLst>
                                      </p:cBhvr>
                                      <p:tavLst>
                                        <p:tav tm="0">
                                          <p:val>
                                            <p:fltVal val="0"/>
                                          </p:val>
                                        </p:tav>
                                        <p:tav tm="100000">
                                          <p:val>
                                            <p:strVal val="#ppt_w"/>
                                          </p:val>
                                        </p:tav>
                                      </p:tavLst>
                                    </p:anim>
                                    <p:anim calcmode="lin" valueType="num">
                                      <p:cBhvr>
                                        <p:cTn id="17" dur="1000" fill="hold"/>
                                        <p:tgtEl>
                                          <p:spTgt spid="20"/>
                                        </p:tgtEl>
                                        <p:attrNameLst>
                                          <p:attrName>ppt_h</p:attrName>
                                        </p:attrNameLst>
                                      </p:cBhvr>
                                      <p:tavLst>
                                        <p:tav tm="0">
                                          <p:val>
                                            <p:fltVal val="0"/>
                                          </p:val>
                                        </p:tav>
                                        <p:tav tm="100000">
                                          <p:val>
                                            <p:strVal val="#ppt_h"/>
                                          </p:val>
                                        </p:tav>
                                      </p:tavLst>
                                    </p:anim>
                                    <p:anim calcmode="lin" valueType="num">
                                      <p:cBhvr>
                                        <p:cTn id="18" dur="1000" fill="hold"/>
                                        <p:tgtEl>
                                          <p:spTgt spid="20"/>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20"/>
                                        </p:tgtEl>
                                        <p:attrNameLst>
                                          <p:attrName>ppt_y</p:attrName>
                                        </p:attrNameLst>
                                      </p:cBhvr>
                                      <p:tavLst>
                                        <p:tav tm="0" fmla="#ppt_y+(sin(-2*pi*(1-$))*-#ppt_x+cos(-2*pi*(1-$))*(1-#ppt_y))*(1-$)">
                                          <p:val>
                                            <p:fltVal val="0"/>
                                          </p:val>
                                        </p:tav>
                                        <p:tav tm="100000">
                                          <p:val>
                                            <p:fltVal val="1"/>
                                          </p:val>
                                        </p:tav>
                                      </p:tavLst>
                                    </p:anim>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6"/>
          <p:cNvSpPr>
            <a:spLocks noChangeArrowheads="1"/>
          </p:cNvSpPr>
          <p:nvPr/>
        </p:nvSpPr>
        <p:spPr bwMode="auto">
          <a:xfrm>
            <a:off x="1212850" y="1035685"/>
            <a:ext cx="234823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5.3.1  引号</a:t>
            </a:r>
          </a:p>
        </p:txBody>
      </p:sp>
      <p:sp>
        <p:nvSpPr>
          <p:cNvPr id="23" name="椭圆 22"/>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2" name="圆角矩形 1"/>
          <p:cNvSpPr/>
          <p:nvPr/>
        </p:nvSpPr>
        <p:spPr bwMode="auto">
          <a:xfrm>
            <a:off x="967704" y="1804974"/>
            <a:ext cx="4929222" cy="4643470"/>
          </a:xfrm>
          <a:prstGeom prst="roundRect">
            <a:avLst>
              <a:gd name="adj" fmla="val 3473"/>
            </a:avLst>
          </a:prstGeom>
          <a:solidFill>
            <a:schemeClr val="accent6">
              <a:lumMod val="20000"/>
              <a:lumOff val="80000"/>
            </a:schemeClr>
          </a:solidFill>
          <a:ln w="19050" cap="flat" cmpd="sng" algn="ctr">
            <a:noFill/>
            <a:prstDash val="dash"/>
            <a:round/>
            <a:headEnd type="none" w="med" len="med"/>
            <a:tailEnd type="none" w="med" len="med"/>
          </a:ln>
          <a:effectLst/>
        </p:spPr>
        <p:txBody>
          <a:bodyPr/>
          <a:lstStyle/>
          <a:p>
            <a:pPr eaLnBrk="0" hangingPunct="0">
              <a:defRPr/>
            </a:pPr>
            <a:endParaRPr lang="zh-CN" altLang="en-US" kern="0" dirty="0">
              <a:solidFill>
                <a:srgbClr val="000000"/>
              </a:solidFill>
              <a:latin typeface="Mistral" panose="03090702030407020403" pitchFamily="66" charset="0"/>
              <a:cs typeface="Microsoft Sans Serif" panose="020B0604020202020204" pitchFamily="34" charset="0"/>
            </a:endParaRPr>
          </a:p>
        </p:txBody>
      </p:sp>
      <p:sp>
        <p:nvSpPr>
          <p:cNvPr id="3" name="矩形 3"/>
          <p:cNvSpPr>
            <a:spLocks noChangeArrowheads="1"/>
          </p:cNvSpPr>
          <p:nvPr/>
        </p:nvSpPr>
        <p:spPr bwMode="auto">
          <a:xfrm>
            <a:off x="896266" y="1804974"/>
            <a:ext cx="4857784" cy="853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eaLnBrk="0" latinLnBrk="0" hangingPunct="0">
              <a:lnSpc>
                <a:spcPct val="125000"/>
              </a:lnSpc>
              <a:spcAft>
                <a:spcPts val="600"/>
              </a:spcAft>
              <a:buClr>
                <a:srgbClr val="000000"/>
              </a:buClr>
            </a:pPr>
            <a:r>
              <a:rPr lang="zh-CN" altLang="en-US" sz="2000" b="1" dirty="0">
                <a:solidFill>
                  <a:srgbClr val="0070C0"/>
                </a:solidFill>
                <a:latin typeface="微软雅黑" panose="020B0503020204020204" pitchFamily="34" charset="-122"/>
                <a:ea typeface="微软雅黑" panose="020B0503020204020204" pitchFamily="34" charset="-122"/>
                <a:sym typeface="+mn-ea"/>
              </a:rPr>
              <a:t>在shell中的引号分为3种，即双引号、单引号及倒引号。</a:t>
            </a:r>
          </a:p>
        </p:txBody>
      </p:sp>
      <p:sp>
        <p:nvSpPr>
          <p:cNvPr id="4" name="圆角矩形 3"/>
          <p:cNvSpPr/>
          <p:nvPr/>
        </p:nvSpPr>
        <p:spPr bwMode="auto">
          <a:xfrm>
            <a:off x="6468430" y="1804974"/>
            <a:ext cx="4929222" cy="4643470"/>
          </a:xfrm>
          <a:prstGeom prst="roundRect">
            <a:avLst>
              <a:gd name="adj" fmla="val 3473"/>
            </a:avLst>
          </a:prstGeom>
          <a:solidFill>
            <a:schemeClr val="accent6">
              <a:lumMod val="20000"/>
              <a:lumOff val="80000"/>
            </a:schemeClr>
          </a:solidFill>
          <a:ln w="19050" cap="flat" cmpd="sng" algn="ctr">
            <a:noFill/>
            <a:prstDash val="dash"/>
            <a:round/>
            <a:headEnd type="none" w="med" len="med"/>
            <a:tailEnd type="none" w="med" len="med"/>
          </a:ln>
          <a:effectLst/>
        </p:spPr>
        <p:txBody>
          <a:bodyPr/>
          <a:lstStyle/>
          <a:p>
            <a:pPr eaLnBrk="0" hangingPunct="0">
              <a:defRPr/>
            </a:pPr>
            <a:endParaRPr lang="zh-CN" altLang="en-US" kern="0" dirty="0">
              <a:solidFill>
                <a:srgbClr val="000000"/>
              </a:solidFill>
              <a:latin typeface="Mistral" panose="03090702030407020403" pitchFamily="66" charset="0"/>
              <a:cs typeface="Microsoft Sans Serif" panose="020B0604020202020204" pitchFamily="34" charset="0"/>
            </a:endParaRPr>
          </a:p>
        </p:txBody>
      </p:sp>
      <p:sp>
        <p:nvSpPr>
          <p:cNvPr id="14" name="矩形 13"/>
          <p:cNvSpPr/>
          <p:nvPr/>
        </p:nvSpPr>
        <p:spPr>
          <a:xfrm>
            <a:off x="6111240" y="2090726"/>
            <a:ext cx="146266" cy="4286280"/>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3"/>
          <p:cNvSpPr>
            <a:spLocks noChangeArrowheads="1"/>
          </p:cNvSpPr>
          <p:nvPr/>
        </p:nvSpPr>
        <p:spPr bwMode="auto">
          <a:xfrm>
            <a:off x="6325554" y="1804974"/>
            <a:ext cx="5072098" cy="4192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eaLnBrk="1" latinLnBrk="0"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sym typeface="+mn-ea"/>
              </a:rPr>
              <a:t>由双引号括起来的字符，除</a:t>
            </a:r>
            <a:r>
              <a:rPr lang="zh-CN" altLang="en-US" sz="2000" b="1" dirty="0">
                <a:solidFill>
                  <a:srgbClr val="C00000"/>
                </a:solidFill>
                <a:latin typeface="微软雅黑" panose="020B0503020204020204" pitchFamily="34" charset="-122"/>
                <a:ea typeface="微软雅黑" panose="020B0503020204020204" pitchFamily="34" charset="-122"/>
                <a:sym typeface="+mn-ea"/>
              </a:rPr>
              <a:t>$、倒引号（`）及反斜杠（\）</a:t>
            </a:r>
            <a:r>
              <a:rPr lang="zh-CN" altLang="en-US" sz="2000" dirty="0">
                <a:solidFill>
                  <a:srgbClr val="C00000"/>
                </a:solidFill>
                <a:latin typeface="微软雅黑" panose="020B0503020204020204" pitchFamily="34" charset="-122"/>
                <a:ea typeface="微软雅黑" panose="020B0503020204020204" pitchFamily="34" charset="-122"/>
                <a:sym typeface="+mn-ea"/>
              </a:rPr>
              <a:t>仍保留其特殊功能外，其余字符均作为</a:t>
            </a:r>
            <a:r>
              <a:rPr lang="zh-CN" altLang="en-US" sz="2000" b="1" dirty="0">
                <a:solidFill>
                  <a:srgbClr val="C00000"/>
                </a:solidFill>
                <a:latin typeface="微软雅黑" panose="020B0503020204020204" pitchFamily="34" charset="-122"/>
                <a:ea typeface="微软雅黑" panose="020B0503020204020204" pitchFamily="34" charset="-122"/>
                <a:sym typeface="+mn-ea"/>
              </a:rPr>
              <a:t>普通字符</a:t>
            </a:r>
            <a:r>
              <a:rPr lang="zh-CN" altLang="en-US" sz="2000" dirty="0">
                <a:solidFill>
                  <a:srgbClr val="C00000"/>
                </a:solidFill>
                <a:latin typeface="微软雅黑" panose="020B0503020204020204" pitchFamily="34" charset="-122"/>
                <a:ea typeface="微软雅黑" panose="020B0503020204020204" pitchFamily="34" charset="-122"/>
                <a:sym typeface="+mn-ea"/>
              </a:rPr>
              <a:t>对待。</a:t>
            </a:r>
            <a:endParaRPr lang="zh-CN" altLang="en-US" sz="2000" dirty="0">
              <a:solidFill>
                <a:srgbClr val="C00000"/>
              </a:solidFill>
              <a:latin typeface="微软雅黑" panose="020B0503020204020204" pitchFamily="34" charset="-122"/>
              <a:ea typeface="微软雅黑" panose="020B0503020204020204" pitchFamily="34" charset="-122"/>
            </a:endParaRPr>
          </a:p>
          <a:p>
            <a:pPr marL="457200" indent="-457200" eaLnBrk="1" latinLnBrk="0" hangingPunct="1">
              <a:lnSpc>
                <a:spcPct val="150000"/>
              </a:lnSpc>
              <a:buFont typeface="Wingdings"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表示变量</a:t>
            </a:r>
            <a:r>
              <a:rPr lang="zh-CN" altLang="en-US" sz="2000" b="1" dirty="0">
                <a:solidFill>
                  <a:srgbClr val="0070C0"/>
                </a:solidFill>
                <a:latin typeface="微软雅黑" panose="020B0503020204020204" pitchFamily="34" charset="-122"/>
                <a:ea typeface="微软雅黑" panose="020B0503020204020204" pitchFamily="34" charset="-122"/>
                <a:sym typeface="+mn-ea"/>
              </a:rPr>
              <a:t>替换</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，即用其后指定的变量的值来代替$和变量；</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marL="457200" indent="-457200" eaLnBrk="1" latinLnBrk="0" hangingPunct="1">
              <a:lnSpc>
                <a:spcPct val="150000"/>
              </a:lnSpc>
              <a:buFont typeface="Wingdings"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倒引号</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表示</a:t>
            </a:r>
            <a:r>
              <a:rPr lang="zh-CN" altLang="en-US" sz="2000" b="1" dirty="0">
                <a:solidFill>
                  <a:srgbClr val="0070C0"/>
                </a:solidFill>
                <a:latin typeface="微软雅黑" panose="020B0503020204020204" pitchFamily="34" charset="-122"/>
                <a:ea typeface="微软雅黑" panose="020B0503020204020204" pitchFamily="34" charset="-122"/>
                <a:sym typeface="+mn-ea"/>
              </a:rPr>
              <a:t>命令替换</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marL="457200" indent="-457200" eaLnBrk="1" latinLnBrk="0" hangingPunct="1">
              <a:lnSpc>
                <a:spcPct val="150000"/>
              </a:lnSpc>
              <a:buFont typeface="Wingdings" pitchFamily="2" charset="2"/>
              <a:buChar char="l"/>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仅当“\”后面的字符是下述字符之一时，“\”才是转义字符。这些字符是$、倒引号（`）、”、反斜杠（\）或换行符。</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a:blip r:embed="rId4" cstate="print"/>
          <a:stretch>
            <a:fillRect/>
          </a:stretch>
        </p:blipFill>
        <p:spPr>
          <a:xfrm>
            <a:off x="10363200" y="5532343"/>
            <a:ext cx="1605956" cy="1605956"/>
          </a:xfrm>
          <a:prstGeom prst="rect">
            <a:avLst/>
          </a:prstGeom>
        </p:spPr>
      </p:pic>
      <p:grpSp>
        <p:nvGrpSpPr>
          <p:cNvPr id="6" name="组合 5"/>
          <p:cNvGrpSpPr/>
          <p:nvPr/>
        </p:nvGrpSpPr>
        <p:grpSpPr>
          <a:xfrm>
            <a:off x="985520" y="2809875"/>
            <a:ext cx="2401570" cy="553085"/>
            <a:chOff x="6668135" y="2035810"/>
            <a:chExt cx="2401570" cy="553085"/>
          </a:xfrm>
        </p:grpSpPr>
        <p:sp>
          <p:nvSpPr>
            <p:cNvPr id="7" name="圆角矩形 6"/>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8"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1．双引号</a:t>
              </a:r>
            </a:p>
          </p:txBody>
        </p:sp>
        <p:grpSp>
          <p:nvGrpSpPr>
            <p:cNvPr id="19" name="组合 36"/>
            <p:cNvGrpSpPr/>
            <p:nvPr/>
          </p:nvGrpSpPr>
          <p:grpSpPr bwMode="auto">
            <a:xfrm>
              <a:off x="6812280" y="2138680"/>
              <a:ext cx="361950" cy="347663"/>
              <a:chOff x="7070971" y="788848"/>
              <a:chExt cx="1800200" cy="1800200"/>
            </a:xfrm>
          </p:grpSpPr>
          <p:sp>
            <p:nvSpPr>
              <p:cNvPr id="20" name="椭圆 19"/>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1" name="燕尾形 20"/>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25" name="组合 24"/>
          <p:cNvGrpSpPr/>
          <p:nvPr/>
        </p:nvGrpSpPr>
        <p:grpSpPr>
          <a:xfrm>
            <a:off x="1605280" y="3334385"/>
            <a:ext cx="3258820" cy="2538730"/>
            <a:chOff x="13227" y="6981"/>
            <a:chExt cx="5268" cy="2898"/>
          </a:xfrm>
        </p:grpSpPr>
        <p:grpSp>
          <p:nvGrpSpPr>
            <p:cNvPr id="26" name="组合 14"/>
            <p:cNvGrpSpPr/>
            <p:nvPr/>
          </p:nvGrpSpPr>
          <p:grpSpPr bwMode="auto">
            <a:xfrm>
              <a:off x="13357" y="7617"/>
              <a:ext cx="5138" cy="2262"/>
              <a:chOff x="1166778" y="1786456"/>
              <a:chExt cx="9858444" cy="1713982"/>
            </a:xfrm>
          </p:grpSpPr>
          <p:grpSp>
            <p:nvGrpSpPr>
              <p:cNvPr id="27" name="组合 12"/>
              <p:cNvGrpSpPr/>
              <p:nvPr/>
            </p:nvGrpSpPr>
            <p:grpSpPr bwMode="auto">
              <a:xfrm>
                <a:off x="1166778" y="1786456"/>
                <a:ext cx="9858444" cy="1713982"/>
                <a:chOff x="1166778" y="1786456"/>
                <a:chExt cx="9858444" cy="1713982"/>
              </a:xfrm>
            </p:grpSpPr>
            <p:sp>
              <p:nvSpPr>
                <p:cNvPr id="28" name="矩形 27"/>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9" name="矩形 6"/>
                <p:cNvSpPr>
                  <a:spLocks noChangeArrowheads="1"/>
                </p:cNvSpPr>
                <p:nvPr/>
              </p:nvSpPr>
              <p:spPr bwMode="auto">
                <a:xfrm>
                  <a:off x="3166831" y="1786777"/>
                  <a:ext cx="4380122" cy="39545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30" name="MH_Text_1"/>
              <p:cNvSpPr txBox="1">
                <a:spLocks noChangeArrowheads="1"/>
              </p:cNvSpPr>
              <p:nvPr>
                <p:custDataLst>
                  <p:tags r:id="rId1"/>
                </p:custDataLst>
              </p:nvPr>
            </p:nvSpPr>
            <p:spPr bwMode="auto">
              <a:xfrm>
                <a:off x="1245561" y="2119850"/>
                <a:ext cx="9654876" cy="1354448"/>
              </a:xfrm>
              <a:prstGeom prst="rect">
                <a:avLst/>
              </a:prstGeom>
              <a:solidFill>
                <a:srgbClr val="F2F2F2"/>
              </a:solidFill>
              <a:ln w="9525">
                <a:noFill/>
                <a:miter lim="800000"/>
              </a:ln>
            </p:spPr>
            <p:txBody>
              <a:bodyPr/>
              <a:lstStyle/>
              <a:p>
                <a:pPr indent="457200" eaLnBrk="1" latinLnBrk="0" hangingPunct="1">
                  <a:lnSpc>
                    <a:spcPct val="130000"/>
                  </a:lnSpc>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转义字符告诉shell，不要对其后面的那个字符进行特殊处理，只将其当作普通字符。</a:t>
                </a:r>
              </a:p>
            </p:txBody>
          </p:sp>
        </p:grpSp>
        <p:pic>
          <p:nvPicPr>
            <p:cNvPr id="31" name="图片 4" descr="www.tuweimei.comComp_9747389_aloyhm04q205BMmtimdiv2o2HN82PIep.jpg"/>
            <p:cNvPicPr>
              <a:picLocks noGrp="1"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3227" y="6981"/>
              <a:ext cx="1578" cy="1172"/>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4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6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6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par>
                          <p:cTn id="21" fill="hold">
                            <p:stCondLst>
                              <p:cond delay="900"/>
                            </p:stCondLst>
                            <p:childTnLst>
                              <p:par>
                                <p:cTn id="22" presetID="2" presetClass="entr" presetSubtype="8"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0-#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par>
                          <p:cTn id="26" fill="hold">
                            <p:stCondLst>
                              <p:cond delay="1400"/>
                            </p:stCondLst>
                            <p:childTnLst>
                              <p:par>
                                <p:cTn id="27" presetID="18" presetClass="entr" presetSubtype="6"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strips(downRight)">
                                      <p:cBhvr>
                                        <p:cTn id="2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4" grpId="0" bldLvl="0" animBg="1"/>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71475" y="1056640"/>
            <a:ext cx="11358880" cy="5407660"/>
            <a:chOff x="585" y="1664"/>
            <a:chExt cx="17888" cy="8516"/>
          </a:xfrm>
        </p:grpSpPr>
        <p:grpSp>
          <p:nvGrpSpPr>
            <p:cNvPr id="12" name="组合 11"/>
            <p:cNvGrpSpPr/>
            <p:nvPr/>
          </p:nvGrpSpPr>
          <p:grpSpPr>
            <a:xfrm>
              <a:off x="585" y="1664"/>
              <a:ext cx="17888" cy="8516"/>
              <a:chOff x="584" y="1664"/>
              <a:chExt cx="17677" cy="8623"/>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2"/>
                  </p:custDataLst>
                </p:nvPr>
              </p:nvSpPr>
              <p:spPr bwMode="auto">
                <a:xfrm>
                  <a:off x="1298208" y="1698841"/>
                  <a:ext cx="4493105" cy="1955624"/>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endParaRPr lang="en-US" altLang="zh-CN" sz="20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wuxxy]$cat example2</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echo  "current directory is `pwd`"</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echo  "home directory is $HOME"</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echo  "file*.?"</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echo  "directory '$HOME'"</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Stu]$bash example2</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current directory is /home/Stu/pro</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home directory is /home/Stu</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file*.?</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directory '/home/Stu'</a:t>
                  </a:r>
                </a:p>
                <a:p>
                  <a:pPr indent="0" algn="l" eaLnBrk="1" fontAlgn="auto" latinLnBrk="0" hangingPunct="1">
                    <a:lnSpc>
                      <a:spcPct val="10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584" y="1664"/>
                <a:ext cx="17638" cy="84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FF0000"/>
                    </a:solidFill>
                    <a:latin typeface="微软雅黑" panose="020B0503020204020204" pitchFamily="34" charset="-122"/>
                    <a:ea typeface="微软雅黑" panose="020B0503020204020204" pitchFamily="34" charset="-122"/>
                    <a:cs typeface="华康俪金黑W8(P)"/>
                  </a:rPr>
                  <a:t>【例</a:t>
                </a:r>
                <a:r>
                  <a:rPr lang="en-US" altLang="zh-CN" sz="2400" b="1">
                    <a:solidFill>
                      <a:srgbClr val="FF0000"/>
                    </a:solidFill>
                    <a:latin typeface="微软雅黑" panose="020B0503020204020204" pitchFamily="34" charset="-122"/>
                    <a:ea typeface="微软雅黑" panose="020B0503020204020204" pitchFamily="34" charset="-122"/>
                    <a:cs typeface="华康俪金黑W8(P)"/>
                  </a:rPr>
                  <a:t>5</a:t>
                </a:r>
                <a:r>
                  <a:rPr lang="zh-CN" altLang="en-US" sz="2400" b="1">
                    <a:solidFill>
                      <a:srgbClr val="FF0000"/>
                    </a:solidFill>
                    <a:latin typeface="微软雅黑" panose="020B0503020204020204" pitchFamily="34" charset="-122"/>
                    <a:ea typeface="微软雅黑" panose="020B0503020204020204" pitchFamily="34" charset="-122"/>
                    <a:cs typeface="华康俪金黑W8(P)"/>
                  </a:rPr>
                  <a:t>-</a:t>
                </a:r>
                <a:r>
                  <a:rPr lang="en-US" altLang="zh-CN" sz="2400" b="1">
                    <a:solidFill>
                      <a:srgbClr val="FF0000"/>
                    </a:solidFill>
                    <a:latin typeface="微软雅黑" panose="020B0503020204020204" pitchFamily="34" charset="-122"/>
                    <a:ea typeface="微软雅黑" panose="020B0503020204020204" pitchFamily="34" charset="-122"/>
                    <a:cs typeface="华康俪金黑W8(P)"/>
                  </a:rPr>
                  <a:t>2</a:t>
                </a:r>
                <a:r>
                  <a:rPr lang="zh-CN" altLang="en-US" sz="2400" b="1">
                    <a:solidFill>
                      <a:srgbClr val="FF0000"/>
                    </a:solidFill>
                    <a:latin typeface="微软雅黑" panose="020B0503020204020204" pitchFamily="34" charset="-122"/>
                    <a:ea typeface="微软雅黑" panose="020B0503020204020204" pitchFamily="34" charset="-122"/>
                    <a:cs typeface="华康俪金黑W8(P)"/>
                  </a:rPr>
                  <a:t>】</a:t>
                </a:r>
                <a:r>
                  <a:rPr lang="zh-CN" altLang="en-US" sz="2400" b="1">
                    <a:solidFill>
                      <a:srgbClr val="009900"/>
                    </a:solidFill>
                    <a:latin typeface="微软雅黑" panose="020B0503020204020204" pitchFamily="34" charset="-122"/>
                    <a:ea typeface="微软雅黑" panose="020B0503020204020204" pitchFamily="34" charset="-122"/>
                    <a:cs typeface="华康俪金黑W8(P)"/>
                  </a:rPr>
                  <a:t>双引号的作用。</a:t>
                </a:r>
              </a:p>
            </p:txBody>
          </p:sp>
        </p:grpSp>
        <p:sp>
          <p:nvSpPr>
            <p:cNvPr id="2" name="MH_Text_1"/>
            <p:cNvSpPr txBox="1">
              <a:spLocks noChangeArrowheads="1"/>
            </p:cNvSpPr>
            <p:nvPr>
              <p:custDataLst>
                <p:tags r:id="rId1"/>
              </p:custDataLst>
            </p:nvPr>
          </p:nvSpPr>
          <p:spPr bwMode="auto">
            <a:xfrm>
              <a:off x="8960" y="2520"/>
              <a:ext cx="9474" cy="7489"/>
            </a:xfrm>
            <a:prstGeom prst="rect">
              <a:avLst/>
            </a:prstGeom>
            <a:solidFill>
              <a:srgbClr val="F2F2F2"/>
            </a:solidFill>
            <a:ln w="9525">
              <a:noFill/>
              <a:miter lim="800000"/>
            </a:ln>
          </p:spPr>
          <p:txBody>
            <a:bodyPr/>
            <a:lstStyle/>
            <a:p>
              <a:pPr indent="457200" algn="l" eaLnBrk="1" fontAlgn="auto" latinLnBrk="0" hangingPunct="1">
                <a:lnSpc>
                  <a:spcPct val="130000"/>
                </a:lnSpc>
                <a:buFont typeface="Arial" panose="020B0604020202020204" pitchFamily="34" charset="0"/>
                <a:buNone/>
                <a:defRPr/>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由脚本example2看出，在第1个echo语句中，在用双引号括起来的字符串中包含</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`pwd`</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。执行该语句时，先做用倒引号括起来的命令pwd，并将执行结果</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代替</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`pwd`。所以，得到第一行的输出结果。</a:t>
              </a:r>
            </a:p>
            <a:p>
              <a:pPr indent="457200" algn="l" eaLnBrk="1" fontAlgn="auto" latinLnBrk="0" hangingPunct="1">
                <a:lnSpc>
                  <a:spcPct val="130000"/>
                </a:lnSpc>
                <a:buFont typeface="Arial" panose="020B0604020202020204" pitchFamily="34" charset="0"/>
                <a:buNone/>
                <a:defRPr/>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第2个echo语句中，在双引号中有</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$HOME</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，执行时，先以HOME环境变量的值代替$HOME，然后显示整个参数字符串。</a:t>
              </a:r>
            </a:p>
            <a:p>
              <a:pPr indent="457200" algn="l" eaLnBrk="1" fontAlgn="auto" latinLnBrk="0" hangingPunct="1">
                <a:lnSpc>
                  <a:spcPct val="130000"/>
                </a:lnSpc>
                <a:buFont typeface="Arial" panose="020B0604020202020204" pitchFamily="34" charset="0"/>
                <a:buNone/>
                <a:defRPr/>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第3个echo语句中，在双引号中的字符都作为</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普通字符</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出现，所以执行结果出现所示的第3行输出。</a:t>
              </a:r>
            </a:p>
            <a:p>
              <a:pPr indent="457200" algn="l" eaLnBrk="1" fontAlgn="auto" latinLnBrk="0" hangingPunct="1">
                <a:lnSpc>
                  <a:spcPct val="130000"/>
                </a:lnSpc>
                <a:buFont typeface="Arial" panose="020B0604020202020204" pitchFamily="34" charset="0"/>
                <a:buNone/>
                <a:defRPr/>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第4个echo语句中，在双引号中有‘$HOME’，此时，单引号仍作为</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普通字符</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cs"/>
                  <a:sym typeface="+mn-ea"/>
                </a:rPr>
                <a:t>出现，而$HOME表示引用HOME的值。因而有执行结果的第4行输出。</a:t>
              </a:r>
              <a:r>
                <a:rPr lang="zh-CN" altLang="en-US"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13"/>
          <p:cNvSpPr>
            <a:spLocks noChangeArrowheads="1"/>
          </p:cNvSpPr>
          <p:nvPr/>
        </p:nvSpPr>
        <p:spPr bwMode="gray">
          <a:xfrm>
            <a:off x="382270" y="1710690"/>
            <a:ext cx="11411585" cy="4753610"/>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en-US" altLang="zh-CN" sz="2000" kern="0">
              <a:solidFill>
                <a:srgbClr val="4D4D4D"/>
              </a:solidFill>
              <a:latin typeface="微软雅黑" panose="020B0503020204020204" pitchFamily="34" charset="-122"/>
              <a:ea typeface="微软雅黑" panose="020B0503020204020204" pitchFamily="34" charset="-122"/>
            </a:endParaRPr>
          </a:p>
        </p:txBody>
      </p:sp>
      <p:sp>
        <p:nvSpPr>
          <p:cNvPr id="22" name="矩形 6"/>
          <p:cNvSpPr>
            <a:spLocks noChangeArrowheads="1"/>
          </p:cNvSpPr>
          <p:nvPr/>
        </p:nvSpPr>
        <p:spPr bwMode="auto">
          <a:xfrm>
            <a:off x="1212850" y="1035685"/>
            <a:ext cx="234823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5.3.1  引号</a:t>
            </a:r>
          </a:p>
        </p:txBody>
      </p:sp>
      <p:sp>
        <p:nvSpPr>
          <p:cNvPr id="23" name="椭圆 22"/>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3" name="组合 12"/>
          <p:cNvGrpSpPr/>
          <p:nvPr/>
        </p:nvGrpSpPr>
        <p:grpSpPr>
          <a:xfrm>
            <a:off x="452120" y="1602740"/>
            <a:ext cx="2401570" cy="553085"/>
            <a:chOff x="6668135" y="2035810"/>
            <a:chExt cx="2401570" cy="553085"/>
          </a:xfrm>
        </p:grpSpPr>
        <p:sp>
          <p:nvSpPr>
            <p:cNvPr id="5" name="圆角矩形 4"/>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2．单引号</a:t>
              </a:r>
            </a:p>
          </p:txBody>
        </p:sp>
        <p:grpSp>
          <p:nvGrpSpPr>
            <p:cNvPr id="9" name="组合 36"/>
            <p:cNvGrpSpPr/>
            <p:nvPr/>
          </p:nvGrpSpPr>
          <p:grpSpPr bwMode="auto">
            <a:xfrm>
              <a:off x="6812280" y="2138680"/>
              <a:ext cx="361950" cy="347663"/>
              <a:chOff x="7070971" y="788848"/>
              <a:chExt cx="1800200" cy="1800200"/>
            </a:xfrm>
          </p:grpSpPr>
          <p:sp>
            <p:nvSpPr>
              <p:cNvPr id="10" name="椭圆 9"/>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1" name="燕尾形 10"/>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2" name="组合 14"/>
          <p:cNvGrpSpPr/>
          <p:nvPr/>
        </p:nvGrpSpPr>
        <p:grpSpPr bwMode="auto">
          <a:xfrm>
            <a:off x="697864" y="4338955"/>
            <a:ext cx="10909935" cy="1172845"/>
            <a:chOff x="1166778" y="1786456"/>
            <a:chExt cx="9858444" cy="1713982"/>
          </a:xfrm>
        </p:grpSpPr>
        <p:grpSp>
          <p:nvGrpSpPr>
            <p:cNvPr id="3" name="组合 12"/>
            <p:cNvGrpSpPr/>
            <p:nvPr/>
          </p:nvGrpSpPr>
          <p:grpSpPr bwMode="auto">
            <a:xfrm>
              <a:off x="1166778" y="1786456"/>
              <a:ext cx="9858444" cy="1713982"/>
              <a:chOff x="1166778" y="1786456"/>
              <a:chExt cx="9858444" cy="1713982"/>
            </a:xfrm>
          </p:grpSpPr>
          <p:sp>
            <p:nvSpPr>
              <p:cNvPr id="4" name="矩形 3"/>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6" name="矩形 6"/>
              <p:cNvSpPr>
                <a:spLocks noChangeArrowheads="1"/>
              </p:cNvSpPr>
              <p:nvPr/>
            </p:nvSpPr>
            <p:spPr bwMode="auto">
              <a:xfrm>
                <a:off x="1166778" y="1787005"/>
                <a:ext cx="8948434" cy="66814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华康俪金黑W8(P)"/>
                    <a:ea typeface="华康俪金黑W8(P)"/>
                    <a:cs typeface="华康俪金黑W8(P)"/>
                  </a:rPr>
                  <a:t>又如：</a:t>
                </a:r>
              </a:p>
            </p:txBody>
          </p:sp>
        </p:grpSp>
        <p:sp>
          <p:nvSpPr>
            <p:cNvPr id="7" name="MH_Text_1"/>
            <p:cNvSpPr txBox="1">
              <a:spLocks noChangeArrowheads="1"/>
            </p:cNvSpPr>
            <p:nvPr>
              <p:custDataLst>
                <p:tags r:id="rId2"/>
              </p:custDataLst>
            </p:nvPr>
          </p:nvSpPr>
          <p:spPr bwMode="auto">
            <a:xfrm>
              <a:off x="1232914" y="2316333"/>
              <a:ext cx="9654577" cy="1025420"/>
            </a:xfrm>
            <a:prstGeom prst="rect">
              <a:avLst/>
            </a:prstGeom>
            <a:solidFill>
              <a:srgbClr val="F2F2F2"/>
            </a:solidFill>
            <a:ln w="9525">
              <a:noFill/>
              <a:miter lim="800000"/>
            </a:ln>
          </p:spPr>
          <p:txBody>
            <a:bodyPr/>
            <a:lstStyle/>
            <a:p>
              <a:pPr indent="0" eaLnBrk="1" latinLnBrk="0" hangingPunct="1">
                <a:lnSpc>
                  <a:spcPct val="13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Stu]$echo 'The time is 'date', the file is $HOME/abc'</a:t>
              </a:r>
            </a:p>
            <a:p>
              <a:pPr indent="0" eaLnBrk="1" latinLnBrk="0" hangingPunct="1">
                <a:lnSpc>
                  <a:spcPct val="13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The time is 'date', the file is $HOME/abc</a:t>
              </a:r>
            </a:p>
          </p:txBody>
        </p:sp>
      </p:grpSp>
      <p:grpSp>
        <p:nvGrpSpPr>
          <p:cNvPr id="12" name="组合 11"/>
          <p:cNvGrpSpPr/>
          <p:nvPr/>
        </p:nvGrpSpPr>
        <p:grpSpPr>
          <a:xfrm>
            <a:off x="696595" y="2205990"/>
            <a:ext cx="10920730" cy="2021840"/>
            <a:chOff x="1028" y="3442"/>
            <a:chExt cx="17198" cy="3184"/>
          </a:xfrm>
        </p:grpSpPr>
        <p:grpSp>
          <p:nvGrpSpPr>
            <p:cNvPr id="24" name="组合 14"/>
            <p:cNvGrpSpPr/>
            <p:nvPr/>
          </p:nvGrpSpPr>
          <p:grpSpPr bwMode="auto">
            <a:xfrm>
              <a:off x="1028" y="3442"/>
              <a:ext cx="17198" cy="3184"/>
              <a:chOff x="1166778" y="1786456"/>
              <a:chExt cx="9858444" cy="1574529"/>
            </a:xfrm>
          </p:grpSpPr>
          <p:grpSp>
            <p:nvGrpSpPr>
              <p:cNvPr id="50" name="组合 12"/>
              <p:cNvGrpSpPr/>
              <p:nvPr/>
            </p:nvGrpSpPr>
            <p:grpSpPr bwMode="auto">
              <a:xfrm>
                <a:off x="1166778" y="1786456"/>
                <a:ext cx="9858444" cy="1574529"/>
                <a:chOff x="1166778" y="1786456"/>
                <a:chExt cx="9858444" cy="1574529"/>
              </a:xfrm>
            </p:grpSpPr>
            <p:sp>
              <p:nvSpPr>
                <p:cNvPr id="51" name="矩形 50"/>
                <p:cNvSpPr/>
                <p:nvPr/>
              </p:nvSpPr>
              <p:spPr>
                <a:xfrm>
                  <a:off x="1166778" y="1786456"/>
                  <a:ext cx="9858444" cy="157452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1166778" y="1786897"/>
                  <a:ext cx="4876485" cy="63297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华康俪金黑W8(P)"/>
                      <a:ea typeface="华康俪金黑W8(P)"/>
                      <a:cs typeface="华康俪金黑W8(P)"/>
                    </a:rPr>
                    <a:t>用单引号括起来的字符都可作为普通字符出现。</a:t>
                  </a:r>
                </a:p>
                <a:p>
                  <a:pPr>
                    <a:lnSpc>
                      <a:spcPct val="120000"/>
                    </a:lnSpc>
                    <a:spcAft>
                      <a:spcPts val="500"/>
                    </a:spcAft>
                    <a:buFont typeface="Arial" panose="020B0604020202020204" pitchFamily="34" charset="0"/>
                    <a:buNone/>
                  </a:pPr>
                  <a:r>
                    <a:rPr lang="zh-CN" altLang="en-US" sz="1800" b="1" dirty="0">
                      <a:solidFill>
                        <a:srgbClr val="FF0000"/>
                      </a:solidFill>
                      <a:latin typeface="华康俪金黑W8(P)"/>
                      <a:ea typeface="华康俪金黑W8(P)"/>
                      <a:cs typeface="华康俪金黑W8(P)"/>
                    </a:rPr>
                    <a:t>例如：</a:t>
                  </a:r>
                </a:p>
              </p:txBody>
            </p:sp>
          </p:grpSp>
          <p:sp>
            <p:nvSpPr>
              <p:cNvPr id="53" name="MH_Text_1"/>
              <p:cNvSpPr txBox="1">
                <a:spLocks noChangeArrowheads="1"/>
              </p:cNvSpPr>
              <p:nvPr>
                <p:custDataLst>
                  <p:tags r:id="rId1"/>
                </p:custDataLst>
              </p:nvPr>
            </p:nvSpPr>
            <p:spPr bwMode="auto">
              <a:xfrm>
                <a:off x="1205758" y="2362566"/>
                <a:ext cx="4672987" cy="938586"/>
              </a:xfrm>
              <a:prstGeom prst="rect">
                <a:avLst/>
              </a:prstGeom>
              <a:solidFill>
                <a:srgbClr val="F2F2F2"/>
              </a:solidFill>
              <a:ln w="9525">
                <a:noFill/>
                <a:miter lim="800000"/>
              </a:ln>
            </p:spPr>
            <p:txBody>
              <a:bodyPr/>
              <a:lstStyle/>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Stu]$str='echo "directory is $HOME"' </a:t>
                </a:r>
              </a:p>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Stu]$echo  $str</a:t>
                </a:r>
              </a:p>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"directory is $HOME"</a:t>
                </a:r>
              </a:p>
            </p:txBody>
          </p:sp>
        </p:grpSp>
        <p:sp>
          <p:nvSpPr>
            <p:cNvPr id="8" name="Text Box 44"/>
            <p:cNvSpPr txBox="1">
              <a:spLocks noChangeArrowheads="1"/>
            </p:cNvSpPr>
            <p:nvPr/>
          </p:nvSpPr>
          <p:spPr bwMode="auto">
            <a:xfrm>
              <a:off x="9535" y="3633"/>
              <a:ext cx="8516" cy="283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其结果是将字符串“echo "directory is $HOME"”作为整体</a:t>
              </a:r>
              <a:r>
                <a:rPr lang="zh-CN" altLang="en-US" sz="2000" b="1" dirty="0">
                  <a:solidFill>
                    <a:srgbClr val="0070C0"/>
                  </a:solidFill>
                </a:rPr>
                <a:t>赋给变量str</a:t>
              </a:r>
              <a:r>
                <a:rPr lang="zh-CN" altLang="en-US" sz="2000" dirty="0">
                  <a:solidFill>
                    <a:schemeClr val="tx1">
                      <a:lumMod val="85000"/>
                      <a:lumOff val="15000"/>
                    </a:schemeClr>
                  </a:solidFill>
                </a:rPr>
                <a:t>。</a:t>
              </a:r>
              <a:r>
                <a:rPr lang="zh-CN" altLang="en-US" sz="2000" dirty="0">
                  <a:solidFill>
                    <a:srgbClr val="C00000"/>
                  </a:solidFill>
                </a:rPr>
                <a:t>由于使用了单引号，所以命令名echo及$HOME都可作为普通字符，失去了原有的特殊意义。 </a:t>
              </a:r>
            </a:p>
          </p:txBody>
        </p:sp>
      </p:grpSp>
      <p:sp>
        <p:nvSpPr>
          <p:cNvPr id="14" name="Text Box 44"/>
          <p:cNvSpPr txBox="1">
            <a:spLocks noChangeArrowheads="1"/>
          </p:cNvSpPr>
          <p:nvPr/>
        </p:nvSpPr>
        <p:spPr bwMode="auto">
          <a:xfrm>
            <a:off x="504190" y="5450840"/>
            <a:ext cx="11145520" cy="90736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chemeClr val="tx1">
                    <a:lumMod val="85000"/>
                    <a:lumOff val="15000"/>
                  </a:schemeClr>
                </a:solidFill>
              </a:rPr>
              <a:t>可见，echo命令行中</a:t>
            </a:r>
            <a:r>
              <a:rPr lang="zh-CN" altLang="en-US" sz="2000" b="1" dirty="0">
                <a:solidFill>
                  <a:srgbClr val="C00000"/>
                </a:solidFill>
              </a:rPr>
              <a:t>被用单引号括进来的所有字符都照原样显示出来，特殊字符也失去原来的意义。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trips(downRight)">
                                      <p:cBhvr>
                                        <p:cTn id="12" dur="500"/>
                                        <p:tgtEl>
                                          <p:spTgt spid="12"/>
                                        </p:tgtEl>
                                      </p:cBhvr>
                                    </p:animEffect>
                                  </p:childTnLst>
                                </p:cTn>
                              </p:par>
                              <p:par>
                                <p:cTn id="13" presetID="18" presetClass="entr" presetSubtype="6"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trips(downRight)">
                                      <p:cBhvr>
                                        <p:cTn id="15" dur="500"/>
                                        <p:tgtEl>
                                          <p:spTgt spid="2"/>
                                        </p:tgtEl>
                                      </p:cBhvr>
                                    </p:animEffect>
                                  </p:childTnLst>
                                </p:cTn>
                              </p:par>
                            </p:childTnLst>
                          </p:cTn>
                        </p:par>
                        <p:par>
                          <p:cTn id="16" fill="hold">
                            <p:stCondLst>
                              <p:cond delay="1000"/>
                            </p:stCondLst>
                            <p:childTnLst>
                              <p:par>
                                <p:cTn id="17" presetID="22" presetClass="entr" presetSubtype="1"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up)">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13"/>
          <p:cNvSpPr>
            <a:spLocks noChangeArrowheads="1"/>
          </p:cNvSpPr>
          <p:nvPr/>
        </p:nvSpPr>
        <p:spPr bwMode="gray">
          <a:xfrm>
            <a:off x="431800" y="1638300"/>
            <a:ext cx="11274425" cy="4753610"/>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sz="2000" kern="0">
              <a:solidFill>
                <a:srgbClr val="4D4D4D"/>
              </a:solidFill>
              <a:latin typeface="微软雅黑" panose="020B0503020204020204" pitchFamily="34" charset="-122"/>
              <a:ea typeface="微软雅黑" panose="020B0503020204020204" pitchFamily="34" charset="-122"/>
            </a:endParaRPr>
          </a:p>
        </p:txBody>
      </p:sp>
      <p:sp>
        <p:nvSpPr>
          <p:cNvPr id="22" name="矩形 6"/>
          <p:cNvSpPr>
            <a:spLocks noChangeArrowheads="1"/>
          </p:cNvSpPr>
          <p:nvPr/>
        </p:nvSpPr>
        <p:spPr bwMode="auto">
          <a:xfrm>
            <a:off x="1212850" y="1035685"/>
            <a:ext cx="234823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5.3.1  引号</a:t>
            </a:r>
          </a:p>
        </p:txBody>
      </p:sp>
      <p:sp>
        <p:nvSpPr>
          <p:cNvPr id="23" name="椭圆 22"/>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3" name="组合 12"/>
          <p:cNvGrpSpPr/>
          <p:nvPr/>
        </p:nvGrpSpPr>
        <p:grpSpPr>
          <a:xfrm>
            <a:off x="452120" y="1602740"/>
            <a:ext cx="2401570" cy="553085"/>
            <a:chOff x="6668135" y="2035810"/>
            <a:chExt cx="2401570" cy="553085"/>
          </a:xfrm>
        </p:grpSpPr>
        <p:sp>
          <p:nvSpPr>
            <p:cNvPr id="5" name="圆角矩形 4"/>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3．倒引号</a:t>
              </a:r>
            </a:p>
          </p:txBody>
        </p:sp>
        <p:grpSp>
          <p:nvGrpSpPr>
            <p:cNvPr id="9" name="组合 36"/>
            <p:cNvGrpSpPr/>
            <p:nvPr/>
          </p:nvGrpSpPr>
          <p:grpSpPr bwMode="auto">
            <a:xfrm>
              <a:off x="6812280" y="2138680"/>
              <a:ext cx="361950" cy="347663"/>
              <a:chOff x="7070971" y="788848"/>
              <a:chExt cx="1800200" cy="1800200"/>
            </a:xfrm>
          </p:grpSpPr>
          <p:sp>
            <p:nvSpPr>
              <p:cNvPr id="10" name="椭圆 9"/>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1" name="燕尾形 10"/>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24" name="组合 14"/>
          <p:cNvGrpSpPr/>
          <p:nvPr/>
        </p:nvGrpSpPr>
        <p:grpSpPr bwMode="auto">
          <a:xfrm>
            <a:off x="602615" y="2294255"/>
            <a:ext cx="10920730" cy="2068830"/>
            <a:chOff x="1166778" y="1786456"/>
            <a:chExt cx="9858444" cy="1574529"/>
          </a:xfrm>
        </p:grpSpPr>
        <p:grpSp>
          <p:nvGrpSpPr>
            <p:cNvPr id="50" name="组合 12"/>
            <p:cNvGrpSpPr/>
            <p:nvPr/>
          </p:nvGrpSpPr>
          <p:grpSpPr bwMode="auto">
            <a:xfrm>
              <a:off x="1166778" y="1786456"/>
              <a:ext cx="9858444" cy="1574529"/>
              <a:chOff x="1166778" y="1786456"/>
              <a:chExt cx="9858444" cy="1574529"/>
            </a:xfrm>
          </p:grpSpPr>
          <p:sp>
            <p:nvSpPr>
              <p:cNvPr id="51" name="矩形 50"/>
              <p:cNvSpPr/>
              <p:nvPr/>
            </p:nvSpPr>
            <p:spPr>
              <a:xfrm>
                <a:off x="1166778" y="1786456"/>
                <a:ext cx="9858444" cy="157452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1166778" y="1786802"/>
                <a:ext cx="9856724" cy="62633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华康俪金黑W8(P)"/>
                    <a:ea typeface="华康俪金黑W8(P)"/>
                    <a:cs typeface="华康俪金黑W8(P)"/>
                  </a:rPr>
                  <a:t>利用倒引号的这种功能可以</a:t>
                </a:r>
                <a:r>
                  <a:rPr lang="zh-CN" altLang="en-US" sz="2000" b="1" dirty="0">
                    <a:solidFill>
                      <a:srgbClr val="C00000"/>
                    </a:solidFill>
                    <a:latin typeface="华康俪金黑W8(P)"/>
                    <a:ea typeface="华康俪金黑W8(P)"/>
                    <a:cs typeface="华康俪金黑W8(P)"/>
                  </a:rPr>
                  <a:t>进行命令置换</a:t>
                </a:r>
                <a:r>
                  <a:rPr lang="zh-CN" altLang="en-US" sz="2000" b="1" dirty="0">
                    <a:solidFill>
                      <a:srgbClr val="009900"/>
                    </a:solidFill>
                    <a:latin typeface="华康俪金黑W8(P)"/>
                    <a:ea typeface="华康俪金黑W8(P)"/>
                    <a:cs typeface="华康俪金黑W8(P)"/>
                  </a:rPr>
                  <a:t>，即把</a:t>
                </a:r>
                <a:r>
                  <a:rPr lang="zh-CN" altLang="en-US" sz="2000" b="1" dirty="0">
                    <a:solidFill>
                      <a:srgbClr val="C00000"/>
                    </a:solidFill>
                    <a:latin typeface="华康俪金黑W8(P)"/>
                    <a:ea typeface="华康俪金黑W8(P)"/>
                    <a:cs typeface="华康俪金黑W8(P)"/>
                  </a:rPr>
                  <a:t>用倒引号括起来命令的执行结果赋给指定变量</a:t>
                </a:r>
                <a:r>
                  <a:rPr lang="zh-CN" altLang="en-US" sz="2000" b="1" dirty="0">
                    <a:solidFill>
                      <a:srgbClr val="009900"/>
                    </a:solidFill>
                    <a:latin typeface="华康俪金黑W8(P)"/>
                    <a:ea typeface="华康俪金黑W8(P)"/>
                    <a:cs typeface="华康俪金黑W8(P)"/>
                  </a:rPr>
                  <a:t>。</a:t>
                </a:r>
                <a:r>
                  <a:rPr lang="zh-CN" altLang="en-US" sz="2000" b="1" dirty="0">
                    <a:solidFill>
                      <a:srgbClr val="FF0000"/>
                    </a:solidFill>
                    <a:latin typeface="华康俪金黑W8(P)"/>
                    <a:ea typeface="华康俪金黑W8(P)"/>
                    <a:cs typeface="华康俪金黑W8(P)"/>
                  </a:rPr>
                  <a:t>例如：</a:t>
                </a:r>
              </a:p>
            </p:txBody>
          </p:sp>
        </p:grpSp>
        <p:sp>
          <p:nvSpPr>
            <p:cNvPr id="53" name="MH_Text_1"/>
            <p:cNvSpPr txBox="1">
              <a:spLocks noChangeArrowheads="1"/>
            </p:cNvSpPr>
            <p:nvPr>
              <p:custDataLst>
                <p:tags r:id="rId2"/>
              </p:custDataLst>
            </p:nvPr>
          </p:nvSpPr>
          <p:spPr bwMode="auto">
            <a:xfrm>
              <a:off x="1259068" y="2412788"/>
              <a:ext cx="9685328" cy="857340"/>
            </a:xfrm>
            <a:prstGeom prst="rect">
              <a:avLst/>
            </a:prstGeom>
            <a:solidFill>
              <a:srgbClr val="F2F2F2"/>
            </a:solidFill>
            <a:ln w="9525">
              <a:noFill/>
              <a:miter lim="800000"/>
            </a:ln>
          </p:spPr>
          <p:txBody>
            <a:bodyPr/>
            <a:lstStyle/>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pro]$today=`date` </a:t>
              </a:r>
            </a:p>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pro]$echo  Today is $today </a:t>
              </a:r>
            </a:p>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Today  is  一   1月  31   10:20:23  CST  2005</a:t>
              </a:r>
            </a:p>
          </p:txBody>
        </p:sp>
      </p:grpSp>
      <p:grpSp>
        <p:nvGrpSpPr>
          <p:cNvPr id="15" name="组合 14"/>
          <p:cNvGrpSpPr/>
          <p:nvPr/>
        </p:nvGrpSpPr>
        <p:grpSpPr bwMode="auto">
          <a:xfrm>
            <a:off x="575945" y="4606290"/>
            <a:ext cx="10920730" cy="1703070"/>
            <a:chOff x="1166778" y="1786456"/>
            <a:chExt cx="9858444" cy="1574529"/>
          </a:xfrm>
        </p:grpSpPr>
        <p:grpSp>
          <p:nvGrpSpPr>
            <p:cNvPr id="16" name="组合 12"/>
            <p:cNvGrpSpPr/>
            <p:nvPr/>
          </p:nvGrpSpPr>
          <p:grpSpPr bwMode="auto">
            <a:xfrm>
              <a:off x="1166778" y="1786456"/>
              <a:ext cx="9858444" cy="1574529"/>
              <a:chOff x="1166778" y="1786456"/>
              <a:chExt cx="9858444" cy="1574529"/>
            </a:xfrm>
          </p:grpSpPr>
          <p:sp>
            <p:nvSpPr>
              <p:cNvPr id="17" name="矩形 16"/>
              <p:cNvSpPr/>
              <p:nvPr/>
            </p:nvSpPr>
            <p:spPr>
              <a:xfrm>
                <a:off x="1166778" y="1786456"/>
                <a:ext cx="9858444" cy="157452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8" name="矩形 6"/>
              <p:cNvSpPr>
                <a:spLocks noChangeArrowheads="1"/>
              </p:cNvSpPr>
              <p:nvPr/>
            </p:nvSpPr>
            <p:spPr bwMode="auto">
              <a:xfrm>
                <a:off x="1166778" y="1786802"/>
                <a:ext cx="9856724" cy="42269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华康俪金黑W8(P)"/>
                    <a:ea typeface="华康俪金黑W8(P)"/>
                    <a:cs typeface="华康俪金黑W8(P)"/>
                  </a:rPr>
                  <a:t>又如：</a:t>
                </a:r>
              </a:p>
            </p:txBody>
          </p:sp>
        </p:grpSp>
        <p:sp>
          <p:nvSpPr>
            <p:cNvPr id="19" name="MH_Text_1"/>
            <p:cNvSpPr txBox="1">
              <a:spLocks noChangeArrowheads="1"/>
            </p:cNvSpPr>
            <p:nvPr>
              <p:custDataLst>
                <p:tags r:id="rId1"/>
              </p:custDataLst>
            </p:nvPr>
          </p:nvSpPr>
          <p:spPr bwMode="auto">
            <a:xfrm>
              <a:off x="1259068" y="2247308"/>
              <a:ext cx="9685328" cy="1023268"/>
            </a:xfrm>
            <a:prstGeom prst="rect">
              <a:avLst/>
            </a:prstGeom>
            <a:solidFill>
              <a:srgbClr val="F2F2F2"/>
            </a:solidFill>
            <a:ln w="9525">
              <a:noFill/>
              <a:miter lim="800000"/>
            </a:ln>
          </p:spPr>
          <p:txBody>
            <a:bodyPr/>
            <a:lstStyle/>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pro]$user=`who|wc –l`</a:t>
              </a:r>
            </a:p>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pro]$echo  The number of users is $suers</a:t>
              </a:r>
            </a:p>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The number of users is 3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strips(downRight)">
                                      <p:cBhvr>
                                        <p:cTn id="12" dur="500"/>
                                        <p:tgtEl>
                                          <p:spTgt spid="24"/>
                                        </p:tgtEl>
                                      </p:cBhvr>
                                    </p:animEffect>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strips(downRight)">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13"/>
          <p:cNvSpPr>
            <a:spLocks noChangeArrowheads="1"/>
          </p:cNvSpPr>
          <p:nvPr/>
        </p:nvSpPr>
        <p:spPr bwMode="gray">
          <a:xfrm>
            <a:off x="336550" y="1725930"/>
            <a:ext cx="11411585" cy="4753610"/>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sz="2000" kern="0">
              <a:solidFill>
                <a:srgbClr val="4D4D4D"/>
              </a:solidFill>
              <a:latin typeface="微软雅黑" panose="020B0503020204020204" pitchFamily="34" charset="-122"/>
              <a:ea typeface="微软雅黑" panose="020B0503020204020204" pitchFamily="34" charset="-122"/>
            </a:endParaRPr>
          </a:p>
        </p:txBody>
      </p:sp>
      <p:sp>
        <p:nvSpPr>
          <p:cNvPr id="22" name="矩形 6"/>
          <p:cNvSpPr>
            <a:spLocks noChangeArrowheads="1"/>
          </p:cNvSpPr>
          <p:nvPr/>
        </p:nvSpPr>
        <p:spPr bwMode="auto">
          <a:xfrm>
            <a:off x="1212850" y="1035685"/>
            <a:ext cx="234823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5.3.1  引号</a:t>
            </a:r>
          </a:p>
        </p:txBody>
      </p:sp>
      <p:sp>
        <p:nvSpPr>
          <p:cNvPr id="23" name="椭圆 22"/>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3" name="组合 12"/>
          <p:cNvGrpSpPr/>
          <p:nvPr/>
        </p:nvGrpSpPr>
        <p:grpSpPr>
          <a:xfrm>
            <a:off x="452120" y="1602740"/>
            <a:ext cx="2401570" cy="553085"/>
            <a:chOff x="6668135" y="2035810"/>
            <a:chExt cx="2401570" cy="553085"/>
          </a:xfrm>
        </p:grpSpPr>
        <p:sp>
          <p:nvSpPr>
            <p:cNvPr id="5" name="圆角矩形 4"/>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sym typeface="+mn-ea"/>
                </a:rPr>
                <a:t>3．倒引号</a:t>
              </a:r>
              <a:endParaRPr lang="zh-CN" altLang="en-US" sz="2400" dirty="0">
                <a:latin typeface="微软雅黑" panose="020B0503020204020204" pitchFamily="34" charset="-122"/>
                <a:ea typeface="微软雅黑" panose="020B0503020204020204" pitchFamily="34" charset="-122"/>
              </a:endParaRPr>
            </a:p>
          </p:txBody>
        </p:sp>
        <p:grpSp>
          <p:nvGrpSpPr>
            <p:cNvPr id="9" name="组合 36"/>
            <p:cNvGrpSpPr/>
            <p:nvPr/>
          </p:nvGrpSpPr>
          <p:grpSpPr bwMode="auto">
            <a:xfrm>
              <a:off x="6812280" y="2138680"/>
              <a:ext cx="361950" cy="347663"/>
              <a:chOff x="7070971" y="788848"/>
              <a:chExt cx="1800200" cy="1800200"/>
            </a:xfrm>
          </p:grpSpPr>
          <p:sp>
            <p:nvSpPr>
              <p:cNvPr id="10" name="椭圆 9"/>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1" name="燕尾形 10"/>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24" name="组合 14"/>
          <p:cNvGrpSpPr/>
          <p:nvPr/>
        </p:nvGrpSpPr>
        <p:grpSpPr bwMode="auto">
          <a:xfrm>
            <a:off x="513080" y="4123690"/>
            <a:ext cx="10920730" cy="2000885"/>
            <a:chOff x="1166778" y="1786456"/>
            <a:chExt cx="9858444" cy="1574529"/>
          </a:xfrm>
        </p:grpSpPr>
        <p:grpSp>
          <p:nvGrpSpPr>
            <p:cNvPr id="50" name="组合 12"/>
            <p:cNvGrpSpPr/>
            <p:nvPr/>
          </p:nvGrpSpPr>
          <p:grpSpPr bwMode="auto">
            <a:xfrm>
              <a:off x="1166778" y="1786456"/>
              <a:ext cx="9858444" cy="1574529"/>
              <a:chOff x="1166778" y="1786456"/>
              <a:chExt cx="9858444" cy="1574529"/>
            </a:xfrm>
          </p:grpSpPr>
          <p:sp>
            <p:nvSpPr>
              <p:cNvPr id="51" name="矩形 50"/>
              <p:cNvSpPr/>
              <p:nvPr/>
            </p:nvSpPr>
            <p:spPr>
              <a:xfrm>
                <a:off x="1166778" y="1786456"/>
                <a:ext cx="9858444" cy="157452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1166778" y="1786802"/>
                <a:ext cx="9856724" cy="599630"/>
              </a:xfrm>
              <a:prstGeom prst="rect">
                <a:avLst/>
              </a:prstGeom>
              <a:noFill/>
              <a:ln w="9525">
                <a:noFill/>
                <a:miter lim="800000"/>
              </a:ln>
            </p:spPr>
            <p:txBody>
              <a:bodyPr wrap="square">
                <a:spAutoFit/>
              </a:bodyPr>
              <a:lstStyle/>
              <a:p>
                <a:pPr indent="457200" eaLnBrk="1" latinLnBrk="0" hangingPunct="1">
                  <a:lnSpc>
                    <a:spcPct val="110000"/>
                  </a:lnSpc>
                  <a:spcAft>
                    <a:spcPts val="500"/>
                  </a:spcAft>
                  <a:buFont typeface="Arial" panose="020B0604020202020204" pitchFamily="34" charset="0"/>
                  <a:buNone/>
                </a:pPr>
                <a:r>
                  <a:rPr lang="zh-CN" altLang="en-US" sz="2000" b="1" dirty="0">
                    <a:solidFill>
                      <a:srgbClr val="C00000"/>
                    </a:solidFill>
                    <a:latin typeface="华康俪金黑W8(P)"/>
                    <a:ea typeface="华康俪金黑W8(P)"/>
                    <a:cs typeface="华康俪金黑W8(P)"/>
                  </a:rPr>
                  <a:t>用倒引号括起来的字符串被shell解释为命令行</a:t>
                </a:r>
                <a:r>
                  <a:rPr lang="zh-CN" altLang="en-US" sz="2000" b="1" dirty="0">
                    <a:solidFill>
                      <a:srgbClr val="009900"/>
                    </a:solidFill>
                    <a:latin typeface="华康俪金黑W8(P)"/>
                    <a:ea typeface="华康俪金黑W8(P)"/>
                    <a:cs typeface="华康俪金黑W8(P)"/>
                  </a:rPr>
                  <a:t>。在执行时，shell会先执行该命令行，并以它的标准输出结果取代整个倒引号部分。这在前面的示例中已经见过。</a:t>
                </a:r>
                <a:r>
                  <a:rPr lang="zh-CN" altLang="en-US" sz="2000" b="1" dirty="0">
                    <a:latin typeface="华康俪金黑W8(P)"/>
                    <a:ea typeface="华康俪金黑W8(P)"/>
                    <a:cs typeface="华康俪金黑W8(P)"/>
                  </a:rPr>
                  <a:t>例如：</a:t>
                </a:r>
              </a:p>
            </p:txBody>
          </p:sp>
        </p:grpSp>
        <p:sp>
          <p:nvSpPr>
            <p:cNvPr id="53" name="MH_Text_1"/>
            <p:cNvSpPr txBox="1">
              <a:spLocks noChangeArrowheads="1"/>
            </p:cNvSpPr>
            <p:nvPr>
              <p:custDataLst>
                <p:tags r:id="rId1"/>
              </p:custDataLst>
            </p:nvPr>
          </p:nvSpPr>
          <p:spPr bwMode="auto">
            <a:xfrm>
              <a:off x="1259068" y="2386586"/>
              <a:ext cx="9685328" cy="883955"/>
            </a:xfrm>
            <a:prstGeom prst="rect">
              <a:avLst/>
            </a:prstGeom>
            <a:solidFill>
              <a:srgbClr val="F2F2F2"/>
            </a:solidFill>
            <a:ln w="9525">
              <a:noFill/>
              <a:miter lim="800000"/>
            </a:ln>
          </p:spPr>
          <p:txBody>
            <a:bodyPr/>
            <a:lstStyle/>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pro]$Nuser=`echo The number of users is \`who|wc -l\``</a:t>
              </a:r>
            </a:p>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pro]$echo  $Nuser</a:t>
              </a:r>
            </a:p>
            <a:p>
              <a:pPr indent="0" eaLnBrk="1" latinLnBrk="0" hangingPunct="1">
                <a:lnSpc>
                  <a:spcPct val="11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The number of users is 3</a:t>
              </a:r>
            </a:p>
          </p:txBody>
        </p:sp>
      </p:grpSp>
      <p:sp>
        <p:nvSpPr>
          <p:cNvPr id="7" name="圆角矩形 6"/>
          <p:cNvSpPr/>
          <p:nvPr/>
        </p:nvSpPr>
        <p:spPr>
          <a:xfrm>
            <a:off x="640080" y="2339340"/>
            <a:ext cx="10603865" cy="1432560"/>
          </a:xfrm>
          <a:prstGeom prst="roundRect">
            <a:avLst/>
          </a:prstGeom>
          <a:noFill/>
          <a:ln w="635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可以看出，进行命令置换时，用倒引号括起来的可以是</a:t>
            </a:r>
            <a:r>
              <a:rPr lang="zh-CN" altLang="en-US" sz="2000" b="1" dirty="0">
                <a:solidFill>
                  <a:srgbClr val="0070C0"/>
                </a:solidFill>
                <a:latin typeface="微软雅黑" panose="020B0503020204020204" pitchFamily="34" charset="-122"/>
                <a:ea typeface="微软雅黑" panose="020B0503020204020204" pitchFamily="34" charset="-122"/>
                <a:sym typeface="+mn-ea"/>
              </a:rPr>
              <a:t>单个命令</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，也可以是</a:t>
            </a:r>
            <a:r>
              <a:rPr lang="zh-CN" altLang="en-US" sz="2000" b="1" dirty="0">
                <a:solidFill>
                  <a:srgbClr val="0070C0"/>
                </a:solidFill>
                <a:latin typeface="微软雅黑" panose="020B0503020204020204" pitchFamily="34" charset="-122"/>
                <a:ea typeface="微软雅黑" panose="020B0503020204020204" pitchFamily="34" charset="-122"/>
                <a:sym typeface="+mn-ea"/>
              </a:rPr>
              <a:t>多个命令的组合</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，如管道线等。</a:t>
            </a:r>
            <a:r>
              <a:rPr lang="zh-CN" altLang="en-US" sz="2000" dirty="0">
                <a:solidFill>
                  <a:srgbClr val="C00000"/>
                </a:solidFill>
                <a:latin typeface="微软雅黑" panose="020B0503020204020204" pitchFamily="34" charset="-122"/>
                <a:ea typeface="微软雅黑" panose="020B0503020204020204" pitchFamily="34" charset="-122"/>
                <a:sym typeface="+mn-ea"/>
              </a:rPr>
              <a:t>另外，倒引号还可以嵌套使用。但应注意，嵌套使用时，内层的倒引号必须用反斜线（\）将其转义。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16" fill="hold" grpId="2"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7" grpId="2" bldLvl="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AutoShape 13"/>
          <p:cNvSpPr>
            <a:spLocks noChangeArrowheads="1"/>
          </p:cNvSpPr>
          <p:nvPr/>
        </p:nvSpPr>
        <p:spPr bwMode="gray">
          <a:xfrm>
            <a:off x="351790" y="1840230"/>
            <a:ext cx="11396345" cy="4370070"/>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sz="2000" kern="0">
              <a:solidFill>
                <a:srgbClr val="4D4D4D"/>
              </a:solidFill>
              <a:latin typeface="微软雅黑" panose="020B0503020204020204" pitchFamily="34" charset="-122"/>
              <a:ea typeface="微软雅黑" panose="020B0503020204020204" pitchFamily="34" charset="-122"/>
            </a:endParaRPr>
          </a:p>
        </p:txBody>
      </p:sp>
      <p:sp>
        <p:nvSpPr>
          <p:cNvPr id="22" name="矩形 6"/>
          <p:cNvSpPr>
            <a:spLocks noChangeArrowheads="1"/>
          </p:cNvSpPr>
          <p:nvPr/>
        </p:nvSpPr>
        <p:spPr bwMode="auto">
          <a:xfrm>
            <a:off x="1212850" y="1137285"/>
            <a:ext cx="234823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dirty="0">
                <a:solidFill>
                  <a:srgbClr val="0066FF"/>
                </a:solidFill>
                <a:latin typeface="微软雅黑" panose="020B0503020204020204" pitchFamily="34" charset="-122"/>
                <a:ea typeface="微软雅黑" panose="020B0503020204020204" pitchFamily="34" charset="-122"/>
              </a:rPr>
              <a:t>5.3.1  引号</a:t>
            </a:r>
          </a:p>
        </p:txBody>
      </p:sp>
      <p:sp>
        <p:nvSpPr>
          <p:cNvPr id="23" name="椭圆 22"/>
          <p:cNvSpPr/>
          <p:nvPr/>
        </p:nvSpPr>
        <p:spPr bwMode="auto">
          <a:xfrm>
            <a:off x="619760" y="12407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3" name="组合 12"/>
          <p:cNvGrpSpPr/>
          <p:nvPr/>
        </p:nvGrpSpPr>
        <p:grpSpPr>
          <a:xfrm>
            <a:off x="452120" y="1717040"/>
            <a:ext cx="2401570" cy="553085"/>
            <a:chOff x="6668135" y="2035810"/>
            <a:chExt cx="2401570" cy="553085"/>
          </a:xfrm>
        </p:grpSpPr>
        <p:sp>
          <p:nvSpPr>
            <p:cNvPr id="5" name="圆角矩形 4"/>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sym typeface="+mn-ea"/>
                </a:rPr>
                <a:t>3．倒引号</a:t>
              </a:r>
              <a:endParaRPr lang="zh-CN" altLang="en-US" sz="2400" dirty="0">
                <a:latin typeface="微软雅黑" panose="020B0503020204020204" pitchFamily="34" charset="-122"/>
                <a:ea typeface="微软雅黑" panose="020B0503020204020204" pitchFamily="34" charset="-122"/>
              </a:endParaRPr>
            </a:p>
          </p:txBody>
        </p:sp>
        <p:grpSp>
          <p:nvGrpSpPr>
            <p:cNvPr id="9" name="组合 36"/>
            <p:cNvGrpSpPr/>
            <p:nvPr/>
          </p:nvGrpSpPr>
          <p:grpSpPr bwMode="auto">
            <a:xfrm>
              <a:off x="6812280" y="2138680"/>
              <a:ext cx="361950" cy="347663"/>
              <a:chOff x="7070971" y="788848"/>
              <a:chExt cx="1800200" cy="1800200"/>
            </a:xfrm>
          </p:grpSpPr>
          <p:sp>
            <p:nvSpPr>
              <p:cNvPr id="10" name="椭圆 9"/>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1" name="燕尾形 10"/>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grpSp>
        <p:nvGrpSpPr>
          <p:cNvPr id="27" name="组合 26"/>
          <p:cNvGrpSpPr/>
          <p:nvPr/>
        </p:nvGrpSpPr>
        <p:grpSpPr>
          <a:xfrm>
            <a:off x="452120" y="2429510"/>
            <a:ext cx="11033125" cy="3425190"/>
            <a:chOff x="452120" y="2429510"/>
            <a:chExt cx="11033125" cy="3425190"/>
          </a:xfrm>
        </p:grpSpPr>
        <p:grpSp>
          <p:nvGrpSpPr>
            <p:cNvPr id="3" name="组合 14"/>
            <p:cNvGrpSpPr/>
            <p:nvPr/>
          </p:nvGrpSpPr>
          <p:grpSpPr bwMode="auto">
            <a:xfrm>
              <a:off x="452120" y="2429510"/>
              <a:ext cx="10920730" cy="3425190"/>
              <a:chOff x="1166778" y="1786456"/>
              <a:chExt cx="9858444" cy="4736759"/>
            </a:xfrm>
          </p:grpSpPr>
          <p:grpSp>
            <p:nvGrpSpPr>
              <p:cNvPr id="4" name="组合 12"/>
              <p:cNvGrpSpPr/>
              <p:nvPr/>
            </p:nvGrpSpPr>
            <p:grpSpPr bwMode="auto">
              <a:xfrm>
                <a:off x="1166778" y="1786456"/>
                <a:ext cx="9858444" cy="4736759"/>
                <a:chOff x="1166778" y="1786456"/>
                <a:chExt cx="9858444" cy="4736759"/>
              </a:xfrm>
            </p:grpSpPr>
            <p:sp>
              <p:nvSpPr>
                <p:cNvPr id="6" name="矩形 5"/>
                <p:cNvSpPr/>
                <p:nvPr/>
              </p:nvSpPr>
              <p:spPr>
                <a:xfrm>
                  <a:off x="1166778" y="1786456"/>
                  <a:ext cx="9858444" cy="473675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7" name="矩形 6"/>
                <p:cNvSpPr>
                  <a:spLocks noChangeArrowheads="1"/>
                </p:cNvSpPr>
                <p:nvPr/>
              </p:nvSpPr>
              <p:spPr bwMode="auto">
                <a:xfrm>
                  <a:off x="1166778" y="1786802"/>
                  <a:ext cx="9856724" cy="632270"/>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lang="zh-CN" altLang="en-US" sz="2000" b="1" dirty="0">
                      <a:solidFill>
                        <a:srgbClr val="009900"/>
                      </a:solidFill>
                      <a:latin typeface="华康俪金黑W8(P)"/>
                      <a:ea typeface="华康俪金黑W8(P)"/>
                      <a:cs typeface="华康俪金黑W8(P)"/>
                    </a:rPr>
                    <a:t>如果内层倒引号不用其转义形式，而直接以原型出现在该字符串中，则成为以下形式：</a:t>
                  </a:r>
                </a:p>
              </p:txBody>
            </p:sp>
          </p:grpSp>
          <p:sp>
            <p:nvSpPr>
              <p:cNvPr id="8" name="MH_Text_1"/>
              <p:cNvSpPr txBox="1">
                <a:spLocks noChangeArrowheads="1"/>
              </p:cNvSpPr>
              <p:nvPr>
                <p:custDataLst>
                  <p:tags r:id="rId3"/>
                </p:custDataLst>
              </p:nvPr>
            </p:nvSpPr>
            <p:spPr bwMode="auto">
              <a:xfrm>
                <a:off x="1259068" y="2374825"/>
                <a:ext cx="9685328" cy="691698"/>
              </a:xfrm>
              <a:prstGeom prst="rect">
                <a:avLst/>
              </a:prstGeom>
              <a:solidFill>
                <a:srgbClr val="F2F2F2"/>
              </a:solidFill>
              <a:ln w="9525">
                <a:noFill/>
                <a:miter lim="800000"/>
              </a:ln>
            </p:spPr>
            <p:txBody>
              <a:bodyPr/>
              <a:lstStyle/>
              <a:p>
                <a:pPr indent="0" eaLnBrk="1" latinLnBrk="0" hangingPunct="1">
                  <a:lnSpc>
                    <a:spcPct val="14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pro]$Nuser=`echo The number of users is `who|wc -l``</a:t>
                </a:r>
              </a:p>
            </p:txBody>
          </p:sp>
        </p:grpSp>
        <p:grpSp>
          <p:nvGrpSpPr>
            <p:cNvPr id="20" name="组合 19"/>
            <p:cNvGrpSpPr/>
            <p:nvPr/>
          </p:nvGrpSpPr>
          <p:grpSpPr>
            <a:xfrm>
              <a:off x="520065" y="3539490"/>
              <a:ext cx="10109835" cy="1686067"/>
              <a:chOff x="917" y="5574"/>
              <a:chExt cx="17254" cy="2995"/>
            </a:xfrm>
          </p:grpSpPr>
          <p:grpSp>
            <p:nvGrpSpPr>
              <p:cNvPr id="2" name="组合 14"/>
              <p:cNvGrpSpPr/>
              <p:nvPr/>
            </p:nvGrpSpPr>
            <p:grpSpPr bwMode="auto">
              <a:xfrm>
                <a:off x="917" y="5574"/>
                <a:ext cx="17195" cy="1527"/>
                <a:chOff x="1166778" y="1786216"/>
                <a:chExt cx="9856726" cy="712132"/>
              </a:xfrm>
            </p:grpSpPr>
            <p:sp>
              <p:nvSpPr>
                <p:cNvPr id="16" name="矩形 15"/>
                <p:cNvSpPr>
                  <a:spLocks noChangeArrowheads="1"/>
                </p:cNvSpPr>
                <p:nvPr/>
              </p:nvSpPr>
              <p:spPr bwMode="auto">
                <a:xfrm>
                  <a:off x="1166778" y="1786216"/>
                  <a:ext cx="9856726" cy="378684"/>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按【Enter】键后，将出现：</a:t>
                  </a:r>
                </a:p>
              </p:txBody>
            </p:sp>
            <p:sp>
              <p:nvSpPr>
                <p:cNvPr id="17" name="MH_Text_1"/>
                <p:cNvSpPr txBox="1">
                  <a:spLocks noChangeArrowheads="1"/>
                </p:cNvSpPr>
                <p:nvPr>
                  <p:custDataLst>
                    <p:tags r:id="rId2"/>
                  </p:custDataLst>
                </p:nvPr>
              </p:nvSpPr>
              <p:spPr bwMode="auto">
                <a:xfrm>
                  <a:off x="1259068" y="2163718"/>
                  <a:ext cx="9685328" cy="334630"/>
                </a:xfrm>
                <a:prstGeom prst="rect">
                  <a:avLst/>
                </a:prstGeom>
                <a:solidFill>
                  <a:srgbClr val="F2F2F2"/>
                </a:solidFill>
                <a:ln w="9525">
                  <a:noFill/>
                  <a:miter lim="800000"/>
                </a:ln>
              </p:spPr>
              <p:txBody>
                <a:bodyPr/>
                <a:lstStyle/>
                <a:p>
                  <a:pPr indent="0" eaLnBrk="1" latinLnBrk="0" hangingPunct="1">
                    <a:lnSpc>
                      <a:spcPct val="110000"/>
                    </a:lnSpc>
                  </a:pPr>
                  <a:r>
                    <a:rPr lang="en-US" altLang="zh-CN" sz="2000" b="1" dirty="0">
                      <a:solidFill>
                        <a:srgbClr val="0070C0"/>
                      </a:solidFill>
                      <a:latin typeface="微软雅黑" panose="020B0503020204020204" pitchFamily="34" charset="-122"/>
                      <a:ea typeface="微软雅黑" panose="020B0503020204020204" pitchFamily="34" charset="-122"/>
                      <a:sym typeface="+mn-ea"/>
                    </a:rPr>
                    <a:t>     </a:t>
                  </a:r>
                  <a:r>
                    <a:rPr lang="zh-CN" altLang="en-US" sz="2000" b="1" dirty="0">
                      <a:solidFill>
                        <a:srgbClr val="0070C0"/>
                      </a:solidFill>
                      <a:latin typeface="微软雅黑" panose="020B0503020204020204" pitchFamily="34" charset="-122"/>
                      <a:ea typeface="微软雅黑" panose="020B0503020204020204" pitchFamily="34" charset="-122"/>
                      <a:sym typeface="+mn-ea"/>
                    </a:rPr>
                    <a:t>0</a:t>
                  </a:r>
                </a:p>
              </p:txBody>
            </p:sp>
          </p:grpSp>
          <p:sp>
            <p:nvSpPr>
              <p:cNvPr id="18" name="矩形 17"/>
              <p:cNvSpPr>
                <a:spLocks noChangeArrowheads="1"/>
              </p:cNvSpPr>
              <p:nvPr/>
            </p:nvSpPr>
            <p:spPr bwMode="auto">
              <a:xfrm>
                <a:off x="976" y="7100"/>
                <a:ext cx="17195" cy="812"/>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接着输入：</a:t>
                </a:r>
              </a:p>
            </p:txBody>
          </p:sp>
          <p:sp>
            <p:nvSpPr>
              <p:cNvPr id="19" name="MH_Text_1"/>
              <p:cNvSpPr txBox="1">
                <a:spLocks noChangeArrowheads="1"/>
              </p:cNvSpPr>
              <p:nvPr>
                <p:custDataLst>
                  <p:tags r:id="rId1"/>
                </p:custDataLst>
              </p:nvPr>
            </p:nvSpPr>
            <p:spPr bwMode="auto">
              <a:xfrm>
                <a:off x="1059" y="7775"/>
                <a:ext cx="16896" cy="794"/>
              </a:xfrm>
              <a:prstGeom prst="rect">
                <a:avLst/>
              </a:prstGeom>
              <a:solidFill>
                <a:srgbClr val="F2F2F2"/>
              </a:solidFill>
              <a:ln w="9525">
                <a:noFill/>
                <a:miter lim="800000"/>
              </a:ln>
            </p:spPr>
            <p:txBody>
              <a:bodyPr/>
              <a:lstStyle/>
              <a:p>
                <a:pPr indent="0" eaLnBrk="1" latinLnBrk="0" hangingPunct="1">
                  <a:lnSpc>
                    <a:spcPct val="140000"/>
                  </a:lnSpc>
                </a:pPr>
                <a:r>
                  <a:rPr lang="en-US" altLang="zh-CN" sz="2000" b="1" dirty="0">
                    <a:solidFill>
                      <a:srgbClr val="0070C0"/>
                    </a:solidFill>
                    <a:latin typeface="微软雅黑" panose="020B0503020204020204" pitchFamily="34" charset="-122"/>
                    <a:ea typeface="微软雅黑" panose="020B0503020204020204" pitchFamily="34" charset="-122"/>
                    <a:sym typeface="+mn-ea"/>
                  </a:rPr>
                  <a:t>     </a:t>
                </a:r>
                <a:r>
                  <a:rPr lang="zh-CN" altLang="en-US" sz="2000" b="1" dirty="0">
                    <a:solidFill>
                      <a:srgbClr val="0070C0"/>
                    </a:solidFill>
                    <a:latin typeface="微软雅黑" panose="020B0503020204020204" pitchFamily="34" charset="-122"/>
                    <a:ea typeface="微软雅黑" panose="020B0503020204020204" pitchFamily="34" charset="-122"/>
                    <a:sym typeface="+mn-ea"/>
                  </a:rPr>
                  <a:t>[Stu@localhost pro]$echo  $Nuser</a:t>
                </a:r>
              </a:p>
            </p:txBody>
          </p:sp>
        </p:grpSp>
        <p:sp>
          <p:nvSpPr>
            <p:cNvPr id="26" name="矩形 25"/>
            <p:cNvSpPr>
              <a:spLocks noChangeArrowheads="1"/>
            </p:cNvSpPr>
            <p:nvPr/>
          </p:nvSpPr>
          <p:spPr bwMode="auto">
            <a:xfrm>
              <a:off x="566420" y="5299960"/>
              <a:ext cx="10918825" cy="476541"/>
            </a:xfrm>
            <a:prstGeom prst="rect">
              <a:avLst/>
            </a:prstGeom>
            <a:noFill/>
            <a:ln w="9525">
              <a:noFill/>
              <a:miter lim="800000"/>
            </a:ln>
          </p:spPr>
          <p:txBody>
            <a:bodyPr wrap="square">
              <a:spAutoFit/>
            </a:bodyPr>
            <a:lstStyle/>
            <a:p>
              <a:pPr indent="457200" eaLnBrk="1" latinLnBrk="0" hangingPunct="1">
                <a:lnSpc>
                  <a:spcPct val="140000"/>
                </a:lnSpc>
              </a:pP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显示一个空行。这表明，它没有按想象的情况执行。</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strips(downRight)">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13"/>
          <p:cNvSpPr>
            <a:spLocks noChangeArrowheads="1"/>
          </p:cNvSpPr>
          <p:nvPr/>
        </p:nvSpPr>
        <p:spPr bwMode="gray">
          <a:xfrm>
            <a:off x="382270" y="1710690"/>
            <a:ext cx="11411585" cy="4398010"/>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en-US" altLang="zh-CN" sz="2000" kern="0">
              <a:solidFill>
                <a:srgbClr val="4D4D4D"/>
              </a:solidFill>
              <a:latin typeface="微软雅黑" panose="020B0503020204020204" pitchFamily="34" charset="-122"/>
              <a:ea typeface="微软雅黑" panose="020B0503020204020204" pitchFamily="34" charset="-122"/>
            </a:endParaRPr>
          </a:p>
        </p:txBody>
      </p:sp>
      <p:sp>
        <p:nvSpPr>
          <p:cNvPr id="22" name="矩形 6"/>
          <p:cNvSpPr>
            <a:spLocks noChangeArrowheads="1"/>
          </p:cNvSpPr>
          <p:nvPr/>
        </p:nvSpPr>
        <p:spPr bwMode="auto">
          <a:xfrm>
            <a:off x="958215" y="1035685"/>
            <a:ext cx="234823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5.3.1  引号</a:t>
            </a:r>
          </a:p>
        </p:txBody>
      </p:sp>
      <p:sp>
        <p:nvSpPr>
          <p:cNvPr id="23" name="椭圆 22"/>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3" name="组合 12"/>
          <p:cNvGrpSpPr/>
          <p:nvPr/>
        </p:nvGrpSpPr>
        <p:grpSpPr>
          <a:xfrm>
            <a:off x="452120" y="1602740"/>
            <a:ext cx="2401570" cy="553085"/>
            <a:chOff x="6668135" y="2035810"/>
            <a:chExt cx="2401570" cy="553085"/>
          </a:xfrm>
        </p:grpSpPr>
        <p:sp>
          <p:nvSpPr>
            <p:cNvPr id="5" name="圆角矩形 4"/>
            <p:cNvSpPr/>
            <p:nvPr/>
          </p:nvSpPr>
          <p:spPr>
            <a:xfrm>
              <a:off x="6668135" y="2035810"/>
              <a:ext cx="2401570" cy="553085"/>
            </a:xfrm>
            <a:prstGeom prst="roundRect">
              <a:avLst/>
            </a:prstGeom>
            <a:solidFill>
              <a:srgbClr val="00B0F0"/>
            </a:solidFill>
            <a:ln w="9525" cap="flat" cmpd="sng" algn="ctr">
              <a:solidFill>
                <a:srgbClr val="0070C0"/>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40" name="TextBox 1"/>
            <p:cNvSpPr txBox="1">
              <a:spLocks noChangeArrowheads="1"/>
            </p:cNvSpPr>
            <p:nvPr/>
          </p:nvSpPr>
          <p:spPr bwMode="auto">
            <a:xfrm>
              <a:off x="7174230" y="2071370"/>
              <a:ext cx="1630680" cy="483235"/>
            </a:xfrm>
            <a:prstGeom prst="rect">
              <a:avLst/>
            </a:prstGeom>
            <a:noFill/>
            <a:ln w="9525">
              <a:noFill/>
              <a:miter lim="800000"/>
            </a:ln>
          </p:spPr>
          <p:txBody>
            <a:bodyPr wrap="square">
              <a:spAutoFit/>
            </a:bodyPr>
            <a:lstStyle/>
            <a:p>
              <a:pPr>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4．反斜杠</a:t>
              </a:r>
            </a:p>
          </p:txBody>
        </p:sp>
        <p:grpSp>
          <p:nvGrpSpPr>
            <p:cNvPr id="9" name="组合 36"/>
            <p:cNvGrpSpPr/>
            <p:nvPr/>
          </p:nvGrpSpPr>
          <p:grpSpPr bwMode="auto">
            <a:xfrm>
              <a:off x="6812280" y="2138680"/>
              <a:ext cx="361950" cy="347663"/>
              <a:chOff x="7070971" y="788848"/>
              <a:chExt cx="1800200" cy="1800200"/>
            </a:xfrm>
          </p:grpSpPr>
          <p:sp>
            <p:nvSpPr>
              <p:cNvPr id="10" name="椭圆 9"/>
              <p:cNvSpPr/>
              <p:nvPr/>
            </p:nvSpPr>
            <p:spPr>
              <a:xfrm>
                <a:off x="7070971" y="788848"/>
                <a:ext cx="1800200" cy="1800200"/>
              </a:xfrm>
              <a:prstGeom prst="ellipse">
                <a:avLst/>
              </a:prstGeom>
              <a:solidFill>
                <a:srgbClr val="FFFFFF">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1" name="燕尾形 10"/>
              <p:cNvSpPr/>
              <p:nvPr/>
            </p:nvSpPr>
            <p:spPr>
              <a:xfrm>
                <a:off x="7576290" y="1166972"/>
                <a:ext cx="789561" cy="1043953"/>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grpSp>
      </p:grpSp>
      <p:sp>
        <p:nvSpPr>
          <p:cNvPr id="14" name="Text Box 44"/>
          <p:cNvSpPr txBox="1">
            <a:spLocks noChangeArrowheads="1"/>
          </p:cNvSpPr>
          <p:nvPr/>
        </p:nvSpPr>
        <p:spPr bwMode="auto">
          <a:xfrm>
            <a:off x="596265" y="4963160"/>
            <a:ext cx="10694035" cy="9448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chemeClr val="tx1">
                    <a:lumMod val="85000"/>
                    <a:lumOff val="15000"/>
                  </a:schemeClr>
                </a:solidFill>
              </a:rPr>
              <a:t>如果想在字符串中使用</a:t>
            </a:r>
            <a:r>
              <a:rPr lang="zh-CN" altLang="en-US" sz="2000" b="1" dirty="0">
                <a:solidFill>
                  <a:srgbClr val="0070C0"/>
                </a:solidFill>
              </a:rPr>
              <a:t>特殊字符</a:t>
            </a:r>
            <a:r>
              <a:rPr lang="zh-CN" altLang="en-US" sz="2000" b="1" dirty="0">
                <a:solidFill>
                  <a:schemeClr val="tx1">
                    <a:lumMod val="85000"/>
                    <a:lumOff val="15000"/>
                  </a:schemeClr>
                </a:solidFill>
              </a:rPr>
              <a:t>，如\、$等，则必须采用</a:t>
            </a:r>
            <a:r>
              <a:rPr lang="zh-CN" altLang="en-US" sz="2000" b="1" dirty="0">
                <a:solidFill>
                  <a:srgbClr val="0070C0"/>
                </a:solidFill>
              </a:rPr>
              <a:t>“\特殊字符”</a:t>
            </a:r>
            <a:r>
              <a:rPr lang="zh-CN" altLang="en-US" sz="2000" b="1" dirty="0">
                <a:solidFill>
                  <a:schemeClr val="tx1">
                    <a:lumMod val="85000"/>
                    <a:lumOff val="15000"/>
                  </a:schemeClr>
                </a:solidFill>
              </a:rPr>
              <a:t>的形式。第一个反斜杠作为转义字符，将第二个字符变为普通字符。</a:t>
            </a:r>
          </a:p>
        </p:txBody>
      </p:sp>
      <p:grpSp>
        <p:nvGrpSpPr>
          <p:cNvPr id="27" name="组合 26"/>
          <p:cNvGrpSpPr/>
          <p:nvPr/>
        </p:nvGrpSpPr>
        <p:grpSpPr>
          <a:xfrm>
            <a:off x="657225" y="2342515"/>
            <a:ext cx="10480675" cy="2326005"/>
            <a:chOff x="1028" y="3418"/>
            <a:chExt cx="16505" cy="3184"/>
          </a:xfrm>
        </p:grpSpPr>
        <p:grpSp>
          <p:nvGrpSpPr>
            <p:cNvPr id="17" name="组合 14"/>
            <p:cNvGrpSpPr/>
            <p:nvPr/>
          </p:nvGrpSpPr>
          <p:grpSpPr bwMode="auto">
            <a:xfrm>
              <a:off x="1028" y="3418"/>
              <a:ext cx="16505" cy="3184"/>
              <a:chOff x="1166778" y="1786456"/>
              <a:chExt cx="9461194" cy="1574529"/>
            </a:xfrm>
          </p:grpSpPr>
          <p:grpSp>
            <p:nvGrpSpPr>
              <p:cNvPr id="18" name="组合 12"/>
              <p:cNvGrpSpPr/>
              <p:nvPr/>
            </p:nvGrpSpPr>
            <p:grpSpPr bwMode="auto">
              <a:xfrm>
                <a:off x="1166778" y="1786456"/>
                <a:ext cx="9461194" cy="1574529"/>
                <a:chOff x="1166778" y="1786456"/>
                <a:chExt cx="9461194" cy="1574529"/>
              </a:xfrm>
            </p:grpSpPr>
            <p:sp>
              <p:nvSpPr>
                <p:cNvPr id="19" name="矩形 18"/>
                <p:cNvSpPr/>
                <p:nvPr/>
              </p:nvSpPr>
              <p:spPr>
                <a:xfrm>
                  <a:off x="1166778" y="1786456"/>
                  <a:ext cx="9461194" cy="157452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0" name="矩形 6"/>
                <p:cNvSpPr>
                  <a:spLocks noChangeArrowheads="1"/>
                </p:cNvSpPr>
                <p:nvPr/>
              </p:nvSpPr>
              <p:spPr bwMode="auto">
                <a:xfrm>
                  <a:off x="1166778" y="1786951"/>
                  <a:ext cx="9354573" cy="55708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C00000"/>
                      </a:solidFill>
                      <a:latin typeface="华康俪金黑W8(P)"/>
                      <a:ea typeface="华康俪金黑W8(P)"/>
                      <a:cs typeface="华康俪金黑W8(P)"/>
                    </a:rPr>
                    <a:t>反斜杠是转义字符</a:t>
                  </a:r>
                  <a:r>
                    <a:rPr lang="zh-CN" altLang="en-US" sz="2000" b="1" dirty="0">
                      <a:solidFill>
                        <a:srgbClr val="009900"/>
                      </a:solidFill>
                      <a:latin typeface="华康俪金黑W8(P)"/>
                      <a:ea typeface="华康俪金黑W8(P)"/>
                      <a:cs typeface="华康俪金黑W8(P)"/>
                    </a:rPr>
                    <a:t>。它能将特殊字符变成普通字符。在某个字符前面，</a:t>
                  </a:r>
                  <a:r>
                    <a:rPr lang="zh-CN" altLang="en-US" sz="2000" b="1" dirty="0">
                      <a:solidFill>
                        <a:srgbClr val="C00000"/>
                      </a:solidFill>
                      <a:latin typeface="华康俪金黑W8(P)"/>
                      <a:ea typeface="华康俪金黑W8(P)"/>
                      <a:cs typeface="华康俪金黑W8(P)"/>
                    </a:rPr>
                    <a:t>利用反斜杠（\）能够阻止shell将后面的字符解释为特殊字符</a:t>
                  </a:r>
                  <a:r>
                    <a:rPr lang="zh-CN" altLang="en-US" sz="2000" b="1" dirty="0">
                      <a:solidFill>
                        <a:srgbClr val="009900"/>
                      </a:solidFill>
                      <a:latin typeface="华康俪金黑W8(P)"/>
                      <a:ea typeface="华康俪金黑W8(P)"/>
                      <a:cs typeface="华康俪金黑W8(P)"/>
                    </a:rPr>
                    <a:t>。</a:t>
                  </a:r>
                  <a:r>
                    <a:rPr lang="zh-CN" altLang="en-US" sz="2000" b="1" dirty="0">
                      <a:solidFill>
                        <a:srgbClr val="FF0000"/>
                      </a:solidFill>
                      <a:latin typeface="华康俪金黑W8(P)"/>
                      <a:ea typeface="华康俪金黑W8(P)"/>
                      <a:cs typeface="华康俪金黑W8(P)"/>
                    </a:rPr>
                    <a:t>例如：</a:t>
                  </a:r>
                </a:p>
              </p:txBody>
            </p:sp>
          </p:grpSp>
          <p:sp>
            <p:nvSpPr>
              <p:cNvPr id="21" name="MH_Text_1"/>
              <p:cNvSpPr txBox="1">
                <a:spLocks noChangeArrowheads="1"/>
              </p:cNvSpPr>
              <p:nvPr>
                <p:custDataLst>
                  <p:tags r:id="rId2"/>
                </p:custDataLst>
              </p:nvPr>
            </p:nvSpPr>
            <p:spPr bwMode="auto">
              <a:xfrm>
                <a:off x="1356518" y="2314103"/>
                <a:ext cx="9168272" cy="388357"/>
              </a:xfrm>
              <a:prstGeom prst="rect">
                <a:avLst/>
              </a:prstGeom>
              <a:solidFill>
                <a:srgbClr val="F2F2F2"/>
              </a:solidFill>
              <a:ln w="9525">
                <a:noFill/>
                <a:miter lim="800000"/>
              </a:ln>
            </p:spPr>
            <p:txBody>
              <a:bodyPr/>
              <a:lstStyle/>
              <a:p>
                <a:pPr indent="0" algn="ctr"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pro]$echo  “Filename is N0\$\*”</a:t>
                </a:r>
              </a:p>
            </p:txBody>
          </p:sp>
        </p:grpSp>
        <p:sp>
          <p:nvSpPr>
            <p:cNvPr id="25" name="矩形 6"/>
            <p:cNvSpPr>
              <a:spLocks noChangeArrowheads="1"/>
            </p:cNvSpPr>
            <p:nvPr/>
          </p:nvSpPr>
          <p:spPr bwMode="auto">
            <a:xfrm>
              <a:off x="1184" y="5247"/>
              <a:ext cx="16319" cy="62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则显示：</a:t>
              </a:r>
            </a:p>
          </p:txBody>
        </p:sp>
        <p:sp>
          <p:nvSpPr>
            <p:cNvPr id="26" name="MH_Text_1"/>
            <p:cNvSpPr txBox="1">
              <a:spLocks noChangeArrowheads="1"/>
            </p:cNvSpPr>
            <p:nvPr>
              <p:custDataLst>
                <p:tags r:id="rId1"/>
              </p:custDataLst>
            </p:nvPr>
          </p:nvSpPr>
          <p:spPr bwMode="auto">
            <a:xfrm>
              <a:off x="1288" y="5909"/>
              <a:ext cx="15994" cy="649"/>
            </a:xfrm>
            <a:prstGeom prst="rect">
              <a:avLst/>
            </a:prstGeom>
            <a:solidFill>
              <a:srgbClr val="F2F2F2"/>
            </a:solidFill>
            <a:ln w="9525">
              <a:noFill/>
              <a:miter lim="800000"/>
            </a:ln>
          </p:spPr>
          <p:txBody>
            <a:bodyPr/>
            <a:lstStyle/>
            <a:p>
              <a:pPr indent="0" algn="ctr"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Filename is N0$*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strips(downRight)">
                                      <p:cBhvr>
                                        <p:cTn id="12" dur="500"/>
                                        <p:tgtEl>
                                          <p:spTgt spid="27"/>
                                        </p:tgtEl>
                                      </p:cBhvr>
                                    </p:animEffect>
                                  </p:childTnLst>
                                </p:cTn>
                              </p:par>
                            </p:childTnLst>
                          </p:cTn>
                        </p:par>
                        <p:par>
                          <p:cTn id="13" fill="hold">
                            <p:stCondLst>
                              <p:cond delay="1000"/>
                            </p:stCondLst>
                            <p:childTnLst>
                              <p:par>
                                <p:cTn id="14" presetID="18" presetClass="entr" presetSubtype="6"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strips(downRight)">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451231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6" name="矩形 5"/>
          <p:cNvSpPr/>
          <p:nvPr/>
        </p:nvSpPr>
        <p:spPr>
          <a:xfrm>
            <a:off x="738150" y="1560180"/>
            <a:ext cx="10873208" cy="50006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7" name="圆角矩形 6"/>
          <p:cNvSpPr/>
          <p:nvPr/>
        </p:nvSpPr>
        <p:spPr bwMode="auto">
          <a:xfrm>
            <a:off x="952464" y="1774494"/>
            <a:ext cx="4929222" cy="4643470"/>
          </a:xfrm>
          <a:prstGeom prst="roundRect">
            <a:avLst>
              <a:gd name="adj" fmla="val 3473"/>
            </a:avLst>
          </a:prstGeom>
          <a:solidFill>
            <a:schemeClr val="accent6">
              <a:lumMod val="20000"/>
              <a:lumOff val="80000"/>
            </a:schemeClr>
          </a:solidFill>
          <a:ln w="19050" cap="flat" cmpd="sng" algn="ctr">
            <a:noFill/>
            <a:prstDash val="dash"/>
            <a:round/>
            <a:headEnd type="none" w="med" len="med"/>
            <a:tailEnd type="none" w="med" len="med"/>
          </a:ln>
          <a:effectLst/>
        </p:spPr>
        <p:txBody>
          <a:bodyPr/>
          <a:lstStyle/>
          <a:p>
            <a:pPr eaLnBrk="0" hangingPunct="0">
              <a:defRPr/>
            </a:pPr>
            <a:endParaRPr lang="zh-CN" altLang="en-US" kern="0" dirty="0">
              <a:solidFill>
                <a:srgbClr val="000000"/>
              </a:solidFill>
              <a:latin typeface="Mistral" panose="03090702030407020403" pitchFamily="66" charset="0"/>
              <a:cs typeface="Microsoft Sans Serif" panose="020B0604020202020204" pitchFamily="34" charset="0"/>
            </a:endParaRPr>
          </a:p>
        </p:txBody>
      </p:sp>
      <p:sp>
        <p:nvSpPr>
          <p:cNvPr id="20" name="矩形 19"/>
          <p:cNvSpPr/>
          <p:nvPr/>
        </p:nvSpPr>
        <p:spPr>
          <a:xfrm>
            <a:off x="6096000" y="2060246"/>
            <a:ext cx="146266" cy="4286280"/>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982621" y="2003078"/>
            <a:ext cx="5067660" cy="4288500"/>
            <a:chOff x="1547" y="3154"/>
            <a:chExt cx="7981" cy="6754"/>
          </a:xfrm>
        </p:grpSpPr>
        <p:sp>
          <p:nvSpPr>
            <p:cNvPr id="8" name="矩形 3"/>
            <p:cNvSpPr>
              <a:spLocks noChangeArrowheads="1"/>
            </p:cNvSpPr>
            <p:nvPr/>
          </p:nvSpPr>
          <p:spPr bwMode="auto">
            <a:xfrm>
              <a:off x="1547" y="3154"/>
              <a:ext cx="7650" cy="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eaLnBrk="1" latinLnBrk="0" hangingPunct="1">
                <a:lnSpc>
                  <a:spcPct val="16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在Linux系统中，执行一个shell命令时，通常会自动打开</a:t>
              </a:r>
              <a:r>
                <a:rPr lang="zh-CN" altLang="en-US" sz="1800" b="1" dirty="0">
                  <a:solidFill>
                    <a:srgbClr val="0070C0"/>
                  </a:solidFill>
                  <a:latin typeface="微软雅黑" panose="020B0503020204020204" pitchFamily="34" charset="-122"/>
                  <a:ea typeface="微软雅黑" panose="020B0503020204020204" pitchFamily="34" charset="-122"/>
                  <a:sym typeface="+mn-ea"/>
                </a:rPr>
                <a:t>3个标准文件</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：标准输入文件，通常对应终端的键盘；标准输出文件和标准出错输出文件，这两个文件都对应终端的屏幕。由父进程创建子进程时，子进程就</a:t>
              </a:r>
              <a:r>
                <a:rPr lang="zh-CN" altLang="en-US" sz="1800" b="1" dirty="0">
                  <a:solidFill>
                    <a:srgbClr val="0070C0"/>
                  </a:solidFill>
                  <a:latin typeface="微软雅黑" panose="020B0503020204020204" pitchFamily="34" charset="-122"/>
                  <a:ea typeface="微软雅黑" panose="020B0503020204020204" pitchFamily="34" charset="-122"/>
                  <a:sym typeface="+mn-ea"/>
                </a:rPr>
                <a:t>继承了</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父进程打开的这3个文件，因而可以利用键盘输入数据，从屏幕上显示计算结果及各种信息。</a:t>
              </a:r>
              <a:endParaRPr lang="zh-CN" altLang="en-US" sz="18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3" name="Text Box 44"/>
            <p:cNvSpPr txBox="1">
              <a:spLocks noChangeArrowheads="1"/>
            </p:cNvSpPr>
            <p:nvPr/>
          </p:nvSpPr>
          <p:spPr bwMode="auto">
            <a:xfrm>
              <a:off x="1660" y="8211"/>
              <a:ext cx="7868" cy="169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在shell中，这三个文件都可以通过重定向符进行重新定向。</a:t>
              </a:r>
            </a:p>
          </p:txBody>
        </p:sp>
      </p:grpSp>
      <p:grpSp>
        <p:nvGrpSpPr>
          <p:cNvPr id="31" name="组合 30"/>
          <p:cNvGrpSpPr/>
          <p:nvPr/>
        </p:nvGrpSpPr>
        <p:grpSpPr>
          <a:xfrm>
            <a:off x="6223000" y="1774190"/>
            <a:ext cx="5433695" cy="4643755"/>
            <a:chOff x="9800" y="2794"/>
            <a:chExt cx="8557" cy="7313"/>
          </a:xfrm>
        </p:grpSpPr>
        <p:sp>
          <p:nvSpPr>
            <p:cNvPr id="19" name="圆角矩形 18"/>
            <p:cNvSpPr/>
            <p:nvPr/>
          </p:nvSpPr>
          <p:spPr bwMode="auto">
            <a:xfrm>
              <a:off x="10163" y="2794"/>
              <a:ext cx="7763" cy="7313"/>
            </a:xfrm>
            <a:prstGeom prst="roundRect">
              <a:avLst>
                <a:gd name="adj" fmla="val 3473"/>
              </a:avLst>
            </a:prstGeom>
            <a:solidFill>
              <a:schemeClr val="accent6">
                <a:lumMod val="20000"/>
                <a:lumOff val="80000"/>
              </a:schemeClr>
            </a:solidFill>
            <a:ln w="19050" cap="flat" cmpd="sng" algn="ctr">
              <a:noFill/>
              <a:prstDash val="dash"/>
              <a:round/>
              <a:headEnd type="none" w="med" len="med"/>
              <a:tailEnd type="none" w="med" len="med"/>
            </a:ln>
            <a:effectLst/>
          </p:spPr>
          <p:txBody>
            <a:bodyPr/>
            <a:lstStyle/>
            <a:p>
              <a:pPr eaLnBrk="0" hangingPunct="0">
                <a:defRPr/>
              </a:pPr>
              <a:endParaRPr lang="zh-CN" altLang="en-US" kern="0" dirty="0">
                <a:solidFill>
                  <a:srgbClr val="000000"/>
                </a:solidFill>
                <a:latin typeface="Mistral" panose="03090702030407020403" pitchFamily="66" charset="0"/>
                <a:cs typeface="Microsoft Sans Serif" panose="020B0604020202020204" pitchFamily="34" charset="0"/>
              </a:endParaRPr>
            </a:p>
          </p:txBody>
        </p:sp>
        <p:grpSp>
          <p:nvGrpSpPr>
            <p:cNvPr id="30" name="组合 29"/>
            <p:cNvGrpSpPr/>
            <p:nvPr/>
          </p:nvGrpSpPr>
          <p:grpSpPr>
            <a:xfrm>
              <a:off x="9800" y="4227"/>
              <a:ext cx="8557" cy="3319"/>
              <a:chOff x="9800" y="4227"/>
              <a:chExt cx="8557" cy="3319"/>
            </a:xfrm>
          </p:grpSpPr>
          <p:sp>
            <p:nvSpPr>
              <p:cNvPr id="21" name="矩形 3"/>
              <p:cNvSpPr>
                <a:spLocks noChangeArrowheads="1"/>
              </p:cNvSpPr>
              <p:nvPr/>
            </p:nvSpPr>
            <p:spPr bwMode="auto">
              <a:xfrm>
                <a:off x="9800" y="4227"/>
                <a:ext cx="7724" cy="2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1" indent="457200" eaLnBrk="1" latinLnBrk="0" hangingPunct="1">
                  <a:lnSpc>
                    <a:spcPct val="140000"/>
                  </a:lnSpc>
                  <a:buFont typeface="Wingdings" panose="05000000000000000000" pitchFamily="2" charset="2"/>
                  <a:buNone/>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输入重定向符“&lt;”的作用是将命令（或可执行程序）的标准输入</a:t>
                </a:r>
                <a:r>
                  <a:rPr lang="zh-CN" altLang="en-US" sz="2000" b="1" dirty="0">
                    <a:solidFill>
                      <a:srgbClr val="0070C0"/>
                    </a:solidFill>
                    <a:latin typeface="微软雅黑" panose="020B0503020204020204" pitchFamily="34" charset="-122"/>
                    <a:ea typeface="微软雅黑" panose="020B0503020204020204" pitchFamily="34" charset="-122"/>
                    <a:sym typeface="+mn-ea"/>
                  </a:rPr>
                  <a:t>重新定向</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到指定文件。</a:t>
                </a:r>
              </a:p>
            </p:txBody>
          </p:sp>
          <p:sp>
            <p:nvSpPr>
              <p:cNvPr id="27" name="Text Box 44"/>
              <p:cNvSpPr txBox="1">
                <a:spLocks noChangeArrowheads="1"/>
              </p:cNvSpPr>
              <p:nvPr/>
            </p:nvSpPr>
            <p:spPr bwMode="auto">
              <a:xfrm>
                <a:off x="10277" y="6671"/>
                <a:ext cx="4353"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输入重定向的一般形式：</a:t>
                </a:r>
              </a:p>
            </p:txBody>
          </p:sp>
          <p:sp>
            <p:nvSpPr>
              <p:cNvPr id="28" name="文本框 27"/>
              <p:cNvSpPr txBox="1"/>
              <p:nvPr/>
            </p:nvSpPr>
            <p:spPr>
              <a:xfrm>
                <a:off x="14927" y="6682"/>
                <a:ext cx="3430"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命令&lt;文件名</a:t>
                </a:r>
              </a:p>
            </p:txBody>
          </p:sp>
        </p:grpSp>
      </p:grpSp>
      <p:sp>
        <p:nvSpPr>
          <p:cNvPr id="25" name="矩形 24"/>
          <p:cNvSpPr/>
          <p:nvPr/>
        </p:nvSpPr>
        <p:spPr>
          <a:xfrm>
            <a:off x="6309600" y="1876425"/>
            <a:ext cx="2582399"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1．输入重定向符</a:t>
            </a:r>
          </a:p>
        </p:txBody>
      </p:sp>
      <p:sp>
        <p:nvSpPr>
          <p:cNvPr id="26" name="Triangle rectangle 10"/>
          <p:cNvSpPr/>
          <p:nvPr/>
        </p:nvSpPr>
        <p:spPr>
          <a:xfrm rot="16200000" flipH="1">
            <a:off x="6305136" y="2383716"/>
            <a:ext cx="165100" cy="158263"/>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pic>
        <p:nvPicPr>
          <p:cNvPr id="22" name="图片 21"/>
          <p:cNvPicPr>
            <a:picLocks noChangeAspect="1"/>
          </p:cNvPicPr>
          <p:nvPr/>
        </p:nvPicPr>
        <p:blipFill>
          <a:blip r:embed="rId2" cstate="print"/>
          <a:stretch>
            <a:fillRect/>
          </a:stretch>
        </p:blipFill>
        <p:spPr>
          <a:xfrm>
            <a:off x="9668803" y="4456751"/>
            <a:ext cx="2078360" cy="207836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4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900"/>
                            </p:stCondLst>
                            <p:childTnLst>
                              <p:par>
                                <p:cTn id="10" presetID="2" presetClass="entr" presetSubtype="4" fill="hold" nodeType="after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ppt_x"/>
                                          </p:val>
                                        </p:tav>
                                        <p:tav tm="100000">
                                          <p:val>
                                            <p:strVal val="#ppt_x"/>
                                          </p:val>
                                        </p:tav>
                                      </p:tavLst>
                                    </p:anim>
                                    <p:anim calcmode="lin" valueType="num">
                                      <p:cBhvr additive="base">
                                        <p:cTn id="13" dur="500" fill="hold"/>
                                        <p:tgtEl>
                                          <p:spTgt spid="29"/>
                                        </p:tgtEl>
                                        <p:attrNameLst>
                                          <p:attrName>ppt_y</p:attrName>
                                        </p:attrNameLst>
                                      </p:cBhvr>
                                      <p:tavLst>
                                        <p:tav tm="0">
                                          <p:val>
                                            <p:strVal val="1+#ppt_h/2"/>
                                          </p:val>
                                        </p:tav>
                                        <p:tav tm="100000">
                                          <p:val>
                                            <p:strVal val="#ppt_y"/>
                                          </p:val>
                                        </p:tav>
                                      </p:tavLst>
                                    </p:anim>
                                  </p:childTnLst>
                                </p:cTn>
                              </p:par>
                            </p:childTnLst>
                          </p:cTn>
                        </p:par>
                        <p:par>
                          <p:cTn id="14"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1000"/>
                                        <p:tgtEl>
                                          <p:spTgt spid="25"/>
                                        </p:tgtEl>
                                      </p:cBhvr>
                                    </p:animEffect>
                                    <p:anim calcmode="lin" valueType="num">
                                      <p:cBhvr>
                                        <p:cTn id="18" dur="1000" fill="hold"/>
                                        <p:tgtEl>
                                          <p:spTgt spid="25"/>
                                        </p:tgtEl>
                                        <p:attrNameLst>
                                          <p:attrName>ppt_x</p:attrName>
                                        </p:attrNameLst>
                                      </p:cBhvr>
                                      <p:tavLst>
                                        <p:tav tm="0">
                                          <p:val>
                                            <p:strVal val="#ppt_x"/>
                                          </p:val>
                                        </p:tav>
                                        <p:tav tm="100000">
                                          <p:val>
                                            <p:strVal val="#ppt_x"/>
                                          </p:val>
                                        </p:tav>
                                      </p:tavLst>
                                    </p:anim>
                                    <p:anim calcmode="lin" valueType="num">
                                      <p:cBhvr>
                                        <p:cTn id="19" dur="1000" fill="hold"/>
                                        <p:tgtEl>
                                          <p:spTgt spid="2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1000"/>
                                        <p:tgtEl>
                                          <p:spTgt spid="26"/>
                                        </p:tgtEl>
                                      </p:cBhvr>
                                    </p:animEffect>
                                    <p:anim calcmode="lin" valueType="num">
                                      <p:cBhvr>
                                        <p:cTn id="23" dur="1000" fill="hold"/>
                                        <p:tgtEl>
                                          <p:spTgt spid="26"/>
                                        </p:tgtEl>
                                        <p:attrNameLst>
                                          <p:attrName>ppt_x</p:attrName>
                                        </p:attrNameLst>
                                      </p:cBhvr>
                                      <p:tavLst>
                                        <p:tav tm="0">
                                          <p:val>
                                            <p:strVal val="#ppt_x"/>
                                          </p:val>
                                        </p:tav>
                                        <p:tav tm="100000">
                                          <p:val>
                                            <p:strVal val="#ppt_x"/>
                                          </p:val>
                                        </p:tav>
                                      </p:tavLst>
                                    </p:anim>
                                    <p:anim calcmode="lin" valueType="num">
                                      <p:cBhvr>
                                        <p:cTn id="24" dur="1000" fill="hold"/>
                                        <p:tgtEl>
                                          <p:spTgt spid="26"/>
                                        </p:tgtEl>
                                        <p:attrNameLst>
                                          <p:attrName>ppt_y</p:attrName>
                                        </p:attrNameLst>
                                      </p:cBhvr>
                                      <p:tavLst>
                                        <p:tav tm="0">
                                          <p:val>
                                            <p:strVal val="#ppt_y+.1"/>
                                          </p:val>
                                        </p:tav>
                                        <p:tav tm="100000">
                                          <p:val>
                                            <p:strVal val="#ppt_y"/>
                                          </p:val>
                                        </p:tav>
                                      </p:tavLst>
                                    </p:anim>
                                  </p:childTnLst>
                                </p:cTn>
                              </p:par>
                            </p:childTnLst>
                          </p:cTn>
                        </p:par>
                        <p:par>
                          <p:cTn id="25" fill="hold">
                            <p:stCondLst>
                              <p:cond delay="2400"/>
                            </p:stCondLst>
                            <p:childTnLst>
                              <p:par>
                                <p:cTn id="26" presetID="2" presetClass="entr" presetSubtype="4"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 calcmode="lin" valueType="num">
                                      <p:cBhvr additive="base">
                                        <p:cTn id="28" dur="500" fill="hold"/>
                                        <p:tgtEl>
                                          <p:spTgt spid="31"/>
                                        </p:tgtEl>
                                        <p:attrNameLst>
                                          <p:attrName>ppt_x</p:attrName>
                                        </p:attrNameLst>
                                      </p:cBhvr>
                                      <p:tavLst>
                                        <p:tav tm="0">
                                          <p:val>
                                            <p:strVal val="#ppt_x"/>
                                          </p:val>
                                        </p:tav>
                                        <p:tav tm="100000">
                                          <p:val>
                                            <p:strVal val="#ppt_x"/>
                                          </p:val>
                                        </p:tav>
                                      </p:tavLst>
                                    </p:anim>
                                    <p:anim calcmode="lin" valueType="num">
                                      <p:cBhvr additive="base">
                                        <p:cTn id="29"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25" grpId="0" animBg="1"/>
      <p:bldP spid="2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13"/>
          <p:cNvSpPr>
            <a:spLocks noChangeArrowheads="1"/>
          </p:cNvSpPr>
          <p:nvPr/>
        </p:nvSpPr>
        <p:spPr bwMode="gray">
          <a:xfrm>
            <a:off x="614680" y="168783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52298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2" name="组合 31"/>
          <p:cNvGrpSpPr/>
          <p:nvPr/>
        </p:nvGrpSpPr>
        <p:grpSpPr>
          <a:xfrm>
            <a:off x="456743" y="1815465"/>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1．输入重定向符</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7" name="矩形 6"/>
          <p:cNvSpPr/>
          <p:nvPr/>
        </p:nvSpPr>
        <p:spPr>
          <a:xfrm>
            <a:off x="7383145" y="2534285"/>
            <a:ext cx="4179570" cy="3162935"/>
          </a:xfrm>
          <a:prstGeom prst="rect">
            <a:avLst/>
          </a:prstGeom>
        </p:spPr>
        <p:txBody>
          <a:bodyPr wrap="square">
            <a:spAutoFit/>
          </a:bodyPr>
          <a:lstStyle/>
          <a:p>
            <a:pPr indent="457200" eaLnBrk="1" latinLnBrk="0" hangingPunct="1">
              <a:lnSpc>
                <a:spcPct val="16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例如，有一个可执行的程序score，其源程序用C语言编写，为了输入数据，使用了scanf函数调用语句。如果所需数据（如成绩表）预先已录入到一个文件infile中，那么就可以让score执行时直接从文件infile中读取相应的数据，而不必交互式地从键盘上输入。</a:t>
            </a:r>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2859" y="2612934"/>
            <a:ext cx="5415162" cy="3211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直接连接符 2"/>
          <p:cNvCxnSpPr/>
          <p:nvPr/>
        </p:nvCxnSpPr>
        <p:spPr>
          <a:xfrm>
            <a:off x="7551008" y="5897402"/>
            <a:ext cx="3024336" cy="0"/>
          </a:xfrm>
          <a:prstGeom prst="line">
            <a:avLst/>
          </a:prstGeom>
        </p:spPr>
        <p:style>
          <a:lnRef idx="1">
            <a:schemeClr val="accent6"/>
          </a:lnRef>
          <a:fillRef idx="0">
            <a:schemeClr val="accent6"/>
          </a:fillRef>
          <a:effectRef idx="0">
            <a:schemeClr val="accent6"/>
          </a:effectRef>
          <a:fontRef idx="minor">
            <a:schemeClr val="tx1"/>
          </a:fontRef>
        </p:style>
      </p:cxnSp>
      <p:grpSp>
        <p:nvGrpSpPr>
          <p:cNvPr id="4" name="组合 3"/>
          <p:cNvGrpSpPr/>
          <p:nvPr/>
        </p:nvGrpSpPr>
        <p:grpSpPr>
          <a:xfrm>
            <a:off x="10150655" y="5682183"/>
            <a:ext cx="396480" cy="141984"/>
            <a:chOff x="1077144" y="1439285"/>
            <a:chExt cx="396480" cy="141984"/>
          </a:xfrm>
          <a:solidFill>
            <a:srgbClr val="FF6600"/>
          </a:solidFill>
        </p:grpSpPr>
        <p:sp>
          <p:nvSpPr>
            <p:cNvPr id="11" name="燕尾形 10"/>
            <p:cNvSpPr/>
            <p:nvPr/>
          </p:nvSpPr>
          <p:spPr>
            <a:xfrm>
              <a:off x="1077144" y="1439285"/>
              <a:ext cx="141984" cy="14198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1204392" y="1439285"/>
              <a:ext cx="141984" cy="14198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p:nvSpPr>
          <p:spPr>
            <a:xfrm>
              <a:off x="1331640" y="1439285"/>
              <a:ext cx="141984" cy="141984"/>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6" name="组合 5"/>
          <p:cNvGrpSpPr/>
          <p:nvPr/>
        </p:nvGrpSpPr>
        <p:grpSpPr>
          <a:xfrm>
            <a:off x="3389617" y="1810385"/>
            <a:ext cx="8211482" cy="580390"/>
            <a:chOff x="2814" y="3395"/>
            <a:chExt cx="12560" cy="914"/>
          </a:xfrm>
        </p:grpSpPr>
        <p:sp>
          <p:nvSpPr>
            <p:cNvPr id="8" name="Text Box 44"/>
            <p:cNvSpPr txBox="1">
              <a:spLocks noChangeArrowheads="1"/>
            </p:cNvSpPr>
            <p:nvPr/>
          </p:nvSpPr>
          <p:spPr bwMode="auto">
            <a:xfrm>
              <a:off x="2814" y="3395"/>
              <a:ext cx="4816"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执行score的命令行可以是：</a:t>
              </a:r>
            </a:p>
          </p:txBody>
        </p:sp>
        <p:grpSp>
          <p:nvGrpSpPr>
            <p:cNvPr id="14" name="组合 13"/>
            <p:cNvGrpSpPr/>
            <p:nvPr/>
          </p:nvGrpSpPr>
          <p:grpSpPr>
            <a:xfrm>
              <a:off x="7983" y="3403"/>
              <a:ext cx="7391" cy="906"/>
              <a:chOff x="5106" y="4708"/>
              <a:chExt cx="7391" cy="906"/>
            </a:xfrm>
          </p:grpSpPr>
          <p:sp>
            <p:nvSpPr>
              <p:cNvPr id="20" name="流程图: 过程 19"/>
              <p:cNvSpPr/>
              <p:nvPr/>
            </p:nvSpPr>
            <p:spPr>
              <a:xfrm>
                <a:off x="5106" y="4739"/>
                <a:ext cx="739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1" name="文本框 20"/>
              <p:cNvSpPr txBox="1"/>
              <p:nvPr/>
            </p:nvSpPr>
            <p:spPr>
              <a:xfrm>
                <a:off x="5106" y="4708"/>
                <a:ext cx="7017"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pro]$score &lt;infile</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childTnLst>
                          </p:cTn>
                        </p:par>
                        <p:par>
                          <p:cTn id="10" fill="hold">
                            <p:stCondLst>
                              <p:cond delay="1000"/>
                            </p:stCondLst>
                            <p:childTnLst>
                              <p:par>
                                <p:cTn id="11" presetID="45"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0"/>
                                        <p:tgtEl>
                                          <p:spTgt spid="7"/>
                                        </p:tgtEl>
                                      </p:cBhvr>
                                    </p:animEffect>
                                    <p:anim calcmode="lin" valueType="num">
                                      <p:cBhvr>
                                        <p:cTn id="14" dur="2000" fill="hold"/>
                                        <p:tgtEl>
                                          <p:spTgt spid="7"/>
                                        </p:tgtEl>
                                        <p:attrNameLst>
                                          <p:attrName>ppt_w</p:attrName>
                                        </p:attrNameLst>
                                      </p:cBhvr>
                                      <p:tavLst>
                                        <p:tav tm="0" fmla="#ppt_w*sin(2.5*pi*$)">
                                          <p:val>
                                            <p:fltVal val="0"/>
                                          </p:val>
                                        </p:tav>
                                        <p:tav tm="100000">
                                          <p:val>
                                            <p:fltVal val="1"/>
                                          </p:val>
                                        </p:tav>
                                      </p:tavLst>
                                    </p:anim>
                                    <p:anim calcmode="lin" valueType="num">
                                      <p:cBhvr>
                                        <p:cTn id="15" dur="2000" fill="hold"/>
                                        <p:tgtEl>
                                          <p:spTgt spid="7"/>
                                        </p:tgtEl>
                                        <p:attrNameLst>
                                          <p:attrName>ppt_h</p:attrName>
                                        </p:attrNameLst>
                                      </p:cBhvr>
                                      <p:tavLst>
                                        <p:tav tm="0">
                                          <p:val>
                                            <p:strVal val="#ppt_h"/>
                                          </p:val>
                                        </p:tav>
                                        <p:tav tm="100000">
                                          <p:val>
                                            <p:strVal val="#ppt_h"/>
                                          </p:val>
                                        </p:tav>
                                      </p:tavLst>
                                    </p:anim>
                                  </p:childTnLst>
                                </p:cTn>
                              </p:par>
                              <p:par>
                                <p:cTn id="16" presetID="45" presetClass="entr" presetSubtype="0" fill="hold" nodeType="withEffect">
                                  <p:stCondLst>
                                    <p:cond delay="0"/>
                                  </p:stCondLst>
                                  <p:childTnLst>
                                    <p:set>
                                      <p:cBhvr>
                                        <p:cTn id="17" dur="1" fill="hold">
                                          <p:stCondLst>
                                            <p:cond delay="0"/>
                                          </p:stCondLst>
                                        </p:cTn>
                                        <p:tgtEl>
                                          <p:spTgt spid="7170"/>
                                        </p:tgtEl>
                                        <p:attrNameLst>
                                          <p:attrName>style.visibility</p:attrName>
                                        </p:attrNameLst>
                                      </p:cBhvr>
                                      <p:to>
                                        <p:strVal val="visible"/>
                                      </p:to>
                                    </p:set>
                                    <p:animEffect transition="in" filter="fade">
                                      <p:cBhvr>
                                        <p:cTn id="18" dur="2000"/>
                                        <p:tgtEl>
                                          <p:spTgt spid="7170"/>
                                        </p:tgtEl>
                                      </p:cBhvr>
                                    </p:animEffect>
                                    <p:anim calcmode="lin" valueType="num">
                                      <p:cBhvr>
                                        <p:cTn id="19" dur="2000" fill="hold"/>
                                        <p:tgtEl>
                                          <p:spTgt spid="7170"/>
                                        </p:tgtEl>
                                        <p:attrNameLst>
                                          <p:attrName>ppt_w</p:attrName>
                                        </p:attrNameLst>
                                      </p:cBhvr>
                                      <p:tavLst>
                                        <p:tav tm="0" fmla="#ppt_w*sin(2.5*pi*$)">
                                          <p:val>
                                            <p:fltVal val="0"/>
                                          </p:val>
                                        </p:tav>
                                        <p:tav tm="100000">
                                          <p:val>
                                            <p:fltVal val="1"/>
                                          </p:val>
                                        </p:tav>
                                      </p:tavLst>
                                    </p:anim>
                                    <p:anim calcmode="lin" valueType="num">
                                      <p:cBhvr>
                                        <p:cTn id="20" dur="2000" fill="hold"/>
                                        <p:tgtEl>
                                          <p:spTgt spid="7170"/>
                                        </p:tgtEl>
                                        <p:attrNameLst>
                                          <p:attrName>ppt_h</p:attrName>
                                        </p:attrNameLst>
                                      </p:cBhvr>
                                      <p:tavLst>
                                        <p:tav tm="0">
                                          <p:val>
                                            <p:strVal val="#ppt_h"/>
                                          </p:val>
                                        </p:tav>
                                        <p:tav tm="100000">
                                          <p:val>
                                            <p:strVal val="#ppt_h"/>
                                          </p:val>
                                        </p:tav>
                                      </p:tavLst>
                                    </p:anim>
                                  </p:childTnLst>
                                </p:cTn>
                              </p:par>
                              <p:par>
                                <p:cTn id="21" presetID="45"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2000"/>
                                        <p:tgtEl>
                                          <p:spTgt spid="3"/>
                                        </p:tgtEl>
                                      </p:cBhvr>
                                    </p:animEffect>
                                    <p:anim calcmode="lin" valueType="num">
                                      <p:cBhvr>
                                        <p:cTn id="24" dur="2000" fill="hold"/>
                                        <p:tgtEl>
                                          <p:spTgt spid="3"/>
                                        </p:tgtEl>
                                        <p:attrNameLst>
                                          <p:attrName>ppt_w</p:attrName>
                                        </p:attrNameLst>
                                      </p:cBhvr>
                                      <p:tavLst>
                                        <p:tav tm="0" fmla="#ppt_w*sin(2.5*pi*$)">
                                          <p:val>
                                            <p:fltVal val="0"/>
                                          </p:val>
                                        </p:tav>
                                        <p:tav tm="100000">
                                          <p:val>
                                            <p:fltVal val="1"/>
                                          </p:val>
                                        </p:tav>
                                      </p:tavLst>
                                    </p:anim>
                                    <p:anim calcmode="lin" valueType="num">
                                      <p:cBhvr>
                                        <p:cTn id="25" dur="2000" fill="hold"/>
                                        <p:tgtEl>
                                          <p:spTgt spid="3"/>
                                        </p:tgtEl>
                                        <p:attrNameLst>
                                          <p:attrName>ppt_h</p:attrName>
                                        </p:attrNameLst>
                                      </p:cBhvr>
                                      <p:tavLst>
                                        <p:tav tm="0">
                                          <p:val>
                                            <p:strVal val="#ppt_h"/>
                                          </p:val>
                                        </p:tav>
                                        <p:tav tm="100000">
                                          <p:val>
                                            <p:strVal val="#ppt_h"/>
                                          </p:val>
                                        </p:tav>
                                      </p:tavLst>
                                    </p:anim>
                                  </p:childTnLst>
                                </p:cTn>
                              </p:par>
                              <p:par>
                                <p:cTn id="26" presetID="45" presetClass="entr" presetSubtype="0"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2000"/>
                                        <p:tgtEl>
                                          <p:spTgt spid="4"/>
                                        </p:tgtEl>
                                      </p:cBhvr>
                                    </p:animEffect>
                                    <p:anim calcmode="lin" valueType="num">
                                      <p:cBhvr>
                                        <p:cTn id="29" dur="2000" fill="hold"/>
                                        <p:tgtEl>
                                          <p:spTgt spid="4"/>
                                        </p:tgtEl>
                                        <p:attrNameLst>
                                          <p:attrName>ppt_w</p:attrName>
                                        </p:attrNameLst>
                                      </p:cBhvr>
                                      <p:tavLst>
                                        <p:tav tm="0" fmla="#ppt_w*sin(2.5*pi*$)">
                                          <p:val>
                                            <p:fltVal val="0"/>
                                          </p:val>
                                        </p:tav>
                                        <p:tav tm="100000">
                                          <p:val>
                                            <p:fltVal val="1"/>
                                          </p:val>
                                        </p:tav>
                                      </p:tavLst>
                                    </p:anim>
                                    <p:anim calcmode="lin" valueType="num">
                                      <p:cBhvr>
                                        <p:cTn id="30"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753110" y="3482975"/>
            <a:ext cx="10920730" cy="2860040"/>
            <a:chOff x="1186" y="5485"/>
            <a:chExt cx="17198" cy="4504"/>
          </a:xfrm>
        </p:grpSpPr>
        <p:grpSp>
          <p:nvGrpSpPr>
            <p:cNvPr id="6" name="组合 14"/>
            <p:cNvGrpSpPr/>
            <p:nvPr/>
          </p:nvGrpSpPr>
          <p:grpSpPr bwMode="auto">
            <a:xfrm>
              <a:off x="1186" y="5485"/>
              <a:ext cx="17198" cy="4505"/>
              <a:chOff x="1166778" y="1786456"/>
              <a:chExt cx="9858444" cy="1973637"/>
            </a:xfrm>
          </p:grpSpPr>
          <p:grpSp>
            <p:nvGrpSpPr>
              <p:cNvPr id="7" name="组合 12"/>
              <p:cNvGrpSpPr/>
              <p:nvPr/>
            </p:nvGrpSpPr>
            <p:grpSpPr bwMode="auto">
              <a:xfrm>
                <a:off x="1166778" y="1786456"/>
                <a:ext cx="9858444" cy="1973637"/>
                <a:chOff x="1166778" y="1786456"/>
                <a:chExt cx="9858444" cy="1973637"/>
              </a:xfrm>
            </p:grpSpPr>
            <p:sp>
              <p:nvSpPr>
                <p:cNvPr id="8" name="矩形 7"/>
                <p:cNvSpPr/>
                <p:nvPr/>
              </p:nvSpPr>
              <p:spPr>
                <a:xfrm>
                  <a:off x="1166778" y="1786456"/>
                  <a:ext cx="9858444" cy="1973637"/>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1" name="矩形 6"/>
                <p:cNvSpPr>
                  <a:spLocks noChangeArrowheads="1"/>
                </p:cNvSpPr>
                <p:nvPr/>
              </p:nvSpPr>
              <p:spPr bwMode="auto">
                <a:xfrm>
                  <a:off x="1166778" y="1786802"/>
                  <a:ext cx="9856724" cy="31543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例如，在一个文件example3中包含以下命令：</a:t>
                  </a:r>
                </a:p>
              </p:txBody>
            </p:sp>
          </p:grpSp>
          <p:sp>
            <p:nvSpPr>
              <p:cNvPr id="12" name="MH_Text_1"/>
              <p:cNvSpPr txBox="1">
                <a:spLocks noChangeArrowheads="1"/>
              </p:cNvSpPr>
              <p:nvPr>
                <p:custDataLst>
                  <p:tags r:id="rId4"/>
                </p:custDataLst>
              </p:nvPr>
            </p:nvSpPr>
            <p:spPr bwMode="auto">
              <a:xfrm>
                <a:off x="1338174" y="2145259"/>
                <a:ext cx="4609932" cy="731626"/>
              </a:xfrm>
              <a:prstGeom prst="rect">
                <a:avLst/>
              </a:prstGeom>
              <a:solidFill>
                <a:srgbClr val="F2F2F2"/>
              </a:solidFill>
              <a:ln w="9525">
                <a:noFill/>
                <a:miter lim="800000"/>
              </a:ln>
            </p:spPr>
            <p:txBody>
              <a:bodyPr/>
              <a:lstStyle/>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"your working directory is `pwd`" </a:t>
                </a:r>
              </a:p>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"your name is `logname`" </a:t>
                </a:r>
              </a:p>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"your time is `date`"</a:t>
                </a:r>
              </a:p>
            </p:txBody>
          </p:sp>
        </p:grpSp>
        <p:sp>
          <p:nvSpPr>
            <p:cNvPr id="14" name="矩形 6"/>
            <p:cNvSpPr>
              <a:spLocks noChangeArrowheads="1"/>
            </p:cNvSpPr>
            <p:nvPr/>
          </p:nvSpPr>
          <p:spPr bwMode="auto">
            <a:xfrm>
              <a:off x="1351" y="8182"/>
              <a:ext cx="8175"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然后输入：</a:t>
              </a:r>
            </a:p>
          </p:txBody>
        </p:sp>
        <p:sp>
          <p:nvSpPr>
            <p:cNvPr id="19" name="MH_Text_1"/>
            <p:cNvSpPr txBox="1">
              <a:spLocks noChangeArrowheads="1"/>
            </p:cNvSpPr>
            <p:nvPr>
              <p:custDataLst>
                <p:tags r:id="rId3"/>
              </p:custDataLst>
            </p:nvPr>
          </p:nvSpPr>
          <p:spPr bwMode="auto">
            <a:xfrm>
              <a:off x="1186" y="8902"/>
              <a:ext cx="8161" cy="904"/>
            </a:xfrm>
            <a:prstGeom prst="rect">
              <a:avLst/>
            </a:prstGeom>
            <a:solidFill>
              <a:srgbClr val="F2F2F2"/>
            </a:solidFill>
            <a:ln w="9525">
              <a:noFill/>
              <a:miter lim="800000"/>
            </a:ln>
          </p:spPr>
          <p:txBody>
            <a:bodyPr/>
            <a:lstStyle/>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pro]$bash &lt; example3</a:t>
              </a:r>
            </a:p>
          </p:txBody>
        </p:sp>
      </p:grpSp>
      <p:sp>
        <p:nvSpPr>
          <p:cNvPr id="2" name="AutoShape 13"/>
          <p:cNvSpPr>
            <a:spLocks noChangeArrowheads="1"/>
          </p:cNvSpPr>
          <p:nvPr/>
        </p:nvSpPr>
        <p:spPr bwMode="gray">
          <a:xfrm>
            <a:off x="614680" y="168783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411607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2" name="组合 31"/>
          <p:cNvGrpSpPr/>
          <p:nvPr/>
        </p:nvGrpSpPr>
        <p:grpSpPr>
          <a:xfrm>
            <a:off x="456743" y="1815465"/>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1．输入重定向符</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18" name="Text Box 44"/>
          <p:cNvSpPr txBox="1">
            <a:spLocks noChangeArrowheads="1"/>
          </p:cNvSpPr>
          <p:nvPr/>
        </p:nvSpPr>
        <p:spPr bwMode="auto">
          <a:xfrm>
            <a:off x="753110" y="2319655"/>
            <a:ext cx="10476865" cy="106680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如果程序所需输入数据较多或者会</a:t>
            </a:r>
            <a:r>
              <a:rPr lang="zh-CN" altLang="en-US" sz="2000" b="1" dirty="0">
                <a:solidFill>
                  <a:srgbClr val="0070C0"/>
                </a:solidFill>
              </a:rPr>
              <a:t>被反复执行</a:t>
            </a:r>
            <a:r>
              <a:rPr lang="zh-CN" altLang="en-US" sz="2000" dirty="0">
                <a:solidFill>
                  <a:schemeClr val="tx1">
                    <a:lumMod val="85000"/>
                    <a:lumOff val="15000"/>
                  </a:schemeClr>
                </a:solidFill>
              </a:rPr>
              <a:t>，那么采用输入重定向方式就很用。另外，需要经常执行的shell命令也可放进一个文件，并且让shell从该文件中读取这些命令。</a:t>
            </a:r>
          </a:p>
        </p:txBody>
      </p:sp>
      <p:grpSp>
        <p:nvGrpSpPr>
          <p:cNvPr id="13" name="组合 12"/>
          <p:cNvGrpSpPr/>
          <p:nvPr/>
        </p:nvGrpSpPr>
        <p:grpSpPr>
          <a:xfrm>
            <a:off x="753110" y="3482975"/>
            <a:ext cx="10920730" cy="2860675"/>
            <a:chOff x="1186" y="5485"/>
            <a:chExt cx="17198" cy="4505"/>
          </a:xfrm>
        </p:grpSpPr>
        <p:grpSp>
          <p:nvGrpSpPr>
            <p:cNvPr id="21" name="组合 20"/>
            <p:cNvGrpSpPr/>
            <p:nvPr/>
          </p:nvGrpSpPr>
          <p:grpSpPr>
            <a:xfrm>
              <a:off x="1186" y="5485"/>
              <a:ext cx="17198" cy="4505"/>
              <a:chOff x="1186" y="5485"/>
              <a:chExt cx="17198" cy="4505"/>
            </a:xfrm>
          </p:grpSpPr>
          <p:grpSp>
            <p:nvGrpSpPr>
              <p:cNvPr id="24" name="组合 14"/>
              <p:cNvGrpSpPr/>
              <p:nvPr/>
            </p:nvGrpSpPr>
            <p:grpSpPr bwMode="auto">
              <a:xfrm>
                <a:off x="1186" y="5485"/>
                <a:ext cx="17198" cy="4505"/>
                <a:chOff x="1166778" y="1786456"/>
                <a:chExt cx="9858444" cy="1973637"/>
              </a:xfrm>
            </p:grpSpPr>
            <p:grpSp>
              <p:nvGrpSpPr>
                <p:cNvPr id="50" name="组合 12"/>
                <p:cNvGrpSpPr/>
                <p:nvPr/>
              </p:nvGrpSpPr>
              <p:grpSpPr bwMode="auto">
                <a:xfrm>
                  <a:off x="1166778" y="1786456"/>
                  <a:ext cx="9858444" cy="1973637"/>
                  <a:chOff x="1166778" y="1786456"/>
                  <a:chExt cx="9858444" cy="1973637"/>
                </a:xfrm>
              </p:grpSpPr>
              <p:sp>
                <p:nvSpPr>
                  <p:cNvPr id="51" name="矩形 50"/>
                  <p:cNvSpPr/>
                  <p:nvPr/>
                </p:nvSpPr>
                <p:spPr>
                  <a:xfrm>
                    <a:off x="1166778" y="1786456"/>
                    <a:ext cx="9858444" cy="1973637"/>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1166778" y="1786802"/>
                    <a:ext cx="9856724" cy="31543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华康俪金黑W8(P)"/>
                        <a:ea typeface="华康俪金黑W8(P)"/>
                        <a:cs typeface="华康俪金黑W8(P)"/>
                      </a:rPr>
                      <a:t>例如</a:t>
                    </a:r>
                    <a:r>
                      <a:rPr lang="zh-CN" altLang="en-US" sz="2000" b="1">
                        <a:solidFill>
                          <a:srgbClr val="009900"/>
                        </a:solidFill>
                        <a:latin typeface="华康俪金黑W8(P)"/>
                        <a:ea typeface="华康俪金黑W8(P)"/>
                        <a:cs typeface="华康俪金黑W8(P)"/>
                      </a:rPr>
                      <a:t>，在一个文件example3中包含以下命令：</a:t>
                    </a:r>
                  </a:p>
                </p:txBody>
              </p:sp>
            </p:grpSp>
            <p:sp>
              <p:nvSpPr>
                <p:cNvPr id="53" name="MH_Text_1"/>
                <p:cNvSpPr txBox="1">
                  <a:spLocks noChangeArrowheads="1"/>
                </p:cNvSpPr>
                <p:nvPr>
                  <p:custDataLst>
                    <p:tags r:id="rId2"/>
                  </p:custDataLst>
                </p:nvPr>
              </p:nvSpPr>
              <p:spPr bwMode="auto">
                <a:xfrm>
                  <a:off x="1338174" y="2145259"/>
                  <a:ext cx="4609932" cy="731626"/>
                </a:xfrm>
                <a:prstGeom prst="rect">
                  <a:avLst/>
                </a:prstGeom>
                <a:solidFill>
                  <a:srgbClr val="F2F2F2"/>
                </a:solidFill>
                <a:ln w="9525">
                  <a:noFill/>
                  <a:miter lim="800000"/>
                </a:ln>
              </p:spPr>
              <p:txBody>
                <a:bodyPr/>
                <a:lstStyle/>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"your working directory is `pwd`" </a:t>
                  </a:r>
                </a:p>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"your name is `logname`" </a:t>
                  </a:r>
                </a:p>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"your time is `date`"</a:t>
                  </a:r>
                </a:p>
              </p:txBody>
            </p:sp>
          </p:grpSp>
          <p:sp>
            <p:nvSpPr>
              <p:cNvPr id="3" name="矩形 6"/>
              <p:cNvSpPr>
                <a:spLocks noChangeArrowheads="1"/>
              </p:cNvSpPr>
              <p:nvPr/>
            </p:nvSpPr>
            <p:spPr bwMode="auto">
              <a:xfrm>
                <a:off x="1351" y="8182"/>
                <a:ext cx="8175"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然后输入：</a:t>
                </a:r>
              </a:p>
            </p:txBody>
          </p:sp>
          <p:sp>
            <p:nvSpPr>
              <p:cNvPr id="4" name="MH_Text_1"/>
              <p:cNvSpPr txBox="1">
                <a:spLocks noChangeArrowheads="1"/>
              </p:cNvSpPr>
              <p:nvPr>
                <p:custDataLst>
                  <p:tags r:id="rId1"/>
                </p:custDataLst>
              </p:nvPr>
            </p:nvSpPr>
            <p:spPr bwMode="auto">
              <a:xfrm>
                <a:off x="1186" y="8902"/>
                <a:ext cx="8161" cy="904"/>
              </a:xfrm>
              <a:prstGeom prst="rect">
                <a:avLst/>
              </a:prstGeom>
              <a:solidFill>
                <a:srgbClr val="F2F2F2"/>
              </a:solidFill>
              <a:ln w="9525">
                <a:noFill/>
                <a:miter lim="800000"/>
              </a:ln>
            </p:spPr>
            <p:txBody>
              <a:bodyPr/>
              <a:lstStyle/>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pro]$bash &lt; example3</a:t>
                </a:r>
              </a:p>
            </p:txBody>
          </p:sp>
        </p:grpSp>
        <p:sp>
          <p:nvSpPr>
            <p:cNvPr id="5" name="Text Box 44"/>
            <p:cNvSpPr txBox="1">
              <a:spLocks noChangeArrowheads="1"/>
            </p:cNvSpPr>
            <p:nvPr/>
          </p:nvSpPr>
          <p:spPr bwMode="auto">
            <a:xfrm>
              <a:off x="9977" y="6514"/>
              <a:ext cx="8118" cy="244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shell命令解释程序将从文件example3中读取命令行，并加以执行。这正是前面所说的执行shell脚本的一种方法。</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trips(downRight)">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93725" y="164465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9477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2" name="组合 31"/>
          <p:cNvGrpSpPr/>
          <p:nvPr/>
        </p:nvGrpSpPr>
        <p:grpSpPr>
          <a:xfrm>
            <a:off x="456743" y="1815465"/>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2．输出重定向符</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grpSp>
        <p:nvGrpSpPr>
          <p:cNvPr id="24" name="组合 14"/>
          <p:cNvGrpSpPr/>
          <p:nvPr/>
        </p:nvGrpSpPr>
        <p:grpSpPr bwMode="auto">
          <a:xfrm>
            <a:off x="675005" y="4686935"/>
            <a:ext cx="5634355" cy="1641475"/>
            <a:chOff x="1166778" y="1786456"/>
            <a:chExt cx="9858444" cy="1973637"/>
          </a:xfrm>
        </p:grpSpPr>
        <p:grpSp>
          <p:nvGrpSpPr>
            <p:cNvPr id="50" name="组合 12"/>
            <p:cNvGrpSpPr/>
            <p:nvPr/>
          </p:nvGrpSpPr>
          <p:grpSpPr bwMode="auto">
            <a:xfrm>
              <a:off x="1166778" y="1786456"/>
              <a:ext cx="9858444" cy="1973637"/>
              <a:chOff x="1166778" y="1786456"/>
              <a:chExt cx="9858444" cy="1973637"/>
            </a:xfrm>
          </p:grpSpPr>
          <p:sp>
            <p:nvSpPr>
              <p:cNvPr id="51" name="矩形 50"/>
              <p:cNvSpPr/>
              <p:nvPr/>
            </p:nvSpPr>
            <p:spPr>
              <a:xfrm>
                <a:off x="1166778" y="1786456"/>
                <a:ext cx="9858444" cy="1973637"/>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1166778" y="1786802"/>
                <a:ext cx="9856724" cy="98949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其中，文件名可以是普通文件名，也可以是对应于I/O设备的特别文件名，如打印机。例如：</a:t>
                </a:r>
              </a:p>
            </p:txBody>
          </p:sp>
        </p:grpSp>
        <p:sp>
          <p:nvSpPr>
            <p:cNvPr id="53" name="MH_Text_1"/>
            <p:cNvSpPr txBox="1">
              <a:spLocks noChangeArrowheads="1"/>
            </p:cNvSpPr>
            <p:nvPr>
              <p:custDataLst>
                <p:tags r:id="rId2"/>
              </p:custDataLst>
            </p:nvPr>
          </p:nvSpPr>
          <p:spPr bwMode="auto">
            <a:xfrm>
              <a:off x="1257891" y="2882181"/>
              <a:ext cx="8514060" cy="594939"/>
            </a:xfrm>
            <a:prstGeom prst="rect">
              <a:avLst/>
            </a:prstGeom>
            <a:solidFill>
              <a:srgbClr val="F2F2F2"/>
            </a:solidFill>
            <a:ln w="9525">
              <a:noFill/>
              <a:miter lim="800000"/>
            </a:ln>
          </p:spPr>
          <p:txBody>
            <a:bodyPr/>
            <a:lstStyle/>
            <a:p>
              <a:pPr indent="0"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pro]$who &gt;outfile</a:t>
              </a:r>
            </a:p>
          </p:txBody>
        </p:sp>
      </p:grpSp>
      <p:grpSp>
        <p:nvGrpSpPr>
          <p:cNvPr id="13" name="组合 12"/>
          <p:cNvGrpSpPr/>
          <p:nvPr/>
        </p:nvGrpSpPr>
        <p:grpSpPr>
          <a:xfrm>
            <a:off x="3306714" y="1751330"/>
            <a:ext cx="5017111" cy="633095"/>
            <a:chOff x="1037" y="3633"/>
            <a:chExt cx="7674" cy="997"/>
          </a:xfrm>
        </p:grpSpPr>
        <p:sp>
          <p:nvSpPr>
            <p:cNvPr id="45" name="Text Box 44"/>
            <p:cNvSpPr txBox="1">
              <a:spLocks noChangeArrowheads="1"/>
            </p:cNvSpPr>
            <p:nvPr/>
          </p:nvSpPr>
          <p:spPr bwMode="auto">
            <a:xfrm>
              <a:off x="1037" y="3790"/>
              <a:ext cx="4816"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输出重定向的一般形式：</a:t>
              </a:r>
            </a:p>
          </p:txBody>
        </p:sp>
        <p:grpSp>
          <p:nvGrpSpPr>
            <p:cNvPr id="15" name="组合 14"/>
            <p:cNvGrpSpPr/>
            <p:nvPr/>
          </p:nvGrpSpPr>
          <p:grpSpPr>
            <a:xfrm>
              <a:off x="5594" y="3633"/>
              <a:ext cx="3117" cy="997"/>
              <a:chOff x="2717" y="4938"/>
              <a:chExt cx="3117" cy="997"/>
            </a:xfrm>
          </p:grpSpPr>
          <p:sp>
            <p:nvSpPr>
              <p:cNvPr id="16" name="流程图: 过程 15"/>
              <p:cNvSpPr/>
              <p:nvPr/>
            </p:nvSpPr>
            <p:spPr>
              <a:xfrm>
                <a:off x="2717" y="5060"/>
                <a:ext cx="3103"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7" name="文本框 16"/>
              <p:cNvSpPr txBox="1"/>
              <p:nvPr/>
            </p:nvSpPr>
            <p:spPr>
              <a:xfrm>
                <a:off x="2924" y="4938"/>
                <a:ext cx="2910"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命令&gt;文件名</a:t>
                </a:r>
              </a:p>
            </p:txBody>
          </p:sp>
        </p:grpSp>
      </p:grpSp>
      <p:grpSp>
        <p:nvGrpSpPr>
          <p:cNvPr id="27" name="组合 14"/>
          <p:cNvGrpSpPr/>
          <p:nvPr/>
        </p:nvGrpSpPr>
        <p:grpSpPr bwMode="auto">
          <a:xfrm>
            <a:off x="6570345" y="2665095"/>
            <a:ext cx="5101590" cy="3678555"/>
            <a:chOff x="1166778" y="1786456"/>
            <a:chExt cx="9858444" cy="1973637"/>
          </a:xfrm>
        </p:grpSpPr>
        <p:grpSp>
          <p:nvGrpSpPr>
            <p:cNvPr id="28" name="组合 12"/>
            <p:cNvGrpSpPr/>
            <p:nvPr/>
          </p:nvGrpSpPr>
          <p:grpSpPr bwMode="auto">
            <a:xfrm>
              <a:off x="1166778" y="1786456"/>
              <a:ext cx="9858444" cy="1973637"/>
              <a:chOff x="1166778" y="1786456"/>
              <a:chExt cx="9858444" cy="1973637"/>
            </a:xfrm>
          </p:grpSpPr>
          <p:sp>
            <p:nvSpPr>
              <p:cNvPr id="29" name="矩形 28"/>
              <p:cNvSpPr/>
              <p:nvPr/>
            </p:nvSpPr>
            <p:spPr>
              <a:xfrm>
                <a:off x="1166778" y="1786456"/>
                <a:ext cx="9858444" cy="1973637"/>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0" name="矩形 6"/>
              <p:cNvSpPr>
                <a:spLocks noChangeArrowheads="1"/>
              </p:cNvSpPr>
              <p:nvPr/>
            </p:nvSpPr>
            <p:spPr bwMode="auto">
              <a:xfrm>
                <a:off x="1166778" y="1786802"/>
                <a:ext cx="9856724" cy="622447"/>
              </a:xfrm>
              <a:prstGeom prst="rect">
                <a:avLst/>
              </a:prstGeom>
              <a:noFill/>
              <a:ln w="9525">
                <a:noFill/>
                <a:miter lim="800000"/>
              </a:ln>
            </p:spPr>
            <p:txBody>
              <a:bodyPr wrap="square">
                <a:spAutoFit/>
              </a:bodyPr>
              <a:lstStyle/>
              <a:p>
                <a:pPr>
                  <a:lnSpc>
                    <a:spcPct val="130000"/>
                  </a:lnSpc>
                  <a:spcAft>
                    <a:spcPts val="500"/>
                  </a:spcAft>
                  <a:buFont typeface="Arial" panose="020B0604020202020204" pitchFamily="34" charset="0"/>
                  <a:buNone/>
                </a:pPr>
                <a:r>
                  <a:rPr lang="zh-CN" altLang="en-US" sz="1800" b="1">
                    <a:solidFill>
                      <a:srgbClr val="009900"/>
                    </a:solidFill>
                    <a:latin typeface="华康俪金黑W8(P)"/>
                    <a:ea typeface="华康俪金黑W8(P)"/>
                    <a:cs typeface="华康俪金黑W8(P)"/>
                  </a:rPr>
                  <a:t>命令who的输出重新定向到outfile文件中，在屏幕上看不到who的执行结果。查看outfile文件的内容，就可以得到who命令的输出信息。</a:t>
                </a:r>
              </a:p>
            </p:txBody>
          </p:sp>
        </p:grpSp>
        <p:sp>
          <p:nvSpPr>
            <p:cNvPr id="31" name="MH_Text_1"/>
            <p:cNvSpPr txBox="1">
              <a:spLocks noChangeArrowheads="1"/>
            </p:cNvSpPr>
            <p:nvPr>
              <p:custDataLst>
                <p:tags r:id="rId1"/>
              </p:custDataLst>
            </p:nvPr>
          </p:nvSpPr>
          <p:spPr bwMode="auto">
            <a:xfrm>
              <a:off x="1293168" y="2387870"/>
              <a:ext cx="9485409" cy="1319373"/>
            </a:xfrm>
            <a:prstGeom prst="rect">
              <a:avLst/>
            </a:prstGeom>
            <a:solidFill>
              <a:srgbClr val="F2F2F2"/>
            </a:solidFill>
            <a:ln w="9525">
              <a:noFill/>
              <a:miter lim="800000"/>
            </a:ln>
          </p:spPr>
          <p:txBody>
            <a:bodyPr/>
            <a:lstStyle/>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pro]$cat  outfile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 tty1    jan 31 10:06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root tty2    jan 31 10:25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wxy tty3    jan 31 10:25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test tty5    jan 31 10:26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root :0      jan 31 09:46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root pts/0   jan 31 09:06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root pts/1   jan 31 10:12</a:t>
              </a:r>
              <a:r>
                <a:rPr lang="zh-CN" altLang="en-US" sz="1600" b="1" dirty="0">
                  <a:solidFill>
                    <a:srgbClr val="0070C0"/>
                  </a:solidFill>
                  <a:latin typeface="微软雅黑" panose="020B0503020204020204" pitchFamily="34" charset="-122"/>
                  <a:ea typeface="微软雅黑" panose="020B0503020204020204" pitchFamily="34" charset="-122"/>
                  <a:sym typeface="+mn-ea"/>
                </a:rPr>
                <a:t> </a:t>
              </a:r>
            </a:p>
          </p:txBody>
        </p:sp>
      </p:grpSp>
      <p:sp>
        <p:nvSpPr>
          <p:cNvPr id="4" name="圆角矩形 3"/>
          <p:cNvSpPr/>
          <p:nvPr/>
        </p:nvSpPr>
        <p:spPr>
          <a:xfrm>
            <a:off x="749300" y="2515235"/>
            <a:ext cx="5560060" cy="190182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输出重定向符“&gt;”的作用是将命令（或可执行程序）的标准输出</a:t>
            </a:r>
            <a:r>
              <a:rPr lang="zh-CN" altLang="en-US" sz="2000" b="1" dirty="0">
                <a:solidFill>
                  <a:srgbClr val="0070C0"/>
                </a:solidFill>
                <a:latin typeface="微软雅黑" panose="020B0503020204020204" pitchFamily="34" charset="-122"/>
                <a:ea typeface="微软雅黑" panose="020B0503020204020204" pitchFamily="34" charset="-122"/>
                <a:sym typeface="+mn-ea"/>
              </a:rPr>
              <a:t>重新定向到指定文件</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。这样，该命令的输出就不在屏幕上显示，而是写入到指定文件中。</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strips(downRight)">
                                      <p:cBhvr>
                                        <p:cTn id="16" dur="500"/>
                                        <p:tgtEl>
                                          <p:spTgt spid="24"/>
                                        </p:tgtEl>
                                      </p:cBhvr>
                                    </p:animEffect>
                                  </p:childTnLst>
                                </p:cTn>
                              </p:par>
                              <p:par>
                                <p:cTn id="17" presetID="18" presetClass="entr" presetSubtype="6"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strips(downRight)">
                                      <p:cBhvr>
                                        <p:cTn id="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614680" y="156591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405511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2" name="组合 31"/>
          <p:cNvGrpSpPr/>
          <p:nvPr/>
        </p:nvGrpSpPr>
        <p:grpSpPr>
          <a:xfrm>
            <a:off x="456743" y="1815465"/>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2．输出重定向符</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grpSp>
        <p:nvGrpSpPr>
          <p:cNvPr id="6" name="组合 5"/>
          <p:cNvGrpSpPr/>
          <p:nvPr/>
        </p:nvGrpSpPr>
        <p:grpSpPr>
          <a:xfrm>
            <a:off x="784860" y="2376805"/>
            <a:ext cx="10816617" cy="3989705"/>
            <a:chOff x="1236" y="3743"/>
            <a:chExt cx="17034" cy="6283"/>
          </a:xfrm>
        </p:grpSpPr>
        <p:grpSp>
          <p:nvGrpSpPr>
            <p:cNvPr id="5" name="组合 4"/>
            <p:cNvGrpSpPr/>
            <p:nvPr/>
          </p:nvGrpSpPr>
          <p:grpSpPr>
            <a:xfrm>
              <a:off x="1236" y="3743"/>
              <a:ext cx="17034" cy="6283"/>
              <a:chOff x="1351" y="3708"/>
              <a:chExt cx="16336" cy="6283"/>
            </a:xfrm>
          </p:grpSpPr>
          <p:grpSp>
            <p:nvGrpSpPr>
              <p:cNvPr id="21" name="组合 14"/>
              <p:cNvGrpSpPr/>
              <p:nvPr/>
            </p:nvGrpSpPr>
            <p:grpSpPr bwMode="auto">
              <a:xfrm>
                <a:off x="1351" y="3708"/>
                <a:ext cx="16176" cy="6283"/>
                <a:chOff x="1166778" y="1786456"/>
                <a:chExt cx="9858444" cy="1973637"/>
              </a:xfrm>
            </p:grpSpPr>
            <p:grpSp>
              <p:nvGrpSpPr>
                <p:cNvPr id="22" name="组合 12"/>
                <p:cNvGrpSpPr/>
                <p:nvPr/>
              </p:nvGrpSpPr>
              <p:grpSpPr bwMode="auto">
                <a:xfrm>
                  <a:off x="1166778" y="1786456"/>
                  <a:ext cx="9858444" cy="1973637"/>
                  <a:chOff x="1166778" y="1786456"/>
                  <a:chExt cx="9858444" cy="1973637"/>
                </a:xfrm>
              </p:grpSpPr>
              <p:sp>
                <p:nvSpPr>
                  <p:cNvPr id="23" name="矩形 22"/>
                  <p:cNvSpPr/>
                  <p:nvPr/>
                </p:nvSpPr>
                <p:spPr>
                  <a:xfrm>
                    <a:off x="1166778" y="1786456"/>
                    <a:ext cx="9858444" cy="1973637"/>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5" name="矩形 6"/>
                  <p:cNvSpPr>
                    <a:spLocks noChangeArrowheads="1"/>
                  </p:cNvSpPr>
                  <p:nvPr/>
                </p:nvSpPr>
                <p:spPr bwMode="auto">
                  <a:xfrm>
                    <a:off x="1166778" y="1786823"/>
                    <a:ext cx="5586208" cy="40710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华康俪金黑W8(P)"/>
                        <a:ea typeface="华康俪金黑W8(P)"/>
                        <a:cs typeface="华康俪金黑W8(P)"/>
                      </a:rPr>
                      <a:t>shell脚本的输出也可重新定向到指定文件。例如，有一可执行shell脚本example4，其内容如下：</a:t>
                    </a:r>
                  </a:p>
                </p:txBody>
              </p:sp>
            </p:grpSp>
            <p:sp>
              <p:nvSpPr>
                <p:cNvPr id="26" name="MH_Text_1"/>
                <p:cNvSpPr txBox="1">
                  <a:spLocks noChangeArrowheads="1"/>
                </p:cNvSpPr>
                <p:nvPr>
                  <p:custDataLst>
                    <p:tags r:id="rId2"/>
                  </p:custDataLst>
                </p:nvPr>
              </p:nvSpPr>
              <p:spPr bwMode="auto">
                <a:xfrm>
                  <a:off x="1219190" y="2227486"/>
                  <a:ext cx="5341209" cy="525214"/>
                </a:xfrm>
                <a:prstGeom prst="rect">
                  <a:avLst/>
                </a:prstGeom>
                <a:solidFill>
                  <a:srgbClr val="F2F2F2"/>
                </a:solidFill>
                <a:ln w="9525">
                  <a:noFill/>
                  <a:miter lim="800000"/>
                </a:ln>
              </p:spPr>
              <p:txBody>
                <a:bodyPr/>
                <a:lstStyle/>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"The time is `date`"</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"Your name is `logname`"</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echo  "Working directory is `pwd`"</a:t>
                  </a:r>
                </a:p>
              </p:txBody>
            </p:sp>
          </p:grpSp>
          <p:sp>
            <p:nvSpPr>
              <p:cNvPr id="3" name="矩形 6"/>
              <p:cNvSpPr>
                <a:spLocks noChangeArrowheads="1"/>
              </p:cNvSpPr>
              <p:nvPr/>
            </p:nvSpPr>
            <p:spPr bwMode="auto">
              <a:xfrm>
                <a:off x="1514" y="6699"/>
                <a:ext cx="16173"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执行这个脚本：</a:t>
                </a:r>
              </a:p>
            </p:txBody>
          </p:sp>
          <p:sp>
            <p:nvSpPr>
              <p:cNvPr id="4" name="MH_Text_1"/>
              <p:cNvSpPr txBox="1">
                <a:spLocks noChangeArrowheads="1"/>
              </p:cNvSpPr>
              <p:nvPr>
                <p:custDataLst>
                  <p:tags r:id="rId1"/>
                </p:custDataLst>
              </p:nvPr>
            </p:nvSpPr>
            <p:spPr bwMode="auto">
              <a:xfrm>
                <a:off x="1442" y="7427"/>
                <a:ext cx="8759" cy="2326"/>
              </a:xfrm>
              <a:prstGeom prst="rect">
                <a:avLst/>
              </a:prstGeom>
              <a:solidFill>
                <a:srgbClr val="F2F2F2"/>
              </a:solidFill>
              <a:ln w="9525">
                <a:noFill/>
                <a:miter lim="800000"/>
              </a:ln>
            </p:spPr>
            <p:txBody>
              <a:bodyPr/>
              <a:lstStyle/>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pro]$example4 &gt; tmp1</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[Stu@localhost pro]$cat  tmp1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The time is  一  1月 31  16:30:00  CST  2005 </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Your name is Stu</a:t>
                </a:r>
              </a:p>
              <a:p>
                <a:pPr indent="0" eaLnBrk="1" latinLnBrk="0" hangingPunct="1">
                  <a:lnSpc>
                    <a:spcPct val="10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Working directory is /home/Stu/pro</a:t>
                </a:r>
              </a:p>
            </p:txBody>
          </p:sp>
        </p:grpSp>
        <p:sp>
          <p:nvSpPr>
            <p:cNvPr id="27" name="Text Box 44"/>
            <p:cNvSpPr txBox="1">
              <a:spLocks noChangeArrowheads="1"/>
            </p:cNvSpPr>
            <p:nvPr/>
          </p:nvSpPr>
          <p:spPr bwMode="auto">
            <a:xfrm>
              <a:off x="11161" y="5531"/>
              <a:ext cx="6870" cy="321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执行第一个命令行后，屏幕上没有显示任何信息。执行第二个命令行，将</a:t>
              </a:r>
              <a:r>
                <a:rPr lang="zh-CN" altLang="en-US" sz="2000" b="1" dirty="0">
                  <a:solidFill>
                    <a:srgbClr val="0070C0"/>
                  </a:solidFill>
                </a:rPr>
                <a:t>重定向</a:t>
              </a:r>
              <a:r>
                <a:rPr lang="zh-CN" altLang="en-US" sz="2000" dirty="0">
                  <a:solidFill>
                    <a:schemeClr val="tx1">
                      <a:lumMod val="85000"/>
                      <a:lumOff val="15000"/>
                    </a:schemeClr>
                  </a:solidFill>
                </a:rPr>
                <a:t>的目标文件显示出来，正是example4脚本的执行结果。</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614045" y="164211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415671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2" name="组合 31"/>
          <p:cNvGrpSpPr/>
          <p:nvPr/>
        </p:nvGrpSpPr>
        <p:grpSpPr>
          <a:xfrm>
            <a:off x="456565" y="1815465"/>
            <a:ext cx="28498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3．输出附加重定向符</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grpSp>
        <p:nvGrpSpPr>
          <p:cNvPr id="6" name="组合 5"/>
          <p:cNvGrpSpPr/>
          <p:nvPr/>
        </p:nvGrpSpPr>
        <p:grpSpPr>
          <a:xfrm>
            <a:off x="2672080" y="3584575"/>
            <a:ext cx="6197600" cy="1368425"/>
            <a:chOff x="1288" y="5485"/>
            <a:chExt cx="9760" cy="2155"/>
          </a:xfrm>
        </p:grpSpPr>
        <p:grpSp>
          <p:nvGrpSpPr>
            <p:cNvPr id="13" name="组合 12"/>
            <p:cNvGrpSpPr/>
            <p:nvPr/>
          </p:nvGrpSpPr>
          <p:grpSpPr>
            <a:xfrm>
              <a:off x="1288" y="5485"/>
              <a:ext cx="9604" cy="1001"/>
              <a:chOff x="1037" y="3664"/>
              <a:chExt cx="6898" cy="1001"/>
            </a:xfrm>
          </p:grpSpPr>
          <p:sp>
            <p:nvSpPr>
              <p:cNvPr id="45" name="Text Box 44"/>
              <p:cNvSpPr txBox="1">
                <a:spLocks noChangeArrowheads="1"/>
              </p:cNvSpPr>
              <p:nvPr/>
            </p:nvSpPr>
            <p:spPr bwMode="auto">
              <a:xfrm>
                <a:off x="1037" y="3790"/>
                <a:ext cx="4816"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输出附加重定向的一般形式：</a:t>
                </a:r>
              </a:p>
            </p:txBody>
          </p:sp>
          <p:grpSp>
            <p:nvGrpSpPr>
              <p:cNvPr id="15" name="组合 14"/>
              <p:cNvGrpSpPr/>
              <p:nvPr/>
            </p:nvGrpSpPr>
            <p:grpSpPr>
              <a:xfrm>
                <a:off x="4832" y="3664"/>
                <a:ext cx="3103" cy="1001"/>
                <a:chOff x="1955" y="4969"/>
                <a:chExt cx="3103" cy="1001"/>
              </a:xfrm>
            </p:grpSpPr>
            <p:sp>
              <p:nvSpPr>
                <p:cNvPr id="16" name="流程图: 过程 15"/>
                <p:cNvSpPr/>
                <p:nvPr/>
              </p:nvSpPr>
              <p:spPr>
                <a:xfrm>
                  <a:off x="1955" y="5095"/>
                  <a:ext cx="3103"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7" name="文本框 16"/>
                <p:cNvSpPr txBox="1"/>
                <p:nvPr/>
              </p:nvSpPr>
              <p:spPr>
                <a:xfrm>
                  <a:off x="2148" y="4969"/>
                  <a:ext cx="2910"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命令&gt;&gt;文件名</a:t>
                  </a:r>
                </a:p>
              </p:txBody>
            </p:sp>
          </p:grpSp>
        </p:grpSp>
        <p:grpSp>
          <p:nvGrpSpPr>
            <p:cNvPr id="3" name="组合 2"/>
            <p:cNvGrpSpPr/>
            <p:nvPr/>
          </p:nvGrpSpPr>
          <p:grpSpPr>
            <a:xfrm>
              <a:off x="1351" y="6765"/>
              <a:ext cx="9697" cy="875"/>
              <a:chOff x="1037" y="3790"/>
              <a:chExt cx="6965" cy="875"/>
            </a:xfrm>
          </p:grpSpPr>
          <p:sp>
            <p:nvSpPr>
              <p:cNvPr id="4" name="Text Box 44"/>
              <p:cNvSpPr txBox="1">
                <a:spLocks noChangeArrowheads="1"/>
              </p:cNvSpPr>
              <p:nvPr/>
            </p:nvSpPr>
            <p:spPr bwMode="auto">
              <a:xfrm>
                <a:off x="1037" y="3790"/>
                <a:ext cx="4816"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rgbClr val="009900"/>
                    </a:solidFill>
                  </a:rPr>
                  <a:t>例如：</a:t>
                </a:r>
              </a:p>
            </p:txBody>
          </p:sp>
          <p:grpSp>
            <p:nvGrpSpPr>
              <p:cNvPr id="5" name="组合 4"/>
              <p:cNvGrpSpPr/>
              <p:nvPr/>
            </p:nvGrpSpPr>
            <p:grpSpPr>
              <a:xfrm>
                <a:off x="2297" y="3790"/>
                <a:ext cx="5705" cy="875"/>
                <a:chOff x="-580" y="5095"/>
                <a:chExt cx="5705" cy="875"/>
              </a:xfrm>
            </p:grpSpPr>
            <p:sp>
              <p:nvSpPr>
                <p:cNvPr id="21" name="流程图: 过程 20"/>
                <p:cNvSpPr/>
                <p:nvPr/>
              </p:nvSpPr>
              <p:spPr>
                <a:xfrm>
                  <a:off x="-580" y="5095"/>
                  <a:ext cx="5705"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2" name="文本框 21"/>
                <p:cNvSpPr txBox="1"/>
                <p:nvPr/>
              </p:nvSpPr>
              <p:spPr>
                <a:xfrm>
                  <a:off x="-580" y="5095"/>
                  <a:ext cx="5592"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pro]$ ps –a &gt;&gt; psfile</a:t>
                  </a:r>
                </a:p>
              </p:txBody>
            </p:sp>
          </p:grpSp>
        </p:grpSp>
      </p:grpSp>
      <p:sp>
        <p:nvSpPr>
          <p:cNvPr id="7" name="圆角矩形 6"/>
          <p:cNvSpPr/>
          <p:nvPr/>
        </p:nvSpPr>
        <p:spPr>
          <a:xfrm>
            <a:off x="1076960" y="2423795"/>
            <a:ext cx="9972040" cy="96774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输出附加重定向符“&gt;&gt;”的作用是将命令（或可执行程序）的输出附加到指定文件的后面，而该文件原有的内容</a:t>
            </a:r>
            <a:r>
              <a:rPr lang="zh-CN" altLang="en-US" sz="2000" b="1" dirty="0">
                <a:solidFill>
                  <a:srgbClr val="0070C0"/>
                </a:solidFill>
                <a:latin typeface="微软雅黑" panose="020B0503020204020204" pitchFamily="34" charset="-122"/>
                <a:ea typeface="微软雅黑" panose="020B0503020204020204" pitchFamily="34" charset="-122"/>
                <a:sym typeface="+mn-ea"/>
              </a:rPr>
              <a:t>不被破坏</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p>
        </p:txBody>
      </p:sp>
      <p:sp>
        <p:nvSpPr>
          <p:cNvPr id="8" name="圆角矩形 7"/>
          <p:cNvSpPr/>
          <p:nvPr/>
        </p:nvSpPr>
        <p:spPr>
          <a:xfrm>
            <a:off x="1040765" y="5208270"/>
            <a:ext cx="9972040" cy="96774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将</a:t>
            </a:r>
            <a:r>
              <a:rPr lang="zh-CN" altLang="en-US" sz="2000" b="1" dirty="0">
                <a:solidFill>
                  <a:srgbClr val="0070C0"/>
                </a:solidFill>
                <a:latin typeface="微软雅黑" panose="020B0503020204020204" pitchFamily="34" charset="-122"/>
                <a:ea typeface="微软雅黑" panose="020B0503020204020204" pitchFamily="34" charset="-122"/>
                <a:sym typeface="+mn-ea"/>
              </a:rPr>
              <a:t>ps命令</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的输出附加到文件psfile的结尾处。利用</a:t>
            </a:r>
            <a:r>
              <a:rPr lang="zh-CN" altLang="en-US" sz="2000" b="1" dirty="0">
                <a:solidFill>
                  <a:srgbClr val="0070C0"/>
                </a:solidFill>
                <a:latin typeface="微软雅黑" panose="020B0503020204020204" pitchFamily="34" charset="-122"/>
                <a:ea typeface="微软雅黑" panose="020B0503020204020204" pitchFamily="34" charset="-122"/>
                <a:sym typeface="+mn-ea"/>
              </a:rPr>
              <a:t>cat命令</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就可以看到文件psfile的全部信息，包括原有内容和新添内容。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2"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par>
                          <p:cTn id="13" fill="hold">
                            <p:stCondLst>
                              <p:cond delay="1000"/>
                            </p:stCondLst>
                            <p:childTnLst>
                              <p:par>
                                <p:cTn id="14" presetID="23" presetClass="entr" presetSubtype="16" fill="hold" grpId="2"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bldLvl="0" animBg="1"/>
      <p:bldP spid="8" grpId="0" animBg="1"/>
      <p:bldP spid="8" grpId="1" animBg="1"/>
      <p:bldP spid="8" grpId="2"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630555" y="1643380"/>
            <a:ext cx="11156950" cy="489204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445135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2" name="组合 31"/>
          <p:cNvGrpSpPr/>
          <p:nvPr/>
        </p:nvGrpSpPr>
        <p:grpSpPr>
          <a:xfrm>
            <a:off x="456565" y="1815465"/>
            <a:ext cx="28498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4．即时文件定向符</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grpSp>
        <p:nvGrpSpPr>
          <p:cNvPr id="24" name="组合 14"/>
          <p:cNvGrpSpPr/>
          <p:nvPr/>
        </p:nvGrpSpPr>
        <p:grpSpPr bwMode="auto">
          <a:xfrm>
            <a:off x="7084695" y="2873375"/>
            <a:ext cx="3902075" cy="2146935"/>
            <a:chOff x="1166778" y="1786456"/>
            <a:chExt cx="9858444" cy="1713982"/>
          </a:xfrm>
        </p:grpSpPr>
        <p:grpSp>
          <p:nvGrpSpPr>
            <p:cNvPr id="27" name="组合 12"/>
            <p:cNvGrpSpPr/>
            <p:nvPr/>
          </p:nvGrpSpPr>
          <p:grpSpPr bwMode="auto">
            <a:xfrm>
              <a:off x="1166778" y="1786456"/>
              <a:ext cx="9858444" cy="1713982"/>
              <a:chOff x="1166778" y="1786456"/>
              <a:chExt cx="9858444" cy="1713982"/>
            </a:xfrm>
          </p:grpSpPr>
          <p:sp>
            <p:nvSpPr>
              <p:cNvPr id="28" name="矩形 27"/>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9" name="矩形 6"/>
              <p:cNvSpPr>
                <a:spLocks noChangeArrowheads="1"/>
              </p:cNvSpPr>
              <p:nvPr/>
            </p:nvSpPr>
            <p:spPr bwMode="auto">
              <a:xfrm>
                <a:off x="1166778" y="1817563"/>
                <a:ext cx="4738913" cy="33559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例如</a:t>
                </a:r>
              </a:p>
            </p:txBody>
          </p:sp>
        </p:grpSp>
        <p:sp>
          <p:nvSpPr>
            <p:cNvPr id="30" name="MH_Text_1"/>
            <p:cNvSpPr txBox="1">
              <a:spLocks noChangeArrowheads="1"/>
            </p:cNvSpPr>
            <p:nvPr>
              <p:custDataLst>
                <p:tags r:id="rId1"/>
              </p:custDataLst>
            </p:nvPr>
          </p:nvSpPr>
          <p:spPr bwMode="auto">
            <a:xfrm>
              <a:off x="1251806" y="2147401"/>
              <a:ext cx="9566461" cy="1310961"/>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pro]$mail  $1 &lt;&lt; !!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Best wishes to you on your birthday.</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a:t>
              </a:r>
            </a:p>
          </p:txBody>
        </p:sp>
      </p:grpSp>
      <p:grpSp>
        <p:nvGrpSpPr>
          <p:cNvPr id="3" name="组合 2"/>
          <p:cNvGrpSpPr/>
          <p:nvPr/>
        </p:nvGrpSpPr>
        <p:grpSpPr>
          <a:xfrm>
            <a:off x="857885" y="2273935"/>
            <a:ext cx="11054029" cy="2586355"/>
            <a:chOff x="1351" y="3581"/>
            <a:chExt cx="16263" cy="4073"/>
          </a:xfrm>
        </p:grpSpPr>
        <p:sp>
          <p:nvSpPr>
            <p:cNvPr id="18" name="Text Box 44"/>
            <p:cNvSpPr txBox="1">
              <a:spLocks noChangeArrowheads="1"/>
            </p:cNvSpPr>
            <p:nvPr/>
          </p:nvSpPr>
          <p:spPr bwMode="auto">
            <a:xfrm>
              <a:off x="1351" y="3581"/>
              <a:ext cx="16263" cy="14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即时文件是由重新定向符“&lt;&lt;”、一对标记符及其中的若干输入符组成。它允许将shell程序的输入行重新定向到一个命令中。</a:t>
              </a:r>
            </a:p>
          </p:txBody>
        </p:sp>
        <p:grpSp>
          <p:nvGrpSpPr>
            <p:cNvPr id="13" name="组合 12"/>
            <p:cNvGrpSpPr/>
            <p:nvPr/>
          </p:nvGrpSpPr>
          <p:grpSpPr>
            <a:xfrm>
              <a:off x="1617" y="5081"/>
              <a:ext cx="8989" cy="2573"/>
              <a:chOff x="1082" y="3789"/>
              <a:chExt cx="6456" cy="2573"/>
            </a:xfrm>
          </p:grpSpPr>
          <p:sp>
            <p:nvSpPr>
              <p:cNvPr id="45" name="Text Box 44"/>
              <p:cNvSpPr txBox="1">
                <a:spLocks noChangeArrowheads="1"/>
              </p:cNvSpPr>
              <p:nvPr/>
            </p:nvSpPr>
            <p:spPr bwMode="auto">
              <a:xfrm>
                <a:off x="1082" y="4483"/>
                <a:ext cx="4816"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即时文件的形式为：</a:t>
                </a:r>
              </a:p>
            </p:txBody>
          </p:sp>
          <p:grpSp>
            <p:nvGrpSpPr>
              <p:cNvPr id="15" name="组合 14"/>
              <p:cNvGrpSpPr/>
              <p:nvPr/>
            </p:nvGrpSpPr>
            <p:grpSpPr>
              <a:xfrm>
                <a:off x="3852" y="3789"/>
                <a:ext cx="3686" cy="2573"/>
                <a:chOff x="975" y="5094"/>
                <a:chExt cx="3686" cy="2573"/>
              </a:xfrm>
            </p:grpSpPr>
            <p:sp>
              <p:nvSpPr>
                <p:cNvPr id="16" name="流程图: 过程 15"/>
                <p:cNvSpPr/>
                <p:nvPr/>
              </p:nvSpPr>
              <p:spPr>
                <a:xfrm>
                  <a:off x="975" y="5095"/>
                  <a:ext cx="3102" cy="2572"/>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7" name="文本框 16"/>
                <p:cNvSpPr txBox="1"/>
                <p:nvPr/>
              </p:nvSpPr>
              <p:spPr>
                <a:xfrm>
                  <a:off x="1168" y="5094"/>
                  <a:ext cx="3493" cy="1890"/>
                </a:xfrm>
                <a:prstGeom prst="rect">
                  <a:avLst/>
                </a:prstGeom>
                <a:noFill/>
              </p:spPr>
              <p:txBody>
                <a:bodyPr wrap="square" rtlCol="0">
                  <a:spAutoFit/>
                </a:bodyPr>
                <a:lstStyle/>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命令  [参数]  &lt;&lt;标记符</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……输入行</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标记符</a:t>
                  </a:r>
                </a:p>
              </p:txBody>
            </p:sp>
          </p:grpSp>
        </p:grpSp>
      </p:grpSp>
      <p:sp>
        <p:nvSpPr>
          <p:cNvPr id="8" name="圆角矩形 7"/>
          <p:cNvSpPr/>
          <p:nvPr/>
        </p:nvSpPr>
        <p:spPr>
          <a:xfrm>
            <a:off x="950595" y="5120005"/>
            <a:ext cx="10591800" cy="135445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4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其中，</a:t>
            </a:r>
            <a:r>
              <a:rPr lang="zh-CN" altLang="en-US" sz="1800" b="1" dirty="0">
                <a:solidFill>
                  <a:srgbClr val="0070C0"/>
                </a:solidFill>
                <a:latin typeface="微软雅黑" panose="020B0503020204020204" pitchFamily="34" charset="-122"/>
                <a:ea typeface="微软雅黑" panose="020B0503020204020204" pitchFamily="34" charset="-122"/>
                <a:sym typeface="+mn-ea"/>
              </a:rPr>
              <a:t>标记符</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是</a:t>
            </a:r>
            <a:r>
              <a:rPr lang="zh-CN" altLang="en-US" sz="1800" dirty="0">
                <a:solidFill>
                  <a:srgbClr val="0070C0"/>
                </a:solidFill>
                <a:latin typeface="微软雅黑" panose="020B0503020204020204" pitchFamily="34" charset="-122"/>
                <a:ea typeface="微软雅黑" panose="020B0503020204020204" pitchFamily="34" charset="-122"/>
                <a:sym typeface="+mn-ea"/>
              </a:rPr>
              <a:t>！！</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它要成对出现。从“&lt;&lt;”之后的“！！”标记输入行开始，到后面的“！！”标记时文件结束。标记符也可以是别的能明显识别的符号，如%，甚至可以是用双引号括起来的字符串。如果没有用第二个标记符作为结束符，则当遇到文件末尾，同样也可以结束即时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trips(downRight)">
                                      <p:cBhvr>
                                        <p:cTn id="11" dur="500"/>
                                        <p:tgtEl>
                                          <p:spTgt spid="24"/>
                                        </p:tgtEl>
                                      </p:cBhvr>
                                    </p:animEffect>
                                  </p:childTnLst>
                                </p:cTn>
                              </p:par>
                            </p:childTnLst>
                          </p:cTn>
                        </p:par>
                        <p:par>
                          <p:cTn id="12" fill="hold">
                            <p:stCondLst>
                              <p:cond delay="1000"/>
                            </p:stCondLst>
                            <p:childTnLst>
                              <p:par>
                                <p:cTn id="13" presetID="23" presetClass="entr" presetSubtype="16" fill="hold" grpId="2"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619760" y="156591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4055110"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5.3.2  输入/输出重定向</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2" name="组合 31"/>
          <p:cNvGrpSpPr/>
          <p:nvPr/>
        </p:nvGrpSpPr>
        <p:grpSpPr>
          <a:xfrm>
            <a:off x="456565" y="1815465"/>
            <a:ext cx="28498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4．即时文件定向符</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grpSp>
        <p:nvGrpSpPr>
          <p:cNvPr id="24" name="组合 14"/>
          <p:cNvGrpSpPr/>
          <p:nvPr/>
        </p:nvGrpSpPr>
        <p:grpSpPr bwMode="auto">
          <a:xfrm>
            <a:off x="2677160" y="3640455"/>
            <a:ext cx="6843395" cy="1278255"/>
            <a:chOff x="1166778" y="1786456"/>
            <a:chExt cx="9858444" cy="1713982"/>
          </a:xfrm>
        </p:grpSpPr>
        <p:grpSp>
          <p:nvGrpSpPr>
            <p:cNvPr id="27" name="组合 12"/>
            <p:cNvGrpSpPr/>
            <p:nvPr/>
          </p:nvGrpSpPr>
          <p:grpSpPr bwMode="auto">
            <a:xfrm>
              <a:off x="1166778" y="1786456"/>
              <a:ext cx="9858444" cy="1713982"/>
              <a:chOff x="1166778" y="1786456"/>
              <a:chExt cx="9858444" cy="1713982"/>
            </a:xfrm>
          </p:grpSpPr>
          <p:sp>
            <p:nvSpPr>
              <p:cNvPr id="28" name="矩形 27"/>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9" name="矩形 6"/>
              <p:cNvSpPr>
                <a:spLocks noChangeArrowheads="1"/>
              </p:cNvSpPr>
              <p:nvPr/>
            </p:nvSpPr>
            <p:spPr bwMode="auto">
              <a:xfrm>
                <a:off x="1166778" y="1817214"/>
                <a:ext cx="9073574" cy="57699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C00000"/>
                    </a:solidFill>
                    <a:latin typeface="微软雅黑" panose="020B0503020204020204" pitchFamily="34" charset="-122"/>
                    <a:ea typeface="微软雅黑" panose="020B0503020204020204" pitchFamily="34" charset="-122"/>
                    <a:cs typeface="华康俪金黑W8(P)"/>
                  </a:rPr>
                  <a:t>输入输出重新定向可以连在一起使用</a:t>
                </a: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。例如：</a:t>
                </a:r>
              </a:p>
            </p:txBody>
          </p:sp>
        </p:grpSp>
        <p:sp>
          <p:nvSpPr>
            <p:cNvPr id="30" name="MH_Text_1"/>
            <p:cNvSpPr txBox="1">
              <a:spLocks noChangeArrowheads="1"/>
            </p:cNvSpPr>
            <p:nvPr>
              <p:custDataLst>
                <p:tags r:id="rId1"/>
              </p:custDataLst>
            </p:nvPr>
          </p:nvSpPr>
          <p:spPr bwMode="auto">
            <a:xfrm>
              <a:off x="1312226" y="2526372"/>
              <a:ext cx="9566633" cy="784191"/>
            </a:xfrm>
            <a:prstGeom prst="rect">
              <a:avLst/>
            </a:prstGeom>
            <a:solidFill>
              <a:srgbClr val="F2F2F2"/>
            </a:solidFill>
            <a:ln w="9525">
              <a:noFill/>
              <a:miter lim="800000"/>
            </a:ln>
          </p:spPr>
          <p:txBody>
            <a:bodyPr/>
            <a:lstStyle/>
            <a:p>
              <a:pPr indent="0" algn="ctr"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pro]$wc  -l&lt;infile  &gt;outfile </a:t>
              </a:r>
            </a:p>
          </p:txBody>
        </p:sp>
      </p:grpSp>
      <p:sp>
        <p:nvSpPr>
          <p:cNvPr id="8" name="圆角矩形 7"/>
          <p:cNvSpPr/>
          <p:nvPr/>
        </p:nvSpPr>
        <p:spPr>
          <a:xfrm>
            <a:off x="800100" y="2454275"/>
            <a:ext cx="10591800" cy="100330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即时文件能使相应命令的输入重新定向，使它的输入到自两个标记符之间的若干输入行。如执行上例时，命令mail就将一对“！！”之间的输入行送给$1所对应的收信人。</a:t>
            </a:r>
          </a:p>
        </p:txBody>
      </p:sp>
      <p:sp>
        <p:nvSpPr>
          <p:cNvPr id="3" name="圆角矩形 2"/>
          <p:cNvSpPr/>
          <p:nvPr/>
        </p:nvSpPr>
        <p:spPr>
          <a:xfrm>
            <a:off x="800100" y="5120005"/>
            <a:ext cx="10591800" cy="100330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其功能是，命令wc从文件infile中输入信息，将按“行”统计后的结果送到另一个文件outfile中，并不在屏幕上显示。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2"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childTnLst>
                                </p:cTn>
                              </p:par>
                              <p:par>
                                <p:cTn id="9" presetID="18" presetClass="entr" presetSubtype="6"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trips(downRight)">
                                      <p:cBhvr>
                                        <p:cTn id="11" dur="500"/>
                                        <p:tgtEl>
                                          <p:spTgt spid="24"/>
                                        </p:tgtEl>
                                      </p:cBhvr>
                                    </p:animEffect>
                                  </p:childTnLst>
                                </p:cTn>
                              </p:par>
                            </p:childTnLst>
                          </p:cTn>
                        </p:par>
                        <p:par>
                          <p:cTn id="12" fill="hold">
                            <p:stCondLst>
                              <p:cond delay="500"/>
                            </p:stCondLst>
                            <p:childTnLst>
                              <p:par>
                                <p:cTn id="13" presetID="23" presetClass="entr" presetSubtype="16" fill="hold" grpId="2" nodeType="after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bldLvl="0" animBg="1"/>
      <p:bldP spid="3" grpId="0" animBg="1"/>
      <p:bldP spid="3" grpId="1" animBg="1"/>
      <p:bldP spid="3" grpId="2"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69545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5.3.3  注释和管道线</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8" name="Text Box 44"/>
          <p:cNvSpPr txBox="1">
            <a:spLocks noChangeArrowheads="1"/>
          </p:cNvSpPr>
          <p:nvPr/>
        </p:nvSpPr>
        <p:spPr bwMode="auto">
          <a:xfrm>
            <a:off x="753110" y="2152650"/>
            <a:ext cx="10327005" cy="15544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在shell脚本中，以“</a:t>
            </a:r>
            <a:r>
              <a:rPr lang="zh-CN" altLang="en-US" sz="2000" b="1" dirty="0">
                <a:solidFill>
                  <a:srgbClr val="0070C0"/>
                </a:solidFill>
              </a:rPr>
              <a:t>#”开头</a:t>
            </a:r>
            <a:r>
              <a:rPr lang="zh-CN" altLang="en-US" sz="2000" dirty="0">
                <a:solidFill>
                  <a:schemeClr val="tx1">
                    <a:lumMod val="85000"/>
                    <a:lumOff val="15000"/>
                  </a:schemeClr>
                </a:solidFill>
              </a:rPr>
              <a:t>的正文行表示注释。</a:t>
            </a:r>
          </a:p>
          <a:p>
            <a:pPr eaLnBrk="1" latinLnBrk="0" hangingPunct="1">
              <a:lnSpc>
                <a:spcPct val="160000"/>
              </a:lnSpc>
            </a:pPr>
            <a:r>
              <a:rPr lang="zh-CN" altLang="en-US" sz="2000" dirty="0">
                <a:solidFill>
                  <a:schemeClr val="tx1">
                    <a:lumMod val="85000"/>
                    <a:lumOff val="15000"/>
                  </a:schemeClr>
                </a:solidFill>
              </a:rPr>
              <a:t>如果shell脚本中的第一行是以“#！”开头的，则“#！”后面所跟的字符串就是所使用shell的</a:t>
            </a:r>
            <a:r>
              <a:rPr lang="zh-CN" altLang="en-US" sz="2000" b="1" dirty="0">
                <a:solidFill>
                  <a:srgbClr val="0070C0"/>
                </a:solidFill>
              </a:rPr>
              <a:t>绝对路径</a:t>
            </a:r>
            <a:r>
              <a:rPr lang="zh-CN" altLang="en-US" sz="2000" dirty="0">
                <a:solidFill>
                  <a:schemeClr val="tx1">
                    <a:lumMod val="85000"/>
                    <a:lumOff val="15000"/>
                  </a:schemeClr>
                </a:solidFill>
              </a:rPr>
              <a:t>。</a:t>
            </a:r>
          </a:p>
        </p:txBody>
      </p:sp>
      <p:grpSp>
        <p:nvGrpSpPr>
          <p:cNvPr id="3" name="组合 2"/>
          <p:cNvGrpSpPr/>
          <p:nvPr/>
        </p:nvGrpSpPr>
        <p:grpSpPr>
          <a:xfrm>
            <a:off x="732790" y="3936365"/>
            <a:ext cx="10544810" cy="2098040"/>
            <a:chOff x="1154" y="6199"/>
            <a:chExt cx="16606" cy="3304"/>
          </a:xfrm>
        </p:grpSpPr>
        <p:grpSp>
          <p:nvGrpSpPr>
            <p:cNvPr id="21" name="组合 20"/>
            <p:cNvGrpSpPr/>
            <p:nvPr/>
          </p:nvGrpSpPr>
          <p:grpSpPr>
            <a:xfrm>
              <a:off x="1154" y="6199"/>
              <a:ext cx="16607" cy="3305"/>
              <a:chOff x="1151" y="5476"/>
              <a:chExt cx="17230" cy="4505"/>
            </a:xfrm>
          </p:grpSpPr>
          <p:grpSp>
            <p:nvGrpSpPr>
              <p:cNvPr id="5" name="组合 14"/>
              <p:cNvGrpSpPr/>
              <p:nvPr/>
            </p:nvGrpSpPr>
            <p:grpSpPr bwMode="auto">
              <a:xfrm>
                <a:off x="1151" y="5476"/>
                <a:ext cx="17230" cy="4505"/>
                <a:chOff x="1146715" y="1782513"/>
                <a:chExt cx="9876787" cy="1973637"/>
              </a:xfrm>
            </p:grpSpPr>
            <p:grpSp>
              <p:nvGrpSpPr>
                <p:cNvPr id="13" name="组合 12"/>
                <p:cNvGrpSpPr/>
                <p:nvPr/>
              </p:nvGrpSpPr>
              <p:grpSpPr bwMode="auto">
                <a:xfrm>
                  <a:off x="1146715" y="1782513"/>
                  <a:ext cx="9876787" cy="1973637"/>
                  <a:chOff x="1146715" y="1782513"/>
                  <a:chExt cx="9876787" cy="1973637"/>
                </a:xfrm>
              </p:grpSpPr>
              <p:sp>
                <p:nvSpPr>
                  <p:cNvPr id="15" name="矩形 14"/>
                  <p:cNvSpPr/>
                  <p:nvPr/>
                </p:nvSpPr>
                <p:spPr>
                  <a:xfrm>
                    <a:off x="1146715" y="1782513"/>
                    <a:ext cx="9858444" cy="1973637"/>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6" name="矩形 6"/>
                  <p:cNvSpPr>
                    <a:spLocks noChangeArrowheads="1"/>
                  </p:cNvSpPr>
                  <p:nvPr/>
                </p:nvSpPr>
                <p:spPr bwMode="auto">
                  <a:xfrm>
                    <a:off x="1166778" y="1786802"/>
                    <a:ext cx="9856724" cy="42996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华康俪金黑W8(P)"/>
                        <a:ea typeface="华康俪金黑W8(P)"/>
                        <a:cs typeface="华康俪金黑W8(P)"/>
                      </a:rPr>
                      <a:t>例如</a:t>
                    </a:r>
                    <a:r>
                      <a:rPr lang="zh-CN" altLang="en-US" sz="2000" b="1">
                        <a:solidFill>
                          <a:srgbClr val="009900"/>
                        </a:solidFill>
                        <a:latin typeface="华康俪金黑W8(P)"/>
                        <a:ea typeface="华康俪金黑W8(P)"/>
                        <a:cs typeface="华康俪金黑W8(P)"/>
                      </a:rPr>
                      <a:t>，对于C shell脚本，第一行通常是：</a:t>
                    </a:r>
                  </a:p>
                </p:txBody>
              </p:sp>
            </p:grpSp>
            <p:sp>
              <p:nvSpPr>
                <p:cNvPr id="17" name="MH_Text_1"/>
                <p:cNvSpPr txBox="1">
                  <a:spLocks noChangeArrowheads="1"/>
                </p:cNvSpPr>
                <p:nvPr>
                  <p:custDataLst>
                    <p:tags r:id="rId2"/>
                  </p:custDataLst>
                </p:nvPr>
              </p:nvSpPr>
              <p:spPr bwMode="auto">
                <a:xfrm>
                  <a:off x="1255626" y="2302911"/>
                  <a:ext cx="4609932" cy="462633"/>
                </a:xfrm>
                <a:prstGeom prst="rect">
                  <a:avLst/>
                </a:prstGeom>
                <a:solidFill>
                  <a:srgbClr val="F2F2F2"/>
                </a:solidFill>
                <a:ln w="9525">
                  <a:noFill/>
                  <a:miter lim="800000"/>
                </a:ln>
              </p:spPr>
              <p:txBody>
                <a:bodyPr/>
                <a:lstStyle/>
                <a:p>
                  <a:pPr indent="0" algn="ctr"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#！/bin/csh </a:t>
                  </a:r>
                </a:p>
              </p:txBody>
            </p:sp>
          </p:grpSp>
          <p:sp>
            <p:nvSpPr>
              <p:cNvPr id="22" name="矩形 6"/>
              <p:cNvSpPr>
                <a:spLocks noChangeArrowheads="1"/>
              </p:cNvSpPr>
              <p:nvPr/>
            </p:nvSpPr>
            <p:spPr bwMode="auto">
              <a:xfrm>
                <a:off x="1285" y="7627"/>
                <a:ext cx="8175" cy="98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对于bash脚本，第一行通常是：</a:t>
                </a:r>
              </a:p>
            </p:txBody>
          </p:sp>
          <p:sp>
            <p:nvSpPr>
              <p:cNvPr id="23" name="MH_Text_1"/>
              <p:cNvSpPr txBox="1">
                <a:spLocks noChangeArrowheads="1"/>
              </p:cNvSpPr>
              <p:nvPr>
                <p:custDataLst>
                  <p:tags r:id="rId1"/>
                </p:custDataLst>
              </p:nvPr>
            </p:nvSpPr>
            <p:spPr bwMode="auto">
              <a:xfrm>
                <a:off x="1282" y="8605"/>
                <a:ext cx="8161" cy="904"/>
              </a:xfrm>
              <a:prstGeom prst="rect">
                <a:avLst/>
              </a:prstGeom>
              <a:solidFill>
                <a:srgbClr val="F2F2F2"/>
              </a:solidFill>
              <a:ln w="9525">
                <a:noFill/>
                <a:miter lim="800000"/>
              </a:ln>
            </p:spPr>
            <p:txBody>
              <a:bodyPr/>
              <a:lstStyle/>
              <a:p>
                <a:pPr indent="0" algn="ctr" eaLnBrk="1" latinLnBrk="0" hangingPunct="1">
                  <a:lnSpc>
                    <a:spcPct val="110000"/>
                  </a:lnSpc>
                </a:pPr>
                <a:r>
                  <a:rPr lang="zh-CN" altLang="en-US" sz="1800" b="1" dirty="0">
                    <a:solidFill>
                      <a:srgbClr val="0070C0"/>
                    </a:solidFill>
                    <a:latin typeface="微软雅黑" panose="020B0503020204020204" pitchFamily="34" charset="-122"/>
                    <a:ea typeface="微软雅黑" panose="020B0503020204020204" pitchFamily="34" charset="-122"/>
                    <a:sym typeface="+mn-ea"/>
                  </a:rPr>
                  <a:t>#!/bin/bash</a:t>
                </a:r>
              </a:p>
            </p:txBody>
          </p:sp>
        </p:grpSp>
        <p:sp>
          <p:nvSpPr>
            <p:cNvPr id="42" name="Text Box 44"/>
            <p:cNvSpPr txBox="1">
              <a:spLocks noChangeArrowheads="1"/>
            </p:cNvSpPr>
            <p:nvPr/>
          </p:nvSpPr>
          <p:spPr bwMode="auto">
            <a:xfrm>
              <a:off x="10627" y="6627"/>
              <a:ext cx="6031" cy="244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这一行说明该脚本是用哪一种shell编写的，从而可调用相应的解释程序予以执行。</a:t>
              </a:r>
            </a:p>
          </p:txBody>
        </p:sp>
      </p:grpSp>
      <p:grpSp>
        <p:nvGrpSpPr>
          <p:cNvPr id="31" name="组合 30"/>
          <p:cNvGrpSpPr/>
          <p:nvPr/>
        </p:nvGrpSpPr>
        <p:grpSpPr>
          <a:xfrm>
            <a:off x="620395" y="1695450"/>
            <a:ext cx="1797050" cy="518160"/>
            <a:chOff x="1337" y="2814"/>
            <a:chExt cx="2830" cy="816"/>
          </a:xfrm>
        </p:grpSpPr>
        <p:sp>
          <p:nvSpPr>
            <p:cNvPr id="25" name="文本框 2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26" name="文本框 25"/>
            <p:cNvSpPr txBox="1"/>
            <p:nvPr/>
          </p:nvSpPr>
          <p:spPr>
            <a:xfrm>
              <a:off x="2143" y="2862"/>
              <a:ext cx="202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1．注释</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69545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5.3.3  注释和管道线</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1" name="组合 30"/>
          <p:cNvGrpSpPr/>
          <p:nvPr/>
        </p:nvGrpSpPr>
        <p:grpSpPr>
          <a:xfrm>
            <a:off x="620395" y="1695450"/>
            <a:ext cx="2101850" cy="518160"/>
            <a:chOff x="1337" y="2814"/>
            <a:chExt cx="3310" cy="816"/>
          </a:xfrm>
        </p:grpSpPr>
        <p:sp>
          <p:nvSpPr>
            <p:cNvPr id="25" name="文本框 2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26" name="文本框 25"/>
            <p:cNvSpPr txBox="1"/>
            <p:nvPr/>
          </p:nvSpPr>
          <p:spPr>
            <a:xfrm>
              <a:off x="2143" y="2862"/>
              <a:ext cx="250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2．管道线</a:t>
              </a:r>
            </a:p>
          </p:txBody>
        </p:sp>
      </p:grpSp>
      <p:grpSp>
        <p:nvGrpSpPr>
          <p:cNvPr id="12" name="组合 11"/>
          <p:cNvGrpSpPr/>
          <p:nvPr/>
        </p:nvGrpSpPr>
        <p:grpSpPr>
          <a:xfrm>
            <a:off x="1269650" y="2309952"/>
            <a:ext cx="4900886" cy="1816713"/>
            <a:chOff x="1484733" y="2332367"/>
            <a:chExt cx="4900886" cy="1816713"/>
          </a:xfrm>
        </p:grpSpPr>
        <p:sp>
          <p:nvSpPr>
            <p:cNvPr id="13" name="矩形 12"/>
            <p:cNvSpPr/>
            <p:nvPr/>
          </p:nvSpPr>
          <p:spPr>
            <a:xfrm>
              <a:off x="1484733" y="2332367"/>
              <a:ext cx="4900886" cy="1816713"/>
            </a:xfrm>
            <a:prstGeom prst="rect">
              <a:avLst/>
            </a:prstGeom>
            <a:noFill/>
            <a:ln w="127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0000"/>
                </a:solidFill>
                <a:latin typeface="微软雅黑" panose="020B0503020204020204" pitchFamily="34" charset="-122"/>
                <a:ea typeface="微软雅黑" panose="020B0503020204020204" pitchFamily="34" charset="-122"/>
              </a:endParaRPr>
            </a:p>
          </p:txBody>
        </p:sp>
        <p:sp>
          <p:nvSpPr>
            <p:cNvPr id="16" name="矩形 3"/>
            <p:cNvSpPr>
              <a:spLocks noChangeArrowheads="1"/>
            </p:cNvSpPr>
            <p:nvPr/>
          </p:nvSpPr>
          <p:spPr bwMode="auto">
            <a:xfrm>
              <a:off x="1582544" y="2356351"/>
              <a:ext cx="4428492" cy="1643527"/>
            </a:xfrm>
            <a:prstGeom prst="rect">
              <a:avLst/>
            </a:prstGeom>
            <a:noFill/>
            <a:ln w="9525">
              <a:noFill/>
              <a:prstDash val="dash"/>
              <a:miter lim="800000"/>
            </a:ln>
          </p:spPr>
          <p:txBody>
            <a:bodyPr wrap="square">
              <a:spAutoFit/>
            </a:bodyPr>
            <a:lstStyle/>
            <a:p>
              <a:pPr indent="457200" eaLnBrk="1" latinLnBrk="0" hangingPunct="1">
                <a:lnSpc>
                  <a:spcPct val="14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在Linux系统中，管道线是由竖杠（|）隔开的若干个命令组成的序列。在管道线中，每个命令执行时都有一个独立的进程，</a:t>
              </a:r>
              <a:r>
                <a:rPr lang="zh-CN" altLang="en-US" sz="1800" dirty="0">
                  <a:solidFill>
                    <a:srgbClr val="FF0000"/>
                  </a:solidFill>
                  <a:latin typeface="微软雅黑" panose="020B0503020204020204" pitchFamily="34" charset="-122"/>
                  <a:ea typeface="微软雅黑" panose="020B0503020204020204" pitchFamily="34" charset="-122"/>
                  <a:sym typeface="+mn-ea"/>
                </a:rPr>
                <a:t>前一个命令的输出正是下一个命令的输入</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en-US" altLang="zh-CN" sz="1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6386830" y="2310130"/>
            <a:ext cx="4976495" cy="1816100"/>
            <a:chOff x="10058" y="3638"/>
            <a:chExt cx="7837" cy="2860"/>
          </a:xfrm>
        </p:grpSpPr>
        <p:sp>
          <p:nvSpPr>
            <p:cNvPr id="37" name="矩形 36"/>
            <p:cNvSpPr/>
            <p:nvPr/>
          </p:nvSpPr>
          <p:spPr>
            <a:xfrm>
              <a:off x="10058" y="3638"/>
              <a:ext cx="7718" cy="2861"/>
            </a:xfrm>
            <a:prstGeom prst="rect">
              <a:avLst/>
            </a:prstGeom>
            <a:noFill/>
            <a:ln w="127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0000"/>
                </a:solidFill>
                <a:latin typeface="微软雅黑" panose="020B0503020204020204" pitchFamily="34" charset="-122"/>
                <a:ea typeface="微软雅黑" panose="020B0503020204020204" pitchFamily="34" charset="-122"/>
              </a:endParaRPr>
            </a:p>
          </p:txBody>
        </p:sp>
        <p:sp>
          <p:nvSpPr>
            <p:cNvPr id="49" name="Text Box 44"/>
            <p:cNvSpPr txBox="1">
              <a:spLocks noChangeArrowheads="1"/>
            </p:cNvSpPr>
            <p:nvPr/>
          </p:nvSpPr>
          <p:spPr bwMode="auto">
            <a:xfrm>
              <a:off x="10681" y="3937"/>
              <a:ext cx="1842"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rgbClr val="009900"/>
                  </a:solidFill>
                </a:rPr>
                <a:t>例如：</a:t>
              </a:r>
            </a:p>
          </p:txBody>
        </p:sp>
        <p:sp>
          <p:nvSpPr>
            <p:cNvPr id="50" name="文本框 49"/>
            <p:cNvSpPr txBox="1"/>
            <p:nvPr/>
          </p:nvSpPr>
          <p:spPr>
            <a:xfrm>
              <a:off x="10681" y="4777"/>
              <a:ext cx="7215"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pro]$ls  -l | wc  -l</a:t>
              </a:r>
            </a:p>
          </p:txBody>
        </p:sp>
      </p:grpSp>
      <p:grpSp>
        <p:nvGrpSpPr>
          <p:cNvPr id="4" name="组合 3"/>
          <p:cNvGrpSpPr/>
          <p:nvPr/>
        </p:nvGrpSpPr>
        <p:grpSpPr>
          <a:xfrm>
            <a:off x="1269365" y="4360545"/>
            <a:ext cx="4900930" cy="1816100"/>
            <a:chOff x="1999" y="6867"/>
            <a:chExt cx="7718" cy="2860"/>
          </a:xfrm>
        </p:grpSpPr>
        <p:sp>
          <p:nvSpPr>
            <p:cNvPr id="19" name="矩形 18"/>
            <p:cNvSpPr/>
            <p:nvPr/>
          </p:nvSpPr>
          <p:spPr>
            <a:xfrm>
              <a:off x="1999" y="6867"/>
              <a:ext cx="7718" cy="2861"/>
            </a:xfrm>
            <a:prstGeom prst="rect">
              <a:avLst/>
            </a:prstGeom>
            <a:noFill/>
            <a:ln w="127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0000"/>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2105" y="6963"/>
              <a:ext cx="7565" cy="2560"/>
            </a:xfrm>
            <a:prstGeom prst="rect">
              <a:avLst/>
            </a:prstGeom>
            <a:noFill/>
          </p:spPr>
          <p:txBody>
            <a:bodyPr wrap="square" rtlCol="0" anchor="t">
              <a:spAutoFit/>
            </a:bodyPr>
            <a:lstStyle/>
            <a:p>
              <a:pPr indent="457200" eaLnBrk="1" latinLnBrk="0" hangingPunct="1">
                <a:lnSpc>
                  <a:spcPct val="14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在管道线中，有一类命令也被称为</a:t>
              </a:r>
              <a:r>
                <a:rPr lang="zh-CN" altLang="en-US" sz="1800" b="1" dirty="0">
                  <a:solidFill>
                    <a:srgbClr val="0070C0"/>
                  </a:solidFill>
                  <a:latin typeface="微软雅黑" panose="020B0503020204020204" pitchFamily="34" charset="-122"/>
                  <a:ea typeface="微软雅黑" panose="020B0503020204020204" pitchFamily="34" charset="-122"/>
                  <a:sym typeface="+mn-ea"/>
                </a:rPr>
                <a:t>过滤器</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。过滤器首先读取输入，然后将输入以某种简单的方式进行变换，再将处理结果输出，如grep、tail、sort和wc等命令就被称为过滤器。</a:t>
              </a:r>
              <a:endParaRPr lang="zh-CN" altLang="en-US" sz="1800" dirty="0">
                <a:latin typeface="微软雅黑" panose="020B0503020204020204" pitchFamily="34" charset="-122"/>
                <a:ea typeface="微软雅黑" panose="020B0503020204020204" pitchFamily="34" charset="-122"/>
              </a:endParaRPr>
            </a:p>
          </p:txBody>
        </p:sp>
      </p:grpSp>
      <p:grpSp>
        <p:nvGrpSpPr>
          <p:cNvPr id="5" name="组合 4"/>
          <p:cNvGrpSpPr/>
          <p:nvPr/>
        </p:nvGrpSpPr>
        <p:grpSpPr>
          <a:xfrm>
            <a:off x="6386830" y="4360545"/>
            <a:ext cx="4900930" cy="1816100"/>
            <a:chOff x="10058" y="6867"/>
            <a:chExt cx="7718" cy="2860"/>
          </a:xfrm>
        </p:grpSpPr>
        <p:sp>
          <p:nvSpPr>
            <p:cNvPr id="42" name="矩形 41"/>
            <p:cNvSpPr/>
            <p:nvPr/>
          </p:nvSpPr>
          <p:spPr>
            <a:xfrm>
              <a:off x="10058" y="6867"/>
              <a:ext cx="7718" cy="2861"/>
            </a:xfrm>
            <a:prstGeom prst="rect">
              <a:avLst/>
            </a:prstGeom>
            <a:noFill/>
            <a:ln w="127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0000"/>
                </a:solidFill>
                <a:latin typeface="微软雅黑" panose="020B0503020204020204" pitchFamily="34" charset="-122"/>
                <a:ea typeface="微软雅黑" panose="020B0503020204020204" pitchFamily="34" charset="-122"/>
              </a:endParaRPr>
            </a:p>
          </p:txBody>
        </p:sp>
        <p:grpSp>
          <p:nvGrpSpPr>
            <p:cNvPr id="52" name="组合 14"/>
            <p:cNvGrpSpPr/>
            <p:nvPr/>
          </p:nvGrpSpPr>
          <p:grpSpPr bwMode="auto">
            <a:xfrm>
              <a:off x="10383" y="7410"/>
              <a:ext cx="7348" cy="2013"/>
              <a:chOff x="1166778" y="1785605"/>
              <a:chExt cx="8074891" cy="1713982"/>
            </a:xfrm>
          </p:grpSpPr>
          <p:grpSp>
            <p:nvGrpSpPr>
              <p:cNvPr id="53" name="组合 12"/>
              <p:cNvGrpSpPr/>
              <p:nvPr/>
            </p:nvGrpSpPr>
            <p:grpSpPr bwMode="auto">
              <a:xfrm>
                <a:off x="1166778" y="1785605"/>
                <a:ext cx="8074891" cy="1713982"/>
                <a:chOff x="1166778" y="1785605"/>
                <a:chExt cx="8074891" cy="1713982"/>
              </a:xfrm>
            </p:grpSpPr>
            <p:sp>
              <p:nvSpPr>
                <p:cNvPr id="54" name="矩形 53"/>
                <p:cNvSpPr/>
                <p:nvPr/>
              </p:nvSpPr>
              <p:spPr>
                <a:xfrm>
                  <a:off x="1166778" y="1785605"/>
                  <a:ext cx="8074891"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5" name="矩形 6"/>
                <p:cNvSpPr>
                  <a:spLocks noChangeArrowheads="1"/>
                </p:cNvSpPr>
                <p:nvPr/>
              </p:nvSpPr>
              <p:spPr bwMode="auto">
                <a:xfrm>
                  <a:off x="1166778" y="1817108"/>
                  <a:ext cx="7914448" cy="61304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一个管道线中可以包括多条命令，如：</a:t>
                  </a:r>
                </a:p>
              </p:txBody>
            </p:sp>
          </p:grpSp>
          <p:sp>
            <p:nvSpPr>
              <p:cNvPr id="56" name="MH_Text_1"/>
              <p:cNvSpPr txBox="1">
                <a:spLocks noChangeArrowheads="1"/>
              </p:cNvSpPr>
              <p:nvPr>
                <p:custDataLst>
                  <p:tags r:id="rId1"/>
                </p:custDataLst>
              </p:nvPr>
            </p:nvSpPr>
            <p:spPr bwMode="auto">
              <a:xfrm>
                <a:off x="1311836" y="2526372"/>
                <a:ext cx="7770489" cy="973215"/>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pro]$ls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 grep m*.c | wc –l </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3" presetClass="entr" presetSubtype="52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1000" fill="hold"/>
                                        <p:tgtEl>
                                          <p:spTgt spid="12"/>
                                        </p:tgtEl>
                                        <p:attrNameLst>
                                          <p:attrName>ppt_w</p:attrName>
                                        </p:attrNameLst>
                                      </p:cBhvr>
                                      <p:tavLst>
                                        <p:tav tm="0">
                                          <p:val>
                                            <p:fltVal val="0"/>
                                          </p:val>
                                        </p:tav>
                                        <p:tav tm="100000">
                                          <p:val>
                                            <p:strVal val="#ppt_w"/>
                                          </p:val>
                                        </p:tav>
                                      </p:tavLst>
                                    </p:anim>
                                    <p:anim calcmode="lin" valueType="num">
                                      <p:cBhvr>
                                        <p:cTn id="12" dur="1000" fill="hold"/>
                                        <p:tgtEl>
                                          <p:spTgt spid="12"/>
                                        </p:tgtEl>
                                        <p:attrNameLst>
                                          <p:attrName>ppt_h</p:attrName>
                                        </p:attrNameLst>
                                      </p:cBhvr>
                                      <p:tavLst>
                                        <p:tav tm="0">
                                          <p:val>
                                            <p:fltVal val="0"/>
                                          </p:val>
                                        </p:tav>
                                        <p:tav tm="100000">
                                          <p:val>
                                            <p:strVal val="#ppt_h"/>
                                          </p:val>
                                        </p:tav>
                                      </p:tavLst>
                                    </p:anim>
                                    <p:anim calcmode="lin" valueType="num">
                                      <p:cBhvr>
                                        <p:cTn id="13" dur="1000" fill="hold"/>
                                        <p:tgtEl>
                                          <p:spTgt spid="12"/>
                                        </p:tgtEl>
                                        <p:attrNameLst>
                                          <p:attrName>ppt_x</p:attrName>
                                        </p:attrNameLst>
                                      </p:cBhvr>
                                      <p:tavLst>
                                        <p:tav tm="0">
                                          <p:val>
                                            <p:fltVal val="0.5"/>
                                          </p:val>
                                        </p:tav>
                                        <p:tav tm="100000">
                                          <p:val>
                                            <p:strVal val="#ppt_x"/>
                                          </p:val>
                                        </p:tav>
                                      </p:tavLst>
                                    </p:anim>
                                    <p:anim calcmode="lin" valueType="num">
                                      <p:cBhvr>
                                        <p:cTn id="14" dur="1000" fill="hold"/>
                                        <p:tgtEl>
                                          <p:spTgt spid="12"/>
                                        </p:tgtEl>
                                        <p:attrNameLst>
                                          <p:attrName>ppt_y</p:attrName>
                                        </p:attrNameLst>
                                      </p:cBhvr>
                                      <p:tavLst>
                                        <p:tav tm="0">
                                          <p:val>
                                            <p:fltVal val="0.5"/>
                                          </p:val>
                                        </p:tav>
                                        <p:tav tm="100000">
                                          <p:val>
                                            <p:strVal val="#ppt_y"/>
                                          </p:val>
                                        </p:tav>
                                      </p:tavLst>
                                    </p:anim>
                                  </p:childTnLst>
                                </p:cTn>
                              </p:par>
                            </p:childTnLst>
                          </p:cTn>
                        </p:par>
                        <p:par>
                          <p:cTn id="15" fill="hold">
                            <p:stCondLst>
                              <p:cond delay="1500"/>
                            </p:stCondLst>
                            <p:childTnLst>
                              <p:par>
                                <p:cTn id="16" presetID="23" presetClass="entr" presetSubtype="528"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 calcmode="lin" valueType="num">
                                      <p:cBhvr>
                                        <p:cTn id="20" dur="500" fill="hold"/>
                                        <p:tgtEl>
                                          <p:spTgt spid="3"/>
                                        </p:tgtEl>
                                        <p:attrNameLst>
                                          <p:attrName>ppt_x</p:attrName>
                                        </p:attrNameLst>
                                      </p:cBhvr>
                                      <p:tavLst>
                                        <p:tav tm="0">
                                          <p:val>
                                            <p:fltVal val="0.5"/>
                                          </p:val>
                                        </p:tav>
                                        <p:tav tm="100000">
                                          <p:val>
                                            <p:strVal val="#ppt_x"/>
                                          </p:val>
                                        </p:tav>
                                      </p:tavLst>
                                    </p:anim>
                                    <p:anim calcmode="lin" valueType="num">
                                      <p:cBhvr>
                                        <p:cTn id="21" dur="500" fill="hold"/>
                                        <p:tgtEl>
                                          <p:spTgt spid="3"/>
                                        </p:tgtEl>
                                        <p:attrNameLst>
                                          <p:attrName>ppt_y</p:attrName>
                                        </p:attrNameLst>
                                      </p:cBhvr>
                                      <p:tavLst>
                                        <p:tav tm="0">
                                          <p:val>
                                            <p:fltVal val="0.5"/>
                                          </p:val>
                                        </p:tav>
                                        <p:tav tm="100000">
                                          <p:val>
                                            <p:strVal val="#ppt_y"/>
                                          </p:val>
                                        </p:tav>
                                      </p:tavLst>
                                    </p:anim>
                                  </p:childTnLst>
                                </p:cTn>
                              </p:par>
                            </p:childTnLst>
                          </p:cTn>
                        </p:par>
                        <p:par>
                          <p:cTn id="22" fill="hold">
                            <p:stCondLst>
                              <p:cond delay="2000"/>
                            </p:stCondLst>
                            <p:childTnLst>
                              <p:par>
                                <p:cTn id="23" presetID="23" presetClass="entr" presetSubtype="52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 calcmode="lin" valueType="num">
                                      <p:cBhvr>
                                        <p:cTn id="27" dur="500" fill="hold"/>
                                        <p:tgtEl>
                                          <p:spTgt spid="4"/>
                                        </p:tgtEl>
                                        <p:attrNameLst>
                                          <p:attrName>ppt_x</p:attrName>
                                        </p:attrNameLst>
                                      </p:cBhvr>
                                      <p:tavLst>
                                        <p:tav tm="0">
                                          <p:val>
                                            <p:fltVal val="0.5"/>
                                          </p:val>
                                        </p:tav>
                                        <p:tav tm="100000">
                                          <p:val>
                                            <p:strVal val="#ppt_x"/>
                                          </p:val>
                                        </p:tav>
                                      </p:tavLst>
                                    </p:anim>
                                    <p:anim calcmode="lin" valueType="num">
                                      <p:cBhvr>
                                        <p:cTn id="28" dur="500" fill="hold"/>
                                        <p:tgtEl>
                                          <p:spTgt spid="4"/>
                                        </p:tgtEl>
                                        <p:attrNameLst>
                                          <p:attrName>ppt_y</p:attrName>
                                        </p:attrNameLst>
                                      </p:cBhvr>
                                      <p:tavLst>
                                        <p:tav tm="0">
                                          <p:val>
                                            <p:fltVal val="0.5"/>
                                          </p:val>
                                        </p:tav>
                                        <p:tav tm="100000">
                                          <p:val>
                                            <p:strVal val="#ppt_y"/>
                                          </p:val>
                                        </p:tav>
                                      </p:tavLst>
                                    </p:anim>
                                  </p:childTnLst>
                                </p:cTn>
                              </p:par>
                            </p:childTnLst>
                          </p:cTn>
                        </p:par>
                        <p:par>
                          <p:cTn id="29" fill="hold">
                            <p:stCondLst>
                              <p:cond delay="2500"/>
                            </p:stCondLst>
                            <p:childTnLst>
                              <p:par>
                                <p:cTn id="30" presetID="23" presetClass="entr" presetSubtype="528"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 calcmode="lin" valueType="num">
                                      <p:cBhvr>
                                        <p:cTn id="34" dur="500" fill="hold"/>
                                        <p:tgtEl>
                                          <p:spTgt spid="5"/>
                                        </p:tgtEl>
                                        <p:attrNameLst>
                                          <p:attrName>ppt_x</p:attrName>
                                        </p:attrNameLst>
                                      </p:cBhvr>
                                      <p:tavLst>
                                        <p:tav tm="0">
                                          <p:val>
                                            <p:fltVal val="0.5"/>
                                          </p:val>
                                        </p:tav>
                                        <p:tav tm="100000">
                                          <p:val>
                                            <p:strVal val="#ppt_x"/>
                                          </p:val>
                                        </p:tav>
                                      </p:tavLst>
                                    </p:anim>
                                    <p:anim calcmode="lin" valueType="num">
                                      <p:cBhvr>
                                        <p:cTn id="35" dur="500" fill="hold"/>
                                        <p:tgtEl>
                                          <p:spTgt spid="5"/>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89280" y="165481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5.3.4  命令执行操作符</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8" name="Text Box 44"/>
          <p:cNvSpPr txBox="1">
            <a:spLocks noChangeArrowheads="1"/>
          </p:cNvSpPr>
          <p:nvPr/>
        </p:nvSpPr>
        <p:spPr bwMode="auto">
          <a:xfrm>
            <a:off x="619760" y="1593850"/>
            <a:ext cx="10327005" cy="9448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多条命令可以在一行中出现。它们可以顺序执行，也可能在相邻命令之间存在逻辑关系，即逻辑与和逻辑或。</a:t>
            </a:r>
          </a:p>
        </p:txBody>
      </p:sp>
      <p:grpSp>
        <p:nvGrpSpPr>
          <p:cNvPr id="5" name="组合 4"/>
          <p:cNvGrpSpPr/>
          <p:nvPr/>
        </p:nvGrpSpPr>
        <p:grpSpPr>
          <a:xfrm>
            <a:off x="619760" y="2845435"/>
            <a:ext cx="2619375" cy="482600"/>
            <a:chOff x="1485" y="2712"/>
            <a:chExt cx="4125" cy="760"/>
          </a:xfrm>
        </p:grpSpPr>
        <p:sp>
          <p:nvSpPr>
            <p:cNvPr id="26" name="文本框 25"/>
            <p:cNvSpPr txBox="1"/>
            <p:nvPr/>
          </p:nvSpPr>
          <p:spPr>
            <a:xfrm>
              <a:off x="2626" y="2712"/>
              <a:ext cx="2984" cy="761"/>
            </a:xfrm>
            <a:prstGeom prst="rect">
              <a:avLst/>
            </a:prstGeom>
            <a:noFill/>
          </p:spPr>
          <p:txBody>
            <a:bodyPr wrap="none" rtlCol="0" anchor="t">
              <a:spAutoFit/>
            </a:bodyPr>
            <a:lstStyle/>
            <a:p>
              <a:pPr algn="l"/>
              <a:r>
                <a:rPr sz="2400" b="1" dirty="0">
                  <a:solidFill>
                    <a:srgbClr val="0070C0"/>
                  </a:solidFill>
                  <a:latin typeface="微软雅黑" panose="020B0503020204020204" pitchFamily="34" charset="-122"/>
                  <a:ea typeface="微软雅黑" panose="020B0503020204020204" pitchFamily="34" charset="-122"/>
                  <a:sym typeface="+mn-ea"/>
                </a:rPr>
                <a:t>1．顺序执行</a:t>
              </a:r>
            </a:p>
          </p:txBody>
        </p:sp>
        <p:sp>
          <p:nvSpPr>
            <p:cNvPr id="3" name="右箭头 2"/>
            <p:cNvSpPr/>
            <p:nvPr/>
          </p:nvSpPr>
          <p:spPr>
            <a:xfrm>
              <a:off x="1485" y="2757"/>
              <a:ext cx="840" cy="672"/>
            </a:xfrm>
            <a:prstGeom prst="rightArrow">
              <a:avLst/>
            </a:prstGeom>
            <a:solidFill>
              <a:srgbClr val="0070C0"/>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grpSp>
        <p:nvGrpSpPr>
          <p:cNvPr id="37" name="组合 36"/>
          <p:cNvGrpSpPr/>
          <p:nvPr/>
        </p:nvGrpSpPr>
        <p:grpSpPr>
          <a:xfrm>
            <a:off x="3393440" y="2496820"/>
            <a:ext cx="8252460" cy="1582420"/>
            <a:chOff x="976" y="4759"/>
            <a:chExt cx="12996" cy="2492"/>
          </a:xfrm>
        </p:grpSpPr>
        <p:grpSp>
          <p:nvGrpSpPr>
            <p:cNvPr id="32" name="组合 14"/>
            <p:cNvGrpSpPr/>
            <p:nvPr/>
          </p:nvGrpSpPr>
          <p:grpSpPr bwMode="auto">
            <a:xfrm>
              <a:off x="976" y="4759"/>
              <a:ext cx="12996" cy="2492"/>
              <a:chOff x="1166778" y="1786456"/>
              <a:chExt cx="10591084" cy="1713982"/>
            </a:xfrm>
          </p:grpSpPr>
          <p:grpSp>
            <p:nvGrpSpPr>
              <p:cNvPr id="33" name="组合 12"/>
              <p:cNvGrpSpPr/>
              <p:nvPr/>
            </p:nvGrpSpPr>
            <p:grpSpPr bwMode="auto">
              <a:xfrm>
                <a:off x="1166778" y="1786456"/>
                <a:ext cx="10591084" cy="1713982"/>
                <a:chOff x="1166778" y="1786456"/>
                <a:chExt cx="10591084" cy="1713982"/>
              </a:xfrm>
            </p:grpSpPr>
            <p:sp>
              <p:nvSpPr>
                <p:cNvPr id="34" name="矩形 33"/>
                <p:cNvSpPr/>
                <p:nvPr/>
              </p:nvSpPr>
              <p:spPr>
                <a:xfrm>
                  <a:off x="1166778" y="1786456"/>
                  <a:ext cx="1059108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6778" y="1817214"/>
                  <a:ext cx="9073574" cy="45531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如前面所述，每条命令或管道线可单独占一行，如：</a:t>
                  </a:r>
                </a:p>
              </p:txBody>
            </p:sp>
          </p:grpSp>
          <p:sp>
            <p:nvSpPr>
              <p:cNvPr id="36" name="MH_Text_1"/>
              <p:cNvSpPr txBox="1">
                <a:spLocks noChangeArrowheads="1"/>
              </p:cNvSpPr>
              <p:nvPr>
                <p:custDataLst>
                  <p:tags r:id="rId2"/>
                </p:custDataLst>
              </p:nvPr>
            </p:nvSpPr>
            <p:spPr bwMode="auto">
              <a:xfrm>
                <a:off x="1246643" y="2335315"/>
                <a:ext cx="5703831" cy="1011057"/>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pro]$pwd </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pro]$who|wc-l </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pro]$cd  ./usr/bin </a:t>
                </a:r>
              </a:p>
            </p:txBody>
          </p:sp>
        </p:grpSp>
        <p:sp>
          <p:nvSpPr>
            <p:cNvPr id="13" name="Text Box 44"/>
            <p:cNvSpPr txBox="1">
              <a:spLocks noChangeArrowheads="1"/>
            </p:cNvSpPr>
            <p:nvPr/>
          </p:nvSpPr>
          <p:spPr bwMode="auto">
            <a:xfrm>
              <a:off x="8073" y="5308"/>
              <a:ext cx="5301" cy="16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很显然，这些命令按其出现的</a:t>
              </a:r>
              <a:r>
                <a:rPr lang="zh-CN" altLang="en-US" sz="2000" b="1" dirty="0">
                  <a:solidFill>
                    <a:srgbClr val="0070C0"/>
                  </a:solidFill>
                </a:rPr>
                <a:t>顺序依次执行</a:t>
              </a:r>
              <a:r>
                <a:rPr lang="zh-CN" altLang="en-US" sz="2000" dirty="0">
                  <a:solidFill>
                    <a:schemeClr val="tx1">
                      <a:lumMod val="85000"/>
                      <a:lumOff val="15000"/>
                    </a:schemeClr>
                  </a:solidFill>
                </a:rPr>
                <a:t>。</a:t>
              </a:r>
            </a:p>
          </p:txBody>
        </p:sp>
      </p:grpSp>
      <p:grpSp>
        <p:nvGrpSpPr>
          <p:cNvPr id="4" name="组合 3"/>
          <p:cNvGrpSpPr/>
          <p:nvPr/>
        </p:nvGrpSpPr>
        <p:grpSpPr>
          <a:xfrm>
            <a:off x="631188" y="4222750"/>
            <a:ext cx="11057892" cy="2121535"/>
            <a:chOff x="994" y="6650"/>
            <a:chExt cx="17414" cy="3341"/>
          </a:xfrm>
        </p:grpSpPr>
        <p:grpSp>
          <p:nvGrpSpPr>
            <p:cNvPr id="15" name="组合 14"/>
            <p:cNvGrpSpPr/>
            <p:nvPr/>
          </p:nvGrpSpPr>
          <p:grpSpPr bwMode="auto">
            <a:xfrm>
              <a:off x="994" y="6650"/>
              <a:ext cx="17404" cy="3341"/>
              <a:chOff x="1058018" y="1786456"/>
              <a:chExt cx="9858444" cy="1713982"/>
            </a:xfrm>
          </p:grpSpPr>
          <p:grpSp>
            <p:nvGrpSpPr>
              <p:cNvPr id="16" name="组合 12"/>
              <p:cNvGrpSpPr/>
              <p:nvPr/>
            </p:nvGrpSpPr>
            <p:grpSpPr bwMode="auto">
              <a:xfrm>
                <a:off x="1058018" y="1786456"/>
                <a:ext cx="9858444" cy="1713982"/>
                <a:chOff x="1058018" y="1786456"/>
                <a:chExt cx="9858444" cy="1713982"/>
              </a:xfrm>
            </p:grpSpPr>
            <p:sp>
              <p:nvSpPr>
                <p:cNvPr id="17" name="矩形 16"/>
                <p:cNvSpPr/>
                <p:nvPr/>
              </p:nvSpPr>
              <p:spPr>
                <a:xfrm>
                  <a:off x="105801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1" name="矩形 6"/>
                <p:cNvSpPr>
                  <a:spLocks noChangeArrowheads="1"/>
                </p:cNvSpPr>
                <p:nvPr/>
              </p:nvSpPr>
              <p:spPr bwMode="auto">
                <a:xfrm>
                  <a:off x="1166778" y="1817214"/>
                  <a:ext cx="9073574" cy="71616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也可将这些命令在一行中输入，此时，</a:t>
                  </a:r>
                </a:p>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各条命令之间应以</a:t>
                  </a: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分号“;”隔开</a:t>
                  </a: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a:t>
                  </a: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如：</a:t>
                  </a:r>
                </a:p>
              </p:txBody>
            </p:sp>
          </p:grpSp>
          <p:sp>
            <p:nvSpPr>
              <p:cNvPr id="22" name="MH_Text_1"/>
              <p:cNvSpPr txBox="1">
                <a:spLocks noChangeArrowheads="1"/>
              </p:cNvSpPr>
              <p:nvPr>
                <p:custDataLst>
                  <p:tags r:id="rId1"/>
                </p:custDataLst>
              </p:nvPr>
            </p:nvSpPr>
            <p:spPr bwMode="auto">
              <a:xfrm>
                <a:off x="1193968" y="2722194"/>
                <a:ext cx="5665037" cy="504293"/>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pro]$pwd ; who | wc –l ; cd ./usr/bin </a:t>
                </a:r>
              </a:p>
            </p:txBody>
          </p:sp>
        </p:grpSp>
        <p:sp>
          <p:nvSpPr>
            <p:cNvPr id="23" name="Text Box 44"/>
            <p:cNvSpPr txBox="1">
              <a:spLocks noChangeArrowheads="1"/>
            </p:cNvSpPr>
            <p:nvPr/>
          </p:nvSpPr>
          <p:spPr bwMode="auto">
            <a:xfrm>
              <a:off x="11210" y="6878"/>
              <a:ext cx="7198" cy="283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dirty="0">
                  <a:solidFill>
                    <a:schemeClr val="tx1">
                      <a:lumMod val="85000"/>
                      <a:lumOff val="15000"/>
                    </a:schemeClr>
                  </a:solidFill>
                </a:rPr>
                <a:t>在执行时，以分号隔开的各条命令</a:t>
              </a:r>
              <a:r>
                <a:rPr lang="zh-CN" altLang="en-US" sz="2000" dirty="0">
                  <a:solidFill>
                    <a:srgbClr val="FF0000"/>
                  </a:solidFill>
                </a:rPr>
                <a:t>从左到右依次执行</a:t>
              </a:r>
              <a:r>
                <a:rPr lang="zh-CN" altLang="en-US" sz="2000" dirty="0">
                  <a:solidFill>
                    <a:schemeClr val="tx1">
                      <a:lumMod val="85000"/>
                      <a:lumOff val="15000"/>
                    </a:schemeClr>
                  </a:solidFill>
                </a:rPr>
                <a:t>，即前面命令执行成功与否，并</a:t>
              </a:r>
              <a:r>
                <a:rPr lang="zh-CN" altLang="en-US" sz="2000" b="1" dirty="0">
                  <a:solidFill>
                    <a:srgbClr val="0070C0"/>
                  </a:solidFill>
                </a:rPr>
                <a:t>不影响其后面</a:t>
              </a:r>
              <a:r>
                <a:rPr lang="zh-CN" altLang="en-US" sz="2000" dirty="0">
                  <a:solidFill>
                    <a:schemeClr val="tx1">
                      <a:lumMod val="85000"/>
                      <a:lumOff val="15000"/>
                    </a:schemeClr>
                  </a:solidFill>
                </a:rPr>
                <a:t>命令的执行。它与上面写成多行的形式是</a:t>
              </a:r>
              <a:r>
                <a:rPr lang="zh-CN" altLang="en-US" sz="2000" b="1" dirty="0">
                  <a:solidFill>
                    <a:srgbClr val="0070C0"/>
                  </a:solidFill>
                </a:rPr>
                <a:t>等价的</a:t>
              </a:r>
              <a:r>
                <a:rPr lang="zh-CN" altLang="en-US" sz="2000" dirty="0">
                  <a:solidFill>
                    <a:schemeClr val="tx1">
                      <a:lumMod val="85000"/>
                      <a:lumOff val="15000"/>
                    </a:schemeClr>
                  </a:solidFill>
                </a:rPr>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strips(downRight)">
                                      <p:cBhvr>
                                        <p:cTn id="15" dur="500"/>
                                        <p:tgtEl>
                                          <p:spTgt spid="37"/>
                                        </p:tgtEl>
                                      </p:cBhvr>
                                    </p:animEffect>
                                  </p:childTnLst>
                                </p:cTn>
                              </p:par>
                              <p:par>
                                <p:cTn id="16" presetID="18" presetClass="entr" presetSubtype="6"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strips(downRight)">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619760" y="1729740"/>
            <a:ext cx="11156950" cy="468376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5.3.4  命令执行操作符</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5" name="组合 4"/>
          <p:cNvGrpSpPr/>
          <p:nvPr/>
        </p:nvGrpSpPr>
        <p:grpSpPr>
          <a:xfrm>
            <a:off x="623570" y="1960880"/>
            <a:ext cx="2314575" cy="483235"/>
            <a:chOff x="1485" y="2712"/>
            <a:chExt cx="3645" cy="761"/>
          </a:xfrm>
        </p:grpSpPr>
        <p:sp>
          <p:nvSpPr>
            <p:cNvPr id="26" name="文本框 25"/>
            <p:cNvSpPr txBox="1"/>
            <p:nvPr/>
          </p:nvSpPr>
          <p:spPr>
            <a:xfrm>
              <a:off x="2626" y="2712"/>
              <a:ext cx="2504" cy="761"/>
            </a:xfrm>
            <a:prstGeom prst="rect">
              <a:avLst/>
            </a:prstGeom>
            <a:noFill/>
          </p:spPr>
          <p:txBody>
            <a:bodyPr wrap="none" rtlCol="0" anchor="t">
              <a:spAutoFit/>
            </a:bodyPr>
            <a:lstStyle/>
            <a:p>
              <a:pPr algn="l"/>
              <a:r>
                <a:rPr sz="2400" b="1" dirty="0">
                  <a:solidFill>
                    <a:srgbClr val="0070C0"/>
                  </a:solidFill>
                  <a:latin typeface="微软雅黑" panose="020B0503020204020204" pitchFamily="34" charset="-122"/>
                  <a:ea typeface="微软雅黑" panose="020B0503020204020204" pitchFamily="34" charset="-122"/>
                  <a:sym typeface="+mn-ea"/>
                </a:rPr>
                <a:t>2．逻辑与</a:t>
              </a:r>
            </a:p>
          </p:txBody>
        </p:sp>
        <p:sp>
          <p:nvSpPr>
            <p:cNvPr id="3" name="右箭头 2"/>
            <p:cNvSpPr/>
            <p:nvPr/>
          </p:nvSpPr>
          <p:spPr>
            <a:xfrm>
              <a:off x="1485" y="2757"/>
              <a:ext cx="840" cy="672"/>
            </a:xfrm>
            <a:prstGeom prst="rightArrow">
              <a:avLst/>
            </a:prstGeom>
            <a:solidFill>
              <a:srgbClr val="0070C0"/>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grpSp>
        <p:nvGrpSpPr>
          <p:cNvPr id="6" name="组合 5"/>
          <p:cNvGrpSpPr/>
          <p:nvPr/>
        </p:nvGrpSpPr>
        <p:grpSpPr>
          <a:xfrm>
            <a:off x="870585" y="1934210"/>
            <a:ext cx="10801350" cy="2942590"/>
            <a:chOff x="1351" y="2426"/>
            <a:chExt cx="17010" cy="4634"/>
          </a:xfrm>
        </p:grpSpPr>
        <p:sp>
          <p:nvSpPr>
            <p:cNvPr id="18" name="Text Box 44"/>
            <p:cNvSpPr txBox="1">
              <a:spLocks noChangeArrowheads="1"/>
            </p:cNvSpPr>
            <p:nvPr/>
          </p:nvSpPr>
          <p:spPr bwMode="auto">
            <a:xfrm>
              <a:off x="6025" y="2426"/>
              <a:ext cx="9721" cy="81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rgbClr val="0070C0"/>
                  </a:solidFill>
                </a:rPr>
                <a:t>逻辑与操作符“&amp;&amp;”可将两个命令联系在一起。</a:t>
              </a:r>
            </a:p>
          </p:txBody>
        </p:sp>
        <p:grpSp>
          <p:nvGrpSpPr>
            <p:cNvPr id="49" name="组合 48"/>
            <p:cNvGrpSpPr/>
            <p:nvPr/>
          </p:nvGrpSpPr>
          <p:grpSpPr>
            <a:xfrm>
              <a:off x="1674" y="3619"/>
              <a:ext cx="16406" cy="1488"/>
              <a:chOff x="1606" y="4245"/>
              <a:chExt cx="16406" cy="1488"/>
            </a:xfrm>
          </p:grpSpPr>
          <p:grpSp>
            <p:nvGrpSpPr>
              <p:cNvPr id="4" name="组合 3"/>
              <p:cNvGrpSpPr/>
              <p:nvPr/>
            </p:nvGrpSpPr>
            <p:grpSpPr>
              <a:xfrm>
                <a:off x="1606" y="4245"/>
                <a:ext cx="6363" cy="1488"/>
                <a:chOff x="1037" y="3664"/>
                <a:chExt cx="6976" cy="1001"/>
              </a:xfrm>
            </p:grpSpPr>
            <p:sp>
              <p:nvSpPr>
                <p:cNvPr id="45" name="Text Box 44"/>
                <p:cNvSpPr txBox="1">
                  <a:spLocks noChangeArrowheads="1"/>
                </p:cNvSpPr>
                <p:nvPr/>
              </p:nvSpPr>
              <p:spPr bwMode="auto">
                <a:xfrm>
                  <a:off x="1037" y="3961"/>
                  <a:ext cx="3471" cy="53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其一般形式为：</a:t>
                  </a:r>
                </a:p>
              </p:txBody>
            </p:sp>
            <p:grpSp>
              <p:nvGrpSpPr>
                <p:cNvPr id="24" name="组合 23"/>
                <p:cNvGrpSpPr/>
                <p:nvPr/>
              </p:nvGrpSpPr>
              <p:grpSpPr>
                <a:xfrm>
                  <a:off x="4174" y="3664"/>
                  <a:ext cx="3839" cy="1001"/>
                  <a:chOff x="1297" y="4969"/>
                  <a:chExt cx="3839" cy="1001"/>
                </a:xfrm>
              </p:grpSpPr>
              <p:sp>
                <p:nvSpPr>
                  <p:cNvPr id="25" name="流程图: 过程 24"/>
                  <p:cNvSpPr/>
                  <p:nvPr/>
                </p:nvSpPr>
                <p:spPr>
                  <a:xfrm>
                    <a:off x="1297" y="5095"/>
                    <a:ext cx="3760"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7" name="文本框 26"/>
                  <p:cNvSpPr txBox="1"/>
                  <p:nvPr/>
                </p:nvSpPr>
                <p:spPr>
                  <a:xfrm>
                    <a:off x="1375" y="4969"/>
                    <a:ext cx="3761" cy="840"/>
                  </a:xfrm>
                  <a:prstGeom prst="rect">
                    <a:avLst/>
                  </a:prstGeom>
                  <a:noFill/>
                </p:spPr>
                <p:txBody>
                  <a:bodyPr wrap="square" rtlCol="0">
                    <a:spAutoFit/>
                  </a:bodyPr>
                  <a:lstStyle/>
                  <a:p>
                    <a:pPr indent="0" algn="l" eaLnBrk="1" fontAlgn="auto" latinLnBrk="0" hangingPunct="1">
                      <a:lnSpc>
                        <a:spcPct val="2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命令1 &amp;&amp; 命令2 </a:t>
                    </a:r>
                  </a:p>
                </p:txBody>
              </p:sp>
            </p:grpSp>
          </p:grpSp>
          <p:sp>
            <p:nvSpPr>
              <p:cNvPr id="28" name="Text Box 44"/>
              <p:cNvSpPr txBox="1">
                <a:spLocks noChangeArrowheads="1"/>
              </p:cNvSpPr>
              <p:nvPr/>
            </p:nvSpPr>
            <p:spPr bwMode="auto">
              <a:xfrm>
                <a:off x="7968" y="4245"/>
                <a:ext cx="10044" cy="136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1800" dirty="0">
                    <a:solidFill>
                      <a:schemeClr val="tx1">
                        <a:lumMod val="85000"/>
                        <a:lumOff val="15000"/>
                      </a:schemeClr>
                    </a:solidFill>
                  </a:rPr>
                  <a:t>功能是，先执行命令1，如果执行成功，才执行命令2；否则，若命令1执行不成功，则不执行命令2。</a:t>
                </a:r>
              </a:p>
            </p:txBody>
          </p:sp>
        </p:grpSp>
        <p:grpSp>
          <p:nvGrpSpPr>
            <p:cNvPr id="29" name="组合 28"/>
            <p:cNvGrpSpPr/>
            <p:nvPr/>
          </p:nvGrpSpPr>
          <p:grpSpPr>
            <a:xfrm>
              <a:off x="1606" y="5386"/>
              <a:ext cx="16755" cy="918"/>
              <a:chOff x="1037" y="3664"/>
              <a:chExt cx="15975" cy="918"/>
            </a:xfrm>
          </p:grpSpPr>
          <p:sp>
            <p:nvSpPr>
              <p:cNvPr id="30" name="Text Box 44"/>
              <p:cNvSpPr txBox="1">
                <a:spLocks noChangeArrowheads="1"/>
              </p:cNvSpPr>
              <p:nvPr/>
            </p:nvSpPr>
            <p:spPr bwMode="auto">
              <a:xfrm>
                <a:off x="1037" y="3790"/>
                <a:ext cx="3471"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rgbClr val="FF0000"/>
                    </a:solidFill>
                  </a:rPr>
                  <a:t>例如：</a:t>
                </a:r>
              </a:p>
            </p:txBody>
          </p:sp>
          <p:grpSp>
            <p:nvGrpSpPr>
              <p:cNvPr id="31" name="组合 30"/>
              <p:cNvGrpSpPr/>
              <p:nvPr/>
            </p:nvGrpSpPr>
            <p:grpSpPr>
              <a:xfrm>
                <a:off x="2674" y="3664"/>
                <a:ext cx="14338" cy="918"/>
                <a:chOff x="-203" y="4969"/>
                <a:chExt cx="14338" cy="918"/>
              </a:xfrm>
            </p:grpSpPr>
            <p:sp>
              <p:nvSpPr>
                <p:cNvPr id="38" name="流程图: 过程 37"/>
                <p:cNvSpPr/>
                <p:nvPr/>
              </p:nvSpPr>
              <p:spPr>
                <a:xfrm>
                  <a:off x="-203" y="5012"/>
                  <a:ext cx="13888"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39" name="文本框 38"/>
                <p:cNvSpPr txBox="1"/>
                <p:nvPr/>
              </p:nvSpPr>
              <p:spPr>
                <a:xfrm>
                  <a:off x="-203" y="4969"/>
                  <a:ext cx="14338"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pro]$cp  example1  example11  &amp;&amp;  rm example1  </a:t>
                  </a:r>
                </a:p>
              </p:txBody>
            </p:sp>
          </p:grpSp>
        </p:grpSp>
        <p:sp>
          <p:nvSpPr>
            <p:cNvPr id="40" name="Text Box 44"/>
            <p:cNvSpPr txBox="1">
              <a:spLocks noChangeArrowheads="1"/>
            </p:cNvSpPr>
            <p:nvPr/>
          </p:nvSpPr>
          <p:spPr bwMode="auto">
            <a:xfrm>
              <a:off x="1351" y="6304"/>
              <a:ext cx="16649" cy="75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1800" dirty="0">
                  <a:solidFill>
                    <a:schemeClr val="tx1">
                      <a:lumMod val="85000"/>
                      <a:lumOff val="15000"/>
                    </a:schemeClr>
                  </a:solidFill>
                </a:rPr>
                <a:t>功能是，先执行命令1，如果执行成功，才执行命令2；否则，若命令1执行不成功，则不执行命令2。</a:t>
              </a:r>
            </a:p>
          </p:txBody>
        </p:sp>
      </p:grpSp>
      <p:grpSp>
        <p:nvGrpSpPr>
          <p:cNvPr id="42" name="组合 14"/>
          <p:cNvGrpSpPr/>
          <p:nvPr/>
        </p:nvGrpSpPr>
        <p:grpSpPr bwMode="auto">
          <a:xfrm>
            <a:off x="892175" y="5118100"/>
            <a:ext cx="10795000" cy="1092200"/>
            <a:chOff x="1166778" y="2328437"/>
            <a:chExt cx="9916778" cy="1183005"/>
          </a:xfrm>
        </p:grpSpPr>
        <p:grpSp>
          <p:nvGrpSpPr>
            <p:cNvPr id="43" name="组合 12"/>
            <p:cNvGrpSpPr/>
            <p:nvPr/>
          </p:nvGrpSpPr>
          <p:grpSpPr bwMode="auto">
            <a:xfrm>
              <a:off x="1166778" y="2328437"/>
              <a:ext cx="9916778" cy="1172001"/>
              <a:chOff x="1166778" y="2328437"/>
              <a:chExt cx="9916778" cy="1172001"/>
            </a:xfrm>
          </p:grpSpPr>
          <p:sp>
            <p:nvSpPr>
              <p:cNvPr id="44" name="矩形 43"/>
              <p:cNvSpPr/>
              <p:nvPr/>
            </p:nvSpPr>
            <p:spPr>
              <a:xfrm>
                <a:off x="1166778" y="2328437"/>
                <a:ext cx="9858444" cy="1172001"/>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46" name="矩形 6"/>
              <p:cNvSpPr>
                <a:spLocks noChangeArrowheads="1"/>
              </p:cNvSpPr>
              <p:nvPr/>
            </p:nvSpPr>
            <p:spPr bwMode="auto">
              <a:xfrm>
                <a:off x="1225112" y="2491445"/>
                <a:ext cx="9858444" cy="45531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用“&amp;&amp;”可以将多个命令联系起来，格式如下：</a:t>
                </a:r>
              </a:p>
            </p:txBody>
          </p:sp>
        </p:grpSp>
        <p:sp>
          <p:nvSpPr>
            <p:cNvPr id="47" name="MH_Text_1"/>
            <p:cNvSpPr txBox="1">
              <a:spLocks noChangeArrowheads="1"/>
            </p:cNvSpPr>
            <p:nvPr>
              <p:custDataLst>
                <p:tags r:id="rId1"/>
              </p:custDataLst>
            </p:nvPr>
          </p:nvSpPr>
          <p:spPr bwMode="auto">
            <a:xfrm>
              <a:off x="1257778" y="2981841"/>
              <a:ext cx="9589524" cy="529601"/>
            </a:xfrm>
            <a:prstGeom prst="rect">
              <a:avLst/>
            </a:prstGeom>
            <a:solidFill>
              <a:srgbClr val="F2F2F2"/>
            </a:solidFill>
            <a:ln w="9525">
              <a:noFill/>
              <a:miter lim="800000"/>
            </a:ln>
          </p:spPr>
          <p:txBody>
            <a:bodyPr/>
            <a:lstStyle/>
            <a:p>
              <a:pPr indent="0" algn="ctr"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命令1 &amp;&amp;命令2 &amp;&amp;命令3……&amp;&amp;命令n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blinds(horizontal)">
                                      <p:cBhvr>
                                        <p:cTn id="1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752600"/>
            <a:ext cx="11077575" cy="461391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5.3.4  命令执行操作符</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5" name="组合 4"/>
          <p:cNvGrpSpPr/>
          <p:nvPr/>
        </p:nvGrpSpPr>
        <p:grpSpPr>
          <a:xfrm>
            <a:off x="521970" y="2100580"/>
            <a:ext cx="2314575" cy="483235"/>
            <a:chOff x="1485" y="2712"/>
            <a:chExt cx="3645" cy="761"/>
          </a:xfrm>
        </p:grpSpPr>
        <p:sp>
          <p:nvSpPr>
            <p:cNvPr id="26" name="文本框 25"/>
            <p:cNvSpPr txBox="1"/>
            <p:nvPr/>
          </p:nvSpPr>
          <p:spPr>
            <a:xfrm>
              <a:off x="2626" y="2712"/>
              <a:ext cx="2504" cy="761"/>
            </a:xfrm>
            <a:prstGeom prst="rect">
              <a:avLst/>
            </a:prstGeom>
            <a:noFill/>
          </p:spPr>
          <p:txBody>
            <a:bodyPr wrap="none" rtlCol="0" anchor="t">
              <a:spAutoFit/>
            </a:bodyPr>
            <a:lstStyle/>
            <a:p>
              <a:pPr algn="l"/>
              <a:r>
                <a:rPr sz="2400" b="1" dirty="0">
                  <a:solidFill>
                    <a:srgbClr val="0070C0"/>
                  </a:solidFill>
                  <a:latin typeface="微软雅黑" panose="020B0503020204020204" pitchFamily="34" charset="-122"/>
                  <a:ea typeface="微软雅黑" panose="020B0503020204020204" pitchFamily="34" charset="-122"/>
                  <a:sym typeface="+mn-ea"/>
                </a:rPr>
                <a:t>3．逻辑或</a:t>
              </a:r>
            </a:p>
          </p:txBody>
        </p:sp>
        <p:sp>
          <p:nvSpPr>
            <p:cNvPr id="3" name="右箭头 2"/>
            <p:cNvSpPr/>
            <p:nvPr/>
          </p:nvSpPr>
          <p:spPr>
            <a:xfrm>
              <a:off x="1485" y="2757"/>
              <a:ext cx="840" cy="672"/>
            </a:xfrm>
            <a:prstGeom prst="rightArrow">
              <a:avLst/>
            </a:prstGeom>
            <a:solidFill>
              <a:srgbClr val="0070C0"/>
            </a:solidFill>
            <a:ln w="12700"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grpSp>
        <p:nvGrpSpPr>
          <p:cNvPr id="6" name="组合 5"/>
          <p:cNvGrpSpPr/>
          <p:nvPr/>
        </p:nvGrpSpPr>
        <p:grpSpPr>
          <a:xfrm>
            <a:off x="857885" y="2073910"/>
            <a:ext cx="10856595" cy="2683510"/>
            <a:chOff x="1351" y="3026"/>
            <a:chExt cx="17097" cy="4226"/>
          </a:xfrm>
        </p:grpSpPr>
        <p:sp>
          <p:nvSpPr>
            <p:cNvPr id="18" name="Text Box 44"/>
            <p:cNvSpPr txBox="1">
              <a:spLocks noChangeArrowheads="1"/>
            </p:cNvSpPr>
            <p:nvPr/>
          </p:nvSpPr>
          <p:spPr bwMode="auto">
            <a:xfrm>
              <a:off x="5465" y="3026"/>
              <a:ext cx="9721" cy="81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2000" b="1" dirty="0">
                  <a:solidFill>
                    <a:srgbClr val="0070C0"/>
                  </a:solidFill>
                </a:rPr>
                <a:t>逻辑或操作符“||”可将两个命令联系起来。</a:t>
              </a:r>
            </a:p>
          </p:txBody>
        </p:sp>
        <p:grpSp>
          <p:nvGrpSpPr>
            <p:cNvPr id="49" name="组合 48"/>
            <p:cNvGrpSpPr/>
            <p:nvPr/>
          </p:nvGrpSpPr>
          <p:grpSpPr>
            <a:xfrm>
              <a:off x="1674" y="4179"/>
              <a:ext cx="16774" cy="1487"/>
              <a:chOff x="1606" y="4805"/>
              <a:chExt cx="16774" cy="1487"/>
            </a:xfrm>
          </p:grpSpPr>
          <p:grpSp>
            <p:nvGrpSpPr>
              <p:cNvPr id="4" name="组合 3"/>
              <p:cNvGrpSpPr/>
              <p:nvPr/>
            </p:nvGrpSpPr>
            <p:grpSpPr>
              <a:xfrm>
                <a:off x="1606" y="4805"/>
                <a:ext cx="6363" cy="1487"/>
                <a:chOff x="1037" y="4027"/>
                <a:chExt cx="6976" cy="1000"/>
              </a:xfrm>
            </p:grpSpPr>
            <p:sp>
              <p:nvSpPr>
                <p:cNvPr id="45" name="Text Box 44"/>
                <p:cNvSpPr txBox="1">
                  <a:spLocks noChangeArrowheads="1"/>
                </p:cNvSpPr>
                <p:nvPr/>
              </p:nvSpPr>
              <p:spPr bwMode="auto">
                <a:xfrm>
                  <a:off x="1037" y="4324"/>
                  <a:ext cx="3471" cy="53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其一般形式为：</a:t>
                  </a:r>
                </a:p>
              </p:txBody>
            </p:sp>
            <p:grpSp>
              <p:nvGrpSpPr>
                <p:cNvPr id="24" name="组合 23"/>
                <p:cNvGrpSpPr/>
                <p:nvPr/>
              </p:nvGrpSpPr>
              <p:grpSpPr>
                <a:xfrm>
                  <a:off x="4174" y="4027"/>
                  <a:ext cx="3839" cy="1000"/>
                  <a:chOff x="1297" y="5332"/>
                  <a:chExt cx="3839" cy="1000"/>
                </a:xfrm>
              </p:grpSpPr>
              <p:sp>
                <p:nvSpPr>
                  <p:cNvPr id="25" name="流程图: 过程 24"/>
                  <p:cNvSpPr/>
                  <p:nvPr/>
                </p:nvSpPr>
                <p:spPr>
                  <a:xfrm>
                    <a:off x="1297" y="5457"/>
                    <a:ext cx="3760"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7" name="文本框 26"/>
                  <p:cNvSpPr txBox="1"/>
                  <p:nvPr/>
                </p:nvSpPr>
                <p:spPr>
                  <a:xfrm>
                    <a:off x="1375" y="5332"/>
                    <a:ext cx="3761" cy="840"/>
                  </a:xfrm>
                  <a:prstGeom prst="rect">
                    <a:avLst/>
                  </a:prstGeom>
                  <a:noFill/>
                </p:spPr>
                <p:txBody>
                  <a:bodyPr wrap="square" rtlCol="0">
                    <a:spAutoFit/>
                  </a:bodyPr>
                  <a:lstStyle/>
                  <a:p>
                    <a:pPr indent="0" algn="l" eaLnBrk="1" fontAlgn="auto" latinLnBrk="0" hangingPunct="1">
                      <a:lnSpc>
                        <a:spcPct val="2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命令1 ||命令2 </a:t>
                    </a:r>
                  </a:p>
                </p:txBody>
              </p:sp>
            </p:grpSp>
          </p:grpSp>
          <p:sp>
            <p:nvSpPr>
              <p:cNvPr id="28" name="Text Box 44"/>
              <p:cNvSpPr txBox="1">
                <a:spLocks noChangeArrowheads="1"/>
              </p:cNvSpPr>
              <p:nvPr/>
            </p:nvSpPr>
            <p:spPr bwMode="auto">
              <a:xfrm>
                <a:off x="7968" y="4805"/>
                <a:ext cx="10412" cy="136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1800" dirty="0">
                    <a:solidFill>
                      <a:schemeClr val="tx1">
                        <a:lumMod val="85000"/>
                        <a:lumOff val="15000"/>
                      </a:schemeClr>
                    </a:solidFill>
                  </a:rPr>
                  <a:t>功能是，先执行命令1，如果执行不成功，则执行命令2；否则，若命令1执行成功，则不执行命令2。</a:t>
                </a:r>
              </a:p>
            </p:txBody>
          </p:sp>
        </p:grpSp>
        <p:grpSp>
          <p:nvGrpSpPr>
            <p:cNvPr id="29" name="组合 28"/>
            <p:cNvGrpSpPr/>
            <p:nvPr/>
          </p:nvGrpSpPr>
          <p:grpSpPr>
            <a:xfrm>
              <a:off x="1606" y="5686"/>
              <a:ext cx="11979" cy="878"/>
              <a:chOff x="1037" y="3964"/>
              <a:chExt cx="15997" cy="878"/>
            </a:xfrm>
          </p:grpSpPr>
          <p:sp>
            <p:nvSpPr>
              <p:cNvPr id="30" name="Text Box 44"/>
              <p:cNvSpPr txBox="1">
                <a:spLocks noChangeArrowheads="1"/>
              </p:cNvSpPr>
              <p:nvPr/>
            </p:nvSpPr>
            <p:spPr bwMode="auto">
              <a:xfrm>
                <a:off x="1037" y="3994"/>
                <a:ext cx="3471"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rgbClr val="FF0000"/>
                    </a:solidFill>
                  </a:rPr>
                  <a:t>例如：</a:t>
                </a:r>
              </a:p>
            </p:txBody>
          </p:sp>
          <p:grpSp>
            <p:nvGrpSpPr>
              <p:cNvPr id="31" name="组合 30"/>
              <p:cNvGrpSpPr/>
              <p:nvPr/>
            </p:nvGrpSpPr>
            <p:grpSpPr>
              <a:xfrm>
                <a:off x="2674" y="3964"/>
                <a:ext cx="14360" cy="878"/>
                <a:chOff x="-203" y="5269"/>
                <a:chExt cx="14360" cy="878"/>
              </a:xfrm>
            </p:grpSpPr>
            <p:sp>
              <p:nvSpPr>
                <p:cNvPr id="38" name="流程图: 过程 37"/>
                <p:cNvSpPr/>
                <p:nvPr/>
              </p:nvSpPr>
              <p:spPr>
                <a:xfrm>
                  <a:off x="-203" y="5272"/>
                  <a:ext cx="13888"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39" name="文本框 38"/>
                <p:cNvSpPr txBox="1"/>
                <p:nvPr/>
              </p:nvSpPr>
              <p:spPr>
                <a:xfrm>
                  <a:off x="-203" y="5269"/>
                  <a:ext cx="14360"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pro]$cat  example11 || pwd   </a:t>
                  </a:r>
                </a:p>
              </p:txBody>
            </p:sp>
          </p:grpSp>
        </p:grpSp>
        <p:sp>
          <p:nvSpPr>
            <p:cNvPr id="40" name="Text Box 44"/>
            <p:cNvSpPr txBox="1">
              <a:spLocks noChangeArrowheads="1"/>
            </p:cNvSpPr>
            <p:nvPr/>
          </p:nvSpPr>
          <p:spPr bwMode="auto">
            <a:xfrm>
              <a:off x="1351" y="6496"/>
              <a:ext cx="15027" cy="75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1800" dirty="0">
                  <a:solidFill>
                    <a:schemeClr val="tx1">
                      <a:lumMod val="85000"/>
                      <a:lumOff val="15000"/>
                    </a:schemeClr>
                  </a:solidFill>
                </a:rPr>
                <a:t>表示如果不能将文件example11的内容显示出来，则显示当前工作目录的路径</a:t>
              </a:r>
            </a:p>
          </p:txBody>
        </p:sp>
      </p:grpSp>
      <p:grpSp>
        <p:nvGrpSpPr>
          <p:cNvPr id="42" name="组合 14"/>
          <p:cNvGrpSpPr/>
          <p:nvPr/>
        </p:nvGrpSpPr>
        <p:grpSpPr bwMode="auto">
          <a:xfrm>
            <a:off x="913765" y="5022215"/>
            <a:ext cx="10097135" cy="1217295"/>
            <a:chOff x="1166778" y="1786456"/>
            <a:chExt cx="9858444" cy="1713982"/>
          </a:xfrm>
        </p:grpSpPr>
        <p:grpSp>
          <p:nvGrpSpPr>
            <p:cNvPr id="43" name="组合 12"/>
            <p:cNvGrpSpPr/>
            <p:nvPr/>
          </p:nvGrpSpPr>
          <p:grpSpPr bwMode="auto">
            <a:xfrm>
              <a:off x="1166778" y="1786456"/>
              <a:ext cx="9858444" cy="1713982"/>
              <a:chOff x="1166778" y="1786456"/>
              <a:chExt cx="9858444" cy="1713982"/>
            </a:xfrm>
          </p:grpSpPr>
          <p:sp>
            <p:nvSpPr>
              <p:cNvPr id="44" name="矩形 43"/>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46" name="矩形 6"/>
              <p:cNvSpPr>
                <a:spLocks noChangeArrowheads="1"/>
              </p:cNvSpPr>
              <p:nvPr/>
            </p:nvSpPr>
            <p:spPr bwMode="auto">
              <a:xfrm>
                <a:off x="1166778" y="1817407"/>
                <a:ext cx="9858444" cy="64374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同样，利用“||”也可以将多个命令联系起来，格式如下：</a:t>
                </a:r>
              </a:p>
            </p:txBody>
          </p:sp>
        </p:grpSp>
        <p:sp>
          <p:nvSpPr>
            <p:cNvPr id="47" name="MH_Text_1"/>
            <p:cNvSpPr txBox="1">
              <a:spLocks noChangeArrowheads="1"/>
            </p:cNvSpPr>
            <p:nvPr>
              <p:custDataLst>
                <p:tags r:id="rId1"/>
              </p:custDataLst>
            </p:nvPr>
          </p:nvSpPr>
          <p:spPr bwMode="auto">
            <a:xfrm>
              <a:off x="1246217" y="2553590"/>
              <a:ext cx="9435365" cy="793063"/>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命令1||命令2||命令3……||命令n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strips(downRight)">
                                      <p:cBhvr>
                                        <p:cTn id="1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2087245" y="4690745"/>
            <a:ext cx="4037330" cy="481330"/>
            <a:chOff x="3" y="0"/>
            <a:chExt cx="4243" cy="333"/>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55675" y="3431540"/>
            <a:ext cx="9979025" cy="2369820"/>
            <a:chOff x="5063" y="4483"/>
            <a:chExt cx="16413" cy="3732"/>
          </a:xfrm>
        </p:grpSpPr>
        <p:sp>
          <p:nvSpPr>
            <p:cNvPr id="25" name="文本框 24"/>
            <p:cNvSpPr txBox="1"/>
            <p:nvPr/>
          </p:nvSpPr>
          <p:spPr>
            <a:xfrm>
              <a:off x="5063" y="4795"/>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grpSp>
          <p:nvGrpSpPr>
            <p:cNvPr id="13" name="组合 12"/>
            <p:cNvGrpSpPr/>
            <p:nvPr/>
          </p:nvGrpSpPr>
          <p:grpSpPr>
            <a:xfrm>
              <a:off x="5063" y="4483"/>
              <a:ext cx="16413" cy="3732"/>
              <a:chOff x="3407" y="4241"/>
              <a:chExt cx="16413" cy="3732"/>
            </a:xfrm>
          </p:grpSpPr>
          <p:sp>
            <p:nvSpPr>
              <p:cNvPr id="30" name="Text Box 44"/>
              <p:cNvSpPr txBox="1">
                <a:spLocks noChangeArrowheads="1"/>
              </p:cNvSpPr>
              <p:nvPr/>
            </p:nvSpPr>
            <p:spPr bwMode="auto">
              <a:xfrm>
                <a:off x="3558" y="4241"/>
                <a:ext cx="16263" cy="373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400" b="1" dirty="0">
                    <a:solidFill>
                      <a:srgbClr val="0070C0"/>
                    </a:solidFill>
                  </a:rPr>
                  <a:t>用户变量</a:t>
                </a:r>
                <a:r>
                  <a:rPr lang="zh-CN" altLang="en-US" sz="2000" dirty="0">
                    <a:solidFill>
                      <a:schemeClr val="tx1">
                        <a:lumMod val="85000"/>
                        <a:lumOff val="15000"/>
                      </a:schemeClr>
                    </a:solidFill>
                  </a:rPr>
                  <a:t>是在编写shell脚本时定义的。可以在shell程序内任意使用和修改它们。</a:t>
                </a:r>
              </a:p>
              <a:p>
                <a:pPr eaLnBrk="1" latinLnBrk="0" hangingPunct="1">
                  <a:lnSpc>
                    <a:spcPct val="170000"/>
                  </a:lnSpc>
                </a:pPr>
                <a:r>
                  <a:rPr lang="zh-CN" altLang="en-US" sz="2400" b="1" dirty="0">
                    <a:solidFill>
                      <a:srgbClr val="0070C0"/>
                    </a:solidFill>
                  </a:rPr>
                  <a:t>内部变量</a:t>
                </a:r>
                <a:r>
                  <a:rPr lang="zh-CN" altLang="en-US" sz="2000" dirty="0">
                    <a:solidFill>
                      <a:schemeClr val="tx1">
                        <a:lumMod val="85000"/>
                        <a:lumOff val="15000"/>
                      </a:schemeClr>
                    </a:solidFill>
                  </a:rPr>
                  <a:t>是由系统提供的。与环境变量不同，但用户不能修改它们。</a:t>
                </a:r>
              </a:p>
              <a:p>
                <a:pPr eaLnBrk="1" latinLnBrk="0" hangingPunct="1">
                  <a:lnSpc>
                    <a:spcPct val="160000"/>
                  </a:lnSpc>
                </a:pPr>
                <a:r>
                  <a:rPr lang="zh-CN" altLang="en-US" sz="2400" b="1" dirty="0">
                    <a:solidFill>
                      <a:srgbClr val="0070C0"/>
                    </a:solidFill>
                  </a:rPr>
                  <a:t>环境变量</a:t>
                </a:r>
                <a:r>
                  <a:rPr lang="zh-CN" altLang="en-US" sz="2000" dirty="0">
                    <a:solidFill>
                      <a:schemeClr val="tx1">
                        <a:lumMod val="85000"/>
                        <a:lumOff val="15000"/>
                      </a:schemeClr>
                    </a:solidFill>
                  </a:rPr>
                  <a:t>是系统环境的一部分，不必去定义它们。可以在shell程序中使用它们，某些变量（如PATH）还能在shell中加以修改。</a:t>
                </a:r>
              </a:p>
            </p:txBody>
          </p:sp>
          <p:sp>
            <p:nvSpPr>
              <p:cNvPr id="3" name="文本框 2"/>
              <p:cNvSpPr txBox="1"/>
              <p:nvPr/>
            </p:nvSpPr>
            <p:spPr>
              <a:xfrm>
                <a:off x="3407" y="5518"/>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grpSp>
        <p:sp>
          <p:nvSpPr>
            <p:cNvPr id="5" name="文本框 4"/>
            <p:cNvSpPr txBox="1"/>
            <p:nvPr/>
          </p:nvSpPr>
          <p:spPr>
            <a:xfrm>
              <a:off x="5063" y="6709"/>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grpSp>
      <p:sp>
        <p:nvSpPr>
          <p:cNvPr id="7" name="圆角矩形 6"/>
          <p:cNvSpPr/>
          <p:nvPr/>
        </p:nvSpPr>
        <p:spPr>
          <a:xfrm>
            <a:off x="1038860" y="1978660"/>
            <a:ext cx="10099675" cy="116586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Linux的shell编程是一种非常成熟的编程语言，它支持各种类型的变量，主要有3种，即用户变量、内部变量及环境变量。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2"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5.4.1  用户变量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1" name="组合 30"/>
          <p:cNvGrpSpPr/>
          <p:nvPr/>
        </p:nvGrpSpPr>
        <p:grpSpPr>
          <a:xfrm>
            <a:off x="692150" y="3707130"/>
            <a:ext cx="2406650" cy="518160"/>
            <a:chOff x="1337" y="2814"/>
            <a:chExt cx="3790" cy="816"/>
          </a:xfrm>
        </p:grpSpPr>
        <p:sp>
          <p:nvSpPr>
            <p:cNvPr id="25" name="文本框 2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26" name="文本框 25"/>
            <p:cNvSpPr txBox="1"/>
            <p:nvPr/>
          </p:nvSpPr>
          <p:spPr>
            <a:xfrm>
              <a:off x="2143" y="2862"/>
              <a:ext cx="298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2．变量赋值</a:t>
              </a:r>
            </a:p>
          </p:txBody>
        </p:sp>
      </p:grpSp>
      <p:grpSp>
        <p:nvGrpSpPr>
          <p:cNvPr id="4" name="组合 3"/>
          <p:cNvGrpSpPr/>
          <p:nvPr/>
        </p:nvGrpSpPr>
        <p:grpSpPr>
          <a:xfrm>
            <a:off x="6337851" y="4119245"/>
            <a:ext cx="5854149" cy="1823720"/>
            <a:chOff x="2297" y="2582"/>
            <a:chExt cx="5985" cy="2872"/>
          </a:xfrm>
        </p:grpSpPr>
        <p:sp>
          <p:nvSpPr>
            <p:cNvPr id="24" name="Text Box 44"/>
            <p:cNvSpPr txBox="1">
              <a:spLocks noChangeArrowheads="1"/>
            </p:cNvSpPr>
            <p:nvPr/>
          </p:nvSpPr>
          <p:spPr bwMode="auto">
            <a:xfrm>
              <a:off x="2348" y="2582"/>
              <a:ext cx="1023"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rgbClr val="009900"/>
                  </a:solidFill>
                </a:rPr>
                <a:t>例如：</a:t>
              </a:r>
            </a:p>
          </p:txBody>
        </p:sp>
        <p:grpSp>
          <p:nvGrpSpPr>
            <p:cNvPr id="27" name="组合 26"/>
            <p:cNvGrpSpPr/>
            <p:nvPr/>
          </p:nvGrpSpPr>
          <p:grpSpPr>
            <a:xfrm>
              <a:off x="2297" y="3790"/>
              <a:ext cx="5985" cy="1664"/>
              <a:chOff x="-580" y="5095"/>
              <a:chExt cx="5985" cy="1664"/>
            </a:xfrm>
          </p:grpSpPr>
          <p:sp>
            <p:nvSpPr>
              <p:cNvPr id="28" name="流程图: 过程 27"/>
              <p:cNvSpPr/>
              <p:nvPr/>
            </p:nvSpPr>
            <p:spPr>
              <a:xfrm>
                <a:off x="-580" y="5175"/>
                <a:ext cx="5705" cy="1584"/>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9" name="文本框 28"/>
              <p:cNvSpPr txBox="1"/>
              <p:nvPr/>
            </p:nvSpPr>
            <p:spPr>
              <a:xfrm>
                <a:off x="-580" y="5095"/>
                <a:ext cx="5985" cy="158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lcount=0 </a:t>
                </a:r>
              </a:p>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myname=wangtong yourname="li dong" </a:t>
                </a:r>
              </a:p>
            </p:txBody>
          </p:sp>
        </p:grpSp>
      </p:grpSp>
      <p:grpSp>
        <p:nvGrpSpPr>
          <p:cNvPr id="3" name="组合 2"/>
          <p:cNvGrpSpPr/>
          <p:nvPr/>
        </p:nvGrpSpPr>
        <p:grpSpPr>
          <a:xfrm>
            <a:off x="640715" y="1654810"/>
            <a:ext cx="2101850" cy="518160"/>
            <a:chOff x="1337" y="2814"/>
            <a:chExt cx="3310" cy="816"/>
          </a:xfrm>
        </p:grpSpPr>
        <p:sp>
          <p:nvSpPr>
            <p:cNvPr id="5" name="文本框 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13" name="文本框 12"/>
            <p:cNvSpPr txBox="1"/>
            <p:nvPr/>
          </p:nvSpPr>
          <p:spPr>
            <a:xfrm>
              <a:off x="2143" y="2862"/>
              <a:ext cx="250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1．变量名</a:t>
              </a:r>
            </a:p>
          </p:txBody>
        </p:sp>
      </p:grpSp>
      <p:grpSp>
        <p:nvGrpSpPr>
          <p:cNvPr id="15" name="组合 14"/>
          <p:cNvGrpSpPr/>
          <p:nvPr/>
        </p:nvGrpSpPr>
        <p:grpSpPr>
          <a:xfrm>
            <a:off x="984885" y="5277485"/>
            <a:ext cx="5034915" cy="578485"/>
            <a:chOff x="1034" y="3671"/>
            <a:chExt cx="12503" cy="911"/>
          </a:xfrm>
        </p:grpSpPr>
        <p:sp>
          <p:nvSpPr>
            <p:cNvPr id="45" name="Text Box 44"/>
            <p:cNvSpPr txBox="1">
              <a:spLocks noChangeArrowheads="1"/>
            </p:cNvSpPr>
            <p:nvPr/>
          </p:nvSpPr>
          <p:spPr bwMode="auto">
            <a:xfrm>
              <a:off x="1034" y="3707"/>
              <a:ext cx="4816"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其一般形式是：</a:t>
              </a:r>
            </a:p>
          </p:txBody>
        </p:sp>
        <p:grpSp>
          <p:nvGrpSpPr>
            <p:cNvPr id="16" name="组合 15"/>
            <p:cNvGrpSpPr/>
            <p:nvPr/>
          </p:nvGrpSpPr>
          <p:grpSpPr>
            <a:xfrm>
              <a:off x="6146" y="3671"/>
              <a:ext cx="7391" cy="911"/>
              <a:chOff x="3269" y="4976"/>
              <a:chExt cx="7391" cy="911"/>
            </a:xfrm>
          </p:grpSpPr>
          <p:sp>
            <p:nvSpPr>
              <p:cNvPr id="17" name="流程图: 过程 16"/>
              <p:cNvSpPr/>
              <p:nvPr/>
            </p:nvSpPr>
            <p:spPr>
              <a:xfrm>
                <a:off x="3269" y="5012"/>
                <a:ext cx="739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1" name="文本框 20"/>
              <p:cNvSpPr txBox="1"/>
              <p:nvPr/>
            </p:nvSpPr>
            <p:spPr>
              <a:xfrm>
                <a:off x="3456" y="4976"/>
                <a:ext cx="7017"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变量名=字符串/数字</a:t>
                </a:r>
              </a:p>
            </p:txBody>
          </p:sp>
        </p:grpSp>
      </p:grpSp>
      <p:sp>
        <p:nvSpPr>
          <p:cNvPr id="22" name="Text Box 44"/>
          <p:cNvSpPr txBox="1">
            <a:spLocks noChangeArrowheads="1"/>
          </p:cNvSpPr>
          <p:nvPr/>
        </p:nvSpPr>
        <p:spPr bwMode="auto">
          <a:xfrm>
            <a:off x="683895" y="4106545"/>
            <a:ext cx="5475605" cy="107721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给变量赋值的过程也是声明一个变量的过程。变量的赋值很简单。</a:t>
            </a:r>
          </a:p>
        </p:txBody>
      </p:sp>
      <p:sp>
        <p:nvSpPr>
          <p:cNvPr id="7" name="圆角矩形 6"/>
          <p:cNvSpPr/>
          <p:nvPr/>
        </p:nvSpPr>
        <p:spPr>
          <a:xfrm>
            <a:off x="699135" y="2199005"/>
            <a:ext cx="10603865" cy="1432560"/>
          </a:xfrm>
          <a:prstGeom prst="roundRect">
            <a:avLst/>
          </a:prstGeom>
          <a:noFill/>
          <a:ln w="635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用户定义的变量是普通的shell变量。变量名是以字母或下线符开头的字母、数字及下线符序列，并且大小写字母意义不同。例如，dir与Dir是两个不同的变量名。变量名的长度不受限制。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left)">
                                      <p:cBhvr>
                                        <p:cTn id="19" dur="500"/>
                                        <p:tgtEl>
                                          <p:spTgt spid="22"/>
                                        </p:tgtEl>
                                      </p:cBhvr>
                                    </p:animEffect>
                                  </p:childTnLst>
                                </p:cTn>
                              </p:par>
                              <p:par>
                                <p:cTn id="20" presetID="22" presetClass="entr" presetSubtype="8"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par>
                                <p:cTn id="23" presetID="22" presetClass="entr" presetSubtype="8"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7" grpId="0" animBg="1"/>
      <p:bldP spid="7" grpId="1" animBg="1"/>
      <p:bldP spid="7" grpId="2"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5.4.1  用户变量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4" name="组合 3"/>
          <p:cNvGrpSpPr/>
          <p:nvPr/>
        </p:nvGrpSpPr>
        <p:grpSpPr>
          <a:xfrm>
            <a:off x="4418965" y="1800225"/>
            <a:ext cx="7081520" cy="4007485"/>
            <a:chOff x="1009" y="2774"/>
            <a:chExt cx="11152" cy="6311"/>
          </a:xfrm>
        </p:grpSpPr>
        <p:sp>
          <p:nvSpPr>
            <p:cNvPr id="18" name="Text Box 44"/>
            <p:cNvSpPr txBox="1">
              <a:spLocks noChangeArrowheads="1"/>
            </p:cNvSpPr>
            <p:nvPr/>
          </p:nvSpPr>
          <p:spPr bwMode="auto">
            <a:xfrm>
              <a:off x="1009" y="3583"/>
              <a:ext cx="11152" cy="244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rgbClr val="FF0000"/>
                  </a:solidFill>
                </a:rPr>
                <a:t>可以通过给变量名加上</a:t>
              </a:r>
              <a:r>
                <a:rPr lang="zh-CN" altLang="en-US" sz="2000" b="1" dirty="0">
                  <a:solidFill>
                    <a:srgbClr val="FF0000"/>
                  </a:solidFill>
                </a:rPr>
                <a:t>前缀$</a:t>
              </a:r>
              <a:r>
                <a:rPr lang="zh-CN" altLang="en-US" sz="2000" dirty="0">
                  <a:solidFill>
                    <a:srgbClr val="FF0000"/>
                  </a:solidFill>
                </a:rPr>
                <a:t>（美元符）来访问变量的值。</a:t>
              </a:r>
              <a:r>
                <a:rPr lang="zh-CN" altLang="en-US" sz="2000" dirty="0">
                  <a:solidFill>
                    <a:schemeClr val="tx1">
                      <a:lumMod val="85000"/>
                      <a:lumOff val="15000"/>
                    </a:schemeClr>
                  </a:solidFill>
                </a:rPr>
                <a:t>也就是说，假设变量名为myname，那么使用$myname就可以访问这个变量。</a:t>
              </a:r>
            </a:p>
          </p:txBody>
        </p:sp>
        <p:grpSp>
          <p:nvGrpSpPr>
            <p:cNvPr id="27" name="组合 26"/>
            <p:cNvGrpSpPr/>
            <p:nvPr/>
          </p:nvGrpSpPr>
          <p:grpSpPr>
            <a:xfrm>
              <a:off x="4150" y="7949"/>
              <a:ext cx="5477" cy="1136"/>
              <a:chOff x="1802" y="4593"/>
              <a:chExt cx="5985" cy="1584"/>
            </a:xfrm>
          </p:grpSpPr>
          <p:sp>
            <p:nvSpPr>
              <p:cNvPr id="28" name="流程图: 过程 27"/>
              <p:cNvSpPr/>
              <p:nvPr/>
            </p:nvSpPr>
            <p:spPr>
              <a:xfrm>
                <a:off x="1802" y="4593"/>
                <a:ext cx="5705" cy="1584"/>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9" name="文本框 28"/>
              <p:cNvSpPr txBox="1"/>
              <p:nvPr/>
            </p:nvSpPr>
            <p:spPr>
              <a:xfrm>
                <a:off x="1802" y="4593"/>
                <a:ext cx="5985" cy="1205"/>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yourname=$myname </a:t>
                </a:r>
              </a:p>
            </p:txBody>
          </p:sp>
        </p:grpSp>
        <p:grpSp>
          <p:nvGrpSpPr>
            <p:cNvPr id="3" name="组合 2"/>
            <p:cNvGrpSpPr/>
            <p:nvPr/>
          </p:nvGrpSpPr>
          <p:grpSpPr>
            <a:xfrm>
              <a:off x="1009" y="2774"/>
              <a:ext cx="4270" cy="816"/>
              <a:chOff x="1337" y="2814"/>
              <a:chExt cx="4270" cy="816"/>
            </a:xfrm>
          </p:grpSpPr>
          <p:sp>
            <p:nvSpPr>
              <p:cNvPr id="5" name="文本框 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13" name="文本框 12"/>
              <p:cNvSpPr txBox="1"/>
              <p:nvPr/>
            </p:nvSpPr>
            <p:spPr>
              <a:xfrm>
                <a:off x="2143" y="2862"/>
                <a:ext cx="346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3．访问变量值</a:t>
                </a:r>
              </a:p>
            </p:txBody>
          </p:sp>
        </p:grpSp>
        <p:sp>
          <p:nvSpPr>
            <p:cNvPr id="6" name="Text Box 44"/>
            <p:cNvSpPr txBox="1">
              <a:spLocks noChangeArrowheads="1"/>
            </p:cNvSpPr>
            <p:nvPr/>
          </p:nvSpPr>
          <p:spPr bwMode="auto">
            <a:xfrm>
              <a:off x="1009" y="6031"/>
              <a:ext cx="10311" cy="16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如果要将myname的值</a:t>
              </a:r>
              <a:r>
                <a:rPr lang="zh-CN" altLang="en-US" sz="2000" b="1" dirty="0">
                  <a:solidFill>
                    <a:srgbClr val="0070C0"/>
                  </a:solidFill>
                </a:rPr>
                <a:t>分配给</a:t>
              </a:r>
              <a:r>
                <a:rPr lang="zh-CN" altLang="en-US" sz="2000" dirty="0">
                  <a:solidFill>
                    <a:schemeClr val="tx1">
                      <a:lumMod val="85000"/>
                      <a:lumOff val="15000"/>
                    </a:schemeClr>
                  </a:solidFill>
                </a:rPr>
                <a:t>变量yourname，那么可以执行下面的命令：</a:t>
              </a:r>
            </a:p>
          </p:txBody>
        </p:sp>
      </p:grpSp>
      <p:pic>
        <p:nvPicPr>
          <p:cNvPr id="174085" name="图片 4" descr="www_tuweimei_comComp_11067443_ZCa5eQxZtqhcpTOTaJYaZxMFGmuJhYz6.jpg"/>
          <p:cNvPicPr>
            <a:picLocks noGrp="1" noChangeAspect="1"/>
          </p:cNvPicPr>
          <p:nvPr/>
        </p:nvPicPr>
        <p:blipFill>
          <a:blip r:embed="rId2" cstate="print"/>
          <a:stretch>
            <a:fillRect/>
          </a:stretch>
        </p:blipFill>
        <p:spPr>
          <a:xfrm>
            <a:off x="198755" y="1830705"/>
            <a:ext cx="3826510" cy="382651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74085"/>
                                        </p:tgtEl>
                                        <p:attrNameLst>
                                          <p:attrName>style.visibility</p:attrName>
                                        </p:attrNameLst>
                                      </p:cBhvr>
                                      <p:to>
                                        <p:strVal val="visible"/>
                                      </p:to>
                                    </p:set>
                                    <p:anim calcmode="lin" valueType="num">
                                      <p:cBhvr additive="base">
                                        <p:cTn id="7" dur="500" fill="hold"/>
                                        <p:tgtEl>
                                          <p:spTgt spid="174085"/>
                                        </p:tgtEl>
                                        <p:attrNameLst>
                                          <p:attrName>ppt_x</p:attrName>
                                        </p:attrNameLst>
                                      </p:cBhvr>
                                      <p:tavLst>
                                        <p:tav tm="0">
                                          <p:val>
                                            <p:strVal val="0-#ppt_w/2"/>
                                          </p:val>
                                        </p:tav>
                                        <p:tav tm="100000">
                                          <p:val>
                                            <p:strVal val="#ppt_x"/>
                                          </p:val>
                                        </p:tav>
                                      </p:tavLst>
                                    </p:anim>
                                    <p:anim calcmode="lin" valueType="num">
                                      <p:cBhvr additive="base">
                                        <p:cTn id="8" dur="500" fill="hold"/>
                                        <p:tgtEl>
                                          <p:spTgt spid="17408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5.4.2  内部变量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2" name="组合 11"/>
          <p:cNvGrpSpPr/>
          <p:nvPr/>
        </p:nvGrpSpPr>
        <p:grpSpPr>
          <a:xfrm>
            <a:off x="1604010" y="3114675"/>
            <a:ext cx="8703945" cy="502920"/>
            <a:chOff x="2213609" y="1428736"/>
            <a:chExt cx="10566030" cy="660400"/>
          </a:xfrm>
        </p:grpSpPr>
        <p:sp>
          <p:nvSpPr>
            <p:cNvPr id="4" name="MH_SubTitle_1"/>
            <p:cNvSpPr/>
            <p:nvPr>
              <p:custDataLst>
                <p:tags r:id="rId7"/>
              </p:custDataLst>
            </p:nvPr>
          </p:nvSpPr>
          <p:spPr>
            <a:xfrm>
              <a:off x="3595742" y="1453751"/>
              <a:ext cx="9183897" cy="604533"/>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lstStyle/>
            <a:p>
              <a:pPr>
                <a:lnSpc>
                  <a:spcPct val="130000"/>
                </a:lnSpc>
                <a:defRPr/>
              </a:pPr>
              <a:r>
                <a:rPr altLang="en-US" sz="2000" b="1" dirty="0">
                  <a:solidFill>
                    <a:schemeClr val="tx1"/>
                  </a:solidFill>
                  <a:latin typeface="微软雅黑" panose="020B0503020204020204" pitchFamily="34" charset="-122"/>
                  <a:ea typeface="微软雅黑" panose="020B0503020204020204" pitchFamily="34" charset="-122"/>
                </a:rPr>
                <a:t>  </a:t>
              </a:r>
              <a:r>
                <a:rPr sz="2000" dirty="0" err="1">
                  <a:latin typeface="微软雅黑" panose="020B0503020204020204" pitchFamily="34" charset="-122"/>
                  <a:ea typeface="微软雅黑" panose="020B0503020204020204" pitchFamily="34" charset="-122"/>
                  <a:sym typeface="+mn-ea"/>
                </a:rPr>
                <a:t>传送给shell程序的参数的</a:t>
              </a:r>
              <a:r>
                <a:rPr sz="2000" b="1" dirty="0" err="1">
                  <a:solidFill>
                    <a:srgbClr val="0070C0"/>
                  </a:solidFill>
                  <a:latin typeface="微软雅黑" panose="020B0503020204020204" pitchFamily="34" charset="-122"/>
                  <a:ea typeface="微软雅黑" panose="020B0503020204020204" pitchFamily="34" charset="-122"/>
                  <a:sym typeface="+mn-ea"/>
                </a:rPr>
                <a:t>数量</a:t>
              </a:r>
              <a:r>
                <a:rPr sz="2000" dirty="0">
                  <a:latin typeface="微软雅黑" panose="020B0503020204020204" pitchFamily="34" charset="-122"/>
                  <a:ea typeface="微软雅黑" panose="020B0503020204020204" pitchFamily="34" charset="-122"/>
                  <a:sym typeface="+mn-ea"/>
                </a:rPr>
                <a:t>。</a:t>
              </a:r>
              <a:endParaRPr altLang="en-US" sz="2000" b="1" dirty="0">
                <a:solidFill>
                  <a:schemeClr val="tx1"/>
                </a:solidFill>
                <a:latin typeface="微软雅黑" panose="020B0503020204020204" pitchFamily="34" charset="-122"/>
                <a:ea typeface="微软雅黑" panose="020B0503020204020204" pitchFamily="34" charset="-122"/>
                <a:sym typeface="+mn-ea"/>
              </a:endParaRPr>
            </a:p>
          </p:txBody>
        </p:sp>
        <p:sp>
          <p:nvSpPr>
            <p:cNvPr id="5" name="MH_Other_1"/>
            <p:cNvSpPr/>
            <p:nvPr>
              <p:custDataLst>
                <p:tags r:id="rId8"/>
              </p:custDataLst>
            </p:nvPr>
          </p:nvSpPr>
          <p:spPr>
            <a:xfrm>
              <a:off x="2213609" y="1428736"/>
              <a:ext cx="1712056" cy="660400"/>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p>
          </p:txBody>
        </p:sp>
      </p:grpSp>
      <p:grpSp>
        <p:nvGrpSpPr>
          <p:cNvPr id="13" name="组合 12"/>
          <p:cNvGrpSpPr/>
          <p:nvPr/>
        </p:nvGrpSpPr>
        <p:grpSpPr>
          <a:xfrm>
            <a:off x="1604010" y="3903980"/>
            <a:ext cx="8703945" cy="502920"/>
            <a:chOff x="2213609" y="2349487"/>
            <a:chExt cx="10566030" cy="658812"/>
          </a:xfrm>
        </p:grpSpPr>
        <p:sp>
          <p:nvSpPr>
            <p:cNvPr id="7" name="MH_SubTitle_2"/>
            <p:cNvSpPr/>
            <p:nvPr>
              <p:custDataLst>
                <p:tags r:id="rId5"/>
              </p:custDataLst>
            </p:nvPr>
          </p:nvSpPr>
          <p:spPr>
            <a:xfrm>
              <a:off x="3595742" y="2375274"/>
              <a:ext cx="9183897" cy="604743"/>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marL="0" indent="0">
                <a:lnSpc>
                  <a:spcPct val="140000"/>
                </a:lnSpc>
                <a:spcBef>
                  <a:spcPts val="600"/>
                </a:spcBef>
                <a:spcAft>
                  <a:spcPts val="600"/>
                </a:spcAf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sym typeface="+mn-ea"/>
                </a:rPr>
                <a:t>上条命令执行是否成功，</a:t>
              </a:r>
              <a:r>
                <a:rPr lang="en-US" altLang="zh-CN" sz="2000" dirty="0">
                  <a:latin typeface="微软雅黑" panose="020B0503020204020204" pitchFamily="34" charset="-122"/>
                  <a:ea typeface="微软雅黑" panose="020B0503020204020204" pitchFamily="34" charset="-122"/>
                  <a:sym typeface="+mn-ea"/>
                </a:rPr>
                <a:t>0</a:t>
              </a:r>
              <a:r>
                <a:rPr lang="zh-CN" altLang="en-US" sz="2000" dirty="0">
                  <a:latin typeface="微软雅黑" panose="020B0503020204020204" pitchFamily="34" charset="-122"/>
                  <a:ea typeface="微软雅黑" panose="020B0503020204020204" pitchFamily="34" charset="-122"/>
                  <a:sym typeface="+mn-ea"/>
                </a:rPr>
                <a:t>是成功</a:t>
              </a:r>
              <a:endParaRPr lang="zh-CN" altLang="en-US" sz="2000" b="1" dirty="0">
                <a:solidFill>
                  <a:schemeClr val="tx1"/>
                </a:solidFill>
                <a:latin typeface="微软雅黑" panose="020B0503020204020204" pitchFamily="34" charset="-122"/>
                <a:ea typeface="微软雅黑" panose="020B0503020204020204" pitchFamily="34" charset="-122"/>
                <a:sym typeface="+mn-ea"/>
              </a:endParaRPr>
            </a:p>
          </p:txBody>
        </p:sp>
        <p:sp>
          <p:nvSpPr>
            <p:cNvPr id="8" name="MH_Other_2"/>
            <p:cNvSpPr/>
            <p:nvPr>
              <p:custDataLst>
                <p:tags r:id="rId6"/>
              </p:custDataLst>
            </p:nvPr>
          </p:nvSpPr>
          <p:spPr>
            <a:xfrm>
              <a:off x="2213609" y="2349487"/>
              <a:ext cx="1712056" cy="658812"/>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p>
          </p:txBody>
        </p:sp>
      </p:grpSp>
      <p:grpSp>
        <p:nvGrpSpPr>
          <p:cNvPr id="14" name="组合 13"/>
          <p:cNvGrpSpPr/>
          <p:nvPr/>
        </p:nvGrpSpPr>
        <p:grpSpPr>
          <a:xfrm>
            <a:off x="1604010" y="4617085"/>
            <a:ext cx="8703945" cy="502920"/>
            <a:chOff x="2231339" y="3270238"/>
            <a:chExt cx="10566029" cy="658812"/>
          </a:xfrm>
        </p:grpSpPr>
        <p:sp>
          <p:nvSpPr>
            <p:cNvPr id="11" name="MH_SubTitle_3"/>
            <p:cNvSpPr/>
            <p:nvPr>
              <p:custDataLst>
                <p:tags r:id="rId3"/>
              </p:custDataLst>
            </p:nvPr>
          </p:nvSpPr>
          <p:spPr>
            <a:xfrm>
              <a:off x="3595742" y="3294361"/>
              <a:ext cx="9201626" cy="606407"/>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a:lnSpc>
                  <a:spcPct val="130000"/>
                </a:lnSpc>
                <a:defRPr/>
              </a:pPr>
              <a:r>
                <a:rPr sz="2000" dirty="0">
                  <a:latin typeface="微软雅黑" panose="020B0503020204020204" pitchFamily="34" charset="-122"/>
                  <a:ea typeface="微软雅黑" panose="020B0503020204020204" pitchFamily="34" charset="-122"/>
                  <a:sym typeface="+mn-ea"/>
                </a:rPr>
                <a:t>shell程序的</a:t>
              </a:r>
              <a:r>
                <a:rPr sz="2000" b="1" dirty="0">
                  <a:solidFill>
                    <a:srgbClr val="0070C0"/>
                  </a:solidFill>
                  <a:latin typeface="微软雅黑" panose="020B0503020204020204" pitchFamily="34" charset="-122"/>
                  <a:ea typeface="微软雅黑" panose="020B0503020204020204" pitchFamily="34" charset="-122"/>
                  <a:sym typeface="+mn-ea"/>
                </a:rPr>
                <a:t>名称</a:t>
              </a:r>
              <a:r>
                <a:rPr sz="2000" dirty="0">
                  <a:latin typeface="微软雅黑" panose="020B0503020204020204" pitchFamily="34" charset="-122"/>
                  <a:ea typeface="微软雅黑" panose="020B0503020204020204" pitchFamily="34" charset="-122"/>
                  <a:sym typeface="+mn-ea"/>
                </a:rPr>
                <a:t>。</a:t>
              </a:r>
              <a:endParaRPr lang="zh-CN" altLang="en-US" sz="2000" b="1" dirty="0">
                <a:solidFill>
                  <a:schemeClr val="tx1"/>
                </a:solidFill>
                <a:latin typeface="微软雅黑" panose="020B0503020204020204" pitchFamily="34" charset="-122"/>
                <a:ea typeface="微软雅黑" panose="020B0503020204020204" pitchFamily="34" charset="-122"/>
                <a:sym typeface="+mn-ea"/>
              </a:endParaRPr>
            </a:p>
          </p:txBody>
        </p:sp>
        <p:sp>
          <p:nvSpPr>
            <p:cNvPr id="15" name="MH_Other_3"/>
            <p:cNvSpPr/>
            <p:nvPr>
              <p:custDataLst>
                <p:tags r:id="rId4"/>
              </p:custDataLst>
            </p:nvPr>
          </p:nvSpPr>
          <p:spPr>
            <a:xfrm>
              <a:off x="2231339" y="3270238"/>
              <a:ext cx="1713106" cy="658812"/>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$0： </a:t>
              </a:r>
            </a:p>
          </p:txBody>
        </p:sp>
      </p:grpSp>
      <p:grpSp>
        <p:nvGrpSpPr>
          <p:cNvPr id="16" name="组合 15"/>
          <p:cNvGrpSpPr/>
          <p:nvPr/>
        </p:nvGrpSpPr>
        <p:grpSpPr>
          <a:xfrm>
            <a:off x="1604010" y="5314950"/>
            <a:ext cx="8704580" cy="555624"/>
            <a:chOff x="2249839" y="4189401"/>
            <a:chExt cx="10566801" cy="668807"/>
          </a:xfrm>
        </p:grpSpPr>
        <p:sp>
          <p:nvSpPr>
            <p:cNvPr id="17" name="MH_SubTitle_4"/>
            <p:cNvSpPr/>
            <p:nvPr>
              <p:custDataLst>
                <p:tags r:id="rId1"/>
              </p:custDataLst>
            </p:nvPr>
          </p:nvSpPr>
          <p:spPr>
            <a:xfrm>
              <a:off x="3595742" y="4251313"/>
              <a:ext cx="9220898" cy="606895"/>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marL="0" indent="0">
                <a:lnSpc>
                  <a:spcPct val="140000"/>
                </a:lnSpc>
                <a:spcBef>
                  <a:spcPts val="600"/>
                </a:spcBef>
                <a:spcAft>
                  <a:spcPts val="600"/>
                </a:spcAft>
                <a:buFont typeface="Wingdings" panose="05000000000000000000" pitchFamily="2" charset="2"/>
                <a:buNone/>
              </a:pPr>
              <a:r>
                <a:rPr sz="2000" dirty="0">
                  <a:latin typeface="微软雅黑" panose="020B0503020204020204" pitchFamily="34" charset="-122"/>
                  <a:ea typeface="微软雅黑" panose="020B0503020204020204" pitchFamily="34" charset="-122"/>
                  <a:sym typeface="+mn-ea"/>
                </a:rPr>
                <a:t>调用shell程序时所传送的全部参数组成的单字符串。</a:t>
              </a:r>
              <a:endParaRPr altLang="en-US" sz="2000" b="1" dirty="0">
                <a:latin typeface="微软雅黑" panose="020B0503020204020204" pitchFamily="34" charset="-122"/>
                <a:ea typeface="微软雅黑" panose="020B0503020204020204" pitchFamily="34" charset="-122"/>
              </a:endParaRPr>
            </a:p>
          </p:txBody>
        </p:sp>
        <p:sp>
          <p:nvSpPr>
            <p:cNvPr id="20" name="MH_Other_4"/>
            <p:cNvSpPr/>
            <p:nvPr>
              <p:custDataLst>
                <p:tags r:id="rId2"/>
              </p:custDataLst>
            </p:nvPr>
          </p:nvSpPr>
          <p:spPr>
            <a:xfrm>
              <a:off x="2249839" y="4189401"/>
              <a:ext cx="1713106" cy="660400"/>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p>
          </p:txBody>
        </p:sp>
      </p:grpSp>
      <p:grpSp>
        <p:nvGrpSpPr>
          <p:cNvPr id="37" name="组合 36"/>
          <p:cNvGrpSpPr/>
          <p:nvPr/>
        </p:nvGrpSpPr>
        <p:grpSpPr>
          <a:xfrm>
            <a:off x="604520" y="3163570"/>
            <a:ext cx="851535" cy="2707005"/>
            <a:chOff x="976" y="3009"/>
            <a:chExt cx="1341" cy="6894"/>
          </a:xfrm>
        </p:grpSpPr>
        <p:sp>
          <p:nvSpPr>
            <p:cNvPr id="49" name="Text Box 44"/>
            <p:cNvSpPr txBox="1">
              <a:spLocks noChangeArrowheads="1"/>
            </p:cNvSpPr>
            <p:nvPr/>
          </p:nvSpPr>
          <p:spPr bwMode="auto">
            <a:xfrm>
              <a:off x="976" y="5778"/>
              <a:ext cx="689" cy="210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95000"/>
                </a:lnSpc>
              </a:pPr>
              <a:r>
                <a:rPr lang="zh-CN" altLang="en-US" sz="2400" b="1" dirty="0">
                  <a:solidFill>
                    <a:srgbClr val="0070C0"/>
                  </a:solidFill>
                </a:rPr>
                <a:t>参数</a:t>
              </a:r>
            </a:p>
          </p:txBody>
        </p:sp>
        <p:sp>
          <p:nvSpPr>
            <p:cNvPr id="36" name="左大括号 35"/>
            <p:cNvSpPr/>
            <p:nvPr/>
          </p:nvSpPr>
          <p:spPr>
            <a:xfrm>
              <a:off x="1850" y="3009"/>
              <a:ext cx="467" cy="6894"/>
            </a:xfrm>
            <a:prstGeom prst="leftBrace">
              <a:avLst/>
            </a:prstGeom>
            <a:solidFill>
              <a:schemeClr val="bg1"/>
            </a:solidFill>
            <a:ln w="28575"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sp>
        <p:nvSpPr>
          <p:cNvPr id="38" name="Text Box 44"/>
          <p:cNvSpPr txBox="1">
            <a:spLocks noChangeArrowheads="1"/>
          </p:cNvSpPr>
          <p:nvPr/>
        </p:nvSpPr>
        <p:spPr bwMode="auto">
          <a:xfrm>
            <a:off x="692150" y="1701165"/>
            <a:ext cx="10327005" cy="106680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内部变量是Linux所提供的一种</a:t>
            </a:r>
            <a:r>
              <a:rPr lang="zh-CN" altLang="en-US" sz="2000" b="1" dirty="0">
                <a:solidFill>
                  <a:srgbClr val="0070C0"/>
                </a:solidFill>
              </a:rPr>
              <a:t>特殊类型的变量</a:t>
            </a:r>
            <a:r>
              <a:rPr lang="zh-CN" altLang="en-US" sz="2000" dirty="0">
                <a:solidFill>
                  <a:schemeClr val="tx1">
                    <a:lumMod val="85000"/>
                    <a:lumOff val="15000"/>
                  </a:schemeClr>
                </a:solidFill>
              </a:rPr>
              <a:t>。这类变量在程序中用来做出判断。在shell程序内，这类变量的值是不能修改的。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up)">
                                      <p:cBhvr>
                                        <p:cTn id="7" dur="500"/>
                                        <p:tgtEl>
                                          <p:spTgt spid="3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left)">
                                      <p:cBhvr>
                                        <p:cTn id="11" dur="500"/>
                                        <p:tgtEl>
                                          <p:spTgt spid="37"/>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 presetClass="entr" presetSubtype="4"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4"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par>
                          <p:cTn id="27" fill="hold">
                            <p:stCondLst>
                              <p:cond delay="2500"/>
                            </p:stCondLst>
                            <p:childTnLst>
                              <p:par>
                                <p:cTn id="28" presetID="2" presetClass="entr" presetSubtype="4"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fill="hold"/>
                                        <p:tgtEl>
                                          <p:spTgt spid="16"/>
                                        </p:tgtEl>
                                        <p:attrNameLst>
                                          <p:attrName>ppt_x</p:attrName>
                                        </p:attrNameLst>
                                      </p:cBhvr>
                                      <p:tavLst>
                                        <p:tav tm="0">
                                          <p:val>
                                            <p:strVal val="#ppt_x"/>
                                          </p:val>
                                        </p:tav>
                                        <p:tav tm="100000">
                                          <p:val>
                                            <p:strVal val="#ppt_x"/>
                                          </p:val>
                                        </p:tav>
                                      </p:tavLst>
                                    </p:anim>
                                    <p:anim calcmode="lin" valueType="num">
                                      <p:cBhvr additive="base">
                                        <p:cTn id="31"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5.4.2  内部变量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5" name="组合 14"/>
          <p:cNvGrpSpPr/>
          <p:nvPr/>
        </p:nvGrpSpPr>
        <p:grpSpPr>
          <a:xfrm>
            <a:off x="1431925" y="1596391"/>
            <a:ext cx="9528175" cy="4798695"/>
            <a:chOff x="1487" y="2508"/>
            <a:chExt cx="13097" cy="7557"/>
          </a:xfrm>
        </p:grpSpPr>
        <p:grpSp>
          <p:nvGrpSpPr>
            <p:cNvPr id="11" name="组合 14"/>
            <p:cNvGrpSpPr/>
            <p:nvPr/>
          </p:nvGrpSpPr>
          <p:grpSpPr bwMode="auto">
            <a:xfrm>
              <a:off x="1487" y="2508"/>
              <a:ext cx="13097" cy="7557"/>
              <a:chOff x="1153501" y="1785776"/>
              <a:chExt cx="7903766" cy="1713982"/>
            </a:xfrm>
          </p:grpSpPr>
          <p:grpSp>
            <p:nvGrpSpPr>
              <p:cNvPr id="12" name="组合 12"/>
              <p:cNvGrpSpPr/>
              <p:nvPr/>
            </p:nvGrpSpPr>
            <p:grpSpPr bwMode="auto">
              <a:xfrm>
                <a:off x="1153501" y="1785776"/>
                <a:ext cx="7903766" cy="1713982"/>
                <a:chOff x="1153501" y="1785776"/>
                <a:chExt cx="7903766" cy="1713982"/>
              </a:xfrm>
            </p:grpSpPr>
            <p:sp>
              <p:nvSpPr>
                <p:cNvPr id="7" name="矩形 6"/>
                <p:cNvSpPr/>
                <p:nvPr/>
              </p:nvSpPr>
              <p:spPr>
                <a:xfrm>
                  <a:off x="1153501" y="1785776"/>
                  <a:ext cx="7903766"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8" name="矩形 6"/>
                <p:cNvSpPr>
                  <a:spLocks noChangeArrowheads="1"/>
                </p:cNvSpPr>
                <p:nvPr/>
              </p:nvSpPr>
              <p:spPr bwMode="auto">
                <a:xfrm>
                  <a:off x="1312820" y="1786456"/>
                  <a:ext cx="6223680" cy="16330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pitchFamily="34" charset="-122"/>
                      <a:ea typeface="微软雅黑" panose="020B0503020204020204" pitchFamily="34" charset="-122"/>
                      <a:cs typeface="华康俪金黑W8(P)"/>
                    </a:rPr>
                    <a:t>【例</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5</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3</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zh-CN" altLang="en-US" sz="2000" b="1">
                      <a:solidFill>
                        <a:srgbClr val="009900"/>
                      </a:solidFill>
                      <a:latin typeface="微软雅黑" panose="020B0503020204020204" pitchFamily="34" charset="-122"/>
                      <a:ea typeface="微软雅黑" panose="020B0503020204020204" pitchFamily="34" charset="-122"/>
                      <a:cs typeface="华康俪金黑W8(P)"/>
                    </a:rPr>
                    <a:t>有一个shell脚本mypgn2。其内容如下：</a:t>
                  </a:r>
                </a:p>
              </p:txBody>
            </p:sp>
          </p:grpSp>
          <p:sp>
            <p:nvSpPr>
              <p:cNvPr id="14" name="MH_Text_1"/>
              <p:cNvSpPr txBox="1">
                <a:spLocks noChangeArrowheads="1"/>
              </p:cNvSpPr>
              <p:nvPr>
                <p:custDataLst>
                  <p:tags r:id="rId3"/>
                </p:custDataLst>
              </p:nvPr>
            </p:nvSpPr>
            <p:spPr bwMode="auto">
              <a:xfrm>
                <a:off x="1399707" y="1956327"/>
                <a:ext cx="7436328" cy="650909"/>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#my test program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"Number of parameters is"$#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"Program name is "$0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"Parameters as a single string is "$*  </a:t>
                </a:r>
              </a:p>
            </p:txBody>
          </p:sp>
        </p:grpSp>
        <p:sp>
          <p:nvSpPr>
            <p:cNvPr id="3" name="矩形 6"/>
            <p:cNvSpPr>
              <a:spLocks noChangeArrowheads="1"/>
            </p:cNvSpPr>
            <p:nvPr/>
          </p:nvSpPr>
          <p:spPr bwMode="auto">
            <a:xfrm>
              <a:off x="1895" y="6058"/>
              <a:ext cx="10170"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000" b="1">
                  <a:solidFill>
                    <a:srgbClr val="009900"/>
                  </a:solidFill>
                  <a:latin typeface="微软雅黑" panose="020B0503020204020204" pitchFamily="34" charset="-122"/>
                  <a:ea typeface="微软雅黑" panose="020B0503020204020204" pitchFamily="34" charset="-122"/>
                  <a:cs typeface="华康俪金黑W8(P)"/>
                </a:rPr>
                <a:t>执行这个脚本：</a:t>
              </a:r>
            </a:p>
          </p:txBody>
        </p:sp>
        <p:sp>
          <p:nvSpPr>
            <p:cNvPr id="4" name="矩形 6"/>
            <p:cNvSpPr>
              <a:spLocks noChangeArrowheads="1"/>
            </p:cNvSpPr>
            <p:nvPr/>
          </p:nvSpPr>
          <p:spPr bwMode="auto">
            <a:xfrm>
              <a:off x="1959" y="7565"/>
              <a:ext cx="5648"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000" b="1">
                  <a:solidFill>
                    <a:srgbClr val="009900"/>
                  </a:solidFill>
                  <a:latin typeface="微软雅黑" panose="020B0503020204020204" pitchFamily="34" charset="-122"/>
                  <a:ea typeface="微软雅黑" panose="020B0503020204020204" pitchFamily="34" charset="-122"/>
                  <a:cs typeface="华康俪金黑W8(P)"/>
                </a:rPr>
                <a:t>那么会得到下面的结果 ：</a:t>
              </a:r>
            </a:p>
          </p:txBody>
        </p:sp>
        <p:sp>
          <p:nvSpPr>
            <p:cNvPr id="5" name="MH_Text_1"/>
            <p:cNvSpPr txBox="1">
              <a:spLocks noChangeArrowheads="1"/>
            </p:cNvSpPr>
            <p:nvPr>
              <p:custDataLst>
                <p:tags r:id="rId1"/>
              </p:custDataLst>
            </p:nvPr>
          </p:nvSpPr>
          <p:spPr bwMode="auto">
            <a:xfrm>
              <a:off x="1823" y="6754"/>
              <a:ext cx="12411" cy="931"/>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[Stu@localhost pro]$bash  mypgm2  Sanjiv Guha   </a:t>
              </a:r>
            </a:p>
          </p:txBody>
        </p:sp>
        <p:sp>
          <p:nvSpPr>
            <p:cNvPr id="13" name="MH_Text_1"/>
            <p:cNvSpPr txBox="1">
              <a:spLocks noChangeArrowheads="1"/>
            </p:cNvSpPr>
            <p:nvPr>
              <p:custDataLst>
                <p:tags r:id="rId2"/>
              </p:custDataLst>
            </p:nvPr>
          </p:nvSpPr>
          <p:spPr bwMode="auto">
            <a:xfrm>
              <a:off x="1959" y="8244"/>
              <a:ext cx="12245" cy="1722"/>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Number of parameters is 2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Program name is mypgn2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Parameters as a single string is Sanjiv Guha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Righ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594485"/>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5.4.3  环境变量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5" name="组合 4"/>
          <p:cNvGrpSpPr/>
          <p:nvPr/>
        </p:nvGrpSpPr>
        <p:grpSpPr>
          <a:xfrm>
            <a:off x="728345" y="2143125"/>
            <a:ext cx="10711815" cy="4031615"/>
            <a:chOff x="1147" y="3375"/>
            <a:chExt cx="16869" cy="6349"/>
          </a:xfrm>
        </p:grpSpPr>
        <p:sp>
          <p:nvSpPr>
            <p:cNvPr id="18" name="Text Box 44"/>
            <p:cNvSpPr txBox="1">
              <a:spLocks noChangeArrowheads="1"/>
            </p:cNvSpPr>
            <p:nvPr/>
          </p:nvSpPr>
          <p:spPr bwMode="auto">
            <a:xfrm>
              <a:off x="1147" y="3375"/>
              <a:ext cx="7033" cy="634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在用户注册过程（会话的建立过程）中，系统需要做的一件事就是建立</a:t>
              </a:r>
              <a:r>
                <a:rPr lang="zh-CN" altLang="en-US" sz="2000" b="1" dirty="0">
                  <a:solidFill>
                    <a:srgbClr val="0070C0"/>
                  </a:solidFill>
                </a:rPr>
                <a:t>用户环境</a:t>
              </a:r>
              <a:r>
                <a:rPr lang="zh-CN" altLang="en-US" sz="2000" dirty="0">
                  <a:solidFill>
                    <a:schemeClr val="tx1">
                      <a:lumMod val="85000"/>
                      <a:lumOff val="15000"/>
                    </a:schemeClr>
                  </a:solidFill>
                </a:rPr>
                <a:t>。所有的Linux进程都</a:t>
              </a:r>
              <a:r>
                <a:rPr lang="zh-CN" altLang="en-US" sz="2000" b="1" dirty="0">
                  <a:solidFill>
                    <a:srgbClr val="0070C0"/>
                  </a:solidFill>
                </a:rPr>
                <a:t>各自独立</a:t>
              </a:r>
              <a:r>
                <a:rPr lang="zh-CN" altLang="en-US" sz="2000" dirty="0">
                  <a:solidFill>
                    <a:schemeClr val="tx1">
                      <a:lumMod val="85000"/>
                      <a:lumOff val="15000"/>
                    </a:schemeClr>
                  </a:solidFill>
                </a:rPr>
                <a:t>，并且不同于程序本身的环境。Linux环境（也称为shell环境）由许多变量及这些变量的值组成。由这些变量和变量的值决定环境外观。这些变量就是</a:t>
              </a:r>
              <a:r>
                <a:rPr lang="zh-CN" altLang="en-US" sz="2000" b="1" dirty="0">
                  <a:solidFill>
                    <a:srgbClr val="0070C0"/>
                  </a:solidFill>
                </a:rPr>
                <a:t>环境变量。</a:t>
              </a:r>
            </a:p>
          </p:txBody>
        </p:sp>
        <p:sp>
          <p:nvSpPr>
            <p:cNvPr id="3" name="Text Box 44"/>
            <p:cNvSpPr txBox="1">
              <a:spLocks noChangeArrowheads="1"/>
            </p:cNvSpPr>
            <p:nvPr/>
          </p:nvSpPr>
          <p:spPr bwMode="auto">
            <a:xfrm>
              <a:off x="11380" y="4144"/>
              <a:ext cx="6636" cy="479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shell环境变量名由</a:t>
              </a:r>
              <a:r>
                <a:rPr lang="zh-CN" altLang="en-US" sz="2000" b="1" dirty="0">
                  <a:solidFill>
                    <a:srgbClr val="0070C0"/>
                  </a:solidFill>
                </a:rPr>
                <a:t>大写字母或数字</a:t>
              </a:r>
              <a:r>
                <a:rPr lang="zh-CN" altLang="en-US" sz="2000" dirty="0">
                  <a:solidFill>
                    <a:schemeClr val="tx1">
                      <a:lumMod val="85000"/>
                      <a:lumOff val="15000"/>
                    </a:schemeClr>
                  </a:solidFill>
                </a:rPr>
                <a:t>组成。有许多变量是在注册过程中定义的，一些为只读变量，意味着不能改变这些变量；而另外一些为非只读变量，可以由你随意增加或修改。</a:t>
              </a:r>
            </a:p>
          </p:txBody>
        </p:sp>
      </p:grpSp>
      <p:pic>
        <p:nvPicPr>
          <p:cNvPr id="11" name="图片 10" descr="timgCAN6W12K.jpg"/>
          <p:cNvPicPr>
            <a:picLocks noChangeAspect="1"/>
          </p:cNvPicPr>
          <p:nvPr/>
        </p:nvPicPr>
        <p:blipFill>
          <a:blip r:embed="rId3" cstate="print">
            <a:clrChange>
              <a:clrFrom>
                <a:srgbClr val="FFFFFF"/>
              </a:clrFrom>
              <a:clrTo>
                <a:srgbClr val="FFFFFF">
                  <a:alpha val="0"/>
                </a:srgbClr>
              </a:clrTo>
            </a:clrChange>
          </a:blip>
          <a:stretch>
            <a:fillRect/>
          </a:stretch>
        </p:blipFill>
        <p:spPr>
          <a:xfrm>
            <a:off x="3098800" y="1187798"/>
            <a:ext cx="6172200" cy="5822602"/>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5.4.3  环境变量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18" name="Text Box 44"/>
          <p:cNvSpPr txBox="1">
            <a:spLocks noChangeArrowheads="1"/>
          </p:cNvSpPr>
          <p:nvPr/>
        </p:nvSpPr>
        <p:spPr bwMode="auto">
          <a:xfrm>
            <a:off x="692150" y="1594485"/>
            <a:ext cx="5191125" cy="52270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b="1" dirty="0">
                <a:solidFill>
                  <a:schemeClr val="tx1"/>
                </a:solidFill>
              </a:rPr>
              <a:t>下面简单介绍主要环境变量的使用。</a:t>
            </a:r>
          </a:p>
        </p:txBody>
      </p:sp>
      <p:sp>
        <p:nvSpPr>
          <p:cNvPr id="84" name="矩形 1"/>
          <p:cNvSpPr/>
          <p:nvPr/>
        </p:nvSpPr>
        <p:spPr>
          <a:xfrm>
            <a:off x="999490" y="2673985"/>
            <a:ext cx="10641965" cy="588010"/>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5" name="等腰三角形 84"/>
          <p:cNvSpPr/>
          <p:nvPr/>
        </p:nvSpPr>
        <p:spPr>
          <a:xfrm flipV="1">
            <a:off x="1359507" y="2428803"/>
            <a:ext cx="854394" cy="82114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86" name="TextBox 9"/>
          <p:cNvSpPr txBox="1"/>
          <p:nvPr/>
        </p:nvSpPr>
        <p:spPr>
          <a:xfrm>
            <a:off x="1515745" y="3294380"/>
            <a:ext cx="9723120" cy="1160145"/>
          </a:xfrm>
          <a:prstGeom prst="rect">
            <a:avLst/>
          </a:prstGeom>
          <a:noFill/>
        </p:spPr>
        <p:txBody>
          <a:bodyPr wrap="square" rtlCol="0">
            <a:spAutoFit/>
          </a:bodyPr>
          <a:lstStyle/>
          <a:p>
            <a:pPr indent="457200">
              <a:lnSpc>
                <a:spcPct val="13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用户目录的</a:t>
            </a:r>
            <a:r>
              <a:rPr lang="zh-CN" altLang="en-US" sz="1800" b="1" dirty="0">
                <a:solidFill>
                  <a:srgbClr val="0070C0"/>
                </a:solidFill>
                <a:latin typeface="微软雅黑" panose="020B0503020204020204" pitchFamily="34" charset="-122"/>
                <a:ea typeface="微软雅黑" panose="020B0503020204020204" pitchFamily="34" charset="-122"/>
                <a:sym typeface="+mn-ea"/>
              </a:rPr>
              <a:t>全路径名</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。主目录是用户开始工作的位置。在一般情况下，如果用户的注册名为exuser，则HOME的值为/home/exuser。不管用户的当前路径在哪里，都可以通过下述命令返回到主目录：</a:t>
            </a:r>
          </a:p>
        </p:txBody>
      </p:sp>
      <p:sp>
        <p:nvSpPr>
          <p:cNvPr id="87" name="TextBox 86"/>
          <p:cNvSpPr txBox="1"/>
          <p:nvPr/>
        </p:nvSpPr>
        <p:spPr>
          <a:xfrm>
            <a:off x="2151677" y="2774302"/>
            <a:ext cx="1242060" cy="420370"/>
          </a:xfrm>
          <a:prstGeom prst="rect">
            <a:avLst/>
          </a:prstGeom>
          <a:noFill/>
        </p:spPr>
        <p:txBody>
          <a:bodyPr wrap="none" rtlCol="0">
            <a:spAutoFit/>
          </a:bodyPr>
          <a:lstStyle/>
          <a:p>
            <a:pPr algn="l"/>
            <a:r>
              <a:rPr lang="zh-CN" altLang="en-US" sz="2000" b="1" dirty="0">
                <a:solidFill>
                  <a:schemeClr val="bg1"/>
                </a:solidFill>
                <a:latin typeface="Times New Roman" panose="02020603050405020304" pitchFamily="18" charset="0"/>
                <a:sym typeface="+mn-ea"/>
              </a:rPr>
              <a:t>HOME：</a:t>
            </a:r>
            <a:endParaRPr lang="zh-CN" altLang="en-US" sz="2000" b="1" dirty="0">
              <a:solidFill>
                <a:schemeClr val="bg1"/>
              </a:solidFill>
              <a:latin typeface="Times New Roman" panose="02020603050405020304" pitchFamily="18" charset="0"/>
              <a:ea typeface="微软雅黑" panose="020B0503020204020204" pitchFamily="34" charset="-122"/>
              <a:sym typeface="+mn-ea"/>
            </a:endParaRPr>
          </a:p>
        </p:txBody>
      </p:sp>
      <p:sp>
        <p:nvSpPr>
          <p:cNvPr id="88" name="TextBox 87"/>
          <p:cNvSpPr txBox="1"/>
          <p:nvPr/>
        </p:nvSpPr>
        <p:spPr>
          <a:xfrm>
            <a:off x="1515245" y="2346944"/>
            <a:ext cx="470000" cy="707886"/>
          </a:xfrm>
          <a:prstGeom prst="rect">
            <a:avLst/>
          </a:prstGeom>
          <a:noFill/>
        </p:spPr>
        <p:txBody>
          <a:bodyPr wrap="none" rtlCol="0">
            <a:spAutoFit/>
          </a:bodyPr>
          <a:lstStyle/>
          <a:p>
            <a:r>
              <a:rPr lang="en-US" altLang="zh-CN" sz="4000" b="1" dirty="0">
                <a:solidFill>
                  <a:schemeClr val="bg1"/>
                </a:solidFill>
                <a:latin typeface="Arial" panose="020B0604020202020204" pitchFamily="34" charset="0"/>
                <a:ea typeface="微软雅黑" panose="020B0503020204020204" pitchFamily="34" charset="-122"/>
                <a:cs typeface="Arial" panose="020B0604020202020204" pitchFamily="34" charset="0"/>
              </a:rPr>
              <a:t>1</a:t>
            </a:r>
            <a:endParaRPr lang="zh-CN" altLang="en-US" sz="40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89" name="矩形 1"/>
          <p:cNvSpPr/>
          <p:nvPr/>
        </p:nvSpPr>
        <p:spPr>
          <a:xfrm>
            <a:off x="1014730" y="4763770"/>
            <a:ext cx="10718165" cy="588010"/>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0" name="等腰三角形 89"/>
          <p:cNvSpPr/>
          <p:nvPr/>
        </p:nvSpPr>
        <p:spPr>
          <a:xfrm flipV="1">
            <a:off x="1374747" y="4518563"/>
            <a:ext cx="854394" cy="82114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91" name="TextBox 90"/>
          <p:cNvSpPr txBox="1"/>
          <p:nvPr/>
        </p:nvSpPr>
        <p:spPr>
          <a:xfrm>
            <a:off x="1892300" y="5441315"/>
            <a:ext cx="8686800" cy="579120"/>
          </a:xfrm>
          <a:prstGeom prst="rect">
            <a:avLst/>
          </a:prstGeom>
          <a:noFill/>
        </p:spPr>
        <p:txBody>
          <a:bodyPr wrap="square" rtlCol="0">
            <a:spAutoFit/>
          </a:bodyPr>
          <a:lstStyle/>
          <a:p>
            <a:pPr eaLnBrk="1" latinLnBrk="0" hangingPunct="1">
              <a:lnSpc>
                <a:spcPct val="16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用户的注册名，由Linux自动设置。它是系统与用户交互的名字或字符串。</a:t>
            </a:r>
          </a:p>
        </p:txBody>
      </p:sp>
      <p:sp>
        <p:nvSpPr>
          <p:cNvPr id="92" name="TextBox 91"/>
          <p:cNvSpPr txBox="1"/>
          <p:nvPr/>
        </p:nvSpPr>
        <p:spPr>
          <a:xfrm>
            <a:off x="2049004" y="4879898"/>
            <a:ext cx="1778635" cy="420370"/>
          </a:xfrm>
          <a:prstGeom prst="rect">
            <a:avLst/>
          </a:prstGeom>
          <a:noFill/>
        </p:spPr>
        <p:txBody>
          <a:bodyPr wrap="none" rtlCol="0">
            <a:spAutoFit/>
          </a:bodyPr>
          <a:lstStyle/>
          <a:p>
            <a:pPr algn="l"/>
            <a:r>
              <a:rPr lang="zh-CN" altLang="en-US" sz="2000" b="1" dirty="0">
                <a:solidFill>
                  <a:schemeClr val="bg1"/>
                </a:solidFill>
                <a:latin typeface="Times New Roman" panose="02020603050405020304" pitchFamily="18" charset="0"/>
                <a:sym typeface="+mn-ea"/>
              </a:rPr>
              <a:t>LOGNAME：</a:t>
            </a:r>
            <a:endParaRPr lang="zh-CN" altLang="en-US" sz="2000" b="1" dirty="0">
              <a:solidFill>
                <a:schemeClr val="bg1"/>
              </a:solidFill>
              <a:latin typeface="Times New Roman" panose="02020603050405020304" pitchFamily="18" charset="0"/>
              <a:ea typeface="微软雅黑" panose="020B0503020204020204" pitchFamily="34" charset="-122"/>
              <a:sym typeface="+mn-ea"/>
            </a:endParaRPr>
          </a:p>
        </p:txBody>
      </p:sp>
      <p:sp>
        <p:nvSpPr>
          <p:cNvPr id="93" name="TextBox 92"/>
          <p:cNvSpPr txBox="1"/>
          <p:nvPr/>
        </p:nvSpPr>
        <p:spPr>
          <a:xfrm>
            <a:off x="1565654" y="4436704"/>
            <a:ext cx="470000" cy="707886"/>
          </a:xfrm>
          <a:prstGeom prst="rect">
            <a:avLst/>
          </a:prstGeom>
          <a:noFill/>
        </p:spPr>
        <p:txBody>
          <a:bodyPr wrap="none" rtlCol="0">
            <a:spAutoFit/>
          </a:bodyPr>
          <a:lstStyle/>
          <a:p>
            <a:r>
              <a:rPr lang="en-US" altLang="zh-CN" sz="4000" b="1" dirty="0">
                <a:solidFill>
                  <a:schemeClr val="bg1"/>
                </a:solidFill>
                <a:latin typeface="Arial" panose="020B0604020202020204" pitchFamily="34" charset="0"/>
                <a:ea typeface="微软雅黑" panose="020B0503020204020204" pitchFamily="34" charset="-122"/>
                <a:cs typeface="Arial" panose="020B0604020202020204" pitchFamily="34" charset="0"/>
              </a:rPr>
              <a:t>2</a:t>
            </a:r>
            <a:endParaRPr lang="zh-CN" altLang="en-US" sz="40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fade">
                                      <p:cBhvr>
                                        <p:cTn id="12" dur="1000"/>
                                        <p:tgtEl>
                                          <p:spTgt spid="85"/>
                                        </p:tgtEl>
                                      </p:cBhvr>
                                    </p:animEffect>
                                    <p:anim calcmode="lin" valueType="num">
                                      <p:cBhvr>
                                        <p:cTn id="13" dur="1000" fill="hold"/>
                                        <p:tgtEl>
                                          <p:spTgt spid="85"/>
                                        </p:tgtEl>
                                        <p:attrNameLst>
                                          <p:attrName>ppt_x</p:attrName>
                                        </p:attrNameLst>
                                      </p:cBhvr>
                                      <p:tavLst>
                                        <p:tav tm="0">
                                          <p:val>
                                            <p:strVal val="#ppt_x"/>
                                          </p:val>
                                        </p:tav>
                                        <p:tav tm="100000">
                                          <p:val>
                                            <p:strVal val="#ppt_x"/>
                                          </p:val>
                                        </p:tav>
                                      </p:tavLst>
                                    </p:anim>
                                    <p:anim calcmode="lin" valueType="num">
                                      <p:cBhvr>
                                        <p:cTn id="14" dur="1000" fill="hold"/>
                                        <p:tgtEl>
                                          <p:spTgt spid="8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fade">
                                      <p:cBhvr>
                                        <p:cTn id="17" dur="1000"/>
                                        <p:tgtEl>
                                          <p:spTgt spid="87"/>
                                        </p:tgtEl>
                                      </p:cBhvr>
                                    </p:animEffect>
                                    <p:anim calcmode="lin" valueType="num">
                                      <p:cBhvr>
                                        <p:cTn id="18" dur="1000" fill="hold"/>
                                        <p:tgtEl>
                                          <p:spTgt spid="87"/>
                                        </p:tgtEl>
                                        <p:attrNameLst>
                                          <p:attrName>ppt_x</p:attrName>
                                        </p:attrNameLst>
                                      </p:cBhvr>
                                      <p:tavLst>
                                        <p:tav tm="0">
                                          <p:val>
                                            <p:strVal val="#ppt_x"/>
                                          </p:val>
                                        </p:tav>
                                        <p:tav tm="100000">
                                          <p:val>
                                            <p:strVal val="#ppt_x"/>
                                          </p:val>
                                        </p:tav>
                                      </p:tavLst>
                                    </p:anim>
                                    <p:anim calcmode="lin" valueType="num">
                                      <p:cBhvr>
                                        <p:cTn id="19" dur="1000" fill="hold"/>
                                        <p:tgtEl>
                                          <p:spTgt spid="8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fade">
                                      <p:cBhvr>
                                        <p:cTn id="22" dur="1000"/>
                                        <p:tgtEl>
                                          <p:spTgt spid="88"/>
                                        </p:tgtEl>
                                      </p:cBhvr>
                                    </p:animEffect>
                                    <p:anim calcmode="lin" valueType="num">
                                      <p:cBhvr>
                                        <p:cTn id="23" dur="1000" fill="hold"/>
                                        <p:tgtEl>
                                          <p:spTgt spid="88"/>
                                        </p:tgtEl>
                                        <p:attrNameLst>
                                          <p:attrName>ppt_x</p:attrName>
                                        </p:attrNameLst>
                                      </p:cBhvr>
                                      <p:tavLst>
                                        <p:tav tm="0">
                                          <p:val>
                                            <p:strVal val="#ppt_x"/>
                                          </p:val>
                                        </p:tav>
                                        <p:tav tm="100000">
                                          <p:val>
                                            <p:strVal val="#ppt_x"/>
                                          </p:val>
                                        </p:tav>
                                      </p:tavLst>
                                    </p:anim>
                                    <p:anim calcmode="lin" valueType="num">
                                      <p:cBhvr>
                                        <p:cTn id="24" dur="1000" fill="hold"/>
                                        <p:tgtEl>
                                          <p:spTgt spid="88"/>
                                        </p:tgtEl>
                                        <p:attrNameLst>
                                          <p:attrName>ppt_y</p:attrName>
                                        </p:attrNameLst>
                                      </p:cBhvr>
                                      <p:tavLst>
                                        <p:tav tm="0">
                                          <p:val>
                                            <p:strVal val="#ppt_y+.1"/>
                                          </p:val>
                                        </p:tav>
                                        <p:tav tm="100000">
                                          <p:val>
                                            <p:strVal val="#ppt_y"/>
                                          </p:val>
                                        </p:tav>
                                      </p:tavLst>
                                    </p:anim>
                                  </p:childTnLst>
                                </p:cTn>
                              </p:par>
                              <p:par>
                                <p:cTn id="25" presetID="52"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animScale>
                                      <p:cBhvr>
                                        <p:cTn id="27" dur="1000" decel="50000" fill="hold">
                                          <p:stCondLst>
                                            <p:cond delay="0"/>
                                          </p:stCondLst>
                                        </p:cTn>
                                        <p:tgtEl>
                                          <p:spTgt spid="8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86"/>
                                        </p:tgtEl>
                                        <p:attrNameLst>
                                          <p:attrName>ppt_x</p:attrName>
                                          <p:attrName>ppt_y</p:attrName>
                                        </p:attrNameLst>
                                      </p:cBhvr>
                                    </p:animMotion>
                                    <p:animEffect transition="in" filter="fade">
                                      <p:cBhvr>
                                        <p:cTn id="29" dur="1000"/>
                                        <p:tgtEl>
                                          <p:spTgt spid="86"/>
                                        </p:tgtEl>
                                      </p:cBhvr>
                                    </p:animEffect>
                                  </p:childTnLst>
                                </p:cTn>
                              </p:par>
                            </p:childTnLst>
                          </p:cTn>
                        </p:par>
                        <p:par>
                          <p:cTn id="30" fill="hold">
                            <p:stCondLst>
                              <p:cond delay="1000"/>
                            </p:stCondLst>
                            <p:childTnLst>
                              <p:par>
                                <p:cTn id="31" presetID="42" presetClass="entr" presetSubtype="0" fill="hold" nodeType="afterEffect">
                                  <p:stCondLst>
                                    <p:cond delay="0"/>
                                  </p:stCondLst>
                                  <p:childTnLst>
                                    <p:set>
                                      <p:cBhvr>
                                        <p:cTn id="32" dur="1" fill="hold">
                                          <p:stCondLst>
                                            <p:cond delay="0"/>
                                          </p:stCondLst>
                                        </p:cTn>
                                        <p:tgtEl>
                                          <p:spTgt spid="89"/>
                                        </p:tgtEl>
                                        <p:attrNameLst>
                                          <p:attrName>style.visibility</p:attrName>
                                        </p:attrNameLst>
                                      </p:cBhvr>
                                      <p:to>
                                        <p:strVal val="visible"/>
                                      </p:to>
                                    </p:set>
                                    <p:animEffect transition="in" filter="fade">
                                      <p:cBhvr>
                                        <p:cTn id="33" dur="1000"/>
                                        <p:tgtEl>
                                          <p:spTgt spid="89"/>
                                        </p:tgtEl>
                                      </p:cBhvr>
                                    </p:animEffect>
                                    <p:anim calcmode="lin" valueType="num">
                                      <p:cBhvr>
                                        <p:cTn id="34" dur="1000" fill="hold"/>
                                        <p:tgtEl>
                                          <p:spTgt spid="89"/>
                                        </p:tgtEl>
                                        <p:attrNameLst>
                                          <p:attrName>ppt_x</p:attrName>
                                        </p:attrNameLst>
                                      </p:cBhvr>
                                      <p:tavLst>
                                        <p:tav tm="0">
                                          <p:val>
                                            <p:strVal val="#ppt_x"/>
                                          </p:val>
                                        </p:tav>
                                        <p:tav tm="100000">
                                          <p:val>
                                            <p:strVal val="#ppt_x"/>
                                          </p:val>
                                        </p:tav>
                                      </p:tavLst>
                                    </p:anim>
                                    <p:anim calcmode="lin" valueType="num">
                                      <p:cBhvr>
                                        <p:cTn id="35" dur="1000" fill="hold"/>
                                        <p:tgtEl>
                                          <p:spTgt spid="89"/>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90"/>
                                        </p:tgtEl>
                                        <p:attrNameLst>
                                          <p:attrName>style.visibility</p:attrName>
                                        </p:attrNameLst>
                                      </p:cBhvr>
                                      <p:to>
                                        <p:strVal val="visible"/>
                                      </p:to>
                                    </p:set>
                                    <p:animEffect transition="in" filter="fade">
                                      <p:cBhvr>
                                        <p:cTn id="38" dur="1000"/>
                                        <p:tgtEl>
                                          <p:spTgt spid="90"/>
                                        </p:tgtEl>
                                      </p:cBhvr>
                                    </p:animEffect>
                                    <p:anim calcmode="lin" valueType="num">
                                      <p:cBhvr>
                                        <p:cTn id="39" dur="1000" fill="hold"/>
                                        <p:tgtEl>
                                          <p:spTgt spid="90"/>
                                        </p:tgtEl>
                                        <p:attrNameLst>
                                          <p:attrName>ppt_x</p:attrName>
                                        </p:attrNameLst>
                                      </p:cBhvr>
                                      <p:tavLst>
                                        <p:tav tm="0">
                                          <p:val>
                                            <p:strVal val="#ppt_x"/>
                                          </p:val>
                                        </p:tav>
                                        <p:tav tm="100000">
                                          <p:val>
                                            <p:strVal val="#ppt_x"/>
                                          </p:val>
                                        </p:tav>
                                      </p:tavLst>
                                    </p:anim>
                                    <p:anim calcmode="lin" valueType="num">
                                      <p:cBhvr>
                                        <p:cTn id="40" dur="1000" fill="hold"/>
                                        <p:tgtEl>
                                          <p:spTgt spid="90"/>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92"/>
                                        </p:tgtEl>
                                        <p:attrNameLst>
                                          <p:attrName>style.visibility</p:attrName>
                                        </p:attrNameLst>
                                      </p:cBhvr>
                                      <p:to>
                                        <p:strVal val="visible"/>
                                      </p:to>
                                    </p:set>
                                    <p:animEffect transition="in" filter="fade">
                                      <p:cBhvr>
                                        <p:cTn id="43" dur="1000"/>
                                        <p:tgtEl>
                                          <p:spTgt spid="92"/>
                                        </p:tgtEl>
                                      </p:cBhvr>
                                    </p:animEffect>
                                    <p:anim calcmode="lin" valueType="num">
                                      <p:cBhvr>
                                        <p:cTn id="44" dur="1000" fill="hold"/>
                                        <p:tgtEl>
                                          <p:spTgt spid="92"/>
                                        </p:tgtEl>
                                        <p:attrNameLst>
                                          <p:attrName>ppt_x</p:attrName>
                                        </p:attrNameLst>
                                      </p:cBhvr>
                                      <p:tavLst>
                                        <p:tav tm="0">
                                          <p:val>
                                            <p:strVal val="#ppt_x"/>
                                          </p:val>
                                        </p:tav>
                                        <p:tav tm="100000">
                                          <p:val>
                                            <p:strVal val="#ppt_x"/>
                                          </p:val>
                                        </p:tav>
                                      </p:tavLst>
                                    </p:anim>
                                    <p:anim calcmode="lin" valueType="num">
                                      <p:cBhvr>
                                        <p:cTn id="45" dur="1000" fill="hold"/>
                                        <p:tgtEl>
                                          <p:spTgt spid="9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93"/>
                                        </p:tgtEl>
                                        <p:attrNameLst>
                                          <p:attrName>style.visibility</p:attrName>
                                        </p:attrNameLst>
                                      </p:cBhvr>
                                      <p:to>
                                        <p:strVal val="visible"/>
                                      </p:to>
                                    </p:set>
                                    <p:animEffect transition="in" filter="fade">
                                      <p:cBhvr>
                                        <p:cTn id="48" dur="1000"/>
                                        <p:tgtEl>
                                          <p:spTgt spid="93"/>
                                        </p:tgtEl>
                                      </p:cBhvr>
                                    </p:animEffect>
                                    <p:anim calcmode="lin" valueType="num">
                                      <p:cBhvr>
                                        <p:cTn id="49" dur="1000" fill="hold"/>
                                        <p:tgtEl>
                                          <p:spTgt spid="93"/>
                                        </p:tgtEl>
                                        <p:attrNameLst>
                                          <p:attrName>ppt_x</p:attrName>
                                        </p:attrNameLst>
                                      </p:cBhvr>
                                      <p:tavLst>
                                        <p:tav tm="0">
                                          <p:val>
                                            <p:strVal val="#ppt_x"/>
                                          </p:val>
                                        </p:tav>
                                        <p:tav tm="100000">
                                          <p:val>
                                            <p:strVal val="#ppt_x"/>
                                          </p:val>
                                        </p:tav>
                                      </p:tavLst>
                                    </p:anim>
                                    <p:anim calcmode="lin" valueType="num">
                                      <p:cBhvr>
                                        <p:cTn id="50" dur="1000" fill="hold"/>
                                        <p:tgtEl>
                                          <p:spTgt spid="93"/>
                                        </p:tgtEl>
                                        <p:attrNameLst>
                                          <p:attrName>ppt_y</p:attrName>
                                        </p:attrNameLst>
                                      </p:cBhvr>
                                      <p:tavLst>
                                        <p:tav tm="0">
                                          <p:val>
                                            <p:strVal val="#ppt_y+.1"/>
                                          </p:val>
                                        </p:tav>
                                        <p:tav tm="100000">
                                          <p:val>
                                            <p:strVal val="#ppt_y"/>
                                          </p:val>
                                        </p:tav>
                                      </p:tavLst>
                                    </p:anim>
                                  </p:childTnLst>
                                </p:cTn>
                              </p:par>
                              <p:par>
                                <p:cTn id="51" presetID="52" presetClass="entr" presetSubtype="0" fill="hold" nodeType="withEffect">
                                  <p:stCondLst>
                                    <p:cond delay="200"/>
                                  </p:stCondLst>
                                  <p:childTnLst>
                                    <p:set>
                                      <p:cBhvr>
                                        <p:cTn id="52" dur="1" fill="hold">
                                          <p:stCondLst>
                                            <p:cond delay="0"/>
                                          </p:stCondLst>
                                        </p:cTn>
                                        <p:tgtEl>
                                          <p:spTgt spid="91"/>
                                        </p:tgtEl>
                                        <p:attrNameLst>
                                          <p:attrName>style.visibility</p:attrName>
                                        </p:attrNameLst>
                                      </p:cBhvr>
                                      <p:to>
                                        <p:strVal val="visible"/>
                                      </p:to>
                                    </p:set>
                                    <p:animScale>
                                      <p:cBhvr>
                                        <p:cTn id="53" dur="1000" decel="50000" fill="hold">
                                          <p:stCondLst>
                                            <p:cond delay="0"/>
                                          </p:stCondLst>
                                        </p:cTn>
                                        <p:tgtEl>
                                          <p:spTgt spid="9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91"/>
                                        </p:tgtEl>
                                        <p:attrNameLst>
                                          <p:attrName>ppt_x</p:attrName>
                                          <p:attrName>ppt_y</p:attrName>
                                        </p:attrNameLst>
                                      </p:cBhvr>
                                    </p:animMotion>
                                    <p:animEffect transition="in" filter="fade">
                                      <p:cBhvr>
                                        <p:cTn id="55" dur="10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ldLvl="0" animBg="1"/>
      <p:bldP spid="85" grpId="0" bldLvl="0" animBg="1"/>
      <p:bldP spid="8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5.4.3  环境变量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84" name="矩形 1"/>
          <p:cNvSpPr/>
          <p:nvPr/>
        </p:nvSpPr>
        <p:spPr>
          <a:xfrm>
            <a:off x="877570" y="1835785"/>
            <a:ext cx="10839450" cy="37401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5" name="等腰三角形 84"/>
          <p:cNvSpPr/>
          <p:nvPr/>
        </p:nvSpPr>
        <p:spPr>
          <a:xfrm flipV="1">
            <a:off x="1237615" y="1575435"/>
            <a:ext cx="672465" cy="601980"/>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86" name="TextBox 9"/>
          <p:cNvSpPr txBox="1"/>
          <p:nvPr/>
        </p:nvSpPr>
        <p:spPr>
          <a:xfrm>
            <a:off x="2152015" y="2242820"/>
            <a:ext cx="8676005" cy="1160145"/>
          </a:xfrm>
          <a:prstGeom prst="rect">
            <a:avLst/>
          </a:prstGeom>
          <a:noFill/>
        </p:spPr>
        <p:txBody>
          <a:bodyPr wrap="square" rtlCol="0">
            <a:spAutoFit/>
          </a:bodyPr>
          <a:lstStyle/>
          <a:p>
            <a:pPr indent="457200" eaLnBrk="1" latinLnBrk="0" hangingPunct="1">
              <a:lnSpc>
                <a:spcPct val="13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用户系统信箱的路径。无论何时邮件到达用户的系统中，它都会存在该变量指定的文件中。用户可以通过定时查询这个文件最近更新的时间来判断是否有新邮件到达。在一般情况下，如用户的注册名为pb，则MAIL的值为/var/spool/mail/pb。</a:t>
            </a:r>
          </a:p>
        </p:txBody>
      </p:sp>
      <p:sp>
        <p:nvSpPr>
          <p:cNvPr id="87" name="TextBox 86"/>
          <p:cNvSpPr txBox="1"/>
          <p:nvPr/>
        </p:nvSpPr>
        <p:spPr>
          <a:xfrm>
            <a:off x="2029757" y="1814182"/>
            <a:ext cx="1113155" cy="417830"/>
          </a:xfrm>
          <a:prstGeom prst="rect">
            <a:avLst/>
          </a:prstGeom>
          <a:noFill/>
        </p:spPr>
        <p:txBody>
          <a:bodyPr wrap="none" rtlCol="0">
            <a:spAutoFit/>
          </a:bodyPr>
          <a:lstStyle/>
          <a:p>
            <a:pPr algn="l"/>
            <a:r>
              <a:rPr lang="zh-CN" altLang="en-US" sz="2000" b="1" dirty="0">
                <a:solidFill>
                  <a:schemeClr val="bg1"/>
                </a:solidFill>
                <a:latin typeface="微软雅黑" panose="020B0503020204020204" pitchFamily="34" charset="-122"/>
                <a:ea typeface="微软雅黑" panose="020B0503020204020204" pitchFamily="34" charset="-122"/>
                <a:sym typeface="+mn-ea"/>
              </a:rPr>
              <a:t>MAIL：</a:t>
            </a:r>
          </a:p>
        </p:txBody>
      </p:sp>
      <p:sp>
        <p:nvSpPr>
          <p:cNvPr id="88" name="TextBox 87"/>
          <p:cNvSpPr txBox="1"/>
          <p:nvPr/>
        </p:nvSpPr>
        <p:spPr>
          <a:xfrm>
            <a:off x="1362845" y="1508744"/>
            <a:ext cx="436880" cy="640080"/>
          </a:xfrm>
          <a:prstGeom prst="rect">
            <a:avLst/>
          </a:prstGeom>
          <a:noFill/>
        </p:spPr>
        <p:txBody>
          <a:bodyPr wrap="none" rtlCol="0">
            <a:spAutoFit/>
          </a:bodyPr>
          <a:lstStyle/>
          <a:p>
            <a:r>
              <a:rPr lang="en-US" sz="3600" b="1" dirty="0">
                <a:solidFill>
                  <a:schemeClr val="bg1"/>
                </a:solidFill>
                <a:latin typeface="Arial" panose="020B0604020202020204" pitchFamily="34" charset="0"/>
                <a:ea typeface="微软雅黑" panose="020B0503020204020204" pitchFamily="34" charset="-122"/>
                <a:cs typeface="Arial" panose="020B0604020202020204" pitchFamily="34" charset="0"/>
              </a:rPr>
              <a:t>3</a:t>
            </a:r>
          </a:p>
        </p:txBody>
      </p:sp>
      <p:sp>
        <p:nvSpPr>
          <p:cNvPr id="89" name="矩形 1"/>
          <p:cNvSpPr/>
          <p:nvPr/>
        </p:nvSpPr>
        <p:spPr>
          <a:xfrm>
            <a:off x="877570" y="3437890"/>
            <a:ext cx="10839450" cy="37401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0" name="等腰三角形 89"/>
          <p:cNvSpPr/>
          <p:nvPr/>
        </p:nvSpPr>
        <p:spPr>
          <a:xfrm flipV="1">
            <a:off x="1237615" y="3192780"/>
            <a:ext cx="626745" cy="605155"/>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91" name="TextBox 90"/>
          <p:cNvSpPr txBox="1"/>
          <p:nvPr/>
        </p:nvSpPr>
        <p:spPr>
          <a:xfrm>
            <a:off x="2137410" y="3764280"/>
            <a:ext cx="9262110" cy="825932"/>
          </a:xfrm>
          <a:prstGeom prst="rect">
            <a:avLst/>
          </a:prstGeom>
          <a:noFill/>
        </p:spPr>
        <p:txBody>
          <a:bodyPr wrap="square" rtlCol="0">
            <a:spAutoFit/>
          </a:bodyPr>
          <a:lstStyle/>
          <a:p>
            <a:pPr indent="457200" eaLnBrk="1" latinLnBrk="0" hangingPunct="1">
              <a:lnSpc>
                <a:spcPct val="14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shell从中查找命令的</a:t>
            </a:r>
            <a:r>
              <a:rPr lang="zh-CN" altLang="en-US" sz="1800" b="1" dirty="0">
                <a:solidFill>
                  <a:srgbClr val="0070C0"/>
                </a:solidFill>
                <a:latin typeface="微软雅黑" panose="020B0503020204020204" pitchFamily="34" charset="-122"/>
                <a:ea typeface="微软雅黑" panose="020B0503020204020204" pitchFamily="34" charset="-122"/>
                <a:sym typeface="+mn-ea"/>
              </a:rPr>
              <a:t>目录列表</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。这是一个非常重要的shell变量</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。指出用户当前使用的shell。</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sp>
        <p:nvSpPr>
          <p:cNvPr id="92" name="TextBox 91"/>
          <p:cNvSpPr txBox="1"/>
          <p:nvPr/>
        </p:nvSpPr>
        <p:spPr>
          <a:xfrm>
            <a:off x="2064244" y="3447338"/>
            <a:ext cx="1161415" cy="387985"/>
          </a:xfrm>
          <a:prstGeom prst="rect">
            <a:avLst/>
          </a:prstGeom>
          <a:noFill/>
        </p:spPr>
        <p:txBody>
          <a:bodyPr wrap="none" rtlCol="0">
            <a:spAutoFit/>
          </a:bodyPr>
          <a:lstStyle/>
          <a:p>
            <a:pPr algn="l"/>
            <a:r>
              <a:rPr lang="zh-CN" altLang="en-US" b="1" dirty="0">
                <a:solidFill>
                  <a:schemeClr val="bg1"/>
                </a:solidFill>
                <a:sym typeface="+mn-ea"/>
              </a:rPr>
              <a:t>SHELL：</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
        <p:nvSpPr>
          <p:cNvPr id="93" name="TextBox 92"/>
          <p:cNvSpPr txBox="1"/>
          <p:nvPr/>
        </p:nvSpPr>
        <p:spPr>
          <a:xfrm>
            <a:off x="1306574" y="3080344"/>
            <a:ext cx="465455" cy="701040"/>
          </a:xfrm>
          <a:prstGeom prst="rect">
            <a:avLst/>
          </a:prstGeom>
          <a:noFill/>
        </p:spPr>
        <p:txBody>
          <a:bodyPr wrap="none" rtlCol="0">
            <a:spAutoFit/>
          </a:bodyPr>
          <a:lstStyle/>
          <a:p>
            <a:r>
              <a:rPr lang="en-US" sz="4000" b="1" dirty="0">
                <a:solidFill>
                  <a:schemeClr val="bg1"/>
                </a:solidFill>
                <a:latin typeface="Arial" panose="020B0604020202020204" pitchFamily="34" charset="0"/>
                <a:ea typeface="微软雅黑" panose="020B0503020204020204" pitchFamily="34" charset="-122"/>
                <a:cs typeface="Arial" panose="020B0604020202020204" pitchFamily="34" charset="0"/>
              </a:rPr>
              <a:t>4</a:t>
            </a:r>
          </a:p>
        </p:txBody>
      </p:sp>
      <p:sp>
        <p:nvSpPr>
          <p:cNvPr id="94" name="矩形 1"/>
          <p:cNvSpPr/>
          <p:nvPr/>
        </p:nvSpPr>
        <p:spPr>
          <a:xfrm>
            <a:off x="877570" y="5038090"/>
            <a:ext cx="10839450" cy="374650"/>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5" name="等腰三角形 94"/>
          <p:cNvSpPr/>
          <p:nvPr/>
        </p:nvSpPr>
        <p:spPr>
          <a:xfrm flipV="1">
            <a:off x="1237615" y="4792980"/>
            <a:ext cx="718185" cy="638810"/>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96" name="TextBox 23"/>
          <p:cNvSpPr txBox="1"/>
          <p:nvPr/>
        </p:nvSpPr>
        <p:spPr>
          <a:xfrm>
            <a:off x="1955800" y="5426075"/>
            <a:ext cx="9443720" cy="858520"/>
          </a:xfrm>
          <a:prstGeom prst="rect">
            <a:avLst/>
          </a:prstGeom>
          <a:noFill/>
        </p:spPr>
        <p:txBody>
          <a:bodyPr wrap="square" rtlCol="0">
            <a:spAutoFit/>
          </a:bodyPr>
          <a:lstStyle/>
          <a:p>
            <a:pPr indent="457200" eaLnBrk="1" latinLnBrk="0" hangingPunct="1">
              <a:lnSpc>
                <a:spcPct val="14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shell的</a:t>
            </a:r>
            <a:r>
              <a:rPr lang="zh-CN" altLang="en-US" sz="1800" b="1" dirty="0">
                <a:solidFill>
                  <a:srgbClr val="0070C0"/>
                </a:solidFill>
                <a:latin typeface="微软雅黑" panose="020B0503020204020204" pitchFamily="34" charset="-122"/>
                <a:ea typeface="微软雅黑" panose="020B0503020204020204" pitchFamily="34" charset="-122"/>
                <a:sym typeface="+mn-ea"/>
              </a:rPr>
              <a:t>主提示符</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。主提示符是在shell准备接收命令时显示的字符串。PS1定义用户的主提示符是如何构成的。</a:t>
            </a:r>
          </a:p>
        </p:txBody>
      </p:sp>
      <p:sp>
        <p:nvSpPr>
          <p:cNvPr id="97" name="TextBox 24"/>
          <p:cNvSpPr txBox="1"/>
          <p:nvPr/>
        </p:nvSpPr>
        <p:spPr>
          <a:xfrm>
            <a:off x="2092810" y="5038343"/>
            <a:ext cx="843915" cy="387985"/>
          </a:xfrm>
          <a:prstGeom prst="rect">
            <a:avLst/>
          </a:prstGeom>
          <a:noFill/>
        </p:spPr>
        <p:txBody>
          <a:bodyPr wrap="none" rtlCol="0">
            <a:spAutoFit/>
          </a:bodyPr>
          <a:lstStyle/>
          <a:p>
            <a:pPr algn="l"/>
            <a:r>
              <a:rPr lang="zh-CN" altLang="en-US" b="1" dirty="0">
                <a:solidFill>
                  <a:schemeClr val="bg1"/>
                </a:solidFill>
                <a:sym typeface="+mn-ea"/>
              </a:rPr>
              <a:t>PS1：</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98" name="TextBox 25"/>
          <p:cNvSpPr txBox="1"/>
          <p:nvPr/>
        </p:nvSpPr>
        <p:spPr>
          <a:xfrm>
            <a:off x="1337054" y="4696088"/>
            <a:ext cx="465455" cy="701040"/>
          </a:xfrm>
          <a:prstGeom prst="rect">
            <a:avLst/>
          </a:prstGeom>
          <a:noFill/>
        </p:spPr>
        <p:txBody>
          <a:bodyPr wrap="none" rtlCol="0">
            <a:spAutoFit/>
          </a:bodyPr>
          <a:lstStyle/>
          <a:p>
            <a:r>
              <a:rPr lang="en-US" sz="4000" b="1" dirty="0">
                <a:solidFill>
                  <a:schemeClr val="bg1"/>
                </a:solidFill>
                <a:latin typeface="Arial" panose="020B0604020202020204" pitchFamily="34" charset="0"/>
                <a:ea typeface="微软雅黑" panose="020B0503020204020204" pitchFamily="34" charset="-122"/>
                <a:cs typeface="Arial" panose="020B0604020202020204" pitchFamily="34" charset="0"/>
              </a:rPr>
              <a:t>5</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fade">
                                      <p:cBhvr>
                                        <p:cTn id="12" dur="1000"/>
                                        <p:tgtEl>
                                          <p:spTgt spid="85"/>
                                        </p:tgtEl>
                                      </p:cBhvr>
                                    </p:animEffect>
                                    <p:anim calcmode="lin" valueType="num">
                                      <p:cBhvr>
                                        <p:cTn id="13" dur="1000" fill="hold"/>
                                        <p:tgtEl>
                                          <p:spTgt spid="85"/>
                                        </p:tgtEl>
                                        <p:attrNameLst>
                                          <p:attrName>ppt_x</p:attrName>
                                        </p:attrNameLst>
                                      </p:cBhvr>
                                      <p:tavLst>
                                        <p:tav tm="0">
                                          <p:val>
                                            <p:strVal val="#ppt_x"/>
                                          </p:val>
                                        </p:tav>
                                        <p:tav tm="100000">
                                          <p:val>
                                            <p:strVal val="#ppt_x"/>
                                          </p:val>
                                        </p:tav>
                                      </p:tavLst>
                                    </p:anim>
                                    <p:anim calcmode="lin" valueType="num">
                                      <p:cBhvr>
                                        <p:cTn id="14" dur="1000" fill="hold"/>
                                        <p:tgtEl>
                                          <p:spTgt spid="8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fade">
                                      <p:cBhvr>
                                        <p:cTn id="17" dur="1000"/>
                                        <p:tgtEl>
                                          <p:spTgt spid="87"/>
                                        </p:tgtEl>
                                      </p:cBhvr>
                                    </p:animEffect>
                                    <p:anim calcmode="lin" valueType="num">
                                      <p:cBhvr>
                                        <p:cTn id="18" dur="1000" fill="hold"/>
                                        <p:tgtEl>
                                          <p:spTgt spid="87"/>
                                        </p:tgtEl>
                                        <p:attrNameLst>
                                          <p:attrName>ppt_x</p:attrName>
                                        </p:attrNameLst>
                                      </p:cBhvr>
                                      <p:tavLst>
                                        <p:tav tm="0">
                                          <p:val>
                                            <p:strVal val="#ppt_x"/>
                                          </p:val>
                                        </p:tav>
                                        <p:tav tm="100000">
                                          <p:val>
                                            <p:strVal val="#ppt_x"/>
                                          </p:val>
                                        </p:tav>
                                      </p:tavLst>
                                    </p:anim>
                                    <p:anim calcmode="lin" valueType="num">
                                      <p:cBhvr>
                                        <p:cTn id="19" dur="1000" fill="hold"/>
                                        <p:tgtEl>
                                          <p:spTgt spid="8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fade">
                                      <p:cBhvr>
                                        <p:cTn id="22" dur="1000"/>
                                        <p:tgtEl>
                                          <p:spTgt spid="88"/>
                                        </p:tgtEl>
                                      </p:cBhvr>
                                    </p:animEffect>
                                    <p:anim calcmode="lin" valueType="num">
                                      <p:cBhvr>
                                        <p:cTn id="23" dur="1000" fill="hold"/>
                                        <p:tgtEl>
                                          <p:spTgt spid="88"/>
                                        </p:tgtEl>
                                        <p:attrNameLst>
                                          <p:attrName>ppt_x</p:attrName>
                                        </p:attrNameLst>
                                      </p:cBhvr>
                                      <p:tavLst>
                                        <p:tav tm="0">
                                          <p:val>
                                            <p:strVal val="#ppt_x"/>
                                          </p:val>
                                        </p:tav>
                                        <p:tav tm="100000">
                                          <p:val>
                                            <p:strVal val="#ppt_x"/>
                                          </p:val>
                                        </p:tav>
                                      </p:tavLst>
                                    </p:anim>
                                    <p:anim calcmode="lin" valueType="num">
                                      <p:cBhvr>
                                        <p:cTn id="24" dur="1000" fill="hold"/>
                                        <p:tgtEl>
                                          <p:spTgt spid="88"/>
                                        </p:tgtEl>
                                        <p:attrNameLst>
                                          <p:attrName>ppt_y</p:attrName>
                                        </p:attrNameLst>
                                      </p:cBhvr>
                                      <p:tavLst>
                                        <p:tav tm="0">
                                          <p:val>
                                            <p:strVal val="#ppt_y+.1"/>
                                          </p:val>
                                        </p:tav>
                                        <p:tav tm="100000">
                                          <p:val>
                                            <p:strVal val="#ppt_y"/>
                                          </p:val>
                                        </p:tav>
                                      </p:tavLst>
                                    </p:anim>
                                  </p:childTnLst>
                                </p:cTn>
                              </p:par>
                              <p:par>
                                <p:cTn id="25" presetID="52"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animScale>
                                      <p:cBhvr>
                                        <p:cTn id="27" dur="1000" decel="50000" fill="hold">
                                          <p:stCondLst>
                                            <p:cond delay="0"/>
                                          </p:stCondLst>
                                        </p:cTn>
                                        <p:tgtEl>
                                          <p:spTgt spid="8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86"/>
                                        </p:tgtEl>
                                        <p:attrNameLst>
                                          <p:attrName>ppt_x</p:attrName>
                                          <p:attrName>ppt_y</p:attrName>
                                        </p:attrNameLst>
                                      </p:cBhvr>
                                    </p:animMotion>
                                    <p:animEffect transition="in" filter="fade">
                                      <p:cBhvr>
                                        <p:cTn id="29" dur="1000"/>
                                        <p:tgtEl>
                                          <p:spTgt spid="86"/>
                                        </p:tgtEl>
                                      </p:cBhvr>
                                    </p:animEffect>
                                  </p:childTnLst>
                                </p:cTn>
                              </p:par>
                            </p:childTnLst>
                          </p:cTn>
                        </p:par>
                        <p:par>
                          <p:cTn id="30" fill="hold">
                            <p:stCondLst>
                              <p:cond delay="1000"/>
                            </p:stCondLst>
                            <p:childTnLst>
                              <p:par>
                                <p:cTn id="31" presetID="42" presetClass="entr" presetSubtype="0" fill="hold" nodeType="afterEffect">
                                  <p:stCondLst>
                                    <p:cond delay="0"/>
                                  </p:stCondLst>
                                  <p:childTnLst>
                                    <p:set>
                                      <p:cBhvr>
                                        <p:cTn id="32" dur="1" fill="hold">
                                          <p:stCondLst>
                                            <p:cond delay="0"/>
                                          </p:stCondLst>
                                        </p:cTn>
                                        <p:tgtEl>
                                          <p:spTgt spid="89"/>
                                        </p:tgtEl>
                                        <p:attrNameLst>
                                          <p:attrName>style.visibility</p:attrName>
                                        </p:attrNameLst>
                                      </p:cBhvr>
                                      <p:to>
                                        <p:strVal val="visible"/>
                                      </p:to>
                                    </p:set>
                                    <p:animEffect transition="in" filter="fade">
                                      <p:cBhvr>
                                        <p:cTn id="33" dur="1000"/>
                                        <p:tgtEl>
                                          <p:spTgt spid="89"/>
                                        </p:tgtEl>
                                      </p:cBhvr>
                                    </p:animEffect>
                                    <p:anim calcmode="lin" valueType="num">
                                      <p:cBhvr>
                                        <p:cTn id="34" dur="1000" fill="hold"/>
                                        <p:tgtEl>
                                          <p:spTgt spid="89"/>
                                        </p:tgtEl>
                                        <p:attrNameLst>
                                          <p:attrName>ppt_x</p:attrName>
                                        </p:attrNameLst>
                                      </p:cBhvr>
                                      <p:tavLst>
                                        <p:tav tm="0">
                                          <p:val>
                                            <p:strVal val="#ppt_x"/>
                                          </p:val>
                                        </p:tav>
                                        <p:tav tm="100000">
                                          <p:val>
                                            <p:strVal val="#ppt_x"/>
                                          </p:val>
                                        </p:tav>
                                      </p:tavLst>
                                    </p:anim>
                                    <p:anim calcmode="lin" valueType="num">
                                      <p:cBhvr>
                                        <p:cTn id="35" dur="1000" fill="hold"/>
                                        <p:tgtEl>
                                          <p:spTgt spid="89"/>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90"/>
                                        </p:tgtEl>
                                        <p:attrNameLst>
                                          <p:attrName>style.visibility</p:attrName>
                                        </p:attrNameLst>
                                      </p:cBhvr>
                                      <p:to>
                                        <p:strVal val="visible"/>
                                      </p:to>
                                    </p:set>
                                    <p:animEffect transition="in" filter="fade">
                                      <p:cBhvr>
                                        <p:cTn id="38" dur="1000"/>
                                        <p:tgtEl>
                                          <p:spTgt spid="90"/>
                                        </p:tgtEl>
                                      </p:cBhvr>
                                    </p:animEffect>
                                    <p:anim calcmode="lin" valueType="num">
                                      <p:cBhvr>
                                        <p:cTn id="39" dur="1000" fill="hold"/>
                                        <p:tgtEl>
                                          <p:spTgt spid="90"/>
                                        </p:tgtEl>
                                        <p:attrNameLst>
                                          <p:attrName>ppt_x</p:attrName>
                                        </p:attrNameLst>
                                      </p:cBhvr>
                                      <p:tavLst>
                                        <p:tav tm="0">
                                          <p:val>
                                            <p:strVal val="#ppt_x"/>
                                          </p:val>
                                        </p:tav>
                                        <p:tav tm="100000">
                                          <p:val>
                                            <p:strVal val="#ppt_x"/>
                                          </p:val>
                                        </p:tav>
                                      </p:tavLst>
                                    </p:anim>
                                    <p:anim calcmode="lin" valueType="num">
                                      <p:cBhvr>
                                        <p:cTn id="40" dur="1000" fill="hold"/>
                                        <p:tgtEl>
                                          <p:spTgt spid="90"/>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92"/>
                                        </p:tgtEl>
                                        <p:attrNameLst>
                                          <p:attrName>style.visibility</p:attrName>
                                        </p:attrNameLst>
                                      </p:cBhvr>
                                      <p:to>
                                        <p:strVal val="visible"/>
                                      </p:to>
                                    </p:set>
                                    <p:animEffect transition="in" filter="fade">
                                      <p:cBhvr>
                                        <p:cTn id="43" dur="1000"/>
                                        <p:tgtEl>
                                          <p:spTgt spid="92"/>
                                        </p:tgtEl>
                                      </p:cBhvr>
                                    </p:animEffect>
                                    <p:anim calcmode="lin" valueType="num">
                                      <p:cBhvr>
                                        <p:cTn id="44" dur="1000" fill="hold"/>
                                        <p:tgtEl>
                                          <p:spTgt spid="92"/>
                                        </p:tgtEl>
                                        <p:attrNameLst>
                                          <p:attrName>ppt_x</p:attrName>
                                        </p:attrNameLst>
                                      </p:cBhvr>
                                      <p:tavLst>
                                        <p:tav tm="0">
                                          <p:val>
                                            <p:strVal val="#ppt_x"/>
                                          </p:val>
                                        </p:tav>
                                        <p:tav tm="100000">
                                          <p:val>
                                            <p:strVal val="#ppt_x"/>
                                          </p:val>
                                        </p:tav>
                                      </p:tavLst>
                                    </p:anim>
                                    <p:anim calcmode="lin" valueType="num">
                                      <p:cBhvr>
                                        <p:cTn id="45" dur="1000" fill="hold"/>
                                        <p:tgtEl>
                                          <p:spTgt spid="9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93"/>
                                        </p:tgtEl>
                                        <p:attrNameLst>
                                          <p:attrName>style.visibility</p:attrName>
                                        </p:attrNameLst>
                                      </p:cBhvr>
                                      <p:to>
                                        <p:strVal val="visible"/>
                                      </p:to>
                                    </p:set>
                                    <p:animEffect transition="in" filter="fade">
                                      <p:cBhvr>
                                        <p:cTn id="48" dur="1000"/>
                                        <p:tgtEl>
                                          <p:spTgt spid="93"/>
                                        </p:tgtEl>
                                      </p:cBhvr>
                                    </p:animEffect>
                                    <p:anim calcmode="lin" valueType="num">
                                      <p:cBhvr>
                                        <p:cTn id="49" dur="1000" fill="hold"/>
                                        <p:tgtEl>
                                          <p:spTgt spid="93"/>
                                        </p:tgtEl>
                                        <p:attrNameLst>
                                          <p:attrName>ppt_x</p:attrName>
                                        </p:attrNameLst>
                                      </p:cBhvr>
                                      <p:tavLst>
                                        <p:tav tm="0">
                                          <p:val>
                                            <p:strVal val="#ppt_x"/>
                                          </p:val>
                                        </p:tav>
                                        <p:tav tm="100000">
                                          <p:val>
                                            <p:strVal val="#ppt_x"/>
                                          </p:val>
                                        </p:tav>
                                      </p:tavLst>
                                    </p:anim>
                                    <p:anim calcmode="lin" valueType="num">
                                      <p:cBhvr>
                                        <p:cTn id="50" dur="1000" fill="hold"/>
                                        <p:tgtEl>
                                          <p:spTgt spid="93"/>
                                        </p:tgtEl>
                                        <p:attrNameLst>
                                          <p:attrName>ppt_y</p:attrName>
                                        </p:attrNameLst>
                                      </p:cBhvr>
                                      <p:tavLst>
                                        <p:tav tm="0">
                                          <p:val>
                                            <p:strVal val="#ppt_y+.1"/>
                                          </p:val>
                                        </p:tav>
                                        <p:tav tm="100000">
                                          <p:val>
                                            <p:strVal val="#ppt_y"/>
                                          </p:val>
                                        </p:tav>
                                      </p:tavLst>
                                    </p:anim>
                                  </p:childTnLst>
                                </p:cTn>
                              </p:par>
                              <p:par>
                                <p:cTn id="51" presetID="52" presetClass="entr" presetSubtype="0" fill="hold" nodeType="withEffect">
                                  <p:stCondLst>
                                    <p:cond delay="200"/>
                                  </p:stCondLst>
                                  <p:childTnLst>
                                    <p:set>
                                      <p:cBhvr>
                                        <p:cTn id="52" dur="1" fill="hold">
                                          <p:stCondLst>
                                            <p:cond delay="0"/>
                                          </p:stCondLst>
                                        </p:cTn>
                                        <p:tgtEl>
                                          <p:spTgt spid="91"/>
                                        </p:tgtEl>
                                        <p:attrNameLst>
                                          <p:attrName>style.visibility</p:attrName>
                                        </p:attrNameLst>
                                      </p:cBhvr>
                                      <p:to>
                                        <p:strVal val="visible"/>
                                      </p:to>
                                    </p:set>
                                    <p:animScale>
                                      <p:cBhvr>
                                        <p:cTn id="53" dur="1000" decel="50000" fill="hold">
                                          <p:stCondLst>
                                            <p:cond delay="0"/>
                                          </p:stCondLst>
                                        </p:cTn>
                                        <p:tgtEl>
                                          <p:spTgt spid="9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91"/>
                                        </p:tgtEl>
                                        <p:attrNameLst>
                                          <p:attrName>ppt_x</p:attrName>
                                          <p:attrName>ppt_y</p:attrName>
                                        </p:attrNameLst>
                                      </p:cBhvr>
                                    </p:animMotion>
                                    <p:animEffect transition="in" filter="fade">
                                      <p:cBhvr>
                                        <p:cTn id="55" dur="1000"/>
                                        <p:tgtEl>
                                          <p:spTgt spid="91"/>
                                        </p:tgtEl>
                                      </p:cBhvr>
                                    </p:animEffect>
                                  </p:childTnLst>
                                </p:cTn>
                              </p:par>
                            </p:childTnLst>
                          </p:cTn>
                        </p:par>
                        <p:par>
                          <p:cTn id="56" fill="hold">
                            <p:stCondLst>
                              <p:cond delay="2000"/>
                            </p:stCondLst>
                            <p:childTnLst>
                              <p:par>
                                <p:cTn id="57" presetID="42" presetClass="entr" presetSubtype="0" fill="hold" grpId="0" nodeType="afterEffect">
                                  <p:stCondLst>
                                    <p:cond delay="0"/>
                                  </p:stCondLst>
                                  <p:childTnLst>
                                    <p:set>
                                      <p:cBhvr>
                                        <p:cTn id="58" dur="1" fill="hold">
                                          <p:stCondLst>
                                            <p:cond delay="0"/>
                                          </p:stCondLst>
                                        </p:cTn>
                                        <p:tgtEl>
                                          <p:spTgt spid="94"/>
                                        </p:tgtEl>
                                        <p:attrNameLst>
                                          <p:attrName>style.visibility</p:attrName>
                                        </p:attrNameLst>
                                      </p:cBhvr>
                                      <p:to>
                                        <p:strVal val="visible"/>
                                      </p:to>
                                    </p:set>
                                    <p:animEffect transition="in" filter="fade">
                                      <p:cBhvr>
                                        <p:cTn id="59" dur="1000"/>
                                        <p:tgtEl>
                                          <p:spTgt spid="94"/>
                                        </p:tgtEl>
                                      </p:cBhvr>
                                    </p:animEffect>
                                    <p:anim calcmode="lin" valueType="num">
                                      <p:cBhvr>
                                        <p:cTn id="60" dur="1000" fill="hold"/>
                                        <p:tgtEl>
                                          <p:spTgt spid="94"/>
                                        </p:tgtEl>
                                        <p:attrNameLst>
                                          <p:attrName>ppt_x</p:attrName>
                                        </p:attrNameLst>
                                      </p:cBhvr>
                                      <p:tavLst>
                                        <p:tav tm="0">
                                          <p:val>
                                            <p:strVal val="#ppt_x"/>
                                          </p:val>
                                        </p:tav>
                                        <p:tav tm="100000">
                                          <p:val>
                                            <p:strVal val="#ppt_x"/>
                                          </p:val>
                                        </p:tav>
                                      </p:tavLst>
                                    </p:anim>
                                    <p:anim calcmode="lin" valueType="num">
                                      <p:cBhvr>
                                        <p:cTn id="61" dur="1000" fill="hold"/>
                                        <p:tgtEl>
                                          <p:spTgt spid="9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fade">
                                      <p:cBhvr>
                                        <p:cTn id="64" dur="1000"/>
                                        <p:tgtEl>
                                          <p:spTgt spid="95"/>
                                        </p:tgtEl>
                                      </p:cBhvr>
                                    </p:animEffect>
                                    <p:anim calcmode="lin" valueType="num">
                                      <p:cBhvr>
                                        <p:cTn id="65" dur="1000" fill="hold"/>
                                        <p:tgtEl>
                                          <p:spTgt spid="95"/>
                                        </p:tgtEl>
                                        <p:attrNameLst>
                                          <p:attrName>ppt_x</p:attrName>
                                        </p:attrNameLst>
                                      </p:cBhvr>
                                      <p:tavLst>
                                        <p:tav tm="0">
                                          <p:val>
                                            <p:strVal val="#ppt_x"/>
                                          </p:val>
                                        </p:tav>
                                        <p:tav tm="100000">
                                          <p:val>
                                            <p:strVal val="#ppt_x"/>
                                          </p:val>
                                        </p:tav>
                                      </p:tavLst>
                                    </p:anim>
                                    <p:anim calcmode="lin" valueType="num">
                                      <p:cBhvr>
                                        <p:cTn id="66" dur="1000" fill="hold"/>
                                        <p:tgtEl>
                                          <p:spTgt spid="9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97"/>
                                        </p:tgtEl>
                                        <p:attrNameLst>
                                          <p:attrName>style.visibility</p:attrName>
                                        </p:attrNameLst>
                                      </p:cBhvr>
                                      <p:to>
                                        <p:strVal val="visible"/>
                                      </p:to>
                                    </p:set>
                                    <p:animEffect transition="in" filter="fade">
                                      <p:cBhvr>
                                        <p:cTn id="69" dur="1000"/>
                                        <p:tgtEl>
                                          <p:spTgt spid="97"/>
                                        </p:tgtEl>
                                      </p:cBhvr>
                                    </p:animEffect>
                                    <p:anim calcmode="lin" valueType="num">
                                      <p:cBhvr>
                                        <p:cTn id="70" dur="1000" fill="hold"/>
                                        <p:tgtEl>
                                          <p:spTgt spid="97"/>
                                        </p:tgtEl>
                                        <p:attrNameLst>
                                          <p:attrName>ppt_x</p:attrName>
                                        </p:attrNameLst>
                                      </p:cBhvr>
                                      <p:tavLst>
                                        <p:tav tm="0">
                                          <p:val>
                                            <p:strVal val="#ppt_x"/>
                                          </p:val>
                                        </p:tav>
                                        <p:tav tm="100000">
                                          <p:val>
                                            <p:strVal val="#ppt_x"/>
                                          </p:val>
                                        </p:tav>
                                      </p:tavLst>
                                    </p:anim>
                                    <p:anim calcmode="lin" valueType="num">
                                      <p:cBhvr>
                                        <p:cTn id="71" dur="1000" fill="hold"/>
                                        <p:tgtEl>
                                          <p:spTgt spid="9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98"/>
                                        </p:tgtEl>
                                        <p:attrNameLst>
                                          <p:attrName>style.visibility</p:attrName>
                                        </p:attrNameLst>
                                      </p:cBhvr>
                                      <p:to>
                                        <p:strVal val="visible"/>
                                      </p:to>
                                    </p:set>
                                    <p:animEffect transition="in" filter="fade">
                                      <p:cBhvr>
                                        <p:cTn id="74" dur="1000"/>
                                        <p:tgtEl>
                                          <p:spTgt spid="98"/>
                                        </p:tgtEl>
                                      </p:cBhvr>
                                    </p:animEffect>
                                    <p:anim calcmode="lin" valueType="num">
                                      <p:cBhvr>
                                        <p:cTn id="75" dur="1000" fill="hold"/>
                                        <p:tgtEl>
                                          <p:spTgt spid="98"/>
                                        </p:tgtEl>
                                        <p:attrNameLst>
                                          <p:attrName>ppt_x</p:attrName>
                                        </p:attrNameLst>
                                      </p:cBhvr>
                                      <p:tavLst>
                                        <p:tav tm="0">
                                          <p:val>
                                            <p:strVal val="#ppt_x"/>
                                          </p:val>
                                        </p:tav>
                                        <p:tav tm="100000">
                                          <p:val>
                                            <p:strVal val="#ppt_x"/>
                                          </p:val>
                                        </p:tav>
                                      </p:tavLst>
                                    </p:anim>
                                    <p:anim calcmode="lin" valueType="num">
                                      <p:cBhvr>
                                        <p:cTn id="76" dur="1000" fill="hold"/>
                                        <p:tgtEl>
                                          <p:spTgt spid="98"/>
                                        </p:tgtEl>
                                        <p:attrNameLst>
                                          <p:attrName>ppt_y</p:attrName>
                                        </p:attrNameLst>
                                      </p:cBhvr>
                                      <p:tavLst>
                                        <p:tav tm="0">
                                          <p:val>
                                            <p:strVal val="#ppt_y+.1"/>
                                          </p:val>
                                        </p:tav>
                                        <p:tav tm="100000">
                                          <p:val>
                                            <p:strVal val="#ppt_y"/>
                                          </p:val>
                                        </p:tav>
                                      </p:tavLst>
                                    </p:anim>
                                  </p:childTnLst>
                                </p:cTn>
                              </p:par>
                              <p:par>
                                <p:cTn id="77" presetID="52" presetClass="entr" presetSubtype="0" fill="hold" nodeType="withEffect">
                                  <p:stCondLst>
                                    <p:cond delay="400"/>
                                  </p:stCondLst>
                                  <p:childTnLst>
                                    <p:set>
                                      <p:cBhvr>
                                        <p:cTn id="78" dur="1" fill="hold">
                                          <p:stCondLst>
                                            <p:cond delay="0"/>
                                          </p:stCondLst>
                                        </p:cTn>
                                        <p:tgtEl>
                                          <p:spTgt spid="96"/>
                                        </p:tgtEl>
                                        <p:attrNameLst>
                                          <p:attrName>style.visibility</p:attrName>
                                        </p:attrNameLst>
                                      </p:cBhvr>
                                      <p:to>
                                        <p:strVal val="visible"/>
                                      </p:to>
                                    </p:set>
                                    <p:animScale>
                                      <p:cBhvr>
                                        <p:cTn id="79" dur="1000" decel="50000" fill="hold">
                                          <p:stCondLst>
                                            <p:cond delay="0"/>
                                          </p:stCondLst>
                                        </p:cTn>
                                        <p:tgtEl>
                                          <p:spTgt spid="9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0" dur="1000" decel="50000" fill="hold">
                                          <p:stCondLst>
                                            <p:cond delay="0"/>
                                          </p:stCondLst>
                                        </p:cTn>
                                        <p:tgtEl>
                                          <p:spTgt spid="96"/>
                                        </p:tgtEl>
                                        <p:attrNameLst>
                                          <p:attrName>ppt_x</p:attrName>
                                          <p:attrName>ppt_y</p:attrName>
                                        </p:attrNameLst>
                                      </p:cBhvr>
                                    </p:animMotion>
                                    <p:animEffect transition="in" filter="fade">
                                      <p:cBhvr>
                                        <p:cTn id="81" dur="1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ldLvl="0" animBg="1"/>
      <p:bldP spid="85" grpId="0" bldLvl="0" animBg="1"/>
      <p:bldP spid="87" grpId="0"/>
      <p:bldP spid="94" grpId="0" bldLvl="0" animBg="1"/>
      <p:bldP spid="95" grpId="0" bldLvl="0" animBg="1"/>
      <p:bldP spid="97" grpId="0"/>
      <p:bldP spid="9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5.4.3  环境变量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sp>
        <p:nvSpPr>
          <p:cNvPr id="84" name="矩形 1"/>
          <p:cNvSpPr/>
          <p:nvPr/>
        </p:nvSpPr>
        <p:spPr>
          <a:xfrm>
            <a:off x="877570" y="1835785"/>
            <a:ext cx="10839450" cy="37401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5" name="等腰三角形 84"/>
          <p:cNvSpPr/>
          <p:nvPr/>
        </p:nvSpPr>
        <p:spPr>
          <a:xfrm flipV="1">
            <a:off x="1237615" y="1575435"/>
            <a:ext cx="672465" cy="601980"/>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86" name="TextBox 9"/>
          <p:cNvSpPr txBox="1"/>
          <p:nvPr/>
        </p:nvSpPr>
        <p:spPr>
          <a:xfrm>
            <a:off x="2121535" y="2288540"/>
            <a:ext cx="8676005" cy="858520"/>
          </a:xfrm>
          <a:prstGeom prst="rect">
            <a:avLst/>
          </a:prstGeom>
          <a:noFill/>
        </p:spPr>
        <p:txBody>
          <a:bodyPr wrap="square" rtlCol="0">
            <a:spAutoFit/>
          </a:bodyPr>
          <a:lstStyle/>
          <a:p>
            <a:pPr indent="457200" eaLnBrk="1" latinLnBrk="0" hangingPunct="1">
              <a:lnSpc>
                <a:spcPct val="14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用户当前工作目录的路径。它指出用户目前在Linux文件系统中处在什么位置，是由Linux自动设置的。</a:t>
            </a:r>
          </a:p>
        </p:txBody>
      </p:sp>
      <p:sp>
        <p:nvSpPr>
          <p:cNvPr id="87" name="TextBox 86"/>
          <p:cNvSpPr txBox="1"/>
          <p:nvPr/>
        </p:nvSpPr>
        <p:spPr>
          <a:xfrm>
            <a:off x="2029757" y="1814182"/>
            <a:ext cx="1030605" cy="420370"/>
          </a:xfrm>
          <a:prstGeom prst="rect">
            <a:avLst/>
          </a:prstGeom>
          <a:noFill/>
        </p:spPr>
        <p:txBody>
          <a:bodyPr wrap="none" rtlCol="0">
            <a:spAutoFit/>
          </a:bodyPr>
          <a:lstStyle/>
          <a:p>
            <a:pPr algn="l"/>
            <a:r>
              <a:rPr lang="zh-CN" altLang="en-US" sz="2000" b="1" dirty="0">
                <a:solidFill>
                  <a:schemeClr val="bg1"/>
                </a:solidFill>
                <a:sym typeface="+mn-ea"/>
              </a:rPr>
              <a:t>PWD：</a:t>
            </a:r>
            <a:endParaRPr lang="zh-CN" altLang="en-US" sz="2000" b="1" dirty="0">
              <a:solidFill>
                <a:schemeClr val="bg1"/>
              </a:solidFill>
              <a:latin typeface="微软雅黑" panose="020B0503020204020204" pitchFamily="34" charset="-122"/>
              <a:ea typeface="微软雅黑" panose="020B0503020204020204" pitchFamily="34" charset="-122"/>
              <a:sym typeface="+mn-ea"/>
            </a:endParaRPr>
          </a:p>
        </p:txBody>
      </p:sp>
      <p:sp>
        <p:nvSpPr>
          <p:cNvPr id="88" name="TextBox 87"/>
          <p:cNvSpPr txBox="1"/>
          <p:nvPr/>
        </p:nvSpPr>
        <p:spPr>
          <a:xfrm>
            <a:off x="1362845" y="1508744"/>
            <a:ext cx="436880" cy="640080"/>
          </a:xfrm>
          <a:prstGeom prst="rect">
            <a:avLst/>
          </a:prstGeom>
          <a:noFill/>
        </p:spPr>
        <p:txBody>
          <a:bodyPr wrap="none" rtlCol="0">
            <a:spAutoFit/>
          </a:bodyPr>
          <a:lstStyle/>
          <a:p>
            <a:r>
              <a:rPr lang="en-US" sz="3600" b="1" dirty="0">
                <a:solidFill>
                  <a:schemeClr val="bg1"/>
                </a:solidFill>
                <a:latin typeface="Arial" panose="020B0604020202020204" pitchFamily="34" charset="0"/>
                <a:ea typeface="微软雅黑" panose="020B0503020204020204" pitchFamily="34" charset="-122"/>
                <a:cs typeface="Arial" panose="020B0604020202020204" pitchFamily="34" charset="0"/>
              </a:rPr>
              <a:t>6</a:t>
            </a:r>
          </a:p>
        </p:txBody>
      </p:sp>
      <p:sp>
        <p:nvSpPr>
          <p:cNvPr id="89" name="矩形 1"/>
          <p:cNvSpPr/>
          <p:nvPr/>
        </p:nvSpPr>
        <p:spPr>
          <a:xfrm>
            <a:off x="877570" y="3437890"/>
            <a:ext cx="10839450" cy="374015"/>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0" name="等腰三角形 89"/>
          <p:cNvSpPr/>
          <p:nvPr/>
        </p:nvSpPr>
        <p:spPr>
          <a:xfrm flipV="1">
            <a:off x="1237615" y="3192780"/>
            <a:ext cx="626745" cy="605155"/>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91" name="TextBox 90"/>
          <p:cNvSpPr txBox="1"/>
          <p:nvPr/>
        </p:nvSpPr>
        <p:spPr>
          <a:xfrm>
            <a:off x="2137410" y="3855720"/>
            <a:ext cx="9262110" cy="1015086"/>
          </a:xfrm>
          <a:prstGeom prst="rect">
            <a:avLst/>
          </a:prstGeom>
          <a:noFill/>
        </p:spPr>
        <p:txBody>
          <a:bodyPr wrap="square" rtlCol="0">
            <a:spAutoFit/>
          </a:bodyPr>
          <a:lstStyle/>
          <a:p>
            <a:pPr eaLnBrk="1" latinLnBrk="0" hangingPunct="1">
              <a:lnSpc>
                <a:spcPct val="16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PATH变量包含带冒号分界符的字符串。这些字符串指向含有用户所使用命令的目录。用户可以设置它，而且其中的字符串顺序决定了先从哪个目录查找。</a:t>
            </a:r>
          </a:p>
        </p:txBody>
      </p:sp>
      <p:sp>
        <p:nvSpPr>
          <p:cNvPr id="92" name="TextBox 91"/>
          <p:cNvSpPr txBox="1"/>
          <p:nvPr/>
        </p:nvSpPr>
        <p:spPr>
          <a:xfrm>
            <a:off x="2064244" y="3447338"/>
            <a:ext cx="1000125" cy="387985"/>
          </a:xfrm>
          <a:prstGeom prst="rect">
            <a:avLst/>
          </a:prstGeom>
          <a:noFill/>
        </p:spPr>
        <p:txBody>
          <a:bodyPr wrap="none" rtlCol="0">
            <a:spAutoFit/>
          </a:bodyPr>
          <a:lstStyle/>
          <a:p>
            <a:pPr algn="l"/>
            <a:r>
              <a:rPr lang="zh-CN" altLang="en-US" b="1" dirty="0">
                <a:solidFill>
                  <a:schemeClr val="bg1"/>
                </a:solidFill>
                <a:sym typeface="+mn-ea"/>
              </a:rPr>
              <a:t>PATH：</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
        <p:nvSpPr>
          <p:cNvPr id="93" name="TextBox 92"/>
          <p:cNvSpPr txBox="1"/>
          <p:nvPr/>
        </p:nvSpPr>
        <p:spPr>
          <a:xfrm>
            <a:off x="1306574" y="3080344"/>
            <a:ext cx="465455" cy="701040"/>
          </a:xfrm>
          <a:prstGeom prst="rect">
            <a:avLst/>
          </a:prstGeom>
          <a:noFill/>
        </p:spPr>
        <p:txBody>
          <a:bodyPr wrap="none" rtlCol="0">
            <a:spAutoFit/>
          </a:bodyPr>
          <a:lstStyle/>
          <a:p>
            <a:r>
              <a:rPr lang="en-US" sz="4000" b="1" dirty="0">
                <a:solidFill>
                  <a:schemeClr val="bg1"/>
                </a:solidFill>
                <a:latin typeface="Arial" panose="020B0604020202020204" pitchFamily="34" charset="0"/>
                <a:ea typeface="微软雅黑" panose="020B0503020204020204" pitchFamily="34" charset="-122"/>
                <a:cs typeface="Arial" panose="020B0604020202020204" pitchFamily="34" charset="0"/>
              </a:rPr>
              <a:t>7</a:t>
            </a:r>
          </a:p>
        </p:txBody>
      </p:sp>
      <p:sp>
        <p:nvSpPr>
          <p:cNvPr id="94" name="矩形 1"/>
          <p:cNvSpPr/>
          <p:nvPr/>
        </p:nvSpPr>
        <p:spPr>
          <a:xfrm>
            <a:off x="877570" y="5312414"/>
            <a:ext cx="10839450" cy="374650"/>
          </a:xfrm>
          <a:custGeom>
            <a:avLst/>
            <a:gdLst>
              <a:gd name="connsiteX0" fmla="*/ 0 w 6840760"/>
              <a:gd name="connsiteY0" fmla="*/ 0 h 888468"/>
              <a:gd name="connsiteX1" fmla="*/ 6840760 w 6840760"/>
              <a:gd name="connsiteY1" fmla="*/ 0 h 888468"/>
              <a:gd name="connsiteX2" fmla="*/ 6840760 w 6840760"/>
              <a:gd name="connsiteY2" fmla="*/ 888468 h 888468"/>
              <a:gd name="connsiteX3" fmla="*/ 0 w 6840760"/>
              <a:gd name="connsiteY3" fmla="*/ 888468 h 888468"/>
              <a:gd name="connsiteX4" fmla="*/ 0 w 6840760"/>
              <a:gd name="connsiteY4" fmla="*/ 0 h 888468"/>
              <a:gd name="connsiteX0-1" fmla="*/ 0 w 6840760"/>
              <a:gd name="connsiteY0-2" fmla="*/ 0 h 888468"/>
              <a:gd name="connsiteX1-3" fmla="*/ 6465622 w 6840760"/>
              <a:gd name="connsiteY1-4" fmla="*/ 35169 h 888468"/>
              <a:gd name="connsiteX2-5" fmla="*/ 6840760 w 6840760"/>
              <a:gd name="connsiteY2-6" fmla="*/ 888468 h 888468"/>
              <a:gd name="connsiteX3-7" fmla="*/ 0 w 6840760"/>
              <a:gd name="connsiteY3-8" fmla="*/ 888468 h 888468"/>
              <a:gd name="connsiteX4-9" fmla="*/ 0 w 6840760"/>
              <a:gd name="connsiteY4-10" fmla="*/ 0 h 888468"/>
              <a:gd name="connsiteX0-11" fmla="*/ 351693 w 6840760"/>
              <a:gd name="connsiteY0-12" fmla="*/ 0 h 888468"/>
              <a:gd name="connsiteX1-13" fmla="*/ 6465622 w 6840760"/>
              <a:gd name="connsiteY1-14" fmla="*/ 35169 h 888468"/>
              <a:gd name="connsiteX2-15" fmla="*/ 6840760 w 6840760"/>
              <a:gd name="connsiteY2-16" fmla="*/ 888468 h 888468"/>
              <a:gd name="connsiteX3-17" fmla="*/ 0 w 6840760"/>
              <a:gd name="connsiteY3-18" fmla="*/ 888468 h 888468"/>
              <a:gd name="connsiteX4-19" fmla="*/ 351693 w 6840760"/>
              <a:gd name="connsiteY4-20" fmla="*/ 0 h 8884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40760" h="888468">
                <a:moveTo>
                  <a:pt x="351693" y="0"/>
                </a:moveTo>
                <a:lnTo>
                  <a:pt x="6465622" y="35169"/>
                </a:lnTo>
                <a:lnTo>
                  <a:pt x="6840760" y="888468"/>
                </a:lnTo>
                <a:lnTo>
                  <a:pt x="0" y="888468"/>
                </a:lnTo>
                <a:lnTo>
                  <a:pt x="35169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5" name="等腰三角形 94"/>
          <p:cNvSpPr/>
          <p:nvPr/>
        </p:nvSpPr>
        <p:spPr>
          <a:xfrm flipV="1">
            <a:off x="1237615" y="5067304"/>
            <a:ext cx="718185" cy="638810"/>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p>
        </p:txBody>
      </p:sp>
      <p:sp>
        <p:nvSpPr>
          <p:cNvPr id="96" name="TextBox 23"/>
          <p:cNvSpPr txBox="1"/>
          <p:nvPr/>
        </p:nvSpPr>
        <p:spPr>
          <a:xfrm>
            <a:off x="1955800" y="5700399"/>
            <a:ext cx="9443720" cy="914400"/>
          </a:xfrm>
          <a:prstGeom prst="rect">
            <a:avLst/>
          </a:prstGeom>
          <a:noFill/>
        </p:spPr>
        <p:txBody>
          <a:bodyPr wrap="square" rtlCol="0">
            <a:spAutoFit/>
          </a:bodyPr>
          <a:lstStyle/>
          <a:p>
            <a:pPr indent="457200" eaLnBrk="1" latinLnBrk="0" hangingPunct="1">
              <a:lnSpc>
                <a:spcPct val="15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用户终端类型。DEC公司制定的vt-100终端的特性，被许多厂商接受，也被许多终端软件仿真，成为广泛使用的标准设置。</a:t>
            </a:r>
          </a:p>
        </p:txBody>
      </p:sp>
      <p:sp>
        <p:nvSpPr>
          <p:cNvPr id="97" name="TextBox 24"/>
          <p:cNvSpPr txBox="1"/>
          <p:nvPr/>
        </p:nvSpPr>
        <p:spPr>
          <a:xfrm>
            <a:off x="2092810" y="5312667"/>
            <a:ext cx="1059815" cy="387985"/>
          </a:xfrm>
          <a:prstGeom prst="rect">
            <a:avLst/>
          </a:prstGeom>
          <a:noFill/>
        </p:spPr>
        <p:txBody>
          <a:bodyPr wrap="none" rtlCol="0">
            <a:spAutoFit/>
          </a:bodyPr>
          <a:lstStyle/>
          <a:p>
            <a:pPr algn="l"/>
            <a:r>
              <a:rPr lang="zh-CN" altLang="en-US" b="1" dirty="0">
                <a:solidFill>
                  <a:schemeClr val="bg1"/>
                </a:solidFill>
                <a:sym typeface="+mn-ea"/>
              </a:rPr>
              <a:t>TERM：</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
        <p:nvSpPr>
          <p:cNvPr id="98" name="TextBox 25"/>
          <p:cNvSpPr txBox="1"/>
          <p:nvPr/>
        </p:nvSpPr>
        <p:spPr>
          <a:xfrm>
            <a:off x="1337054" y="4970412"/>
            <a:ext cx="465455" cy="701040"/>
          </a:xfrm>
          <a:prstGeom prst="rect">
            <a:avLst/>
          </a:prstGeom>
          <a:noFill/>
        </p:spPr>
        <p:txBody>
          <a:bodyPr wrap="none" rtlCol="0">
            <a:spAutoFit/>
          </a:bodyPr>
          <a:lstStyle/>
          <a:p>
            <a:r>
              <a:rPr lang="en-US" sz="4000" b="1" dirty="0">
                <a:solidFill>
                  <a:schemeClr val="bg1"/>
                </a:solidFill>
                <a:latin typeface="Arial" panose="020B0604020202020204" pitchFamily="34" charset="0"/>
                <a:ea typeface="微软雅黑" panose="020B0503020204020204" pitchFamily="34" charset="-122"/>
                <a:cs typeface="Arial" panose="020B0604020202020204" pitchFamily="34" charset="0"/>
              </a:rPr>
              <a:t>8</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fade">
                                      <p:cBhvr>
                                        <p:cTn id="12" dur="1000"/>
                                        <p:tgtEl>
                                          <p:spTgt spid="85"/>
                                        </p:tgtEl>
                                      </p:cBhvr>
                                    </p:animEffect>
                                    <p:anim calcmode="lin" valueType="num">
                                      <p:cBhvr>
                                        <p:cTn id="13" dur="1000" fill="hold"/>
                                        <p:tgtEl>
                                          <p:spTgt spid="85"/>
                                        </p:tgtEl>
                                        <p:attrNameLst>
                                          <p:attrName>ppt_x</p:attrName>
                                        </p:attrNameLst>
                                      </p:cBhvr>
                                      <p:tavLst>
                                        <p:tav tm="0">
                                          <p:val>
                                            <p:strVal val="#ppt_x"/>
                                          </p:val>
                                        </p:tav>
                                        <p:tav tm="100000">
                                          <p:val>
                                            <p:strVal val="#ppt_x"/>
                                          </p:val>
                                        </p:tav>
                                      </p:tavLst>
                                    </p:anim>
                                    <p:anim calcmode="lin" valueType="num">
                                      <p:cBhvr>
                                        <p:cTn id="14" dur="1000" fill="hold"/>
                                        <p:tgtEl>
                                          <p:spTgt spid="8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fade">
                                      <p:cBhvr>
                                        <p:cTn id="17" dur="1000"/>
                                        <p:tgtEl>
                                          <p:spTgt spid="87"/>
                                        </p:tgtEl>
                                      </p:cBhvr>
                                    </p:animEffect>
                                    <p:anim calcmode="lin" valueType="num">
                                      <p:cBhvr>
                                        <p:cTn id="18" dur="1000" fill="hold"/>
                                        <p:tgtEl>
                                          <p:spTgt spid="87"/>
                                        </p:tgtEl>
                                        <p:attrNameLst>
                                          <p:attrName>ppt_x</p:attrName>
                                        </p:attrNameLst>
                                      </p:cBhvr>
                                      <p:tavLst>
                                        <p:tav tm="0">
                                          <p:val>
                                            <p:strVal val="#ppt_x"/>
                                          </p:val>
                                        </p:tav>
                                        <p:tav tm="100000">
                                          <p:val>
                                            <p:strVal val="#ppt_x"/>
                                          </p:val>
                                        </p:tav>
                                      </p:tavLst>
                                    </p:anim>
                                    <p:anim calcmode="lin" valueType="num">
                                      <p:cBhvr>
                                        <p:cTn id="19" dur="1000" fill="hold"/>
                                        <p:tgtEl>
                                          <p:spTgt spid="8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fade">
                                      <p:cBhvr>
                                        <p:cTn id="22" dur="1000"/>
                                        <p:tgtEl>
                                          <p:spTgt spid="88"/>
                                        </p:tgtEl>
                                      </p:cBhvr>
                                    </p:animEffect>
                                    <p:anim calcmode="lin" valueType="num">
                                      <p:cBhvr>
                                        <p:cTn id="23" dur="1000" fill="hold"/>
                                        <p:tgtEl>
                                          <p:spTgt spid="88"/>
                                        </p:tgtEl>
                                        <p:attrNameLst>
                                          <p:attrName>ppt_x</p:attrName>
                                        </p:attrNameLst>
                                      </p:cBhvr>
                                      <p:tavLst>
                                        <p:tav tm="0">
                                          <p:val>
                                            <p:strVal val="#ppt_x"/>
                                          </p:val>
                                        </p:tav>
                                        <p:tav tm="100000">
                                          <p:val>
                                            <p:strVal val="#ppt_x"/>
                                          </p:val>
                                        </p:tav>
                                      </p:tavLst>
                                    </p:anim>
                                    <p:anim calcmode="lin" valueType="num">
                                      <p:cBhvr>
                                        <p:cTn id="24" dur="1000" fill="hold"/>
                                        <p:tgtEl>
                                          <p:spTgt spid="88"/>
                                        </p:tgtEl>
                                        <p:attrNameLst>
                                          <p:attrName>ppt_y</p:attrName>
                                        </p:attrNameLst>
                                      </p:cBhvr>
                                      <p:tavLst>
                                        <p:tav tm="0">
                                          <p:val>
                                            <p:strVal val="#ppt_y+.1"/>
                                          </p:val>
                                        </p:tav>
                                        <p:tav tm="100000">
                                          <p:val>
                                            <p:strVal val="#ppt_y"/>
                                          </p:val>
                                        </p:tav>
                                      </p:tavLst>
                                    </p:anim>
                                  </p:childTnLst>
                                </p:cTn>
                              </p:par>
                              <p:par>
                                <p:cTn id="25" presetID="52"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animScale>
                                      <p:cBhvr>
                                        <p:cTn id="27" dur="1000" decel="50000" fill="hold">
                                          <p:stCondLst>
                                            <p:cond delay="0"/>
                                          </p:stCondLst>
                                        </p:cTn>
                                        <p:tgtEl>
                                          <p:spTgt spid="8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86"/>
                                        </p:tgtEl>
                                        <p:attrNameLst>
                                          <p:attrName>ppt_x</p:attrName>
                                          <p:attrName>ppt_y</p:attrName>
                                        </p:attrNameLst>
                                      </p:cBhvr>
                                    </p:animMotion>
                                    <p:animEffect transition="in" filter="fade">
                                      <p:cBhvr>
                                        <p:cTn id="29" dur="1000"/>
                                        <p:tgtEl>
                                          <p:spTgt spid="86"/>
                                        </p:tgtEl>
                                      </p:cBhvr>
                                    </p:animEffect>
                                  </p:childTnLst>
                                </p:cTn>
                              </p:par>
                            </p:childTnLst>
                          </p:cTn>
                        </p:par>
                        <p:par>
                          <p:cTn id="30" fill="hold">
                            <p:stCondLst>
                              <p:cond delay="1000"/>
                            </p:stCondLst>
                            <p:childTnLst>
                              <p:par>
                                <p:cTn id="31" presetID="42" presetClass="entr" presetSubtype="0" fill="hold" nodeType="afterEffect">
                                  <p:stCondLst>
                                    <p:cond delay="0"/>
                                  </p:stCondLst>
                                  <p:childTnLst>
                                    <p:set>
                                      <p:cBhvr>
                                        <p:cTn id="32" dur="1" fill="hold">
                                          <p:stCondLst>
                                            <p:cond delay="0"/>
                                          </p:stCondLst>
                                        </p:cTn>
                                        <p:tgtEl>
                                          <p:spTgt spid="89"/>
                                        </p:tgtEl>
                                        <p:attrNameLst>
                                          <p:attrName>style.visibility</p:attrName>
                                        </p:attrNameLst>
                                      </p:cBhvr>
                                      <p:to>
                                        <p:strVal val="visible"/>
                                      </p:to>
                                    </p:set>
                                    <p:animEffect transition="in" filter="fade">
                                      <p:cBhvr>
                                        <p:cTn id="33" dur="1000"/>
                                        <p:tgtEl>
                                          <p:spTgt spid="89"/>
                                        </p:tgtEl>
                                      </p:cBhvr>
                                    </p:animEffect>
                                    <p:anim calcmode="lin" valueType="num">
                                      <p:cBhvr>
                                        <p:cTn id="34" dur="1000" fill="hold"/>
                                        <p:tgtEl>
                                          <p:spTgt spid="89"/>
                                        </p:tgtEl>
                                        <p:attrNameLst>
                                          <p:attrName>ppt_x</p:attrName>
                                        </p:attrNameLst>
                                      </p:cBhvr>
                                      <p:tavLst>
                                        <p:tav tm="0">
                                          <p:val>
                                            <p:strVal val="#ppt_x"/>
                                          </p:val>
                                        </p:tav>
                                        <p:tav tm="100000">
                                          <p:val>
                                            <p:strVal val="#ppt_x"/>
                                          </p:val>
                                        </p:tav>
                                      </p:tavLst>
                                    </p:anim>
                                    <p:anim calcmode="lin" valueType="num">
                                      <p:cBhvr>
                                        <p:cTn id="35" dur="1000" fill="hold"/>
                                        <p:tgtEl>
                                          <p:spTgt spid="89"/>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90"/>
                                        </p:tgtEl>
                                        <p:attrNameLst>
                                          <p:attrName>style.visibility</p:attrName>
                                        </p:attrNameLst>
                                      </p:cBhvr>
                                      <p:to>
                                        <p:strVal val="visible"/>
                                      </p:to>
                                    </p:set>
                                    <p:animEffect transition="in" filter="fade">
                                      <p:cBhvr>
                                        <p:cTn id="38" dur="1000"/>
                                        <p:tgtEl>
                                          <p:spTgt spid="90"/>
                                        </p:tgtEl>
                                      </p:cBhvr>
                                    </p:animEffect>
                                    <p:anim calcmode="lin" valueType="num">
                                      <p:cBhvr>
                                        <p:cTn id="39" dur="1000" fill="hold"/>
                                        <p:tgtEl>
                                          <p:spTgt spid="90"/>
                                        </p:tgtEl>
                                        <p:attrNameLst>
                                          <p:attrName>ppt_x</p:attrName>
                                        </p:attrNameLst>
                                      </p:cBhvr>
                                      <p:tavLst>
                                        <p:tav tm="0">
                                          <p:val>
                                            <p:strVal val="#ppt_x"/>
                                          </p:val>
                                        </p:tav>
                                        <p:tav tm="100000">
                                          <p:val>
                                            <p:strVal val="#ppt_x"/>
                                          </p:val>
                                        </p:tav>
                                      </p:tavLst>
                                    </p:anim>
                                    <p:anim calcmode="lin" valueType="num">
                                      <p:cBhvr>
                                        <p:cTn id="40" dur="1000" fill="hold"/>
                                        <p:tgtEl>
                                          <p:spTgt spid="90"/>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92"/>
                                        </p:tgtEl>
                                        <p:attrNameLst>
                                          <p:attrName>style.visibility</p:attrName>
                                        </p:attrNameLst>
                                      </p:cBhvr>
                                      <p:to>
                                        <p:strVal val="visible"/>
                                      </p:to>
                                    </p:set>
                                    <p:animEffect transition="in" filter="fade">
                                      <p:cBhvr>
                                        <p:cTn id="43" dur="1000"/>
                                        <p:tgtEl>
                                          <p:spTgt spid="92"/>
                                        </p:tgtEl>
                                      </p:cBhvr>
                                    </p:animEffect>
                                    <p:anim calcmode="lin" valueType="num">
                                      <p:cBhvr>
                                        <p:cTn id="44" dur="1000" fill="hold"/>
                                        <p:tgtEl>
                                          <p:spTgt spid="92"/>
                                        </p:tgtEl>
                                        <p:attrNameLst>
                                          <p:attrName>ppt_x</p:attrName>
                                        </p:attrNameLst>
                                      </p:cBhvr>
                                      <p:tavLst>
                                        <p:tav tm="0">
                                          <p:val>
                                            <p:strVal val="#ppt_x"/>
                                          </p:val>
                                        </p:tav>
                                        <p:tav tm="100000">
                                          <p:val>
                                            <p:strVal val="#ppt_x"/>
                                          </p:val>
                                        </p:tav>
                                      </p:tavLst>
                                    </p:anim>
                                    <p:anim calcmode="lin" valueType="num">
                                      <p:cBhvr>
                                        <p:cTn id="45" dur="1000" fill="hold"/>
                                        <p:tgtEl>
                                          <p:spTgt spid="9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93"/>
                                        </p:tgtEl>
                                        <p:attrNameLst>
                                          <p:attrName>style.visibility</p:attrName>
                                        </p:attrNameLst>
                                      </p:cBhvr>
                                      <p:to>
                                        <p:strVal val="visible"/>
                                      </p:to>
                                    </p:set>
                                    <p:animEffect transition="in" filter="fade">
                                      <p:cBhvr>
                                        <p:cTn id="48" dur="1000"/>
                                        <p:tgtEl>
                                          <p:spTgt spid="93"/>
                                        </p:tgtEl>
                                      </p:cBhvr>
                                    </p:animEffect>
                                    <p:anim calcmode="lin" valueType="num">
                                      <p:cBhvr>
                                        <p:cTn id="49" dur="1000" fill="hold"/>
                                        <p:tgtEl>
                                          <p:spTgt spid="93"/>
                                        </p:tgtEl>
                                        <p:attrNameLst>
                                          <p:attrName>ppt_x</p:attrName>
                                        </p:attrNameLst>
                                      </p:cBhvr>
                                      <p:tavLst>
                                        <p:tav tm="0">
                                          <p:val>
                                            <p:strVal val="#ppt_x"/>
                                          </p:val>
                                        </p:tav>
                                        <p:tav tm="100000">
                                          <p:val>
                                            <p:strVal val="#ppt_x"/>
                                          </p:val>
                                        </p:tav>
                                      </p:tavLst>
                                    </p:anim>
                                    <p:anim calcmode="lin" valueType="num">
                                      <p:cBhvr>
                                        <p:cTn id="50" dur="1000" fill="hold"/>
                                        <p:tgtEl>
                                          <p:spTgt spid="93"/>
                                        </p:tgtEl>
                                        <p:attrNameLst>
                                          <p:attrName>ppt_y</p:attrName>
                                        </p:attrNameLst>
                                      </p:cBhvr>
                                      <p:tavLst>
                                        <p:tav tm="0">
                                          <p:val>
                                            <p:strVal val="#ppt_y+.1"/>
                                          </p:val>
                                        </p:tav>
                                        <p:tav tm="100000">
                                          <p:val>
                                            <p:strVal val="#ppt_y"/>
                                          </p:val>
                                        </p:tav>
                                      </p:tavLst>
                                    </p:anim>
                                  </p:childTnLst>
                                </p:cTn>
                              </p:par>
                              <p:par>
                                <p:cTn id="51" presetID="52" presetClass="entr" presetSubtype="0" fill="hold" nodeType="withEffect">
                                  <p:stCondLst>
                                    <p:cond delay="200"/>
                                  </p:stCondLst>
                                  <p:childTnLst>
                                    <p:set>
                                      <p:cBhvr>
                                        <p:cTn id="52" dur="1" fill="hold">
                                          <p:stCondLst>
                                            <p:cond delay="0"/>
                                          </p:stCondLst>
                                        </p:cTn>
                                        <p:tgtEl>
                                          <p:spTgt spid="91"/>
                                        </p:tgtEl>
                                        <p:attrNameLst>
                                          <p:attrName>style.visibility</p:attrName>
                                        </p:attrNameLst>
                                      </p:cBhvr>
                                      <p:to>
                                        <p:strVal val="visible"/>
                                      </p:to>
                                    </p:set>
                                    <p:animScale>
                                      <p:cBhvr>
                                        <p:cTn id="53" dur="1000" decel="50000" fill="hold">
                                          <p:stCondLst>
                                            <p:cond delay="0"/>
                                          </p:stCondLst>
                                        </p:cTn>
                                        <p:tgtEl>
                                          <p:spTgt spid="9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91"/>
                                        </p:tgtEl>
                                        <p:attrNameLst>
                                          <p:attrName>ppt_x</p:attrName>
                                          <p:attrName>ppt_y</p:attrName>
                                        </p:attrNameLst>
                                      </p:cBhvr>
                                    </p:animMotion>
                                    <p:animEffect transition="in" filter="fade">
                                      <p:cBhvr>
                                        <p:cTn id="55" dur="1000"/>
                                        <p:tgtEl>
                                          <p:spTgt spid="91"/>
                                        </p:tgtEl>
                                      </p:cBhvr>
                                    </p:animEffect>
                                  </p:childTnLst>
                                </p:cTn>
                              </p:par>
                            </p:childTnLst>
                          </p:cTn>
                        </p:par>
                        <p:par>
                          <p:cTn id="56" fill="hold">
                            <p:stCondLst>
                              <p:cond delay="2000"/>
                            </p:stCondLst>
                            <p:childTnLst>
                              <p:par>
                                <p:cTn id="57" presetID="42" presetClass="entr" presetSubtype="0" fill="hold" grpId="0" nodeType="afterEffect">
                                  <p:stCondLst>
                                    <p:cond delay="0"/>
                                  </p:stCondLst>
                                  <p:childTnLst>
                                    <p:set>
                                      <p:cBhvr>
                                        <p:cTn id="58" dur="1" fill="hold">
                                          <p:stCondLst>
                                            <p:cond delay="0"/>
                                          </p:stCondLst>
                                        </p:cTn>
                                        <p:tgtEl>
                                          <p:spTgt spid="94"/>
                                        </p:tgtEl>
                                        <p:attrNameLst>
                                          <p:attrName>style.visibility</p:attrName>
                                        </p:attrNameLst>
                                      </p:cBhvr>
                                      <p:to>
                                        <p:strVal val="visible"/>
                                      </p:to>
                                    </p:set>
                                    <p:animEffect transition="in" filter="fade">
                                      <p:cBhvr>
                                        <p:cTn id="59" dur="1000"/>
                                        <p:tgtEl>
                                          <p:spTgt spid="94"/>
                                        </p:tgtEl>
                                      </p:cBhvr>
                                    </p:animEffect>
                                    <p:anim calcmode="lin" valueType="num">
                                      <p:cBhvr>
                                        <p:cTn id="60" dur="1000" fill="hold"/>
                                        <p:tgtEl>
                                          <p:spTgt spid="94"/>
                                        </p:tgtEl>
                                        <p:attrNameLst>
                                          <p:attrName>ppt_x</p:attrName>
                                        </p:attrNameLst>
                                      </p:cBhvr>
                                      <p:tavLst>
                                        <p:tav tm="0">
                                          <p:val>
                                            <p:strVal val="#ppt_x"/>
                                          </p:val>
                                        </p:tav>
                                        <p:tav tm="100000">
                                          <p:val>
                                            <p:strVal val="#ppt_x"/>
                                          </p:val>
                                        </p:tav>
                                      </p:tavLst>
                                    </p:anim>
                                    <p:anim calcmode="lin" valueType="num">
                                      <p:cBhvr>
                                        <p:cTn id="61" dur="1000" fill="hold"/>
                                        <p:tgtEl>
                                          <p:spTgt spid="9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fade">
                                      <p:cBhvr>
                                        <p:cTn id="64" dur="1000"/>
                                        <p:tgtEl>
                                          <p:spTgt spid="95"/>
                                        </p:tgtEl>
                                      </p:cBhvr>
                                    </p:animEffect>
                                    <p:anim calcmode="lin" valueType="num">
                                      <p:cBhvr>
                                        <p:cTn id="65" dur="1000" fill="hold"/>
                                        <p:tgtEl>
                                          <p:spTgt spid="95"/>
                                        </p:tgtEl>
                                        <p:attrNameLst>
                                          <p:attrName>ppt_x</p:attrName>
                                        </p:attrNameLst>
                                      </p:cBhvr>
                                      <p:tavLst>
                                        <p:tav tm="0">
                                          <p:val>
                                            <p:strVal val="#ppt_x"/>
                                          </p:val>
                                        </p:tav>
                                        <p:tav tm="100000">
                                          <p:val>
                                            <p:strVal val="#ppt_x"/>
                                          </p:val>
                                        </p:tav>
                                      </p:tavLst>
                                    </p:anim>
                                    <p:anim calcmode="lin" valueType="num">
                                      <p:cBhvr>
                                        <p:cTn id="66" dur="1000" fill="hold"/>
                                        <p:tgtEl>
                                          <p:spTgt spid="9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97"/>
                                        </p:tgtEl>
                                        <p:attrNameLst>
                                          <p:attrName>style.visibility</p:attrName>
                                        </p:attrNameLst>
                                      </p:cBhvr>
                                      <p:to>
                                        <p:strVal val="visible"/>
                                      </p:to>
                                    </p:set>
                                    <p:animEffect transition="in" filter="fade">
                                      <p:cBhvr>
                                        <p:cTn id="69" dur="1000"/>
                                        <p:tgtEl>
                                          <p:spTgt spid="97"/>
                                        </p:tgtEl>
                                      </p:cBhvr>
                                    </p:animEffect>
                                    <p:anim calcmode="lin" valueType="num">
                                      <p:cBhvr>
                                        <p:cTn id="70" dur="1000" fill="hold"/>
                                        <p:tgtEl>
                                          <p:spTgt spid="97"/>
                                        </p:tgtEl>
                                        <p:attrNameLst>
                                          <p:attrName>ppt_x</p:attrName>
                                        </p:attrNameLst>
                                      </p:cBhvr>
                                      <p:tavLst>
                                        <p:tav tm="0">
                                          <p:val>
                                            <p:strVal val="#ppt_x"/>
                                          </p:val>
                                        </p:tav>
                                        <p:tav tm="100000">
                                          <p:val>
                                            <p:strVal val="#ppt_x"/>
                                          </p:val>
                                        </p:tav>
                                      </p:tavLst>
                                    </p:anim>
                                    <p:anim calcmode="lin" valueType="num">
                                      <p:cBhvr>
                                        <p:cTn id="71" dur="1000" fill="hold"/>
                                        <p:tgtEl>
                                          <p:spTgt spid="97"/>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98"/>
                                        </p:tgtEl>
                                        <p:attrNameLst>
                                          <p:attrName>style.visibility</p:attrName>
                                        </p:attrNameLst>
                                      </p:cBhvr>
                                      <p:to>
                                        <p:strVal val="visible"/>
                                      </p:to>
                                    </p:set>
                                    <p:animEffect transition="in" filter="fade">
                                      <p:cBhvr>
                                        <p:cTn id="74" dur="1000"/>
                                        <p:tgtEl>
                                          <p:spTgt spid="98"/>
                                        </p:tgtEl>
                                      </p:cBhvr>
                                    </p:animEffect>
                                    <p:anim calcmode="lin" valueType="num">
                                      <p:cBhvr>
                                        <p:cTn id="75" dur="1000" fill="hold"/>
                                        <p:tgtEl>
                                          <p:spTgt spid="98"/>
                                        </p:tgtEl>
                                        <p:attrNameLst>
                                          <p:attrName>ppt_x</p:attrName>
                                        </p:attrNameLst>
                                      </p:cBhvr>
                                      <p:tavLst>
                                        <p:tav tm="0">
                                          <p:val>
                                            <p:strVal val="#ppt_x"/>
                                          </p:val>
                                        </p:tav>
                                        <p:tav tm="100000">
                                          <p:val>
                                            <p:strVal val="#ppt_x"/>
                                          </p:val>
                                        </p:tav>
                                      </p:tavLst>
                                    </p:anim>
                                    <p:anim calcmode="lin" valueType="num">
                                      <p:cBhvr>
                                        <p:cTn id="76" dur="1000" fill="hold"/>
                                        <p:tgtEl>
                                          <p:spTgt spid="98"/>
                                        </p:tgtEl>
                                        <p:attrNameLst>
                                          <p:attrName>ppt_y</p:attrName>
                                        </p:attrNameLst>
                                      </p:cBhvr>
                                      <p:tavLst>
                                        <p:tav tm="0">
                                          <p:val>
                                            <p:strVal val="#ppt_y+.1"/>
                                          </p:val>
                                        </p:tav>
                                        <p:tav tm="100000">
                                          <p:val>
                                            <p:strVal val="#ppt_y"/>
                                          </p:val>
                                        </p:tav>
                                      </p:tavLst>
                                    </p:anim>
                                  </p:childTnLst>
                                </p:cTn>
                              </p:par>
                              <p:par>
                                <p:cTn id="77" presetID="52" presetClass="entr" presetSubtype="0" fill="hold" nodeType="withEffect">
                                  <p:stCondLst>
                                    <p:cond delay="400"/>
                                  </p:stCondLst>
                                  <p:childTnLst>
                                    <p:set>
                                      <p:cBhvr>
                                        <p:cTn id="78" dur="1" fill="hold">
                                          <p:stCondLst>
                                            <p:cond delay="0"/>
                                          </p:stCondLst>
                                        </p:cTn>
                                        <p:tgtEl>
                                          <p:spTgt spid="96"/>
                                        </p:tgtEl>
                                        <p:attrNameLst>
                                          <p:attrName>style.visibility</p:attrName>
                                        </p:attrNameLst>
                                      </p:cBhvr>
                                      <p:to>
                                        <p:strVal val="visible"/>
                                      </p:to>
                                    </p:set>
                                    <p:animScale>
                                      <p:cBhvr>
                                        <p:cTn id="79" dur="1000" decel="50000" fill="hold">
                                          <p:stCondLst>
                                            <p:cond delay="0"/>
                                          </p:stCondLst>
                                        </p:cTn>
                                        <p:tgtEl>
                                          <p:spTgt spid="9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0" dur="1000" decel="50000" fill="hold">
                                          <p:stCondLst>
                                            <p:cond delay="0"/>
                                          </p:stCondLst>
                                        </p:cTn>
                                        <p:tgtEl>
                                          <p:spTgt spid="96"/>
                                        </p:tgtEl>
                                        <p:attrNameLst>
                                          <p:attrName>ppt_x</p:attrName>
                                          <p:attrName>ppt_y</p:attrName>
                                        </p:attrNameLst>
                                      </p:cBhvr>
                                    </p:animMotion>
                                    <p:animEffect transition="in" filter="fade">
                                      <p:cBhvr>
                                        <p:cTn id="81" dur="10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ldLvl="0" animBg="1"/>
      <p:bldP spid="85" grpId="0" bldLvl="0" animBg="1"/>
      <p:bldP spid="87" grpId="0"/>
      <p:bldP spid="94" grpId="0" bldLvl="0" animBg="1"/>
      <p:bldP spid="95" grpId="0" bldLvl="0" animBg="1"/>
      <p:bldP spid="97" grpId="0"/>
      <p:bldP spid="9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5.4.4  位置参数</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1" name="组合 30"/>
          <p:cNvGrpSpPr/>
          <p:nvPr/>
        </p:nvGrpSpPr>
        <p:grpSpPr>
          <a:xfrm>
            <a:off x="620395" y="1802130"/>
            <a:ext cx="3321050" cy="518160"/>
            <a:chOff x="1337" y="2814"/>
            <a:chExt cx="5230" cy="816"/>
          </a:xfrm>
        </p:grpSpPr>
        <p:sp>
          <p:nvSpPr>
            <p:cNvPr id="25" name="文本框 2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26" name="文本框 25"/>
            <p:cNvSpPr txBox="1"/>
            <p:nvPr/>
          </p:nvSpPr>
          <p:spPr>
            <a:xfrm>
              <a:off x="2143" y="2862"/>
              <a:ext cx="442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1．位置参数及引用</a:t>
              </a:r>
            </a:p>
          </p:txBody>
        </p:sp>
      </p:grpSp>
      <p:grpSp>
        <p:nvGrpSpPr>
          <p:cNvPr id="3" name="组合 2"/>
          <p:cNvGrpSpPr/>
          <p:nvPr/>
        </p:nvGrpSpPr>
        <p:grpSpPr>
          <a:xfrm>
            <a:off x="517525" y="1999615"/>
            <a:ext cx="10921365" cy="4300855"/>
            <a:chOff x="611560" y="2260668"/>
            <a:chExt cx="7488832" cy="3141728"/>
          </a:xfrm>
          <a:effectLst>
            <a:reflection blurRad="6350" stA="52000" endA="300" endPos="35000" dir="5400000" sy="-100000" algn="bl" rotWithShape="0"/>
          </a:effectLst>
        </p:grpSpPr>
        <p:sp>
          <p:nvSpPr>
            <p:cNvPr id="12" name="矩形 4"/>
            <p:cNvSpPr/>
            <p:nvPr/>
          </p:nvSpPr>
          <p:spPr>
            <a:xfrm>
              <a:off x="3204177" y="4570491"/>
              <a:ext cx="1506099" cy="816244"/>
            </a:xfrm>
            <a:custGeom>
              <a:avLst/>
              <a:gdLst>
                <a:gd name="connsiteX0" fmla="*/ 0 w 1876465"/>
                <a:gd name="connsiteY0" fmla="*/ 0 h 1554072"/>
                <a:gd name="connsiteX1" fmla="*/ 1876465 w 1876465"/>
                <a:gd name="connsiteY1" fmla="*/ 0 h 1554072"/>
                <a:gd name="connsiteX2" fmla="*/ 1876465 w 1876465"/>
                <a:gd name="connsiteY2" fmla="*/ 1554072 h 1554072"/>
                <a:gd name="connsiteX3" fmla="*/ 0 w 1876465"/>
                <a:gd name="connsiteY3" fmla="*/ 1554072 h 1554072"/>
                <a:gd name="connsiteX4" fmla="*/ 0 w 1876465"/>
                <a:gd name="connsiteY4" fmla="*/ 0 h 1554072"/>
                <a:gd name="connsiteX0-1" fmla="*/ 120315 w 1996780"/>
                <a:gd name="connsiteY0-2" fmla="*/ 0 h 1554072"/>
                <a:gd name="connsiteX1-3" fmla="*/ 1996780 w 1996780"/>
                <a:gd name="connsiteY1-4" fmla="*/ 0 h 1554072"/>
                <a:gd name="connsiteX2-5" fmla="*/ 1996780 w 1996780"/>
                <a:gd name="connsiteY2-6" fmla="*/ 1554072 h 1554072"/>
                <a:gd name="connsiteX3-7" fmla="*/ 0 w 1996780"/>
                <a:gd name="connsiteY3-8" fmla="*/ 1554072 h 1554072"/>
                <a:gd name="connsiteX4-9" fmla="*/ 120315 w 1996780"/>
                <a:gd name="connsiteY4-10" fmla="*/ 0 h 1554072"/>
                <a:gd name="connsiteX0-11" fmla="*/ 0 w 1876465"/>
                <a:gd name="connsiteY0-12" fmla="*/ 0 h 1554072"/>
                <a:gd name="connsiteX1-13" fmla="*/ 1876465 w 1876465"/>
                <a:gd name="connsiteY1-14" fmla="*/ 0 h 1554072"/>
                <a:gd name="connsiteX2-15" fmla="*/ 1876465 w 1876465"/>
                <a:gd name="connsiteY2-16" fmla="*/ 1554072 h 1554072"/>
                <a:gd name="connsiteX3-17" fmla="*/ 195127 w 1876465"/>
                <a:gd name="connsiteY3-18" fmla="*/ 1554072 h 1554072"/>
                <a:gd name="connsiteX4-19" fmla="*/ 0 w 1876465"/>
                <a:gd name="connsiteY4-20" fmla="*/ 0 h 1554072"/>
                <a:gd name="connsiteX0-21" fmla="*/ 0 w 2467921"/>
                <a:gd name="connsiteY0-22" fmla="*/ 68720 h 1554072"/>
                <a:gd name="connsiteX1-23" fmla="*/ 2467921 w 2467921"/>
                <a:gd name="connsiteY1-24" fmla="*/ 0 h 1554072"/>
                <a:gd name="connsiteX2-25" fmla="*/ 2467921 w 2467921"/>
                <a:gd name="connsiteY2-26" fmla="*/ 1554072 h 1554072"/>
                <a:gd name="connsiteX3-27" fmla="*/ 786583 w 2467921"/>
                <a:gd name="connsiteY3-28" fmla="*/ 1554072 h 1554072"/>
                <a:gd name="connsiteX4-29" fmla="*/ 0 w 2467921"/>
                <a:gd name="connsiteY4-30" fmla="*/ 68720 h 15540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67921" h="1554072">
                  <a:moveTo>
                    <a:pt x="0" y="68720"/>
                  </a:moveTo>
                  <a:lnTo>
                    <a:pt x="2467921" y="0"/>
                  </a:lnTo>
                  <a:lnTo>
                    <a:pt x="2467921" y="1554072"/>
                  </a:lnTo>
                  <a:lnTo>
                    <a:pt x="786583" y="1554072"/>
                  </a:lnTo>
                  <a:lnTo>
                    <a:pt x="0" y="68720"/>
                  </a:lnTo>
                  <a:close/>
                </a:path>
              </a:pathLst>
            </a:custGeom>
            <a:gradFill flip="none" rotWithShape="1">
              <a:gsLst>
                <a:gs pos="0">
                  <a:schemeClr val="bg1">
                    <a:alpha val="0"/>
                  </a:schemeClr>
                </a:gs>
                <a:gs pos="100000">
                  <a:schemeClr val="bg1">
                    <a:alpha val="0"/>
                  </a:schemeClr>
                </a:gs>
                <a:gs pos="22000">
                  <a:schemeClr val="accent3">
                    <a:lumMod val="5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矩形 4"/>
            <p:cNvSpPr/>
            <p:nvPr/>
          </p:nvSpPr>
          <p:spPr>
            <a:xfrm>
              <a:off x="1266860" y="3237040"/>
              <a:ext cx="1144900" cy="512792"/>
            </a:xfrm>
            <a:custGeom>
              <a:avLst/>
              <a:gdLst>
                <a:gd name="connsiteX0" fmla="*/ 0 w 1876465"/>
                <a:gd name="connsiteY0" fmla="*/ 0 h 1554072"/>
                <a:gd name="connsiteX1" fmla="*/ 1876465 w 1876465"/>
                <a:gd name="connsiteY1" fmla="*/ 0 h 1554072"/>
                <a:gd name="connsiteX2" fmla="*/ 1876465 w 1876465"/>
                <a:gd name="connsiteY2" fmla="*/ 1554072 h 1554072"/>
                <a:gd name="connsiteX3" fmla="*/ 0 w 1876465"/>
                <a:gd name="connsiteY3" fmla="*/ 1554072 h 1554072"/>
                <a:gd name="connsiteX4" fmla="*/ 0 w 1876465"/>
                <a:gd name="connsiteY4" fmla="*/ 0 h 1554072"/>
                <a:gd name="connsiteX0-1" fmla="*/ 120315 w 1996780"/>
                <a:gd name="connsiteY0-2" fmla="*/ 0 h 1554072"/>
                <a:gd name="connsiteX1-3" fmla="*/ 1996780 w 1996780"/>
                <a:gd name="connsiteY1-4" fmla="*/ 0 h 1554072"/>
                <a:gd name="connsiteX2-5" fmla="*/ 1996780 w 1996780"/>
                <a:gd name="connsiteY2-6" fmla="*/ 1554072 h 1554072"/>
                <a:gd name="connsiteX3-7" fmla="*/ 0 w 1996780"/>
                <a:gd name="connsiteY3-8" fmla="*/ 1554072 h 1554072"/>
                <a:gd name="connsiteX4-9" fmla="*/ 120315 w 1996780"/>
                <a:gd name="connsiteY4-10" fmla="*/ 0 h 15540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96780" h="1554072">
                  <a:moveTo>
                    <a:pt x="120315" y="0"/>
                  </a:moveTo>
                  <a:lnTo>
                    <a:pt x="1996780" y="0"/>
                  </a:lnTo>
                  <a:lnTo>
                    <a:pt x="1996780" y="1554072"/>
                  </a:lnTo>
                  <a:lnTo>
                    <a:pt x="0" y="1554072"/>
                  </a:lnTo>
                  <a:lnTo>
                    <a:pt x="120315" y="0"/>
                  </a:lnTo>
                  <a:close/>
                </a:path>
              </a:pathLst>
            </a:custGeom>
            <a:gradFill flip="none" rotWithShape="1">
              <a:gsLst>
                <a:gs pos="0">
                  <a:schemeClr val="bg1">
                    <a:alpha val="0"/>
                  </a:schemeClr>
                </a:gs>
                <a:gs pos="100000">
                  <a:schemeClr val="bg1">
                    <a:alpha val="0"/>
                  </a:schemeClr>
                </a:gs>
                <a:gs pos="22000">
                  <a:schemeClr val="accent3">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矩形 4"/>
            <p:cNvSpPr/>
            <p:nvPr/>
          </p:nvSpPr>
          <p:spPr>
            <a:xfrm>
              <a:off x="3103340" y="2282912"/>
              <a:ext cx="1996780" cy="1554072"/>
            </a:xfrm>
            <a:custGeom>
              <a:avLst/>
              <a:gdLst>
                <a:gd name="connsiteX0" fmla="*/ 0 w 1876465"/>
                <a:gd name="connsiteY0" fmla="*/ 0 h 1554072"/>
                <a:gd name="connsiteX1" fmla="*/ 1876465 w 1876465"/>
                <a:gd name="connsiteY1" fmla="*/ 0 h 1554072"/>
                <a:gd name="connsiteX2" fmla="*/ 1876465 w 1876465"/>
                <a:gd name="connsiteY2" fmla="*/ 1554072 h 1554072"/>
                <a:gd name="connsiteX3" fmla="*/ 0 w 1876465"/>
                <a:gd name="connsiteY3" fmla="*/ 1554072 h 1554072"/>
                <a:gd name="connsiteX4" fmla="*/ 0 w 1876465"/>
                <a:gd name="connsiteY4" fmla="*/ 0 h 1554072"/>
                <a:gd name="connsiteX0-1" fmla="*/ 120315 w 1996780"/>
                <a:gd name="connsiteY0-2" fmla="*/ 0 h 1554072"/>
                <a:gd name="connsiteX1-3" fmla="*/ 1996780 w 1996780"/>
                <a:gd name="connsiteY1-4" fmla="*/ 0 h 1554072"/>
                <a:gd name="connsiteX2-5" fmla="*/ 1996780 w 1996780"/>
                <a:gd name="connsiteY2-6" fmla="*/ 1554072 h 1554072"/>
                <a:gd name="connsiteX3-7" fmla="*/ 0 w 1996780"/>
                <a:gd name="connsiteY3-8" fmla="*/ 1554072 h 1554072"/>
                <a:gd name="connsiteX4-9" fmla="*/ 120315 w 1996780"/>
                <a:gd name="connsiteY4-10" fmla="*/ 0 h 15540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96780" h="1554072">
                  <a:moveTo>
                    <a:pt x="120315" y="0"/>
                  </a:moveTo>
                  <a:lnTo>
                    <a:pt x="1996780" y="0"/>
                  </a:lnTo>
                  <a:lnTo>
                    <a:pt x="1996780" y="1554072"/>
                  </a:lnTo>
                  <a:lnTo>
                    <a:pt x="0" y="1554072"/>
                  </a:lnTo>
                  <a:lnTo>
                    <a:pt x="120315" y="0"/>
                  </a:lnTo>
                  <a:close/>
                </a:path>
              </a:pathLst>
            </a:custGeom>
            <a:gradFill flip="none" rotWithShape="1">
              <a:gsLst>
                <a:gs pos="0">
                  <a:schemeClr val="bg1">
                    <a:alpha val="0"/>
                  </a:schemeClr>
                </a:gs>
                <a:gs pos="100000">
                  <a:schemeClr val="bg1">
                    <a:alpha val="0"/>
                  </a:schemeClr>
                </a:gs>
                <a:gs pos="22000">
                  <a:schemeClr val="accent3">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矩形 2"/>
            <p:cNvSpPr/>
            <p:nvPr/>
          </p:nvSpPr>
          <p:spPr>
            <a:xfrm>
              <a:off x="2980877" y="4570491"/>
              <a:ext cx="4114286" cy="831905"/>
            </a:xfrm>
            <a:custGeom>
              <a:avLst/>
              <a:gdLst>
                <a:gd name="connsiteX0" fmla="*/ 0 w 2808312"/>
                <a:gd name="connsiteY0" fmla="*/ 0 h 820182"/>
                <a:gd name="connsiteX1" fmla="*/ 2808312 w 2808312"/>
                <a:gd name="connsiteY1" fmla="*/ 0 h 820182"/>
                <a:gd name="connsiteX2" fmla="*/ 2808312 w 2808312"/>
                <a:gd name="connsiteY2" fmla="*/ 820182 h 820182"/>
                <a:gd name="connsiteX3" fmla="*/ 0 w 2808312"/>
                <a:gd name="connsiteY3" fmla="*/ 820182 h 820182"/>
                <a:gd name="connsiteX4" fmla="*/ 0 w 2808312"/>
                <a:gd name="connsiteY4" fmla="*/ 0 h 820182"/>
                <a:gd name="connsiteX0-1" fmla="*/ 0 w 2808312"/>
                <a:gd name="connsiteY0-2" fmla="*/ 0 h 820182"/>
                <a:gd name="connsiteX1-3" fmla="*/ 2808312 w 2808312"/>
                <a:gd name="connsiteY1-4" fmla="*/ 0 h 820182"/>
                <a:gd name="connsiteX2-5" fmla="*/ 2808312 w 2808312"/>
                <a:gd name="connsiteY2-6" fmla="*/ 820182 h 820182"/>
                <a:gd name="connsiteX3-7" fmla="*/ 715108 w 2808312"/>
                <a:gd name="connsiteY3-8" fmla="*/ 820182 h 820182"/>
                <a:gd name="connsiteX4-9" fmla="*/ 0 w 2808312"/>
                <a:gd name="connsiteY4-10" fmla="*/ 0 h 820182"/>
                <a:gd name="connsiteX0-11" fmla="*/ 0 w 2808312"/>
                <a:gd name="connsiteY0-12" fmla="*/ 23446 h 843628"/>
                <a:gd name="connsiteX1-13" fmla="*/ 2357579 w 2808312"/>
                <a:gd name="connsiteY1-14" fmla="*/ 0 h 843628"/>
                <a:gd name="connsiteX2-15" fmla="*/ 2808312 w 2808312"/>
                <a:gd name="connsiteY2-16" fmla="*/ 843628 h 843628"/>
                <a:gd name="connsiteX3-17" fmla="*/ 715108 w 2808312"/>
                <a:gd name="connsiteY3-18" fmla="*/ 843628 h 843628"/>
                <a:gd name="connsiteX4-19" fmla="*/ 0 w 2808312"/>
                <a:gd name="connsiteY4-20" fmla="*/ 23446 h 843628"/>
                <a:gd name="connsiteX0-21" fmla="*/ 0 w 2808312"/>
                <a:gd name="connsiteY0-22" fmla="*/ 23446 h 843628"/>
                <a:gd name="connsiteX1-23" fmla="*/ 2357579 w 2808312"/>
                <a:gd name="connsiteY1-24" fmla="*/ 0 h 843628"/>
                <a:gd name="connsiteX2-25" fmla="*/ 2808312 w 2808312"/>
                <a:gd name="connsiteY2-26" fmla="*/ 843628 h 843628"/>
                <a:gd name="connsiteX3-27" fmla="*/ 602425 w 2808312"/>
                <a:gd name="connsiteY3-28" fmla="*/ 831905 h 843628"/>
                <a:gd name="connsiteX4-29" fmla="*/ 0 w 2808312"/>
                <a:gd name="connsiteY4-30" fmla="*/ 23446 h 843628"/>
                <a:gd name="connsiteX0-31" fmla="*/ 0 w 2778263"/>
                <a:gd name="connsiteY0-32" fmla="*/ 23446 h 831905"/>
                <a:gd name="connsiteX1-33" fmla="*/ 2357579 w 2778263"/>
                <a:gd name="connsiteY1-34" fmla="*/ 0 h 831905"/>
                <a:gd name="connsiteX2-35" fmla="*/ 2778263 w 2778263"/>
                <a:gd name="connsiteY2-36" fmla="*/ 808459 h 831905"/>
                <a:gd name="connsiteX3-37" fmla="*/ 602425 w 2778263"/>
                <a:gd name="connsiteY3-38" fmla="*/ 831905 h 831905"/>
                <a:gd name="connsiteX4-39" fmla="*/ 0 w 2778263"/>
                <a:gd name="connsiteY4-40" fmla="*/ 23446 h 831905"/>
                <a:gd name="connsiteX0-41" fmla="*/ 0 w 2755133"/>
                <a:gd name="connsiteY0-42" fmla="*/ 408456 h 831905"/>
                <a:gd name="connsiteX1-43" fmla="*/ 2334449 w 2755133"/>
                <a:gd name="connsiteY1-44" fmla="*/ 0 h 831905"/>
                <a:gd name="connsiteX2-45" fmla="*/ 2755133 w 2755133"/>
                <a:gd name="connsiteY2-46" fmla="*/ 808459 h 831905"/>
                <a:gd name="connsiteX3-47" fmla="*/ 579295 w 2755133"/>
                <a:gd name="connsiteY3-48" fmla="*/ 831905 h 831905"/>
                <a:gd name="connsiteX4-49" fmla="*/ 0 w 2755133"/>
                <a:gd name="connsiteY4-50" fmla="*/ 408456 h 831905"/>
                <a:gd name="connsiteX0-51" fmla="*/ 0 w 2599373"/>
                <a:gd name="connsiteY0-52" fmla="*/ 420031 h 831905"/>
                <a:gd name="connsiteX1-53" fmla="*/ 2178689 w 2599373"/>
                <a:gd name="connsiteY1-54" fmla="*/ 0 h 831905"/>
                <a:gd name="connsiteX2-55" fmla="*/ 2599373 w 2599373"/>
                <a:gd name="connsiteY2-56" fmla="*/ 808459 h 831905"/>
                <a:gd name="connsiteX3-57" fmla="*/ 423535 w 2599373"/>
                <a:gd name="connsiteY3-58" fmla="*/ 831905 h 831905"/>
                <a:gd name="connsiteX4-59" fmla="*/ 0 w 2599373"/>
                <a:gd name="connsiteY4-60" fmla="*/ 420031 h 831905"/>
                <a:gd name="connsiteX0-61" fmla="*/ 0 w 2636458"/>
                <a:gd name="connsiteY0-62" fmla="*/ 639950 h 831905"/>
                <a:gd name="connsiteX1-63" fmla="*/ 2215774 w 2636458"/>
                <a:gd name="connsiteY1-64" fmla="*/ 0 h 831905"/>
                <a:gd name="connsiteX2-65" fmla="*/ 2636458 w 2636458"/>
                <a:gd name="connsiteY2-66" fmla="*/ 808459 h 831905"/>
                <a:gd name="connsiteX3-67" fmla="*/ 460620 w 2636458"/>
                <a:gd name="connsiteY3-68" fmla="*/ 831905 h 831905"/>
                <a:gd name="connsiteX4-69" fmla="*/ 0 w 2636458"/>
                <a:gd name="connsiteY4-70" fmla="*/ 639950 h 8319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36458" h="831905">
                  <a:moveTo>
                    <a:pt x="0" y="639950"/>
                  </a:moveTo>
                  <a:lnTo>
                    <a:pt x="2215774" y="0"/>
                  </a:lnTo>
                  <a:lnTo>
                    <a:pt x="2636458" y="808459"/>
                  </a:lnTo>
                  <a:lnTo>
                    <a:pt x="460620" y="831905"/>
                  </a:lnTo>
                  <a:lnTo>
                    <a:pt x="0" y="639950"/>
                  </a:lnTo>
                  <a:close/>
                </a:path>
              </a:pathLst>
            </a:cu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矩形 2"/>
            <p:cNvSpPr/>
            <p:nvPr/>
          </p:nvSpPr>
          <p:spPr>
            <a:xfrm flipH="1">
              <a:off x="611560" y="3179808"/>
              <a:ext cx="2795916" cy="570024"/>
            </a:xfrm>
            <a:custGeom>
              <a:avLst/>
              <a:gdLst>
                <a:gd name="connsiteX0" fmla="*/ 0 w 2808312"/>
                <a:gd name="connsiteY0" fmla="*/ 0 h 820182"/>
                <a:gd name="connsiteX1" fmla="*/ 2808312 w 2808312"/>
                <a:gd name="connsiteY1" fmla="*/ 0 h 820182"/>
                <a:gd name="connsiteX2" fmla="*/ 2808312 w 2808312"/>
                <a:gd name="connsiteY2" fmla="*/ 820182 h 820182"/>
                <a:gd name="connsiteX3" fmla="*/ 0 w 2808312"/>
                <a:gd name="connsiteY3" fmla="*/ 820182 h 820182"/>
                <a:gd name="connsiteX4" fmla="*/ 0 w 2808312"/>
                <a:gd name="connsiteY4" fmla="*/ 0 h 820182"/>
                <a:gd name="connsiteX0-1" fmla="*/ 0 w 2808312"/>
                <a:gd name="connsiteY0-2" fmla="*/ 0 h 820182"/>
                <a:gd name="connsiteX1-3" fmla="*/ 2808312 w 2808312"/>
                <a:gd name="connsiteY1-4" fmla="*/ 0 h 820182"/>
                <a:gd name="connsiteX2-5" fmla="*/ 2808312 w 2808312"/>
                <a:gd name="connsiteY2-6" fmla="*/ 820182 h 820182"/>
                <a:gd name="connsiteX3-7" fmla="*/ 715108 w 2808312"/>
                <a:gd name="connsiteY3-8" fmla="*/ 820182 h 820182"/>
                <a:gd name="connsiteX4-9" fmla="*/ 0 w 2808312"/>
                <a:gd name="connsiteY4-10" fmla="*/ 0 h 820182"/>
                <a:gd name="connsiteX0-11" fmla="*/ 0 w 2808312"/>
                <a:gd name="connsiteY0-12" fmla="*/ 23446 h 843628"/>
                <a:gd name="connsiteX1-13" fmla="*/ 2357579 w 2808312"/>
                <a:gd name="connsiteY1-14" fmla="*/ 0 h 843628"/>
                <a:gd name="connsiteX2-15" fmla="*/ 2808312 w 2808312"/>
                <a:gd name="connsiteY2-16" fmla="*/ 843628 h 843628"/>
                <a:gd name="connsiteX3-17" fmla="*/ 715108 w 2808312"/>
                <a:gd name="connsiteY3-18" fmla="*/ 843628 h 843628"/>
                <a:gd name="connsiteX4-19" fmla="*/ 0 w 2808312"/>
                <a:gd name="connsiteY4-20" fmla="*/ 23446 h 843628"/>
                <a:gd name="connsiteX0-21" fmla="*/ 0 w 2808312"/>
                <a:gd name="connsiteY0-22" fmla="*/ 23446 h 843628"/>
                <a:gd name="connsiteX1-23" fmla="*/ 2357579 w 2808312"/>
                <a:gd name="connsiteY1-24" fmla="*/ 0 h 843628"/>
                <a:gd name="connsiteX2-25" fmla="*/ 2808312 w 2808312"/>
                <a:gd name="connsiteY2-26" fmla="*/ 843628 h 843628"/>
                <a:gd name="connsiteX3-27" fmla="*/ 602425 w 2808312"/>
                <a:gd name="connsiteY3-28" fmla="*/ 831905 h 843628"/>
                <a:gd name="connsiteX4-29" fmla="*/ 0 w 2808312"/>
                <a:gd name="connsiteY4-30" fmla="*/ 23446 h 843628"/>
                <a:gd name="connsiteX0-31" fmla="*/ 0 w 2778263"/>
                <a:gd name="connsiteY0-32" fmla="*/ 23446 h 831905"/>
                <a:gd name="connsiteX1-33" fmla="*/ 2357579 w 2778263"/>
                <a:gd name="connsiteY1-34" fmla="*/ 0 h 831905"/>
                <a:gd name="connsiteX2-35" fmla="*/ 2778263 w 2778263"/>
                <a:gd name="connsiteY2-36" fmla="*/ 808459 h 831905"/>
                <a:gd name="connsiteX3-37" fmla="*/ 602425 w 2778263"/>
                <a:gd name="connsiteY3-38" fmla="*/ 831905 h 831905"/>
                <a:gd name="connsiteX4-39" fmla="*/ 0 w 2778263"/>
                <a:gd name="connsiteY4-40" fmla="*/ 23446 h 831905"/>
                <a:gd name="connsiteX0-41" fmla="*/ 0 w 2824523"/>
                <a:gd name="connsiteY0-42" fmla="*/ 0 h 836572"/>
                <a:gd name="connsiteX1-43" fmla="*/ 2403839 w 2824523"/>
                <a:gd name="connsiteY1-44" fmla="*/ 4667 h 836572"/>
                <a:gd name="connsiteX2-45" fmla="*/ 2824523 w 2824523"/>
                <a:gd name="connsiteY2-46" fmla="*/ 813126 h 836572"/>
                <a:gd name="connsiteX3-47" fmla="*/ 648685 w 2824523"/>
                <a:gd name="connsiteY3-48" fmla="*/ 836572 h 836572"/>
                <a:gd name="connsiteX4-49" fmla="*/ 0 w 2824523"/>
                <a:gd name="connsiteY4-50" fmla="*/ 0 h 836572"/>
                <a:gd name="connsiteX0-51" fmla="*/ 0 w 3271698"/>
                <a:gd name="connsiteY0-52" fmla="*/ 0 h 836572"/>
                <a:gd name="connsiteX1-53" fmla="*/ 2403839 w 3271698"/>
                <a:gd name="connsiteY1-54" fmla="*/ 4667 h 836572"/>
                <a:gd name="connsiteX2-55" fmla="*/ 3271698 w 3271698"/>
                <a:gd name="connsiteY2-56" fmla="*/ 822497 h 836572"/>
                <a:gd name="connsiteX3-57" fmla="*/ 648685 w 3271698"/>
                <a:gd name="connsiteY3-58" fmla="*/ 836572 h 836572"/>
                <a:gd name="connsiteX4-59" fmla="*/ 0 w 3271698"/>
                <a:gd name="connsiteY4-60" fmla="*/ 0 h 8365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71698" h="836572">
                  <a:moveTo>
                    <a:pt x="0" y="0"/>
                  </a:moveTo>
                  <a:lnTo>
                    <a:pt x="2403839" y="4667"/>
                  </a:lnTo>
                  <a:lnTo>
                    <a:pt x="3271698" y="822497"/>
                  </a:lnTo>
                  <a:lnTo>
                    <a:pt x="648685" y="836572"/>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7" name="矩形 2"/>
            <p:cNvSpPr/>
            <p:nvPr/>
          </p:nvSpPr>
          <p:spPr>
            <a:xfrm flipH="1" flipV="1">
              <a:off x="1329925" y="3188912"/>
              <a:ext cx="4251358" cy="648072"/>
            </a:xfrm>
            <a:custGeom>
              <a:avLst/>
              <a:gdLst>
                <a:gd name="connsiteX0" fmla="*/ 0 w 2808312"/>
                <a:gd name="connsiteY0" fmla="*/ 0 h 820182"/>
                <a:gd name="connsiteX1" fmla="*/ 2808312 w 2808312"/>
                <a:gd name="connsiteY1" fmla="*/ 0 h 820182"/>
                <a:gd name="connsiteX2" fmla="*/ 2808312 w 2808312"/>
                <a:gd name="connsiteY2" fmla="*/ 820182 h 820182"/>
                <a:gd name="connsiteX3" fmla="*/ 0 w 2808312"/>
                <a:gd name="connsiteY3" fmla="*/ 820182 h 820182"/>
                <a:gd name="connsiteX4" fmla="*/ 0 w 2808312"/>
                <a:gd name="connsiteY4" fmla="*/ 0 h 820182"/>
                <a:gd name="connsiteX0-1" fmla="*/ 0 w 2808312"/>
                <a:gd name="connsiteY0-2" fmla="*/ 0 h 820182"/>
                <a:gd name="connsiteX1-3" fmla="*/ 2808312 w 2808312"/>
                <a:gd name="connsiteY1-4" fmla="*/ 0 h 820182"/>
                <a:gd name="connsiteX2-5" fmla="*/ 2808312 w 2808312"/>
                <a:gd name="connsiteY2-6" fmla="*/ 820182 h 820182"/>
                <a:gd name="connsiteX3-7" fmla="*/ 715108 w 2808312"/>
                <a:gd name="connsiteY3-8" fmla="*/ 820182 h 820182"/>
                <a:gd name="connsiteX4-9" fmla="*/ 0 w 2808312"/>
                <a:gd name="connsiteY4-10" fmla="*/ 0 h 820182"/>
                <a:gd name="connsiteX0-11" fmla="*/ 0 w 2808312"/>
                <a:gd name="connsiteY0-12" fmla="*/ 23446 h 843628"/>
                <a:gd name="connsiteX1-13" fmla="*/ 2357579 w 2808312"/>
                <a:gd name="connsiteY1-14" fmla="*/ 0 h 843628"/>
                <a:gd name="connsiteX2-15" fmla="*/ 2808312 w 2808312"/>
                <a:gd name="connsiteY2-16" fmla="*/ 843628 h 843628"/>
                <a:gd name="connsiteX3-17" fmla="*/ 715108 w 2808312"/>
                <a:gd name="connsiteY3-18" fmla="*/ 843628 h 843628"/>
                <a:gd name="connsiteX4-19" fmla="*/ 0 w 2808312"/>
                <a:gd name="connsiteY4-20" fmla="*/ 23446 h 843628"/>
                <a:gd name="connsiteX0-21" fmla="*/ 0 w 2808312"/>
                <a:gd name="connsiteY0-22" fmla="*/ 23446 h 843628"/>
                <a:gd name="connsiteX1-23" fmla="*/ 2357579 w 2808312"/>
                <a:gd name="connsiteY1-24" fmla="*/ 0 h 843628"/>
                <a:gd name="connsiteX2-25" fmla="*/ 2808312 w 2808312"/>
                <a:gd name="connsiteY2-26" fmla="*/ 843628 h 843628"/>
                <a:gd name="connsiteX3-27" fmla="*/ 602425 w 2808312"/>
                <a:gd name="connsiteY3-28" fmla="*/ 831905 h 843628"/>
                <a:gd name="connsiteX4-29" fmla="*/ 0 w 2808312"/>
                <a:gd name="connsiteY4-30" fmla="*/ 23446 h 843628"/>
                <a:gd name="connsiteX0-31" fmla="*/ 0 w 2778263"/>
                <a:gd name="connsiteY0-32" fmla="*/ 23446 h 831905"/>
                <a:gd name="connsiteX1-33" fmla="*/ 2357579 w 2778263"/>
                <a:gd name="connsiteY1-34" fmla="*/ 0 h 831905"/>
                <a:gd name="connsiteX2-35" fmla="*/ 2778263 w 2778263"/>
                <a:gd name="connsiteY2-36" fmla="*/ 808459 h 831905"/>
                <a:gd name="connsiteX3-37" fmla="*/ 602425 w 2778263"/>
                <a:gd name="connsiteY3-38" fmla="*/ 831905 h 831905"/>
                <a:gd name="connsiteX4-39" fmla="*/ 0 w 2778263"/>
                <a:gd name="connsiteY4-40" fmla="*/ 23446 h 831905"/>
                <a:gd name="connsiteX0-41" fmla="*/ 0 w 2824523"/>
                <a:gd name="connsiteY0-42" fmla="*/ 0 h 836572"/>
                <a:gd name="connsiteX1-43" fmla="*/ 2403839 w 2824523"/>
                <a:gd name="connsiteY1-44" fmla="*/ 4667 h 836572"/>
                <a:gd name="connsiteX2-45" fmla="*/ 2824523 w 2824523"/>
                <a:gd name="connsiteY2-46" fmla="*/ 813126 h 836572"/>
                <a:gd name="connsiteX3-47" fmla="*/ 648685 w 2824523"/>
                <a:gd name="connsiteY3-48" fmla="*/ 836572 h 836572"/>
                <a:gd name="connsiteX4-49" fmla="*/ 0 w 2824523"/>
                <a:gd name="connsiteY4-50" fmla="*/ 0 h 836572"/>
                <a:gd name="connsiteX0-51" fmla="*/ 0 w 3271698"/>
                <a:gd name="connsiteY0-52" fmla="*/ 0 h 836572"/>
                <a:gd name="connsiteX1-53" fmla="*/ 2403839 w 3271698"/>
                <a:gd name="connsiteY1-54" fmla="*/ 4667 h 836572"/>
                <a:gd name="connsiteX2-55" fmla="*/ 3271698 w 3271698"/>
                <a:gd name="connsiteY2-56" fmla="*/ 822497 h 836572"/>
                <a:gd name="connsiteX3-57" fmla="*/ 648685 w 3271698"/>
                <a:gd name="connsiteY3-58" fmla="*/ 836572 h 836572"/>
                <a:gd name="connsiteX4-59" fmla="*/ 0 w 3271698"/>
                <a:gd name="connsiteY4-60" fmla="*/ 0 h 836572"/>
                <a:gd name="connsiteX0-61" fmla="*/ 0 w 2724295"/>
                <a:gd name="connsiteY0-62" fmla="*/ 0 h 841241"/>
                <a:gd name="connsiteX1-63" fmla="*/ 2403839 w 2724295"/>
                <a:gd name="connsiteY1-64" fmla="*/ 4667 h 841241"/>
                <a:gd name="connsiteX2-65" fmla="*/ 2724295 w 2724295"/>
                <a:gd name="connsiteY2-66" fmla="*/ 841241 h 841241"/>
                <a:gd name="connsiteX3-67" fmla="*/ 648685 w 2724295"/>
                <a:gd name="connsiteY3-68" fmla="*/ 836572 h 841241"/>
                <a:gd name="connsiteX4-69" fmla="*/ 0 w 2724295"/>
                <a:gd name="connsiteY4-70" fmla="*/ 0 h 84124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724295" h="841241">
                  <a:moveTo>
                    <a:pt x="0" y="0"/>
                  </a:moveTo>
                  <a:lnTo>
                    <a:pt x="2403839" y="4667"/>
                  </a:lnTo>
                  <a:lnTo>
                    <a:pt x="2724295" y="841241"/>
                  </a:lnTo>
                  <a:lnTo>
                    <a:pt x="648685" y="8365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矩形 2"/>
            <p:cNvSpPr/>
            <p:nvPr/>
          </p:nvSpPr>
          <p:spPr>
            <a:xfrm flipH="1">
              <a:off x="1842203" y="2282912"/>
              <a:ext cx="5105600" cy="1578136"/>
            </a:xfrm>
            <a:custGeom>
              <a:avLst/>
              <a:gdLst>
                <a:gd name="connsiteX0" fmla="*/ 0 w 2808312"/>
                <a:gd name="connsiteY0" fmla="*/ 0 h 820182"/>
                <a:gd name="connsiteX1" fmla="*/ 2808312 w 2808312"/>
                <a:gd name="connsiteY1" fmla="*/ 0 h 820182"/>
                <a:gd name="connsiteX2" fmla="*/ 2808312 w 2808312"/>
                <a:gd name="connsiteY2" fmla="*/ 820182 h 820182"/>
                <a:gd name="connsiteX3" fmla="*/ 0 w 2808312"/>
                <a:gd name="connsiteY3" fmla="*/ 820182 h 820182"/>
                <a:gd name="connsiteX4" fmla="*/ 0 w 2808312"/>
                <a:gd name="connsiteY4" fmla="*/ 0 h 820182"/>
                <a:gd name="connsiteX0-1" fmla="*/ 0 w 2808312"/>
                <a:gd name="connsiteY0-2" fmla="*/ 0 h 820182"/>
                <a:gd name="connsiteX1-3" fmla="*/ 2808312 w 2808312"/>
                <a:gd name="connsiteY1-4" fmla="*/ 0 h 820182"/>
                <a:gd name="connsiteX2-5" fmla="*/ 2808312 w 2808312"/>
                <a:gd name="connsiteY2-6" fmla="*/ 820182 h 820182"/>
                <a:gd name="connsiteX3-7" fmla="*/ 715108 w 2808312"/>
                <a:gd name="connsiteY3-8" fmla="*/ 820182 h 820182"/>
                <a:gd name="connsiteX4-9" fmla="*/ 0 w 2808312"/>
                <a:gd name="connsiteY4-10" fmla="*/ 0 h 820182"/>
                <a:gd name="connsiteX0-11" fmla="*/ 0 w 2808312"/>
                <a:gd name="connsiteY0-12" fmla="*/ 23446 h 843628"/>
                <a:gd name="connsiteX1-13" fmla="*/ 2357579 w 2808312"/>
                <a:gd name="connsiteY1-14" fmla="*/ 0 h 843628"/>
                <a:gd name="connsiteX2-15" fmla="*/ 2808312 w 2808312"/>
                <a:gd name="connsiteY2-16" fmla="*/ 843628 h 843628"/>
                <a:gd name="connsiteX3-17" fmla="*/ 715108 w 2808312"/>
                <a:gd name="connsiteY3-18" fmla="*/ 843628 h 843628"/>
                <a:gd name="connsiteX4-19" fmla="*/ 0 w 2808312"/>
                <a:gd name="connsiteY4-20" fmla="*/ 23446 h 843628"/>
                <a:gd name="connsiteX0-21" fmla="*/ 0 w 2808312"/>
                <a:gd name="connsiteY0-22" fmla="*/ 23446 h 843628"/>
                <a:gd name="connsiteX1-23" fmla="*/ 2357579 w 2808312"/>
                <a:gd name="connsiteY1-24" fmla="*/ 0 h 843628"/>
                <a:gd name="connsiteX2-25" fmla="*/ 2808312 w 2808312"/>
                <a:gd name="connsiteY2-26" fmla="*/ 843628 h 843628"/>
                <a:gd name="connsiteX3-27" fmla="*/ 602425 w 2808312"/>
                <a:gd name="connsiteY3-28" fmla="*/ 831905 h 843628"/>
                <a:gd name="connsiteX4-29" fmla="*/ 0 w 2808312"/>
                <a:gd name="connsiteY4-30" fmla="*/ 23446 h 843628"/>
                <a:gd name="connsiteX0-31" fmla="*/ 0 w 2778263"/>
                <a:gd name="connsiteY0-32" fmla="*/ 23446 h 831905"/>
                <a:gd name="connsiteX1-33" fmla="*/ 2357579 w 2778263"/>
                <a:gd name="connsiteY1-34" fmla="*/ 0 h 831905"/>
                <a:gd name="connsiteX2-35" fmla="*/ 2778263 w 2778263"/>
                <a:gd name="connsiteY2-36" fmla="*/ 808459 h 831905"/>
                <a:gd name="connsiteX3-37" fmla="*/ 602425 w 2778263"/>
                <a:gd name="connsiteY3-38" fmla="*/ 831905 h 831905"/>
                <a:gd name="connsiteX4-39" fmla="*/ 0 w 2778263"/>
                <a:gd name="connsiteY4-40" fmla="*/ 23446 h 831905"/>
                <a:gd name="connsiteX0-41" fmla="*/ 0 w 2824523"/>
                <a:gd name="connsiteY0-42" fmla="*/ 0 h 836572"/>
                <a:gd name="connsiteX1-43" fmla="*/ 2403839 w 2824523"/>
                <a:gd name="connsiteY1-44" fmla="*/ 4667 h 836572"/>
                <a:gd name="connsiteX2-45" fmla="*/ 2824523 w 2824523"/>
                <a:gd name="connsiteY2-46" fmla="*/ 813126 h 836572"/>
                <a:gd name="connsiteX3-47" fmla="*/ 648685 w 2824523"/>
                <a:gd name="connsiteY3-48" fmla="*/ 836572 h 836572"/>
                <a:gd name="connsiteX4-49" fmla="*/ 0 w 2824523"/>
                <a:gd name="connsiteY4-50" fmla="*/ 0 h 836572"/>
                <a:gd name="connsiteX0-51" fmla="*/ 0 w 3271698"/>
                <a:gd name="connsiteY0-52" fmla="*/ 0 h 836572"/>
                <a:gd name="connsiteX1-53" fmla="*/ 2403839 w 3271698"/>
                <a:gd name="connsiteY1-54" fmla="*/ 4667 h 836572"/>
                <a:gd name="connsiteX2-55" fmla="*/ 3271698 w 3271698"/>
                <a:gd name="connsiteY2-56" fmla="*/ 822497 h 836572"/>
                <a:gd name="connsiteX3-57" fmla="*/ 648685 w 3271698"/>
                <a:gd name="connsiteY3-58" fmla="*/ 836572 h 836572"/>
                <a:gd name="connsiteX4-59" fmla="*/ 0 w 3271698"/>
                <a:gd name="connsiteY4-60" fmla="*/ 0 h 83657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71698" h="836572">
                  <a:moveTo>
                    <a:pt x="0" y="0"/>
                  </a:moveTo>
                  <a:lnTo>
                    <a:pt x="2403839" y="4667"/>
                  </a:lnTo>
                  <a:lnTo>
                    <a:pt x="3271698" y="822497"/>
                  </a:lnTo>
                  <a:lnTo>
                    <a:pt x="648685" y="836572"/>
                  </a:lnTo>
                  <a:lnTo>
                    <a:pt x="0" y="0"/>
                  </a:lnTo>
                  <a:close/>
                </a:path>
              </a:pathLst>
            </a:cu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9" name="矩形 1"/>
            <p:cNvSpPr/>
            <p:nvPr/>
          </p:nvSpPr>
          <p:spPr>
            <a:xfrm>
              <a:off x="3199591" y="2276872"/>
              <a:ext cx="4900801" cy="3125524"/>
            </a:xfrm>
            <a:custGeom>
              <a:avLst/>
              <a:gdLst>
                <a:gd name="connsiteX0" fmla="*/ 0 w 3456384"/>
                <a:gd name="connsiteY0" fmla="*/ 0 h 2664296"/>
                <a:gd name="connsiteX1" fmla="*/ 3456384 w 3456384"/>
                <a:gd name="connsiteY1" fmla="*/ 0 h 2664296"/>
                <a:gd name="connsiteX2" fmla="*/ 3456384 w 3456384"/>
                <a:gd name="connsiteY2" fmla="*/ 2664296 h 2664296"/>
                <a:gd name="connsiteX3" fmla="*/ 0 w 3456384"/>
                <a:gd name="connsiteY3" fmla="*/ 2664296 h 2664296"/>
                <a:gd name="connsiteX4" fmla="*/ 0 w 3456384"/>
                <a:gd name="connsiteY4" fmla="*/ 0 h 2664296"/>
                <a:gd name="connsiteX0-1" fmla="*/ 0 w 3456384"/>
                <a:gd name="connsiteY0-2" fmla="*/ 0 h 2664296"/>
                <a:gd name="connsiteX1-3" fmla="*/ 3456384 w 3456384"/>
                <a:gd name="connsiteY1-4" fmla="*/ 0 h 2664296"/>
                <a:gd name="connsiteX2-5" fmla="*/ 3456384 w 3456384"/>
                <a:gd name="connsiteY2-6" fmla="*/ 2664296 h 2664296"/>
                <a:gd name="connsiteX3-7" fmla="*/ 386862 w 3456384"/>
                <a:gd name="connsiteY3-8" fmla="*/ 2652573 h 2664296"/>
                <a:gd name="connsiteX4-9" fmla="*/ 0 w 3456384"/>
                <a:gd name="connsiteY4-10" fmla="*/ 0 h 2664296"/>
                <a:gd name="connsiteX0-11" fmla="*/ 0 w 3948753"/>
                <a:gd name="connsiteY0-12" fmla="*/ 0 h 2664296"/>
                <a:gd name="connsiteX1-13" fmla="*/ 3456384 w 3948753"/>
                <a:gd name="connsiteY1-14" fmla="*/ 0 h 2664296"/>
                <a:gd name="connsiteX2-15" fmla="*/ 3948753 w 3948753"/>
                <a:gd name="connsiteY2-16" fmla="*/ 2664296 h 2664296"/>
                <a:gd name="connsiteX3-17" fmla="*/ 386862 w 3948753"/>
                <a:gd name="connsiteY3-18" fmla="*/ 2652573 h 2664296"/>
                <a:gd name="connsiteX4-19" fmla="*/ 0 w 3948753"/>
                <a:gd name="connsiteY4-20" fmla="*/ 0 h 2664296"/>
                <a:gd name="connsiteX0-21" fmla="*/ 0 w 3948753"/>
                <a:gd name="connsiteY0-22" fmla="*/ 0 h 2676019"/>
                <a:gd name="connsiteX1-23" fmla="*/ 3456384 w 3948753"/>
                <a:gd name="connsiteY1-24" fmla="*/ 0 h 2676019"/>
                <a:gd name="connsiteX2-25" fmla="*/ 3948753 w 3948753"/>
                <a:gd name="connsiteY2-26" fmla="*/ 2664296 h 2676019"/>
                <a:gd name="connsiteX3-27" fmla="*/ 234462 w 3948753"/>
                <a:gd name="connsiteY3-28" fmla="*/ 2676019 h 2676019"/>
                <a:gd name="connsiteX4-29" fmla="*/ 0 w 3948753"/>
                <a:gd name="connsiteY4-30" fmla="*/ 0 h 2676019"/>
                <a:gd name="connsiteX0-31" fmla="*/ 0 w 3878415"/>
                <a:gd name="connsiteY0-32" fmla="*/ 0 h 2676019"/>
                <a:gd name="connsiteX1-33" fmla="*/ 3456384 w 3878415"/>
                <a:gd name="connsiteY1-34" fmla="*/ 0 h 2676019"/>
                <a:gd name="connsiteX2-35" fmla="*/ 3878415 w 3878415"/>
                <a:gd name="connsiteY2-36" fmla="*/ 2652573 h 2676019"/>
                <a:gd name="connsiteX3-37" fmla="*/ 234462 w 3878415"/>
                <a:gd name="connsiteY3-38" fmla="*/ 2676019 h 2676019"/>
                <a:gd name="connsiteX4-39" fmla="*/ 0 w 3878415"/>
                <a:gd name="connsiteY4-40" fmla="*/ 0 h 2676019"/>
                <a:gd name="connsiteX0-41" fmla="*/ 0 w 4034826"/>
                <a:gd name="connsiteY0-42" fmla="*/ 12032 h 2676019"/>
                <a:gd name="connsiteX1-43" fmla="*/ 3612795 w 4034826"/>
                <a:gd name="connsiteY1-44" fmla="*/ 0 h 2676019"/>
                <a:gd name="connsiteX2-45" fmla="*/ 4034826 w 4034826"/>
                <a:gd name="connsiteY2-46" fmla="*/ 2652573 h 2676019"/>
                <a:gd name="connsiteX3-47" fmla="*/ 390873 w 4034826"/>
                <a:gd name="connsiteY3-48" fmla="*/ 2676019 h 2676019"/>
                <a:gd name="connsiteX4-49" fmla="*/ 0 w 4034826"/>
                <a:gd name="connsiteY4-50" fmla="*/ 12032 h 267601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034826" h="2676019">
                  <a:moveTo>
                    <a:pt x="0" y="12032"/>
                  </a:moveTo>
                  <a:lnTo>
                    <a:pt x="3612795" y="0"/>
                  </a:lnTo>
                  <a:lnTo>
                    <a:pt x="4034826" y="2652573"/>
                  </a:lnTo>
                  <a:lnTo>
                    <a:pt x="390873" y="2676019"/>
                  </a:lnTo>
                  <a:lnTo>
                    <a:pt x="0" y="12032"/>
                  </a:lnTo>
                  <a:close/>
                </a:path>
              </a:pathLst>
            </a:custGeom>
            <a:gradFill flip="none" rotWithShape="1">
              <a:gsLst>
                <a:gs pos="100000">
                  <a:srgbClr val="86A424"/>
                </a:gs>
                <a:gs pos="26000">
                  <a:srgbClr val="FFFF00"/>
                </a:gs>
              </a:gsLst>
              <a:path path="circle">
                <a:fillToRect l="50000" t="50000" r="50000" b="50000"/>
              </a:path>
              <a:tileRect/>
            </a:gradFill>
            <a:ln>
              <a:noFill/>
            </a:ln>
            <a:effectLst>
              <a:innerShdw blurRad="114300">
                <a:schemeClr val="accent3">
                  <a:lumMod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椭圆 11"/>
            <p:cNvSpPr/>
            <p:nvPr/>
          </p:nvSpPr>
          <p:spPr>
            <a:xfrm>
              <a:off x="3204178" y="2260668"/>
              <a:ext cx="4559193" cy="1672389"/>
            </a:xfrm>
            <a:custGeom>
              <a:avLst/>
              <a:gdLst/>
              <a:ahLst/>
              <a:cxnLst/>
              <a:rect l="l" t="t" r="r" b="b"/>
              <a:pathLst>
                <a:path w="4559193" h="1672389">
                  <a:moveTo>
                    <a:pt x="4388192" y="0"/>
                  </a:moveTo>
                  <a:lnTo>
                    <a:pt x="4559193" y="1033508"/>
                  </a:lnTo>
                  <a:cubicBezTo>
                    <a:pt x="4089140" y="1414195"/>
                    <a:pt x="3174809" y="1672389"/>
                    <a:pt x="2123907" y="1672389"/>
                  </a:cubicBezTo>
                  <a:cubicBezTo>
                    <a:pt x="1376793" y="1672389"/>
                    <a:pt x="698703" y="1541893"/>
                    <a:pt x="200596" y="1328699"/>
                  </a:cubicBezTo>
                  <a:lnTo>
                    <a:pt x="0" y="14053"/>
                  </a:lnTo>
                  <a:close/>
                </a:path>
              </a:pathLst>
            </a:custGeom>
            <a:solidFill>
              <a:srgbClr val="FFFF99">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1" name="矩形 20"/>
          <p:cNvSpPr/>
          <p:nvPr/>
        </p:nvSpPr>
        <p:spPr>
          <a:xfrm>
            <a:off x="5189855" y="2174875"/>
            <a:ext cx="5584190" cy="3931920"/>
          </a:xfrm>
          <a:prstGeom prst="rect">
            <a:avLst/>
          </a:prstGeom>
        </p:spPr>
        <p:txBody>
          <a:bodyPr wrap="square">
            <a:spAutoFit/>
          </a:bodyPr>
          <a:lstStyle/>
          <a:p>
            <a:pPr indent="457200" eaLnBrk="1" latinLnBrk="0" hangingPunct="1">
              <a:lnSpc>
                <a:spcPct val="14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可以编写一个</a:t>
            </a:r>
            <a:r>
              <a:rPr lang="zh-CN" altLang="en-US" sz="2000" b="1" dirty="0">
                <a:solidFill>
                  <a:srgbClr val="0070C0"/>
                </a:solidFill>
                <a:latin typeface="微软雅黑" panose="020B0503020204020204" pitchFamily="34" charset="-122"/>
                <a:ea typeface="微软雅黑" panose="020B0503020204020204" pitchFamily="34" charset="-122"/>
                <a:sym typeface="+mn-ea"/>
              </a:rPr>
              <a:t>shell脚本</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，当从命令行或者从其他shell脚本中调用它时，这个脚本可以接收若干参数。这些选项是通过Linux作为位置参数（positional parameter）提供给shell脚本的。在shell脚本中应有变量，接收实参。</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endParaRPr>
          </a:p>
          <a:p>
            <a:pPr indent="457200" eaLnBrk="1" latinLnBrk="0" hangingPunct="1">
              <a:lnSpc>
                <a:spcPct val="14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这类变量的名称很特别，分别是1，2，3，…称为</a:t>
            </a:r>
            <a:r>
              <a:rPr lang="zh-CN" altLang="en-US" sz="2000" b="1" dirty="0">
                <a:solidFill>
                  <a:srgbClr val="0070C0"/>
                </a:solidFill>
                <a:latin typeface="微软雅黑" panose="020B0503020204020204" pitchFamily="34" charset="-122"/>
                <a:ea typeface="微软雅黑" panose="020B0503020204020204" pitchFamily="34" charset="-122"/>
                <a:sym typeface="+mn-ea"/>
              </a:rPr>
              <a:t>位置变量</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。位置参数1存放在位置变量1中，位置参数2存放在位置变量2中，…</a:t>
            </a:r>
            <a:r>
              <a:rPr lang="zh-CN" altLang="en-US" sz="2000" dirty="0">
                <a:solidFill>
                  <a:srgbClr val="FF0000"/>
                </a:solidFill>
                <a:latin typeface="微软雅黑" panose="020B0503020204020204" pitchFamily="34" charset="-122"/>
                <a:ea typeface="微软雅黑" panose="020B0503020204020204" pitchFamily="34" charset="-122"/>
                <a:sym typeface="+mn-ea"/>
              </a:rPr>
              <a:t>在程序中可以使用$1，$2，…来访问，依此类推</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endParaRPr lang="zh-CN" altLang="en-US" sz="2000" dirty="0">
              <a:solidFill>
                <a:schemeClr val="accent3">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31" presetClass="entr" presetSubtype="0" fill="hold" nodeType="afterEffect">
                                  <p:stCondLst>
                                    <p:cond delay="0"/>
                                  </p:stCondLst>
                                  <p:iterate type="lt">
                                    <p:tmPct val="5000"/>
                                  </p:iterate>
                                  <p:childTnLst>
                                    <p:set>
                                      <p:cBhvr>
                                        <p:cTn id="10" dur="1" fill="hold">
                                          <p:stCondLst>
                                            <p:cond delay="0"/>
                                          </p:stCondLst>
                                        </p:cTn>
                                        <p:tgtEl>
                                          <p:spTgt spid="3"/>
                                        </p:tgtEl>
                                        <p:attrNameLst>
                                          <p:attrName>style.visibility</p:attrName>
                                        </p:attrNameLst>
                                      </p:cBhvr>
                                      <p:to>
                                        <p:strVal val="visible"/>
                                      </p:to>
                                    </p:set>
                                    <p:anim calcmode="lin" valueType="num">
                                      <p:cBhvr>
                                        <p:cTn id="11" dur="1000" fill="hold"/>
                                        <p:tgtEl>
                                          <p:spTgt spid="3"/>
                                        </p:tgtEl>
                                        <p:attrNameLst>
                                          <p:attrName>ppt_w</p:attrName>
                                        </p:attrNameLst>
                                      </p:cBhvr>
                                      <p:tavLst>
                                        <p:tav tm="0">
                                          <p:val>
                                            <p:fltVal val="0"/>
                                          </p:val>
                                        </p:tav>
                                        <p:tav tm="100000">
                                          <p:val>
                                            <p:strVal val="#ppt_w"/>
                                          </p:val>
                                        </p:tav>
                                      </p:tavLst>
                                    </p:anim>
                                    <p:anim calcmode="lin" valueType="num">
                                      <p:cBhvr>
                                        <p:cTn id="12" dur="1000" fill="hold"/>
                                        <p:tgtEl>
                                          <p:spTgt spid="3"/>
                                        </p:tgtEl>
                                        <p:attrNameLst>
                                          <p:attrName>ppt_h</p:attrName>
                                        </p:attrNameLst>
                                      </p:cBhvr>
                                      <p:tavLst>
                                        <p:tav tm="0">
                                          <p:val>
                                            <p:fltVal val="0"/>
                                          </p:val>
                                        </p:tav>
                                        <p:tav tm="100000">
                                          <p:val>
                                            <p:strVal val="#ppt_h"/>
                                          </p:val>
                                        </p:tav>
                                      </p:tavLst>
                                    </p:anim>
                                    <p:anim calcmode="lin" valueType="num">
                                      <p:cBhvr>
                                        <p:cTn id="13" dur="1000" fill="hold"/>
                                        <p:tgtEl>
                                          <p:spTgt spid="3"/>
                                        </p:tgtEl>
                                        <p:attrNameLst>
                                          <p:attrName>style.rotation</p:attrName>
                                        </p:attrNameLst>
                                      </p:cBhvr>
                                      <p:tavLst>
                                        <p:tav tm="0">
                                          <p:val>
                                            <p:fltVal val="90"/>
                                          </p:val>
                                        </p:tav>
                                        <p:tav tm="100000">
                                          <p:val>
                                            <p:fltVal val="0"/>
                                          </p:val>
                                        </p:tav>
                                      </p:tavLst>
                                    </p:anim>
                                    <p:animEffect transition="in" filter="fade">
                                      <p:cBhvr>
                                        <p:cTn id="14" dur="1000"/>
                                        <p:tgtEl>
                                          <p:spTgt spid="3"/>
                                        </p:tgtEl>
                                      </p:cBhvr>
                                    </p:animEffect>
                                  </p:childTnLst>
                                </p:cTn>
                              </p:par>
                            </p:childTnLst>
                          </p:cTn>
                        </p:par>
                        <p:par>
                          <p:cTn id="15" fill="hold">
                            <p:stCondLst>
                              <p:cond delay="1500"/>
                            </p:stCondLst>
                            <p:childTnLst>
                              <p:par>
                                <p:cTn id="16" presetID="21" presetClass="entr" presetSubtype="4" fill="hold" grpId="0" nodeType="after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heel(4)">
                                      <p:cBhvr>
                                        <p:cTn id="1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69545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5.4.4  位置参数</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9" name="组合 18"/>
          <p:cNvGrpSpPr/>
          <p:nvPr/>
        </p:nvGrpSpPr>
        <p:grpSpPr>
          <a:xfrm>
            <a:off x="589280" y="1771427"/>
            <a:ext cx="11054715" cy="4800189"/>
            <a:chOff x="2968" y="2134"/>
            <a:chExt cx="17409" cy="7559"/>
          </a:xfrm>
        </p:grpSpPr>
        <p:grpSp>
          <p:nvGrpSpPr>
            <p:cNvPr id="17" name="组合 16"/>
            <p:cNvGrpSpPr/>
            <p:nvPr/>
          </p:nvGrpSpPr>
          <p:grpSpPr>
            <a:xfrm>
              <a:off x="2968" y="2134"/>
              <a:ext cx="17409" cy="7559"/>
              <a:chOff x="976" y="2806"/>
              <a:chExt cx="17409" cy="7559"/>
            </a:xfrm>
          </p:grpSpPr>
          <p:grpSp>
            <p:nvGrpSpPr>
              <p:cNvPr id="5" name="组合 4"/>
              <p:cNvGrpSpPr/>
              <p:nvPr/>
            </p:nvGrpSpPr>
            <p:grpSpPr>
              <a:xfrm>
                <a:off x="976" y="2806"/>
                <a:ext cx="17409" cy="7559"/>
                <a:chOff x="1223" y="2773"/>
                <a:chExt cx="16296" cy="5757"/>
              </a:xfrm>
            </p:grpSpPr>
            <p:grpSp>
              <p:nvGrpSpPr>
                <p:cNvPr id="32" name="组合 14"/>
                <p:cNvGrpSpPr/>
                <p:nvPr/>
              </p:nvGrpSpPr>
              <p:grpSpPr bwMode="auto">
                <a:xfrm>
                  <a:off x="1223" y="2773"/>
                  <a:ext cx="16296" cy="5757"/>
                  <a:chOff x="1166778" y="1817214"/>
                  <a:chExt cx="9858444" cy="1714062"/>
                </a:xfrm>
              </p:grpSpPr>
              <p:grpSp>
                <p:nvGrpSpPr>
                  <p:cNvPr id="33" name="组合 12"/>
                  <p:cNvGrpSpPr/>
                  <p:nvPr/>
                </p:nvGrpSpPr>
                <p:grpSpPr bwMode="auto">
                  <a:xfrm>
                    <a:off x="1166778" y="1817214"/>
                    <a:ext cx="9858444" cy="1714062"/>
                    <a:chOff x="1166778" y="1817214"/>
                    <a:chExt cx="9858444" cy="1714062"/>
                  </a:xfrm>
                </p:grpSpPr>
                <p:sp>
                  <p:nvSpPr>
                    <p:cNvPr id="34" name="矩形 33"/>
                    <p:cNvSpPr/>
                    <p:nvPr/>
                  </p:nvSpPr>
                  <p:spPr>
                    <a:xfrm>
                      <a:off x="1166778" y="1817294"/>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6778" y="1817214"/>
                      <a:ext cx="9073574" cy="16325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pitchFamily="34" charset="-122"/>
                          <a:ea typeface="微软雅黑" panose="020B0503020204020204" pitchFamily="34" charset="-122"/>
                          <a:cs typeface="华康俪金黑W8(P)"/>
                        </a:rPr>
                        <a:t>【例5-4】</a:t>
                      </a:r>
                      <a:r>
                        <a:rPr lang="zh-CN" altLang="en-US" sz="2000" b="1">
                          <a:solidFill>
                            <a:srgbClr val="009900"/>
                          </a:solidFill>
                          <a:latin typeface="微软雅黑" panose="020B0503020204020204" pitchFamily="34" charset="-122"/>
                          <a:ea typeface="微软雅黑" panose="020B0503020204020204" pitchFamily="34" charset="-122"/>
                          <a:cs typeface="华康俪金黑W8(P)"/>
                        </a:rPr>
                        <a:t>位置参数的使用。</a:t>
                      </a:r>
                    </a:p>
                  </p:txBody>
                </p:sp>
              </p:grpSp>
              <p:sp>
                <p:nvSpPr>
                  <p:cNvPr id="36" name="MH_Text_1"/>
                  <p:cNvSpPr txBox="1">
                    <a:spLocks noChangeArrowheads="1"/>
                  </p:cNvSpPr>
                  <p:nvPr>
                    <p:custDataLst>
                      <p:tags r:id="rId4"/>
                    </p:custDataLst>
                  </p:nvPr>
                </p:nvSpPr>
                <p:spPr bwMode="auto">
                  <a:xfrm>
                    <a:off x="1290852" y="2151065"/>
                    <a:ext cx="2360351" cy="541019"/>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this is wm1.c */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main()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printf("Beigin\n");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1487" y="3242"/>
                  <a:ext cx="4160" cy="54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chemeClr val="tx1">
                          <a:lumMod val="85000"/>
                          <a:lumOff val="15000"/>
                        </a:schemeClr>
                      </a:solidFill>
                      <a:latin typeface="微软雅黑" panose="020B0503020204020204" pitchFamily="34" charset="-122"/>
                      <a:ea typeface="微软雅黑" panose="020B0503020204020204" pitchFamily="34" charset="-122"/>
                      <a:cs typeface="华康俪金黑W8(P)"/>
                    </a:rPr>
                    <a:t>wm1.c的内容如下：</a:t>
                  </a:r>
                </a:p>
              </p:txBody>
            </p:sp>
          </p:grpSp>
          <p:grpSp>
            <p:nvGrpSpPr>
              <p:cNvPr id="15" name="组合 14"/>
              <p:cNvGrpSpPr/>
              <p:nvPr/>
            </p:nvGrpSpPr>
            <p:grpSpPr>
              <a:xfrm>
                <a:off x="1223" y="6681"/>
                <a:ext cx="9801" cy="2460"/>
                <a:chOff x="6783" y="3205"/>
                <a:chExt cx="9801" cy="3603"/>
              </a:xfrm>
            </p:grpSpPr>
            <p:sp>
              <p:nvSpPr>
                <p:cNvPr id="8" name="MH_Text_1"/>
                <p:cNvSpPr txBox="1">
                  <a:spLocks noChangeArrowheads="1"/>
                </p:cNvSpPr>
                <p:nvPr>
                  <p:custDataLst>
                    <p:tags r:id="rId3"/>
                  </p:custDataLst>
                </p:nvPr>
              </p:nvSpPr>
              <p:spPr bwMode="auto">
                <a:xfrm>
                  <a:off x="6783" y="4366"/>
                  <a:ext cx="9801" cy="2442"/>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#exam6:shell script to combine files and count lines</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cat  $1  $2  $3  $4  $5  $6  $7  $8  $9  |wc  -l</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end </a:t>
                  </a:r>
                </a:p>
              </p:txBody>
            </p:sp>
            <p:sp>
              <p:nvSpPr>
                <p:cNvPr id="11" name="矩形 10"/>
                <p:cNvSpPr>
                  <a:spLocks noChangeArrowheads="1"/>
                </p:cNvSpPr>
                <p:nvPr/>
              </p:nvSpPr>
              <p:spPr bwMode="auto">
                <a:xfrm>
                  <a:off x="6832" y="3205"/>
                  <a:ext cx="6127" cy="105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chemeClr val="tx1">
                          <a:lumMod val="85000"/>
                          <a:lumOff val="15000"/>
                        </a:schemeClr>
                      </a:solidFill>
                      <a:latin typeface="微软雅黑" panose="020B0503020204020204" pitchFamily="34" charset="-122"/>
                      <a:ea typeface="微软雅黑" panose="020B0503020204020204" pitchFamily="34" charset="-122"/>
                      <a:cs typeface="华康俪金黑W8(P)"/>
                    </a:rPr>
                    <a:t>example4的内容如下：</a:t>
                  </a:r>
                </a:p>
              </p:txBody>
            </p:sp>
          </p:grpSp>
          <p:grpSp>
            <p:nvGrpSpPr>
              <p:cNvPr id="14" name="组合 13"/>
              <p:cNvGrpSpPr/>
              <p:nvPr/>
            </p:nvGrpSpPr>
            <p:grpSpPr>
              <a:xfrm>
                <a:off x="6192" y="3380"/>
                <a:ext cx="4720" cy="4020"/>
                <a:chOff x="6379" y="3381"/>
                <a:chExt cx="4720" cy="4020"/>
              </a:xfrm>
            </p:grpSpPr>
            <p:sp>
              <p:nvSpPr>
                <p:cNvPr id="12" name="MH_Text_1"/>
                <p:cNvSpPr txBox="1">
                  <a:spLocks noChangeArrowheads="1"/>
                </p:cNvSpPr>
                <p:nvPr>
                  <p:custDataLst>
                    <p:tags r:id="rId2"/>
                  </p:custDataLst>
                </p:nvPr>
              </p:nvSpPr>
              <p:spPr bwMode="auto">
                <a:xfrm>
                  <a:off x="6379" y="4191"/>
                  <a:ext cx="4721" cy="3210"/>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this is wm2.c */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main()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printf("OK!\n"); </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prin</a:t>
                  </a: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tf("End\n"); </a:t>
                  </a:r>
                </a:p>
                <a:p>
                  <a:pPr indent="0" algn="l" eaLnBrk="1" fontAlgn="auto" latinLnBrk="0" hangingPunct="1">
                    <a:lnSpc>
                      <a:spcPct val="11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p>
              </p:txBody>
            </p:sp>
            <p:sp>
              <p:nvSpPr>
                <p:cNvPr id="13" name="矩形 12"/>
                <p:cNvSpPr>
                  <a:spLocks noChangeArrowheads="1"/>
                </p:cNvSpPr>
                <p:nvPr/>
              </p:nvSpPr>
              <p:spPr bwMode="auto">
                <a:xfrm>
                  <a:off x="6643" y="3381"/>
                  <a:ext cx="4160"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chemeClr val="tx1">
                          <a:lumMod val="85000"/>
                          <a:lumOff val="15000"/>
                        </a:schemeClr>
                      </a:solidFill>
                      <a:latin typeface="微软雅黑" panose="020B0503020204020204" pitchFamily="34" charset="-122"/>
                      <a:ea typeface="微软雅黑" panose="020B0503020204020204" pitchFamily="34" charset="-122"/>
                      <a:cs typeface="华康俪金黑W8(P)"/>
                    </a:rPr>
                    <a:t>wm2.c 的内容如下：</a:t>
                  </a:r>
                </a:p>
              </p:txBody>
            </p:sp>
          </p:grpSp>
          <p:sp>
            <p:nvSpPr>
              <p:cNvPr id="46" name="Text Box 44"/>
              <p:cNvSpPr txBox="1">
                <a:spLocks noChangeArrowheads="1"/>
              </p:cNvSpPr>
              <p:nvPr/>
            </p:nvSpPr>
            <p:spPr bwMode="auto">
              <a:xfrm>
                <a:off x="11631" y="3497"/>
                <a:ext cx="6035" cy="62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上面的shell脚本中使用了$1～$9共9个</a:t>
                </a:r>
                <a:r>
                  <a:rPr lang="zh-CN" altLang="en-US" sz="2000" b="1" dirty="0">
                    <a:solidFill>
                      <a:srgbClr val="0070C0"/>
                    </a:solidFill>
                  </a:rPr>
                  <a:t>位置参数</a:t>
                </a:r>
                <a:r>
                  <a:rPr lang="zh-CN" altLang="en-US" sz="2000" dirty="0">
                    <a:solidFill>
                      <a:schemeClr val="tx1">
                        <a:lumMod val="85000"/>
                        <a:lumOff val="15000"/>
                      </a:schemeClr>
                    </a:solidFill>
                  </a:rPr>
                  <a:t>，因此执行时，可以接收</a:t>
                </a:r>
                <a:r>
                  <a:rPr lang="zh-CN" altLang="en-US" sz="2000" b="1" dirty="0">
                    <a:solidFill>
                      <a:srgbClr val="0070C0"/>
                    </a:solidFill>
                  </a:rPr>
                  <a:t>9个文件名</a:t>
                </a:r>
                <a:r>
                  <a:rPr lang="zh-CN" altLang="en-US" sz="2000" dirty="0">
                    <a:solidFill>
                      <a:schemeClr val="tx1">
                        <a:lumMod val="85000"/>
                        <a:lumOff val="15000"/>
                      </a:schemeClr>
                    </a:solidFill>
                  </a:rPr>
                  <a:t>。而实际使用时只给出了两个文件名，分别对应$1和$2。这样，$3～$9等位置参数并没有被指定具体值，shell就将它们当作</a:t>
                </a:r>
                <a:r>
                  <a:rPr lang="zh-CN" altLang="en-US" sz="2000" b="1" dirty="0">
                    <a:solidFill>
                      <a:srgbClr val="0070C0"/>
                    </a:solidFill>
                  </a:rPr>
                  <a:t>空字符串</a:t>
                </a:r>
                <a:r>
                  <a:rPr lang="zh-CN" altLang="en-US" sz="2000" dirty="0">
                    <a:solidFill>
                      <a:schemeClr val="tx1">
                        <a:lumMod val="85000"/>
                        <a:lumOff val="15000"/>
                      </a:schemeClr>
                    </a:solidFill>
                  </a:rPr>
                  <a:t>处理。</a:t>
                </a:r>
              </a:p>
            </p:txBody>
          </p:sp>
        </p:grpSp>
        <p:sp>
          <p:nvSpPr>
            <p:cNvPr id="16" name="MH_Text_1"/>
            <p:cNvSpPr txBox="1">
              <a:spLocks noChangeArrowheads="1"/>
            </p:cNvSpPr>
            <p:nvPr>
              <p:custDataLst>
                <p:tags r:id="rId1"/>
              </p:custDataLst>
            </p:nvPr>
          </p:nvSpPr>
          <p:spPr bwMode="auto">
            <a:xfrm>
              <a:off x="3167" y="8578"/>
              <a:ext cx="9801" cy="1044"/>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a:t>
              </a:r>
              <a:r>
                <a:rPr lang="zh-CN" altLang="en-US" sz="1800" b="1" dirty="0">
                  <a:solidFill>
                    <a:srgbClr val="FF0000"/>
                  </a:solidFill>
                  <a:latin typeface="微软雅黑" panose="020B0503020204020204" pitchFamily="34" charset="-122"/>
                  <a:ea typeface="微软雅黑" panose="020B0503020204020204" pitchFamily="34" charset="-122"/>
                  <a:cs typeface="+mn-cs"/>
                  <a:sym typeface="+mn-ea"/>
                </a:rPr>
                <a:t>bash  example4  wm1.c  wm2.c</a:t>
              </a:r>
            </a:p>
            <a:p>
              <a:pPr indent="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11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trips(downRight)">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69545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5.4.4  位置参数</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14" name="组合 13"/>
          <p:cNvGrpSpPr/>
          <p:nvPr/>
        </p:nvGrpSpPr>
        <p:grpSpPr>
          <a:xfrm>
            <a:off x="620395" y="1695450"/>
            <a:ext cx="10869295" cy="1036320"/>
            <a:chOff x="977" y="2670"/>
            <a:chExt cx="17117" cy="1632"/>
          </a:xfrm>
        </p:grpSpPr>
        <p:sp>
          <p:nvSpPr>
            <p:cNvPr id="18" name="Text Box 44"/>
            <p:cNvSpPr txBox="1">
              <a:spLocks noChangeArrowheads="1"/>
            </p:cNvSpPr>
            <p:nvPr/>
          </p:nvSpPr>
          <p:spPr bwMode="auto">
            <a:xfrm>
              <a:off x="1186" y="3390"/>
              <a:ext cx="16909" cy="91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在shell程序中，可以利用set命令为位置参数赋值或重新赋值。</a:t>
              </a:r>
            </a:p>
          </p:txBody>
        </p:sp>
        <p:grpSp>
          <p:nvGrpSpPr>
            <p:cNvPr id="31" name="组合 30"/>
            <p:cNvGrpSpPr/>
            <p:nvPr/>
          </p:nvGrpSpPr>
          <p:grpSpPr>
            <a:xfrm>
              <a:off x="977" y="2670"/>
              <a:ext cx="7385" cy="816"/>
              <a:chOff x="1337" y="2814"/>
              <a:chExt cx="7385" cy="816"/>
            </a:xfrm>
          </p:grpSpPr>
          <p:sp>
            <p:nvSpPr>
              <p:cNvPr id="25" name="文本框 2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26" name="文本框 25"/>
              <p:cNvSpPr txBox="1"/>
              <p:nvPr/>
            </p:nvSpPr>
            <p:spPr>
              <a:xfrm>
                <a:off x="2143" y="2862"/>
                <a:ext cx="6579"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2．用set命令为位置参数赋值</a:t>
                </a:r>
              </a:p>
            </p:txBody>
          </p:sp>
        </p:grpSp>
      </p:grpSp>
      <p:grpSp>
        <p:nvGrpSpPr>
          <p:cNvPr id="6" name="组合 5"/>
          <p:cNvGrpSpPr/>
          <p:nvPr/>
        </p:nvGrpSpPr>
        <p:grpSpPr>
          <a:xfrm>
            <a:off x="4829810" y="2952750"/>
            <a:ext cx="6812280" cy="3543300"/>
            <a:chOff x="1783" y="4650"/>
            <a:chExt cx="10728" cy="5580"/>
          </a:xfrm>
        </p:grpSpPr>
        <p:grpSp>
          <p:nvGrpSpPr>
            <p:cNvPr id="32" name="组合 14"/>
            <p:cNvGrpSpPr/>
            <p:nvPr/>
          </p:nvGrpSpPr>
          <p:grpSpPr bwMode="auto">
            <a:xfrm>
              <a:off x="1783" y="4650"/>
              <a:ext cx="10728" cy="5580"/>
              <a:chOff x="1166778" y="1786456"/>
              <a:chExt cx="8993811" cy="1713982"/>
            </a:xfrm>
          </p:grpSpPr>
          <p:grpSp>
            <p:nvGrpSpPr>
              <p:cNvPr id="33" name="组合 12"/>
              <p:cNvGrpSpPr/>
              <p:nvPr/>
            </p:nvGrpSpPr>
            <p:grpSpPr bwMode="auto">
              <a:xfrm>
                <a:off x="1166778" y="1786456"/>
                <a:ext cx="8993811" cy="1713982"/>
                <a:chOff x="1166778" y="1786456"/>
                <a:chExt cx="8993811" cy="1713982"/>
              </a:xfrm>
            </p:grpSpPr>
            <p:sp>
              <p:nvSpPr>
                <p:cNvPr id="34" name="矩形 33"/>
                <p:cNvSpPr/>
                <p:nvPr/>
              </p:nvSpPr>
              <p:spPr>
                <a:xfrm>
                  <a:off x="1166778" y="1786456"/>
                  <a:ext cx="8993811"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6778" y="1817173"/>
                  <a:ext cx="8580505" cy="20334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【例5-5】</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用set命令设置位置参数值，文件名为example5。</a:t>
                  </a:r>
                </a:p>
              </p:txBody>
            </p:sp>
          </p:grpSp>
          <p:sp>
            <p:nvSpPr>
              <p:cNvPr id="36" name="MH_Text_1"/>
              <p:cNvSpPr txBox="1">
                <a:spLocks noChangeArrowheads="1"/>
              </p:cNvSpPr>
              <p:nvPr>
                <p:custDataLst>
                  <p:tags r:id="rId2"/>
                </p:custDataLst>
              </p:nvPr>
            </p:nvSpPr>
            <p:spPr bwMode="auto">
              <a:xfrm>
                <a:off x="1216242" y="2020516"/>
                <a:ext cx="8863867" cy="905523"/>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 file is example5</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example5:shell script to combine files and count lines </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#using command set to set positional parameters </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set  wm1.c  wm2.c </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$1  $2</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 </a:t>
                </a:r>
              </a:p>
            </p:txBody>
          </p:sp>
        </p:grpSp>
        <p:sp>
          <p:nvSpPr>
            <p:cNvPr id="3" name="矩形 6"/>
            <p:cNvSpPr>
              <a:spLocks noChangeArrowheads="1"/>
            </p:cNvSpPr>
            <p:nvPr/>
          </p:nvSpPr>
          <p:spPr bwMode="auto">
            <a:xfrm>
              <a:off x="1938" y="8360"/>
              <a:ext cx="10080"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运行example5的结果如下：</a:t>
              </a:r>
            </a:p>
          </p:txBody>
        </p:sp>
        <p:sp>
          <p:nvSpPr>
            <p:cNvPr id="5" name="MH_Text_1"/>
            <p:cNvSpPr txBox="1">
              <a:spLocks noChangeArrowheads="1"/>
            </p:cNvSpPr>
            <p:nvPr>
              <p:custDataLst>
                <p:tags r:id="rId1"/>
              </p:custDataLst>
            </p:nvPr>
          </p:nvSpPr>
          <p:spPr bwMode="auto">
            <a:xfrm>
              <a:off x="1927" y="9080"/>
              <a:ext cx="10091" cy="993"/>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example5</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wm1.c  wm2.c</a:t>
              </a:r>
              <a:endParaRPr lang="en-US" altLang="zh-CN" sz="18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9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grpSp>
      <p:grpSp>
        <p:nvGrpSpPr>
          <p:cNvPr id="7" name="组合 6"/>
          <p:cNvGrpSpPr/>
          <p:nvPr/>
        </p:nvGrpSpPr>
        <p:grpSpPr>
          <a:xfrm>
            <a:off x="944245" y="3016250"/>
            <a:ext cx="2993390" cy="1249680"/>
            <a:chOff x="1496" y="3707"/>
            <a:chExt cx="5793" cy="1968"/>
          </a:xfrm>
        </p:grpSpPr>
        <p:sp>
          <p:nvSpPr>
            <p:cNvPr id="45" name="Text Box 44"/>
            <p:cNvSpPr txBox="1">
              <a:spLocks noChangeArrowheads="1"/>
            </p:cNvSpPr>
            <p:nvPr/>
          </p:nvSpPr>
          <p:spPr bwMode="auto">
            <a:xfrm>
              <a:off x="1496" y="3707"/>
              <a:ext cx="5793"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set命令的一般格式如下：</a:t>
              </a:r>
            </a:p>
          </p:txBody>
        </p:sp>
        <p:grpSp>
          <p:nvGrpSpPr>
            <p:cNvPr id="8" name="组合 7"/>
            <p:cNvGrpSpPr/>
            <p:nvPr/>
          </p:nvGrpSpPr>
          <p:grpSpPr>
            <a:xfrm>
              <a:off x="2701" y="4632"/>
              <a:ext cx="3692" cy="1043"/>
              <a:chOff x="-176" y="5937"/>
              <a:chExt cx="3692" cy="1043"/>
            </a:xfrm>
          </p:grpSpPr>
          <p:sp>
            <p:nvSpPr>
              <p:cNvPr id="11" name="流程图: 过程 10"/>
              <p:cNvSpPr/>
              <p:nvPr/>
            </p:nvSpPr>
            <p:spPr>
              <a:xfrm>
                <a:off x="-176" y="6105"/>
                <a:ext cx="319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2" name="文本框 11"/>
              <p:cNvSpPr txBox="1"/>
              <p:nvPr/>
            </p:nvSpPr>
            <p:spPr>
              <a:xfrm>
                <a:off x="-108" y="5937"/>
                <a:ext cx="3624"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set  [参数表]</a:t>
                </a:r>
              </a:p>
            </p:txBody>
          </p:sp>
        </p:grpSp>
      </p:grpSp>
      <p:sp>
        <p:nvSpPr>
          <p:cNvPr id="4" name="圆角矩形 3"/>
          <p:cNvSpPr/>
          <p:nvPr/>
        </p:nvSpPr>
        <p:spPr>
          <a:xfrm>
            <a:off x="727075" y="4371340"/>
            <a:ext cx="3675380" cy="202565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该命令后面无参数时，将显示系统中的系统变量值；如果有参数，将分别给位置参数赋值。</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p:stCondLst>
                              <p:cond delay="500"/>
                            </p:stCondLst>
                            <p:childTnLst>
                              <p:par>
                                <p:cTn id="9" presetID="52"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Scale>
                                      <p:cBhvr>
                                        <p:cTn id="11"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2" dur="1000" decel="50000" fill="hold">
                                          <p:stCondLst>
                                            <p:cond delay="0"/>
                                          </p:stCondLst>
                                        </p:cTn>
                                        <p:tgtEl>
                                          <p:spTgt spid="7"/>
                                        </p:tgtEl>
                                        <p:attrNameLst>
                                          <p:attrName>ppt_x</p:attrName>
                                          <p:attrName>ppt_y</p:attrName>
                                        </p:attrNameLst>
                                      </p:cBhvr>
                                    </p:animMotion>
                                    <p:animEffect transition="in" filter="fade">
                                      <p:cBhvr>
                                        <p:cTn id="13" dur="1000"/>
                                        <p:tgtEl>
                                          <p:spTgt spid="7"/>
                                        </p:tgtEl>
                                      </p:cBhvr>
                                    </p:animEffect>
                                  </p:childTnLst>
                                </p:cTn>
                              </p:par>
                            </p:childTnLst>
                          </p:cTn>
                        </p:par>
                        <p:par>
                          <p:cTn id="14" fill="hold">
                            <p:stCondLst>
                              <p:cond delay="1500"/>
                            </p:stCondLst>
                            <p:childTnLst>
                              <p:par>
                                <p:cTn id="15" presetID="23" presetClass="entr" presetSubtype="16" fill="hold" grpId="2"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childTnLst>
                                </p:cTn>
                              </p:par>
                            </p:childTnLst>
                          </p:cTn>
                        </p:par>
                        <p:par>
                          <p:cTn id="19" fill="hold">
                            <p:stCondLst>
                              <p:cond delay="2000"/>
                            </p:stCondLst>
                            <p:childTnLst>
                              <p:par>
                                <p:cTn id="20" presetID="42"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695450"/>
            <a:ext cx="11156950" cy="483108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5.4.4  位置参数</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1" name="组合 30"/>
          <p:cNvGrpSpPr/>
          <p:nvPr/>
        </p:nvGrpSpPr>
        <p:grpSpPr>
          <a:xfrm>
            <a:off x="620395" y="1695450"/>
            <a:ext cx="3016250" cy="518160"/>
            <a:chOff x="1337" y="2814"/>
            <a:chExt cx="4750" cy="816"/>
          </a:xfrm>
        </p:grpSpPr>
        <p:sp>
          <p:nvSpPr>
            <p:cNvPr id="25" name="文本框 24"/>
            <p:cNvSpPr txBox="1"/>
            <p:nvPr/>
          </p:nvSpPr>
          <p:spPr>
            <a:xfrm>
              <a:off x="1337" y="2814"/>
              <a:ext cx="961"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26" name="文本框 25"/>
            <p:cNvSpPr txBox="1"/>
            <p:nvPr/>
          </p:nvSpPr>
          <p:spPr>
            <a:xfrm>
              <a:off x="2143" y="2862"/>
              <a:ext cx="394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3．位置参数移动</a:t>
              </a:r>
            </a:p>
          </p:txBody>
        </p:sp>
      </p:grpSp>
      <p:grpSp>
        <p:nvGrpSpPr>
          <p:cNvPr id="6" name="组合 5"/>
          <p:cNvGrpSpPr/>
          <p:nvPr/>
        </p:nvGrpSpPr>
        <p:grpSpPr>
          <a:xfrm>
            <a:off x="5319395" y="1965960"/>
            <a:ext cx="6369050" cy="4259580"/>
            <a:chOff x="1783" y="4645"/>
            <a:chExt cx="10030" cy="5580"/>
          </a:xfrm>
        </p:grpSpPr>
        <p:grpSp>
          <p:nvGrpSpPr>
            <p:cNvPr id="32" name="组合 14"/>
            <p:cNvGrpSpPr/>
            <p:nvPr/>
          </p:nvGrpSpPr>
          <p:grpSpPr bwMode="auto">
            <a:xfrm>
              <a:off x="1783" y="4645"/>
              <a:ext cx="10029" cy="5580"/>
              <a:chOff x="1166778" y="1784923"/>
              <a:chExt cx="8407805" cy="1713982"/>
            </a:xfrm>
          </p:grpSpPr>
          <p:grpSp>
            <p:nvGrpSpPr>
              <p:cNvPr id="33" name="组合 12"/>
              <p:cNvGrpSpPr/>
              <p:nvPr/>
            </p:nvGrpSpPr>
            <p:grpSpPr bwMode="auto">
              <a:xfrm>
                <a:off x="1166778" y="1784923"/>
                <a:ext cx="8407805" cy="1713982"/>
                <a:chOff x="1166778" y="1784923"/>
                <a:chExt cx="8407805" cy="1713982"/>
              </a:xfrm>
            </p:grpSpPr>
            <p:sp>
              <p:nvSpPr>
                <p:cNvPr id="34" name="矩形 33"/>
                <p:cNvSpPr/>
                <p:nvPr/>
              </p:nvSpPr>
              <p:spPr>
                <a:xfrm>
                  <a:off x="1166778" y="1784923"/>
                  <a:ext cx="8407805"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6778" y="1817118"/>
                  <a:ext cx="8181451" cy="16915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【例5-</a:t>
                  </a:r>
                  <a:r>
                    <a:rPr lang="en-US" altLang="zh-CN" sz="1800" b="1">
                      <a:solidFill>
                        <a:srgbClr val="FF0000"/>
                      </a:solidFill>
                      <a:latin typeface="微软雅黑" panose="020B0503020204020204" pitchFamily="34" charset="-122"/>
                      <a:ea typeface="微软雅黑" panose="020B0503020204020204" pitchFamily="34" charset="-122"/>
                      <a:cs typeface="华康俪金黑W8(P)"/>
                    </a:rPr>
                    <a:t>6</a:t>
                  </a:r>
                  <a:r>
                    <a:rPr lang="zh-CN" altLang="en-US" sz="18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使用shift命令，文件名为example6。</a:t>
                  </a:r>
                </a:p>
              </p:txBody>
            </p:sp>
          </p:grpSp>
          <p:sp>
            <p:nvSpPr>
              <p:cNvPr id="36" name="MH_Text_1"/>
              <p:cNvSpPr txBox="1">
                <a:spLocks noChangeArrowheads="1"/>
              </p:cNvSpPr>
              <p:nvPr>
                <p:custDataLst>
                  <p:tags r:id="rId2"/>
                </p:custDataLst>
              </p:nvPr>
            </p:nvSpPr>
            <p:spPr bwMode="auto">
              <a:xfrm>
                <a:off x="1231331" y="1973492"/>
                <a:ext cx="8116059" cy="819942"/>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#this file is example6</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#example6:shell script to demonstrate the shift command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echo   $1  $2  $3  $4  $5  $6  $7  $8  $9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shift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echo   $1  $2  $3  $4  $5  $6  $7  $8  $9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shift 4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echo   $1  $2  $3  $4  $5  $6  $7  $8  $9</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#end </a:t>
                </a:r>
              </a:p>
            </p:txBody>
          </p:sp>
        </p:grpSp>
        <p:sp>
          <p:nvSpPr>
            <p:cNvPr id="3" name="矩形 6"/>
            <p:cNvSpPr>
              <a:spLocks noChangeArrowheads="1"/>
            </p:cNvSpPr>
            <p:nvPr/>
          </p:nvSpPr>
          <p:spPr bwMode="auto">
            <a:xfrm>
              <a:off x="1938" y="7928"/>
              <a:ext cx="9604" cy="59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运行example6脚本的结果如下：</a:t>
              </a:r>
            </a:p>
          </p:txBody>
        </p:sp>
        <p:sp>
          <p:nvSpPr>
            <p:cNvPr id="5" name="MH_Text_1"/>
            <p:cNvSpPr txBox="1">
              <a:spLocks noChangeArrowheads="1"/>
            </p:cNvSpPr>
            <p:nvPr>
              <p:custDataLst>
                <p:tags r:id="rId1"/>
              </p:custDataLst>
            </p:nvPr>
          </p:nvSpPr>
          <p:spPr bwMode="auto">
            <a:xfrm>
              <a:off x="1938" y="8527"/>
              <a:ext cx="9875" cy="1532"/>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example6  A  B  C  D  E  F  G  H  I  J  K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A  B  C  D  E  F  G  H  I</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B  C  D  E  F  G  H  I  J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F  G  H  I   J  K </a:t>
              </a:r>
            </a:p>
          </p:txBody>
        </p:sp>
      </p:grpSp>
      <p:grpSp>
        <p:nvGrpSpPr>
          <p:cNvPr id="4" name="组合 3"/>
          <p:cNvGrpSpPr/>
          <p:nvPr/>
        </p:nvGrpSpPr>
        <p:grpSpPr>
          <a:xfrm>
            <a:off x="516890" y="2045970"/>
            <a:ext cx="4664710" cy="2553970"/>
            <a:chOff x="814" y="3222"/>
            <a:chExt cx="7346" cy="4022"/>
          </a:xfrm>
        </p:grpSpPr>
        <p:sp>
          <p:nvSpPr>
            <p:cNvPr id="18" name="Text Box 44"/>
            <p:cNvSpPr txBox="1">
              <a:spLocks noChangeArrowheads="1"/>
            </p:cNvSpPr>
            <p:nvPr/>
          </p:nvSpPr>
          <p:spPr bwMode="auto">
            <a:xfrm>
              <a:off x="814" y="3222"/>
              <a:ext cx="7346" cy="244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当位置变量个数超出9个时，就不能直接引用位置大于9的位置变量了，必须用shift命令移动位置参数。。</a:t>
              </a:r>
            </a:p>
          </p:txBody>
        </p:sp>
        <p:grpSp>
          <p:nvGrpSpPr>
            <p:cNvPr id="7" name="组合 6"/>
            <p:cNvGrpSpPr/>
            <p:nvPr/>
          </p:nvGrpSpPr>
          <p:grpSpPr>
            <a:xfrm>
              <a:off x="1376" y="5601"/>
              <a:ext cx="5578" cy="1643"/>
              <a:chOff x="1496" y="3515"/>
              <a:chExt cx="5793" cy="1643"/>
            </a:xfrm>
          </p:grpSpPr>
          <p:sp>
            <p:nvSpPr>
              <p:cNvPr id="45" name="Text Box 44"/>
              <p:cNvSpPr txBox="1">
                <a:spLocks noChangeArrowheads="1"/>
              </p:cNvSpPr>
              <p:nvPr/>
            </p:nvSpPr>
            <p:spPr bwMode="auto">
              <a:xfrm>
                <a:off x="1496" y="3515"/>
                <a:ext cx="5793"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shift命令的一般形式如下：</a:t>
                </a:r>
              </a:p>
            </p:txBody>
          </p:sp>
          <p:grpSp>
            <p:nvGrpSpPr>
              <p:cNvPr id="8" name="组合 7"/>
              <p:cNvGrpSpPr/>
              <p:nvPr/>
            </p:nvGrpSpPr>
            <p:grpSpPr>
              <a:xfrm>
                <a:off x="1803" y="4283"/>
                <a:ext cx="3192" cy="875"/>
                <a:chOff x="-1074" y="5588"/>
                <a:chExt cx="3192" cy="875"/>
              </a:xfrm>
            </p:grpSpPr>
            <p:sp>
              <p:nvSpPr>
                <p:cNvPr id="11" name="流程图: 过程 10"/>
                <p:cNvSpPr/>
                <p:nvPr/>
              </p:nvSpPr>
              <p:spPr>
                <a:xfrm>
                  <a:off x="-1074" y="5588"/>
                  <a:ext cx="319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2" name="文本框 11"/>
                <p:cNvSpPr txBox="1"/>
                <p:nvPr/>
              </p:nvSpPr>
              <p:spPr>
                <a:xfrm>
                  <a:off x="-677" y="5588"/>
                  <a:ext cx="2795"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shift  [n]</a:t>
                  </a:r>
                </a:p>
              </p:txBody>
            </p:sp>
          </p:grpSp>
        </p:grpSp>
      </p:grpSp>
      <p:sp>
        <p:nvSpPr>
          <p:cNvPr id="14" name="圆角矩形 13"/>
          <p:cNvSpPr/>
          <p:nvPr/>
        </p:nvSpPr>
        <p:spPr>
          <a:xfrm>
            <a:off x="812800" y="4706620"/>
            <a:ext cx="3956050" cy="181991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每次执行时，将位置参数向</a:t>
            </a:r>
            <a:r>
              <a:rPr lang="zh-CN" altLang="en-US" sz="2000" b="1" dirty="0">
                <a:solidFill>
                  <a:srgbClr val="FF0000"/>
                </a:solidFill>
                <a:latin typeface="微软雅黑" panose="020B0503020204020204" pitchFamily="34" charset="-122"/>
                <a:ea typeface="微软雅黑" panose="020B0503020204020204" pitchFamily="34" charset="-122"/>
                <a:sym typeface="+mn-ea"/>
              </a:rPr>
              <a:t>左移动n位</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。如果没有参数，则每次执行时，将位置参数向左移动1位。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3" presetClass="entr" presetSubtype="16" fill="hold" grpId="2"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18" presetClass="entr" presetSubtype="6"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Right)">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4" grpId="2"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2083435" y="5488740"/>
            <a:ext cx="4040505" cy="498675"/>
            <a:chOff x="3" y="-12"/>
            <a:chExt cx="4243" cy="345"/>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3073400"/>
            <a:ext cx="11156950" cy="3491865"/>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5.5.1  正则表达式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 name="组合 2"/>
          <p:cNvGrpSpPr/>
          <p:nvPr/>
        </p:nvGrpSpPr>
        <p:grpSpPr>
          <a:xfrm>
            <a:off x="649605" y="3088005"/>
            <a:ext cx="2711450" cy="518160"/>
            <a:chOff x="1337" y="2814"/>
            <a:chExt cx="4270" cy="816"/>
          </a:xfrm>
        </p:grpSpPr>
        <p:sp>
          <p:nvSpPr>
            <p:cNvPr id="5" name="文本框 4"/>
            <p:cNvSpPr txBox="1"/>
            <p:nvPr/>
          </p:nvSpPr>
          <p:spPr>
            <a:xfrm>
              <a:off x="1337" y="2814"/>
              <a:ext cx="1029"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13" name="文本框 12"/>
            <p:cNvSpPr txBox="1"/>
            <p:nvPr/>
          </p:nvSpPr>
          <p:spPr>
            <a:xfrm>
              <a:off x="2143" y="2862"/>
              <a:ext cx="346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1．一般通配符</a:t>
              </a:r>
            </a:p>
          </p:txBody>
        </p:sp>
      </p:grpSp>
      <p:grpSp>
        <p:nvGrpSpPr>
          <p:cNvPr id="8" name="组合 7"/>
          <p:cNvGrpSpPr/>
          <p:nvPr/>
        </p:nvGrpSpPr>
        <p:grpSpPr>
          <a:xfrm>
            <a:off x="958215" y="3724275"/>
            <a:ext cx="10265410" cy="2651760"/>
            <a:chOff x="1509" y="5553"/>
            <a:chExt cx="16166" cy="4176"/>
          </a:xfrm>
        </p:grpSpPr>
        <p:sp>
          <p:nvSpPr>
            <p:cNvPr id="52" name="TextBox 51"/>
            <p:cNvSpPr txBox="1">
              <a:spLocks noChangeArrowheads="1"/>
            </p:cNvSpPr>
            <p:nvPr/>
          </p:nvSpPr>
          <p:spPr bwMode="auto">
            <a:xfrm>
              <a:off x="1509" y="5553"/>
              <a:ext cx="16167" cy="4177"/>
            </a:xfrm>
            <a:prstGeom prst="rect">
              <a:avLst/>
            </a:prstGeom>
            <a:ln w="38100">
              <a:solidFill>
                <a:srgbClr val="00B0F0"/>
              </a:solidFill>
              <a:prstDash val="sys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zh-CN" altLang="en-US" dirty="0"/>
            </a:p>
          </p:txBody>
        </p:sp>
        <p:sp>
          <p:nvSpPr>
            <p:cNvPr id="55" name="椭圆 14"/>
            <p:cNvSpPr/>
            <p:nvPr/>
          </p:nvSpPr>
          <p:spPr bwMode="auto">
            <a:xfrm>
              <a:off x="2177" y="5770"/>
              <a:ext cx="603" cy="904"/>
            </a:xfrm>
            <a:custGeom>
              <a:avLst/>
              <a:gdLst/>
              <a:ahLst/>
              <a:cxnLst/>
              <a:rect l="l" t="t" r="r" b="b"/>
              <a:pathLst>
                <a:path w="683568" h="864094">
                  <a:moveTo>
                    <a:pt x="341785" y="75471"/>
                  </a:moveTo>
                  <a:cubicBezTo>
                    <a:pt x="218037" y="75471"/>
                    <a:pt x="117720" y="175788"/>
                    <a:pt x="117720" y="299536"/>
                  </a:cubicBezTo>
                  <a:cubicBezTo>
                    <a:pt x="117720" y="423284"/>
                    <a:pt x="218037" y="523601"/>
                    <a:pt x="341785" y="523601"/>
                  </a:cubicBezTo>
                  <a:cubicBezTo>
                    <a:pt x="465533" y="523601"/>
                    <a:pt x="565850" y="423284"/>
                    <a:pt x="565850" y="299536"/>
                  </a:cubicBezTo>
                  <a:cubicBezTo>
                    <a:pt x="565850" y="175788"/>
                    <a:pt x="465533" y="75471"/>
                    <a:pt x="341785" y="75471"/>
                  </a:cubicBezTo>
                  <a:close/>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D24726"/>
            </a:solidFill>
            <a:ln w="31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44" name="矩形 6"/>
            <p:cNvSpPr>
              <a:spLocks noChangeArrowheads="1"/>
            </p:cNvSpPr>
            <p:nvPr/>
          </p:nvSpPr>
          <p:spPr bwMode="auto">
            <a:xfrm>
              <a:off x="2372" y="5969"/>
              <a:ext cx="14996" cy="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eaLnBrk="1" latinLnBrk="0" hangingPunct="1">
                <a:lnSpc>
                  <a:spcPct val="14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*（星号）：</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可匹配任意字符的</a:t>
              </a:r>
              <a:r>
                <a:rPr lang="zh-CN" altLang="en-US" sz="2000" b="1" dirty="0">
                  <a:solidFill>
                    <a:srgbClr val="0070C0"/>
                  </a:solidFill>
                  <a:latin typeface="微软雅黑" panose="020B0503020204020204" pitchFamily="34" charset="-122"/>
                  <a:ea typeface="微软雅黑" panose="020B0503020204020204" pitchFamily="34" charset="-122"/>
                  <a:sym typeface="+mn-ea"/>
                </a:rPr>
                <a:t>0次或多次</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出现。例如，f*可以匹配f、fa、fb、fa3、fff、ff.s等，即匹配以f打头的任意字符串。</a:t>
              </a:r>
            </a:p>
            <a:p>
              <a:pPr indent="457200" eaLnBrk="1" latinLnBrk="0" hangingPunct="1">
                <a:lnSpc>
                  <a:spcPct val="14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但应注意，文件名前面的</a:t>
              </a:r>
              <a:r>
                <a:rPr lang="zh-CN" altLang="en-US" sz="2000" b="1" dirty="0">
                  <a:solidFill>
                    <a:srgbClr val="0070C0"/>
                  </a:solidFill>
                  <a:latin typeface="微软雅黑" panose="020B0503020204020204" pitchFamily="34" charset="-122"/>
                  <a:ea typeface="微软雅黑" panose="020B0503020204020204" pitchFamily="34" charset="-122"/>
                  <a:sym typeface="+mn-ea"/>
                </a:rPr>
                <a:t>圆点“.”</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和路径中的</a:t>
              </a:r>
              <a:r>
                <a:rPr lang="zh-CN" altLang="en-US" sz="2000" b="1" dirty="0">
                  <a:solidFill>
                    <a:srgbClr val="0070C0"/>
                  </a:solidFill>
                  <a:latin typeface="微软雅黑" panose="020B0503020204020204" pitchFamily="34" charset="-122"/>
                  <a:ea typeface="微软雅黑" panose="020B0503020204020204" pitchFamily="34" charset="-122"/>
                  <a:sym typeface="+mn-ea"/>
                </a:rPr>
                <a:t>斜线“/”</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必须显式匹配。例如，模式*file不能匹配.profile，而.*file才可匹配.profile。模式/etc*.c不能匹配在/etc目录下带有后缀.c的文件，而模式/etc/*.c会匹配这些文件。</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sp>
        <p:nvSpPr>
          <p:cNvPr id="14" name="圆角矩形 13"/>
          <p:cNvSpPr/>
          <p:nvPr/>
        </p:nvSpPr>
        <p:spPr>
          <a:xfrm>
            <a:off x="517525" y="1596390"/>
            <a:ext cx="11145520" cy="135382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正则表达式是</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一种可以用于</a:t>
            </a:r>
            <a:r>
              <a:rPr lang="zh-CN" altLang="en-US" sz="2000" b="1" dirty="0">
                <a:solidFill>
                  <a:srgbClr val="0070C0"/>
                </a:solidFill>
                <a:latin typeface="微软雅黑" panose="020B0503020204020204" pitchFamily="34" charset="-122"/>
                <a:ea typeface="微软雅黑" panose="020B0503020204020204" pitchFamily="34" charset="-122"/>
                <a:sym typeface="+mn-ea"/>
              </a:rPr>
              <a:t>模式匹配和替换</a:t>
            </a:r>
            <a:r>
              <a:rPr lang="zh-CN" altLang="en-US" sz="2000" dirty="0">
                <a:solidFill>
                  <a:schemeClr val="tx1"/>
                </a:solidFill>
                <a:latin typeface="微软雅黑" panose="020B0503020204020204" pitchFamily="34" charset="-122"/>
                <a:ea typeface="微软雅黑" panose="020B0503020204020204" pitchFamily="34" charset="-122"/>
                <a:sym typeface="+mn-ea"/>
              </a:rPr>
              <a:t>的工具</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，可以让用户通过</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使用一系列的</a:t>
            </a:r>
            <a:r>
              <a:rPr lang="zh-CN" altLang="en-US" sz="2000" b="1" dirty="0">
                <a:solidFill>
                  <a:srgbClr val="FF0000"/>
                </a:solidFill>
                <a:latin typeface="微软雅黑" panose="020B0503020204020204" pitchFamily="34" charset="-122"/>
                <a:ea typeface="微软雅黑" panose="020B0503020204020204" pitchFamily="34" charset="-122"/>
                <a:sym typeface="+mn-ea"/>
              </a:rPr>
              <a:t>特殊字符</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构建匹配模式</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，然后将匹配模式与待比较字符串或文件进行比较，根据比较对象中是否包含匹配模式，执行相应的程序。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2"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8" presetClass="entr" presetSubtype="6"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strips(downRight)">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4" grpId="2"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17525" y="1565910"/>
            <a:ext cx="111569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9" name="矩形 6"/>
          <p:cNvSpPr>
            <a:spLocks noChangeArrowheads="1"/>
          </p:cNvSpPr>
          <p:nvPr/>
        </p:nvSpPr>
        <p:spPr bwMode="auto">
          <a:xfrm>
            <a:off x="958215" y="1035685"/>
            <a:ext cx="3871595" cy="5302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5.5.1  正则表达式</a:t>
            </a:r>
          </a:p>
        </p:txBody>
      </p:sp>
      <p:sp>
        <p:nvSpPr>
          <p:cNvPr id="10" name="椭圆 9"/>
          <p:cNvSpPr/>
          <p:nvPr/>
        </p:nvSpPr>
        <p:spPr bwMode="auto">
          <a:xfrm>
            <a:off x="619760" y="1151890"/>
            <a:ext cx="324485" cy="29845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nvGrpSpPr>
          <p:cNvPr id="3" name="组合 2"/>
          <p:cNvGrpSpPr/>
          <p:nvPr/>
        </p:nvGrpSpPr>
        <p:grpSpPr>
          <a:xfrm>
            <a:off x="532765" y="1565910"/>
            <a:ext cx="2711450" cy="518160"/>
            <a:chOff x="1337" y="2814"/>
            <a:chExt cx="4270" cy="816"/>
          </a:xfrm>
        </p:grpSpPr>
        <p:sp>
          <p:nvSpPr>
            <p:cNvPr id="5" name="文本框 4"/>
            <p:cNvSpPr txBox="1"/>
            <p:nvPr/>
          </p:nvSpPr>
          <p:spPr>
            <a:xfrm>
              <a:off x="1337" y="2814"/>
              <a:ext cx="1029" cy="816"/>
            </a:xfrm>
            <a:prstGeom prst="rect">
              <a:avLst/>
            </a:prstGeom>
            <a:noFill/>
          </p:spPr>
          <p:txBody>
            <a:bodyPr wrap="none" rtlCol="0" anchor="t">
              <a:spAutoFit/>
            </a:bodyPr>
            <a:lstStyle/>
            <a:p>
              <a:r>
                <a:rPr lang="en-US" altLang="zh-CN" sz="2800" b="1" dirty="0">
                  <a:solidFill>
                    <a:srgbClr val="3399FF"/>
                  </a:solidFill>
                  <a:latin typeface="华文中宋" panose="02010600040101010101" pitchFamily="2" charset="-122"/>
                  <a:ea typeface="华文中宋" panose="02010600040101010101" pitchFamily="2" charset="-122"/>
                  <a:sym typeface="+mn-ea"/>
                </a:rPr>
                <a:t> </a:t>
              </a:r>
              <a:r>
                <a:rPr lang="en-US" altLang="zh-CN" sz="2800" b="1" dirty="0">
                  <a:solidFill>
                    <a:srgbClr val="3399FF"/>
                  </a:solidFill>
                  <a:latin typeface="华文中宋" panose="02010600040101010101" pitchFamily="2" charset="-122"/>
                  <a:ea typeface="华文中宋" panose="02010600040101010101" pitchFamily="2" charset="-122"/>
                  <a:sym typeface="Wingdings 3" panose="05040102010807070707"/>
                </a:rPr>
                <a:t>※</a:t>
              </a:r>
            </a:p>
          </p:txBody>
        </p:sp>
        <p:sp>
          <p:nvSpPr>
            <p:cNvPr id="13" name="文本框 12"/>
            <p:cNvSpPr txBox="1"/>
            <p:nvPr/>
          </p:nvSpPr>
          <p:spPr>
            <a:xfrm>
              <a:off x="2143" y="2862"/>
              <a:ext cx="3464" cy="761"/>
            </a:xfrm>
            <a:prstGeom prst="rect">
              <a:avLst/>
            </a:prstGeom>
            <a:noFill/>
          </p:spPr>
          <p:txBody>
            <a:bodyPr wrap="none" rtlCol="0" anchor="t">
              <a:spAutoFit/>
            </a:bodyPr>
            <a:lstStyle/>
            <a:p>
              <a:pPr algn="l"/>
              <a:r>
                <a:rPr sz="2400" b="1" dirty="0">
                  <a:solidFill>
                    <a:srgbClr val="3399FF"/>
                  </a:solidFill>
                  <a:latin typeface="微软雅黑" panose="020B0503020204020204" pitchFamily="34" charset="-122"/>
                  <a:ea typeface="微软雅黑" panose="020B0503020204020204" pitchFamily="34" charset="-122"/>
                  <a:sym typeface="+mn-ea"/>
                </a:rPr>
                <a:t>1．一般通配符</a:t>
              </a:r>
            </a:p>
          </p:txBody>
        </p:sp>
      </p:grpSp>
      <p:grpSp>
        <p:nvGrpSpPr>
          <p:cNvPr id="20" name="组合 19"/>
          <p:cNvGrpSpPr/>
          <p:nvPr/>
        </p:nvGrpSpPr>
        <p:grpSpPr>
          <a:xfrm>
            <a:off x="833755" y="2195195"/>
            <a:ext cx="10541635" cy="3907155"/>
            <a:chOff x="1313" y="3457"/>
            <a:chExt cx="16601" cy="6153"/>
          </a:xfrm>
        </p:grpSpPr>
        <p:grpSp>
          <p:nvGrpSpPr>
            <p:cNvPr id="12" name="组合 11"/>
            <p:cNvGrpSpPr/>
            <p:nvPr/>
          </p:nvGrpSpPr>
          <p:grpSpPr>
            <a:xfrm>
              <a:off x="1313" y="3457"/>
              <a:ext cx="16601" cy="6153"/>
              <a:chOff x="1846" y="5553"/>
              <a:chExt cx="16601" cy="6153"/>
            </a:xfrm>
          </p:grpSpPr>
          <p:sp>
            <p:nvSpPr>
              <p:cNvPr id="52" name="TextBox 51"/>
              <p:cNvSpPr txBox="1">
                <a:spLocks noChangeArrowheads="1"/>
              </p:cNvSpPr>
              <p:nvPr/>
            </p:nvSpPr>
            <p:spPr bwMode="auto">
              <a:xfrm>
                <a:off x="1846" y="5553"/>
                <a:ext cx="16601" cy="6153"/>
              </a:xfrm>
              <a:prstGeom prst="rect">
                <a:avLst/>
              </a:prstGeom>
              <a:ln w="38100">
                <a:solidFill>
                  <a:srgbClr val="00B0F0"/>
                </a:solidFill>
                <a:prstDash val="sys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zh-CN" altLang="en-US" dirty="0"/>
              </a:p>
            </p:txBody>
          </p:sp>
          <p:sp>
            <p:nvSpPr>
              <p:cNvPr id="55" name="椭圆 14"/>
              <p:cNvSpPr/>
              <p:nvPr/>
            </p:nvSpPr>
            <p:spPr bwMode="auto">
              <a:xfrm>
                <a:off x="2177" y="5770"/>
                <a:ext cx="603" cy="904"/>
              </a:xfrm>
              <a:custGeom>
                <a:avLst/>
                <a:gdLst/>
                <a:ahLst/>
                <a:cxnLst/>
                <a:rect l="l" t="t" r="r" b="b"/>
                <a:pathLst>
                  <a:path w="683568" h="864094">
                    <a:moveTo>
                      <a:pt x="341785" y="75471"/>
                    </a:moveTo>
                    <a:cubicBezTo>
                      <a:pt x="218037" y="75471"/>
                      <a:pt x="117720" y="175788"/>
                      <a:pt x="117720" y="299536"/>
                    </a:cubicBezTo>
                    <a:cubicBezTo>
                      <a:pt x="117720" y="423284"/>
                      <a:pt x="218037" y="523601"/>
                      <a:pt x="341785" y="523601"/>
                    </a:cubicBezTo>
                    <a:cubicBezTo>
                      <a:pt x="465533" y="523601"/>
                      <a:pt x="565850" y="423284"/>
                      <a:pt x="565850" y="299536"/>
                    </a:cubicBezTo>
                    <a:cubicBezTo>
                      <a:pt x="565850" y="175788"/>
                      <a:pt x="465533" y="75471"/>
                      <a:pt x="341785" y="75471"/>
                    </a:cubicBezTo>
                    <a:close/>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D24726"/>
              </a:solidFill>
              <a:ln w="31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44" name="矩形 6"/>
              <p:cNvSpPr>
                <a:spLocks noChangeArrowheads="1"/>
              </p:cNvSpPr>
              <p:nvPr/>
            </p:nvSpPr>
            <p:spPr bwMode="auto">
              <a:xfrm>
                <a:off x="2372" y="5849"/>
                <a:ext cx="16075" cy="5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457200" eaLnBrk="1" latinLnBrk="0" hangingPunct="1">
                  <a:lnSpc>
                    <a:spcPct val="14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?（问号）：</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可匹配</a:t>
                </a:r>
                <a:r>
                  <a:rPr lang="zh-CN" altLang="en-US" sz="2000" b="1" dirty="0">
                    <a:solidFill>
                      <a:srgbClr val="0070C0"/>
                    </a:solidFill>
                    <a:latin typeface="微软雅黑" panose="020B0503020204020204" pitchFamily="34" charset="-122"/>
                    <a:ea typeface="微软雅黑" panose="020B0503020204020204" pitchFamily="34" charset="-122"/>
                    <a:sym typeface="+mn-ea"/>
                  </a:rPr>
                  <a:t>任意一个字符</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。例如，f?可以匹配f1、f4、fv等，但不能匹配f，facd，f34等。</a:t>
                </a:r>
              </a:p>
              <a:p>
                <a:pPr indent="457200" eaLnBrk="1" latinLnBrk="0" hangingPunct="1">
                  <a:lnSpc>
                    <a:spcPct val="140000"/>
                  </a:lnSpc>
                </a:pPr>
                <a:endPar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indent="457200" eaLnBrk="1" latinLnBrk="0" hangingPunct="1">
                  <a:lnSpc>
                    <a:spcPct val="14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 ]（一对方括号）：</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其中有一个</a:t>
                </a:r>
                <a:r>
                  <a:rPr lang="zh-CN" altLang="en-US" sz="2000" b="1" dirty="0">
                    <a:solidFill>
                      <a:srgbClr val="0070C0"/>
                    </a:solidFill>
                    <a:latin typeface="微软雅黑" panose="020B0503020204020204" pitchFamily="34" charset="-122"/>
                    <a:ea typeface="微软雅黑" panose="020B0503020204020204" pitchFamily="34" charset="-122"/>
                    <a:sym typeface="+mn-ea"/>
                  </a:rPr>
                  <a:t>字符组</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。其作用是匹配该字符组所限定的</a:t>
                </a: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任何一个字</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符。例如，f[adefu]可以匹配fa，fd，fe，ff，fu，但不能匹配f1，fa3，fkk等。方括号中的字符组可以由直接给出的字符组成，如上面所示，也可以由表示限定范围的起始字符、终止字符及中间一个连字符（-）组成。例如，f[a-d]与f[abcd]的作用相同。又如，a[1-9]与a[123456789]的作用相同。前者的表示方式更简捷。</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endParaRPr>
              </a:p>
              <a:p>
                <a:pPr indent="457200" eaLnBrk="1" latinLnBrk="0" hangingPunct="1">
                  <a:lnSpc>
                    <a:spcPct val="140000"/>
                  </a:lnSpc>
                </a:pP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sp>
          <p:nvSpPr>
            <p:cNvPr id="14" name="椭圆 14"/>
            <p:cNvSpPr/>
            <p:nvPr/>
          </p:nvSpPr>
          <p:spPr bwMode="auto">
            <a:xfrm>
              <a:off x="1628" y="5458"/>
              <a:ext cx="603" cy="904"/>
            </a:xfrm>
            <a:custGeom>
              <a:avLst/>
              <a:gdLst/>
              <a:ahLst/>
              <a:cxnLst/>
              <a:rect l="l" t="t" r="r" b="b"/>
              <a:pathLst>
                <a:path w="683568" h="864094">
                  <a:moveTo>
                    <a:pt x="341785" y="75471"/>
                  </a:moveTo>
                  <a:cubicBezTo>
                    <a:pt x="218037" y="75471"/>
                    <a:pt x="117720" y="175788"/>
                    <a:pt x="117720" y="299536"/>
                  </a:cubicBezTo>
                  <a:cubicBezTo>
                    <a:pt x="117720" y="423284"/>
                    <a:pt x="218037" y="523601"/>
                    <a:pt x="341785" y="523601"/>
                  </a:cubicBezTo>
                  <a:cubicBezTo>
                    <a:pt x="465533" y="523601"/>
                    <a:pt x="565850" y="423284"/>
                    <a:pt x="565850" y="299536"/>
                  </a:cubicBezTo>
                  <a:cubicBezTo>
                    <a:pt x="565850" y="175788"/>
                    <a:pt x="465533" y="75471"/>
                    <a:pt x="341785" y="75471"/>
                  </a:cubicBezTo>
                  <a:close/>
                  <a:moveTo>
                    <a:pt x="341784" y="0"/>
                  </a:moveTo>
                  <a:cubicBezTo>
                    <a:pt x="530546" y="0"/>
                    <a:pt x="683568" y="153022"/>
                    <a:pt x="683568" y="341784"/>
                  </a:cubicBezTo>
                  <a:cubicBezTo>
                    <a:pt x="683568" y="439085"/>
                    <a:pt x="642909" y="526890"/>
                    <a:pt x="577183" y="588642"/>
                  </a:cubicBezTo>
                  <a:lnTo>
                    <a:pt x="341597" y="864094"/>
                  </a:lnTo>
                  <a:lnTo>
                    <a:pt x="105111" y="587591"/>
                  </a:lnTo>
                  <a:cubicBezTo>
                    <a:pt x="87976" y="571864"/>
                    <a:pt x="72869" y="554041"/>
                    <a:pt x="59857" y="534679"/>
                  </a:cubicBezTo>
                  <a:lnTo>
                    <a:pt x="59306" y="534035"/>
                  </a:lnTo>
                  <a:lnTo>
                    <a:pt x="59325" y="534035"/>
                  </a:lnTo>
                  <a:cubicBezTo>
                    <a:pt x="21845" y="479324"/>
                    <a:pt x="0" y="413105"/>
                    <a:pt x="0" y="341784"/>
                  </a:cubicBezTo>
                  <a:cubicBezTo>
                    <a:pt x="0" y="153022"/>
                    <a:pt x="153022" y="0"/>
                    <a:pt x="341784" y="0"/>
                  </a:cubicBezTo>
                  <a:close/>
                </a:path>
              </a:pathLst>
            </a:custGeom>
            <a:solidFill>
              <a:srgbClr val="D24726"/>
            </a:solidFill>
            <a:ln w="31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trips(downRight)">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6646545" y="2358390"/>
            <a:ext cx="3775710" cy="481330"/>
            <a:chOff x="3" y="0"/>
            <a:chExt cx="4243" cy="333"/>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3512185" y="1694180"/>
            <a:ext cx="7822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32" name="组合 31"/>
          <p:cNvGrpSpPr/>
          <p:nvPr/>
        </p:nvGrpSpPr>
        <p:grpSpPr>
          <a:xfrm>
            <a:off x="3330118" y="1694180"/>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1．条件测试</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18" name="Text Box 44"/>
          <p:cNvSpPr txBox="1">
            <a:spLocks noChangeArrowheads="1"/>
          </p:cNvSpPr>
          <p:nvPr/>
        </p:nvSpPr>
        <p:spPr bwMode="auto">
          <a:xfrm>
            <a:off x="3488055" y="2672715"/>
            <a:ext cx="7532370" cy="5791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在shell中，测试条件表达式中只能通过使用test命令来完成。</a:t>
            </a:r>
          </a:p>
        </p:txBody>
      </p:sp>
      <p:sp>
        <p:nvSpPr>
          <p:cNvPr id="4" name="Text Box 44"/>
          <p:cNvSpPr txBox="1">
            <a:spLocks noChangeArrowheads="1"/>
          </p:cNvSpPr>
          <p:nvPr/>
        </p:nvSpPr>
        <p:spPr bwMode="auto">
          <a:xfrm>
            <a:off x="737870" y="2633345"/>
            <a:ext cx="2263775" cy="350520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shell具有一般高级语言程序设计所具有的控制结构和其他的复杂功能，如if语句、case语句、循环结构及函数等。</a:t>
            </a:r>
          </a:p>
        </p:txBody>
      </p:sp>
      <p:grpSp>
        <p:nvGrpSpPr>
          <p:cNvPr id="12" name="组合 11"/>
          <p:cNvGrpSpPr/>
          <p:nvPr/>
        </p:nvGrpSpPr>
        <p:grpSpPr>
          <a:xfrm>
            <a:off x="3729355" y="3561080"/>
            <a:ext cx="7388860" cy="655320"/>
            <a:chOff x="6464" y="4360"/>
            <a:chExt cx="11636" cy="1032"/>
          </a:xfrm>
        </p:grpSpPr>
        <p:grpSp>
          <p:nvGrpSpPr>
            <p:cNvPr id="8" name="组合 7"/>
            <p:cNvGrpSpPr/>
            <p:nvPr/>
          </p:nvGrpSpPr>
          <p:grpSpPr>
            <a:xfrm>
              <a:off x="6464" y="4360"/>
              <a:ext cx="11637" cy="1032"/>
              <a:chOff x="6464" y="4360"/>
              <a:chExt cx="11637" cy="1032"/>
            </a:xfrm>
          </p:grpSpPr>
          <p:grpSp>
            <p:nvGrpSpPr>
              <p:cNvPr id="13" name="组合 12"/>
              <p:cNvGrpSpPr/>
              <p:nvPr/>
            </p:nvGrpSpPr>
            <p:grpSpPr>
              <a:xfrm>
                <a:off x="6464" y="4360"/>
                <a:ext cx="7749" cy="960"/>
                <a:chOff x="962" y="3633"/>
                <a:chExt cx="7526" cy="960"/>
              </a:xfrm>
            </p:grpSpPr>
            <p:sp>
              <p:nvSpPr>
                <p:cNvPr id="45" name="Text Box 44"/>
                <p:cNvSpPr txBox="1">
                  <a:spLocks noChangeArrowheads="1"/>
                </p:cNvSpPr>
                <p:nvPr/>
              </p:nvSpPr>
              <p:spPr bwMode="auto">
                <a:xfrm>
                  <a:off x="962" y="3633"/>
                  <a:ext cx="3954"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test命令的语法如下：</a:t>
                  </a:r>
                </a:p>
              </p:txBody>
            </p:sp>
            <p:grpSp>
              <p:nvGrpSpPr>
                <p:cNvPr id="15" name="组合 14"/>
                <p:cNvGrpSpPr/>
                <p:nvPr/>
              </p:nvGrpSpPr>
              <p:grpSpPr>
                <a:xfrm>
                  <a:off x="4916" y="3635"/>
                  <a:ext cx="3572" cy="958"/>
                  <a:chOff x="2039" y="4940"/>
                  <a:chExt cx="3572" cy="958"/>
                </a:xfrm>
              </p:grpSpPr>
              <p:sp>
                <p:nvSpPr>
                  <p:cNvPr id="16" name="流程图: 过程 15"/>
                  <p:cNvSpPr/>
                  <p:nvPr/>
                </p:nvSpPr>
                <p:spPr>
                  <a:xfrm>
                    <a:off x="2039" y="5023"/>
                    <a:ext cx="3173"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17" name="文本框 16"/>
                  <p:cNvSpPr txBox="1"/>
                  <p:nvPr/>
                </p:nvSpPr>
                <p:spPr>
                  <a:xfrm>
                    <a:off x="2112" y="4940"/>
                    <a:ext cx="3499"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test  条件表达式</a:t>
                    </a:r>
                  </a:p>
                </p:txBody>
              </p:sp>
            </p:grpSp>
          </p:grpSp>
          <p:grpSp>
            <p:nvGrpSpPr>
              <p:cNvPr id="7" name="组合 6"/>
              <p:cNvGrpSpPr/>
              <p:nvPr/>
            </p:nvGrpSpPr>
            <p:grpSpPr>
              <a:xfrm>
                <a:off x="14457" y="4408"/>
                <a:ext cx="3644" cy="984"/>
                <a:chOff x="14457" y="4408"/>
                <a:chExt cx="3644" cy="984"/>
              </a:xfrm>
            </p:grpSpPr>
            <p:sp>
              <p:nvSpPr>
                <p:cNvPr id="6" name="流程图: 过程 5"/>
                <p:cNvSpPr/>
                <p:nvPr/>
              </p:nvSpPr>
              <p:spPr>
                <a:xfrm>
                  <a:off x="14457" y="4517"/>
                  <a:ext cx="3267"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5" name="文本框 4"/>
                <p:cNvSpPr txBox="1"/>
                <p:nvPr/>
              </p:nvSpPr>
              <p:spPr>
                <a:xfrm>
                  <a:off x="14499" y="4408"/>
                  <a:ext cx="3602"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[条件表达式 ]</a:t>
                  </a:r>
                </a:p>
              </p:txBody>
            </p:sp>
          </p:grpSp>
        </p:grpSp>
        <p:sp>
          <p:nvSpPr>
            <p:cNvPr id="11" name="文本框 10"/>
            <p:cNvSpPr txBox="1"/>
            <p:nvPr/>
          </p:nvSpPr>
          <p:spPr>
            <a:xfrm>
              <a:off x="13802" y="4553"/>
              <a:ext cx="1152" cy="658"/>
            </a:xfrm>
            <a:prstGeom prst="rect">
              <a:avLst/>
            </a:prstGeom>
            <a:noFill/>
          </p:spPr>
          <p:txBody>
            <a:bodyPr wrap="square" rtlCol="0">
              <a:spAutoFit/>
            </a:bodyPr>
            <a:lstStyle/>
            <a:p>
              <a:r>
                <a:rPr lang="zh-CN" altLang="en-US" sz="2000" b="1">
                  <a:latin typeface="微软雅黑" panose="020B0503020204020204" pitchFamily="34" charset="-122"/>
                  <a:ea typeface="微软雅黑" panose="020B0503020204020204" pitchFamily="34" charset="-122"/>
                </a:rPr>
                <a:t>或</a:t>
              </a:r>
            </a:p>
          </p:txBody>
        </p:sp>
      </p:grpSp>
      <p:grpSp>
        <p:nvGrpSpPr>
          <p:cNvPr id="22" name="组合 21"/>
          <p:cNvGrpSpPr/>
          <p:nvPr/>
        </p:nvGrpSpPr>
        <p:grpSpPr>
          <a:xfrm>
            <a:off x="567055" y="1273175"/>
            <a:ext cx="3847465" cy="529590"/>
            <a:chOff x="7872" y="1833"/>
            <a:chExt cx="6059" cy="834"/>
          </a:xfrm>
        </p:grpSpPr>
        <p:sp>
          <p:nvSpPr>
            <p:cNvPr id="20" name="矩形 6"/>
            <p:cNvSpPr>
              <a:spLocks noChangeArrowheads="1"/>
            </p:cNvSpPr>
            <p:nvPr/>
          </p:nvSpPr>
          <p:spPr bwMode="auto">
            <a:xfrm>
              <a:off x="8383"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dirty="0">
                  <a:solidFill>
                    <a:srgbClr val="0066FF"/>
                  </a:solidFill>
                  <a:latin typeface="微软雅黑" panose="020B0503020204020204" pitchFamily="34" charset="-122"/>
                  <a:ea typeface="微软雅黑" panose="020B0503020204020204" pitchFamily="34" charset="-122"/>
                </a:rPr>
                <a:t>5.6.1  条件语句</a:t>
              </a:r>
            </a:p>
          </p:txBody>
        </p:sp>
        <p:sp>
          <p:nvSpPr>
            <p:cNvPr id="21" name="椭圆 20"/>
            <p:cNvSpPr/>
            <p:nvPr/>
          </p:nvSpPr>
          <p:spPr bwMode="auto">
            <a:xfrm>
              <a:off x="7872"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9" name="圆角矩形 8"/>
          <p:cNvSpPr/>
          <p:nvPr/>
        </p:nvSpPr>
        <p:spPr>
          <a:xfrm>
            <a:off x="3952875" y="4685030"/>
            <a:ext cx="6926580" cy="149225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test命令可以与多种系统运算符一起使用。这些运算符可以分为四类，即字符串比较、数字比较、文件操作符及逻辑操作符。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500"/>
                                        <p:tgtEl>
                                          <p:spTgt spid="3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left)">
                                      <p:cBhvr>
                                        <p:cTn id="18" dur="500"/>
                                        <p:tgtEl>
                                          <p:spTgt spid="18"/>
                                        </p:tgtEl>
                                      </p:cBhvr>
                                    </p:animEffect>
                                  </p:childTnLst>
                                </p:cTn>
                              </p:par>
                              <p:par>
                                <p:cTn id="19" presetID="22" presetClass="entr" presetSubtype="8"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par>
                          <p:cTn id="22" fill="hold">
                            <p:stCondLst>
                              <p:cond delay="1500"/>
                            </p:stCondLst>
                            <p:childTnLst>
                              <p:par>
                                <p:cTn id="23" presetID="23" presetClass="entr" presetSubtype="16" fill="hold" grpId="2"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 grpId="0" animBg="1"/>
      <p:bldP spid="9" grpId="0" animBg="1"/>
      <p:bldP spid="9" grpId="1" animBg="1"/>
      <p:bldP spid="9" grpId="2"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4" y="1854200"/>
            <a:ext cx="10826115" cy="44958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2" name="组合 31"/>
          <p:cNvGrpSpPr/>
          <p:nvPr/>
        </p:nvGrpSpPr>
        <p:grpSpPr>
          <a:xfrm>
            <a:off x="373558" y="2062480"/>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1．条件测试</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grpSp>
        <p:nvGrpSpPr>
          <p:cNvPr id="14" name="组合 13"/>
          <p:cNvGrpSpPr/>
          <p:nvPr/>
        </p:nvGrpSpPr>
        <p:grpSpPr>
          <a:xfrm>
            <a:off x="532130" y="2809240"/>
            <a:ext cx="3964940" cy="654050"/>
            <a:chOff x="838" y="3684"/>
            <a:chExt cx="6244" cy="1030"/>
          </a:xfrm>
        </p:grpSpPr>
        <p:cxnSp>
          <p:nvCxnSpPr>
            <p:cNvPr id="15" name="直接连接符 14"/>
            <p:cNvCxnSpPr/>
            <p:nvPr/>
          </p:nvCxnSpPr>
          <p:spPr>
            <a:xfrm>
              <a:off x="1972" y="4700"/>
              <a:ext cx="5110" cy="7"/>
            </a:xfrm>
            <a:prstGeom prst="line">
              <a:avLst/>
            </a:prstGeom>
            <a:ln w="25400">
              <a:solidFill>
                <a:srgbClr val="ED5326"/>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838" y="3684"/>
              <a:ext cx="6019" cy="1030"/>
              <a:chOff x="838" y="3684"/>
              <a:chExt cx="6019" cy="1030"/>
            </a:xfrm>
          </p:grpSpPr>
          <p:grpSp>
            <p:nvGrpSpPr>
              <p:cNvPr id="12" name="组合 11"/>
              <p:cNvGrpSpPr/>
              <p:nvPr/>
            </p:nvGrpSpPr>
            <p:grpSpPr>
              <a:xfrm>
                <a:off x="838" y="3684"/>
                <a:ext cx="834" cy="1031"/>
                <a:chOff x="3758308" y="2656863"/>
                <a:chExt cx="886838" cy="714378"/>
              </a:xfrm>
            </p:grpSpPr>
            <p:sp>
              <p:nvSpPr>
                <p:cNvPr id="13" name="等腰三角形 12"/>
                <p:cNvSpPr/>
                <p:nvPr/>
              </p:nvSpPr>
              <p:spPr>
                <a:xfrm rot="5400000">
                  <a:off x="3951695" y="2677789"/>
                  <a:ext cx="714378" cy="672525"/>
                </a:xfrm>
                <a:prstGeom prst="triangle">
                  <a:avLst>
                    <a:gd name="adj" fmla="val 52770"/>
                  </a:avLst>
                </a:prstGeom>
                <a:solidFill>
                  <a:schemeClr val="tx2">
                    <a:lumMod val="60000"/>
                    <a:lumOff val="40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sp>
              <p:nvSpPr>
                <p:cNvPr id="3" name="等腰三角形 2"/>
                <p:cNvSpPr/>
                <p:nvPr/>
              </p:nvSpPr>
              <p:spPr>
                <a:xfrm rot="5400000">
                  <a:off x="3737382" y="2677789"/>
                  <a:ext cx="714378" cy="672525"/>
                </a:xfrm>
                <a:prstGeom prst="triangle">
                  <a:avLst>
                    <a:gd name="adj" fmla="val 52770"/>
                  </a:avLst>
                </a:prstGeom>
                <a:solidFill>
                  <a:schemeClr val="bg1">
                    <a:lumMod val="85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grpSp>
          <p:sp>
            <p:nvSpPr>
              <p:cNvPr id="16" name="矩形 15"/>
              <p:cNvSpPr/>
              <p:nvPr/>
            </p:nvSpPr>
            <p:spPr>
              <a:xfrm>
                <a:off x="2117" y="3819"/>
                <a:ext cx="4741" cy="766"/>
              </a:xfrm>
              <a:prstGeom prst="rect">
                <a:avLst/>
              </a:prstGeom>
            </p:spPr>
            <p:txBody>
              <a:bodyPr wrap="square">
                <a:spAutoFit/>
              </a:bodyPr>
              <a:lstStyle/>
              <a:p>
                <a:r>
                  <a:rPr lang="zh-CN" altLang="en-US" sz="2400" b="1" dirty="0">
                    <a:solidFill>
                      <a:srgbClr val="0070C0"/>
                    </a:solidFill>
                    <a:sym typeface="+mn-ea"/>
                  </a:rPr>
                  <a:t>（1）字符串比较</a:t>
                </a:r>
                <a:r>
                  <a:rPr lang="zh-CN" altLang="en-US" sz="2400" b="1" dirty="0">
                    <a:solidFill>
                      <a:srgbClr val="0070C0"/>
                    </a:solidFill>
                    <a:latin typeface="微软雅黑" panose="020B0503020204020204" pitchFamily="34" charset="-122"/>
                    <a:ea typeface="微软雅黑" panose="020B0503020204020204" pitchFamily="34" charset="-122"/>
                    <a:sym typeface="+mn-ea"/>
                  </a:rPr>
                  <a:t>	</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sym typeface="+mn-ea"/>
                  </a:rPr>
                  <a:t> </a:t>
                </a:r>
              </a:p>
            </p:txBody>
          </p:sp>
        </p:grpSp>
      </p:grpSp>
      <p:sp>
        <p:nvSpPr>
          <p:cNvPr id="5" name="Text Box 44"/>
          <p:cNvSpPr txBox="1">
            <a:spLocks noChangeArrowheads="1"/>
          </p:cNvSpPr>
          <p:nvPr/>
        </p:nvSpPr>
        <p:spPr bwMode="auto">
          <a:xfrm>
            <a:off x="252095" y="3858260"/>
            <a:ext cx="7446010" cy="20421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b="1" dirty="0">
                <a:solidFill>
                  <a:srgbClr val="0070C0"/>
                </a:solidFill>
              </a:rPr>
              <a:t>s1=s2	</a:t>
            </a:r>
            <a:r>
              <a:rPr lang="zh-CN" altLang="en-US" sz="2000" dirty="0">
                <a:solidFill>
                  <a:schemeClr val="tx1">
                    <a:lumMod val="85000"/>
                    <a:lumOff val="15000"/>
                  </a:schemeClr>
                </a:solidFill>
              </a:rPr>
              <a:t>         如果s1等于s2，则测试条件为真。</a:t>
            </a:r>
          </a:p>
          <a:p>
            <a:pPr eaLnBrk="1" latinLnBrk="0" hangingPunct="1">
              <a:lnSpc>
                <a:spcPct val="160000"/>
              </a:lnSpc>
            </a:pPr>
            <a:r>
              <a:rPr lang="zh-CN" altLang="en-US" sz="2000" b="1" dirty="0">
                <a:solidFill>
                  <a:srgbClr val="0070C0"/>
                </a:solidFill>
              </a:rPr>
              <a:t>s1!=s2</a:t>
            </a:r>
            <a:r>
              <a:rPr lang="zh-CN" altLang="en-US" sz="2000" dirty="0">
                <a:solidFill>
                  <a:schemeClr val="tx1">
                    <a:lumMod val="85000"/>
                    <a:lumOff val="15000"/>
                  </a:schemeClr>
                </a:solidFill>
              </a:rPr>
              <a:t>	         如果s1不等于s2，则测试条件为真。</a:t>
            </a:r>
          </a:p>
          <a:p>
            <a:pPr eaLnBrk="1" latinLnBrk="0" hangingPunct="1">
              <a:lnSpc>
                <a:spcPct val="160000"/>
              </a:lnSpc>
            </a:pPr>
            <a:r>
              <a:rPr lang="zh-CN" altLang="en-US" sz="2000" b="1" dirty="0">
                <a:solidFill>
                  <a:srgbClr val="0070C0"/>
                </a:solidFill>
              </a:rPr>
              <a:t>-n s1</a:t>
            </a:r>
            <a:r>
              <a:rPr lang="zh-CN" altLang="en-US" sz="2000" dirty="0">
                <a:solidFill>
                  <a:schemeClr val="tx1">
                    <a:lumMod val="85000"/>
                    <a:lumOff val="15000"/>
                  </a:schemeClr>
                </a:solidFill>
              </a:rPr>
              <a:t>	         如果字符串s1的长度大于0，则测试条件为真。</a:t>
            </a:r>
          </a:p>
          <a:p>
            <a:pPr eaLnBrk="1" latinLnBrk="0" hangingPunct="1">
              <a:lnSpc>
                <a:spcPct val="160000"/>
              </a:lnSpc>
            </a:pPr>
            <a:r>
              <a:rPr lang="zh-CN" altLang="en-US" sz="2000" b="1" dirty="0">
                <a:solidFill>
                  <a:srgbClr val="FF0000"/>
                </a:solidFill>
              </a:rPr>
              <a:t>-z s1</a:t>
            </a:r>
            <a:r>
              <a:rPr lang="zh-CN" altLang="en-US" sz="2000" dirty="0">
                <a:solidFill>
                  <a:srgbClr val="FF0000"/>
                </a:solidFill>
              </a:rPr>
              <a:t>	         如果字符串s1的长度等于0，则测试条件为真。</a:t>
            </a:r>
          </a:p>
        </p:txBody>
      </p:sp>
      <p:pic>
        <p:nvPicPr>
          <p:cNvPr id="277506" name="图片 1" descr="合作"/>
          <p:cNvPicPr>
            <a:picLocks noGrp="1" noChangeAspect="1"/>
          </p:cNvPicPr>
          <p:nvPr/>
        </p:nvPicPr>
        <p:blipFill>
          <a:blip r:embed="rId2" cstate="print">
            <a:clrChange>
              <a:clrFrom>
                <a:srgbClr val="FFFFFF"/>
              </a:clrFrom>
              <a:clrTo>
                <a:srgbClr val="FFFFFF">
                  <a:alpha val="0"/>
                </a:srgbClr>
              </a:clrTo>
            </a:clrChange>
          </a:blip>
          <a:stretch>
            <a:fillRect/>
          </a:stretch>
        </p:blipFill>
        <p:spPr>
          <a:xfrm>
            <a:off x="7447280" y="2505075"/>
            <a:ext cx="3752215" cy="375221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par>
                                <p:cTn id="13" presetID="2" presetClass="entr" presetSubtype="2" fill="hold" nodeType="withEffect">
                                  <p:stCondLst>
                                    <p:cond delay="0"/>
                                  </p:stCondLst>
                                  <p:childTnLst>
                                    <p:set>
                                      <p:cBhvr>
                                        <p:cTn id="14" dur="1" fill="hold">
                                          <p:stCondLst>
                                            <p:cond delay="0"/>
                                          </p:stCondLst>
                                        </p:cTn>
                                        <p:tgtEl>
                                          <p:spTgt spid="277506"/>
                                        </p:tgtEl>
                                        <p:attrNameLst>
                                          <p:attrName>style.visibility</p:attrName>
                                        </p:attrNameLst>
                                      </p:cBhvr>
                                      <p:to>
                                        <p:strVal val="visible"/>
                                      </p:to>
                                    </p:set>
                                    <p:anim calcmode="lin" valueType="num">
                                      <p:cBhvr additive="base">
                                        <p:cTn id="15" dur="500" fill="hold"/>
                                        <p:tgtEl>
                                          <p:spTgt spid="277506"/>
                                        </p:tgtEl>
                                        <p:attrNameLst>
                                          <p:attrName>ppt_x</p:attrName>
                                        </p:attrNameLst>
                                      </p:cBhvr>
                                      <p:tavLst>
                                        <p:tav tm="0">
                                          <p:val>
                                            <p:strVal val="1+#ppt_w/2"/>
                                          </p:val>
                                        </p:tav>
                                        <p:tav tm="100000">
                                          <p:val>
                                            <p:strVal val="#ppt_x"/>
                                          </p:val>
                                        </p:tav>
                                      </p:tavLst>
                                    </p:anim>
                                    <p:anim calcmode="lin" valueType="num">
                                      <p:cBhvr additive="base">
                                        <p:cTn id="16" dur="500" fill="hold"/>
                                        <p:tgtEl>
                                          <p:spTgt spid="2775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16012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2" name="组合 31"/>
          <p:cNvGrpSpPr/>
          <p:nvPr/>
        </p:nvGrpSpPr>
        <p:grpSpPr>
          <a:xfrm>
            <a:off x="373558" y="1871980"/>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1．条件测试</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20" name="Text Box 44"/>
          <p:cNvSpPr txBox="1">
            <a:spLocks noChangeArrowheads="1"/>
          </p:cNvSpPr>
          <p:nvPr/>
        </p:nvSpPr>
        <p:spPr bwMode="auto">
          <a:xfrm>
            <a:off x="933450" y="3279140"/>
            <a:ext cx="8161655" cy="30175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b="1" dirty="0">
                <a:solidFill>
                  <a:srgbClr val="FF0000"/>
                </a:solidFill>
              </a:rPr>
              <a:t>n1 -eq n2</a:t>
            </a:r>
            <a:r>
              <a:rPr lang="zh-CN" altLang="en-US" sz="2000" dirty="0">
                <a:solidFill>
                  <a:srgbClr val="FF0000"/>
                </a:solidFill>
              </a:rPr>
              <a:t>		如果n1等于n2，则测试条件为真。</a:t>
            </a:r>
          </a:p>
          <a:p>
            <a:pPr eaLnBrk="1" latinLnBrk="0" hangingPunct="1">
              <a:lnSpc>
                <a:spcPct val="160000"/>
              </a:lnSpc>
            </a:pPr>
            <a:r>
              <a:rPr lang="zh-CN" altLang="en-US" sz="2000" b="1" dirty="0">
                <a:solidFill>
                  <a:srgbClr val="FF0000"/>
                </a:solidFill>
              </a:rPr>
              <a:t>n1 -ne n2</a:t>
            </a:r>
            <a:r>
              <a:rPr lang="zh-CN" altLang="en-US" sz="2000" dirty="0">
                <a:solidFill>
                  <a:srgbClr val="FF0000"/>
                </a:solidFill>
              </a:rPr>
              <a:t>		如果n1不等于n2，则测试条件为真。</a:t>
            </a:r>
          </a:p>
          <a:p>
            <a:pPr eaLnBrk="1" latinLnBrk="0" hangingPunct="1">
              <a:lnSpc>
                <a:spcPct val="160000"/>
              </a:lnSpc>
            </a:pPr>
            <a:r>
              <a:rPr lang="zh-CN" altLang="en-US" sz="2000" b="1" dirty="0">
                <a:solidFill>
                  <a:srgbClr val="FF0000"/>
                </a:solidFill>
              </a:rPr>
              <a:t>n1 -gt n2</a:t>
            </a:r>
            <a:r>
              <a:rPr lang="zh-CN" altLang="en-US" sz="2000" dirty="0">
                <a:solidFill>
                  <a:srgbClr val="FF0000"/>
                </a:solidFill>
              </a:rPr>
              <a:t>		如果n1大于n2，则测试条件为真。</a:t>
            </a:r>
          </a:p>
          <a:p>
            <a:pPr eaLnBrk="1" latinLnBrk="0" hangingPunct="1">
              <a:lnSpc>
                <a:spcPct val="160000"/>
              </a:lnSpc>
            </a:pPr>
            <a:r>
              <a:rPr lang="zh-CN" altLang="en-US" sz="2000" b="1" dirty="0">
                <a:solidFill>
                  <a:srgbClr val="FF0000"/>
                </a:solidFill>
              </a:rPr>
              <a:t>n1 -ge n2</a:t>
            </a:r>
            <a:r>
              <a:rPr lang="zh-CN" altLang="en-US" sz="2000" dirty="0">
                <a:solidFill>
                  <a:srgbClr val="FF0000"/>
                </a:solidFill>
              </a:rPr>
              <a:t>		如果n1大于或等于n2，则测试条件为真。</a:t>
            </a:r>
          </a:p>
          <a:p>
            <a:pPr eaLnBrk="1" latinLnBrk="0" hangingPunct="1">
              <a:lnSpc>
                <a:spcPct val="160000"/>
              </a:lnSpc>
            </a:pPr>
            <a:r>
              <a:rPr lang="zh-CN" altLang="en-US" sz="2000" b="1" dirty="0">
                <a:solidFill>
                  <a:srgbClr val="FF0000"/>
                </a:solidFill>
              </a:rPr>
              <a:t>n1 -lt n2</a:t>
            </a:r>
            <a:r>
              <a:rPr lang="zh-CN" altLang="en-US" sz="2000" dirty="0">
                <a:solidFill>
                  <a:srgbClr val="FF0000"/>
                </a:solidFill>
              </a:rPr>
              <a:t>		如果n1小于n2，则测试条件为真。</a:t>
            </a:r>
          </a:p>
          <a:p>
            <a:pPr eaLnBrk="1" latinLnBrk="0" hangingPunct="1">
              <a:lnSpc>
                <a:spcPct val="160000"/>
              </a:lnSpc>
            </a:pPr>
            <a:r>
              <a:rPr lang="zh-CN" altLang="en-US" sz="2000" b="1" dirty="0">
                <a:solidFill>
                  <a:srgbClr val="FF0000"/>
                </a:solidFill>
              </a:rPr>
              <a:t>n1 -le n2</a:t>
            </a:r>
            <a:r>
              <a:rPr lang="zh-CN" altLang="en-US" sz="2000" dirty="0">
                <a:solidFill>
                  <a:srgbClr val="FF0000"/>
                </a:solidFill>
              </a:rPr>
              <a:t>		如果n1小于或者等于n2，则测试条件为真</a:t>
            </a:r>
            <a:r>
              <a:rPr lang="zh-CN" altLang="en-US" sz="2000" dirty="0">
                <a:solidFill>
                  <a:schemeClr val="tx1">
                    <a:lumMod val="85000"/>
                    <a:lumOff val="15000"/>
                  </a:schemeClr>
                </a:solidFill>
              </a:rPr>
              <a:t>。</a:t>
            </a:r>
          </a:p>
        </p:txBody>
      </p:sp>
      <p:grpSp>
        <p:nvGrpSpPr>
          <p:cNvPr id="4" name="组合 3"/>
          <p:cNvGrpSpPr/>
          <p:nvPr/>
        </p:nvGrpSpPr>
        <p:grpSpPr>
          <a:xfrm>
            <a:off x="532130" y="2440940"/>
            <a:ext cx="3964940" cy="654050"/>
            <a:chOff x="838" y="3684"/>
            <a:chExt cx="6244" cy="1030"/>
          </a:xfrm>
        </p:grpSpPr>
        <p:grpSp>
          <p:nvGrpSpPr>
            <p:cNvPr id="12" name="组合 11"/>
            <p:cNvGrpSpPr/>
            <p:nvPr/>
          </p:nvGrpSpPr>
          <p:grpSpPr>
            <a:xfrm>
              <a:off x="838" y="3684"/>
              <a:ext cx="834" cy="1031"/>
              <a:chOff x="3758308" y="2656863"/>
              <a:chExt cx="886838" cy="714378"/>
            </a:xfrm>
          </p:grpSpPr>
          <p:sp>
            <p:nvSpPr>
              <p:cNvPr id="13" name="等腰三角形 12"/>
              <p:cNvSpPr/>
              <p:nvPr/>
            </p:nvSpPr>
            <p:spPr>
              <a:xfrm rot="5400000">
                <a:off x="3951695" y="2677789"/>
                <a:ext cx="714378" cy="672525"/>
              </a:xfrm>
              <a:prstGeom prst="triangle">
                <a:avLst>
                  <a:gd name="adj" fmla="val 52770"/>
                </a:avLst>
              </a:prstGeom>
              <a:solidFill>
                <a:schemeClr val="tx2">
                  <a:lumMod val="60000"/>
                  <a:lumOff val="40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sp>
            <p:nvSpPr>
              <p:cNvPr id="3" name="等腰三角形 2"/>
              <p:cNvSpPr/>
              <p:nvPr/>
            </p:nvSpPr>
            <p:spPr>
              <a:xfrm rot="5400000">
                <a:off x="3737382" y="2677789"/>
                <a:ext cx="714378" cy="672525"/>
              </a:xfrm>
              <a:prstGeom prst="triangle">
                <a:avLst>
                  <a:gd name="adj" fmla="val 52770"/>
                </a:avLst>
              </a:prstGeom>
              <a:solidFill>
                <a:schemeClr val="bg1">
                  <a:lumMod val="85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grpSp>
        <p:cxnSp>
          <p:nvCxnSpPr>
            <p:cNvPr id="15" name="直接连接符 14"/>
            <p:cNvCxnSpPr/>
            <p:nvPr/>
          </p:nvCxnSpPr>
          <p:spPr>
            <a:xfrm>
              <a:off x="1972" y="4700"/>
              <a:ext cx="5110" cy="7"/>
            </a:xfrm>
            <a:prstGeom prst="line">
              <a:avLst/>
            </a:prstGeom>
            <a:ln w="25400">
              <a:solidFill>
                <a:srgbClr val="ED5326"/>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2117" y="3819"/>
              <a:ext cx="4741" cy="761"/>
            </a:xfrm>
            <a:prstGeom prst="rect">
              <a:avLst/>
            </a:prstGeom>
          </p:spPr>
          <p:txBody>
            <a:bodyPr wrap="square">
              <a:spAutoFit/>
            </a:bodyPr>
            <a:lstStyle/>
            <a:p>
              <a:r>
                <a:rPr lang="zh-CN" altLang="en-US" sz="2400" b="1" dirty="0">
                  <a:solidFill>
                    <a:srgbClr val="0070C0"/>
                  </a:solidFill>
                  <a:latin typeface="微软雅黑" panose="020B0503020204020204" pitchFamily="34" charset="-122"/>
                  <a:ea typeface="微软雅黑" panose="020B0503020204020204" pitchFamily="34" charset="-122"/>
                  <a:sym typeface="+mn-ea"/>
                </a:rPr>
                <a:t>（2）数字比较</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sym typeface="+mn-ea"/>
                </a:rPr>
                <a:t> </a:t>
              </a:r>
            </a:p>
          </p:txBody>
        </p:sp>
      </p:grpSp>
      <p:pic>
        <p:nvPicPr>
          <p:cNvPr id="5" name="图片 4" descr="320651773818793763ae03a0473bed57"/>
          <p:cNvPicPr>
            <a:picLocks noChangeAspect="1"/>
          </p:cNvPicPr>
          <p:nvPr/>
        </p:nvPicPr>
        <p:blipFill>
          <a:blip r:embed="rId2" cstate="print"/>
          <a:stretch>
            <a:fillRect/>
          </a:stretch>
        </p:blipFill>
        <p:spPr>
          <a:xfrm>
            <a:off x="8643620" y="1158875"/>
            <a:ext cx="3179445" cy="201866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1+#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2" name="组合 31"/>
          <p:cNvGrpSpPr/>
          <p:nvPr/>
        </p:nvGrpSpPr>
        <p:grpSpPr>
          <a:xfrm>
            <a:off x="373558" y="1821180"/>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1．条件测试</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20" name="Text Box 44"/>
          <p:cNvSpPr txBox="1">
            <a:spLocks noChangeArrowheads="1"/>
          </p:cNvSpPr>
          <p:nvPr/>
        </p:nvSpPr>
        <p:spPr bwMode="auto">
          <a:xfrm>
            <a:off x="586740" y="3255645"/>
            <a:ext cx="8497570" cy="3194721"/>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r>
              <a:rPr lang="zh-CN" altLang="en-US" sz="1800" b="1" dirty="0">
                <a:solidFill>
                  <a:srgbClr val="FF0000"/>
                </a:solidFill>
              </a:rPr>
              <a:t>-r 文件名	</a:t>
            </a:r>
            <a:r>
              <a:rPr lang="zh-CN" altLang="en-US" sz="1800" dirty="0">
                <a:solidFill>
                  <a:srgbClr val="FF0000"/>
                </a:solidFill>
              </a:rPr>
              <a:t>如果文件存在且是用户可读的，则测试条件为真</a:t>
            </a:r>
            <a:r>
              <a:rPr lang="zh-CN" altLang="en-US" sz="1800" b="1" dirty="0">
                <a:solidFill>
                  <a:srgbClr val="FF0000"/>
                </a:solidFill>
              </a:rPr>
              <a:t>。</a:t>
            </a:r>
          </a:p>
          <a:p>
            <a:pPr eaLnBrk="1" latinLnBrk="0" hangingPunct="1">
              <a:lnSpc>
                <a:spcPct val="140000"/>
              </a:lnSpc>
            </a:pPr>
            <a:r>
              <a:rPr lang="zh-CN" altLang="en-US" sz="1800" b="1" dirty="0">
                <a:solidFill>
                  <a:srgbClr val="FF0000"/>
                </a:solidFill>
              </a:rPr>
              <a:t>-w 文件名	</a:t>
            </a:r>
            <a:r>
              <a:rPr lang="zh-CN" altLang="en-US" sz="1800" dirty="0">
                <a:solidFill>
                  <a:srgbClr val="FF0000"/>
                </a:solidFill>
              </a:rPr>
              <a:t>如果文件存在且是用户可写的，则测试条件为真。</a:t>
            </a:r>
          </a:p>
          <a:p>
            <a:pPr eaLnBrk="1" latinLnBrk="0" hangingPunct="1">
              <a:lnSpc>
                <a:spcPct val="140000"/>
              </a:lnSpc>
            </a:pPr>
            <a:r>
              <a:rPr lang="zh-CN" altLang="en-US" sz="1800" b="1" dirty="0">
                <a:solidFill>
                  <a:srgbClr val="FF0000"/>
                </a:solidFill>
              </a:rPr>
              <a:t>-x 文件名	</a:t>
            </a:r>
            <a:r>
              <a:rPr lang="zh-CN" altLang="en-US" sz="1800" dirty="0">
                <a:solidFill>
                  <a:srgbClr val="FF0000"/>
                </a:solidFill>
              </a:rPr>
              <a:t>如果文件存在且是用户可执行的，则测试条件为真。</a:t>
            </a:r>
          </a:p>
          <a:p>
            <a:pPr eaLnBrk="1" latinLnBrk="0" hangingPunct="1">
              <a:lnSpc>
                <a:spcPct val="140000"/>
              </a:lnSpc>
            </a:pPr>
            <a:r>
              <a:rPr lang="zh-CN" altLang="en-US" sz="1800" b="1" dirty="0">
                <a:solidFill>
                  <a:srgbClr val="FF0000"/>
                </a:solidFill>
              </a:rPr>
              <a:t>-d 文件名	</a:t>
            </a:r>
            <a:r>
              <a:rPr lang="zh-CN" altLang="en-US" sz="1800" dirty="0">
                <a:solidFill>
                  <a:srgbClr val="FF0000"/>
                </a:solidFill>
              </a:rPr>
              <a:t>如果文件存在且是目录文件，则测试条件为真。</a:t>
            </a:r>
          </a:p>
          <a:p>
            <a:pPr eaLnBrk="1" latinLnBrk="0" hangingPunct="1">
              <a:lnSpc>
                <a:spcPct val="140000"/>
              </a:lnSpc>
            </a:pPr>
            <a:r>
              <a:rPr lang="zh-CN" altLang="en-US" sz="1800" b="1" dirty="0">
                <a:solidFill>
                  <a:srgbClr val="FF0000"/>
                </a:solidFill>
              </a:rPr>
              <a:t>-f 文件名	</a:t>
            </a:r>
            <a:r>
              <a:rPr lang="en-US" altLang="zh-CN" sz="1800" b="1" dirty="0">
                <a:solidFill>
                  <a:srgbClr val="FF0000"/>
                </a:solidFill>
              </a:rPr>
              <a:t>	</a:t>
            </a:r>
            <a:r>
              <a:rPr lang="zh-CN" altLang="en-US" sz="1800" dirty="0">
                <a:solidFill>
                  <a:srgbClr val="FF0000"/>
                </a:solidFill>
              </a:rPr>
              <a:t>如果文件存在且是普通文件，则测试条件为真。</a:t>
            </a:r>
          </a:p>
          <a:p>
            <a:pPr eaLnBrk="1" latinLnBrk="0" hangingPunct="1">
              <a:lnSpc>
                <a:spcPct val="140000"/>
              </a:lnSpc>
            </a:pPr>
            <a:r>
              <a:rPr lang="zh-CN" altLang="en-US" sz="1800" b="1" dirty="0">
                <a:solidFill>
                  <a:srgbClr val="0070C0"/>
                </a:solidFill>
              </a:rPr>
              <a:t>-b 文件名	</a:t>
            </a:r>
            <a:r>
              <a:rPr lang="zh-CN" altLang="en-US" sz="1800" dirty="0">
                <a:solidFill>
                  <a:schemeClr val="tx1">
                    <a:lumMod val="85000"/>
                    <a:lumOff val="15000"/>
                  </a:schemeClr>
                </a:solidFill>
              </a:rPr>
              <a:t>如果文件存在且是块文件，则测试条件为真。</a:t>
            </a:r>
          </a:p>
          <a:p>
            <a:pPr eaLnBrk="1" latinLnBrk="0" hangingPunct="1">
              <a:lnSpc>
                <a:spcPct val="140000"/>
              </a:lnSpc>
            </a:pPr>
            <a:r>
              <a:rPr lang="zh-CN" altLang="en-US" sz="1800" b="1" dirty="0">
                <a:solidFill>
                  <a:srgbClr val="0070C0"/>
                </a:solidFill>
              </a:rPr>
              <a:t>-c 文件名	</a:t>
            </a:r>
            <a:r>
              <a:rPr lang="en-US" altLang="zh-CN" sz="1800" b="1" dirty="0">
                <a:solidFill>
                  <a:srgbClr val="0070C0"/>
                </a:solidFill>
              </a:rPr>
              <a:t>	</a:t>
            </a:r>
            <a:r>
              <a:rPr lang="zh-CN" altLang="en-US" sz="1800" dirty="0">
                <a:solidFill>
                  <a:schemeClr val="tx1">
                    <a:lumMod val="85000"/>
                    <a:lumOff val="15000"/>
                  </a:schemeClr>
                </a:solidFill>
              </a:rPr>
              <a:t>如果文件存在且是字符文件，则测试条件为真。</a:t>
            </a:r>
          </a:p>
          <a:p>
            <a:pPr eaLnBrk="1" latinLnBrk="0" hangingPunct="1">
              <a:lnSpc>
                <a:spcPct val="140000"/>
              </a:lnSpc>
            </a:pPr>
            <a:r>
              <a:rPr lang="zh-CN" altLang="en-US" sz="1800" b="1" dirty="0">
                <a:solidFill>
                  <a:srgbClr val="0070C0"/>
                </a:solidFill>
              </a:rPr>
              <a:t>-s 文件名	</a:t>
            </a:r>
            <a:r>
              <a:rPr lang="en-US" altLang="zh-CN" sz="1800" b="1" dirty="0">
                <a:solidFill>
                  <a:srgbClr val="0070C0"/>
                </a:solidFill>
              </a:rPr>
              <a:t>	</a:t>
            </a:r>
            <a:r>
              <a:rPr lang="zh-CN" altLang="en-US" sz="1800" dirty="0">
                <a:solidFill>
                  <a:schemeClr val="tx1">
                    <a:lumMod val="85000"/>
                    <a:lumOff val="15000"/>
                  </a:schemeClr>
                </a:solidFill>
              </a:rPr>
              <a:t>如果文件存在且长度大于0，则测试条件为真。</a:t>
            </a:r>
          </a:p>
        </p:txBody>
      </p:sp>
      <p:grpSp>
        <p:nvGrpSpPr>
          <p:cNvPr id="3" name="组合 2"/>
          <p:cNvGrpSpPr/>
          <p:nvPr/>
        </p:nvGrpSpPr>
        <p:grpSpPr>
          <a:xfrm>
            <a:off x="588010" y="2485390"/>
            <a:ext cx="3964940" cy="657860"/>
            <a:chOff x="4966" y="2694"/>
            <a:chExt cx="6244" cy="1036"/>
          </a:xfrm>
        </p:grpSpPr>
        <p:grpSp>
          <p:nvGrpSpPr>
            <p:cNvPr id="12" name="组合 11"/>
            <p:cNvGrpSpPr/>
            <p:nvPr/>
          </p:nvGrpSpPr>
          <p:grpSpPr>
            <a:xfrm>
              <a:off x="4966" y="2700"/>
              <a:ext cx="834" cy="1031"/>
              <a:chOff x="3758308" y="2656863"/>
              <a:chExt cx="886838" cy="714378"/>
            </a:xfrm>
          </p:grpSpPr>
          <p:sp>
            <p:nvSpPr>
              <p:cNvPr id="13" name="等腰三角形 12"/>
              <p:cNvSpPr/>
              <p:nvPr/>
            </p:nvSpPr>
            <p:spPr>
              <a:xfrm rot="5400000">
                <a:off x="3951695" y="2677789"/>
                <a:ext cx="714378" cy="672525"/>
              </a:xfrm>
              <a:prstGeom prst="triangle">
                <a:avLst>
                  <a:gd name="adj" fmla="val 52770"/>
                </a:avLst>
              </a:prstGeom>
              <a:solidFill>
                <a:schemeClr val="tx2">
                  <a:lumMod val="60000"/>
                  <a:lumOff val="40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sp>
            <p:nvSpPr>
              <p:cNvPr id="4" name="等腰三角形 3"/>
              <p:cNvSpPr/>
              <p:nvPr/>
            </p:nvSpPr>
            <p:spPr>
              <a:xfrm rot="5400000">
                <a:off x="3737382" y="2677789"/>
                <a:ext cx="714378" cy="672525"/>
              </a:xfrm>
              <a:prstGeom prst="triangle">
                <a:avLst>
                  <a:gd name="adj" fmla="val 52770"/>
                </a:avLst>
              </a:prstGeom>
              <a:solidFill>
                <a:schemeClr val="bg1">
                  <a:lumMod val="85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grpSp>
        <p:cxnSp>
          <p:nvCxnSpPr>
            <p:cNvPr id="15" name="直接连接符 14"/>
            <p:cNvCxnSpPr/>
            <p:nvPr/>
          </p:nvCxnSpPr>
          <p:spPr>
            <a:xfrm>
              <a:off x="6100" y="3644"/>
              <a:ext cx="5110" cy="7"/>
            </a:xfrm>
            <a:prstGeom prst="line">
              <a:avLst/>
            </a:prstGeom>
            <a:ln w="25400">
              <a:solidFill>
                <a:srgbClr val="ED5326"/>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6285" y="2694"/>
              <a:ext cx="4741" cy="761"/>
            </a:xfrm>
            <a:prstGeom prst="rect">
              <a:avLst/>
            </a:prstGeom>
          </p:spPr>
          <p:txBody>
            <a:bodyPr wrap="square">
              <a:spAutoFit/>
            </a:bodyPr>
            <a:lstStyle/>
            <a:p>
              <a:r>
                <a:rPr lang="zh-CN" altLang="en-US" sz="2400" b="1" dirty="0">
                  <a:solidFill>
                    <a:srgbClr val="0070C0"/>
                  </a:solidFill>
                  <a:latin typeface="微软雅黑" panose="020B0503020204020204" pitchFamily="34" charset="-122"/>
                  <a:ea typeface="微软雅黑" panose="020B0503020204020204" pitchFamily="34" charset="-122"/>
                  <a:sym typeface="+mn-ea"/>
                </a:rPr>
                <a:t>（3）文件操作符</a:t>
              </a: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sym typeface="+mn-ea"/>
                </a:rPr>
                <a:t> </a:t>
              </a:r>
            </a:p>
          </p:txBody>
        </p:sp>
      </p:grpSp>
      <p:pic>
        <p:nvPicPr>
          <p:cNvPr id="21" name="图片 20" descr="320651773818793763ae03a0473bed57"/>
          <p:cNvPicPr>
            <a:picLocks noChangeAspect="1"/>
          </p:cNvPicPr>
          <p:nvPr/>
        </p:nvPicPr>
        <p:blipFill>
          <a:blip r:embed="rId2" cstate="print"/>
          <a:stretch>
            <a:fillRect/>
          </a:stretch>
        </p:blipFill>
        <p:spPr>
          <a:xfrm>
            <a:off x="8643620" y="1158875"/>
            <a:ext cx="3179445" cy="201866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1+#ppt_w/2"/>
                                          </p:val>
                                        </p:tav>
                                        <p:tav tm="100000">
                                          <p:val>
                                            <p:strVal val="#ppt_x"/>
                                          </p:val>
                                        </p:tav>
                                      </p:tavLst>
                                    </p:anim>
                                    <p:anim calcmode="lin" valueType="num">
                                      <p:cBhvr additive="base">
                                        <p:cTn id="17"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871980"/>
            <a:ext cx="11251565" cy="426212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3" name="组合 2"/>
          <p:cNvGrpSpPr/>
          <p:nvPr/>
        </p:nvGrpSpPr>
        <p:grpSpPr>
          <a:xfrm>
            <a:off x="374015" y="1164590"/>
            <a:ext cx="3847465" cy="530225"/>
            <a:chOff x="7840" y="1833"/>
            <a:chExt cx="6059" cy="835"/>
          </a:xfrm>
        </p:grpSpPr>
        <p:sp>
          <p:nvSpPr>
            <p:cNvPr id="4"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5" name="椭圆 4"/>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6" name="组合 5"/>
          <p:cNvGrpSpPr/>
          <p:nvPr/>
        </p:nvGrpSpPr>
        <p:grpSpPr>
          <a:xfrm>
            <a:off x="373558" y="1998980"/>
            <a:ext cx="2583180" cy="669290"/>
            <a:chOff x="9606" y="5617"/>
            <a:chExt cx="3705" cy="1054"/>
          </a:xfrm>
        </p:grpSpPr>
        <p:sp>
          <p:nvSpPr>
            <p:cNvPr id="7" name="矩形 6"/>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1．条件测试</a:t>
              </a:r>
            </a:p>
          </p:txBody>
        </p:sp>
        <p:sp>
          <p:nvSpPr>
            <p:cNvPr id="8"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17" name="Text Box 44"/>
          <p:cNvSpPr txBox="1">
            <a:spLocks noChangeArrowheads="1"/>
          </p:cNvSpPr>
          <p:nvPr/>
        </p:nvSpPr>
        <p:spPr bwMode="auto">
          <a:xfrm>
            <a:off x="565785" y="3536315"/>
            <a:ext cx="11473180" cy="219456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40000"/>
              </a:lnSpc>
            </a:pPr>
            <a:endParaRPr lang="zh-CN" altLang="en-US" sz="2000" dirty="0">
              <a:solidFill>
                <a:schemeClr val="tx1">
                  <a:lumMod val="85000"/>
                  <a:lumOff val="15000"/>
                </a:schemeClr>
              </a:solidFill>
            </a:endParaRPr>
          </a:p>
          <a:p>
            <a:pPr eaLnBrk="1" latinLnBrk="0" hangingPunct="1">
              <a:lnSpc>
                <a:spcPct val="140000"/>
              </a:lnSpc>
            </a:pPr>
            <a:r>
              <a:rPr lang="zh-CN" altLang="en-US" sz="2000" dirty="0">
                <a:solidFill>
                  <a:schemeClr val="tx1">
                    <a:lumMod val="85000"/>
                    <a:lumOff val="15000"/>
                  </a:schemeClr>
                </a:solidFill>
              </a:rPr>
              <a:t>逻辑操作符用于根据逻辑规则比较表达式。下面这些字符表示NOT、AND和OR。</a:t>
            </a:r>
          </a:p>
          <a:p>
            <a:pPr eaLnBrk="1" latinLnBrk="0" hangingPunct="1">
              <a:lnSpc>
                <a:spcPct val="140000"/>
              </a:lnSpc>
            </a:pPr>
            <a:r>
              <a:rPr lang="zh-CN" altLang="en-US" sz="2000" b="1" dirty="0">
                <a:solidFill>
                  <a:srgbClr val="0070C0"/>
                </a:solidFill>
              </a:rPr>
              <a:t>!逻辑表达式				</a:t>
            </a:r>
            <a:r>
              <a:rPr lang="zh-CN" altLang="en-US" sz="2000" dirty="0">
                <a:solidFill>
                  <a:schemeClr val="tx1">
                    <a:lumMod val="85000"/>
                    <a:lumOff val="15000"/>
                  </a:schemeClr>
                </a:solidFill>
              </a:rPr>
              <a:t>对一个逻辑表达式求反。</a:t>
            </a:r>
          </a:p>
          <a:p>
            <a:pPr eaLnBrk="1" latinLnBrk="0" hangingPunct="1">
              <a:lnSpc>
                <a:spcPct val="130000"/>
              </a:lnSpc>
            </a:pPr>
            <a:r>
              <a:rPr lang="zh-CN" altLang="en-US" sz="2000" b="1" dirty="0">
                <a:solidFill>
                  <a:srgbClr val="0070C0"/>
                </a:solidFill>
              </a:rPr>
              <a:t>逻辑表达式 -a逻辑表达式	</a:t>
            </a:r>
            <a:r>
              <a:rPr lang="zh-CN" altLang="en-US" sz="2000" dirty="0">
                <a:solidFill>
                  <a:schemeClr val="tx1">
                    <a:lumMod val="85000"/>
                    <a:lumOff val="15000"/>
                  </a:schemeClr>
                </a:solidFill>
              </a:rPr>
              <a:t>	两个逻辑表达式同时为真，则返回真；否则为假。</a:t>
            </a:r>
          </a:p>
          <a:p>
            <a:pPr eaLnBrk="1" latinLnBrk="0" hangingPunct="1">
              <a:lnSpc>
                <a:spcPct val="140000"/>
              </a:lnSpc>
            </a:pPr>
            <a:r>
              <a:rPr lang="zh-CN" altLang="en-US" sz="2000" b="1" dirty="0">
                <a:solidFill>
                  <a:srgbClr val="0070C0"/>
                </a:solidFill>
              </a:rPr>
              <a:t>逻辑表达式 -o逻辑表达式		</a:t>
            </a:r>
            <a:r>
              <a:rPr lang="zh-CN" altLang="en-US" sz="2000" dirty="0">
                <a:solidFill>
                  <a:schemeClr val="tx1">
                    <a:lumMod val="85000"/>
                    <a:lumOff val="15000"/>
                  </a:schemeClr>
                </a:solidFill>
              </a:rPr>
              <a:t>两个逻辑表达式同进为假时，则返回假；否则为真。</a:t>
            </a:r>
          </a:p>
        </p:txBody>
      </p:sp>
      <p:grpSp>
        <p:nvGrpSpPr>
          <p:cNvPr id="18" name="组合 17"/>
          <p:cNvGrpSpPr/>
          <p:nvPr/>
        </p:nvGrpSpPr>
        <p:grpSpPr>
          <a:xfrm>
            <a:off x="621665" y="2735580"/>
            <a:ext cx="3616325" cy="575310"/>
            <a:chOff x="1099" y="2608"/>
            <a:chExt cx="5695" cy="906"/>
          </a:xfrm>
        </p:grpSpPr>
        <p:grpSp>
          <p:nvGrpSpPr>
            <p:cNvPr id="19" name="组合 11"/>
            <p:cNvGrpSpPr/>
            <p:nvPr/>
          </p:nvGrpSpPr>
          <p:grpSpPr>
            <a:xfrm>
              <a:off x="1099" y="2748"/>
              <a:ext cx="835" cy="767"/>
              <a:chOff x="3758308" y="2656863"/>
              <a:chExt cx="886838" cy="714378"/>
            </a:xfrm>
          </p:grpSpPr>
          <p:sp>
            <p:nvSpPr>
              <p:cNvPr id="22" name="等腰三角形 21"/>
              <p:cNvSpPr/>
              <p:nvPr/>
            </p:nvSpPr>
            <p:spPr>
              <a:xfrm rot="5400000">
                <a:off x="3951695" y="2677789"/>
                <a:ext cx="714378" cy="672525"/>
              </a:xfrm>
              <a:prstGeom prst="triangle">
                <a:avLst>
                  <a:gd name="adj" fmla="val 52770"/>
                </a:avLst>
              </a:prstGeom>
              <a:solidFill>
                <a:schemeClr val="tx2">
                  <a:lumMod val="60000"/>
                  <a:lumOff val="40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sp>
            <p:nvSpPr>
              <p:cNvPr id="23" name="等腰三角形 3"/>
              <p:cNvSpPr/>
              <p:nvPr/>
            </p:nvSpPr>
            <p:spPr>
              <a:xfrm rot="5400000">
                <a:off x="3737382" y="2677789"/>
                <a:ext cx="714378" cy="672525"/>
              </a:xfrm>
              <a:prstGeom prst="triangle">
                <a:avLst>
                  <a:gd name="adj" fmla="val 52770"/>
                </a:avLst>
              </a:prstGeom>
              <a:solidFill>
                <a:schemeClr val="bg1">
                  <a:lumMod val="85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grpSp>
        <p:cxnSp>
          <p:nvCxnSpPr>
            <p:cNvPr id="20" name="直接连接符 19"/>
            <p:cNvCxnSpPr/>
            <p:nvPr/>
          </p:nvCxnSpPr>
          <p:spPr>
            <a:xfrm>
              <a:off x="1684" y="3476"/>
              <a:ext cx="5110" cy="7"/>
            </a:xfrm>
            <a:prstGeom prst="line">
              <a:avLst/>
            </a:prstGeom>
            <a:ln w="25400">
              <a:solidFill>
                <a:srgbClr val="ED5326"/>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1934" y="2608"/>
              <a:ext cx="3995" cy="816"/>
            </a:xfrm>
            <a:prstGeom prst="rect">
              <a:avLst/>
            </a:prstGeom>
          </p:spPr>
          <p:txBody>
            <a:bodyPr wrap="square">
              <a:spAutoFit/>
            </a:bodyPr>
            <a:lstStyle/>
            <a:p>
              <a:pPr eaLnBrk="1" latinLnBrk="0" hangingPunct="1">
                <a:lnSpc>
                  <a:spcPct val="14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（4）逻辑操作符</a:t>
              </a:r>
            </a:p>
          </p:txBody>
        </p:sp>
      </p:grpSp>
      <p:pic>
        <p:nvPicPr>
          <p:cNvPr id="24" name="图片 23" descr="320651773818793763ae03a0473bed57"/>
          <p:cNvPicPr>
            <a:picLocks noChangeAspect="1"/>
          </p:cNvPicPr>
          <p:nvPr/>
        </p:nvPicPr>
        <p:blipFill>
          <a:blip r:embed="rId2" cstate="print"/>
          <a:stretch>
            <a:fillRect/>
          </a:stretch>
        </p:blipFill>
        <p:spPr>
          <a:xfrm>
            <a:off x="8643620" y="1158875"/>
            <a:ext cx="3179445" cy="201866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1+#ppt_w/2"/>
                                          </p:val>
                                        </p:tav>
                                        <p:tav tm="100000">
                                          <p:val>
                                            <p:strVal val="#ppt_x"/>
                                          </p:val>
                                        </p:tav>
                                      </p:tavLst>
                                    </p:anim>
                                    <p:anim calcmode="lin" valueType="num">
                                      <p:cBhvr additive="base">
                                        <p:cTn id="17"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770380"/>
            <a:ext cx="11251565" cy="450342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3" name="Text Box 44"/>
          <p:cNvSpPr txBox="1">
            <a:spLocks noChangeArrowheads="1"/>
          </p:cNvSpPr>
          <p:nvPr/>
        </p:nvSpPr>
        <p:spPr bwMode="auto">
          <a:xfrm>
            <a:off x="576580" y="3322955"/>
            <a:ext cx="11473180" cy="24688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30000"/>
              </a:lnSpc>
            </a:pPr>
            <a:endParaRPr lang="zh-CN" altLang="en-US" sz="2000" b="1" dirty="0">
              <a:solidFill>
                <a:srgbClr val="0070C0"/>
              </a:solidFill>
            </a:endParaRPr>
          </a:p>
          <a:p>
            <a:pPr eaLnBrk="1" latinLnBrk="0" hangingPunct="1">
              <a:lnSpc>
                <a:spcPct val="130000"/>
              </a:lnSpc>
            </a:pPr>
            <a:r>
              <a:rPr lang="zh-CN" altLang="en-US" sz="2000" dirty="0">
                <a:solidFill>
                  <a:schemeClr val="tx1">
                    <a:lumMod val="85000"/>
                    <a:lumOff val="15000"/>
                  </a:schemeClr>
                </a:solidFill>
              </a:rPr>
              <a:t>除以上条件测试外，在if语句和循环语句中还常用下列三个特殊条件测试语句。</a:t>
            </a:r>
          </a:p>
          <a:p>
            <a:pPr eaLnBrk="1" latinLnBrk="0" hangingPunct="1">
              <a:lnSpc>
                <a:spcPct val="130000"/>
              </a:lnSpc>
            </a:pPr>
            <a:r>
              <a:rPr lang="zh-CN" altLang="en-US" sz="2000" b="1" dirty="0">
                <a:solidFill>
                  <a:srgbClr val="0070C0"/>
                </a:solidFill>
              </a:rPr>
              <a:t>:			</a:t>
            </a:r>
            <a:r>
              <a:rPr lang="zh-CN" altLang="en-US" sz="2000" dirty="0">
                <a:solidFill>
                  <a:schemeClr val="tx1">
                    <a:lumMod val="85000"/>
                    <a:lumOff val="15000"/>
                  </a:schemeClr>
                </a:solidFill>
              </a:rPr>
              <a:t>表示不做任何事情，其退出值为0。</a:t>
            </a:r>
          </a:p>
          <a:p>
            <a:pPr eaLnBrk="1" latinLnBrk="0" hangingPunct="1">
              <a:lnSpc>
                <a:spcPct val="130000"/>
              </a:lnSpc>
            </a:pPr>
            <a:r>
              <a:rPr lang="zh-CN" altLang="en-US" sz="2000" b="1" dirty="0">
                <a:solidFill>
                  <a:srgbClr val="0070C0"/>
                </a:solidFill>
              </a:rPr>
              <a:t>true		</a:t>
            </a:r>
            <a:r>
              <a:rPr lang="zh-CN" altLang="en-US" sz="2000" dirty="0">
                <a:solidFill>
                  <a:schemeClr val="tx1">
                    <a:lumMod val="85000"/>
                    <a:lumOff val="15000"/>
                  </a:schemeClr>
                </a:solidFill>
              </a:rPr>
              <a:t>表示总为真，其退出值总为0。</a:t>
            </a:r>
          </a:p>
          <a:p>
            <a:pPr eaLnBrk="1" latinLnBrk="0" hangingPunct="1">
              <a:lnSpc>
                <a:spcPct val="130000"/>
              </a:lnSpc>
            </a:pPr>
            <a:r>
              <a:rPr lang="zh-CN" altLang="en-US" sz="2000" b="1" dirty="0">
                <a:solidFill>
                  <a:srgbClr val="0070C0"/>
                </a:solidFill>
              </a:rPr>
              <a:t>false		</a:t>
            </a:r>
            <a:r>
              <a:rPr lang="zh-CN" altLang="en-US" sz="2000" dirty="0">
                <a:solidFill>
                  <a:schemeClr val="tx1">
                    <a:lumMod val="85000"/>
                    <a:lumOff val="15000"/>
                  </a:schemeClr>
                </a:solidFill>
              </a:rPr>
              <a:t>表示总为假，其退出值为255。</a:t>
            </a:r>
          </a:p>
          <a:p>
            <a:pPr eaLnBrk="1" latinLnBrk="0" hangingPunct="1">
              <a:lnSpc>
                <a:spcPct val="130000"/>
              </a:lnSpc>
            </a:pPr>
            <a:r>
              <a:rPr lang="zh-CN" altLang="en-US" sz="2000" b="1" dirty="0">
                <a:solidFill>
                  <a:srgbClr val="0070C0"/>
                </a:solidFill>
              </a:rPr>
              <a:t>如前面所述，命令退出值若为0，则表示条件测试为真；若退出值不等于0，则为假。</a:t>
            </a:r>
          </a:p>
        </p:txBody>
      </p:sp>
      <p:grpSp>
        <p:nvGrpSpPr>
          <p:cNvPr id="17" name="组合 16"/>
          <p:cNvGrpSpPr/>
          <p:nvPr/>
        </p:nvGrpSpPr>
        <p:grpSpPr>
          <a:xfrm>
            <a:off x="602615" y="2864485"/>
            <a:ext cx="3675380" cy="527050"/>
            <a:chOff x="949" y="6131"/>
            <a:chExt cx="5788" cy="830"/>
          </a:xfrm>
        </p:grpSpPr>
        <p:grpSp>
          <p:nvGrpSpPr>
            <p:cNvPr id="5" name="组合 4"/>
            <p:cNvGrpSpPr/>
            <p:nvPr/>
          </p:nvGrpSpPr>
          <p:grpSpPr>
            <a:xfrm>
              <a:off x="949" y="6131"/>
              <a:ext cx="761" cy="787"/>
              <a:chOff x="3758308" y="2656863"/>
              <a:chExt cx="886838" cy="714378"/>
            </a:xfrm>
          </p:grpSpPr>
          <p:sp>
            <p:nvSpPr>
              <p:cNvPr id="6" name="等腰三角形 5"/>
              <p:cNvSpPr/>
              <p:nvPr/>
            </p:nvSpPr>
            <p:spPr>
              <a:xfrm rot="5400000">
                <a:off x="3951695" y="2677789"/>
                <a:ext cx="714378" cy="672525"/>
              </a:xfrm>
              <a:prstGeom prst="triangle">
                <a:avLst>
                  <a:gd name="adj" fmla="val 52770"/>
                </a:avLst>
              </a:prstGeom>
              <a:solidFill>
                <a:schemeClr val="tx2">
                  <a:lumMod val="60000"/>
                  <a:lumOff val="40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sp>
            <p:nvSpPr>
              <p:cNvPr id="7" name="等腰三角形 6"/>
              <p:cNvSpPr/>
              <p:nvPr/>
            </p:nvSpPr>
            <p:spPr>
              <a:xfrm rot="5400000">
                <a:off x="3737382" y="2677789"/>
                <a:ext cx="714378" cy="672525"/>
              </a:xfrm>
              <a:prstGeom prst="triangle">
                <a:avLst>
                  <a:gd name="adj" fmla="val 52770"/>
                </a:avLst>
              </a:prstGeom>
              <a:solidFill>
                <a:schemeClr val="bg1">
                  <a:lumMod val="85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grpSp>
        <p:cxnSp>
          <p:nvCxnSpPr>
            <p:cNvPr id="8" name="直接连接符 7"/>
            <p:cNvCxnSpPr/>
            <p:nvPr/>
          </p:nvCxnSpPr>
          <p:spPr>
            <a:xfrm>
              <a:off x="1627" y="6955"/>
              <a:ext cx="5110" cy="7"/>
            </a:xfrm>
            <a:prstGeom prst="line">
              <a:avLst/>
            </a:prstGeom>
            <a:ln w="25400">
              <a:solidFill>
                <a:srgbClr val="ED5326"/>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956" y="6245"/>
              <a:ext cx="4741" cy="658"/>
            </a:xfrm>
            <a:prstGeom prst="rect">
              <a:avLst/>
            </a:prstGeom>
          </p:spPr>
          <p:txBody>
            <a:bodyPr wrap="square">
              <a:spAutoFit/>
            </a:bodyPr>
            <a:lstStyle/>
            <a:p>
              <a:r>
                <a:rPr lang="zh-CN" altLang="en-US" sz="2000" b="1" dirty="0">
                  <a:solidFill>
                    <a:srgbClr val="0070C0"/>
                  </a:solidFill>
                  <a:latin typeface="微软雅黑" panose="020B0503020204020204" pitchFamily="34" charset="-122"/>
                  <a:ea typeface="微软雅黑" panose="020B0503020204020204" pitchFamily="34" charset="-122"/>
                  <a:sym typeface="+mn-ea"/>
                </a:rPr>
                <a:t>（5）特殊条件测试</a:t>
              </a:r>
            </a:p>
          </p:txBody>
        </p:sp>
      </p:grpSp>
      <p:grpSp>
        <p:nvGrpSpPr>
          <p:cNvPr id="21" name="组合 20"/>
          <p:cNvGrpSpPr/>
          <p:nvPr/>
        </p:nvGrpSpPr>
        <p:grpSpPr>
          <a:xfrm>
            <a:off x="373558" y="2075180"/>
            <a:ext cx="2583180" cy="669290"/>
            <a:chOff x="9606" y="5617"/>
            <a:chExt cx="3705" cy="1054"/>
          </a:xfrm>
        </p:grpSpPr>
        <p:sp>
          <p:nvSpPr>
            <p:cNvPr id="22" name="矩形 21"/>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1．条件测试</a:t>
              </a:r>
            </a:p>
          </p:txBody>
        </p:sp>
        <p:sp>
          <p:nvSpPr>
            <p:cNvPr id="23"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pic>
        <p:nvPicPr>
          <p:cNvPr id="24" name="图片 23" descr="320651773818793763ae03a0473bed57"/>
          <p:cNvPicPr>
            <a:picLocks noChangeAspect="1"/>
          </p:cNvPicPr>
          <p:nvPr/>
        </p:nvPicPr>
        <p:blipFill>
          <a:blip r:embed="rId2" cstate="print"/>
          <a:stretch>
            <a:fillRect/>
          </a:stretch>
        </p:blipFill>
        <p:spPr>
          <a:xfrm>
            <a:off x="8643620" y="1158875"/>
            <a:ext cx="3179445" cy="201866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fill="hold"/>
                                        <p:tgtEl>
                                          <p:spTgt spid="24"/>
                                        </p:tgtEl>
                                        <p:attrNameLst>
                                          <p:attrName>ppt_x</p:attrName>
                                        </p:attrNameLst>
                                      </p:cBhvr>
                                      <p:tavLst>
                                        <p:tav tm="0">
                                          <p:val>
                                            <p:strVal val="1+#ppt_w/2"/>
                                          </p:val>
                                        </p:tav>
                                        <p:tav tm="100000">
                                          <p:val>
                                            <p:strVal val="#ppt_x"/>
                                          </p:val>
                                        </p:tav>
                                      </p:tavLst>
                                    </p:anim>
                                    <p:anim calcmode="lin" valueType="num">
                                      <p:cBhvr additive="base">
                                        <p:cTn id="17"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2" name="组合 31"/>
          <p:cNvGrpSpPr/>
          <p:nvPr/>
        </p:nvGrpSpPr>
        <p:grpSpPr>
          <a:xfrm>
            <a:off x="373558" y="1694180"/>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2．条件语句</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14" name="Text Box 44"/>
          <p:cNvSpPr txBox="1">
            <a:spLocks noChangeArrowheads="1"/>
          </p:cNvSpPr>
          <p:nvPr/>
        </p:nvSpPr>
        <p:spPr bwMode="auto">
          <a:xfrm>
            <a:off x="571500" y="2198370"/>
            <a:ext cx="2592705" cy="1668149"/>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400" b="1" dirty="0">
                <a:solidFill>
                  <a:srgbClr val="0070C0"/>
                </a:solidFill>
              </a:rPr>
              <a:t>（1）if语句</a:t>
            </a:r>
          </a:p>
          <a:p>
            <a:pPr eaLnBrk="1" latinLnBrk="0" hangingPunct="1">
              <a:lnSpc>
                <a:spcPct val="160000"/>
              </a:lnSpc>
            </a:pPr>
            <a:r>
              <a:rPr lang="zh-CN" altLang="en-US" sz="2000" dirty="0">
                <a:solidFill>
                  <a:schemeClr val="tx1">
                    <a:lumMod val="85000"/>
                    <a:lumOff val="15000"/>
                  </a:schemeClr>
                </a:solidFill>
              </a:rPr>
              <a:t>if语句通过判定条件表达式做出选择。</a:t>
            </a:r>
          </a:p>
        </p:txBody>
      </p:sp>
      <p:grpSp>
        <p:nvGrpSpPr>
          <p:cNvPr id="6" name="组合 5"/>
          <p:cNvGrpSpPr/>
          <p:nvPr/>
        </p:nvGrpSpPr>
        <p:grpSpPr>
          <a:xfrm>
            <a:off x="3397250" y="1694180"/>
            <a:ext cx="8363585" cy="4800600"/>
            <a:chOff x="1783" y="4648"/>
            <a:chExt cx="9452" cy="5582"/>
          </a:xfrm>
        </p:grpSpPr>
        <p:grpSp>
          <p:nvGrpSpPr>
            <p:cNvPr id="3" name="组合 14"/>
            <p:cNvGrpSpPr/>
            <p:nvPr/>
          </p:nvGrpSpPr>
          <p:grpSpPr bwMode="auto">
            <a:xfrm>
              <a:off x="1783" y="4648"/>
              <a:ext cx="9452" cy="5582"/>
              <a:chOff x="1166778" y="1785922"/>
              <a:chExt cx="7924077" cy="1714516"/>
            </a:xfrm>
          </p:grpSpPr>
          <p:grpSp>
            <p:nvGrpSpPr>
              <p:cNvPr id="4" name="组合 12"/>
              <p:cNvGrpSpPr/>
              <p:nvPr/>
            </p:nvGrpSpPr>
            <p:grpSpPr bwMode="auto">
              <a:xfrm>
                <a:off x="1166778" y="1785922"/>
                <a:ext cx="7924077" cy="1714516"/>
                <a:chOff x="1166778" y="1785922"/>
                <a:chExt cx="7924077" cy="1714516"/>
              </a:xfrm>
            </p:grpSpPr>
            <p:sp>
              <p:nvSpPr>
                <p:cNvPr id="5" name="矩形 4"/>
                <p:cNvSpPr/>
                <p:nvPr/>
              </p:nvSpPr>
              <p:spPr>
                <a:xfrm>
                  <a:off x="1166778" y="1786456"/>
                  <a:ext cx="7924077"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704652" y="1785922"/>
                  <a:ext cx="2707030" cy="16328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格式1</a:t>
                  </a:r>
                </a:p>
              </p:txBody>
            </p:sp>
          </p:grpSp>
          <p:sp>
            <p:nvSpPr>
              <p:cNvPr id="36" name="MH_Text_1"/>
              <p:cNvSpPr txBox="1">
                <a:spLocks noChangeArrowheads="1"/>
              </p:cNvSpPr>
              <p:nvPr>
                <p:custDataLst>
                  <p:tags r:id="rId2"/>
                </p:custDataLst>
              </p:nvPr>
            </p:nvSpPr>
            <p:spPr bwMode="auto">
              <a:xfrm>
                <a:off x="1216448" y="1980577"/>
                <a:ext cx="3469869" cy="828612"/>
              </a:xfrm>
              <a:prstGeom prst="rect">
                <a:avLst/>
              </a:prstGeom>
              <a:solidFill>
                <a:srgbClr val="F2F2F2"/>
              </a:solidFill>
              <a:ln w="9525">
                <a:noFill/>
                <a:miter lim="800000"/>
              </a:ln>
            </p:spPr>
            <p:txBody>
              <a:bodyPr/>
              <a:lstStyle/>
              <a:p>
                <a:pPr indent="457200" algn="l" eaLnBrk="1" fontAlgn="auto" latinLnBrk="0" hangingPunct="1">
                  <a:lnSpc>
                    <a:spcPct val="14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if    条件表达式</a:t>
                </a:r>
              </a:p>
              <a:p>
                <a:pPr indent="457200" algn="l" eaLnBrk="1" fontAlgn="auto" latinLnBrk="0" hangingPunct="1">
                  <a:lnSpc>
                    <a:spcPct val="14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then  </a:t>
                </a:r>
              </a:p>
              <a:p>
                <a:pPr indent="457200" algn="l" eaLnBrk="1" fontAlgn="auto" latinLnBrk="0" hangingPunct="1">
                  <a:lnSpc>
                    <a:spcPct val="14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命令1</a:t>
                </a:r>
              </a:p>
              <a:p>
                <a:pPr indent="457200" algn="l" eaLnBrk="1" fontAlgn="auto" latinLnBrk="0" hangingPunct="1">
                  <a:lnSpc>
                    <a:spcPct val="14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[else</a:t>
                </a:r>
              </a:p>
              <a:p>
                <a:pPr indent="457200" algn="l" eaLnBrk="1" fontAlgn="auto" latinLnBrk="0" hangingPunct="1">
                  <a:lnSpc>
                    <a:spcPct val="14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命令2]</a:t>
                </a:r>
              </a:p>
              <a:p>
                <a:pPr indent="457200" algn="l" eaLnBrk="1" fontAlgn="auto" latinLnBrk="0" hangingPunct="1">
                  <a:lnSpc>
                    <a:spcPct val="140000"/>
                  </a:lnSpc>
                  <a:buFont typeface="Arial" panose="020B0604020202020204" pitchFamily="34" charset="0"/>
                  <a:buNone/>
                  <a:defRPr/>
                </a:pPr>
                <a:r>
                  <a:rPr lang="zh-CN" altLang="en-US" sz="1800" b="1" dirty="0">
                    <a:solidFill>
                      <a:srgbClr val="FF0000"/>
                    </a:solidFill>
                    <a:latin typeface="微软雅黑" panose="020B0503020204020204" pitchFamily="34" charset="-122"/>
                    <a:ea typeface="微软雅黑" panose="020B0503020204020204" pitchFamily="34" charset="-122"/>
                    <a:cs typeface="+mn-cs"/>
                    <a:sym typeface="+mn-ea"/>
                  </a:rPr>
                  <a:t>fi</a:t>
                </a:r>
              </a:p>
            </p:txBody>
          </p:sp>
        </p:grpSp>
        <p:sp>
          <p:nvSpPr>
            <p:cNvPr id="7" name="矩形 6"/>
            <p:cNvSpPr>
              <a:spLocks noChangeArrowheads="1"/>
            </p:cNvSpPr>
            <p:nvPr/>
          </p:nvSpPr>
          <p:spPr bwMode="auto">
            <a:xfrm>
              <a:off x="6423" y="4676"/>
              <a:ext cx="3410" cy="53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格式</a:t>
              </a:r>
              <a:r>
                <a:rPr lang="en-US" altLang="zh-CN" sz="2000" b="1" dirty="0">
                  <a:solidFill>
                    <a:srgbClr val="009900"/>
                  </a:solidFill>
                  <a:latin typeface="微软雅黑" panose="020B0503020204020204" pitchFamily="34" charset="-122"/>
                  <a:ea typeface="微软雅黑" panose="020B0503020204020204" pitchFamily="34" charset="-122"/>
                  <a:cs typeface="华康俪金黑W8(P)"/>
                </a:rPr>
                <a:t>2</a:t>
              </a:r>
            </a:p>
          </p:txBody>
        </p:sp>
        <p:sp>
          <p:nvSpPr>
            <p:cNvPr id="8" name="MH_Text_1"/>
            <p:cNvSpPr txBox="1">
              <a:spLocks noChangeArrowheads="1"/>
            </p:cNvSpPr>
            <p:nvPr>
              <p:custDataLst>
                <p:tags r:id="rId1"/>
              </p:custDataLst>
            </p:nvPr>
          </p:nvSpPr>
          <p:spPr bwMode="auto">
            <a:xfrm>
              <a:off x="6440" y="5282"/>
              <a:ext cx="4792" cy="2600"/>
            </a:xfrm>
            <a:prstGeom prst="rect">
              <a:avLst/>
            </a:prstGeom>
            <a:solidFill>
              <a:srgbClr val="F2F2F2"/>
            </a:solidFill>
            <a:ln w="9525">
              <a:noFill/>
              <a:miter lim="800000"/>
            </a:ln>
          </p:spPr>
          <p:txBody>
            <a:bodyPr/>
            <a:lstStyle/>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If	条件表达式1</a:t>
              </a:r>
            </a:p>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then  </a:t>
              </a:r>
            </a:p>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命令1</a:t>
              </a:r>
            </a:p>
            <a:p>
              <a:pPr indent="457200" algn="l" eaLnBrk="1" fontAlgn="auto" latinLnBrk="0" hangingPunct="1">
                <a:lnSpc>
                  <a:spcPct val="80000"/>
                </a:lnSpc>
                <a:buFont typeface="Arial" panose="020B0604020202020204" pitchFamily="34" charset="0"/>
                <a:buNone/>
                <a:defRPr/>
              </a:pPr>
              <a:r>
                <a:rPr lang="zh-CN" altLang="en-US" sz="1800" b="1" dirty="0">
                  <a:solidFill>
                    <a:srgbClr val="FF0000"/>
                  </a:solidFill>
                  <a:latin typeface="微软雅黑" panose="020B0503020204020204" pitchFamily="34" charset="-122"/>
                  <a:ea typeface="微软雅黑" panose="020B0503020204020204" pitchFamily="34" charset="-122"/>
                  <a:cs typeface="+mn-cs"/>
                  <a:sym typeface="+mn-ea"/>
                </a:rPr>
                <a:t>elif	</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条件表达式2</a:t>
              </a:r>
            </a:p>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then</a:t>
              </a:r>
            </a:p>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命令2</a:t>
              </a:r>
            </a:p>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a:t>
              </a:r>
            </a:p>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else  </a:t>
              </a:r>
            </a:p>
            <a:p>
              <a:pPr indent="457200" algn="l" eaLnBrk="1" fontAlgn="auto" latinLnBrk="0" hangingPunct="1">
                <a:lnSpc>
                  <a:spcPct val="8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命令n</a:t>
              </a:r>
            </a:p>
            <a:p>
              <a:pPr indent="457200" algn="l" eaLnBrk="1" fontAlgn="auto" latinLnBrk="0" hangingPunct="1">
                <a:lnSpc>
                  <a:spcPct val="80000"/>
                </a:lnSpc>
                <a:buFont typeface="Arial" panose="020B0604020202020204" pitchFamily="34" charset="0"/>
                <a:buNone/>
                <a:defRPr/>
              </a:pPr>
              <a:r>
                <a:rPr lang="zh-CN" altLang="en-US" sz="1800" b="1" dirty="0">
                  <a:solidFill>
                    <a:srgbClr val="FF0000"/>
                  </a:solidFill>
                  <a:latin typeface="微软雅黑" panose="020B0503020204020204" pitchFamily="34" charset="-122"/>
                  <a:ea typeface="微软雅黑" panose="020B0503020204020204" pitchFamily="34" charset="-122"/>
                  <a:cs typeface="+mn-cs"/>
                  <a:sym typeface="+mn-ea"/>
                </a:rPr>
                <a:t>fi </a:t>
              </a:r>
            </a:p>
          </p:txBody>
        </p:sp>
      </p:grpSp>
      <p:sp>
        <p:nvSpPr>
          <p:cNvPr id="15" name="圆角矩形 14"/>
          <p:cNvSpPr/>
          <p:nvPr/>
        </p:nvSpPr>
        <p:spPr>
          <a:xfrm>
            <a:off x="3635375" y="4635501"/>
            <a:ext cx="3609975" cy="181356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1800" dirty="0">
                <a:solidFill>
                  <a:schemeClr val="tx1"/>
                </a:solidFill>
                <a:latin typeface="微软雅黑" panose="020B0503020204020204" pitchFamily="34" charset="-122"/>
                <a:ea typeface="微软雅黑" panose="020B0503020204020204" pitchFamily="34" charset="-122"/>
                <a:sym typeface="+mn-ea"/>
              </a:rPr>
              <a:t>格式1的执行过程是：先进行条件测试，如果测试结果为真，则执行then之后的命令；否则，执行else之后的命令2。</a:t>
            </a:r>
          </a:p>
        </p:txBody>
      </p:sp>
      <p:sp>
        <p:nvSpPr>
          <p:cNvPr id="16" name="圆角矩形 15"/>
          <p:cNvSpPr/>
          <p:nvPr/>
        </p:nvSpPr>
        <p:spPr>
          <a:xfrm>
            <a:off x="7540625" y="4591685"/>
            <a:ext cx="4217035" cy="185737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3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格式2的执行过程是：先进行条件1测试，如果测试结果为真，则执行命令1；否则，进行条件2测试，如果测试结果为真，则执行命令2；…；如果条件测试都为假，则执行命令n。</a:t>
            </a:r>
            <a:endParaRPr lang="zh-CN" altLang="en-US" sz="18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left)">
                                      <p:cBhvr>
                                        <p:cTn id="10" dur="500"/>
                                        <p:tgtEl>
                                          <p:spTgt spid="32"/>
                                        </p:tgtEl>
                                      </p:cBhvr>
                                    </p:animEffect>
                                  </p:childTnLst>
                                </p:cTn>
                              </p:par>
                            </p:childTnLst>
                          </p:cTn>
                        </p:par>
                        <p:par>
                          <p:cTn id="11" fill="hold">
                            <p:stCondLst>
                              <p:cond delay="500"/>
                            </p:stCondLst>
                            <p:childTnLst>
                              <p:par>
                                <p:cTn id="12" presetID="18" presetClass="entr" presetSubtype="6"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strips(downRight)">
                                      <p:cBhvr>
                                        <p:cTn id="14" dur="500"/>
                                        <p:tgtEl>
                                          <p:spTgt spid="6"/>
                                        </p:tgtEl>
                                      </p:cBhvr>
                                    </p:animEffect>
                                  </p:childTnLst>
                                </p:cTn>
                              </p:par>
                              <p:par>
                                <p:cTn id="15" presetID="23" presetClass="entr" presetSubtype="16" fill="hold" grpId="2"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childTnLst>
                                </p:cTn>
                              </p:par>
                            </p:childTnLst>
                          </p:cTn>
                        </p:par>
                        <p:par>
                          <p:cTn id="19" fill="hold">
                            <p:stCondLst>
                              <p:cond delay="1000"/>
                            </p:stCondLst>
                            <p:childTnLst>
                              <p:par>
                                <p:cTn id="20" presetID="23" presetClass="entr" presetSubtype="16" fill="hold" grpId="2" nodeType="after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5" grpId="0" animBg="1"/>
      <p:bldP spid="15" grpId="1" animBg="1"/>
      <p:bldP spid="15" grpId="2" bldLvl="0" animBg="1"/>
      <p:bldP spid="16" grpId="0" animBg="1"/>
      <p:bldP spid="16" grpId="1" animBg="1"/>
      <p:bldP spid="16" grpId="2"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6032500" y="1675130"/>
            <a:ext cx="5668011" cy="4819650"/>
            <a:chOff x="1166778" y="1786406"/>
            <a:chExt cx="3943053" cy="1882252"/>
          </a:xfrm>
        </p:grpSpPr>
        <p:grpSp>
          <p:nvGrpSpPr>
            <p:cNvPr id="4" name="组合 12"/>
            <p:cNvGrpSpPr/>
            <p:nvPr/>
          </p:nvGrpSpPr>
          <p:grpSpPr bwMode="auto">
            <a:xfrm>
              <a:off x="1166778" y="1786406"/>
              <a:ext cx="3943053" cy="1882252"/>
              <a:chOff x="1166778" y="1786406"/>
              <a:chExt cx="3943053" cy="1882252"/>
            </a:xfrm>
          </p:grpSpPr>
          <p:sp>
            <p:nvSpPr>
              <p:cNvPr id="5" name="矩形 4"/>
              <p:cNvSpPr/>
              <p:nvPr/>
            </p:nvSpPr>
            <p:spPr>
              <a:xfrm>
                <a:off x="1166778" y="1786406"/>
                <a:ext cx="3943053" cy="188225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279" y="1794590"/>
                <a:ext cx="3668889" cy="1641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【例5-7】</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if语句应用，文件名为example7。</a:t>
                </a:r>
              </a:p>
            </p:txBody>
          </p:sp>
        </p:grpSp>
        <p:sp>
          <p:nvSpPr>
            <p:cNvPr id="36" name="MH_Text_1"/>
            <p:cNvSpPr txBox="1">
              <a:spLocks noChangeArrowheads="1"/>
            </p:cNvSpPr>
            <p:nvPr>
              <p:custDataLst>
                <p:tags r:id="rId1"/>
              </p:custDataLst>
            </p:nvPr>
          </p:nvSpPr>
          <p:spPr bwMode="auto">
            <a:xfrm>
              <a:off x="1280554" y="1980583"/>
              <a:ext cx="3682422" cy="1679891"/>
            </a:xfrm>
            <a:prstGeom prst="rect">
              <a:avLst/>
            </a:prstGeom>
            <a:solidFill>
              <a:srgbClr val="F2F2F2"/>
            </a:solidFill>
            <a:ln w="9525">
              <a:noFill/>
              <a:miter lim="800000"/>
            </a:ln>
          </p:spPr>
          <p:txBody>
            <a:bodyPr/>
            <a:lstStyle/>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#if statement aplication</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if  [  $1 = "yes"  ]</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then </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echo "value is yes" </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elif  [  $1 = "no"  ]</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then </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echo "value is no"</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else </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"invalid value" </a:t>
              </a:r>
            </a:p>
            <a:p>
              <a:pPr indent="457200" algn="l" eaLnBrk="1" fontAlgn="auto" latinLnBrk="0" hangingPunct="1">
                <a:lnSpc>
                  <a:spcPct val="130000"/>
                </a:lnSpc>
                <a:buFont typeface="Arial" panose="020B0604020202020204" pitchFamily="34" charset="0"/>
                <a:buNone/>
                <a:defRPr/>
              </a:pPr>
              <a:r>
                <a:rPr lang="zh-CN" altLang="en-US" sz="1800" b="1" dirty="0">
                  <a:solidFill>
                    <a:srgbClr val="FF0000"/>
                  </a:solidFill>
                  <a:latin typeface="微软雅黑" panose="020B0503020204020204" pitchFamily="34" charset="-122"/>
                  <a:ea typeface="微软雅黑" panose="020B0503020204020204" pitchFamily="34" charset="-122"/>
                  <a:cs typeface="+mn-cs"/>
                  <a:sym typeface="+mn-ea"/>
                </a:rPr>
                <a:t>fi</a:t>
              </a:r>
            </a:p>
            <a:p>
              <a:pPr indent="45720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 </a:t>
              </a:r>
            </a:p>
          </p:txBody>
        </p:sp>
      </p:grpSp>
      <p:sp>
        <p:nvSpPr>
          <p:cNvPr id="16" name="圆角矩形 15"/>
          <p:cNvSpPr/>
          <p:nvPr/>
        </p:nvSpPr>
        <p:spPr>
          <a:xfrm>
            <a:off x="728980" y="2285999"/>
            <a:ext cx="5151120" cy="408114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if条件语句是可以</a:t>
            </a:r>
            <a:r>
              <a:rPr lang="zh-CN" altLang="en-US" b="1" dirty="0">
                <a:solidFill>
                  <a:srgbClr val="0070C0"/>
                </a:solidFill>
                <a:latin typeface="微软雅黑" panose="020B0503020204020204" pitchFamily="34" charset="-122"/>
                <a:ea typeface="微软雅黑" panose="020B0503020204020204" pitchFamily="34" charset="-122"/>
                <a:sym typeface="+mn-ea"/>
              </a:rPr>
              <a:t>嵌套的</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，也就是说，一个if条件语句可以在其中包含另一个if条件语句。</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sym typeface="+mn-ea"/>
              </a:rPr>
              <a:t>在if条件语句中，elif或者else部分并不是必需的</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。如果在if条件语句中所指定的表达式和随后可选的elif语句中的表达式都不为真时，则执行else部分。</a:t>
            </a:r>
            <a:r>
              <a:rPr lang="zh-CN" altLang="en-US" b="1" dirty="0">
                <a:solidFill>
                  <a:srgbClr val="C00000"/>
                </a:solidFill>
                <a:latin typeface="微软雅黑" panose="020B0503020204020204" pitchFamily="34" charset="-122"/>
                <a:ea typeface="微软雅黑" panose="020B0503020204020204" pitchFamily="34" charset="-122"/>
                <a:sym typeface="+mn-ea"/>
              </a:rPr>
              <a:t>字符fi标志if条件语句的结束</a:t>
            </a:r>
            <a:r>
              <a:rPr lang="zh-CN" altLang="en-US" dirty="0">
                <a:solidFill>
                  <a:schemeClr val="tx1"/>
                </a:solidFill>
                <a:latin typeface="微软雅黑" panose="020B0503020204020204" pitchFamily="34" charset="-122"/>
                <a:ea typeface="微软雅黑" panose="020B0503020204020204" pitchFamily="34" charset="-122"/>
                <a:sym typeface="+mn-ea"/>
              </a:rPr>
              <a:t>，在嵌套if条件语句的情况下，fi是很有用的。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2"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Righ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6" grpId="2"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080750"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567055" y="1719580"/>
            <a:ext cx="5671820" cy="4819650"/>
            <a:chOff x="1166778" y="1786406"/>
            <a:chExt cx="3763097" cy="1882252"/>
          </a:xfrm>
        </p:grpSpPr>
        <p:grpSp>
          <p:nvGrpSpPr>
            <p:cNvPr id="4" name="组合 12"/>
            <p:cNvGrpSpPr/>
            <p:nvPr/>
          </p:nvGrpSpPr>
          <p:grpSpPr bwMode="auto">
            <a:xfrm>
              <a:off x="1166778" y="1786406"/>
              <a:ext cx="3763097" cy="1882252"/>
              <a:chOff x="1166778" y="1786406"/>
              <a:chExt cx="3763097" cy="1882252"/>
            </a:xfrm>
          </p:grpSpPr>
          <p:sp>
            <p:nvSpPr>
              <p:cNvPr id="5" name="矩形 4"/>
              <p:cNvSpPr/>
              <p:nvPr/>
            </p:nvSpPr>
            <p:spPr>
              <a:xfrm>
                <a:off x="1166778" y="1786406"/>
                <a:ext cx="3763097" cy="188225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279" y="1794590"/>
                <a:ext cx="3668889" cy="1641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运行这个脚本：</a:t>
                </a:r>
              </a:p>
            </p:txBody>
          </p:sp>
        </p:grpSp>
        <p:sp>
          <p:nvSpPr>
            <p:cNvPr id="36" name="MH_Text_1"/>
            <p:cNvSpPr txBox="1">
              <a:spLocks noChangeArrowheads="1"/>
            </p:cNvSpPr>
            <p:nvPr>
              <p:custDataLst>
                <p:tags r:id="rId2"/>
              </p:custDataLst>
            </p:nvPr>
          </p:nvSpPr>
          <p:spPr bwMode="auto">
            <a:xfrm>
              <a:off x="1228431" y="1958760"/>
              <a:ext cx="3528067" cy="896240"/>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example7  yes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value is yes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example7  no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value is no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example7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invalid value </a:t>
              </a:r>
            </a:p>
          </p:txBody>
        </p:sp>
      </p:grpSp>
      <p:grpSp>
        <p:nvGrpSpPr>
          <p:cNvPr id="6" name="组合 14"/>
          <p:cNvGrpSpPr/>
          <p:nvPr/>
        </p:nvGrpSpPr>
        <p:grpSpPr bwMode="auto">
          <a:xfrm>
            <a:off x="6746875" y="1675130"/>
            <a:ext cx="4544695" cy="4819650"/>
            <a:chOff x="1166778" y="1786406"/>
            <a:chExt cx="2847959" cy="1882252"/>
          </a:xfrm>
        </p:grpSpPr>
        <p:grpSp>
          <p:nvGrpSpPr>
            <p:cNvPr id="7" name="组合 12"/>
            <p:cNvGrpSpPr/>
            <p:nvPr/>
          </p:nvGrpSpPr>
          <p:grpSpPr bwMode="auto">
            <a:xfrm>
              <a:off x="1166778" y="1786406"/>
              <a:ext cx="2847959" cy="1882252"/>
              <a:chOff x="1166778" y="1786406"/>
              <a:chExt cx="2847959" cy="1882252"/>
            </a:xfrm>
          </p:grpSpPr>
          <p:sp>
            <p:nvSpPr>
              <p:cNvPr id="8" name="矩形 7"/>
              <p:cNvSpPr/>
              <p:nvPr/>
            </p:nvSpPr>
            <p:spPr>
              <a:xfrm>
                <a:off x="1166778" y="1786406"/>
                <a:ext cx="2847959" cy="188225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1167176" y="1794590"/>
                <a:ext cx="2752855" cy="1641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if语句更一般的格式是：</a:t>
                </a:r>
              </a:p>
            </p:txBody>
          </p:sp>
        </p:grpSp>
        <p:sp>
          <p:nvSpPr>
            <p:cNvPr id="13" name="MH_Text_1"/>
            <p:cNvSpPr txBox="1">
              <a:spLocks noChangeArrowheads="1"/>
            </p:cNvSpPr>
            <p:nvPr>
              <p:custDataLst>
                <p:tags r:id="rId1"/>
              </p:custDataLst>
            </p:nvPr>
          </p:nvSpPr>
          <p:spPr bwMode="auto">
            <a:xfrm>
              <a:off x="1228457" y="1958760"/>
              <a:ext cx="2764793" cy="896240"/>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if	命令表1</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then</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命令表2</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[else</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命令表3]</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fi</a:t>
              </a:r>
            </a:p>
          </p:txBody>
        </p:sp>
      </p:grpSp>
      <p:sp>
        <p:nvSpPr>
          <p:cNvPr id="16" name="圆角矩形 15"/>
          <p:cNvSpPr/>
          <p:nvPr/>
        </p:nvSpPr>
        <p:spPr>
          <a:xfrm>
            <a:off x="698500" y="4531995"/>
            <a:ext cx="5296535" cy="198501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30000"/>
              </a:lnSpc>
            </a:pPr>
            <a:r>
              <a:rPr lang="zh-CN" altLang="en-US" sz="1800" dirty="0">
                <a:solidFill>
                  <a:schemeClr val="tx1"/>
                </a:solidFill>
                <a:latin typeface="微软雅黑" panose="020B0503020204020204" pitchFamily="34" charset="-122"/>
                <a:ea typeface="微软雅黑" panose="020B0503020204020204" pitchFamily="34" charset="-122"/>
                <a:sym typeface="+mn-ea"/>
              </a:rPr>
              <a:t>通常，if的测试部分是由</a:t>
            </a:r>
            <a:r>
              <a:rPr lang="zh-CN" altLang="en-US" sz="1800" b="1" dirty="0">
                <a:solidFill>
                  <a:srgbClr val="0070C0"/>
                </a:solidFill>
                <a:latin typeface="微软雅黑" panose="020B0503020204020204" pitchFamily="34" charset="-122"/>
                <a:ea typeface="微软雅黑" panose="020B0503020204020204" pitchFamily="34" charset="-122"/>
                <a:sym typeface="+mn-ea"/>
              </a:rPr>
              <a:t>test命令</a:t>
            </a:r>
            <a:r>
              <a:rPr lang="zh-CN" altLang="en-US" sz="1800" dirty="0">
                <a:solidFill>
                  <a:schemeClr val="tx1"/>
                </a:solidFill>
                <a:latin typeface="微软雅黑" panose="020B0503020204020204" pitchFamily="34" charset="-122"/>
                <a:ea typeface="微软雅黑" panose="020B0503020204020204" pitchFamily="34" charset="-122"/>
                <a:sym typeface="+mn-ea"/>
              </a:rPr>
              <a:t>实现的。其实，条件测试可以利用一般命令执行成功与否来做出判断。如果正常结束，则表示执行成功，其返回值为0，条件测试值为真；如果命令执行不成功，其返回值不等于0，条件测试就为假。</a:t>
            </a:r>
          </a:p>
        </p:txBody>
      </p:sp>
      <p:sp>
        <p:nvSpPr>
          <p:cNvPr id="17" name="圆角矩形 16"/>
          <p:cNvSpPr/>
          <p:nvPr/>
        </p:nvSpPr>
        <p:spPr>
          <a:xfrm>
            <a:off x="6845300" y="4607560"/>
            <a:ext cx="4347845" cy="175577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1800" dirty="0">
                <a:solidFill>
                  <a:schemeClr val="tx1"/>
                </a:solidFill>
                <a:latin typeface="微软雅黑" panose="020B0503020204020204" pitchFamily="34" charset="-122"/>
                <a:ea typeface="微软雅黑" panose="020B0503020204020204" pitchFamily="34" charset="-122"/>
                <a:sym typeface="+mn-ea"/>
              </a:rPr>
              <a:t>其中，各命令表可以</a:t>
            </a:r>
            <a:r>
              <a:rPr lang="zh-CN" altLang="en-US" sz="1800" b="1" dirty="0">
                <a:solidFill>
                  <a:srgbClr val="0070C0"/>
                </a:solidFill>
                <a:latin typeface="微软雅黑" panose="020B0503020204020204" pitchFamily="34" charset="-122"/>
                <a:ea typeface="微软雅黑" panose="020B0503020204020204" pitchFamily="34" charset="-122"/>
                <a:sym typeface="+mn-ea"/>
              </a:rPr>
              <a:t>由一条或者多条命令</a:t>
            </a:r>
            <a:r>
              <a:rPr lang="zh-CN" altLang="en-US" sz="1800" dirty="0">
                <a:solidFill>
                  <a:schemeClr val="tx1"/>
                </a:solidFill>
                <a:latin typeface="微软雅黑" panose="020B0503020204020204" pitchFamily="34" charset="-122"/>
                <a:ea typeface="微软雅黑" panose="020B0503020204020204" pitchFamily="34" charset="-122"/>
                <a:sym typeface="+mn-ea"/>
              </a:rPr>
              <a:t>组成。如果命令表1是由多条命令组成的，那么测试条件是以其中后一条是否执行成功为准。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ppt_w</p:attrName>
                                        </p:attrNameLst>
                                      </p:cBhvr>
                                      <p:tavLst>
                                        <p:tav tm="0">
                                          <p:val>
                                            <p:fltVal val="0"/>
                                          </p:val>
                                        </p:tav>
                                        <p:tav tm="100000">
                                          <p:val>
                                            <p:strVal val="#ppt_w"/>
                                          </p:val>
                                        </p:tav>
                                      </p:tavLst>
                                    </p:anim>
                                    <p:anim calcmode="lin" valueType="num">
                                      <p:cBhvr>
                                        <p:cTn id="12" dur="500" fill="hold"/>
                                        <p:tgtEl>
                                          <p:spTgt spid="16"/>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trips(downRight)">
                                      <p:cBhvr>
                                        <p:cTn id="16" dur="500"/>
                                        <p:tgtEl>
                                          <p:spTgt spid="6"/>
                                        </p:tgtEl>
                                      </p:cBhvr>
                                    </p:animEffect>
                                  </p:childTnLst>
                                </p:cTn>
                              </p:par>
                            </p:childTnLst>
                          </p:cTn>
                        </p:par>
                        <p:par>
                          <p:cTn id="17" fill="hold">
                            <p:stCondLst>
                              <p:cond delay="1500"/>
                            </p:stCondLst>
                            <p:childTnLst>
                              <p:par>
                                <p:cTn id="18" presetID="23" presetClass="entr" presetSubtype="16" fill="hold" grpId="2" nodeType="after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6" grpId="2" bldLvl="0" animBg="1"/>
      <p:bldP spid="17" grpId="0" animBg="1"/>
      <p:bldP spid="17" grpId="1" animBg="1"/>
      <p:bldP spid="17" grpId="2"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519620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2" name="组合 31"/>
          <p:cNvGrpSpPr/>
          <p:nvPr/>
        </p:nvGrpSpPr>
        <p:grpSpPr>
          <a:xfrm>
            <a:off x="373558" y="1694180"/>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2．条件语句</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14" name="Text Box 44"/>
          <p:cNvSpPr txBox="1">
            <a:spLocks noChangeArrowheads="1"/>
          </p:cNvSpPr>
          <p:nvPr/>
        </p:nvSpPr>
        <p:spPr bwMode="auto">
          <a:xfrm>
            <a:off x="825500" y="2376170"/>
            <a:ext cx="4592955" cy="67627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eaLnBrk="1" latinLnBrk="0" hangingPunct="1">
              <a:lnSpc>
                <a:spcPct val="160000"/>
              </a:lnSpc>
            </a:pPr>
            <a:r>
              <a:rPr lang="zh-CN" altLang="en-US" sz="2400" b="1" dirty="0">
                <a:solidFill>
                  <a:srgbClr val="0070C0"/>
                </a:solidFill>
              </a:rPr>
              <a:t>（</a:t>
            </a:r>
            <a:r>
              <a:rPr lang="en-US" altLang="zh-CN" sz="2400" b="1" dirty="0">
                <a:solidFill>
                  <a:srgbClr val="0070C0"/>
                </a:solidFill>
              </a:rPr>
              <a:t>2</a:t>
            </a:r>
            <a:r>
              <a:rPr lang="zh-CN" altLang="en-US" sz="2400" b="1" dirty="0">
                <a:solidFill>
                  <a:srgbClr val="0070C0"/>
                </a:solidFill>
              </a:rPr>
              <a:t>）case语句</a:t>
            </a:r>
            <a:endParaRPr lang="zh-CN" altLang="en-US" sz="2000" dirty="0">
              <a:solidFill>
                <a:schemeClr val="tx1">
                  <a:lumMod val="85000"/>
                  <a:lumOff val="15000"/>
                </a:schemeClr>
              </a:solidFill>
            </a:endParaRPr>
          </a:p>
        </p:txBody>
      </p:sp>
      <p:grpSp>
        <p:nvGrpSpPr>
          <p:cNvPr id="16" name="组合 15"/>
          <p:cNvGrpSpPr/>
          <p:nvPr/>
        </p:nvGrpSpPr>
        <p:grpSpPr>
          <a:xfrm>
            <a:off x="6042025" y="1084580"/>
            <a:ext cx="5553075" cy="5410200"/>
            <a:chOff x="9175" y="1708"/>
            <a:chExt cx="8745" cy="8520"/>
          </a:xfrm>
        </p:grpSpPr>
        <p:grpSp>
          <p:nvGrpSpPr>
            <p:cNvPr id="3" name="组合 14"/>
            <p:cNvGrpSpPr/>
            <p:nvPr/>
          </p:nvGrpSpPr>
          <p:grpSpPr bwMode="auto">
            <a:xfrm>
              <a:off x="9175" y="1708"/>
              <a:ext cx="8745" cy="8520"/>
              <a:chOff x="1516325" y="1744647"/>
              <a:chExt cx="4021299" cy="1714142"/>
            </a:xfrm>
          </p:grpSpPr>
          <p:grpSp>
            <p:nvGrpSpPr>
              <p:cNvPr id="4" name="组合 12"/>
              <p:cNvGrpSpPr/>
              <p:nvPr/>
            </p:nvGrpSpPr>
            <p:grpSpPr bwMode="auto">
              <a:xfrm>
                <a:off x="1516325" y="1744647"/>
                <a:ext cx="4021299" cy="1714142"/>
                <a:chOff x="1516325" y="1744647"/>
                <a:chExt cx="4021299" cy="1714142"/>
              </a:xfrm>
            </p:grpSpPr>
            <p:sp>
              <p:nvSpPr>
                <p:cNvPr id="5" name="矩形 4"/>
                <p:cNvSpPr/>
                <p:nvPr/>
              </p:nvSpPr>
              <p:spPr>
                <a:xfrm>
                  <a:off x="1516325" y="1744727"/>
                  <a:ext cx="4021299" cy="171406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704652" y="1744647"/>
                  <a:ext cx="2707030" cy="14485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case语句的格式如下：</a:t>
                  </a:r>
                </a:p>
              </p:txBody>
            </p:sp>
          </p:grpSp>
          <p:sp>
            <p:nvSpPr>
              <p:cNvPr id="36" name="MH_Text_1"/>
              <p:cNvSpPr txBox="1">
                <a:spLocks noChangeArrowheads="1"/>
              </p:cNvSpPr>
              <p:nvPr>
                <p:custDataLst>
                  <p:tags r:id="rId1"/>
                </p:custDataLst>
              </p:nvPr>
            </p:nvSpPr>
            <p:spPr bwMode="auto">
              <a:xfrm>
                <a:off x="1704853" y="1905197"/>
                <a:ext cx="1609189" cy="1541722"/>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case  字符串  </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in</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模式字符串1</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模式字符串2</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 </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模式字符串n</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命令</a:t>
                </a: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600" b="1" dirty="0">
                    <a:solidFill>
                      <a:srgbClr val="C00000"/>
                    </a:solidFill>
                    <a:latin typeface="微软雅黑" panose="020B0503020204020204" pitchFamily="34" charset="-122"/>
                    <a:ea typeface="微软雅黑" panose="020B0503020204020204" pitchFamily="34" charset="-122"/>
                    <a:cs typeface="+mn-cs"/>
                    <a:sym typeface="+mn-ea"/>
                  </a:rPr>
                  <a:t>esac</a:t>
                </a:r>
              </a:p>
            </p:txBody>
          </p:sp>
        </p:grpSp>
        <p:sp>
          <p:nvSpPr>
            <p:cNvPr id="15" name="Text Box 44"/>
            <p:cNvSpPr txBox="1">
              <a:spLocks noChangeArrowheads="1"/>
            </p:cNvSpPr>
            <p:nvPr/>
          </p:nvSpPr>
          <p:spPr bwMode="auto">
            <a:xfrm>
              <a:off x="13441" y="2506"/>
              <a:ext cx="4399" cy="705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1800" dirty="0">
                  <a:solidFill>
                    <a:schemeClr val="tx1">
                      <a:lumMod val="85000"/>
                      <a:lumOff val="15000"/>
                    </a:schemeClr>
                  </a:solidFill>
                </a:rPr>
                <a:t>其执行过程是，用</a:t>
              </a:r>
              <a:r>
                <a:rPr lang="zh-CN" altLang="en-US" sz="1800" b="1" dirty="0">
                  <a:solidFill>
                    <a:srgbClr val="0070C0"/>
                  </a:solidFill>
                </a:rPr>
                <a:t>字符串的值依次与各模式字符串进行比较</a:t>
              </a:r>
              <a:r>
                <a:rPr lang="zh-CN" altLang="en-US" sz="1800" dirty="0">
                  <a:solidFill>
                    <a:schemeClr val="tx1">
                      <a:lumMod val="85000"/>
                      <a:lumOff val="15000"/>
                    </a:schemeClr>
                  </a:solidFill>
                </a:rPr>
                <a:t>，如果发现同某一个模式字符串匹配，那么就执行该模式字符串之后的各个命令，</a:t>
              </a:r>
              <a:r>
                <a:rPr lang="zh-CN" altLang="en-US" sz="1800" dirty="0">
                  <a:solidFill>
                    <a:srgbClr val="C00000"/>
                  </a:solidFill>
                </a:rPr>
                <a:t>直至遇到两个分号为止</a:t>
              </a:r>
              <a:r>
                <a:rPr lang="zh-CN" altLang="en-US" sz="1800" dirty="0">
                  <a:solidFill>
                    <a:schemeClr val="tx1">
                      <a:lumMod val="85000"/>
                      <a:lumOff val="15000"/>
                    </a:schemeClr>
                  </a:solidFill>
                </a:rPr>
                <a:t>。</a:t>
              </a:r>
              <a:r>
                <a:rPr lang="zh-CN" altLang="en-US" sz="1800" dirty="0">
                  <a:solidFill>
                    <a:srgbClr val="C00000"/>
                  </a:solidFill>
                </a:rPr>
                <a:t>如果没有任何模式字符串与该字符串的值相符合，则执行*)后面的命令。</a:t>
              </a:r>
            </a:p>
          </p:txBody>
        </p:sp>
      </p:grpSp>
      <p:sp>
        <p:nvSpPr>
          <p:cNvPr id="6" name="圆角矩形 5"/>
          <p:cNvSpPr/>
          <p:nvPr/>
        </p:nvSpPr>
        <p:spPr>
          <a:xfrm>
            <a:off x="805815" y="3358515"/>
            <a:ext cx="4780280" cy="242760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case语句用来</a:t>
            </a:r>
            <a:r>
              <a:rPr lang="zh-CN" altLang="en-US" sz="2000" b="1" dirty="0">
                <a:solidFill>
                  <a:schemeClr val="tx1"/>
                </a:solidFill>
                <a:latin typeface="微软雅黑" panose="020B0503020204020204" pitchFamily="34" charset="-122"/>
                <a:ea typeface="微软雅黑" panose="020B0503020204020204" pitchFamily="34" charset="-122"/>
                <a:sym typeface="+mn-ea"/>
              </a:rPr>
              <a:t>执行依赖于离散值或者与指定变量相匹配的一定数据范围的语句</a:t>
            </a:r>
            <a:r>
              <a:rPr lang="zh-CN" altLang="en-US" sz="2000" dirty="0">
                <a:solidFill>
                  <a:schemeClr val="tx1"/>
                </a:solidFill>
                <a:latin typeface="微软雅黑" panose="020B0503020204020204" pitchFamily="34" charset="-122"/>
                <a:ea typeface="微软雅黑" panose="020B0503020204020204" pitchFamily="34" charset="-122"/>
                <a:sym typeface="+mn-ea"/>
              </a:rPr>
              <a:t>。在大多数情况下，如果存在很多条件，那么可以使用case语句来代替if语句。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par>
                          <p:cTn id="11" fill="hold">
                            <p:stCondLst>
                              <p:cond delay="500"/>
                            </p:stCondLst>
                            <p:childTnLst>
                              <p:par>
                                <p:cTn id="12" presetID="23" presetClass="entr" presetSubtype="16" fill="hold" grpId="2"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childTnLst>
                                </p:cTn>
                              </p:par>
                            </p:childTnLst>
                          </p:cTn>
                        </p:par>
                        <p:par>
                          <p:cTn id="16" fill="hold">
                            <p:stCondLst>
                              <p:cond delay="1000"/>
                            </p:stCondLst>
                            <p:childTnLst>
                              <p:par>
                                <p:cTn id="17" presetID="18" presetClass="entr" presetSubtype="6"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strips(downRight)">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6" grpId="0" animBg="1"/>
      <p:bldP spid="6" grpId="1" animBg="1"/>
      <p:bldP spid="6" grpId="2"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757680"/>
            <a:ext cx="11251565" cy="456692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795654" y="1876425"/>
            <a:ext cx="10888345" cy="4359274"/>
            <a:chOff x="1166778" y="1786406"/>
            <a:chExt cx="3231686" cy="1702458"/>
          </a:xfrm>
        </p:grpSpPr>
        <p:grpSp>
          <p:nvGrpSpPr>
            <p:cNvPr id="4" name="组合 12"/>
            <p:cNvGrpSpPr/>
            <p:nvPr/>
          </p:nvGrpSpPr>
          <p:grpSpPr bwMode="auto">
            <a:xfrm>
              <a:off x="1166778" y="1786406"/>
              <a:ext cx="3231686" cy="1702458"/>
              <a:chOff x="1166778" y="1786406"/>
              <a:chExt cx="3231686" cy="1702458"/>
            </a:xfrm>
          </p:grpSpPr>
          <p:sp>
            <p:nvSpPr>
              <p:cNvPr id="5" name="矩形 4"/>
              <p:cNvSpPr/>
              <p:nvPr/>
            </p:nvSpPr>
            <p:spPr>
              <a:xfrm>
                <a:off x="1166778" y="1786406"/>
                <a:ext cx="3231686" cy="1702458"/>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213" y="1794590"/>
                <a:ext cx="3227772" cy="29262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【例5-</a:t>
                </a:r>
                <a:r>
                  <a:rPr lang="en-US" altLang="zh-CN" sz="1800" b="1">
                    <a:solidFill>
                      <a:srgbClr val="FF0000"/>
                    </a:solidFill>
                    <a:latin typeface="微软雅黑" panose="020B0503020204020204" pitchFamily="34" charset="-122"/>
                    <a:ea typeface="微软雅黑" panose="020B0503020204020204" pitchFamily="34" charset="-122"/>
                    <a:cs typeface="华康俪金黑W8(P)"/>
                  </a:rPr>
                  <a:t>9</a:t>
                </a:r>
                <a:r>
                  <a:rPr lang="zh-CN" altLang="en-US" sz="18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以月份数字作为参数，编写一个回显月份名的脚本，脚本文件名为example9。</a:t>
                </a:r>
              </a:p>
            </p:txBody>
          </p:sp>
        </p:grpSp>
        <p:sp>
          <p:nvSpPr>
            <p:cNvPr id="36" name="MH_Text_1"/>
            <p:cNvSpPr txBox="1">
              <a:spLocks noChangeArrowheads="1"/>
            </p:cNvSpPr>
            <p:nvPr>
              <p:custDataLst>
                <p:tags r:id="rId2"/>
              </p:custDataLst>
            </p:nvPr>
          </p:nvSpPr>
          <p:spPr bwMode="auto">
            <a:xfrm>
              <a:off x="1207644" y="1953056"/>
              <a:ext cx="3138048" cy="1520929"/>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case  $1  in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 echo "month is January";;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2) echo "month is February";;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3) echo "month is March";;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4) echo "month is April";;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5) echo "month is May";;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6) echo "month is June";;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7) echo "month is July";;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8) echo "month is August";;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9) echo "month is September";;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10) echo "month is October";;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11) echo "month is November";;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12) echo "month is December";;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echo "Invalid parameter.";; </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esac</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#end</a:t>
              </a:r>
            </a:p>
          </p:txBody>
        </p:sp>
      </p:grpSp>
      <p:grpSp>
        <p:nvGrpSpPr>
          <p:cNvPr id="6" name="组合 14"/>
          <p:cNvGrpSpPr/>
          <p:nvPr/>
        </p:nvGrpSpPr>
        <p:grpSpPr bwMode="auto">
          <a:xfrm>
            <a:off x="5498465" y="3100070"/>
            <a:ext cx="5133340" cy="2385059"/>
            <a:chOff x="1166778" y="1786406"/>
            <a:chExt cx="3405830" cy="931454"/>
          </a:xfrm>
        </p:grpSpPr>
        <p:grpSp>
          <p:nvGrpSpPr>
            <p:cNvPr id="7" name="组合 12"/>
            <p:cNvGrpSpPr/>
            <p:nvPr/>
          </p:nvGrpSpPr>
          <p:grpSpPr bwMode="auto">
            <a:xfrm>
              <a:off x="1166778" y="1786406"/>
              <a:ext cx="3405830" cy="931454"/>
              <a:chOff x="1166778" y="1786406"/>
              <a:chExt cx="3405830" cy="931454"/>
            </a:xfrm>
          </p:grpSpPr>
          <p:sp>
            <p:nvSpPr>
              <p:cNvPr id="8" name="矩形 7"/>
              <p:cNvSpPr/>
              <p:nvPr/>
            </p:nvSpPr>
            <p:spPr>
              <a:xfrm>
                <a:off x="1166778" y="1786406"/>
                <a:ext cx="3405830" cy="931454"/>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1167199" y="1794590"/>
                <a:ext cx="3074263" cy="1641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运行这个脚本：</a:t>
                </a:r>
              </a:p>
            </p:txBody>
          </p:sp>
        </p:grpSp>
        <p:sp>
          <p:nvSpPr>
            <p:cNvPr id="13" name="MH_Text_1"/>
            <p:cNvSpPr txBox="1">
              <a:spLocks noChangeArrowheads="1"/>
            </p:cNvSpPr>
            <p:nvPr>
              <p:custDataLst>
                <p:tags r:id="rId1"/>
              </p:custDataLst>
            </p:nvPr>
          </p:nvSpPr>
          <p:spPr bwMode="auto">
            <a:xfrm>
              <a:off x="1228289" y="1958760"/>
              <a:ext cx="3284073" cy="634361"/>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example9  2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month is February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example9  14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Invalid parameter.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downRigh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3831476" y="1694815"/>
            <a:ext cx="7960183" cy="4530090"/>
            <a:chOff x="1166778" y="1786406"/>
            <a:chExt cx="3669390" cy="1882252"/>
          </a:xfrm>
        </p:grpSpPr>
        <p:grpSp>
          <p:nvGrpSpPr>
            <p:cNvPr id="4" name="组合 12"/>
            <p:cNvGrpSpPr/>
            <p:nvPr/>
          </p:nvGrpSpPr>
          <p:grpSpPr bwMode="auto">
            <a:xfrm>
              <a:off x="1166778" y="1786406"/>
              <a:ext cx="3669390" cy="1882252"/>
              <a:chOff x="1166778" y="1786406"/>
              <a:chExt cx="3669390" cy="1882252"/>
            </a:xfrm>
          </p:grpSpPr>
          <p:sp>
            <p:nvSpPr>
              <p:cNvPr id="5" name="矩形 4"/>
              <p:cNvSpPr/>
              <p:nvPr/>
            </p:nvSpPr>
            <p:spPr>
              <a:xfrm>
                <a:off x="1166778" y="1786406"/>
                <a:ext cx="3669328" cy="188225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279" y="1794590"/>
                <a:ext cx="3668889" cy="539294"/>
              </a:xfrm>
              <a:prstGeom prst="rect">
                <a:avLst/>
              </a:prstGeom>
              <a:noFill/>
              <a:ln w="9525">
                <a:noFill/>
                <a:miter lim="800000"/>
              </a:ln>
            </p:spPr>
            <p:txBody>
              <a:bodyPr wrap="square">
                <a:spAutoFit/>
              </a:bodyPr>
              <a:lstStyle/>
              <a:p>
                <a:pPr>
                  <a:lnSpc>
                    <a:spcPct val="11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【例5-</a:t>
                </a:r>
                <a:r>
                  <a:rPr lang="en-US" altLang="zh-CN" sz="1800" b="1">
                    <a:solidFill>
                      <a:srgbClr val="FF0000"/>
                    </a:solidFill>
                    <a:latin typeface="微软雅黑" panose="020B0503020204020204" pitchFamily="34" charset="-122"/>
                    <a:ea typeface="微软雅黑" panose="020B0503020204020204" pitchFamily="34" charset="-122"/>
                    <a:cs typeface="华康俪金黑W8(P)"/>
                  </a:rPr>
                  <a:t>10</a:t>
                </a:r>
                <a:r>
                  <a:rPr lang="zh-CN" altLang="en-US" sz="18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下面的脚本检查命令行的第一个参数是否为-b或-s。如果是-b，则计算由第二个参数指定的文件中以b开头的行数。如果是-s，则计算由第二个参数指定的文件中以s开头的行数。如果第一个参数不是-b或-s，则显示一条选择有错的信息。脚本文件名为example10。</a:t>
                </a:r>
              </a:p>
            </p:txBody>
          </p:sp>
        </p:grpSp>
        <p:sp>
          <p:nvSpPr>
            <p:cNvPr id="36" name="MH_Text_1"/>
            <p:cNvSpPr txBox="1">
              <a:spLocks noChangeArrowheads="1"/>
            </p:cNvSpPr>
            <p:nvPr>
              <p:custDataLst>
                <p:tags r:id="rId1"/>
              </p:custDataLst>
            </p:nvPr>
          </p:nvSpPr>
          <p:spPr bwMode="auto">
            <a:xfrm>
              <a:off x="1185806" y="2354458"/>
              <a:ext cx="3621174" cy="1266708"/>
            </a:xfrm>
            <a:prstGeom prst="rect">
              <a:avLst/>
            </a:prstGeom>
            <a:solidFill>
              <a:srgbClr val="F2F2F2"/>
            </a:solidFill>
            <a:ln w="9525">
              <a:noFill/>
              <a:miter lim="800000"/>
            </a:ln>
          </p:spPr>
          <p:txBody>
            <a:bodyPr/>
            <a:lstStyle/>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case  $1  in</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 count='grep  ^b  $2 |wc  -l'</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"The number of lines in $2 that start with b is $count.";;</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-s) count='grep  ^s  $2|wc  -l'</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"The number of lines in $2 that start with s is $count.";;</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echo  "That option is not recognized.";;</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esac</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a:t>
              </a:r>
            </a:p>
          </p:txBody>
        </p:sp>
      </p:grpSp>
      <p:sp>
        <p:nvSpPr>
          <p:cNvPr id="11" name="Text Box 44"/>
          <p:cNvSpPr txBox="1">
            <a:spLocks noChangeArrowheads="1"/>
          </p:cNvSpPr>
          <p:nvPr/>
        </p:nvSpPr>
        <p:spPr bwMode="auto">
          <a:xfrm>
            <a:off x="698500" y="1714500"/>
            <a:ext cx="3024505" cy="100584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50000"/>
              </a:lnSpc>
            </a:pPr>
            <a:r>
              <a:rPr lang="zh-CN" altLang="en-US" sz="2000" b="1" dirty="0">
                <a:solidFill>
                  <a:srgbClr val="0070C0"/>
                </a:solidFill>
              </a:rPr>
              <a:t>在使用case语句时应注意以下6个方面：</a:t>
            </a:r>
          </a:p>
        </p:txBody>
      </p:sp>
      <p:sp>
        <p:nvSpPr>
          <p:cNvPr id="7" name="圆角矩形 6"/>
          <p:cNvSpPr/>
          <p:nvPr/>
        </p:nvSpPr>
        <p:spPr>
          <a:xfrm>
            <a:off x="570865" y="3122930"/>
            <a:ext cx="3182620" cy="206057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（1）每个模式字符串后面可以有一条或多条命令，其后一条命令必须以</a:t>
            </a:r>
            <a:r>
              <a:rPr lang="zh-CN" altLang="en-US" sz="2000" dirty="0">
                <a:solidFill>
                  <a:srgbClr val="C00000"/>
                </a:solidFill>
                <a:latin typeface="微软雅黑" panose="020B0503020204020204" pitchFamily="34" charset="-122"/>
                <a:ea typeface="微软雅黑" panose="020B0503020204020204" pitchFamily="34" charset="-122"/>
                <a:sym typeface="+mn-ea"/>
              </a:rPr>
              <a:t>两个分号结束</a:t>
            </a:r>
            <a:r>
              <a:rPr lang="zh-CN" altLang="en-US" sz="2000" dirty="0">
                <a:solidFill>
                  <a:schemeClr val="tx1"/>
                </a:solidFill>
                <a:latin typeface="微软雅黑" panose="020B0503020204020204" pitchFamily="34" charset="-122"/>
                <a:ea typeface="微软雅黑" panose="020B0503020204020204" pitchFamily="34" charset="-122"/>
                <a:sym typeface="+mn-ea"/>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strips(downRigh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7" grpId="1" animBg="1"/>
      <p:bldP spid="7" grpId="2"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27685" y="16560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3831590" y="2366010"/>
            <a:ext cx="7960360" cy="3648075"/>
            <a:chOff x="1166778" y="1786406"/>
            <a:chExt cx="3669390" cy="1882252"/>
          </a:xfrm>
        </p:grpSpPr>
        <p:grpSp>
          <p:nvGrpSpPr>
            <p:cNvPr id="4" name="组合 12"/>
            <p:cNvGrpSpPr/>
            <p:nvPr/>
          </p:nvGrpSpPr>
          <p:grpSpPr bwMode="auto">
            <a:xfrm>
              <a:off x="1166778" y="1786406"/>
              <a:ext cx="3669390" cy="1882252"/>
              <a:chOff x="1166778" y="1786406"/>
              <a:chExt cx="3669390" cy="1882252"/>
            </a:xfrm>
          </p:grpSpPr>
          <p:sp>
            <p:nvSpPr>
              <p:cNvPr id="5" name="矩形 4"/>
              <p:cNvSpPr/>
              <p:nvPr/>
            </p:nvSpPr>
            <p:spPr>
              <a:xfrm>
                <a:off x="1166778" y="1786406"/>
                <a:ext cx="3669328" cy="188225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279" y="1794590"/>
                <a:ext cx="3668889" cy="202805"/>
              </a:xfrm>
              <a:prstGeom prst="rect">
                <a:avLst/>
              </a:prstGeom>
              <a:noFill/>
              <a:ln w="9525">
                <a:noFill/>
                <a:miter lim="800000"/>
              </a:ln>
            </p:spPr>
            <p:txBody>
              <a:bodyPr wrap="square">
                <a:spAutoFit/>
              </a:bodyPr>
              <a:lstStyle/>
              <a:p>
                <a:pPr>
                  <a:lnSpc>
                    <a:spcPct val="110000"/>
                  </a:lnSpc>
                  <a:spcAft>
                    <a:spcPts val="500"/>
                  </a:spcAft>
                  <a:buFont typeface="Arial" panose="020B0604020202020204" pitchFamily="34" charset="0"/>
                  <a:buNone/>
                </a:pP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【例5-</a:t>
                </a:r>
                <a:r>
                  <a:rPr lang="en-US" altLang="zh-CN" sz="1800" b="1" dirty="0">
                    <a:solidFill>
                      <a:srgbClr val="FF0000"/>
                    </a:solidFill>
                    <a:latin typeface="微软雅黑" panose="020B0503020204020204" pitchFamily="34" charset="-122"/>
                    <a:ea typeface="微软雅黑" panose="020B0503020204020204" pitchFamily="34" charset="-122"/>
                    <a:cs typeface="华康俪金黑W8(P)"/>
                  </a:rPr>
                  <a:t>11</a:t>
                </a: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在模式字符串中通配符的应用，脚本文件名为example11。</a:t>
                </a:r>
              </a:p>
            </p:txBody>
          </p:sp>
        </p:grpSp>
        <p:sp>
          <p:nvSpPr>
            <p:cNvPr id="36" name="MH_Text_1"/>
            <p:cNvSpPr txBox="1">
              <a:spLocks noChangeArrowheads="1"/>
            </p:cNvSpPr>
            <p:nvPr>
              <p:custDataLst>
                <p:tags r:id="rId1"/>
              </p:custDataLst>
            </p:nvPr>
          </p:nvSpPr>
          <p:spPr bwMode="auto">
            <a:xfrm>
              <a:off x="1215075" y="2023285"/>
              <a:ext cx="3621093" cy="1516941"/>
            </a:xfrm>
            <a:prstGeom prst="rect">
              <a:avLst/>
            </a:prstGeom>
            <a:solidFill>
              <a:srgbClr val="F2F2F2"/>
            </a:solidFill>
            <a:ln w="9525">
              <a:noFill/>
              <a:miter lim="800000"/>
            </a:ln>
          </p:spPr>
          <p:txBody>
            <a:bodyPr/>
            <a:lstStyle/>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case  $1  in </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-u) echo  "Searching  /usr/'logname'  for:$2"</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find /usr/'logname' -name  $2  -print;;</a:t>
              </a:r>
            </a:p>
            <a:p>
              <a:pPr indent="457200" algn="l" eaLnBrk="1" fontAlgn="auto" latinLnBrk="0" hangingPunct="1">
                <a:lnSpc>
                  <a:spcPct val="110000"/>
                </a:lnSpc>
                <a:buFont typeface="Arial" panose="020B0604020202020204" pitchFamily="34" charset="0"/>
                <a:buNone/>
                <a:defRPr/>
              </a:pPr>
              <a:r>
                <a:rPr lang="zh-CN" altLang="en-US" sz="1800" b="1" dirty="0">
                  <a:solidFill>
                    <a:srgbClr val="C00000"/>
                  </a:solidFill>
                  <a:latin typeface="微软雅黑" panose="020B0503020204020204" pitchFamily="34" charset="-122"/>
                  <a:ea typeface="微软雅黑" panose="020B0503020204020204" pitchFamily="34" charset="-122"/>
                  <a:cs typeface="+mn-cs"/>
                  <a:sym typeface="+mn-ea"/>
                </a:rPr>
                <a:t>-[cs] </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"statement  for  command:$2"</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find /bin  /usr/bin  /etc  -name  $2  -print;;</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  echo  "invalid  first  argument. ";;</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esac </a:t>
              </a:r>
            </a:p>
            <a:p>
              <a:pPr indent="457200" algn="l" eaLnBrk="1" fontAlgn="auto" latinLnBrk="0" hangingPunct="1">
                <a:lnSpc>
                  <a:spcPct val="11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 </a:t>
              </a:r>
            </a:p>
          </p:txBody>
        </p:sp>
      </p:grpSp>
      <p:sp>
        <p:nvSpPr>
          <p:cNvPr id="12" name="圆角矩形 11"/>
          <p:cNvSpPr/>
          <p:nvPr/>
        </p:nvSpPr>
        <p:spPr>
          <a:xfrm>
            <a:off x="698500" y="3238499"/>
            <a:ext cx="2806700" cy="1905001"/>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（2）模式字符串中可以使用通配符。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2"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Righ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4608195" y="2139315"/>
            <a:ext cx="6828154" cy="3648075"/>
            <a:chOff x="1166778" y="1786406"/>
            <a:chExt cx="3147491" cy="1882252"/>
          </a:xfrm>
        </p:grpSpPr>
        <p:grpSp>
          <p:nvGrpSpPr>
            <p:cNvPr id="4" name="组合 12"/>
            <p:cNvGrpSpPr/>
            <p:nvPr/>
          </p:nvGrpSpPr>
          <p:grpSpPr bwMode="auto">
            <a:xfrm>
              <a:off x="1166778" y="1786406"/>
              <a:ext cx="3147491" cy="1882252"/>
              <a:chOff x="1166778" y="1786406"/>
              <a:chExt cx="3147491" cy="1882252"/>
            </a:xfrm>
          </p:grpSpPr>
          <p:sp>
            <p:nvSpPr>
              <p:cNvPr id="5" name="矩形 4"/>
              <p:cNvSpPr/>
              <p:nvPr/>
            </p:nvSpPr>
            <p:spPr>
              <a:xfrm>
                <a:off x="1166778" y="1786406"/>
                <a:ext cx="3147491" cy="188225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363" y="1794597"/>
                <a:ext cx="3097731" cy="202805"/>
              </a:xfrm>
              <a:prstGeom prst="rect">
                <a:avLst/>
              </a:prstGeom>
              <a:noFill/>
              <a:ln w="9525">
                <a:noFill/>
                <a:miter lim="800000"/>
              </a:ln>
            </p:spPr>
            <p:txBody>
              <a:bodyPr wrap="square">
                <a:spAutoFit/>
              </a:bodyPr>
              <a:lstStyle/>
              <a:p>
                <a:pPr>
                  <a:lnSpc>
                    <a:spcPct val="11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【例5-</a:t>
                </a:r>
                <a:r>
                  <a:rPr lang="en-US" altLang="zh-CN" sz="1800" b="1">
                    <a:solidFill>
                      <a:srgbClr val="FF0000"/>
                    </a:solidFill>
                    <a:latin typeface="微软雅黑" panose="020B0503020204020204" pitchFamily="34" charset="-122"/>
                    <a:ea typeface="微软雅黑" panose="020B0503020204020204" pitchFamily="34" charset="-122"/>
                    <a:cs typeface="华康俪金黑W8(P)"/>
                  </a:rPr>
                  <a:t>12</a:t>
                </a:r>
                <a:r>
                  <a:rPr lang="zh-CN" altLang="en-US" sz="18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在模式字符串中“或”关系的应用。</a:t>
                </a:r>
              </a:p>
            </p:txBody>
          </p:sp>
        </p:grpSp>
        <p:sp>
          <p:nvSpPr>
            <p:cNvPr id="36" name="MH_Text_1"/>
            <p:cNvSpPr txBox="1">
              <a:spLocks noChangeArrowheads="1"/>
            </p:cNvSpPr>
            <p:nvPr>
              <p:custDataLst>
                <p:tags r:id="rId1"/>
              </p:custDataLst>
            </p:nvPr>
          </p:nvSpPr>
          <p:spPr bwMode="auto">
            <a:xfrm>
              <a:off x="1215075" y="2023285"/>
              <a:ext cx="3057630" cy="1516941"/>
            </a:xfrm>
            <a:prstGeom prst="rect">
              <a:avLst/>
            </a:prstGeom>
            <a:solidFill>
              <a:srgbClr val="F2F2F2"/>
            </a:solidFill>
            <a:ln w="9525">
              <a:noFill/>
              <a:miter lim="800000"/>
            </a:ln>
          </p:spPr>
          <p:txBody>
            <a:bodyPr/>
            <a:lstStyle/>
            <a:p>
              <a:pPr indent="45720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45720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case  $choice  in</a:t>
              </a:r>
            </a:p>
            <a:p>
              <a:pPr indent="45720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sz="2000" b="1" dirty="0">
                  <a:solidFill>
                    <a:srgbClr val="C00000"/>
                  </a:solidFill>
                  <a:latin typeface="微软雅黑" panose="020B0503020204020204" pitchFamily="34" charset="-122"/>
                  <a:ea typeface="微软雅黑" panose="020B0503020204020204" pitchFamily="34" charset="-122"/>
                  <a:cs typeface="+mn-cs"/>
                  <a:sym typeface="+mn-ea"/>
                </a:rPr>
                <a:t>time|date</a:t>
              </a: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echo "The time is 'date'.";;</a:t>
              </a:r>
            </a:p>
            <a:p>
              <a:pPr indent="45720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sz="2000" b="1" dirty="0">
                  <a:solidFill>
                    <a:srgbClr val="C00000"/>
                  </a:solidFill>
                  <a:latin typeface="微软雅黑" panose="020B0503020204020204" pitchFamily="34" charset="-122"/>
                  <a:ea typeface="微软雅黑" panose="020B0503020204020204" pitchFamily="34" charset="-122"/>
                  <a:cs typeface="+mn-cs"/>
                  <a:sym typeface="+mn-ea"/>
                </a:rPr>
                <a:t>dir|path</a:t>
              </a: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echo "Current directory is 'pwd'.";;</a:t>
              </a:r>
            </a:p>
            <a:p>
              <a:pPr indent="45720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echo "Bad argument.";; </a:t>
              </a:r>
            </a:p>
            <a:p>
              <a:pPr indent="45720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esac</a:t>
              </a:r>
            </a:p>
            <a:p>
              <a:pPr indent="45720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#end</a:t>
              </a:r>
            </a:p>
          </p:txBody>
        </p:sp>
      </p:grpSp>
      <p:sp>
        <p:nvSpPr>
          <p:cNvPr id="7" name="圆角矩形 6"/>
          <p:cNvSpPr/>
          <p:nvPr/>
        </p:nvSpPr>
        <p:spPr>
          <a:xfrm>
            <a:off x="698500" y="2239010"/>
            <a:ext cx="3522980" cy="354520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（3）如果一个模式字符串中包含多个模式，那么各模式之间应</a:t>
            </a:r>
            <a:r>
              <a:rPr lang="zh-CN" altLang="en-US" sz="2000" dirty="0">
                <a:solidFill>
                  <a:srgbClr val="FF0000"/>
                </a:solidFill>
                <a:latin typeface="微软雅黑" panose="020B0503020204020204" pitchFamily="34" charset="-122"/>
                <a:ea typeface="微软雅黑" panose="020B0503020204020204" pitchFamily="34" charset="-122"/>
                <a:sym typeface="+mn-ea"/>
              </a:rPr>
              <a:t>以竖线（|）</a:t>
            </a:r>
            <a:r>
              <a:rPr lang="zh-CN" altLang="en-US" sz="2000" dirty="0">
                <a:solidFill>
                  <a:schemeClr val="tx1"/>
                </a:solidFill>
                <a:latin typeface="微软雅黑" panose="020B0503020204020204" pitchFamily="34" charset="-122"/>
                <a:ea typeface="微软雅黑" panose="020B0503020204020204" pitchFamily="34" charset="-122"/>
                <a:sym typeface="+mn-ea"/>
              </a:rPr>
              <a:t>隔开，表示各模式是</a:t>
            </a:r>
            <a:r>
              <a:rPr lang="zh-CN" altLang="en-US" sz="2000" dirty="0">
                <a:solidFill>
                  <a:srgbClr val="FF0000"/>
                </a:solidFill>
                <a:latin typeface="微软雅黑" panose="020B0503020204020204" pitchFamily="34" charset="-122"/>
                <a:ea typeface="微软雅黑" panose="020B0503020204020204" pitchFamily="34" charset="-122"/>
                <a:sym typeface="+mn-ea"/>
              </a:rPr>
              <a:t>“或”</a:t>
            </a:r>
            <a:r>
              <a:rPr lang="zh-CN" altLang="en-US" sz="2000" dirty="0">
                <a:solidFill>
                  <a:schemeClr val="tx1"/>
                </a:solidFill>
                <a:latin typeface="微软雅黑" panose="020B0503020204020204" pitchFamily="34" charset="-122"/>
                <a:ea typeface="微软雅黑" panose="020B0503020204020204" pitchFamily="34" charset="-122"/>
                <a:sym typeface="+mn-ea"/>
              </a:rPr>
              <a:t>的关系，即只要给定字符串与其中一个模式相配，就会执行其后的命令表。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2"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Righ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5.6.1  条件语句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pic>
        <p:nvPicPr>
          <p:cNvPr id="3" name="Picture 7" descr="D:\Teliss_Tong\Copy\定期备份\工作备份\！PPT图片及版面资源\06-PPT精选插图\12-标签\绿叶边框.png"/>
          <p:cNvPicPr>
            <a:picLocks noChangeAspect="1" noChangeArrowheads="1"/>
          </p:cNvPicPr>
          <p:nvPr/>
        </p:nvPicPr>
        <p:blipFill>
          <a:blip r:embed="rId2" cstate="email"/>
          <a:srcRect/>
          <a:stretch>
            <a:fillRect/>
          </a:stretch>
        </p:blipFill>
        <p:spPr bwMode="auto">
          <a:xfrm>
            <a:off x="488315" y="1694815"/>
            <a:ext cx="11778615"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44"/>
          <p:cNvSpPr txBox="1">
            <a:spLocks noChangeArrowheads="1"/>
          </p:cNvSpPr>
          <p:nvPr/>
        </p:nvSpPr>
        <p:spPr bwMode="auto">
          <a:xfrm>
            <a:off x="1845945" y="2538730"/>
            <a:ext cx="7890510" cy="320040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70000"/>
              </a:lnSpc>
            </a:pPr>
            <a:r>
              <a:rPr lang="zh-CN" altLang="en-US" sz="2000" dirty="0">
                <a:solidFill>
                  <a:schemeClr val="tx1">
                    <a:lumMod val="85000"/>
                    <a:lumOff val="15000"/>
                  </a:schemeClr>
                </a:solidFill>
              </a:rPr>
              <a:t>（4）各模式字符串应是</a:t>
            </a:r>
            <a:r>
              <a:rPr lang="zh-CN" altLang="en-US" sz="2000" b="1" dirty="0">
                <a:solidFill>
                  <a:srgbClr val="0070C0"/>
                </a:solidFill>
              </a:rPr>
              <a:t>唯一的</a:t>
            </a:r>
            <a:r>
              <a:rPr lang="zh-CN" altLang="en-US" sz="2000" dirty="0">
                <a:solidFill>
                  <a:schemeClr val="tx1">
                    <a:lumMod val="85000"/>
                    <a:lumOff val="15000"/>
                  </a:schemeClr>
                </a:solidFill>
              </a:rPr>
              <a:t>，不应重复出现。并且要合理安排它们的</a:t>
            </a:r>
            <a:r>
              <a:rPr lang="zh-CN" altLang="en-US" sz="2000" b="1" dirty="0">
                <a:solidFill>
                  <a:srgbClr val="0070C0"/>
                </a:solidFill>
              </a:rPr>
              <a:t>出现顺序</a:t>
            </a:r>
            <a:r>
              <a:rPr lang="zh-CN" altLang="en-US" sz="2000" dirty="0">
                <a:solidFill>
                  <a:schemeClr val="tx1">
                    <a:lumMod val="85000"/>
                    <a:lumOff val="15000"/>
                  </a:schemeClr>
                </a:solidFill>
              </a:rPr>
              <a:t>。例如，不应将*作为头一个模式字符串。因为*可以与任何字符串匹配。它若第一个出现，就不会再检查其他模式了。</a:t>
            </a:r>
          </a:p>
          <a:p>
            <a:pPr eaLnBrk="1" latinLnBrk="0" hangingPunct="1">
              <a:lnSpc>
                <a:spcPct val="170000"/>
              </a:lnSpc>
            </a:pPr>
            <a:r>
              <a:rPr lang="zh-CN" altLang="en-US" sz="2000" dirty="0">
                <a:solidFill>
                  <a:schemeClr val="tx1">
                    <a:lumMod val="85000"/>
                    <a:lumOff val="15000"/>
                  </a:schemeClr>
                </a:solidFill>
              </a:rPr>
              <a:t>（5）case语句以关键字</a:t>
            </a:r>
            <a:r>
              <a:rPr lang="zh-CN" altLang="en-US" sz="2000" b="1" dirty="0">
                <a:solidFill>
                  <a:srgbClr val="0070C0"/>
                </a:solidFill>
              </a:rPr>
              <a:t>case开头</a:t>
            </a:r>
            <a:r>
              <a:rPr lang="zh-CN" altLang="en-US" sz="2000" dirty="0">
                <a:solidFill>
                  <a:schemeClr val="tx1">
                    <a:lumMod val="85000"/>
                    <a:lumOff val="15000"/>
                  </a:schemeClr>
                </a:solidFill>
              </a:rPr>
              <a:t>，以关键字esac结束。</a:t>
            </a:r>
          </a:p>
          <a:p>
            <a:pPr eaLnBrk="1" latinLnBrk="0" hangingPunct="1">
              <a:lnSpc>
                <a:spcPct val="170000"/>
              </a:lnSpc>
            </a:pPr>
            <a:r>
              <a:rPr lang="zh-CN" altLang="en-US" sz="2000" dirty="0">
                <a:solidFill>
                  <a:schemeClr val="tx1">
                    <a:lumMod val="85000"/>
                    <a:lumOff val="15000"/>
                  </a:schemeClr>
                </a:solidFill>
              </a:rPr>
              <a:t>（6）case的退出值是整个结构中最后执行的那个命令的退出值。若没有执行任何命令，则退出值为0。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846580"/>
            <a:ext cx="11251565" cy="456692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5" name="组合 4"/>
          <p:cNvGrpSpPr/>
          <p:nvPr/>
        </p:nvGrpSpPr>
        <p:grpSpPr>
          <a:xfrm>
            <a:off x="373558" y="1954530"/>
            <a:ext cx="9204171" cy="4187190"/>
            <a:chOff x="588" y="3078"/>
            <a:chExt cx="14495" cy="6594"/>
          </a:xfrm>
        </p:grpSpPr>
        <p:grpSp>
          <p:nvGrpSpPr>
            <p:cNvPr id="32" name="组合 31"/>
            <p:cNvGrpSpPr/>
            <p:nvPr/>
          </p:nvGrpSpPr>
          <p:grpSpPr>
            <a:xfrm>
              <a:off x="588" y="4056"/>
              <a:ext cx="4069" cy="1054"/>
              <a:chOff x="9605" y="5617"/>
              <a:chExt cx="3706"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1．while语句</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3" name="Text Box 44"/>
            <p:cNvSpPr txBox="1">
              <a:spLocks noChangeArrowheads="1"/>
            </p:cNvSpPr>
            <p:nvPr/>
          </p:nvSpPr>
          <p:spPr bwMode="auto">
            <a:xfrm>
              <a:off x="902" y="3078"/>
              <a:ext cx="14181" cy="91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b="1" dirty="0">
                  <a:solidFill>
                    <a:srgbClr val="0070C0"/>
                  </a:solidFill>
                </a:rPr>
                <a:t>shell中有3种用于循环的语句，即while语句、for语句及until语句。</a:t>
              </a:r>
            </a:p>
          </p:txBody>
        </p:sp>
        <p:grpSp>
          <p:nvGrpSpPr>
            <p:cNvPr id="4" name="组合 3"/>
            <p:cNvGrpSpPr/>
            <p:nvPr/>
          </p:nvGrpSpPr>
          <p:grpSpPr>
            <a:xfrm>
              <a:off x="1100" y="4850"/>
              <a:ext cx="6703" cy="4822"/>
              <a:chOff x="1514" y="3199"/>
              <a:chExt cx="4467" cy="4822"/>
            </a:xfrm>
          </p:grpSpPr>
          <p:sp>
            <p:nvSpPr>
              <p:cNvPr id="24" name="Text Box 44"/>
              <p:cNvSpPr txBox="1">
                <a:spLocks noChangeArrowheads="1"/>
              </p:cNvSpPr>
              <p:nvPr/>
            </p:nvSpPr>
            <p:spPr bwMode="auto">
              <a:xfrm>
                <a:off x="1514" y="3199"/>
                <a:ext cx="3980" cy="91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sym typeface="+mn-ea"/>
                  </a:rPr>
                  <a:t>while语句的一般形式如下：</a:t>
                </a:r>
                <a:endParaRPr lang="zh-CN" altLang="en-US" sz="2000" b="1" dirty="0">
                  <a:solidFill>
                    <a:srgbClr val="009900"/>
                  </a:solidFill>
                </a:endParaRPr>
              </a:p>
            </p:txBody>
          </p:sp>
          <p:grpSp>
            <p:nvGrpSpPr>
              <p:cNvPr id="27" name="组合 26"/>
              <p:cNvGrpSpPr/>
              <p:nvPr/>
            </p:nvGrpSpPr>
            <p:grpSpPr>
              <a:xfrm>
                <a:off x="3411" y="4539"/>
                <a:ext cx="2570" cy="3482"/>
                <a:chOff x="534" y="5844"/>
                <a:chExt cx="2570" cy="3482"/>
              </a:xfrm>
            </p:grpSpPr>
            <p:sp>
              <p:nvSpPr>
                <p:cNvPr id="28" name="流程图: 过程 27"/>
                <p:cNvSpPr/>
                <p:nvPr/>
              </p:nvSpPr>
              <p:spPr>
                <a:xfrm>
                  <a:off x="534" y="5844"/>
                  <a:ext cx="2570" cy="3482"/>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9" name="文本框 28"/>
                <p:cNvSpPr txBox="1"/>
                <p:nvPr/>
              </p:nvSpPr>
              <p:spPr>
                <a:xfrm>
                  <a:off x="664" y="6073"/>
                  <a:ext cx="2364" cy="302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while测试条件</a:t>
                  </a:r>
                </a:p>
                <a:p>
                  <a:pPr indent="0" algn="l" eaLnBrk="1" fontAlgn="auto" latinLnBrk="0" hangingPunct="1">
                    <a:lnSpc>
                      <a:spcPct val="150000"/>
                    </a:lnSpc>
                    <a:buFont typeface="Arial" panose="020B0604020202020204" pitchFamily="34" charset="0"/>
                    <a:buNone/>
                    <a:defRPr/>
                  </a:pPr>
                  <a:r>
                    <a:rPr lang="zh-CN" altLang="en-US" sz="2000" b="1" dirty="0">
                      <a:solidFill>
                        <a:srgbClr val="C00000"/>
                      </a:solidFill>
                      <a:latin typeface="微软雅黑" panose="020B0503020204020204" pitchFamily="34" charset="-122"/>
                      <a:ea typeface="微软雅黑" panose="020B0503020204020204" pitchFamily="34" charset="-122"/>
                      <a:cs typeface="+mn-cs"/>
                      <a:sym typeface="+mn-ea"/>
                    </a:rPr>
                    <a:t>do</a:t>
                  </a:r>
                </a:p>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命令表</a:t>
                  </a:r>
                </a:p>
                <a:p>
                  <a:pPr indent="0" algn="l" eaLnBrk="1" fontAlgn="auto" latinLnBrk="0" hangingPunct="1">
                    <a:lnSpc>
                      <a:spcPct val="150000"/>
                    </a:lnSpc>
                    <a:buFont typeface="Arial" panose="020B0604020202020204" pitchFamily="34" charset="0"/>
                    <a:buNone/>
                    <a:defRPr/>
                  </a:pPr>
                  <a:r>
                    <a:rPr lang="zh-CN" altLang="en-US" sz="2000" b="1" dirty="0">
                      <a:solidFill>
                        <a:srgbClr val="C00000"/>
                      </a:solidFill>
                      <a:latin typeface="微软雅黑" panose="020B0503020204020204" pitchFamily="34" charset="-122"/>
                      <a:ea typeface="微软雅黑" panose="020B0503020204020204" pitchFamily="34" charset="-122"/>
                      <a:cs typeface="+mn-cs"/>
                      <a:sym typeface="+mn-ea"/>
                    </a:rPr>
                    <a:t>done </a:t>
                  </a:r>
                </a:p>
              </p:txBody>
            </p:sp>
          </p:grpSp>
        </p:grpSp>
      </p:grpSp>
      <p:sp>
        <p:nvSpPr>
          <p:cNvPr id="7" name="圆角矩形 6"/>
          <p:cNvSpPr/>
          <p:nvPr/>
        </p:nvSpPr>
        <p:spPr>
          <a:xfrm>
            <a:off x="6190615" y="3505200"/>
            <a:ext cx="4883785" cy="264541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其执行过程是，先进行条件测试，如果结果为真，</a:t>
            </a:r>
            <a:r>
              <a:rPr lang="zh-CN" altLang="en-US" sz="2000" dirty="0">
                <a:solidFill>
                  <a:srgbClr val="C00000"/>
                </a:solidFill>
                <a:latin typeface="微软雅黑" panose="020B0503020204020204" pitchFamily="34" charset="-122"/>
                <a:ea typeface="微软雅黑" panose="020B0503020204020204" pitchFamily="34" charset="-122"/>
                <a:sym typeface="+mn-ea"/>
              </a:rPr>
              <a:t>则进入循环体（do和done之间的部分）</a:t>
            </a:r>
            <a:r>
              <a:rPr lang="zh-CN" altLang="en-US" sz="2000" dirty="0">
                <a:solidFill>
                  <a:schemeClr val="tx1"/>
                </a:solidFill>
                <a:latin typeface="微软雅黑" panose="020B0503020204020204" pitchFamily="34" charset="-122"/>
                <a:ea typeface="微软雅黑" panose="020B0503020204020204" pitchFamily="34" charset="-122"/>
                <a:sym typeface="+mn-ea"/>
              </a:rPr>
              <a:t>，执行其中的命令；然后再做条件测试，……，直至测试条件为假时才终止while语句的执行。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540385" y="1694181"/>
            <a:ext cx="10757879" cy="4798694"/>
            <a:chOff x="1166778" y="1794590"/>
            <a:chExt cx="3231686" cy="1874068"/>
          </a:xfrm>
        </p:grpSpPr>
        <p:grpSp>
          <p:nvGrpSpPr>
            <p:cNvPr id="4" name="组合 12"/>
            <p:cNvGrpSpPr/>
            <p:nvPr/>
          </p:nvGrpSpPr>
          <p:grpSpPr bwMode="auto">
            <a:xfrm>
              <a:off x="1166778" y="1794590"/>
              <a:ext cx="3231686" cy="1874068"/>
              <a:chOff x="1166778" y="1794590"/>
              <a:chExt cx="3231686" cy="1874068"/>
            </a:xfrm>
          </p:grpSpPr>
          <p:sp>
            <p:nvSpPr>
              <p:cNvPr id="5" name="矩形 4"/>
              <p:cNvSpPr/>
              <p:nvPr/>
            </p:nvSpPr>
            <p:spPr>
              <a:xfrm>
                <a:off x="1166778" y="1802525"/>
                <a:ext cx="3231686" cy="186613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213" y="1794590"/>
                <a:ext cx="3227772" cy="1641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【例5-</a:t>
                </a:r>
                <a:r>
                  <a:rPr lang="en-US" altLang="zh-CN" sz="1800" b="1">
                    <a:solidFill>
                      <a:srgbClr val="FF0000"/>
                    </a:solidFill>
                    <a:latin typeface="微软雅黑" panose="020B0503020204020204" pitchFamily="34" charset="-122"/>
                    <a:ea typeface="微软雅黑" panose="020B0503020204020204" pitchFamily="34" charset="-122"/>
                    <a:cs typeface="华康俪金黑W8(P)"/>
                  </a:rPr>
                  <a:t>13</a:t>
                </a:r>
                <a:r>
                  <a:rPr lang="zh-CN" altLang="en-US" sz="18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while语句的应用。</a:t>
                </a:r>
              </a:p>
            </p:txBody>
          </p:sp>
        </p:grpSp>
        <p:sp>
          <p:nvSpPr>
            <p:cNvPr id="36" name="MH_Text_1"/>
            <p:cNvSpPr txBox="1">
              <a:spLocks noChangeArrowheads="1"/>
            </p:cNvSpPr>
            <p:nvPr>
              <p:custDataLst>
                <p:tags r:id="rId1"/>
              </p:custDataLst>
            </p:nvPr>
          </p:nvSpPr>
          <p:spPr bwMode="auto">
            <a:xfrm>
              <a:off x="1217015" y="1941400"/>
              <a:ext cx="3104490" cy="1016764"/>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0" algn="l" eaLnBrk="1" fontAlgn="auto" latinLnBrk="0" hangingPunct="1">
                <a:lnSpc>
                  <a:spcPct val="90000"/>
                </a:lnSpc>
                <a:buFont typeface="Arial" panose="020B0604020202020204" pitchFamily="34" charset="0"/>
                <a:buNone/>
                <a:defRPr/>
              </a:pPr>
              <a:r>
                <a:rPr lang="zh-CN" altLang="en-US" b="1" dirty="0">
                  <a:solidFill>
                    <a:srgbClr val="C00000"/>
                  </a:solidFill>
                  <a:latin typeface="微软雅黑" panose="020B0503020204020204" pitchFamily="34" charset="-122"/>
                  <a:ea typeface="微软雅黑" panose="020B0503020204020204" pitchFamily="34" charset="-122"/>
                  <a:cs typeface="+mn-cs"/>
                  <a:sym typeface="+mn-ea"/>
                </a:rPr>
                <a:t>while [ $1 ]  </a:t>
              </a:r>
            </a:p>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do    </a:t>
              </a:r>
            </a:p>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if    [ -f  $1  ] </a:t>
              </a:r>
            </a:p>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then  echo "display  :$1" </a:t>
              </a:r>
            </a:p>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cat  $1</a:t>
              </a:r>
            </a:p>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else  echo  "$1 is not a file name."</a:t>
              </a:r>
            </a:p>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fi</a:t>
              </a:r>
            </a:p>
            <a:p>
              <a:pPr indent="0" algn="l" eaLnBrk="1" fontAlgn="auto" latinLnBrk="0" hangingPunct="1">
                <a:lnSpc>
                  <a:spcPct val="90000"/>
                </a:lnSpc>
                <a:buFont typeface="Arial" panose="020B0604020202020204" pitchFamily="34" charset="0"/>
                <a:buNone/>
                <a:defRPr/>
              </a:pPr>
              <a:r>
                <a:rPr lang="zh-CN" altLang="en-US" b="1" dirty="0">
                  <a:solidFill>
                    <a:srgbClr val="C00000"/>
                  </a:solidFill>
                  <a:latin typeface="微软雅黑" panose="020B0503020204020204" pitchFamily="34" charset="-122"/>
                  <a:ea typeface="微软雅黑" panose="020B0503020204020204" pitchFamily="34" charset="-122"/>
                  <a:cs typeface="+mn-cs"/>
                  <a:sym typeface="+mn-ea"/>
                </a:rPr>
                <a:t>shift</a:t>
              </a:r>
            </a:p>
            <a:p>
              <a:pPr indent="0" algn="l" eaLnBrk="1" fontAlgn="auto" latinLnBrk="0" hangingPunct="1">
                <a:lnSpc>
                  <a:spcPct val="9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done</a:t>
              </a:r>
            </a:p>
          </p:txBody>
        </p:sp>
      </p:grpSp>
      <p:sp>
        <p:nvSpPr>
          <p:cNvPr id="16" name="圆角矩形 15"/>
          <p:cNvSpPr/>
          <p:nvPr/>
        </p:nvSpPr>
        <p:spPr>
          <a:xfrm>
            <a:off x="585469" y="4838700"/>
            <a:ext cx="8202069" cy="161099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10000"/>
              </a:lnSpc>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sym typeface="+mn-ea"/>
              </a:rPr>
              <a:t>程序的作用是</a:t>
            </a:r>
            <a:endPar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457200" eaLnBrk="1" latinLnBrk="0" hangingPunct="1">
              <a:lnSpc>
                <a:spcPct val="110000"/>
              </a:lnSpc>
            </a:pPr>
            <a:r>
              <a:rPr lang="zh-CN" altLang="en-US" sz="1800" dirty="0">
                <a:solidFill>
                  <a:schemeClr val="tx1">
                    <a:lumMod val="95000"/>
                    <a:lumOff val="5000"/>
                  </a:schemeClr>
                </a:solidFill>
                <a:latin typeface="微软雅黑" panose="020B0503020204020204" pitchFamily="34" charset="-122"/>
                <a:ea typeface="微软雅黑" panose="020B0503020204020204" pitchFamily="34" charset="-122"/>
                <a:sym typeface="+mn-ea"/>
              </a:rPr>
              <a:t>首先判断位置参数1是否为普通文件，若是，则显示其内容；否则，显示它不是文件名的信息。</a:t>
            </a:r>
            <a:r>
              <a:rPr lang="zh-CN" altLang="en-US" sz="1800" dirty="0">
                <a:solidFill>
                  <a:srgbClr val="C00000"/>
                </a:solidFill>
                <a:latin typeface="微软雅黑" panose="020B0503020204020204" pitchFamily="34" charset="-122"/>
                <a:ea typeface="微软雅黑" panose="020B0503020204020204" pitchFamily="34" charset="-122"/>
                <a:sym typeface="+mn-ea"/>
              </a:rPr>
              <a:t>每次循环处理一个位置参数$1，利用shift命令可将后续位置参数左移。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par>
                                <p:cTn id="8" presetID="23" presetClass="entr" presetSubtype="16" fill="hold" grpId="2" nodeType="withEffect">
                                  <p:stCondLst>
                                    <p:cond delay="0"/>
                                  </p:stCondLst>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ppt_w</p:attrName>
                                        </p:attrNameLst>
                                      </p:cBhvr>
                                      <p:tavLst>
                                        <p:tav tm="0">
                                          <p:val>
                                            <p:fltVal val="0"/>
                                          </p:val>
                                        </p:tav>
                                        <p:tav tm="100000">
                                          <p:val>
                                            <p:strVal val="#ppt_w"/>
                                          </p:val>
                                        </p:tav>
                                      </p:tavLst>
                                    </p:anim>
                                    <p:anim calcmode="lin" valueType="num">
                                      <p:cBhvr>
                                        <p:cTn id="11" dur="5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6" grpId="2"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2" name="组合 31"/>
          <p:cNvGrpSpPr/>
          <p:nvPr/>
        </p:nvGrpSpPr>
        <p:grpSpPr>
          <a:xfrm>
            <a:off x="374193" y="1948815"/>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2．for语句</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grpSp>
        <p:nvGrpSpPr>
          <p:cNvPr id="11" name="组合 10"/>
          <p:cNvGrpSpPr/>
          <p:nvPr/>
        </p:nvGrpSpPr>
        <p:grpSpPr>
          <a:xfrm>
            <a:off x="5473700" y="1927225"/>
            <a:ext cx="6113780" cy="4359275"/>
            <a:chOff x="10260" y="2735"/>
            <a:chExt cx="8084" cy="6865"/>
          </a:xfrm>
        </p:grpSpPr>
        <p:grpSp>
          <p:nvGrpSpPr>
            <p:cNvPr id="6" name="组合 14"/>
            <p:cNvGrpSpPr/>
            <p:nvPr/>
          </p:nvGrpSpPr>
          <p:grpSpPr bwMode="auto">
            <a:xfrm>
              <a:off x="10260" y="2735"/>
              <a:ext cx="8084" cy="6865"/>
              <a:chOff x="1166778" y="1786386"/>
              <a:chExt cx="3405830" cy="853407"/>
            </a:xfrm>
          </p:grpSpPr>
          <p:grpSp>
            <p:nvGrpSpPr>
              <p:cNvPr id="7" name="组合 12"/>
              <p:cNvGrpSpPr/>
              <p:nvPr/>
            </p:nvGrpSpPr>
            <p:grpSpPr bwMode="auto">
              <a:xfrm>
                <a:off x="1166778" y="1786386"/>
                <a:ext cx="3405830" cy="853407"/>
                <a:chOff x="1166778" y="1786386"/>
                <a:chExt cx="3405830" cy="853407"/>
              </a:xfrm>
            </p:grpSpPr>
            <p:sp>
              <p:nvSpPr>
                <p:cNvPr id="8" name="矩形 7"/>
                <p:cNvSpPr/>
                <p:nvPr/>
              </p:nvSpPr>
              <p:spPr>
                <a:xfrm>
                  <a:off x="1166778" y="1786386"/>
                  <a:ext cx="3405830" cy="853407"/>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1167199" y="1789618"/>
                  <a:ext cx="3074263" cy="8229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en-US" altLang="zh-CN" sz="1800" b="1">
                      <a:solidFill>
                        <a:srgbClr val="009900"/>
                      </a:solidFill>
                      <a:latin typeface="微软雅黑" panose="020B0503020204020204" pitchFamily="34" charset="-122"/>
                      <a:ea typeface="微软雅黑" panose="020B0503020204020204" pitchFamily="34" charset="-122"/>
                      <a:cs typeface="华康俪金黑W8(P)"/>
                    </a:rPr>
                    <a:t> </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格式一</a:t>
                  </a:r>
                </a:p>
              </p:txBody>
            </p:sp>
          </p:grpSp>
          <p:sp>
            <p:nvSpPr>
              <p:cNvPr id="13" name="MH_Text_1"/>
              <p:cNvSpPr txBox="1">
                <a:spLocks noChangeArrowheads="1"/>
              </p:cNvSpPr>
              <p:nvPr>
                <p:custDataLst>
                  <p:tags r:id="rId1"/>
                </p:custDataLst>
              </p:nvPr>
            </p:nvSpPr>
            <p:spPr bwMode="auto">
              <a:xfrm>
                <a:off x="1259886" y="1872055"/>
                <a:ext cx="3284073" cy="336258"/>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for  变量  </a:t>
                </a:r>
                <a:r>
                  <a:rPr lang="zh-CN" altLang="en-US" sz="1800" b="1" dirty="0">
                    <a:solidFill>
                      <a:srgbClr val="C00000"/>
                    </a:solidFill>
                    <a:latin typeface="微软雅黑" panose="020B0503020204020204" pitchFamily="34" charset="-122"/>
                    <a:ea typeface="微软雅黑" panose="020B0503020204020204" pitchFamily="34" charset="-122"/>
                    <a:cs typeface="+mn-cs"/>
                    <a:sym typeface="+mn-ea"/>
                  </a:rPr>
                  <a:t>in</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值表</a:t>
                </a:r>
              </a:p>
              <a:p>
                <a:pPr indent="0" algn="l" eaLnBrk="1" fontAlgn="auto" latinLnBrk="0" hangingPunct="1">
                  <a:lnSpc>
                    <a:spcPct val="130000"/>
                  </a:lnSpc>
                  <a:buFont typeface="Arial" panose="020B0604020202020204" pitchFamily="34" charset="0"/>
                  <a:buNone/>
                  <a:defRPr/>
                </a:pPr>
                <a:r>
                  <a:rPr lang="zh-CN" altLang="en-US" sz="1800" b="1" dirty="0">
                    <a:solidFill>
                      <a:srgbClr val="C00000"/>
                    </a:solidFill>
                    <a:latin typeface="微软雅黑" panose="020B0503020204020204" pitchFamily="34" charset="-122"/>
                    <a:ea typeface="微软雅黑" panose="020B0503020204020204" pitchFamily="34" charset="-122"/>
                    <a:cs typeface="+mn-cs"/>
                    <a:sym typeface="+mn-ea"/>
                  </a:rPr>
                  <a:t>do</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命令表</a:t>
                </a:r>
              </a:p>
              <a:p>
                <a:pPr indent="0" algn="l" eaLnBrk="1" fontAlgn="auto" latinLnBrk="0" hangingPunct="1">
                  <a:lnSpc>
                    <a:spcPct val="130000"/>
                  </a:lnSpc>
                  <a:buFont typeface="Arial" panose="020B0604020202020204" pitchFamily="34" charset="0"/>
                  <a:buNone/>
                  <a:defRPr/>
                </a:pPr>
                <a:r>
                  <a:rPr lang="zh-CN" altLang="en-US" sz="1800" b="1" dirty="0">
                    <a:solidFill>
                      <a:srgbClr val="C00000"/>
                    </a:solidFill>
                    <a:latin typeface="微软雅黑" panose="020B0503020204020204" pitchFamily="34" charset="-122"/>
                    <a:ea typeface="微软雅黑" panose="020B0503020204020204" pitchFamily="34" charset="-122"/>
                    <a:cs typeface="+mn-cs"/>
                    <a:sym typeface="+mn-ea"/>
                  </a:rPr>
                  <a:t>done</a:t>
                </a:r>
              </a:p>
            </p:txBody>
          </p:sp>
        </p:grpSp>
        <p:sp>
          <p:nvSpPr>
            <p:cNvPr id="5" name="Text Box 44"/>
            <p:cNvSpPr txBox="1">
              <a:spLocks noChangeArrowheads="1"/>
            </p:cNvSpPr>
            <p:nvPr/>
          </p:nvSpPr>
          <p:spPr bwMode="auto">
            <a:xfrm>
              <a:off x="10649" y="6296"/>
              <a:ext cx="7306" cy="292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30000"/>
                </a:lnSpc>
              </a:pPr>
              <a:r>
                <a:rPr lang="zh-CN" altLang="en-US" sz="1800" dirty="0">
                  <a:solidFill>
                    <a:schemeClr val="tx1">
                      <a:lumMod val="85000"/>
                      <a:lumOff val="15000"/>
                    </a:schemeClr>
                  </a:solidFill>
                </a:rPr>
                <a:t>其执行过程是，变量依次</a:t>
              </a:r>
              <a:r>
                <a:rPr lang="zh-CN" altLang="en-US" sz="1800" b="1" dirty="0">
                  <a:solidFill>
                    <a:srgbClr val="0070C0"/>
                  </a:solidFill>
                </a:rPr>
                <a:t>取值表中的各个值</a:t>
              </a:r>
              <a:r>
                <a:rPr lang="zh-CN" altLang="en-US" sz="1800" dirty="0">
                  <a:solidFill>
                    <a:schemeClr val="tx1">
                      <a:lumMod val="85000"/>
                      <a:lumOff val="15000"/>
                    </a:schemeClr>
                  </a:solidFill>
                </a:rPr>
                <a:t>，即第一次取值表中的第一个值，然后进入循环体，执行其中的命令；第二次取值表中的第二个值，然后进入循环体，执行其中的命令；</a:t>
              </a:r>
              <a:r>
                <a:rPr lang="zh-CN" altLang="en-US" sz="1800" dirty="0">
                  <a:solidFill>
                    <a:srgbClr val="C00000"/>
                  </a:solidFill>
                </a:rPr>
                <a:t>依次处理，直到变量将值表中的各个值都取一次之后，从而结束for循环</a:t>
              </a:r>
              <a:r>
                <a:rPr lang="zh-CN" altLang="en-US" sz="1800" dirty="0">
                  <a:solidFill>
                    <a:schemeClr val="tx1">
                      <a:lumMod val="85000"/>
                      <a:lumOff val="15000"/>
                    </a:schemeClr>
                  </a:solidFill>
                </a:rPr>
                <a:t>。</a:t>
              </a:r>
            </a:p>
          </p:txBody>
        </p:sp>
      </p:grpSp>
      <p:sp>
        <p:nvSpPr>
          <p:cNvPr id="3" name="圆角矩形 2"/>
          <p:cNvSpPr/>
          <p:nvPr/>
        </p:nvSpPr>
        <p:spPr>
          <a:xfrm>
            <a:off x="1111250" y="2743200"/>
            <a:ext cx="3920490" cy="256603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400" dirty="0">
                <a:solidFill>
                  <a:schemeClr val="tx1"/>
                </a:solidFill>
                <a:latin typeface="微软雅黑" panose="020B0503020204020204" pitchFamily="34" charset="-122"/>
                <a:ea typeface="微软雅黑" panose="020B0503020204020204" pitchFamily="34" charset="-122"/>
                <a:sym typeface="+mn-ea"/>
              </a:rPr>
              <a:t>for语句是常用的建立循环结构的语句。其使用格式主要有3种，取决于循环变量的取值方式。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18" presetClass="entr" presetSubtype="6"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strips(downRight)">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6" name="组合 14"/>
          <p:cNvGrpSpPr/>
          <p:nvPr/>
        </p:nvGrpSpPr>
        <p:grpSpPr bwMode="auto">
          <a:xfrm>
            <a:off x="698500" y="1694180"/>
            <a:ext cx="10642600" cy="4678680"/>
            <a:chOff x="1166778" y="1786406"/>
            <a:chExt cx="5347233" cy="915915"/>
          </a:xfrm>
        </p:grpSpPr>
        <p:grpSp>
          <p:nvGrpSpPr>
            <p:cNvPr id="7" name="组合 12"/>
            <p:cNvGrpSpPr/>
            <p:nvPr/>
          </p:nvGrpSpPr>
          <p:grpSpPr bwMode="auto">
            <a:xfrm>
              <a:off x="1166778" y="1786406"/>
              <a:ext cx="5347233" cy="915915"/>
              <a:chOff x="1166778" y="1786406"/>
              <a:chExt cx="5347233" cy="915915"/>
            </a:xfrm>
          </p:grpSpPr>
          <p:sp>
            <p:nvSpPr>
              <p:cNvPr id="8" name="矩形 7"/>
              <p:cNvSpPr/>
              <p:nvPr/>
            </p:nvSpPr>
            <p:spPr>
              <a:xfrm>
                <a:off x="1166778" y="1786406"/>
                <a:ext cx="5347233" cy="91591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1167097" y="1789638"/>
                <a:ext cx="3246944" cy="8229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FF0000"/>
                    </a:solidFill>
                    <a:latin typeface="微软雅黑" panose="020B0503020204020204" pitchFamily="34" charset="-122"/>
                    <a:ea typeface="微软雅黑" panose="020B0503020204020204" pitchFamily="34" charset="-122"/>
                    <a:cs typeface="华康俪金黑W8(P)"/>
                  </a:rPr>
                  <a:t>【例5-15】</a:t>
                </a:r>
                <a:r>
                  <a:rPr sz="1800" b="1">
                    <a:solidFill>
                      <a:srgbClr val="009900"/>
                    </a:solidFill>
                    <a:latin typeface="微软雅黑" panose="020B0503020204020204" pitchFamily="34" charset="-122"/>
                    <a:ea typeface="微软雅黑" panose="020B0503020204020204" pitchFamily="34" charset="-122"/>
                    <a:cs typeface="华康俪金黑W8(P)"/>
                  </a:rPr>
                  <a:t>for语句格式一的应用举例，文件名为example15。</a:t>
                </a:r>
              </a:p>
            </p:txBody>
          </p:sp>
        </p:grpSp>
        <p:sp>
          <p:nvSpPr>
            <p:cNvPr id="13" name="MH_Text_1"/>
            <p:cNvSpPr txBox="1">
              <a:spLocks noChangeArrowheads="1"/>
            </p:cNvSpPr>
            <p:nvPr>
              <p:custDataLst>
                <p:tags r:id="rId1"/>
              </p:custDataLst>
            </p:nvPr>
          </p:nvSpPr>
          <p:spPr bwMode="auto">
            <a:xfrm>
              <a:off x="1259940" y="1872055"/>
              <a:ext cx="2986921" cy="800058"/>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0" algn="l" eaLnBrk="1" fontAlgn="auto" latinLnBrk="0" hangingPunct="1">
                <a:lnSpc>
                  <a:spcPct val="130000"/>
                </a:lnSpc>
                <a:buFont typeface="Arial" panose="020B0604020202020204" pitchFamily="34" charset="0"/>
                <a:buNone/>
                <a:defRPr/>
              </a:pPr>
              <a:r>
                <a:rPr lang="zh-CN" altLang="en-US" sz="1800" b="1" dirty="0">
                  <a:solidFill>
                    <a:srgbClr val="FF0000"/>
                  </a:solidFill>
                  <a:latin typeface="微软雅黑" panose="020B0503020204020204" pitchFamily="34" charset="-122"/>
                  <a:ea typeface="微软雅黑" panose="020B0503020204020204" pitchFamily="34" charset="-122"/>
                  <a:cs typeface="+mn-cs"/>
                  <a:sym typeface="+mn-ea"/>
                </a:rPr>
                <a:t>for  day  in  Monday  Wednesday  Friday  Sunday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echo  $day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done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example15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Monday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Wednesday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Friday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Sunday </a:t>
              </a:r>
            </a:p>
          </p:txBody>
        </p:sp>
      </p:grpSp>
      <p:pic>
        <p:nvPicPr>
          <p:cNvPr id="174085" name="图片 4" descr="www_tuweimei_comComp_11067443_ZCa5eQxZtqhcpTOTaJYaZxMFGmuJhYz6.jpg"/>
          <p:cNvPicPr>
            <a:picLocks noGrp="1" noChangeAspect="1"/>
          </p:cNvPicPr>
          <p:nvPr/>
        </p:nvPicPr>
        <p:blipFill>
          <a:blip r:embed="rId3" cstate="print"/>
          <a:stretch>
            <a:fillRect/>
          </a:stretch>
        </p:blipFill>
        <p:spPr>
          <a:xfrm>
            <a:off x="6922770" y="2259330"/>
            <a:ext cx="3968750" cy="39687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4085"/>
                                        </p:tgtEl>
                                        <p:attrNameLst>
                                          <p:attrName>style.visibility</p:attrName>
                                        </p:attrNameLst>
                                      </p:cBhvr>
                                      <p:to>
                                        <p:strVal val="visible"/>
                                      </p:to>
                                    </p:set>
                                    <p:animEffect transition="in" filter="wipe(left)">
                                      <p:cBhvr>
                                        <p:cTn id="11" dur="500"/>
                                        <p:tgtEl>
                                          <p:spTgt spid="174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698500" y="1816100"/>
            <a:ext cx="5207000" cy="4678680"/>
            <a:chOff x="1166778" y="1782552"/>
            <a:chExt cx="2153250" cy="915915"/>
          </a:xfrm>
        </p:grpSpPr>
        <p:grpSp>
          <p:nvGrpSpPr>
            <p:cNvPr id="4" name="组合 12"/>
            <p:cNvGrpSpPr/>
            <p:nvPr/>
          </p:nvGrpSpPr>
          <p:grpSpPr bwMode="auto">
            <a:xfrm>
              <a:off x="1166778" y="1782552"/>
              <a:ext cx="2153250" cy="915915"/>
              <a:chOff x="1166778" y="1782552"/>
              <a:chExt cx="2153250" cy="915915"/>
            </a:xfrm>
          </p:grpSpPr>
          <p:sp>
            <p:nvSpPr>
              <p:cNvPr id="14" name="矩形 13"/>
              <p:cNvSpPr/>
              <p:nvPr/>
            </p:nvSpPr>
            <p:spPr>
              <a:xfrm>
                <a:off x="1166778" y="1782552"/>
                <a:ext cx="2153250" cy="91591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5" name="矩形 6"/>
              <p:cNvSpPr>
                <a:spLocks noChangeArrowheads="1"/>
              </p:cNvSpPr>
              <p:nvPr/>
            </p:nvSpPr>
            <p:spPr bwMode="auto">
              <a:xfrm>
                <a:off x="1167097" y="1789638"/>
                <a:ext cx="1859089" cy="8229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格式二</a:t>
                </a:r>
              </a:p>
            </p:txBody>
          </p:sp>
        </p:grpSp>
        <p:sp>
          <p:nvSpPr>
            <p:cNvPr id="16" name="MH_Text_1"/>
            <p:cNvSpPr txBox="1">
              <a:spLocks noChangeArrowheads="1"/>
            </p:cNvSpPr>
            <p:nvPr>
              <p:custDataLst>
                <p:tags r:id="rId2"/>
              </p:custDataLst>
            </p:nvPr>
          </p:nvSpPr>
          <p:spPr bwMode="auto">
            <a:xfrm>
              <a:off x="1259940" y="1872055"/>
              <a:ext cx="2002022" cy="364352"/>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for  变量  in  文件正则表达式</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命令表</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done</a:t>
              </a:r>
            </a:p>
          </p:txBody>
        </p:sp>
      </p:grpSp>
      <p:grpSp>
        <p:nvGrpSpPr>
          <p:cNvPr id="6" name="组合 14"/>
          <p:cNvGrpSpPr/>
          <p:nvPr/>
        </p:nvGrpSpPr>
        <p:grpSpPr bwMode="auto">
          <a:xfrm>
            <a:off x="6191885" y="1814195"/>
            <a:ext cx="5166995" cy="4678680"/>
            <a:chOff x="1166778" y="1786406"/>
            <a:chExt cx="2596088" cy="915915"/>
          </a:xfrm>
        </p:grpSpPr>
        <p:grpSp>
          <p:nvGrpSpPr>
            <p:cNvPr id="7" name="组合 12"/>
            <p:cNvGrpSpPr/>
            <p:nvPr/>
          </p:nvGrpSpPr>
          <p:grpSpPr bwMode="auto">
            <a:xfrm>
              <a:off x="1166778" y="1786406"/>
              <a:ext cx="2596088" cy="915915"/>
              <a:chOff x="1166778" y="1786406"/>
              <a:chExt cx="2596088" cy="915915"/>
            </a:xfrm>
          </p:grpSpPr>
          <p:sp>
            <p:nvSpPr>
              <p:cNvPr id="8" name="矩形 7"/>
              <p:cNvSpPr/>
              <p:nvPr/>
            </p:nvSpPr>
            <p:spPr>
              <a:xfrm>
                <a:off x="1166778" y="1786406"/>
                <a:ext cx="2596088" cy="91591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1167097" y="1789638"/>
                <a:ext cx="2280869" cy="8229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FF0000"/>
                    </a:solidFill>
                    <a:latin typeface="微软雅黑" panose="020B0503020204020204" pitchFamily="34" charset="-122"/>
                    <a:ea typeface="微软雅黑" panose="020B0503020204020204" pitchFamily="34" charset="-122"/>
                    <a:cs typeface="华康俪金黑W8(P)"/>
                  </a:rPr>
                  <a:t>【例5-1</a:t>
                </a:r>
                <a:r>
                  <a:rPr lang="en-US" sz="1800" b="1">
                    <a:solidFill>
                      <a:srgbClr val="FF0000"/>
                    </a:solidFill>
                    <a:latin typeface="微软雅黑" panose="020B0503020204020204" pitchFamily="34" charset="-122"/>
                    <a:ea typeface="微软雅黑" panose="020B0503020204020204" pitchFamily="34" charset="-122"/>
                    <a:cs typeface="华康俪金黑W8(P)"/>
                  </a:rPr>
                  <a:t>6</a:t>
                </a:r>
                <a:r>
                  <a:rPr sz="1800" b="1">
                    <a:solidFill>
                      <a:srgbClr val="FF0000"/>
                    </a:solidFill>
                    <a:latin typeface="微软雅黑" panose="020B0503020204020204" pitchFamily="34" charset="-122"/>
                    <a:ea typeface="微软雅黑" panose="020B0503020204020204" pitchFamily="34" charset="-122"/>
                    <a:cs typeface="华康俪金黑W8(P)"/>
                  </a:rPr>
                  <a:t>】</a:t>
                </a:r>
                <a:r>
                  <a:rPr sz="1800" b="1">
                    <a:solidFill>
                      <a:srgbClr val="009900"/>
                    </a:solidFill>
                    <a:latin typeface="微软雅黑" panose="020B0503020204020204" pitchFamily="34" charset="-122"/>
                    <a:ea typeface="微软雅黑" panose="020B0503020204020204" pitchFamily="34" charset="-122"/>
                    <a:cs typeface="华康俪金黑W8(P)"/>
                  </a:rPr>
                  <a:t>for语句格式二的应用举例。</a:t>
                </a:r>
              </a:p>
            </p:txBody>
          </p:sp>
        </p:grpSp>
        <p:sp>
          <p:nvSpPr>
            <p:cNvPr id="13" name="MH_Text_1"/>
            <p:cNvSpPr txBox="1">
              <a:spLocks noChangeArrowheads="1"/>
            </p:cNvSpPr>
            <p:nvPr>
              <p:custDataLst>
                <p:tags r:id="rId1"/>
              </p:custDataLst>
            </p:nvPr>
          </p:nvSpPr>
          <p:spPr bwMode="auto">
            <a:xfrm>
              <a:off x="1259940" y="1872055"/>
              <a:ext cx="2299055" cy="444283"/>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0" algn="l" eaLnBrk="1" fontAlgn="auto" latinLnBrk="0" hangingPunct="1">
                <a:lnSpc>
                  <a:spcPct val="130000"/>
                </a:lnSpc>
                <a:buFont typeface="Arial" panose="020B0604020202020204" pitchFamily="34" charset="0"/>
                <a:buNone/>
                <a:defRPr/>
              </a:pPr>
              <a:r>
                <a:rPr lang="zh-CN" altLang="en-US" sz="1800" b="1" dirty="0">
                  <a:solidFill>
                    <a:srgbClr val="C00000"/>
                  </a:solidFill>
                  <a:latin typeface="微软雅黑" panose="020B0503020204020204" pitchFamily="34" charset="-122"/>
                  <a:ea typeface="微软雅黑" panose="020B0503020204020204" pitchFamily="34" charset="-122"/>
                  <a:cs typeface="+mn-cs"/>
                  <a:sym typeface="+mn-ea"/>
                </a:rPr>
                <a:t>for  file  in  m*.c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cat  $file|pr </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done</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a:t>
              </a:r>
            </a:p>
          </p:txBody>
        </p:sp>
      </p:grpSp>
      <p:sp>
        <p:nvSpPr>
          <p:cNvPr id="20" name="圆角矩形 19"/>
          <p:cNvSpPr/>
          <p:nvPr/>
        </p:nvSpPr>
        <p:spPr>
          <a:xfrm>
            <a:off x="880745" y="4271010"/>
            <a:ext cx="3920490" cy="215328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30000"/>
              </a:lnSpc>
            </a:pPr>
            <a:r>
              <a:rPr lang="zh-CN" altLang="en-US" sz="2000" b="1" dirty="0">
                <a:solidFill>
                  <a:srgbClr val="0070C0"/>
                </a:solidFill>
                <a:latin typeface="微软雅黑" panose="020B0503020204020204" pitchFamily="34" charset="-122"/>
                <a:ea typeface="微软雅黑" panose="020B0503020204020204" pitchFamily="34" charset="-122"/>
                <a:sym typeface="+mn-ea"/>
              </a:rPr>
              <a:t>前目录下</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（或给定目录下）与</a:t>
            </a:r>
            <a:r>
              <a:rPr lang="zh-CN" altLang="en-US" sz="2000" b="1" dirty="0">
                <a:solidFill>
                  <a:srgbClr val="0070C0"/>
                </a:solidFill>
                <a:latin typeface="微软雅黑" panose="020B0503020204020204" pitchFamily="34" charset="-122"/>
                <a:ea typeface="微软雅黑" panose="020B0503020204020204" pitchFamily="34" charset="-122"/>
                <a:sym typeface="+mn-ea"/>
              </a:rPr>
              <a:t>正则表达式相匹配</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的文件名，每取一次，就进入循环命令表，直到所有匹配的文件名取完为止，退出循环。</a:t>
            </a:r>
          </a:p>
        </p:txBody>
      </p:sp>
      <p:sp>
        <p:nvSpPr>
          <p:cNvPr id="21" name="圆角矩形 20"/>
          <p:cNvSpPr/>
          <p:nvPr/>
        </p:nvSpPr>
        <p:spPr>
          <a:xfrm>
            <a:off x="6430010" y="4879975"/>
            <a:ext cx="4852670" cy="141986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3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这个脚本的作用是将当前目录下所有以m打头的C程序文件都按分页格式显示出来。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par>
                                <p:cTn id="8" presetID="23" presetClass="entr" presetSubtype="16" fill="hold" grpId="2" nodeType="withEffect">
                                  <p:stCondLst>
                                    <p:cond delay="0"/>
                                  </p:stCondLst>
                                  <p:childTnLst>
                                    <p:set>
                                      <p:cBhvr>
                                        <p:cTn id="9" dur="1" fill="hold">
                                          <p:stCondLst>
                                            <p:cond delay="0"/>
                                          </p:stCondLst>
                                        </p:cTn>
                                        <p:tgtEl>
                                          <p:spTgt spid="20"/>
                                        </p:tgtEl>
                                        <p:attrNameLst>
                                          <p:attrName>style.visibility</p:attrName>
                                        </p:attrNameLst>
                                      </p:cBhvr>
                                      <p:to>
                                        <p:strVal val="visible"/>
                                      </p:to>
                                    </p:set>
                                    <p:anim calcmode="lin" valueType="num">
                                      <p:cBhvr>
                                        <p:cTn id="10" dur="500" fill="hold"/>
                                        <p:tgtEl>
                                          <p:spTgt spid="20"/>
                                        </p:tgtEl>
                                        <p:attrNameLst>
                                          <p:attrName>ppt_w</p:attrName>
                                        </p:attrNameLst>
                                      </p:cBhvr>
                                      <p:tavLst>
                                        <p:tav tm="0">
                                          <p:val>
                                            <p:fltVal val="0"/>
                                          </p:val>
                                        </p:tav>
                                        <p:tav tm="100000">
                                          <p:val>
                                            <p:strVal val="#ppt_w"/>
                                          </p:val>
                                        </p:tav>
                                      </p:tavLst>
                                    </p:anim>
                                    <p:anim calcmode="lin" valueType="num">
                                      <p:cBhvr>
                                        <p:cTn id="11" dur="500" fill="hold"/>
                                        <p:tgtEl>
                                          <p:spTgt spid="20"/>
                                        </p:tgtEl>
                                        <p:attrNameLst>
                                          <p:attrName>ppt_h</p:attrName>
                                        </p:attrNameLst>
                                      </p:cBhvr>
                                      <p:tavLst>
                                        <p:tav tm="0">
                                          <p:val>
                                            <p:fltVal val="0"/>
                                          </p:val>
                                        </p:tav>
                                        <p:tav tm="100000">
                                          <p:val>
                                            <p:strVal val="#ppt_h"/>
                                          </p:val>
                                        </p:tav>
                                      </p:tavLst>
                                    </p:anim>
                                  </p:childTnLst>
                                </p:cTn>
                              </p:par>
                            </p:childTnLst>
                          </p:cTn>
                        </p:par>
                        <p:par>
                          <p:cTn id="12" fill="hold">
                            <p:stCondLst>
                              <p:cond delay="500"/>
                            </p:stCondLst>
                            <p:childTnLst>
                              <p:par>
                                <p:cTn id="13" presetID="18" presetClass="entr" presetSubtype="6"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trips(downRight)">
                                      <p:cBhvr>
                                        <p:cTn id="15" dur="500"/>
                                        <p:tgtEl>
                                          <p:spTgt spid="6"/>
                                        </p:tgtEl>
                                      </p:cBhvr>
                                    </p:animEffect>
                                  </p:childTnLst>
                                </p:cTn>
                              </p:par>
                              <p:par>
                                <p:cTn id="16" presetID="23" presetClass="entr" presetSubtype="16" fill="hold" grpId="2" nodeType="with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p:cTn id="18" dur="500" fill="hold"/>
                                        <p:tgtEl>
                                          <p:spTgt spid="21"/>
                                        </p:tgtEl>
                                        <p:attrNameLst>
                                          <p:attrName>ppt_w</p:attrName>
                                        </p:attrNameLst>
                                      </p:cBhvr>
                                      <p:tavLst>
                                        <p:tav tm="0">
                                          <p:val>
                                            <p:fltVal val="0"/>
                                          </p:val>
                                        </p:tav>
                                        <p:tav tm="100000">
                                          <p:val>
                                            <p:strVal val="#ppt_w"/>
                                          </p:val>
                                        </p:tav>
                                      </p:tavLst>
                                    </p:anim>
                                    <p:anim calcmode="lin" valueType="num">
                                      <p:cBhvr>
                                        <p:cTn id="19" dur="5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0" grpId="2" bldLvl="0" animBg="1"/>
      <p:bldP spid="21" grpId="0" animBg="1"/>
      <p:bldP spid="21" grpId="1" animBg="1"/>
      <p:bldP spid="21" grpId="2"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0838816"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8" name="组合 7"/>
          <p:cNvGrpSpPr/>
          <p:nvPr/>
        </p:nvGrpSpPr>
        <p:grpSpPr>
          <a:xfrm>
            <a:off x="1041400" y="1816100"/>
            <a:ext cx="6109507" cy="4678680"/>
            <a:chOff x="1100" y="2860"/>
            <a:chExt cx="7573" cy="7368"/>
          </a:xfrm>
        </p:grpSpPr>
        <p:grpSp>
          <p:nvGrpSpPr>
            <p:cNvPr id="3" name="组合 14"/>
            <p:cNvGrpSpPr/>
            <p:nvPr/>
          </p:nvGrpSpPr>
          <p:grpSpPr bwMode="auto">
            <a:xfrm>
              <a:off x="1100" y="2860"/>
              <a:ext cx="7573" cy="7368"/>
              <a:chOff x="1166778" y="1782552"/>
              <a:chExt cx="1012084" cy="915915"/>
            </a:xfrm>
          </p:grpSpPr>
          <p:grpSp>
            <p:nvGrpSpPr>
              <p:cNvPr id="4" name="组合 12"/>
              <p:cNvGrpSpPr/>
              <p:nvPr/>
            </p:nvGrpSpPr>
            <p:grpSpPr bwMode="auto">
              <a:xfrm>
                <a:off x="1166778" y="1782552"/>
                <a:ext cx="1012084" cy="915915"/>
                <a:chOff x="1166778" y="1782552"/>
                <a:chExt cx="1012084" cy="915915"/>
              </a:xfrm>
            </p:grpSpPr>
            <p:sp>
              <p:nvSpPr>
                <p:cNvPr id="14" name="矩形 13"/>
                <p:cNvSpPr/>
                <p:nvPr/>
              </p:nvSpPr>
              <p:spPr>
                <a:xfrm>
                  <a:off x="1166778" y="1782552"/>
                  <a:ext cx="1012084" cy="91591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5" name="矩形 6"/>
                <p:cNvSpPr>
                  <a:spLocks noChangeArrowheads="1"/>
                </p:cNvSpPr>
                <p:nvPr/>
              </p:nvSpPr>
              <p:spPr bwMode="auto">
                <a:xfrm>
                  <a:off x="1230415" y="1789638"/>
                  <a:ext cx="462830" cy="8229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格式</a:t>
                  </a:r>
                  <a:r>
                    <a:rPr lang="zh-CN" sz="1800" b="1">
                      <a:solidFill>
                        <a:srgbClr val="009900"/>
                      </a:solidFill>
                      <a:latin typeface="微软雅黑" panose="020B0503020204020204" pitchFamily="34" charset="-122"/>
                      <a:ea typeface="微软雅黑" panose="020B0503020204020204" pitchFamily="34" charset="-122"/>
                      <a:cs typeface="华康俪金黑W8(P)"/>
                    </a:rPr>
                    <a:t>三</a:t>
                  </a:r>
                </a:p>
              </p:txBody>
            </p:sp>
          </p:grpSp>
          <p:sp>
            <p:nvSpPr>
              <p:cNvPr id="16" name="MH_Text_1"/>
              <p:cNvSpPr txBox="1">
                <a:spLocks noChangeArrowheads="1"/>
              </p:cNvSpPr>
              <p:nvPr>
                <p:custDataLst>
                  <p:tags r:id="rId2"/>
                </p:custDataLst>
              </p:nvPr>
            </p:nvSpPr>
            <p:spPr bwMode="auto">
              <a:xfrm>
                <a:off x="1213186" y="1871931"/>
                <a:ext cx="497255" cy="320719"/>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for  i  in  $* </a:t>
                </a:r>
                <a:r>
                  <a:rPr lang="en-US" altLang="zh-CN" sz="1200" b="1" dirty="0">
                    <a:solidFill>
                      <a:srgbClr val="0070C0"/>
                    </a:solidFill>
                    <a:latin typeface="微软雅黑" panose="020B0503020204020204" pitchFamily="34" charset="-122"/>
                    <a:ea typeface="微软雅黑" panose="020B0503020204020204" pitchFamily="34" charset="-122"/>
                    <a:cs typeface="+mn-cs"/>
                    <a:sym typeface="+mn-ea"/>
                  </a:rPr>
                  <a:t>//$</a:t>
                </a:r>
                <a:r>
                  <a:rPr lang="zh-CN" altLang="en-US" sz="1200" b="1" dirty="0">
                    <a:solidFill>
                      <a:srgbClr val="0070C0"/>
                    </a:solidFill>
                    <a:latin typeface="微软雅黑" panose="020B0503020204020204" pitchFamily="34" charset="-122"/>
                    <a:ea typeface="微软雅黑" panose="020B0503020204020204" pitchFamily="34" charset="-122"/>
                    <a:cs typeface="+mn-cs"/>
                    <a:sym typeface="+mn-ea"/>
                  </a:rPr>
                  <a:t>*即所有位置参数</a:t>
                </a: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命令表</a:t>
                </a:r>
              </a:p>
              <a:p>
                <a:pPr indent="0" algn="l" eaLnBrk="1" fontAlgn="auto" latinLnBrk="0" hangingPunct="1">
                  <a:lnSpc>
                    <a:spcPct val="130000"/>
                  </a:lnSpc>
                  <a:buFont typeface="Arial" panose="020B0604020202020204" pitchFamily="34" charset="0"/>
                  <a:buNone/>
                  <a:defRPr/>
                </a:pPr>
                <a:r>
                  <a:rPr lang="en" altLang="zh-CN" sz="1800" b="1" dirty="0">
                    <a:solidFill>
                      <a:srgbClr val="0070C0"/>
                    </a:solidFill>
                    <a:latin typeface="微软雅黑" panose="020B0503020204020204" pitchFamily="34" charset="-122"/>
                    <a:ea typeface="微软雅黑" panose="020B0503020204020204" pitchFamily="34" charset="-122"/>
                    <a:cs typeface="+mn-cs"/>
                    <a:sym typeface="+mn-ea"/>
                  </a:rPr>
                  <a:t>D</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one</a:t>
                </a:r>
                <a:endParaRPr lang="en-US" altLang="zh-CN" sz="18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3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grpSp>
        <p:sp>
          <p:nvSpPr>
            <p:cNvPr id="20" name="MH_Text_1"/>
            <p:cNvSpPr txBox="1">
              <a:spLocks noChangeArrowheads="1"/>
            </p:cNvSpPr>
            <p:nvPr>
              <p:custDataLst>
                <p:tags r:id="rId1"/>
              </p:custDataLst>
            </p:nvPr>
          </p:nvSpPr>
          <p:spPr bwMode="auto">
            <a:xfrm>
              <a:off x="5516" y="3579"/>
              <a:ext cx="2999" cy="2580"/>
            </a:xfrm>
            <a:prstGeom prst="rect">
              <a:avLst/>
            </a:prstGeom>
            <a:solidFill>
              <a:srgbClr val="F2F2F2"/>
            </a:solidFill>
            <a:ln w="9525">
              <a:noFill/>
              <a:miter lim="800000"/>
            </a:ln>
          </p:spPr>
          <p:txBody>
            <a:bodyPr/>
            <a:lstStyle/>
            <a:p>
              <a:pPr fontAlgn="auto">
                <a:lnSpc>
                  <a:spcPct val="130000"/>
                </a:lnSpc>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for  i</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命令表</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done</a:t>
              </a:r>
            </a:p>
          </p:txBody>
        </p:sp>
        <p:sp>
          <p:nvSpPr>
            <p:cNvPr id="21" name="矩形 6"/>
            <p:cNvSpPr>
              <a:spLocks noChangeArrowheads="1"/>
            </p:cNvSpPr>
            <p:nvPr/>
          </p:nvSpPr>
          <p:spPr bwMode="auto">
            <a:xfrm>
              <a:off x="5168" y="2917"/>
              <a:ext cx="3217" cy="62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或者（左边的</a:t>
              </a: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简写形式</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a:t>
              </a:r>
            </a:p>
          </p:txBody>
        </p:sp>
      </p:grpSp>
      <p:sp>
        <p:nvSpPr>
          <p:cNvPr id="7" name="圆角矩形 6"/>
          <p:cNvSpPr/>
          <p:nvPr/>
        </p:nvSpPr>
        <p:spPr>
          <a:xfrm>
            <a:off x="1160780" y="4173855"/>
            <a:ext cx="5506720" cy="212280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这种格式有两种形式。其执行过程是，</a:t>
            </a:r>
            <a:r>
              <a:rPr lang="zh-CN" altLang="en-US" sz="2000" dirty="0">
                <a:solidFill>
                  <a:srgbClr val="FF0000"/>
                </a:solidFill>
                <a:latin typeface="微软雅黑" panose="020B0503020204020204" pitchFamily="34" charset="-122"/>
                <a:ea typeface="微软雅黑" panose="020B0503020204020204" pitchFamily="34" charset="-122"/>
                <a:sym typeface="+mn-ea"/>
              </a:rPr>
              <a:t>变量i依次取位置参数的值</a:t>
            </a:r>
            <a:r>
              <a:rPr lang="zh-CN" altLang="en-US" sz="2000" dirty="0">
                <a:solidFill>
                  <a:schemeClr val="tx1"/>
                </a:solidFill>
                <a:latin typeface="微软雅黑" panose="020B0503020204020204" pitchFamily="34" charset="-122"/>
                <a:ea typeface="微软雅黑" panose="020B0503020204020204" pitchFamily="34" charset="-122"/>
                <a:sym typeface="+mn-ea"/>
              </a:rPr>
              <a:t>，然后执行循环体中的命令表，</a:t>
            </a:r>
            <a:r>
              <a:rPr lang="zh-CN" altLang="en-US" sz="2000" dirty="0">
                <a:solidFill>
                  <a:srgbClr val="FF0000"/>
                </a:solidFill>
                <a:latin typeface="微软雅黑" panose="020B0503020204020204" pitchFamily="34" charset="-122"/>
                <a:ea typeface="微软雅黑" panose="020B0503020204020204" pitchFamily="34" charset="-122"/>
                <a:sym typeface="+mn-ea"/>
              </a:rPr>
              <a:t>直至所有位置参数被取完为止</a:t>
            </a:r>
            <a:r>
              <a:rPr lang="zh-CN" altLang="en-US" sz="2000" dirty="0">
                <a:solidFill>
                  <a:schemeClr val="tx1"/>
                </a:solidFill>
                <a:latin typeface="微软雅黑" panose="020B0503020204020204" pitchFamily="34" charset="-122"/>
                <a:ea typeface="微软雅黑" panose="020B0503020204020204" pitchFamily="34" charset="-122"/>
                <a:sym typeface="+mn-ea"/>
              </a:rPr>
              <a:t>。</a:t>
            </a:r>
          </a:p>
        </p:txBody>
      </p:sp>
      <p:pic>
        <p:nvPicPr>
          <p:cNvPr id="17" name="图片 16" descr="timgCA93N382.jpg"/>
          <p:cNvPicPr>
            <a:picLocks noChangeAspect="1"/>
          </p:cNvPicPr>
          <p:nvPr/>
        </p:nvPicPr>
        <p:blipFill>
          <a:blip r:embed="rId5" cstate="print">
            <a:clrChange>
              <a:clrFrom>
                <a:srgbClr val="FFFFFF"/>
              </a:clrFrom>
              <a:clrTo>
                <a:srgbClr val="FFFFFF">
                  <a:alpha val="0"/>
                </a:srgbClr>
              </a:clrTo>
            </a:clrChange>
          </a:blip>
          <a:srcRect r="24769"/>
          <a:stretch>
            <a:fillRect/>
          </a:stretch>
        </p:blipFill>
        <p:spPr>
          <a:xfrm>
            <a:off x="7493000" y="2520950"/>
            <a:ext cx="3416300" cy="34099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par>
                                <p:cTn id="8" presetID="23" presetClass="entr" presetSubtype="16" fill="hold" grpId="2"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fltVal val="0"/>
                                          </p:val>
                                        </p:tav>
                                        <p:tav tm="100000">
                                          <p:val>
                                            <p:strVal val="#ppt_w"/>
                                          </p:val>
                                        </p:tav>
                                      </p:tavLst>
                                    </p:anim>
                                    <p:anim calcmode="lin" valueType="num">
                                      <p:cBhvr>
                                        <p:cTn id="11" dur="500" fill="hold"/>
                                        <p:tgtEl>
                                          <p:spTgt spid="7"/>
                                        </p:tgtEl>
                                        <p:attrNameLst>
                                          <p:attrName>ppt_h</p:attrName>
                                        </p:attrNameLst>
                                      </p:cBhvr>
                                      <p:tavLst>
                                        <p:tav tm="0">
                                          <p:val>
                                            <p:fltVal val="0"/>
                                          </p:val>
                                        </p:tav>
                                        <p:tav tm="100000">
                                          <p:val>
                                            <p:strVal val="#ppt_h"/>
                                          </p:val>
                                        </p:tav>
                                      </p:tavLst>
                                    </p:anim>
                                  </p:childTnLst>
                                </p:cTn>
                              </p:par>
                            </p:childTnLst>
                          </p:cTn>
                        </p:par>
                        <p:par>
                          <p:cTn id="12" fill="hold">
                            <p:stCondLst>
                              <p:cond delay="500"/>
                            </p:stCondLst>
                            <p:childTnLst>
                              <p:par>
                                <p:cTn id="13" presetID="49" presetClass="entr" presetSubtype="0" decel="10000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500" fill="hold"/>
                                        <p:tgtEl>
                                          <p:spTgt spid="17"/>
                                        </p:tgtEl>
                                        <p:attrNameLst>
                                          <p:attrName>ppt_w</p:attrName>
                                        </p:attrNameLst>
                                      </p:cBhvr>
                                      <p:tavLst>
                                        <p:tav tm="0">
                                          <p:val>
                                            <p:fltVal val="0"/>
                                          </p:val>
                                        </p:tav>
                                        <p:tav tm="100000">
                                          <p:val>
                                            <p:strVal val="#ppt_w"/>
                                          </p:val>
                                        </p:tav>
                                      </p:tavLst>
                                    </p:anim>
                                    <p:anim calcmode="lin" valueType="num">
                                      <p:cBhvr>
                                        <p:cTn id="16" dur="500" fill="hold"/>
                                        <p:tgtEl>
                                          <p:spTgt spid="17"/>
                                        </p:tgtEl>
                                        <p:attrNameLst>
                                          <p:attrName>ppt_h</p:attrName>
                                        </p:attrNameLst>
                                      </p:cBhvr>
                                      <p:tavLst>
                                        <p:tav tm="0">
                                          <p:val>
                                            <p:fltVal val="0"/>
                                          </p:val>
                                        </p:tav>
                                        <p:tav tm="100000">
                                          <p:val>
                                            <p:strVal val="#ppt_h"/>
                                          </p:val>
                                        </p:tav>
                                      </p:tavLst>
                                    </p:anim>
                                    <p:anim calcmode="lin" valueType="num">
                                      <p:cBhvr>
                                        <p:cTn id="17" dur="500" fill="hold"/>
                                        <p:tgtEl>
                                          <p:spTgt spid="17"/>
                                        </p:tgtEl>
                                        <p:attrNameLst>
                                          <p:attrName>style.rotation</p:attrName>
                                        </p:attrNameLst>
                                      </p:cBhvr>
                                      <p:tavLst>
                                        <p:tav tm="0">
                                          <p:val>
                                            <p:fltVal val="360"/>
                                          </p:val>
                                        </p:tav>
                                        <p:tav tm="100000">
                                          <p:val>
                                            <p:fltVal val="0"/>
                                          </p:val>
                                        </p:tav>
                                      </p:tavLst>
                                    </p:anim>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6" name="组合 5"/>
          <p:cNvGrpSpPr/>
          <p:nvPr/>
        </p:nvGrpSpPr>
        <p:grpSpPr>
          <a:xfrm>
            <a:off x="698500" y="1755140"/>
            <a:ext cx="10942320" cy="4678680"/>
            <a:chOff x="1100" y="2764"/>
            <a:chExt cx="17232" cy="7368"/>
          </a:xfrm>
        </p:grpSpPr>
        <p:grpSp>
          <p:nvGrpSpPr>
            <p:cNvPr id="18" name="组合 17"/>
            <p:cNvGrpSpPr/>
            <p:nvPr/>
          </p:nvGrpSpPr>
          <p:grpSpPr>
            <a:xfrm>
              <a:off x="1100" y="2764"/>
              <a:ext cx="17232" cy="7368"/>
              <a:chOff x="10338" y="2860"/>
              <a:chExt cx="3172" cy="7368"/>
            </a:xfrm>
          </p:grpSpPr>
          <p:grpSp>
            <p:nvGrpSpPr>
              <p:cNvPr id="3" name="组合 14"/>
              <p:cNvGrpSpPr/>
              <p:nvPr/>
            </p:nvGrpSpPr>
            <p:grpSpPr bwMode="auto">
              <a:xfrm>
                <a:off x="10338" y="2860"/>
                <a:ext cx="3172" cy="7368"/>
                <a:chOff x="1166764" y="1782552"/>
                <a:chExt cx="1012098" cy="915915"/>
              </a:xfrm>
            </p:grpSpPr>
            <p:grpSp>
              <p:nvGrpSpPr>
                <p:cNvPr id="4" name="组合 12"/>
                <p:cNvGrpSpPr/>
                <p:nvPr/>
              </p:nvGrpSpPr>
              <p:grpSpPr bwMode="auto">
                <a:xfrm>
                  <a:off x="1166764" y="1782552"/>
                  <a:ext cx="1012098" cy="915915"/>
                  <a:chOff x="1166764" y="1782552"/>
                  <a:chExt cx="1012098" cy="915915"/>
                </a:xfrm>
              </p:grpSpPr>
              <p:sp>
                <p:nvSpPr>
                  <p:cNvPr id="14" name="矩形 13"/>
                  <p:cNvSpPr/>
                  <p:nvPr/>
                </p:nvSpPr>
                <p:spPr>
                  <a:xfrm>
                    <a:off x="1166778" y="1782552"/>
                    <a:ext cx="1012084" cy="91591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5" name="矩形 6"/>
                  <p:cNvSpPr>
                    <a:spLocks noChangeArrowheads="1"/>
                  </p:cNvSpPr>
                  <p:nvPr/>
                </p:nvSpPr>
                <p:spPr bwMode="auto">
                  <a:xfrm>
                    <a:off x="1166764" y="1789638"/>
                    <a:ext cx="462830" cy="14270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dirty="0">
                        <a:solidFill>
                          <a:srgbClr val="FF0000"/>
                        </a:solidFill>
                        <a:latin typeface="微软雅黑" panose="020B0503020204020204" pitchFamily="34" charset="-122"/>
                        <a:ea typeface="微软雅黑" panose="020B0503020204020204" pitchFamily="34" charset="-122"/>
                        <a:cs typeface="华康俪金黑W8(P)"/>
                      </a:rPr>
                      <a:t>【例5-17】</a:t>
                    </a:r>
                    <a:r>
                      <a:rPr sz="1800" b="1" dirty="0">
                        <a:solidFill>
                          <a:srgbClr val="009900"/>
                        </a:solidFill>
                        <a:latin typeface="微软雅黑" panose="020B0503020204020204" pitchFamily="34" charset="-122"/>
                        <a:ea typeface="微软雅黑" panose="020B0503020204020204" pitchFamily="34" charset="-122"/>
                        <a:cs typeface="华康俪金黑W8(P)"/>
                      </a:rPr>
                      <a:t>for语句格式三的应用举例</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（显示</a:t>
                    </a:r>
                    <a:r>
                      <a:rPr lang="zh-CN" altLang="en-US" b="1" dirty="0">
                        <a:solidFill>
                          <a:srgbClr val="009900"/>
                        </a:solidFill>
                        <a:latin typeface="微软雅黑" panose="020B0503020204020204" pitchFamily="34" charset="-122"/>
                        <a:ea typeface="微软雅黑" panose="020B0503020204020204" pitchFamily="34" charset="-122"/>
                        <a:cs typeface="华康俪金黑W8(P)"/>
                      </a:rPr>
                      <a:t>某个</a:t>
                    </a: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给定目录</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下的</a:t>
                    </a: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指定文件</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的内容）</a:t>
                    </a:r>
                    <a:r>
                      <a:rPr sz="1800" b="1" dirty="0">
                        <a:solidFill>
                          <a:srgbClr val="009900"/>
                        </a:solidFill>
                        <a:latin typeface="微软雅黑" panose="020B0503020204020204" pitchFamily="34" charset="-122"/>
                        <a:ea typeface="微软雅黑" panose="020B0503020204020204" pitchFamily="34" charset="-122"/>
                        <a:cs typeface="华康俪金黑W8(P)"/>
                      </a:rPr>
                      <a:t>。</a:t>
                    </a:r>
                  </a:p>
                </p:txBody>
              </p:sp>
            </p:grpSp>
            <p:sp>
              <p:nvSpPr>
                <p:cNvPr id="16" name="MH_Text_1"/>
                <p:cNvSpPr txBox="1">
                  <a:spLocks noChangeArrowheads="1"/>
                </p:cNvSpPr>
                <p:nvPr>
                  <p:custDataLst>
                    <p:tags r:id="rId2"/>
                  </p:custDataLst>
                </p:nvPr>
              </p:nvSpPr>
              <p:spPr bwMode="auto">
                <a:xfrm>
                  <a:off x="1176974" y="1932346"/>
                  <a:ext cx="412397" cy="520734"/>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#display files under a given directory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#$1-the name of the directory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#$2-the name of files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dir=$1;shift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if  [ -d  $dir ]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then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cd  $dir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for  filename    </a:t>
                  </a:r>
                </a:p>
                <a:p>
                  <a:pPr indent="0" algn="l" eaLnBrk="1" fontAlgn="auto" latinLnBrk="0" hangingPunct="1">
                    <a:lnSpc>
                      <a:spcPct val="11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    do </a:t>
                  </a:r>
                </a:p>
              </p:txBody>
            </p:sp>
          </p:grpSp>
          <p:sp>
            <p:nvSpPr>
              <p:cNvPr id="17" name="Text Box 44"/>
              <p:cNvSpPr txBox="1">
                <a:spLocks noChangeArrowheads="1"/>
              </p:cNvSpPr>
              <p:nvPr/>
            </p:nvSpPr>
            <p:spPr bwMode="auto">
              <a:xfrm>
                <a:off x="10370" y="8255"/>
                <a:ext cx="3109" cy="182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30000"/>
                  </a:lnSpc>
                </a:pPr>
                <a:r>
                  <a:rPr lang="zh-CN" altLang="en-US" sz="1800" dirty="0">
                    <a:solidFill>
                      <a:schemeClr val="tx1">
                        <a:lumMod val="85000"/>
                        <a:lumOff val="15000"/>
                      </a:schemeClr>
                    </a:solidFill>
                  </a:rPr>
                  <a:t>执行这个脚本时，如果</a:t>
                </a:r>
                <a:r>
                  <a:rPr lang="zh-CN" altLang="en-US" sz="1800" dirty="0">
                    <a:solidFill>
                      <a:srgbClr val="FF0000"/>
                    </a:solidFill>
                  </a:rPr>
                  <a:t>第一个位置参数是合法的目录</a:t>
                </a:r>
                <a:r>
                  <a:rPr lang="zh-CN" altLang="en-US" sz="1800" dirty="0">
                    <a:solidFill>
                      <a:schemeClr val="tx1">
                        <a:lumMod val="85000"/>
                        <a:lumOff val="15000"/>
                      </a:schemeClr>
                    </a:solidFill>
                  </a:rPr>
                  <a:t>，那么就</a:t>
                </a:r>
                <a:r>
                  <a:rPr lang="zh-CN" altLang="en-US" sz="1800" dirty="0">
                    <a:solidFill>
                      <a:srgbClr val="FF0000"/>
                    </a:solidFill>
                  </a:rPr>
                  <a:t>将后面给出的各个位置参数所对应的文件显示出来</a:t>
                </a:r>
                <a:r>
                  <a:rPr lang="zh-CN" altLang="en-US" sz="1800" dirty="0">
                    <a:solidFill>
                      <a:schemeClr val="tx1">
                        <a:lumMod val="85000"/>
                        <a:lumOff val="15000"/>
                      </a:schemeClr>
                    </a:solidFill>
                  </a:rPr>
                  <a:t>，若给出的文件名不正确，则显示出错信息。</a:t>
                </a:r>
                <a:endParaRPr lang="en-US" altLang="zh-CN" sz="1800" dirty="0">
                  <a:solidFill>
                    <a:schemeClr val="tx1">
                      <a:lumMod val="85000"/>
                      <a:lumOff val="15000"/>
                    </a:schemeClr>
                  </a:solidFill>
                </a:endParaRPr>
              </a:p>
              <a:p>
                <a:pPr eaLnBrk="1" latinLnBrk="0" hangingPunct="1">
                  <a:lnSpc>
                    <a:spcPct val="130000"/>
                  </a:lnSpc>
                </a:pPr>
                <a:r>
                  <a:rPr lang="zh-CN" altLang="en-US" sz="1800" dirty="0">
                    <a:solidFill>
                      <a:schemeClr val="tx1">
                        <a:lumMod val="85000"/>
                        <a:lumOff val="15000"/>
                      </a:schemeClr>
                    </a:solidFill>
                  </a:rPr>
                  <a:t>如果第一个位置参数不是合法的目录，则显示目录名不对。</a:t>
                </a:r>
              </a:p>
            </p:txBody>
          </p:sp>
        </p:grpSp>
        <p:grpSp>
          <p:nvGrpSpPr>
            <p:cNvPr id="5" name="组合 4"/>
            <p:cNvGrpSpPr/>
            <p:nvPr/>
          </p:nvGrpSpPr>
          <p:grpSpPr>
            <a:xfrm>
              <a:off x="9703" y="2821"/>
              <a:ext cx="7628" cy="5338"/>
              <a:chOff x="9703" y="2821"/>
              <a:chExt cx="7628" cy="5338"/>
            </a:xfrm>
          </p:grpSpPr>
          <p:sp>
            <p:nvSpPr>
              <p:cNvPr id="20" name="MH_Text_1"/>
              <p:cNvSpPr txBox="1">
                <a:spLocks noChangeArrowheads="1"/>
              </p:cNvSpPr>
              <p:nvPr>
                <p:custDataLst>
                  <p:tags r:id="rId1"/>
                </p:custDataLst>
              </p:nvPr>
            </p:nvSpPr>
            <p:spPr bwMode="auto">
              <a:xfrm>
                <a:off x="9703" y="3483"/>
                <a:ext cx="7629" cy="4676"/>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if   [ -f $filename ]</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then  </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cat  $filename</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          echo  "End of ${dir}/$filename"</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      else  </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 echo  "Invalid file name:${dir}/$filename"</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fi </a:t>
                </a:r>
              </a:p>
              <a:p>
                <a:pPr indent="0" algn="l" eaLnBrk="1" fontAlgn="auto" latinLnBrk="0" hangingPunct="1">
                  <a:lnSpc>
                    <a:spcPct val="90000"/>
                  </a:lnSpc>
                  <a:buFont typeface="Arial" panose="020B0604020202020204" pitchFamily="34" charset="0"/>
                  <a:buNone/>
                  <a:defRPr/>
                </a:pP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done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else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echo  "Bad directory name:$dir."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fi</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#end </a:t>
                </a:r>
              </a:p>
            </p:txBody>
          </p:sp>
          <p:sp>
            <p:nvSpPr>
              <p:cNvPr id="21" name="矩形 6"/>
              <p:cNvSpPr>
                <a:spLocks noChangeArrowheads="1"/>
              </p:cNvSpPr>
              <p:nvPr/>
            </p:nvSpPr>
            <p:spPr bwMode="auto">
              <a:xfrm>
                <a:off x="9703" y="2821"/>
                <a:ext cx="3331"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接左边</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694180"/>
            <a:ext cx="11251565" cy="4800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5.6.2  循环语句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2" name="组合 31"/>
          <p:cNvGrpSpPr/>
          <p:nvPr/>
        </p:nvGrpSpPr>
        <p:grpSpPr>
          <a:xfrm>
            <a:off x="374193" y="1694815"/>
            <a:ext cx="2583180" cy="669290"/>
            <a:chOff x="9606" y="5617"/>
            <a:chExt cx="3705" cy="1054"/>
          </a:xfrm>
        </p:grpSpPr>
        <p:sp>
          <p:nvSpPr>
            <p:cNvPr id="33" name="矩形 32"/>
            <p:cNvSpPr/>
            <p:nvPr/>
          </p:nvSpPr>
          <p:spPr>
            <a:xfrm>
              <a:off x="9607" y="5617"/>
              <a:ext cx="3704"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3．until语句</a:t>
              </a:r>
            </a:p>
          </p:txBody>
        </p:sp>
        <p:sp>
          <p:nvSpPr>
            <p:cNvPr id="34" name="Triangle rectangle 10"/>
            <p:cNvSpPr/>
            <p:nvPr/>
          </p:nvSpPr>
          <p:spPr>
            <a:xfrm rot="16200000" flipH="1">
              <a:off x="9589" y="6427"/>
              <a:ext cx="260" cy="227"/>
            </a:xfrm>
            <a:prstGeom prst="rtTriangle">
              <a:avLst/>
            </a:prstGeom>
            <a:gradFill flip="none" rotWithShape="1">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b="1" dirty="0"/>
            </a:p>
          </p:txBody>
        </p:sp>
      </p:grpSp>
      <p:sp>
        <p:nvSpPr>
          <p:cNvPr id="46" name="Text Box 44"/>
          <p:cNvSpPr txBox="1">
            <a:spLocks noChangeArrowheads="1"/>
          </p:cNvSpPr>
          <p:nvPr/>
        </p:nvSpPr>
        <p:spPr bwMode="auto">
          <a:xfrm>
            <a:off x="2608580" y="1668780"/>
            <a:ext cx="9034145" cy="54864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50000"/>
              </a:lnSpc>
            </a:pPr>
            <a:r>
              <a:rPr lang="zh-CN" altLang="en-US" sz="2000" b="1" dirty="0">
                <a:solidFill>
                  <a:srgbClr val="0070C0"/>
                </a:solidFill>
              </a:rPr>
              <a:t>until语句可以用来执行一系列命令，直到所指定的条件为真时才终止循环。</a:t>
            </a:r>
          </a:p>
        </p:txBody>
      </p:sp>
      <p:grpSp>
        <p:nvGrpSpPr>
          <p:cNvPr id="11" name="组合 10"/>
          <p:cNvGrpSpPr/>
          <p:nvPr/>
        </p:nvGrpSpPr>
        <p:grpSpPr>
          <a:xfrm>
            <a:off x="698500" y="2364105"/>
            <a:ext cx="4119880" cy="3954145"/>
            <a:chOff x="10260" y="2735"/>
            <a:chExt cx="8084" cy="7368"/>
          </a:xfrm>
        </p:grpSpPr>
        <p:grpSp>
          <p:nvGrpSpPr>
            <p:cNvPr id="6" name="组合 14"/>
            <p:cNvGrpSpPr/>
            <p:nvPr/>
          </p:nvGrpSpPr>
          <p:grpSpPr bwMode="auto">
            <a:xfrm>
              <a:off x="10260" y="2735"/>
              <a:ext cx="8084" cy="7368"/>
              <a:chOff x="1166778" y="1786406"/>
              <a:chExt cx="3405830" cy="915915"/>
            </a:xfrm>
          </p:grpSpPr>
          <p:grpSp>
            <p:nvGrpSpPr>
              <p:cNvPr id="7" name="组合 12"/>
              <p:cNvGrpSpPr/>
              <p:nvPr/>
            </p:nvGrpSpPr>
            <p:grpSpPr bwMode="auto">
              <a:xfrm>
                <a:off x="1166778" y="1786406"/>
                <a:ext cx="3405830" cy="915915"/>
                <a:chOff x="1166778" y="1786406"/>
                <a:chExt cx="3405830" cy="915915"/>
              </a:xfrm>
            </p:grpSpPr>
            <p:sp>
              <p:nvSpPr>
                <p:cNvPr id="8" name="矩形 7"/>
                <p:cNvSpPr/>
                <p:nvPr/>
              </p:nvSpPr>
              <p:spPr>
                <a:xfrm>
                  <a:off x="1166778" y="1786406"/>
                  <a:ext cx="3405830" cy="91591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2" name="矩形 6"/>
                <p:cNvSpPr>
                  <a:spLocks noChangeArrowheads="1"/>
                </p:cNvSpPr>
                <p:nvPr/>
              </p:nvSpPr>
              <p:spPr bwMode="auto">
                <a:xfrm>
                  <a:off x="1167199" y="1789618"/>
                  <a:ext cx="3074263" cy="9737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until语句的一般格式为：</a:t>
                  </a:r>
                </a:p>
              </p:txBody>
            </p:sp>
          </p:grpSp>
          <p:sp>
            <p:nvSpPr>
              <p:cNvPr id="13" name="MH_Text_1"/>
              <p:cNvSpPr txBox="1">
                <a:spLocks noChangeArrowheads="1"/>
              </p:cNvSpPr>
              <p:nvPr>
                <p:custDataLst>
                  <p:tags r:id="rId2"/>
                </p:custDataLst>
              </p:nvPr>
            </p:nvSpPr>
            <p:spPr bwMode="auto">
              <a:xfrm>
                <a:off x="1259693" y="1872044"/>
                <a:ext cx="3066192" cy="464674"/>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until</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测试条件</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命令表</a:t>
                </a:r>
              </a:p>
              <a:p>
                <a:pPr indent="0" algn="l" eaLnBrk="1" fontAlgn="auto" latinLnBrk="0" hangingPunct="1">
                  <a:lnSpc>
                    <a:spcPct val="130000"/>
                  </a:lnSpc>
                  <a:buFont typeface="Arial" panose="020B0604020202020204" pitchFamily="34" charset="0"/>
                  <a:buNone/>
                  <a:defRPr/>
                </a:pPr>
                <a:r>
                  <a:rPr lang="zh-CN" altLang="en-US" sz="1800" b="1" dirty="0">
                    <a:solidFill>
                      <a:srgbClr val="FF0000"/>
                    </a:solidFill>
                    <a:latin typeface="微软雅黑" panose="020B0503020204020204" pitchFamily="34" charset="-122"/>
                    <a:ea typeface="微软雅黑" panose="020B0503020204020204" pitchFamily="34" charset="-122"/>
                    <a:cs typeface="+mn-cs"/>
                    <a:sym typeface="+mn-ea"/>
                  </a:rPr>
                  <a:t>done</a:t>
                </a:r>
              </a:p>
            </p:txBody>
          </p:sp>
        </p:grpSp>
        <p:sp>
          <p:nvSpPr>
            <p:cNvPr id="5" name="Text Box 44"/>
            <p:cNvSpPr txBox="1">
              <a:spLocks noChangeArrowheads="1"/>
            </p:cNvSpPr>
            <p:nvPr/>
          </p:nvSpPr>
          <p:spPr bwMode="auto">
            <a:xfrm>
              <a:off x="10481" y="7162"/>
              <a:ext cx="7306" cy="2826"/>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30000"/>
                </a:lnSpc>
              </a:pPr>
              <a:r>
                <a:rPr lang="zh-CN" altLang="en-US" sz="1800" dirty="0">
                  <a:solidFill>
                    <a:schemeClr val="tx1">
                      <a:lumMod val="85000"/>
                      <a:lumOff val="15000"/>
                    </a:schemeClr>
                  </a:solidFill>
                </a:rPr>
                <a:t>可以看出，</a:t>
              </a:r>
              <a:r>
                <a:rPr lang="zh-CN" altLang="en-US" sz="1800" dirty="0">
                  <a:solidFill>
                    <a:srgbClr val="FF0000"/>
                  </a:solidFill>
                </a:rPr>
                <a:t>它与while语句很相似，只是测试条件不同，即</a:t>
              </a:r>
              <a:r>
                <a:rPr lang="zh-CN" altLang="en-US" sz="1800" b="1" dirty="0">
                  <a:solidFill>
                    <a:srgbClr val="FF0000"/>
                  </a:solidFill>
                </a:rPr>
                <a:t>当测试条件为假时</a:t>
              </a:r>
              <a:r>
                <a:rPr lang="zh-CN" altLang="en-US" sz="1800" dirty="0">
                  <a:solidFill>
                    <a:srgbClr val="FF0000"/>
                  </a:solidFill>
                </a:rPr>
                <a:t>，才进入循环体</a:t>
              </a:r>
              <a:r>
                <a:rPr lang="zh-CN" altLang="en-US" sz="1800" dirty="0">
                  <a:solidFill>
                    <a:schemeClr val="tx1">
                      <a:lumMod val="85000"/>
                      <a:lumOff val="15000"/>
                    </a:schemeClr>
                  </a:solidFill>
                </a:rPr>
                <a:t>，直至测试条件为真时终止循环。</a:t>
              </a:r>
            </a:p>
          </p:txBody>
        </p:sp>
      </p:grpSp>
      <p:grpSp>
        <p:nvGrpSpPr>
          <p:cNvPr id="3" name="组合 14"/>
          <p:cNvGrpSpPr/>
          <p:nvPr/>
        </p:nvGrpSpPr>
        <p:grpSpPr bwMode="auto">
          <a:xfrm>
            <a:off x="5092065" y="2364105"/>
            <a:ext cx="6091555" cy="4132580"/>
            <a:chOff x="1166778" y="1786406"/>
            <a:chExt cx="2807950" cy="1882252"/>
          </a:xfrm>
        </p:grpSpPr>
        <p:grpSp>
          <p:nvGrpSpPr>
            <p:cNvPr id="4" name="组合 12"/>
            <p:cNvGrpSpPr/>
            <p:nvPr/>
          </p:nvGrpSpPr>
          <p:grpSpPr bwMode="auto">
            <a:xfrm>
              <a:off x="1166778" y="1786406"/>
              <a:ext cx="2807950" cy="1882252"/>
              <a:chOff x="1166778" y="1786406"/>
              <a:chExt cx="2807950" cy="1882252"/>
            </a:xfrm>
          </p:grpSpPr>
          <p:sp>
            <p:nvSpPr>
              <p:cNvPr id="14" name="矩形 13"/>
              <p:cNvSpPr/>
              <p:nvPr/>
            </p:nvSpPr>
            <p:spPr>
              <a:xfrm>
                <a:off x="1166778" y="1786406"/>
                <a:ext cx="2807950" cy="188225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167363" y="1794471"/>
                <a:ext cx="2733309" cy="179028"/>
              </a:xfrm>
              <a:prstGeom prst="rect">
                <a:avLst/>
              </a:prstGeom>
              <a:noFill/>
              <a:ln w="9525">
                <a:noFill/>
                <a:miter lim="800000"/>
              </a:ln>
            </p:spPr>
            <p:txBody>
              <a:bodyPr wrap="square">
                <a:spAutoFit/>
              </a:bodyPr>
              <a:lstStyle/>
              <a:p>
                <a:pPr>
                  <a:lnSpc>
                    <a:spcPct val="11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【例5-</a:t>
                </a:r>
                <a:r>
                  <a:rPr lang="en-US" altLang="zh-CN" sz="1800" b="1">
                    <a:solidFill>
                      <a:srgbClr val="FF0000"/>
                    </a:solidFill>
                    <a:latin typeface="微软雅黑" panose="020B0503020204020204" pitchFamily="34" charset="-122"/>
                    <a:ea typeface="微软雅黑" panose="020B0503020204020204" pitchFamily="34" charset="-122"/>
                    <a:cs typeface="华康俪金黑W8(P)"/>
                  </a:rPr>
                  <a:t>18</a:t>
                </a:r>
                <a:r>
                  <a:rPr lang="zh-CN" altLang="en-US" sz="18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求前5个偶数之和，文件名为example18。</a:t>
                </a:r>
              </a:p>
            </p:txBody>
          </p:sp>
        </p:grpSp>
        <p:sp>
          <p:nvSpPr>
            <p:cNvPr id="36" name="MH_Text_1"/>
            <p:cNvSpPr txBox="1">
              <a:spLocks noChangeArrowheads="1"/>
            </p:cNvSpPr>
            <p:nvPr>
              <p:custDataLst>
                <p:tags r:id="rId1"/>
              </p:custDataLst>
            </p:nvPr>
          </p:nvSpPr>
          <p:spPr bwMode="auto">
            <a:xfrm>
              <a:off x="1207464" y="1971349"/>
              <a:ext cx="2699940" cy="1697309"/>
            </a:xfrm>
            <a:prstGeom prst="rect">
              <a:avLst/>
            </a:prstGeom>
            <a:solidFill>
              <a:srgbClr val="F2F2F2"/>
            </a:solidFill>
            <a:ln w="9525">
              <a:noFill/>
              <a:miter lim="800000"/>
            </a:ln>
          </p:spPr>
          <p:txBody>
            <a:bodyPr/>
            <a:lstStyle/>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loopcount=0</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result=0</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until  [ $loopcount –ge 5 ]</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do</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let  loopcount=$loopcount+1</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let  increment=$loopcount\*2</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let  result=$result+$increment</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done</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echo  "result is $result"</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#end </a:t>
              </a:r>
            </a:p>
            <a:p>
              <a:pPr indent="45720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[Stu@localhost pro]$bash example18 </a:t>
              </a:r>
              <a:endParaRPr lang="en-US" altLang="zh-CN" sz="1600" b="1" dirty="0">
                <a:solidFill>
                  <a:srgbClr val="0070C0"/>
                </a:solidFill>
                <a:latin typeface="微软雅黑" panose="020B0503020204020204" pitchFamily="34" charset="-122"/>
                <a:ea typeface="微软雅黑" panose="020B0503020204020204" pitchFamily="34" charset="-122"/>
                <a:cs typeface="+mn-cs"/>
                <a:sym typeface="+mn-ea"/>
              </a:endParaRPr>
            </a:p>
            <a:p>
              <a:pPr indent="457200" algn="l" eaLnBrk="1" fontAlgn="auto" latinLnBrk="0" hangingPunct="1">
                <a:lnSpc>
                  <a:spcPct val="120000"/>
                </a:lnSpc>
                <a:buFont typeface="Arial" panose="020B0604020202020204" pitchFamily="34" charset="0"/>
                <a:buNone/>
                <a:defRPr/>
              </a:pPr>
              <a:r>
                <a:rPr lang="en-US" altLang="zh-CN" sz="1600" b="1" dirty="0">
                  <a:solidFill>
                    <a:srgbClr val="0070C0"/>
                  </a:solidFill>
                  <a:latin typeface="微软雅黑" panose="020B0503020204020204" pitchFamily="34" charset="-122"/>
                  <a:ea typeface="微软雅黑" panose="020B0503020204020204" pitchFamily="34" charset="-122"/>
                  <a:cs typeface="+mn-cs"/>
                  <a:sym typeface="+mn-ea"/>
                </a:rPr>
                <a:t>r</a:t>
              </a: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esult is 30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Scale>
                                      <p:cBhvr>
                                        <p:cTn id="7" dur="1000" decel="50000" fill="hold">
                                          <p:stCondLst>
                                            <p:cond delay="0"/>
                                          </p:stCondLst>
                                        </p:cTn>
                                        <p:tgtEl>
                                          <p:spTgt spid="4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6"/>
                                        </p:tgtEl>
                                        <p:attrNameLst>
                                          <p:attrName>ppt_x</p:attrName>
                                          <p:attrName>ppt_y</p:attrName>
                                        </p:attrNameLst>
                                      </p:cBhvr>
                                    </p:animMotion>
                                    <p:animEffect transition="in" filter="fade">
                                      <p:cBhvr>
                                        <p:cTn id="9" dur="1000"/>
                                        <p:tgtEl>
                                          <p:spTgt spid="46"/>
                                        </p:tgtEl>
                                      </p:cBhvr>
                                    </p:animEffect>
                                  </p:childTnLst>
                                </p:cTn>
                              </p:par>
                            </p:childTnLst>
                          </p:cTn>
                        </p:par>
                        <p:par>
                          <p:cTn id="10" fill="hold">
                            <p:stCondLst>
                              <p:cond delay="1000"/>
                            </p:stCondLst>
                            <p:childTnLst>
                              <p:par>
                                <p:cTn id="11" presetID="18" presetClass="entr" presetSubtype="6"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strips(downRight)">
                                      <p:cBhvr>
                                        <p:cTn id="13" dur="500"/>
                                        <p:tgtEl>
                                          <p:spTgt spid="11"/>
                                        </p:tgtEl>
                                      </p:cBhvr>
                                    </p:animEffect>
                                  </p:childTnLst>
                                </p:cTn>
                              </p:par>
                              <p:par>
                                <p:cTn id="14" presetID="18" presetClass="entr" presetSubtype="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strips(downRigh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6664325" y="3156585"/>
            <a:ext cx="3794760" cy="481330"/>
            <a:chOff x="3" y="0"/>
            <a:chExt cx="4243" cy="333"/>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5.7.1  break语句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sp>
        <p:nvSpPr>
          <p:cNvPr id="14" name="Text Box 44"/>
          <p:cNvSpPr txBox="1">
            <a:spLocks noChangeArrowheads="1"/>
          </p:cNvSpPr>
          <p:nvPr/>
        </p:nvSpPr>
        <p:spPr bwMode="auto">
          <a:xfrm>
            <a:off x="740410" y="1694815"/>
            <a:ext cx="4592955" cy="15544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break语句可以用来终止</a:t>
            </a:r>
            <a:r>
              <a:rPr lang="zh-CN" altLang="en-US" sz="2000" b="1" dirty="0">
                <a:solidFill>
                  <a:srgbClr val="0070C0"/>
                </a:solidFill>
              </a:rPr>
              <a:t>一个重复执行的循环</a:t>
            </a:r>
            <a:r>
              <a:rPr lang="zh-CN" altLang="en-US" sz="2000" dirty="0">
                <a:solidFill>
                  <a:schemeClr val="tx1">
                    <a:lumMod val="85000"/>
                    <a:lumOff val="15000"/>
                  </a:schemeClr>
                </a:solidFill>
              </a:rPr>
              <a:t>。这种循环可以是for、until或者while语句构成的循环。</a:t>
            </a:r>
          </a:p>
        </p:txBody>
      </p:sp>
      <p:grpSp>
        <p:nvGrpSpPr>
          <p:cNvPr id="3" name="组合 14"/>
          <p:cNvGrpSpPr/>
          <p:nvPr/>
        </p:nvGrpSpPr>
        <p:grpSpPr bwMode="auto">
          <a:xfrm>
            <a:off x="6042025" y="1084580"/>
            <a:ext cx="5553075" cy="5410200"/>
            <a:chOff x="1516325" y="1744647"/>
            <a:chExt cx="4021299" cy="1714142"/>
          </a:xfrm>
        </p:grpSpPr>
        <p:grpSp>
          <p:nvGrpSpPr>
            <p:cNvPr id="4" name="组合 12"/>
            <p:cNvGrpSpPr/>
            <p:nvPr/>
          </p:nvGrpSpPr>
          <p:grpSpPr bwMode="auto">
            <a:xfrm>
              <a:off x="1516325" y="1744647"/>
              <a:ext cx="4021299" cy="1714142"/>
              <a:chOff x="1516325" y="1744647"/>
              <a:chExt cx="4021299" cy="1714142"/>
            </a:xfrm>
          </p:grpSpPr>
          <p:sp>
            <p:nvSpPr>
              <p:cNvPr id="5" name="矩形 4"/>
              <p:cNvSpPr/>
              <p:nvPr/>
            </p:nvSpPr>
            <p:spPr>
              <a:xfrm>
                <a:off x="1516325" y="1744727"/>
                <a:ext cx="4021299" cy="171406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516325" y="1744647"/>
                <a:ext cx="4021299" cy="13633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【例5-19】</a:t>
                </a:r>
                <a:r>
                  <a:rPr lang="en-US" altLang="zh-CN" sz="2000" b="1" dirty="0">
                    <a:solidFill>
                      <a:srgbClr val="009900"/>
                    </a:solidFill>
                    <a:latin typeface="微软雅黑" panose="020B0503020204020204" pitchFamily="34" charset="-122"/>
                    <a:ea typeface="微软雅黑" panose="020B0503020204020204" pitchFamily="34" charset="-122"/>
                    <a:cs typeface="华康俪金黑W8(P)"/>
                  </a:rPr>
                  <a:t>break</a:t>
                </a: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语句应用。</a:t>
                </a:r>
              </a:p>
            </p:txBody>
          </p:sp>
        </p:grpSp>
        <p:sp>
          <p:nvSpPr>
            <p:cNvPr id="36" name="MH_Text_1"/>
            <p:cNvSpPr txBox="1">
              <a:spLocks noChangeArrowheads="1"/>
            </p:cNvSpPr>
            <p:nvPr>
              <p:custDataLst>
                <p:tags r:id="rId1"/>
              </p:custDataLst>
            </p:nvPr>
          </p:nvSpPr>
          <p:spPr bwMode="auto">
            <a:xfrm>
              <a:off x="1704859" y="1897149"/>
              <a:ext cx="3525132" cy="1482760"/>
            </a:xfrm>
            <a:prstGeom prst="rect">
              <a:avLst/>
            </a:prstGeom>
            <a:solidFill>
              <a:srgbClr val="F2F2F2"/>
            </a:solidFill>
            <a:ln w="9525">
              <a:noFill/>
              <a:miter lim="800000"/>
            </a:ln>
          </p:spPr>
          <p:txBody>
            <a:bodyPr/>
            <a:lstStyle/>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#!/bin/bash</a:t>
              </a: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演示</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break</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眺出循环</a:t>
              </a: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for ((</a:t>
              </a:r>
              <a:r>
                <a:rPr lang="en" altLang="zh-CN" b="1" dirty="0" err="1">
                  <a:solidFill>
                    <a:srgbClr val="0070C0"/>
                  </a:solidFill>
                  <a:latin typeface="微软雅黑" panose="020B0503020204020204" pitchFamily="34" charset="-122"/>
                  <a:ea typeface="微软雅黑" panose="020B0503020204020204" pitchFamily="34" charset="-122"/>
                  <a:cs typeface="+mn-cs"/>
                  <a:sym typeface="+mn-ea"/>
                </a:rPr>
                <a:t>i</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=1;i&lt;=10;i=i+1))</a:t>
              </a: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循环</a:t>
              </a:r>
              <a:r>
                <a:rPr lang="en-US" altLang="zh-CN" b="1" dirty="0">
                  <a:solidFill>
                    <a:srgbClr val="0070C0"/>
                  </a:solidFill>
                  <a:latin typeface="微软雅黑" panose="020B0503020204020204" pitchFamily="34" charset="-122"/>
                  <a:ea typeface="微软雅黑" panose="020B0503020204020204" pitchFamily="34" charset="-122"/>
                  <a:cs typeface="+mn-cs"/>
                  <a:sym typeface="+mn-ea"/>
                </a:rPr>
                <a:t>10</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次</a:t>
              </a:r>
            </a:p>
            <a:p>
              <a:pPr fontAlgn="auto">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    </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do</a:t>
              </a: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        if ["$</a:t>
              </a:r>
              <a:r>
                <a:rPr lang="en" altLang="zh-CN" b="1" dirty="0" err="1">
                  <a:solidFill>
                    <a:srgbClr val="0070C0"/>
                  </a:solidFill>
                  <a:latin typeface="微软雅黑" panose="020B0503020204020204" pitchFamily="34" charset="-122"/>
                  <a:ea typeface="微软雅黑" panose="020B0503020204020204" pitchFamily="34" charset="-122"/>
                  <a:cs typeface="+mn-cs"/>
                  <a:sym typeface="+mn-ea"/>
                </a:rPr>
                <a:t>i</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 -eq 4]</a:t>
              </a: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如果变量 </a:t>
              </a:r>
              <a:r>
                <a:rPr lang="en" altLang="zh-CN" b="1" dirty="0" err="1">
                  <a:solidFill>
                    <a:srgbClr val="0070C0"/>
                  </a:solidFill>
                  <a:latin typeface="微软雅黑" panose="020B0503020204020204" pitchFamily="34" charset="-122"/>
                  <a:ea typeface="微软雅黑" panose="020B0503020204020204" pitchFamily="34" charset="-122"/>
                  <a:cs typeface="+mn-cs"/>
                  <a:sym typeface="+mn-ea"/>
                </a:rPr>
                <a:t>i</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的值等于</a:t>
              </a:r>
              <a:r>
                <a:rPr lang="en-US" altLang="zh-CN" b="1" dirty="0">
                  <a:solidFill>
                    <a:srgbClr val="0070C0"/>
                  </a:solidFill>
                  <a:latin typeface="微软雅黑" panose="020B0503020204020204" pitchFamily="34" charset="-122"/>
                  <a:ea typeface="微软雅黑" panose="020B0503020204020204" pitchFamily="34" charset="-122"/>
                  <a:cs typeface="+mn-cs"/>
                  <a:sym typeface="+mn-ea"/>
                </a:rPr>
                <a:t>4</a:t>
              </a:r>
            </a:p>
            <a:p>
              <a:pPr fontAlgn="auto">
                <a:defRPr/>
              </a:pPr>
              <a:r>
                <a:rPr lang="en-US" altLang="zh-CN" b="1" dirty="0">
                  <a:solidFill>
                    <a:srgbClr val="0070C0"/>
                  </a:solidFill>
                  <a:latin typeface="微软雅黑" panose="020B0503020204020204" pitchFamily="34" charset="-122"/>
                  <a:ea typeface="微软雅黑" panose="020B0503020204020204" pitchFamily="34" charset="-122"/>
                  <a:cs typeface="+mn-cs"/>
                  <a:sym typeface="+mn-ea"/>
                </a:rPr>
                <a:t>        </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then</a:t>
              </a:r>
            </a:p>
            <a:p>
              <a:pPr fontAlgn="auto">
                <a:defRPr/>
              </a:pPr>
              <a:r>
                <a:rPr lang="en" altLang="zh-CN" b="1" dirty="0">
                  <a:solidFill>
                    <a:srgbClr val="FF0000"/>
                  </a:solidFill>
                  <a:latin typeface="微软雅黑" panose="020B0503020204020204" pitchFamily="34" charset="-122"/>
                  <a:ea typeface="微软雅黑" panose="020B0503020204020204" pitchFamily="34" charset="-122"/>
                  <a:cs typeface="+mn-cs"/>
                  <a:sym typeface="+mn-ea"/>
                </a:rPr>
                <a:t>        break</a:t>
              </a: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则退出整个循环</a:t>
              </a:r>
            </a:p>
            <a:p>
              <a:pPr fontAlgn="auto">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        </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fi</a:t>
              </a: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        echo $</a:t>
              </a:r>
              <a:r>
                <a:rPr lang="en" altLang="zh-CN" b="1" dirty="0" err="1">
                  <a:solidFill>
                    <a:srgbClr val="0070C0"/>
                  </a:solidFill>
                  <a:latin typeface="微软雅黑" panose="020B0503020204020204" pitchFamily="34" charset="-122"/>
                  <a:ea typeface="微软雅黑" panose="020B0503020204020204" pitchFamily="34" charset="-122"/>
                  <a:cs typeface="+mn-cs"/>
                  <a:sym typeface="+mn-ea"/>
                </a:rPr>
                <a:t>i</a:t>
              </a:r>
              <a:endParaRPr lang="en" altLang="zh-CN" b="1" dirty="0">
                <a:solidFill>
                  <a:srgbClr val="0070C0"/>
                </a:solidFill>
                <a:latin typeface="微软雅黑" panose="020B0503020204020204" pitchFamily="34" charset="-122"/>
                <a:ea typeface="微软雅黑" panose="020B0503020204020204" pitchFamily="34" charset="-122"/>
                <a:cs typeface="+mn-cs"/>
                <a:sym typeface="+mn-ea"/>
              </a:endParaRPr>
            </a:p>
            <a:p>
              <a:pPr fontAlgn="auto">
                <a:defRPr/>
              </a:pPr>
              <a:r>
                <a:rPr lang="en" altLang="zh-CN"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输出变量</a:t>
              </a:r>
              <a:r>
                <a:rPr lang="en" altLang="zh-CN" b="1" dirty="0" err="1">
                  <a:solidFill>
                    <a:srgbClr val="0070C0"/>
                  </a:solidFill>
                  <a:latin typeface="微软雅黑" panose="020B0503020204020204" pitchFamily="34" charset="-122"/>
                  <a:ea typeface="微软雅黑" panose="020B0503020204020204" pitchFamily="34" charset="-122"/>
                  <a:cs typeface="+mn-cs"/>
                  <a:sym typeface="+mn-ea"/>
                </a:rPr>
                <a:t>i</a:t>
              </a: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的值</a:t>
              </a:r>
            </a:p>
            <a:p>
              <a:pPr fontAlgn="auto">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    </a:t>
              </a:r>
              <a:r>
                <a:rPr lang="en" altLang="zh-CN" b="1" dirty="0">
                  <a:solidFill>
                    <a:srgbClr val="0070C0"/>
                  </a:solidFill>
                  <a:latin typeface="微软雅黑" panose="020B0503020204020204" pitchFamily="34" charset="-122"/>
                  <a:ea typeface="微软雅黑" panose="020B0503020204020204" pitchFamily="34" charset="-122"/>
                  <a:cs typeface="+mn-cs"/>
                  <a:sym typeface="+mn-ea"/>
                </a:rPr>
                <a:t>done</a:t>
              </a: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grpSp>
      <p:grpSp>
        <p:nvGrpSpPr>
          <p:cNvPr id="6" name="组合 5"/>
          <p:cNvGrpSpPr/>
          <p:nvPr/>
        </p:nvGrpSpPr>
        <p:grpSpPr>
          <a:xfrm>
            <a:off x="862330" y="3328670"/>
            <a:ext cx="3968107" cy="578485"/>
            <a:chOff x="1034" y="3671"/>
            <a:chExt cx="11406" cy="911"/>
          </a:xfrm>
        </p:grpSpPr>
        <p:sp>
          <p:nvSpPr>
            <p:cNvPr id="45" name="Text Box 44"/>
            <p:cNvSpPr txBox="1">
              <a:spLocks noChangeArrowheads="1"/>
            </p:cNvSpPr>
            <p:nvPr/>
          </p:nvSpPr>
          <p:spPr bwMode="auto">
            <a:xfrm>
              <a:off x="1034" y="3707"/>
              <a:ext cx="6054"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其语法格式为：</a:t>
              </a:r>
            </a:p>
          </p:txBody>
        </p:sp>
        <p:grpSp>
          <p:nvGrpSpPr>
            <p:cNvPr id="7" name="组合 6"/>
            <p:cNvGrpSpPr/>
            <p:nvPr/>
          </p:nvGrpSpPr>
          <p:grpSpPr>
            <a:xfrm>
              <a:off x="6657" y="3671"/>
              <a:ext cx="5783" cy="911"/>
              <a:chOff x="3780" y="4976"/>
              <a:chExt cx="5783" cy="911"/>
            </a:xfrm>
          </p:grpSpPr>
          <p:sp>
            <p:nvSpPr>
              <p:cNvPr id="17" name="流程图: 过程 16"/>
              <p:cNvSpPr/>
              <p:nvPr/>
            </p:nvSpPr>
            <p:spPr>
              <a:xfrm>
                <a:off x="3780" y="5012"/>
                <a:ext cx="548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1" name="文本框 20"/>
              <p:cNvSpPr txBox="1"/>
              <p:nvPr/>
            </p:nvSpPr>
            <p:spPr>
              <a:xfrm>
                <a:off x="4211" y="4976"/>
                <a:ext cx="5352"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break  [n] </a:t>
                </a:r>
              </a:p>
            </p:txBody>
          </p:sp>
        </p:grpSp>
      </p:grpSp>
      <p:sp>
        <p:nvSpPr>
          <p:cNvPr id="11" name="圆角矩形 10"/>
          <p:cNvSpPr/>
          <p:nvPr/>
        </p:nvSpPr>
        <p:spPr>
          <a:xfrm>
            <a:off x="874395" y="4250055"/>
            <a:ext cx="4458970" cy="175704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其中，n表示要跳出的几层循环。默认值是1，表示只跳出一层循环。如果n为3，则表示一次跳出3层循环。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par>
                                <p:cTn id="12" presetID="23" presetClass="entr" presetSubtype="16" fill="hold" grpId="2"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1" grpId="0" animBg="1"/>
      <p:bldP spid="11" grpId="1" animBg="1"/>
      <p:bldP spid="11" grpId="2"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5.7.2  continue语句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14"/>
          <p:cNvGrpSpPr/>
          <p:nvPr/>
        </p:nvGrpSpPr>
        <p:grpSpPr bwMode="auto">
          <a:xfrm>
            <a:off x="5893435" y="1606550"/>
            <a:ext cx="5128260" cy="4568191"/>
            <a:chOff x="1516325" y="1744647"/>
            <a:chExt cx="3713666" cy="1447364"/>
          </a:xfrm>
        </p:grpSpPr>
        <p:grpSp>
          <p:nvGrpSpPr>
            <p:cNvPr id="4" name="组合 12"/>
            <p:cNvGrpSpPr/>
            <p:nvPr/>
          </p:nvGrpSpPr>
          <p:grpSpPr bwMode="auto">
            <a:xfrm>
              <a:off x="1516325" y="1744647"/>
              <a:ext cx="3713666" cy="1447364"/>
              <a:chOff x="1516325" y="1744647"/>
              <a:chExt cx="3713666" cy="1447364"/>
            </a:xfrm>
          </p:grpSpPr>
          <p:sp>
            <p:nvSpPr>
              <p:cNvPr id="5" name="矩形 4"/>
              <p:cNvSpPr/>
              <p:nvPr/>
            </p:nvSpPr>
            <p:spPr>
              <a:xfrm>
                <a:off x="1516325" y="1744647"/>
                <a:ext cx="3713666" cy="1447364"/>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516325" y="1744647"/>
                <a:ext cx="3469031" cy="14485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pitchFamily="34" charset="-122"/>
                    <a:ea typeface="微软雅黑" panose="020B0503020204020204" pitchFamily="34" charset="-122"/>
                    <a:cs typeface="华康俪金黑W8(P)"/>
                  </a:rPr>
                  <a:t>【例5-</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20</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zh-CN" altLang="en-US" sz="2000" b="1">
                    <a:solidFill>
                      <a:srgbClr val="009900"/>
                    </a:solidFill>
                    <a:latin typeface="微软雅黑" panose="020B0503020204020204" pitchFamily="34" charset="-122"/>
                    <a:ea typeface="微软雅黑" panose="020B0503020204020204" pitchFamily="34" charset="-122"/>
                    <a:cs typeface="华康俪金黑W8(P)"/>
                  </a:rPr>
                  <a:t>continue语句的应用。</a:t>
                </a:r>
              </a:p>
            </p:txBody>
          </p:sp>
        </p:grpSp>
        <p:sp>
          <p:nvSpPr>
            <p:cNvPr id="36" name="MH_Text_1"/>
            <p:cNvSpPr txBox="1">
              <a:spLocks noChangeArrowheads="1"/>
            </p:cNvSpPr>
            <p:nvPr>
              <p:custDataLst>
                <p:tags r:id="rId1"/>
              </p:custDataLst>
            </p:nvPr>
          </p:nvSpPr>
          <p:spPr bwMode="auto">
            <a:xfrm>
              <a:off x="1603692" y="1897149"/>
              <a:ext cx="3525132" cy="1249996"/>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for  i   in   1  2  3  4  5  6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if  [  "$i"  -e</a:t>
              </a:r>
              <a:r>
                <a:rPr lang="en-US" altLang="zh-CN" sz="1800" b="1">
                  <a:solidFill>
                    <a:srgbClr val="0070C0"/>
                  </a:solidFill>
                  <a:latin typeface="微软雅黑" panose="020B0503020204020204" pitchFamily="34" charset="-122"/>
                  <a:ea typeface="微软雅黑" panose="020B0503020204020204" pitchFamily="34" charset="-122"/>
                  <a:cs typeface="+mn-cs"/>
                  <a:sym typeface="+mn-ea"/>
                </a:rPr>
                <a:t>q</a:t>
              </a:r>
              <a:r>
                <a:rPr lang="zh-CN" altLang="en-US" sz="1800" b="1">
                  <a:solidFill>
                    <a:srgbClr val="0070C0"/>
                  </a:solidFill>
                  <a:latin typeface="微软雅黑" panose="020B0503020204020204" pitchFamily="34" charset="-122"/>
                  <a:ea typeface="微软雅黑" panose="020B0503020204020204" pitchFamily="34" charset="-122"/>
                  <a:cs typeface="+mn-cs"/>
                  <a:sym typeface="+mn-ea"/>
                </a:rPr>
                <a:t>  </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3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then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continue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else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echo  "$i"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fi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done</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#end</a:t>
              </a:r>
            </a:p>
          </p:txBody>
        </p:sp>
      </p:grpSp>
      <p:grpSp>
        <p:nvGrpSpPr>
          <p:cNvPr id="11" name="组合 10"/>
          <p:cNvGrpSpPr/>
          <p:nvPr/>
        </p:nvGrpSpPr>
        <p:grpSpPr>
          <a:xfrm>
            <a:off x="740410" y="1783715"/>
            <a:ext cx="4592955" cy="2212340"/>
            <a:chOff x="1166" y="2669"/>
            <a:chExt cx="7233" cy="3484"/>
          </a:xfrm>
        </p:grpSpPr>
        <p:sp>
          <p:nvSpPr>
            <p:cNvPr id="14" name="Text Box 44"/>
            <p:cNvSpPr txBox="1">
              <a:spLocks noChangeArrowheads="1"/>
            </p:cNvSpPr>
            <p:nvPr/>
          </p:nvSpPr>
          <p:spPr bwMode="auto">
            <a:xfrm>
              <a:off x="1166" y="2669"/>
              <a:ext cx="7233" cy="244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continue语句</a:t>
              </a:r>
              <a:r>
                <a:rPr lang="zh-CN" altLang="en-US" sz="2000" dirty="0">
                  <a:solidFill>
                    <a:srgbClr val="FF0000"/>
                  </a:solidFill>
                </a:rPr>
                <a:t>跳过循环体中</a:t>
              </a:r>
              <a:r>
                <a:rPr lang="zh-CN" altLang="en-US" sz="2000" b="1" dirty="0">
                  <a:solidFill>
                    <a:srgbClr val="FF0000"/>
                  </a:solidFill>
                </a:rPr>
                <a:t>在它之后</a:t>
              </a:r>
              <a:r>
                <a:rPr lang="zh-CN" altLang="en-US" sz="2000" dirty="0">
                  <a:solidFill>
                    <a:srgbClr val="FF0000"/>
                  </a:solidFill>
                </a:rPr>
                <a:t>的语句</a:t>
              </a:r>
              <a:r>
                <a:rPr lang="zh-CN" altLang="en-US" sz="2000" dirty="0">
                  <a:solidFill>
                    <a:schemeClr val="tx1">
                      <a:lumMod val="85000"/>
                      <a:lumOff val="15000"/>
                    </a:schemeClr>
                  </a:solidFill>
                </a:rPr>
                <a:t>，</a:t>
              </a:r>
              <a:r>
                <a:rPr lang="zh-CN" altLang="en-US" sz="2000" dirty="0">
                  <a:solidFill>
                    <a:srgbClr val="FF0000"/>
                  </a:solidFill>
                </a:rPr>
                <a:t>回到本层循环的开头</a:t>
              </a:r>
              <a:r>
                <a:rPr lang="zh-CN" altLang="en-US" sz="2000" dirty="0">
                  <a:solidFill>
                    <a:schemeClr val="tx1">
                      <a:lumMod val="85000"/>
                      <a:lumOff val="15000"/>
                    </a:schemeClr>
                  </a:solidFill>
                </a:rPr>
                <a:t>，进行下一次循环。</a:t>
              </a:r>
            </a:p>
          </p:txBody>
        </p:sp>
        <p:grpSp>
          <p:nvGrpSpPr>
            <p:cNvPr id="6" name="组合 5"/>
            <p:cNvGrpSpPr/>
            <p:nvPr/>
          </p:nvGrpSpPr>
          <p:grpSpPr>
            <a:xfrm>
              <a:off x="1358" y="5242"/>
              <a:ext cx="6249" cy="911"/>
              <a:chOff x="1034" y="3671"/>
              <a:chExt cx="11406" cy="911"/>
            </a:xfrm>
          </p:grpSpPr>
          <p:sp>
            <p:nvSpPr>
              <p:cNvPr id="45" name="Text Box 44"/>
              <p:cNvSpPr txBox="1">
                <a:spLocks noChangeArrowheads="1"/>
              </p:cNvSpPr>
              <p:nvPr/>
            </p:nvSpPr>
            <p:spPr bwMode="auto">
              <a:xfrm>
                <a:off x="1034" y="3707"/>
                <a:ext cx="6054"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其语法格式为：</a:t>
                </a:r>
              </a:p>
            </p:txBody>
          </p:sp>
          <p:grpSp>
            <p:nvGrpSpPr>
              <p:cNvPr id="7" name="组合 6"/>
              <p:cNvGrpSpPr/>
              <p:nvPr/>
            </p:nvGrpSpPr>
            <p:grpSpPr>
              <a:xfrm>
                <a:off x="6657" y="3671"/>
                <a:ext cx="5783" cy="911"/>
                <a:chOff x="3780" y="4976"/>
                <a:chExt cx="5783" cy="911"/>
              </a:xfrm>
            </p:grpSpPr>
            <p:sp>
              <p:nvSpPr>
                <p:cNvPr id="17" name="流程图: 过程 16"/>
                <p:cNvSpPr/>
                <p:nvPr/>
              </p:nvSpPr>
              <p:spPr>
                <a:xfrm>
                  <a:off x="3780" y="5012"/>
                  <a:ext cx="548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1" name="文本框 20"/>
                <p:cNvSpPr txBox="1"/>
                <p:nvPr/>
              </p:nvSpPr>
              <p:spPr>
                <a:xfrm>
                  <a:off x="4211" y="4976"/>
                  <a:ext cx="5352"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continue  [n]</a:t>
                  </a:r>
                </a:p>
              </p:txBody>
            </p:sp>
          </p:grpSp>
        </p:grpSp>
      </p:grpSp>
      <p:sp>
        <p:nvSpPr>
          <p:cNvPr id="12" name="圆角矩形 11"/>
          <p:cNvSpPr/>
          <p:nvPr/>
        </p:nvSpPr>
        <p:spPr>
          <a:xfrm>
            <a:off x="778510" y="4098289"/>
            <a:ext cx="4719320" cy="234900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其中，n表示从包含continue语句的内层循环体向外跳到第n层循环。默认值为1。循环层数是由内向外的编号。</a:t>
            </a:r>
            <a:endParaRPr lang="en-US" altLang="zh-CN" sz="2000" dirty="0">
              <a:solidFill>
                <a:schemeClr val="tx1"/>
              </a:solidFill>
              <a:latin typeface="微软雅黑" panose="020B0503020204020204" pitchFamily="34" charset="-122"/>
              <a:ea typeface="微软雅黑" panose="020B0503020204020204" pitchFamily="34" charset="-122"/>
              <a:sym typeface="+mn-ea"/>
            </a:endParaRPr>
          </a:p>
          <a:p>
            <a:pPr indent="457200">
              <a:lnSpc>
                <a:spcPct val="150000"/>
              </a:lnSpc>
            </a:pPr>
            <a:r>
              <a:rPr lang="en" altLang="zh-CN" sz="2000" dirty="0">
                <a:solidFill>
                  <a:schemeClr val="tx1"/>
                </a:solidFill>
                <a:latin typeface="微软雅黑" panose="020B0503020204020204" pitchFamily="34" charset="-122"/>
                <a:ea typeface="微软雅黑" panose="020B0503020204020204" pitchFamily="34" charset="-122"/>
                <a:sym typeface="+mn-ea"/>
              </a:rPr>
              <a:t>continue </a:t>
            </a:r>
            <a:r>
              <a:rPr lang="zh-CN" altLang="en-US" sz="2000" dirty="0">
                <a:solidFill>
                  <a:schemeClr val="tx1"/>
                </a:solidFill>
                <a:latin typeface="微软雅黑" panose="020B0503020204020204" pitchFamily="34" charset="-122"/>
                <a:ea typeface="微软雅黑" panose="020B0503020204020204" pitchFamily="34" charset="-122"/>
                <a:sym typeface="+mn-ea"/>
              </a:rPr>
              <a:t>语句</a:t>
            </a:r>
            <a:r>
              <a:rPr lang="zh-CN" altLang="en-US" sz="2000" dirty="0">
                <a:solidFill>
                  <a:srgbClr val="FF0000"/>
                </a:solidFill>
                <a:latin typeface="微软雅黑" panose="020B0503020204020204" pitchFamily="34" charset="-122"/>
                <a:ea typeface="微软雅黑" panose="020B0503020204020204" pitchFamily="34" charset="-122"/>
                <a:sym typeface="+mn-ea"/>
              </a:rPr>
              <a:t>只会退出单次当前循环，并不会影响后续的循环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par>
                                <p:cTn id="8" presetID="23" presetClass="entr" presetSubtype="16" fill="hold" grpId="2"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fltVal val="0"/>
                                          </p:val>
                                        </p:tav>
                                        <p:tav tm="100000">
                                          <p:val>
                                            <p:strVal val="#ppt_w"/>
                                          </p:val>
                                        </p:tav>
                                      </p:tavLst>
                                    </p:anim>
                                    <p:anim calcmode="lin" valueType="num">
                                      <p:cBhvr>
                                        <p:cTn id="11" dur="500" fill="hold"/>
                                        <p:tgtEl>
                                          <p:spTgt spid="12"/>
                                        </p:tgtEl>
                                        <p:attrNameLst>
                                          <p:attrName>ppt_h</p:attrName>
                                        </p:attrNameLst>
                                      </p:cBhvr>
                                      <p:tavLst>
                                        <p:tav tm="0">
                                          <p:val>
                                            <p:fltVal val="0"/>
                                          </p:val>
                                        </p:tav>
                                        <p:tav tm="100000">
                                          <p:val>
                                            <p:strVal val="#ppt_h"/>
                                          </p:val>
                                        </p:tav>
                                      </p:tavLst>
                                    </p:anim>
                                  </p:childTnLst>
                                </p:cTn>
                              </p:par>
                            </p:childTnLst>
                          </p:cTn>
                        </p:par>
                        <p:par>
                          <p:cTn id="12" fill="hold">
                            <p:stCondLst>
                              <p:cond delay="500"/>
                            </p:stCondLst>
                            <p:childTnLst>
                              <p:par>
                                <p:cTn id="13" presetID="18" presetClass="entr" presetSubtype="6"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2" grpId="2"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74015" y="1164590"/>
            <a:ext cx="3847465" cy="530225"/>
            <a:chOff x="7840" y="1833"/>
            <a:chExt cx="6059" cy="835"/>
          </a:xfrm>
        </p:grpSpPr>
        <p:sp>
          <p:nvSpPr>
            <p:cNvPr id="9" name="矩形 6"/>
            <p:cNvSpPr>
              <a:spLocks noChangeArrowheads="1"/>
            </p:cNvSpPr>
            <p:nvPr/>
          </p:nvSpPr>
          <p:spPr bwMode="auto">
            <a:xfrm>
              <a:off x="8351" y="1833"/>
              <a:ext cx="5548" cy="83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400" b="1">
                  <a:solidFill>
                    <a:srgbClr val="0066FF"/>
                  </a:solidFill>
                  <a:latin typeface="微软雅黑" panose="020B0503020204020204" pitchFamily="34" charset="-122"/>
                  <a:ea typeface="微软雅黑" panose="020B0503020204020204" pitchFamily="34" charset="-122"/>
                </a:rPr>
                <a:t>5.7.3  exit语句</a:t>
              </a:r>
            </a:p>
          </p:txBody>
        </p:sp>
        <p:sp>
          <p:nvSpPr>
            <p:cNvPr id="10" name="椭圆 9"/>
            <p:cNvSpPr/>
            <p:nvPr/>
          </p:nvSpPr>
          <p:spPr bwMode="auto">
            <a:xfrm>
              <a:off x="7840" y="2015"/>
              <a:ext cx="511" cy="470"/>
            </a:xfrm>
            <a:prstGeom prst="ellipse">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1104900" fontAlgn="auto">
                <a:buFont typeface="Arial" panose="020B0604020202020204" pitchFamily="34" charset="0"/>
                <a:buNone/>
                <a:defRPr/>
              </a:pPr>
              <a:endParaRPr lang="zh-CN" altLang="en-US" sz="1200" noProof="1">
                <a:solidFill>
                  <a:srgbClr val="0066FF"/>
                </a:solidFill>
                <a:latin typeface="Arial Unicode MS" panose="020B0604020202020204" pitchFamily="34" charset="-122"/>
              </a:endParaRPr>
            </a:p>
          </p:txBody>
        </p:sp>
      </p:grpSp>
      <p:grpSp>
        <p:nvGrpSpPr>
          <p:cNvPr id="3" name="组合 2"/>
          <p:cNvGrpSpPr/>
          <p:nvPr/>
        </p:nvGrpSpPr>
        <p:grpSpPr>
          <a:xfrm>
            <a:off x="698500" y="1904365"/>
            <a:ext cx="4592955" cy="1896745"/>
            <a:chOff x="1166" y="2669"/>
            <a:chExt cx="7233" cy="2987"/>
          </a:xfrm>
        </p:grpSpPr>
        <p:sp>
          <p:nvSpPr>
            <p:cNvPr id="14" name="Text Box 44"/>
            <p:cNvSpPr txBox="1">
              <a:spLocks noChangeArrowheads="1"/>
            </p:cNvSpPr>
            <p:nvPr/>
          </p:nvSpPr>
          <p:spPr bwMode="auto">
            <a:xfrm>
              <a:off x="1166" y="2669"/>
              <a:ext cx="7233" cy="168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exit语句可以用来退出一个shell程序，并设置退出值。</a:t>
              </a:r>
            </a:p>
          </p:txBody>
        </p:sp>
        <p:grpSp>
          <p:nvGrpSpPr>
            <p:cNvPr id="6" name="组合 5"/>
            <p:cNvGrpSpPr/>
            <p:nvPr/>
          </p:nvGrpSpPr>
          <p:grpSpPr>
            <a:xfrm>
              <a:off x="1503" y="4745"/>
              <a:ext cx="6249" cy="911"/>
              <a:chOff x="1034" y="3671"/>
              <a:chExt cx="11406" cy="911"/>
            </a:xfrm>
          </p:grpSpPr>
          <p:sp>
            <p:nvSpPr>
              <p:cNvPr id="45" name="Text Box 44"/>
              <p:cNvSpPr txBox="1">
                <a:spLocks noChangeArrowheads="1"/>
              </p:cNvSpPr>
              <p:nvPr/>
            </p:nvSpPr>
            <p:spPr bwMode="auto">
              <a:xfrm>
                <a:off x="1034" y="3707"/>
                <a:ext cx="6054"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2000" b="1" dirty="0">
                    <a:solidFill>
                      <a:schemeClr val="tx1">
                        <a:lumMod val="75000"/>
                        <a:lumOff val="25000"/>
                      </a:schemeClr>
                    </a:solidFill>
                  </a:rPr>
                  <a:t>其语法格式为：</a:t>
                </a:r>
              </a:p>
            </p:txBody>
          </p:sp>
          <p:grpSp>
            <p:nvGrpSpPr>
              <p:cNvPr id="7" name="组合 6"/>
              <p:cNvGrpSpPr/>
              <p:nvPr/>
            </p:nvGrpSpPr>
            <p:grpSpPr>
              <a:xfrm>
                <a:off x="6657" y="3671"/>
                <a:ext cx="5783" cy="911"/>
                <a:chOff x="3780" y="4976"/>
                <a:chExt cx="5783" cy="911"/>
              </a:xfrm>
            </p:grpSpPr>
            <p:sp>
              <p:nvSpPr>
                <p:cNvPr id="17" name="流程图: 过程 16"/>
                <p:cNvSpPr/>
                <p:nvPr/>
              </p:nvSpPr>
              <p:spPr>
                <a:xfrm>
                  <a:off x="3780" y="5012"/>
                  <a:ext cx="5481" cy="875"/>
                </a:xfrm>
                <a:prstGeom prst="flowChartProcess">
                  <a:avLst/>
                </a:prstGeom>
                <a:solidFill>
                  <a:schemeClr val="accent6">
                    <a:lumMod val="60000"/>
                    <a:lumOff val="40000"/>
                  </a:schemeClr>
                </a:solidFill>
                <a:ln w="9525" cap="flat" cmpd="sng" algn="ctr">
                  <a:solidFill>
                    <a:schemeClr val="bg2"/>
                  </a:solidFill>
                  <a:prstDash val="solid"/>
                  <a:round/>
                  <a:headEnd type="none" w="med" len="med"/>
                  <a:tailEnd type="none" w="med" len="med"/>
                </a:ln>
              </p:spPr>
              <p:txBody>
                <a:bodyPr vert="horz" wrap="none" lIns="90000" tIns="46800" rIns="90000" bIns="46800" numCol="1" anchor="ctr" anchorCtr="0" compatLnSpc="1"/>
                <a:lstStyle/>
                <a:p>
                  <a:pPr indent="0" algn="l" eaLnBrk="1" fontAlgn="auto" latinLnBrk="0" hangingPunct="1">
                    <a:lnSpc>
                      <a:spcPct val="150000"/>
                    </a:lnSpc>
                    <a:buFont typeface="Arial" panose="020B0604020202020204" pitchFamily="34" charset="0"/>
                    <a:buNone/>
                    <a:defRPr/>
                  </a:pPr>
                  <a:endParaRPr lang="zh-CN" altLang="en-US" sz="1800" b="1" dirty="0">
                    <a:solidFill>
                      <a:srgbClr val="0070C0"/>
                    </a:solidFill>
                    <a:latin typeface="微软雅黑" panose="020B0503020204020204" pitchFamily="34" charset="-122"/>
                    <a:ea typeface="微软雅黑" panose="020B0503020204020204" pitchFamily="34" charset="-122"/>
                    <a:cs typeface="+mn-cs"/>
                    <a:sym typeface="+mn-ea"/>
                  </a:endParaRPr>
                </a:p>
              </p:txBody>
            </p:sp>
            <p:sp>
              <p:nvSpPr>
                <p:cNvPr id="21" name="文本框 20"/>
                <p:cNvSpPr txBox="1"/>
                <p:nvPr/>
              </p:nvSpPr>
              <p:spPr>
                <a:xfrm>
                  <a:off x="4211" y="4976"/>
                  <a:ext cx="5352" cy="864"/>
                </a:xfrm>
                <a:prstGeom prst="rect">
                  <a:avLst/>
                </a:prstGeom>
                <a:noFill/>
              </p:spPr>
              <p:txBody>
                <a:bodyPr wrap="square" rtlCol="0">
                  <a:spAutoFit/>
                </a:bodyPr>
                <a:lstStyle/>
                <a:p>
                  <a:pPr indent="0" algn="l" eaLnBrk="1" fontAlgn="auto" latinLnBrk="0" hangingPunct="1">
                    <a:lnSpc>
                      <a:spcPct val="15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exit  [n] </a:t>
                  </a:r>
                </a:p>
              </p:txBody>
            </p:sp>
          </p:grpSp>
        </p:grpSp>
      </p:grpSp>
      <p:grpSp>
        <p:nvGrpSpPr>
          <p:cNvPr id="13" name="组合 12"/>
          <p:cNvGrpSpPr/>
          <p:nvPr/>
        </p:nvGrpSpPr>
        <p:grpSpPr>
          <a:xfrm>
            <a:off x="5987415" y="1524001"/>
            <a:ext cx="5798185" cy="4696460"/>
            <a:chOff x="10172" y="3017"/>
            <a:chExt cx="7680" cy="5760"/>
          </a:xfrm>
        </p:grpSpPr>
        <p:pic>
          <p:nvPicPr>
            <p:cNvPr id="11" name="图片 10" descr="图片12"/>
            <p:cNvPicPr>
              <a:picLocks noChangeAspect="1"/>
            </p:cNvPicPr>
            <p:nvPr/>
          </p:nvPicPr>
          <p:blipFill>
            <a:blip r:embed="rId3" cstate="print"/>
            <a:stretch>
              <a:fillRect/>
            </a:stretch>
          </p:blipFill>
          <p:spPr>
            <a:xfrm>
              <a:off x="10172" y="3017"/>
              <a:ext cx="7680" cy="5760"/>
            </a:xfrm>
            <a:prstGeom prst="rect">
              <a:avLst/>
            </a:prstGeom>
          </p:spPr>
        </p:pic>
        <p:pic>
          <p:nvPicPr>
            <p:cNvPr id="12" name="图片 11" descr="bcfa818fb18948ec0ee5a797d2882dfa"/>
            <p:cNvPicPr>
              <a:picLocks noChangeAspect="1"/>
            </p:cNvPicPr>
            <p:nvPr/>
          </p:nvPicPr>
          <p:blipFill>
            <a:blip r:embed="rId4" cstate="print"/>
            <a:stretch>
              <a:fillRect/>
            </a:stretch>
          </p:blipFill>
          <p:spPr>
            <a:xfrm>
              <a:off x="10820" y="4874"/>
              <a:ext cx="4775" cy="3191"/>
            </a:xfrm>
            <a:prstGeom prst="rect">
              <a:avLst/>
            </a:prstGeom>
          </p:spPr>
        </p:pic>
      </p:grpSp>
      <p:sp>
        <p:nvSpPr>
          <p:cNvPr id="4" name="圆角矩形 3"/>
          <p:cNvSpPr/>
          <p:nvPr/>
        </p:nvSpPr>
        <p:spPr>
          <a:xfrm>
            <a:off x="934720" y="4022725"/>
            <a:ext cx="4719320" cy="2197736"/>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其中，n是设定的</a:t>
            </a:r>
            <a:r>
              <a:rPr lang="zh-CN" altLang="en-US" sz="2000" b="1" dirty="0">
                <a:solidFill>
                  <a:srgbClr val="0070C0"/>
                </a:solidFill>
                <a:latin typeface="微软雅黑" panose="020B0503020204020204" pitchFamily="34" charset="-122"/>
                <a:ea typeface="微软雅黑" panose="020B0503020204020204" pitchFamily="34" charset="-122"/>
                <a:sym typeface="+mn-ea"/>
              </a:rPr>
              <a:t>退出值</a:t>
            </a:r>
            <a:r>
              <a:rPr lang="zh-CN" altLang="en-US" sz="2000" dirty="0">
                <a:solidFill>
                  <a:schemeClr val="tx1"/>
                </a:solidFill>
                <a:latin typeface="微软雅黑" panose="020B0503020204020204" pitchFamily="34" charset="-122"/>
                <a:ea typeface="微软雅黑" panose="020B0503020204020204" pitchFamily="34" charset="-122"/>
                <a:sym typeface="+mn-ea"/>
              </a:rPr>
              <a:t>。如果未显示给出的n值，则退出值为后一个命令的执行状态。</a:t>
            </a:r>
            <a:endParaRPr lang="en-US" altLang="zh-CN" sz="2000" dirty="0">
              <a:solidFill>
                <a:schemeClr val="tx1"/>
              </a:solidFill>
              <a:latin typeface="微软雅黑" panose="020B0503020204020204" pitchFamily="34" charset="-122"/>
              <a:ea typeface="微软雅黑" panose="020B0503020204020204" pitchFamily="34" charset="-122"/>
              <a:sym typeface="+mn-ea"/>
            </a:endParaRPr>
          </a:p>
          <a:p>
            <a:pPr indent="457200">
              <a:lnSpc>
                <a:spcPct val="150000"/>
              </a:lnSpc>
            </a:pPr>
            <a:r>
              <a:rPr lang="zh-CN" altLang="en-US" sz="2000" dirty="0">
                <a:solidFill>
                  <a:schemeClr val="tx1"/>
                </a:solidFill>
                <a:latin typeface="微软雅黑" panose="020B0503020204020204" pitchFamily="34" charset="-122"/>
                <a:ea typeface="微软雅黑" panose="020B0503020204020204" pitchFamily="34" charset="-122"/>
                <a:sym typeface="+mn-ea"/>
              </a:rPr>
              <a:t>在 </a:t>
            </a:r>
            <a:r>
              <a:rPr lang="en" altLang="zh-CN" sz="2000" dirty="0">
                <a:solidFill>
                  <a:schemeClr val="tx1"/>
                </a:solidFill>
                <a:latin typeface="微软雅黑" panose="020B0503020204020204" pitchFamily="34" charset="-122"/>
                <a:ea typeface="微软雅黑" panose="020B0503020204020204" pitchFamily="34" charset="-122"/>
                <a:sym typeface="+mn-ea"/>
              </a:rPr>
              <a:t>Shell </a:t>
            </a:r>
            <a:r>
              <a:rPr lang="zh-CN" altLang="en-US" sz="2000" dirty="0">
                <a:solidFill>
                  <a:schemeClr val="tx1"/>
                </a:solidFill>
                <a:latin typeface="微软雅黑" panose="020B0503020204020204" pitchFamily="34" charset="-122"/>
                <a:ea typeface="微软雅黑" panose="020B0503020204020204" pitchFamily="34" charset="-122"/>
                <a:sym typeface="+mn-ea"/>
              </a:rPr>
              <a:t>脚本中</a:t>
            </a:r>
            <a:r>
              <a:rPr lang="en" altLang="zh-CN" sz="2000" dirty="0">
                <a:solidFill>
                  <a:schemeClr val="tx1"/>
                </a:solidFill>
                <a:latin typeface="微软雅黑" panose="020B0503020204020204" pitchFamily="34" charset="-122"/>
                <a:ea typeface="微软雅黑" panose="020B0503020204020204" pitchFamily="34" charset="-122"/>
                <a:sym typeface="+mn-ea"/>
              </a:rPr>
              <a:t>exit </a:t>
            </a:r>
            <a:r>
              <a:rPr lang="zh-CN" altLang="en-US" sz="2000" dirty="0">
                <a:solidFill>
                  <a:schemeClr val="tx1"/>
                </a:solidFill>
                <a:latin typeface="微软雅黑" panose="020B0503020204020204" pitchFamily="34" charset="-122"/>
                <a:ea typeface="微软雅黑" panose="020B0503020204020204" pitchFamily="34" charset="-122"/>
                <a:sym typeface="+mn-ea"/>
              </a:rPr>
              <a:t>语句是用来退出当前脚本</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3" presetClass="entr" presetSubtype="16" fill="hold" grpId="2"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childTnLst>
                                </p:cTn>
                              </p:par>
                            </p:childTnLst>
                          </p:cTn>
                        </p:par>
                        <p:par>
                          <p:cTn id="12" fill="hold">
                            <p:stCondLst>
                              <p:cond delay="500"/>
                            </p:stCondLst>
                            <p:childTnLst>
                              <p:par>
                                <p:cTn id="13" presetID="2" presetClass="entr" presetSubtype="2"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6670675" y="3965575"/>
            <a:ext cx="3764280" cy="481330"/>
            <a:chOff x="3" y="0"/>
            <a:chExt cx="4243" cy="333"/>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44"/>
          <p:cNvSpPr txBox="1">
            <a:spLocks noChangeArrowheads="1"/>
          </p:cNvSpPr>
          <p:nvPr/>
        </p:nvSpPr>
        <p:spPr bwMode="auto">
          <a:xfrm>
            <a:off x="1083310" y="1878330"/>
            <a:ext cx="3869055" cy="418528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400" dirty="0">
                <a:solidFill>
                  <a:schemeClr val="tx1">
                    <a:lumMod val="85000"/>
                    <a:lumOff val="15000"/>
                  </a:schemeClr>
                </a:solidFill>
              </a:rPr>
              <a:t>与其他的编程语言一样，shell程序也</a:t>
            </a:r>
            <a:r>
              <a:rPr lang="zh-CN" altLang="en-US" sz="2400" b="1" dirty="0">
                <a:solidFill>
                  <a:srgbClr val="0070C0"/>
                </a:solidFill>
              </a:rPr>
              <a:t>支持函数</a:t>
            </a:r>
            <a:r>
              <a:rPr lang="zh-CN" altLang="en-US" sz="2400" dirty="0">
                <a:solidFill>
                  <a:schemeClr val="tx1">
                    <a:lumMod val="85000"/>
                    <a:lumOff val="15000"/>
                  </a:schemeClr>
                </a:solidFill>
              </a:rPr>
              <a:t>。函数是shell程序中执行特殊过程的部件，并且在shell程序中可以被</a:t>
            </a:r>
            <a:r>
              <a:rPr lang="zh-CN" altLang="en-US" sz="2400" b="1" dirty="0">
                <a:solidFill>
                  <a:srgbClr val="0070C0"/>
                </a:solidFill>
              </a:rPr>
              <a:t>重复调用</a:t>
            </a:r>
            <a:r>
              <a:rPr lang="zh-CN" altLang="en-US" sz="2400" dirty="0">
                <a:solidFill>
                  <a:schemeClr val="tx1">
                    <a:lumMod val="85000"/>
                    <a:lumOff val="15000"/>
                  </a:schemeClr>
                </a:solidFill>
              </a:rPr>
              <a:t>。编写函数将有助于编写没有重复代码的shell程序。</a:t>
            </a:r>
          </a:p>
        </p:txBody>
      </p:sp>
      <p:grpSp>
        <p:nvGrpSpPr>
          <p:cNvPr id="13" name="组合 12"/>
          <p:cNvGrpSpPr/>
          <p:nvPr/>
        </p:nvGrpSpPr>
        <p:grpSpPr>
          <a:xfrm>
            <a:off x="5194301" y="1842162"/>
            <a:ext cx="6130290" cy="4419876"/>
            <a:chOff x="9101" y="2911"/>
            <a:chExt cx="8076" cy="6672"/>
          </a:xfrm>
        </p:grpSpPr>
        <p:grpSp>
          <p:nvGrpSpPr>
            <p:cNvPr id="3" name="组合 14"/>
            <p:cNvGrpSpPr/>
            <p:nvPr/>
          </p:nvGrpSpPr>
          <p:grpSpPr bwMode="auto">
            <a:xfrm>
              <a:off x="9101" y="2911"/>
              <a:ext cx="8076" cy="6672"/>
              <a:chOff x="1516325" y="1744647"/>
              <a:chExt cx="3713667" cy="1342259"/>
            </a:xfrm>
          </p:grpSpPr>
          <p:grpSp>
            <p:nvGrpSpPr>
              <p:cNvPr id="4" name="组合 12"/>
              <p:cNvGrpSpPr/>
              <p:nvPr/>
            </p:nvGrpSpPr>
            <p:grpSpPr bwMode="auto">
              <a:xfrm>
                <a:off x="1516325" y="1744647"/>
                <a:ext cx="3713667" cy="1342259"/>
                <a:chOff x="1516325" y="1744647"/>
                <a:chExt cx="3713667" cy="1342259"/>
              </a:xfrm>
            </p:grpSpPr>
            <p:sp>
              <p:nvSpPr>
                <p:cNvPr id="5" name="矩形 4"/>
                <p:cNvSpPr/>
                <p:nvPr/>
              </p:nvSpPr>
              <p:spPr>
                <a:xfrm>
                  <a:off x="1516423" y="1744647"/>
                  <a:ext cx="3713569" cy="134225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516325" y="1744647"/>
                  <a:ext cx="3469031" cy="14020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函数定义的格式为：</a:t>
                  </a:r>
                </a:p>
              </p:txBody>
            </p:sp>
          </p:grpSp>
          <p:sp>
            <p:nvSpPr>
              <p:cNvPr id="36" name="MH_Text_1"/>
              <p:cNvSpPr txBox="1">
                <a:spLocks noChangeArrowheads="1"/>
              </p:cNvSpPr>
              <p:nvPr>
                <p:custDataLst>
                  <p:tags r:id="rId2"/>
                </p:custDataLst>
              </p:nvPr>
            </p:nvSpPr>
            <p:spPr bwMode="auto">
              <a:xfrm>
                <a:off x="1603695" y="1897149"/>
                <a:ext cx="3525132" cy="424914"/>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[function]函数名(  ) </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命令表</a:t>
                </a:r>
              </a:p>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8" name="Text Box 44"/>
            <p:cNvSpPr txBox="1">
              <a:spLocks noChangeArrowheads="1"/>
            </p:cNvSpPr>
            <p:nvPr/>
          </p:nvSpPr>
          <p:spPr bwMode="auto">
            <a:xfrm>
              <a:off x="9291" y="8447"/>
              <a:ext cx="5637" cy="80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1800" dirty="0">
                  <a:solidFill>
                    <a:schemeClr val="tx1">
                      <a:lumMod val="85000"/>
                      <a:lumOff val="15000"/>
                    </a:schemeClr>
                  </a:solidFill>
                </a:rPr>
                <a:t>参数是可选的。</a:t>
              </a:r>
            </a:p>
          </p:txBody>
        </p:sp>
        <p:sp>
          <p:nvSpPr>
            <p:cNvPr id="11" name="矩形 6"/>
            <p:cNvSpPr>
              <a:spLocks noChangeArrowheads="1"/>
            </p:cNvSpPr>
            <p:nvPr/>
          </p:nvSpPr>
          <p:spPr bwMode="auto">
            <a:xfrm>
              <a:off x="9291" y="6549"/>
              <a:ext cx="7544" cy="65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函数的调用形式为：</a:t>
              </a:r>
            </a:p>
          </p:txBody>
        </p:sp>
        <p:sp>
          <p:nvSpPr>
            <p:cNvPr id="12" name="MH_Text_1"/>
            <p:cNvSpPr txBox="1">
              <a:spLocks noChangeArrowheads="1"/>
            </p:cNvSpPr>
            <p:nvPr>
              <p:custDataLst>
                <p:tags r:id="rId1"/>
              </p:custDataLst>
            </p:nvPr>
          </p:nvSpPr>
          <p:spPr bwMode="auto">
            <a:xfrm>
              <a:off x="9249" y="7371"/>
              <a:ext cx="7666" cy="1076"/>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函数名 参数1  参数2  参数3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trips(downRight)">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24840" y="1089660"/>
            <a:ext cx="10942320" cy="5405120"/>
            <a:chOff x="984" y="1716"/>
            <a:chExt cx="17232" cy="8512"/>
          </a:xfrm>
        </p:grpSpPr>
        <p:grpSp>
          <p:nvGrpSpPr>
            <p:cNvPr id="18" name="组合 17"/>
            <p:cNvGrpSpPr/>
            <p:nvPr/>
          </p:nvGrpSpPr>
          <p:grpSpPr>
            <a:xfrm>
              <a:off x="984" y="1716"/>
              <a:ext cx="17232" cy="8512"/>
              <a:chOff x="10338" y="2860"/>
              <a:chExt cx="3172" cy="8512"/>
            </a:xfrm>
          </p:grpSpPr>
          <p:grpSp>
            <p:nvGrpSpPr>
              <p:cNvPr id="3" name="组合 14"/>
              <p:cNvGrpSpPr/>
              <p:nvPr/>
            </p:nvGrpSpPr>
            <p:grpSpPr bwMode="auto">
              <a:xfrm>
                <a:off x="10338" y="2860"/>
                <a:ext cx="3172" cy="8512"/>
                <a:chOff x="1166764" y="1782552"/>
                <a:chExt cx="1012098" cy="1058125"/>
              </a:xfrm>
            </p:grpSpPr>
            <p:grpSp>
              <p:nvGrpSpPr>
                <p:cNvPr id="4" name="组合 12"/>
                <p:cNvGrpSpPr/>
                <p:nvPr/>
              </p:nvGrpSpPr>
              <p:grpSpPr bwMode="auto">
                <a:xfrm>
                  <a:off x="1166764" y="1782552"/>
                  <a:ext cx="1012098" cy="1058125"/>
                  <a:chOff x="1166764" y="1782552"/>
                  <a:chExt cx="1012098" cy="1058125"/>
                </a:xfrm>
              </p:grpSpPr>
              <p:sp>
                <p:nvSpPr>
                  <p:cNvPr id="14" name="矩形 13"/>
                  <p:cNvSpPr/>
                  <p:nvPr/>
                </p:nvSpPr>
                <p:spPr>
                  <a:xfrm>
                    <a:off x="1166764" y="1782552"/>
                    <a:ext cx="1012098" cy="105812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5" name="矩形 6"/>
                  <p:cNvSpPr>
                    <a:spLocks noChangeArrowheads="1"/>
                  </p:cNvSpPr>
                  <p:nvPr/>
                </p:nvSpPr>
                <p:spPr bwMode="auto">
                  <a:xfrm>
                    <a:off x="1166764" y="1789638"/>
                    <a:ext cx="1012039" cy="14668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dirty="0">
                        <a:solidFill>
                          <a:srgbClr val="FF0000"/>
                        </a:solidFill>
                        <a:latin typeface="微软雅黑" panose="020B0503020204020204" pitchFamily="34" charset="-122"/>
                        <a:ea typeface="微软雅黑" panose="020B0503020204020204" pitchFamily="34" charset="-122"/>
                        <a:cs typeface="华康俪金黑W8(P)"/>
                      </a:rPr>
                      <a:t>【例5-</a:t>
                    </a:r>
                    <a:r>
                      <a:rPr lang="en-US" sz="1800" b="1" dirty="0">
                        <a:solidFill>
                          <a:srgbClr val="FF0000"/>
                        </a:solidFill>
                        <a:latin typeface="微软雅黑" panose="020B0503020204020204" pitchFamily="34" charset="-122"/>
                        <a:ea typeface="微软雅黑" panose="020B0503020204020204" pitchFamily="34" charset="-122"/>
                        <a:cs typeface="华康俪金黑W8(P)"/>
                      </a:rPr>
                      <a:t>21</a:t>
                    </a:r>
                    <a:r>
                      <a:rPr sz="1800" b="1" dirty="0">
                        <a:solidFill>
                          <a:srgbClr val="FF0000"/>
                        </a:solidFill>
                        <a:latin typeface="微软雅黑" panose="020B0503020204020204" pitchFamily="34" charset="-122"/>
                        <a:ea typeface="微软雅黑" panose="020B0503020204020204" pitchFamily="34" charset="-122"/>
                        <a:cs typeface="华康俪金黑W8(P)"/>
                      </a:rPr>
                      <a:t>】</a:t>
                    </a:r>
                    <a:r>
                      <a:rPr sz="1800" b="1" dirty="0">
                        <a:solidFill>
                          <a:srgbClr val="009900"/>
                        </a:solidFill>
                        <a:latin typeface="微软雅黑" panose="020B0503020204020204" pitchFamily="34" charset="-122"/>
                        <a:ea typeface="微软雅黑" panose="020B0503020204020204" pitchFamily="34" charset="-122"/>
                        <a:cs typeface="华康俪金黑W8(P)"/>
                      </a:rPr>
                      <a:t>函数应用举例。displaymonth函数的作用是：在用户传送一个月份数字之后显示月份名或者一条错误消息。</a:t>
                    </a:r>
                  </a:p>
                </p:txBody>
              </p:sp>
            </p:grpSp>
            <p:sp>
              <p:nvSpPr>
                <p:cNvPr id="16" name="MH_Text_1"/>
                <p:cNvSpPr txBox="1">
                  <a:spLocks noChangeArrowheads="1"/>
                </p:cNvSpPr>
                <p:nvPr>
                  <p:custDataLst>
                    <p:tags r:id="rId2"/>
                  </p:custDataLst>
                </p:nvPr>
              </p:nvSpPr>
              <p:spPr bwMode="auto">
                <a:xfrm>
                  <a:off x="1183797" y="1933340"/>
                  <a:ext cx="412369" cy="707696"/>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#!/bin/bash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displaymonth(){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case $1 in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1)echo "month is January";;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2)echo "month is February";;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3)echo "month is March";;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4)echo "month is April";;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5)echo "month is May";;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6)echo "month is June";;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7)echo "month is July";;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8)echo "month is August";;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9)echo "month is September";;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10)echo "month is October";; </a:t>
                  </a:r>
                </a:p>
              </p:txBody>
            </p:sp>
          </p:grpSp>
          <p:sp>
            <p:nvSpPr>
              <p:cNvPr id="17" name="Text Box 44"/>
              <p:cNvSpPr txBox="1">
                <a:spLocks noChangeArrowheads="1"/>
              </p:cNvSpPr>
              <p:nvPr/>
            </p:nvSpPr>
            <p:spPr bwMode="auto">
              <a:xfrm>
                <a:off x="10401" y="9811"/>
                <a:ext cx="3109" cy="13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30000"/>
                  </a:lnSpc>
                </a:pPr>
                <a:r>
                  <a:rPr lang="zh-CN" altLang="en-US" sz="2000" dirty="0">
                    <a:solidFill>
                      <a:schemeClr val="tx1">
                        <a:lumMod val="85000"/>
                        <a:lumOff val="15000"/>
                      </a:schemeClr>
                    </a:solidFill>
                  </a:rPr>
                  <a:t>函数应</a:t>
                </a:r>
                <a:r>
                  <a:rPr lang="zh-CN" altLang="en-US" sz="2000" b="1" dirty="0">
                    <a:solidFill>
                      <a:srgbClr val="0070C0"/>
                    </a:solidFill>
                  </a:rPr>
                  <a:t>先定义，后使用</a:t>
                </a:r>
                <a:r>
                  <a:rPr lang="zh-CN" altLang="en-US" sz="2000" dirty="0">
                    <a:solidFill>
                      <a:schemeClr val="tx1">
                        <a:lumMod val="85000"/>
                        <a:lumOff val="15000"/>
                      </a:schemeClr>
                    </a:solidFill>
                  </a:rPr>
                  <a:t>。</a:t>
                </a:r>
                <a:r>
                  <a:rPr lang="zh-CN" altLang="en-US" sz="2000" dirty="0">
                    <a:solidFill>
                      <a:srgbClr val="FF0000"/>
                    </a:solidFill>
                  </a:rPr>
                  <a:t>调用函数时，直接用函数名，如displaymonth，不必带圆括号</a:t>
                </a:r>
                <a:r>
                  <a:rPr lang="zh-CN" altLang="en-US" sz="2000" dirty="0">
                    <a:solidFill>
                      <a:schemeClr val="tx1">
                        <a:lumMod val="85000"/>
                        <a:lumOff val="15000"/>
                      </a:schemeClr>
                    </a:solidFill>
                  </a:rPr>
                  <a:t>，就像一般命令那样使用。shell脚本与函数间的参数传递可利用位置参数和变量直接传递。</a:t>
                </a:r>
              </a:p>
            </p:txBody>
          </p:sp>
        </p:grpSp>
        <p:sp>
          <p:nvSpPr>
            <p:cNvPr id="20" name="MH_Text_1"/>
            <p:cNvSpPr txBox="1">
              <a:spLocks noChangeArrowheads="1"/>
            </p:cNvSpPr>
            <p:nvPr>
              <p:custDataLst>
                <p:tags r:id="rId1"/>
              </p:custDataLst>
            </p:nvPr>
          </p:nvSpPr>
          <p:spPr bwMode="auto">
            <a:xfrm>
              <a:off x="10068" y="2787"/>
              <a:ext cx="7629" cy="5694"/>
            </a:xfrm>
            <a:prstGeom prst="rect">
              <a:avLst/>
            </a:prstGeom>
            <a:solidFill>
              <a:srgbClr val="F2F2F2"/>
            </a:solidFill>
            <a:ln w="9525">
              <a:noFill/>
              <a:miter lim="800000"/>
            </a:ln>
          </p:spPr>
          <p:txBody>
            <a:bodyPr/>
            <a:lstStyle/>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11)echo "month is November";;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12)echo "month is December";;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echo "Invalid parameter";;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esac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while  true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do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echo  "input month's number;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read  mm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t>
              </a:r>
              <a:r>
                <a:rPr lang="zh-CN" altLang="en-US" sz="1600" b="1" dirty="0">
                  <a:solidFill>
                    <a:srgbClr val="FF0000"/>
                  </a:solidFill>
                  <a:latin typeface="微软雅黑" panose="020B0503020204020204" pitchFamily="34" charset="-122"/>
                  <a:ea typeface="微软雅黑" panose="020B0503020204020204" pitchFamily="34" charset="-122"/>
                  <a:cs typeface="+mn-cs"/>
                  <a:sym typeface="+mn-ea"/>
                </a:rPr>
                <a:t>displaymonth   $mm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echo  "continue(y/n)? "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read  answer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if  [  ${answer}='n'  ] </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then</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break</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fi</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done</a:t>
              </a:r>
            </a:p>
            <a:p>
              <a:pPr indent="0" algn="l" eaLnBrk="1" fontAlgn="auto" latinLnBrk="0" hangingPunct="1">
                <a:lnSpc>
                  <a:spcPct val="8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#end</a:t>
              </a:r>
            </a:p>
          </p:txBody>
        </p:sp>
        <p:sp>
          <p:nvSpPr>
            <p:cNvPr id="5" name="虚尾箭头 4"/>
            <p:cNvSpPr/>
            <p:nvPr/>
          </p:nvSpPr>
          <p:spPr>
            <a:xfrm>
              <a:off x="8688" y="4908"/>
              <a:ext cx="1200" cy="984"/>
            </a:xfrm>
            <a:prstGeom prst="stripedRightArrow">
              <a:avLst/>
            </a:prstGeom>
            <a:solidFill>
              <a:srgbClr val="00B0F0"/>
            </a:solidFill>
            <a:ln w="28575"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grpSp>
        <p:nvGrpSpPr>
          <p:cNvPr id="2" name="Group 5"/>
          <p:cNvGrpSpPr/>
          <p:nvPr/>
        </p:nvGrpSpPr>
        <p:grpSpPr bwMode="auto">
          <a:xfrm>
            <a:off x="6636385" y="5488940"/>
            <a:ext cx="3799840" cy="481330"/>
            <a:chOff x="3" y="0"/>
            <a:chExt cx="4243" cy="333"/>
          </a:xfrm>
        </p:grpSpPr>
        <p:grpSp>
          <p:nvGrpSpPr>
            <p:cNvPr id="9235" name="Group 6"/>
            <p:cNvGrpSpPr/>
            <p:nvPr/>
          </p:nvGrpSpPr>
          <p:grpSpPr bwMode="auto">
            <a:xfrm>
              <a:off x="3" y="0"/>
              <a:ext cx="4243" cy="333"/>
              <a:chOff x="0" y="0"/>
              <a:chExt cx="4243" cy="333"/>
            </a:xfrm>
          </p:grpSpPr>
          <p:sp>
            <p:nvSpPr>
              <p:cNvPr id="92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92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9236"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6650990" y="4722495"/>
            <a:ext cx="3799840" cy="481330"/>
            <a:chOff x="3" y="0"/>
            <a:chExt cx="4243" cy="333"/>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13"/>
          <p:cNvSpPr>
            <a:spLocks noChangeArrowheads="1"/>
          </p:cNvSpPr>
          <p:nvPr/>
        </p:nvSpPr>
        <p:spPr bwMode="gray">
          <a:xfrm>
            <a:off x="690881" y="1765300"/>
            <a:ext cx="10586720" cy="45593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14" name="Text Box 44"/>
          <p:cNvSpPr txBox="1">
            <a:spLocks noChangeArrowheads="1"/>
          </p:cNvSpPr>
          <p:nvPr/>
        </p:nvSpPr>
        <p:spPr bwMode="auto">
          <a:xfrm>
            <a:off x="1007110" y="2456815"/>
            <a:ext cx="3869055" cy="3046988"/>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在编写shell脚本的过程中难免会出现错误，通过对shell脚本的调试，可以寻找和消除这些错误。在bash中，shell脚本的调试主要是利用bash命令解释程序的选项来实现。</a:t>
            </a:r>
          </a:p>
        </p:txBody>
      </p:sp>
      <p:grpSp>
        <p:nvGrpSpPr>
          <p:cNvPr id="15" name="组合 14"/>
          <p:cNvGrpSpPr/>
          <p:nvPr/>
        </p:nvGrpSpPr>
        <p:grpSpPr>
          <a:xfrm>
            <a:off x="5366385" y="2012315"/>
            <a:ext cx="5418455" cy="4058920"/>
            <a:chOff x="9406" y="1788"/>
            <a:chExt cx="8533" cy="6392"/>
          </a:xfrm>
        </p:grpSpPr>
        <p:grpSp>
          <p:nvGrpSpPr>
            <p:cNvPr id="13" name="组合 12"/>
            <p:cNvGrpSpPr/>
            <p:nvPr/>
          </p:nvGrpSpPr>
          <p:grpSpPr>
            <a:xfrm>
              <a:off x="9406" y="1788"/>
              <a:ext cx="8533" cy="6392"/>
              <a:chOff x="9101" y="2910"/>
              <a:chExt cx="8076" cy="6127"/>
            </a:xfrm>
          </p:grpSpPr>
          <p:grpSp>
            <p:nvGrpSpPr>
              <p:cNvPr id="3" name="组合 14"/>
              <p:cNvGrpSpPr/>
              <p:nvPr/>
            </p:nvGrpSpPr>
            <p:grpSpPr bwMode="auto">
              <a:xfrm>
                <a:off x="9101" y="2910"/>
                <a:ext cx="8076" cy="6127"/>
                <a:chOff x="1516325" y="1744647"/>
                <a:chExt cx="3713666" cy="1232718"/>
              </a:xfrm>
            </p:grpSpPr>
            <p:grpSp>
              <p:nvGrpSpPr>
                <p:cNvPr id="4" name="组合 12"/>
                <p:cNvGrpSpPr/>
                <p:nvPr/>
              </p:nvGrpSpPr>
              <p:grpSpPr bwMode="auto">
                <a:xfrm>
                  <a:off x="1516325" y="1744647"/>
                  <a:ext cx="3713666" cy="1232718"/>
                  <a:chOff x="1516325" y="1744647"/>
                  <a:chExt cx="3713666" cy="1232718"/>
                </a:xfrm>
              </p:grpSpPr>
              <p:sp>
                <p:nvSpPr>
                  <p:cNvPr id="5" name="矩形 4"/>
                  <p:cNvSpPr/>
                  <p:nvPr/>
                </p:nvSpPr>
                <p:spPr>
                  <a:xfrm>
                    <a:off x="1516325" y="1744647"/>
                    <a:ext cx="3713666" cy="1232718"/>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5" name="矩形 6"/>
                  <p:cNvSpPr>
                    <a:spLocks noChangeArrowheads="1"/>
                  </p:cNvSpPr>
                  <p:nvPr/>
                </p:nvSpPr>
                <p:spPr bwMode="auto">
                  <a:xfrm>
                    <a:off x="1516325" y="1744647"/>
                    <a:ext cx="3469031" cy="13885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其格式为：</a:t>
                    </a:r>
                  </a:p>
                </p:txBody>
              </p:sp>
            </p:grpSp>
            <p:sp>
              <p:nvSpPr>
                <p:cNvPr id="36" name="MH_Text_1"/>
                <p:cNvSpPr txBox="1">
                  <a:spLocks noChangeArrowheads="1"/>
                </p:cNvSpPr>
                <p:nvPr>
                  <p:custDataLst>
                    <p:tags r:id="rId3"/>
                  </p:custDataLst>
                </p:nvPr>
              </p:nvSpPr>
              <p:spPr bwMode="auto">
                <a:xfrm>
                  <a:off x="1603803" y="1897194"/>
                  <a:ext cx="3525219" cy="138276"/>
                </a:xfrm>
                <a:prstGeom prst="rect">
                  <a:avLst/>
                </a:prstGeom>
                <a:solidFill>
                  <a:srgbClr val="F2F2F2"/>
                </a:solidFill>
                <a:ln w="9525">
                  <a:noFill/>
                  <a:miter lim="800000"/>
                </a:ln>
              </p:spPr>
              <p:txBody>
                <a:bodyPr/>
                <a:lstStyle/>
                <a:p>
                  <a:pPr indent="0" algn="ctr"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bash  ［选项］脚本文件名</a:t>
                  </a:r>
                </a:p>
              </p:txBody>
            </p:sp>
          </p:grpSp>
          <p:sp>
            <p:nvSpPr>
              <p:cNvPr id="11" name="矩形 6"/>
              <p:cNvSpPr>
                <a:spLocks noChangeArrowheads="1"/>
              </p:cNvSpPr>
              <p:nvPr/>
            </p:nvSpPr>
            <p:spPr bwMode="auto">
              <a:xfrm>
                <a:off x="9352" y="4540"/>
                <a:ext cx="7235" cy="124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其中，主要利用bash命令解释程序的-v或-x选项来跟踪程序的执行。例如：</a:t>
                </a:r>
              </a:p>
            </p:txBody>
          </p:sp>
          <p:sp>
            <p:nvSpPr>
              <p:cNvPr id="12" name="MH_Text_1"/>
              <p:cNvSpPr txBox="1">
                <a:spLocks noChangeArrowheads="1"/>
              </p:cNvSpPr>
              <p:nvPr>
                <p:custDataLst>
                  <p:tags r:id="rId2"/>
                </p:custDataLst>
              </p:nvPr>
            </p:nvSpPr>
            <p:spPr bwMode="auto">
              <a:xfrm>
                <a:off x="9292" y="5969"/>
                <a:ext cx="7666" cy="1076"/>
              </a:xfrm>
              <a:prstGeom prst="rect">
                <a:avLst/>
              </a:prstGeom>
              <a:solidFill>
                <a:srgbClr val="F2F2F2"/>
              </a:solidFill>
              <a:ln w="9525">
                <a:noFill/>
                <a:miter lim="800000"/>
              </a:ln>
            </p:spPr>
            <p:txBody>
              <a:bodyPr/>
              <a:lstStyle/>
              <a:p>
                <a:pPr indent="0" algn="ctr"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-x  脚本文件名 </a:t>
                </a:r>
              </a:p>
            </p:txBody>
          </p:sp>
        </p:grpSp>
        <p:sp>
          <p:nvSpPr>
            <p:cNvPr id="9" name="MH_Text_1"/>
            <p:cNvSpPr txBox="1">
              <a:spLocks noChangeArrowheads="1"/>
            </p:cNvSpPr>
            <p:nvPr>
              <p:custDataLst>
                <p:tags r:id="rId1"/>
              </p:custDataLst>
            </p:nvPr>
          </p:nvSpPr>
          <p:spPr bwMode="auto">
            <a:xfrm>
              <a:off x="9671" y="6822"/>
              <a:ext cx="8100" cy="1123"/>
            </a:xfrm>
            <a:prstGeom prst="rect">
              <a:avLst/>
            </a:prstGeom>
            <a:solidFill>
              <a:srgbClr val="F2F2F2"/>
            </a:solidFill>
            <a:ln w="9525">
              <a:noFill/>
              <a:miter lim="800000"/>
            </a:ln>
          </p:spPr>
          <p:txBody>
            <a:bodyPr/>
            <a:lstStyle/>
            <a:p>
              <a:pPr indent="0" algn="ctr"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-v  脚本文件名 </a:t>
              </a:r>
            </a:p>
          </p:txBody>
        </p:sp>
        <p:sp>
          <p:nvSpPr>
            <p:cNvPr id="10" name="矩形 9"/>
            <p:cNvSpPr>
              <a:spLocks noChangeArrowheads="1"/>
            </p:cNvSpPr>
            <p:nvPr/>
          </p:nvSpPr>
          <p:spPr bwMode="auto">
            <a:xfrm>
              <a:off x="9671" y="6102"/>
              <a:ext cx="4947" cy="72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或</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trips(downRight)">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1555115" y="1776730"/>
            <a:ext cx="9341485" cy="461200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5062855" y="13100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sp>
        <p:nvSpPr>
          <p:cNvPr id="3" name="标题 1"/>
          <p:cNvSpPr>
            <a:spLocks noGrp="1"/>
          </p:cNvSpPr>
          <p:nvPr/>
        </p:nvSpPr>
        <p:spPr>
          <a:xfrm>
            <a:off x="3929380" y="340360"/>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10" name="Group 5"/>
          <p:cNvGrpSpPr/>
          <p:nvPr/>
        </p:nvGrpSpPr>
        <p:grpSpPr bwMode="auto">
          <a:xfrm>
            <a:off x="6670675" y="3965575"/>
            <a:ext cx="3764280" cy="481330"/>
            <a:chOff x="3" y="0"/>
            <a:chExt cx="4243" cy="333"/>
          </a:xfrm>
        </p:grpSpPr>
        <p:grpSp>
          <p:nvGrpSpPr>
            <p:cNvPr id="11" name="Group 6"/>
            <p:cNvGrpSpPr/>
            <p:nvPr/>
          </p:nvGrpSpPr>
          <p:grpSpPr bwMode="auto">
            <a:xfrm>
              <a:off x="3" y="0"/>
              <a:ext cx="4243" cy="333"/>
              <a:chOff x="0" y="0"/>
              <a:chExt cx="4243" cy="333"/>
            </a:xfrm>
          </p:grpSpPr>
          <p:sp>
            <p:nvSpPr>
              <p:cNvPr id="1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4"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5.8  函数</a:t>
              </a:r>
            </a:p>
          </p:txBody>
        </p:sp>
      </p:grpSp>
      <p:grpSp>
        <p:nvGrpSpPr>
          <p:cNvPr id="15" name="Group 5"/>
          <p:cNvGrpSpPr/>
          <p:nvPr/>
        </p:nvGrpSpPr>
        <p:grpSpPr bwMode="auto">
          <a:xfrm>
            <a:off x="6660515" y="3156585"/>
            <a:ext cx="3794760" cy="481330"/>
            <a:chOff x="3" y="0"/>
            <a:chExt cx="4243" cy="333"/>
          </a:xfrm>
        </p:grpSpPr>
        <p:grpSp>
          <p:nvGrpSpPr>
            <p:cNvPr id="16" name="Group 6"/>
            <p:cNvGrpSpPr/>
            <p:nvPr/>
          </p:nvGrpSpPr>
          <p:grpSpPr bwMode="auto">
            <a:xfrm>
              <a:off x="3" y="0"/>
              <a:ext cx="4243" cy="333"/>
              <a:chOff x="0" y="0"/>
              <a:chExt cx="4243" cy="333"/>
            </a:xfrm>
          </p:grpSpPr>
          <p:sp>
            <p:nvSpPr>
              <p:cNvPr id="1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1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1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5.7  其他语句</a:t>
              </a:r>
            </a:p>
          </p:txBody>
        </p:sp>
      </p:grpSp>
      <p:grpSp>
        <p:nvGrpSpPr>
          <p:cNvPr id="20" name="Group 5"/>
          <p:cNvGrpSpPr/>
          <p:nvPr/>
        </p:nvGrpSpPr>
        <p:grpSpPr bwMode="auto">
          <a:xfrm>
            <a:off x="2021205" y="2375535"/>
            <a:ext cx="4041140" cy="48133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54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5.1  shell概述</a:t>
              </a:r>
            </a:p>
          </p:txBody>
        </p:sp>
      </p:grpSp>
      <p:grpSp>
        <p:nvGrpSpPr>
          <p:cNvPr id="30" name="Group 5"/>
          <p:cNvGrpSpPr/>
          <p:nvPr/>
        </p:nvGrpSpPr>
        <p:grpSpPr bwMode="auto">
          <a:xfrm>
            <a:off x="2031365" y="3965575"/>
            <a:ext cx="4074160" cy="481330"/>
            <a:chOff x="3" y="0"/>
            <a:chExt cx="4243" cy="333"/>
          </a:xfrm>
        </p:grpSpPr>
        <p:grpSp>
          <p:nvGrpSpPr>
            <p:cNvPr id="31" name="Group 6"/>
            <p:cNvGrpSpPr/>
            <p:nvPr/>
          </p:nvGrpSpPr>
          <p:grpSpPr bwMode="auto">
            <a:xfrm>
              <a:off x="3" y="0"/>
              <a:ext cx="4243" cy="333"/>
              <a:chOff x="0" y="0"/>
              <a:chExt cx="4243" cy="333"/>
            </a:xfrm>
          </p:grpSpPr>
          <p:sp>
            <p:nvSpPr>
              <p:cNvPr id="3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4" name="Text Box 9"/>
            <p:cNvSpPr txBox="1">
              <a:spLocks noChangeArrowheads="1"/>
            </p:cNvSpPr>
            <p:nvPr/>
          </p:nvSpPr>
          <p:spPr bwMode="auto">
            <a:xfrm>
              <a:off x="586"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5.3  shell特殊字符</a:t>
              </a:r>
            </a:p>
          </p:txBody>
        </p:sp>
      </p:grpSp>
      <p:grpSp>
        <p:nvGrpSpPr>
          <p:cNvPr id="35" name="Group 5"/>
          <p:cNvGrpSpPr/>
          <p:nvPr/>
        </p:nvGrpSpPr>
        <p:grpSpPr bwMode="auto">
          <a:xfrm>
            <a:off x="2087245" y="4690745"/>
            <a:ext cx="4037330" cy="481330"/>
            <a:chOff x="3" y="0"/>
            <a:chExt cx="4243" cy="333"/>
          </a:xfrm>
        </p:grpSpPr>
        <p:grpSp>
          <p:nvGrpSpPr>
            <p:cNvPr id="36" name="Group 6"/>
            <p:cNvGrpSpPr/>
            <p:nvPr/>
          </p:nvGrpSpPr>
          <p:grpSpPr bwMode="auto">
            <a:xfrm>
              <a:off x="3" y="0"/>
              <a:ext cx="4243" cy="333"/>
              <a:chOff x="0" y="0"/>
              <a:chExt cx="4243" cy="333"/>
            </a:xfrm>
          </p:grpSpPr>
          <p:sp>
            <p:nvSpPr>
              <p:cNvPr id="3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3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39" name="Text Box 9"/>
            <p:cNvSpPr txBox="1">
              <a:spLocks noChangeArrowheads="1"/>
            </p:cNvSpPr>
            <p:nvPr/>
          </p:nvSpPr>
          <p:spPr bwMode="auto">
            <a:xfrm>
              <a:off x="552" y="22"/>
              <a:ext cx="3004"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5.4  shell变量</a:t>
              </a:r>
            </a:p>
          </p:txBody>
        </p:sp>
      </p:grpSp>
      <p:grpSp>
        <p:nvGrpSpPr>
          <p:cNvPr id="40" name="Group 5"/>
          <p:cNvGrpSpPr/>
          <p:nvPr/>
        </p:nvGrpSpPr>
        <p:grpSpPr bwMode="auto">
          <a:xfrm>
            <a:off x="2083435" y="5488740"/>
            <a:ext cx="4040505" cy="498675"/>
            <a:chOff x="3" y="-12"/>
            <a:chExt cx="4243" cy="345"/>
          </a:xfrm>
        </p:grpSpPr>
        <p:grpSp>
          <p:nvGrpSpPr>
            <p:cNvPr id="41" name="Group 6"/>
            <p:cNvGrpSpPr/>
            <p:nvPr/>
          </p:nvGrpSpPr>
          <p:grpSpPr bwMode="auto">
            <a:xfrm>
              <a:off x="3" y="0"/>
              <a:ext cx="4243" cy="333"/>
              <a:chOff x="0" y="0"/>
              <a:chExt cx="4243" cy="333"/>
            </a:xfrm>
          </p:grpSpPr>
          <p:sp>
            <p:nvSpPr>
              <p:cNvPr id="4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4" name="Text Box 9"/>
            <p:cNvSpPr txBox="1">
              <a:spLocks noChangeArrowheads="1"/>
            </p:cNvSpPr>
            <p:nvPr/>
          </p:nvSpPr>
          <p:spPr bwMode="auto">
            <a:xfrm>
              <a:off x="556" y="-12"/>
              <a:ext cx="349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5.5  正则表达式与算术运算</a:t>
              </a:r>
            </a:p>
          </p:txBody>
        </p:sp>
      </p:grpSp>
      <p:grpSp>
        <p:nvGrpSpPr>
          <p:cNvPr id="45" name="Group 5"/>
          <p:cNvGrpSpPr/>
          <p:nvPr/>
        </p:nvGrpSpPr>
        <p:grpSpPr bwMode="auto">
          <a:xfrm>
            <a:off x="6646545" y="2358390"/>
            <a:ext cx="3775710" cy="481330"/>
            <a:chOff x="3" y="0"/>
            <a:chExt cx="4243" cy="333"/>
          </a:xfrm>
        </p:grpSpPr>
        <p:grpSp>
          <p:nvGrpSpPr>
            <p:cNvPr id="46" name="Group 6"/>
            <p:cNvGrpSpPr/>
            <p:nvPr/>
          </p:nvGrpSpPr>
          <p:grpSpPr bwMode="auto">
            <a:xfrm>
              <a:off x="3" y="0"/>
              <a:ext cx="4243" cy="333"/>
              <a:chOff x="0" y="0"/>
              <a:chExt cx="4243" cy="333"/>
            </a:xfrm>
          </p:grpSpPr>
          <p:sp>
            <p:nvSpPr>
              <p:cNvPr id="4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4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49"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5.6  控制结构</a:t>
              </a:r>
            </a:p>
          </p:txBody>
        </p:sp>
      </p:grpSp>
      <p:grpSp>
        <p:nvGrpSpPr>
          <p:cNvPr id="4" name="Group 5"/>
          <p:cNvGrpSpPr/>
          <p:nvPr/>
        </p:nvGrpSpPr>
        <p:grpSpPr bwMode="auto">
          <a:xfrm>
            <a:off x="6650990" y="4722495"/>
            <a:ext cx="3799840" cy="481330"/>
            <a:chOff x="3" y="0"/>
            <a:chExt cx="4243" cy="333"/>
          </a:xfrm>
        </p:grpSpPr>
        <p:grpSp>
          <p:nvGrpSpPr>
            <p:cNvPr id="5" name="Group 6"/>
            <p:cNvGrpSpPr/>
            <p:nvPr/>
          </p:nvGrpSpPr>
          <p:grpSpPr bwMode="auto">
            <a:xfrm>
              <a:off x="3" y="0"/>
              <a:ext cx="4243" cy="333"/>
              <a:chOff x="0" y="0"/>
              <a:chExt cx="4243" cy="333"/>
            </a:xfrm>
          </p:grpSpPr>
          <p:sp>
            <p:nvSpPr>
              <p:cNvPr id="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5.9  调试shell脚本</a:t>
              </a:r>
            </a:p>
          </p:txBody>
        </p:sp>
      </p:grpSp>
      <p:grpSp>
        <p:nvGrpSpPr>
          <p:cNvPr id="54" name="Group 5"/>
          <p:cNvGrpSpPr/>
          <p:nvPr/>
        </p:nvGrpSpPr>
        <p:grpSpPr bwMode="auto">
          <a:xfrm>
            <a:off x="2001520" y="3188335"/>
            <a:ext cx="4091940" cy="481330"/>
            <a:chOff x="3" y="0"/>
            <a:chExt cx="4243" cy="333"/>
          </a:xfrm>
        </p:grpSpPr>
        <p:grpSp>
          <p:nvGrpSpPr>
            <p:cNvPr id="55" name="Group 6"/>
            <p:cNvGrpSpPr/>
            <p:nvPr/>
          </p:nvGrpSpPr>
          <p:grpSpPr bwMode="auto">
            <a:xfrm>
              <a:off x="3" y="0"/>
              <a:ext cx="4243" cy="333"/>
              <a:chOff x="0" y="0"/>
              <a:chExt cx="4243" cy="333"/>
            </a:xfrm>
          </p:grpSpPr>
          <p:sp>
            <p:nvSpPr>
              <p:cNvPr id="56"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5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58" name="Text Box 9"/>
            <p:cNvSpPr txBox="1">
              <a:spLocks noChangeArrowheads="1"/>
            </p:cNvSpPr>
            <p:nvPr/>
          </p:nvSpPr>
          <p:spPr bwMode="auto">
            <a:xfrm>
              <a:off x="615" y="22"/>
              <a:ext cx="3277"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5.2  创建和执行shell脚本</a:t>
              </a:r>
            </a:p>
          </p:txBody>
        </p:sp>
      </p:grpSp>
      <p:grpSp>
        <p:nvGrpSpPr>
          <p:cNvPr id="9" name="Group 5"/>
          <p:cNvGrpSpPr/>
          <p:nvPr/>
        </p:nvGrpSpPr>
        <p:grpSpPr bwMode="auto">
          <a:xfrm>
            <a:off x="6636385" y="5488940"/>
            <a:ext cx="3799840" cy="481330"/>
            <a:chOff x="3" y="0"/>
            <a:chExt cx="4243" cy="333"/>
          </a:xfrm>
        </p:grpSpPr>
        <p:grpSp>
          <p:nvGrpSpPr>
            <p:cNvPr id="25" name="Group 6"/>
            <p:cNvGrpSpPr/>
            <p:nvPr/>
          </p:nvGrpSpPr>
          <p:grpSpPr bwMode="auto">
            <a:xfrm>
              <a:off x="3" y="0"/>
              <a:ext cx="4243" cy="333"/>
              <a:chOff x="0" y="0"/>
              <a:chExt cx="4243" cy="333"/>
            </a:xfrm>
          </p:grpSpPr>
          <p:sp>
            <p:nvSpPr>
              <p:cNvPr id="26"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7"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8" name="Text Box 9"/>
            <p:cNvSpPr txBox="1">
              <a:spLocks noChangeArrowheads="1"/>
            </p:cNvSpPr>
            <p:nvPr/>
          </p:nvSpPr>
          <p:spPr bwMode="auto">
            <a:xfrm>
              <a:off x="905"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a:latin typeface="微软雅黑" panose="020B0503020204020204" pitchFamily="34" charset="-122"/>
                  <a:ea typeface="微软雅黑" panose="020B0503020204020204" pitchFamily="34" charset="-122"/>
                  <a:sym typeface="Arial Unicode MS" panose="020B0604020202020204" pitchFamily="34" charset="-122"/>
                </a:rPr>
                <a:t>5.10  实例</a:t>
              </a:r>
            </a:p>
          </p:txBody>
        </p:sp>
      </p:gr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2273300"/>
            <a:ext cx="11308715" cy="4165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3" name="组合 14"/>
          <p:cNvGrpSpPr/>
          <p:nvPr/>
        </p:nvGrpSpPr>
        <p:grpSpPr bwMode="auto">
          <a:xfrm>
            <a:off x="520701" y="2410462"/>
            <a:ext cx="11197747" cy="1971039"/>
            <a:chOff x="1506709" y="2076590"/>
            <a:chExt cx="2826279" cy="481472"/>
          </a:xfrm>
        </p:grpSpPr>
        <p:sp>
          <p:nvSpPr>
            <p:cNvPr id="35" name="矩形 6"/>
            <p:cNvSpPr>
              <a:spLocks noChangeArrowheads="1"/>
            </p:cNvSpPr>
            <p:nvPr/>
          </p:nvSpPr>
          <p:spPr bwMode="auto">
            <a:xfrm>
              <a:off x="1506709" y="2076590"/>
              <a:ext cx="2625793" cy="11168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在编辑器，如vi中，编辑如下程序：</a:t>
              </a:r>
            </a:p>
          </p:txBody>
        </p:sp>
        <p:sp>
          <p:nvSpPr>
            <p:cNvPr id="36" name="MH_Text_1"/>
            <p:cNvSpPr txBox="1">
              <a:spLocks noChangeArrowheads="1"/>
            </p:cNvSpPr>
            <p:nvPr>
              <p:custDataLst>
                <p:tags r:id="rId1"/>
              </p:custDataLst>
            </p:nvPr>
          </p:nvSpPr>
          <p:spPr bwMode="auto">
            <a:xfrm>
              <a:off x="1556804" y="2226120"/>
              <a:ext cx="2776184" cy="331942"/>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1   #!/bin/bash </a:t>
              </a:r>
            </a:p>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2   # this script searches a file for a specified word </a:t>
              </a:r>
            </a:p>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3   # you need to enter two arguments to this script："the filename" and "the word" </a:t>
              </a:r>
            </a:p>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4   if  test  $ #  -ne 2 </a:t>
              </a:r>
            </a:p>
          </p:txBody>
        </p:sp>
      </p:grpSp>
      <p:sp>
        <p:nvSpPr>
          <p:cNvPr id="11" name="对角圆角矩形 10"/>
          <p:cNvSpPr/>
          <p:nvPr/>
        </p:nvSpPr>
        <p:spPr>
          <a:xfrm>
            <a:off x="565785" y="1447800"/>
            <a:ext cx="2718435" cy="557332"/>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1．建立bash脚本</a:t>
            </a:r>
          </a:p>
        </p:txBody>
      </p:sp>
      <p:grpSp>
        <p:nvGrpSpPr>
          <p:cNvPr id="13" name="组合 12"/>
          <p:cNvGrpSpPr/>
          <p:nvPr/>
        </p:nvGrpSpPr>
        <p:grpSpPr>
          <a:xfrm>
            <a:off x="546100" y="4370070"/>
            <a:ext cx="10770235" cy="2009140"/>
            <a:chOff x="546100" y="4370070"/>
            <a:chExt cx="10770235" cy="2009140"/>
          </a:xfrm>
        </p:grpSpPr>
        <p:cxnSp>
          <p:nvCxnSpPr>
            <p:cNvPr id="7" name="直接连接符 6"/>
            <p:cNvCxnSpPr>
              <a:stCxn id="8" idx="1"/>
            </p:cNvCxnSpPr>
            <p:nvPr/>
          </p:nvCxnSpPr>
          <p:spPr>
            <a:xfrm rot="10800000" flipV="1">
              <a:off x="546100" y="5374640"/>
              <a:ext cx="1066800" cy="10160"/>
            </a:xfrm>
            <a:prstGeom prst="line">
              <a:avLst/>
            </a:prstGeom>
            <a:ln w="12700">
              <a:solidFill>
                <a:schemeClr val="tx2">
                  <a:lumMod val="60000"/>
                  <a:lumOff val="40000"/>
                </a:schemeClr>
              </a:solidFill>
              <a:tailEnd type="ova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612900" y="4370070"/>
              <a:ext cx="9703435" cy="2009140"/>
            </a:xfrm>
            <a:prstGeom prst="rect">
              <a:avLst/>
            </a:prstGeom>
            <a:noFill/>
            <a:ln w="31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eaLnBrk="1" latinLnBrk="0" hangingPunct="1">
                <a:lnSpc>
                  <a:spcPct val="150000"/>
                </a:lnSpc>
              </a:pPr>
              <a:r>
                <a:rPr lang="zh-CN" altLang="en-US" dirty="0">
                  <a:solidFill>
                    <a:schemeClr val="tx1"/>
                  </a:solidFill>
                  <a:latin typeface="微软雅黑" panose="020B0503020204020204" pitchFamily="34" charset="-122"/>
                  <a:ea typeface="微软雅黑" panose="020B0503020204020204" pitchFamily="34" charset="-122"/>
                </a:rPr>
                <a:t>脚本第</a:t>
              </a:r>
              <a:r>
                <a:rPr lang="en-US" altLang="zh-CN" dirty="0">
                  <a:solidFill>
                    <a:schemeClr val="tx1"/>
                  </a:solidFill>
                  <a:latin typeface="微软雅黑" panose="020B0503020204020204" pitchFamily="34" charset="-122"/>
                  <a:ea typeface="微软雅黑" panose="020B0503020204020204" pitchFamily="34" charset="-122"/>
                </a:rPr>
                <a:t>1</a:t>
              </a:r>
              <a:r>
                <a:rPr lang="zh-CN" altLang="en-US" dirty="0">
                  <a:solidFill>
                    <a:schemeClr val="tx1"/>
                  </a:solidFill>
                  <a:latin typeface="微软雅黑" panose="020B0503020204020204" pitchFamily="34" charset="-122"/>
                  <a:ea typeface="微软雅黑" panose="020B0503020204020204" pitchFamily="34" charset="-122"/>
                </a:rPr>
                <a:t>行指定</a:t>
              </a:r>
              <a:r>
                <a:rPr lang="en-US" altLang="zh-CN" dirty="0">
                  <a:solidFill>
                    <a:schemeClr val="tx1"/>
                  </a:solidFill>
                  <a:latin typeface="微软雅黑" panose="020B0503020204020204" pitchFamily="34" charset="-122"/>
                  <a:ea typeface="微软雅黑" panose="020B0503020204020204" pitchFamily="34" charset="-122"/>
                </a:rPr>
                <a:t>bash</a:t>
              </a:r>
              <a:r>
                <a:rPr lang="zh-CN" altLang="en-US" dirty="0">
                  <a:solidFill>
                    <a:schemeClr val="tx1"/>
                  </a:solidFill>
                  <a:latin typeface="微软雅黑" panose="020B0503020204020204" pitchFamily="34" charset="-122"/>
                  <a:ea typeface="微软雅黑" panose="020B0503020204020204" pitchFamily="34" charset="-122"/>
                </a:rPr>
                <a:t>（绝对路径为</a:t>
              </a:r>
              <a:r>
                <a:rPr lang="en-US" altLang="zh-CN" dirty="0">
                  <a:solidFill>
                    <a:schemeClr val="tx1"/>
                  </a:solidFill>
                  <a:latin typeface="微软雅黑" panose="020B0503020204020204" pitchFamily="34" charset="-122"/>
                  <a:ea typeface="微软雅黑" panose="020B0503020204020204" pitchFamily="34" charset="-122"/>
                </a:rPr>
                <a:t>/bin/bash</a:t>
              </a:r>
              <a:r>
                <a:rPr lang="zh-CN" altLang="en-US" dirty="0">
                  <a:solidFill>
                    <a:schemeClr val="tx1"/>
                  </a:solidFill>
                  <a:latin typeface="微软雅黑" panose="020B0503020204020204" pitchFamily="34" charset="-122"/>
                  <a:ea typeface="微软雅黑" panose="020B0503020204020204" pitchFamily="34" charset="-122"/>
                </a:rPr>
                <a:t>）作为该脚本的</a:t>
              </a:r>
              <a:r>
                <a:rPr lang="zh-CN" altLang="en-US" b="1" dirty="0">
                  <a:solidFill>
                    <a:schemeClr val="tx1"/>
                  </a:solidFill>
                  <a:latin typeface="微软雅黑" panose="020B0503020204020204" pitchFamily="34" charset="-122"/>
                  <a:ea typeface="微软雅黑" panose="020B0503020204020204" pitchFamily="34" charset="-122"/>
                </a:rPr>
                <a:t>解释器</a:t>
              </a:r>
              <a:r>
                <a:rPr lang="zh-CN" altLang="en-US" dirty="0">
                  <a:solidFill>
                    <a:schemeClr val="tx1"/>
                  </a:solidFill>
                  <a:latin typeface="微软雅黑" panose="020B0503020204020204" pitchFamily="34" charset="-122"/>
                  <a:ea typeface="微软雅黑" panose="020B0503020204020204" pitchFamily="34" charset="-122"/>
                </a:rPr>
                <a:t>。第</a:t>
              </a:r>
              <a:r>
                <a:rPr lang="en-US" altLang="zh-CN" dirty="0">
                  <a:solidFill>
                    <a:schemeClr val="tx1"/>
                  </a:solidFill>
                  <a:latin typeface="微软雅黑" panose="020B0503020204020204" pitchFamily="34" charset="-122"/>
                  <a:ea typeface="微软雅黑" panose="020B0503020204020204" pitchFamily="34" charset="-122"/>
                </a:rPr>
                <a:t>2</a:t>
              </a:r>
              <a:r>
                <a:rPr lang="zh-CN" altLang="en-US" dirty="0">
                  <a:solidFill>
                    <a:schemeClr val="tx1"/>
                  </a:solidFill>
                  <a:latin typeface="微软雅黑" panose="020B0503020204020204" pitchFamily="34" charset="-122"/>
                  <a:ea typeface="微软雅黑" panose="020B0503020204020204" pitchFamily="34" charset="-122"/>
                </a:rPr>
                <a:t>、</a:t>
              </a:r>
              <a:r>
                <a:rPr lang="en-US" altLang="zh-CN" dirty="0">
                  <a:solidFill>
                    <a:schemeClr val="tx1"/>
                  </a:solidFill>
                  <a:latin typeface="微软雅黑" panose="020B0503020204020204" pitchFamily="34" charset="-122"/>
                  <a:ea typeface="微软雅黑" panose="020B0503020204020204" pitchFamily="34" charset="-122"/>
                </a:rPr>
                <a:t>3</a:t>
              </a:r>
              <a:r>
                <a:rPr lang="zh-CN" altLang="en-US" dirty="0">
                  <a:solidFill>
                    <a:schemeClr val="tx1"/>
                  </a:solidFill>
                  <a:latin typeface="微软雅黑" panose="020B0503020204020204" pitchFamily="34" charset="-122"/>
                  <a:ea typeface="微软雅黑" panose="020B0503020204020204" pitchFamily="34" charset="-122"/>
                </a:rPr>
                <a:t>行是注释，说明了</a:t>
              </a:r>
              <a:r>
                <a:rPr lang="en-US" altLang="zh-CN" b="1" dirty="0">
                  <a:solidFill>
                    <a:schemeClr val="tx1"/>
                  </a:solidFill>
                  <a:latin typeface="微软雅黑" panose="020B0503020204020204" pitchFamily="34" charset="-122"/>
                  <a:ea typeface="微软雅黑" panose="020B0503020204020204" pitchFamily="34" charset="-122"/>
                </a:rPr>
                <a:t>bash</a:t>
              </a:r>
              <a:r>
                <a:rPr lang="zh-CN" altLang="en-US" b="1" dirty="0">
                  <a:solidFill>
                    <a:schemeClr val="tx1"/>
                  </a:solidFill>
                  <a:latin typeface="微软雅黑" panose="020B0503020204020204" pitchFamily="34" charset="-122"/>
                  <a:ea typeface="微软雅黑" panose="020B0503020204020204" pitchFamily="34" charset="-122"/>
                </a:rPr>
                <a:t>脚本的用途及如何调用这个脚本</a:t>
              </a:r>
              <a:r>
                <a:rPr lang="zh-CN" altLang="en-US" dirty="0">
                  <a:solidFill>
                    <a:schemeClr val="tx1"/>
                  </a:solidFill>
                  <a:latin typeface="微软雅黑" panose="020B0503020204020204" pitchFamily="34" charset="-122"/>
                  <a:ea typeface="微软雅黑" panose="020B0503020204020204" pitchFamily="34" charset="-122"/>
                </a:rPr>
                <a:t>（调用时</a:t>
              </a:r>
              <a:r>
                <a:rPr lang="zh-CN" altLang="en-US" b="1" dirty="0">
                  <a:solidFill>
                    <a:schemeClr val="tx1"/>
                  </a:solidFill>
                  <a:latin typeface="微软雅黑" panose="020B0503020204020204" pitchFamily="34" charset="-122"/>
                  <a:ea typeface="微软雅黑" panose="020B0503020204020204" pitchFamily="34" charset="-122"/>
                </a:rPr>
                <a:t>需输入文件名及指定的单词两个参数</a:t>
              </a:r>
              <a:r>
                <a:rPr lang="zh-CN" altLang="en-US" dirty="0">
                  <a:solidFill>
                    <a:schemeClr val="tx1"/>
                  </a:solidFill>
                  <a:latin typeface="微软雅黑" panose="020B0503020204020204" pitchFamily="34" charset="-122"/>
                  <a:ea typeface="微软雅黑" panose="020B0503020204020204" pitchFamily="34" charset="-122"/>
                </a:rPr>
                <a:t>）。</a:t>
              </a:r>
            </a:p>
            <a:p>
              <a:pPr indent="457200" eaLnBrk="1" latinLnBrk="0" hangingPunct="1">
                <a:lnSpc>
                  <a:spcPct val="150000"/>
                </a:lnSpc>
              </a:pPr>
              <a:r>
                <a:rPr lang="zh-CN" altLang="en-US" dirty="0">
                  <a:solidFill>
                    <a:schemeClr val="tx1"/>
                  </a:solidFill>
                  <a:latin typeface="微软雅黑" panose="020B0503020204020204" pitchFamily="34" charset="-122"/>
                  <a:ea typeface="微软雅黑" panose="020B0503020204020204" pitchFamily="34" charset="-122"/>
                </a:rPr>
                <a:t>第</a:t>
              </a:r>
              <a:r>
                <a:rPr lang="en-US" altLang="zh-CN" dirty="0">
                  <a:solidFill>
                    <a:schemeClr val="tx1"/>
                  </a:solidFill>
                  <a:latin typeface="微软雅黑" panose="020B0503020204020204" pitchFamily="34" charset="-122"/>
                  <a:ea typeface="微软雅黑" panose="020B0503020204020204" pitchFamily="34" charset="-122"/>
                </a:rPr>
                <a:t>4</a:t>
              </a:r>
              <a:r>
                <a:rPr lang="zh-CN" altLang="en-US" dirty="0">
                  <a:solidFill>
                    <a:schemeClr val="tx1"/>
                  </a:solidFill>
                  <a:latin typeface="微软雅黑" panose="020B0503020204020204" pitchFamily="34" charset="-122"/>
                  <a:ea typeface="微软雅黑" panose="020B0503020204020204" pitchFamily="34" charset="-122"/>
                </a:rPr>
                <a:t>行用</a:t>
              </a:r>
              <a:r>
                <a:rPr lang="en-US" altLang="zh-CN" dirty="0">
                  <a:solidFill>
                    <a:schemeClr val="tx1"/>
                  </a:solidFill>
                  <a:latin typeface="微软雅黑" panose="020B0503020204020204" pitchFamily="34" charset="-122"/>
                  <a:ea typeface="微软雅黑" panose="020B0503020204020204" pitchFamily="34" charset="-122"/>
                </a:rPr>
                <a:t>test</a:t>
              </a:r>
              <a:r>
                <a:rPr lang="zh-CN" altLang="en-US" dirty="0">
                  <a:solidFill>
                    <a:schemeClr val="tx1"/>
                  </a:solidFill>
                  <a:latin typeface="微软雅黑" panose="020B0503020204020204" pitchFamily="34" charset="-122"/>
                  <a:ea typeface="微软雅黑" panose="020B0503020204020204" pitchFamily="34" charset="-122"/>
                </a:rPr>
                <a:t>命令来检验用户</a:t>
              </a:r>
              <a:r>
                <a:rPr lang="zh-CN" altLang="en-US" b="1" dirty="0">
                  <a:solidFill>
                    <a:schemeClr val="tx1"/>
                  </a:solidFill>
                  <a:latin typeface="微软雅黑" panose="020B0503020204020204" pitchFamily="34" charset="-122"/>
                  <a:ea typeface="微软雅黑" panose="020B0503020204020204" pitchFamily="34" charset="-122"/>
                </a:rPr>
                <a:t>是否传递了两个参数</a:t>
              </a:r>
              <a:r>
                <a:rPr lang="zh-CN" altLang="en-US" dirty="0">
                  <a:solidFill>
                    <a:schemeClr val="tx1"/>
                  </a:solidFill>
                  <a:latin typeface="微软雅黑" panose="020B0503020204020204" pitchFamily="34" charset="-122"/>
                  <a:ea typeface="微软雅黑" panose="020B0503020204020204" pitchFamily="34" charset="-122"/>
                </a:rPr>
                <a:t>。如果不是两个参数，则执行第</a:t>
              </a:r>
              <a:r>
                <a:rPr lang="en-US" altLang="zh-CN" dirty="0">
                  <a:solidFill>
                    <a:schemeClr val="tx1"/>
                  </a:solidFill>
                  <a:latin typeface="微软雅黑" panose="020B0503020204020204" pitchFamily="34" charset="-122"/>
                  <a:ea typeface="微软雅黑" panose="020B0503020204020204" pitchFamily="34" charset="-122"/>
                </a:rPr>
                <a:t>6</a:t>
              </a:r>
              <a:r>
                <a:rPr lang="zh-CN" altLang="en-US" dirty="0">
                  <a:solidFill>
                    <a:schemeClr val="tx1"/>
                  </a:solidFill>
                  <a:latin typeface="微软雅黑" panose="020B0503020204020204" pitchFamily="34" charset="-122"/>
                  <a:ea typeface="微软雅黑" panose="020B0503020204020204" pitchFamily="34" charset="-122"/>
                </a:rPr>
                <a:t>行的命令，输出</a:t>
              </a:r>
              <a:r>
                <a:rPr lang="en-US" altLang="zh-CN" dirty="0">
                  <a:solidFill>
                    <a:schemeClr val="tx1"/>
                  </a:solidFill>
                  <a:latin typeface="微软雅黑" panose="020B0503020204020204" pitchFamily="34" charset="-122"/>
                  <a:ea typeface="微软雅黑" panose="020B0503020204020204" pitchFamily="34" charset="-122"/>
                </a:rPr>
                <a:t>Invalid  argument</a:t>
              </a:r>
              <a:r>
                <a:rPr lang="zh-CN" altLang="en-US" dirty="0">
                  <a:solidFill>
                    <a:schemeClr val="tx1"/>
                  </a:solidFill>
                  <a:latin typeface="微软雅黑" panose="020B0503020204020204" pitchFamily="34" charset="-122"/>
                  <a:ea typeface="微软雅黑" panose="020B0503020204020204" pitchFamily="34" charset="-122"/>
                </a:rPr>
                <a:t>！信息；如果是两个参数，则程序将继续执行。</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1"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Righ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53085" y="2374900"/>
            <a:ext cx="11308715" cy="39116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grpSp>
        <p:nvGrpSpPr>
          <p:cNvPr id="3" name="组合 14"/>
          <p:cNvGrpSpPr/>
          <p:nvPr/>
        </p:nvGrpSpPr>
        <p:grpSpPr bwMode="auto">
          <a:xfrm>
            <a:off x="520701" y="2727960"/>
            <a:ext cx="4927599" cy="2707640"/>
            <a:chOff x="1506709" y="2101080"/>
            <a:chExt cx="2826279" cy="522130"/>
          </a:xfrm>
        </p:grpSpPr>
        <p:sp>
          <p:nvSpPr>
            <p:cNvPr id="4" name="矩形 6"/>
            <p:cNvSpPr>
              <a:spLocks noChangeArrowheads="1"/>
            </p:cNvSpPr>
            <p:nvPr/>
          </p:nvSpPr>
          <p:spPr bwMode="auto">
            <a:xfrm>
              <a:off x="1506709" y="2101080"/>
              <a:ext cx="2625793" cy="11168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在编辑器，如vi中，编辑如下程序：</a:t>
              </a:r>
            </a:p>
          </p:txBody>
        </p:sp>
        <p:sp>
          <p:nvSpPr>
            <p:cNvPr id="5" name="MH_Text_1"/>
            <p:cNvSpPr txBox="1">
              <a:spLocks noChangeArrowheads="1"/>
            </p:cNvSpPr>
            <p:nvPr>
              <p:custDataLst>
                <p:tags r:id="rId1"/>
              </p:custDataLst>
            </p:nvPr>
          </p:nvSpPr>
          <p:spPr bwMode="auto">
            <a:xfrm>
              <a:off x="1556804" y="2226120"/>
              <a:ext cx="2776184" cy="397090"/>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5   then </a:t>
              </a:r>
            </a:p>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6   echo  " Invalid argument! " </a:t>
              </a:r>
            </a:p>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7   else </a:t>
              </a:r>
            </a:p>
            <a:p>
              <a:pPr indent="0" algn="l" eaLnBrk="1" fontAlgn="auto" latinLnBrk="0" hangingPunct="1">
                <a:lnSpc>
                  <a:spcPct val="110000"/>
                </a:lnSpc>
                <a:buFont typeface="Arial" panose="020B0604020202020204" pitchFamily="34" charset="0"/>
                <a:buNone/>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8   filename = $1 </a:t>
              </a:r>
            </a:p>
            <a:p>
              <a:pPr marL="342900" indent="-342900" algn="l" eaLnBrk="1" fontAlgn="auto" latinLnBrk="0" hangingPunct="1">
                <a:lnSpc>
                  <a:spcPct val="110000"/>
                </a:lnSpc>
                <a:buFont typeface="Arial" panose="020B0604020202020204" pitchFamily="34" charset="0"/>
                <a:buAutoNum type="arabicPlain" startAt="9"/>
                <a:defRPr/>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word = $2 </a:t>
              </a:r>
              <a:endParaRPr lang="en-US" altLang="zh-CN" b="1" dirty="0">
                <a:solidFill>
                  <a:srgbClr val="0070C0"/>
                </a:solidFill>
                <a:latin typeface="微软雅黑" panose="020B0503020204020204" pitchFamily="34" charset="-122"/>
                <a:ea typeface="微软雅黑" panose="020B0503020204020204" pitchFamily="34" charset="-122"/>
                <a:cs typeface="+mn-cs"/>
                <a:sym typeface="+mn-ea"/>
              </a:endParaRPr>
            </a:p>
            <a:p>
              <a:pPr marL="342900" indent="-342900" algn="l" eaLnBrk="1" fontAlgn="auto" latinLnBrk="0" hangingPunct="1">
                <a:lnSpc>
                  <a:spcPct val="110000"/>
                </a:lnSpc>
                <a:buFont typeface="Arial" panose="020B0604020202020204" pitchFamily="34" charset="0"/>
                <a:buAutoNum type="arabicPlain" startAt="9"/>
                <a:defRPr/>
              </a:pPr>
              <a:endParaRPr lang="zh-CN" altLang="en-US" b="1" dirty="0">
                <a:solidFill>
                  <a:srgbClr val="0070C0"/>
                </a:solidFill>
                <a:latin typeface="微软雅黑" panose="020B0503020204020204" pitchFamily="34" charset="-122"/>
                <a:ea typeface="微软雅黑" panose="020B0503020204020204" pitchFamily="34" charset="-122"/>
                <a:cs typeface="+mn-cs"/>
                <a:sym typeface="+mn-ea"/>
              </a:endParaRPr>
            </a:p>
          </p:txBody>
        </p:sp>
      </p:grpSp>
      <p:sp>
        <p:nvSpPr>
          <p:cNvPr id="6" name="对角圆角矩形 5"/>
          <p:cNvSpPr/>
          <p:nvPr/>
        </p:nvSpPr>
        <p:spPr>
          <a:xfrm>
            <a:off x="565785" y="1587500"/>
            <a:ext cx="2718435" cy="557332"/>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1．建立bash脚本</a:t>
            </a:r>
          </a:p>
        </p:txBody>
      </p:sp>
      <p:grpSp>
        <p:nvGrpSpPr>
          <p:cNvPr id="20" name="组合 19"/>
          <p:cNvGrpSpPr/>
          <p:nvPr/>
        </p:nvGrpSpPr>
        <p:grpSpPr>
          <a:xfrm>
            <a:off x="5448300" y="3708400"/>
            <a:ext cx="5918835" cy="1397000"/>
            <a:chOff x="5448300" y="3708400"/>
            <a:chExt cx="5918835" cy="1397000"/>
          </a:xfrm>
        </p:grpSpPr>
        <p:cxnSp>
          <p:nvCxnSpPr>
            <p:cNvPr id="7" name="直接连接符 6"/>
            <p:cNvCxnSpPr>
              <a:stCxn id="8" idx="1"/>
            </p:cNvCxnSpPr>
            <p:nvPr/>
          </p:nvCxnSpPr>
          <p:spPr>
            <a:xfrm rot="10800000">
              <a:off x="5448300" y="4405994"/>
              <a:ext cx="673100" cy="906"/>
            </a:xfrm>
            <a:prstGeom prst="line">
              <a:avLst/>
            </a:prstGeom>
            <a:ln w="12700">
              <a:solidFill>
                <a:schemeClr val="tx2">
                  <a:lumMod val="60000"/>
                  <a:lumOff val="40000"/>
                </a:schemeClr>
              </a:solidFill>
              <a:tailEnd type="ova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6121400" y="3708400"/>
              <a:ext cx="5245735" cy="1397000"/>
            </a:xfrm>
            <a:prstGeom prst="rect">
              <a:avLst/>
            </a:prstGeom>
            <a:noFill/>
            <a:ln w="31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indent="457200">
                <a:lnSpc>
                  <a:spcPct val="150000"/>
                </a:lnSpc>
              </a:pPr>
              <a:r>
                <a:rPr lang="zh-CN" altLang="en-US" dirty="0">
                  <a:solidFill>
                    <a:schemeClr val="tx1"/>
                  </a:solidFill>
                  <a:latin typeface="微软雅黑" panose="020B0503020204020204" pitchFamily="34" charset="-122"/>
                  <a:ea typeface="微软雅黑" panose="020B0503020204020204" pitchFamily="34" charset="-122"/>
                </a:rPr>
                <a:t>第</a:t>
              </a:r>
              <a:r>
                <a:rPr lang="en-US" altLang="zh-CN" dirty="0">
                  <a:solidFill>
                    <a:schemeClr val="tx1"/>
                  </a:solidFill>
                  <a:latin typeface="微软雅黑" panose="020B0503020204020204" pitchFamily="34" charset="-122"/>
                  <a:ea typeface="微软雅黑" panose="020B0503020204020204" pitchFamily="34" charset="-122"/>
                </a:rPr>
                <a:t>8</a:t>
              </a:r>
              <a:r>
                <a:rPr lang="zh-CN" altLang="en-US" dirty="0">
                  <a:solidFill>
                    <a:schemeClr val="tx1"/>
                  </a:solidFill>
                  <a:latin typeface="微软雅黑" panose="020B0503020204020204" pitchFamily="34" charset="-122"/>
                  <a:ea typeface="微软雅黑" panose="020B0503020204020204" pitchFamily="34" charset="-122"/>
                </a:rPr>
                <a:t>、</a:t>
              </a:r>
              <a:r>
                <a:rPr lang="en-US" altLang="zh-CN" dirty="0">
                  <a:solidFill>
                    <a:schemeClr val="tx1"/>
                  </a:solidFill>
                  <a:latin typeface="微软雅黑" panose="020B0503020204020204" pitchFamily="34" charset="-122"/>
                  <a:ea typeface="微软雅黑" panose="020B0503020204020204" pitchFamily="34" charset="-122"/>
                </a:rPr>
                <a:t>9</a:t>
              </a:r>
              <a:r>
                <a:rPr lang="zh-CN" altLang="en-US" dirty="0">
                  <a:solidFill>
                    <a:schemeClr val="tx1"/>
                  </a:solidFill>
                  <a:latin typeface="微软雅黑" panose="020B0503020204020204" pitchFamily="34" charset="-122"/>
                  <a:ea typeface="微软雅黑" panose="020B0503020204020204" pitchFamily="34" charset="-122"/>
                </a:rPr>
                <a:t>行将第</a:t>
              </a:r>
              <a:r>
                <a:rPr lang="en-US" altLang="zh-CN" dirty="0">
                  <a:solidFill>
                    <a:schemeClr val="tx1"/>
                  </a:solidFill>
                  <a:latin typeface="微软雅黑" panose="020B0503020204020204" pitchFamily="34" charset="-122"/>
                  <a:ea typeface="微软雅黑" panose="020B0503020204020204" pitchFamily="34" charset="-122"/>
                </a:rPr>
                <a:t>1</a:t>
              </a:r>
              <a:r>
                <a:rPr lang="zh-CN" altLang="en-US" dirty="0">
                  <a:solidFill>
                    <a:schemeClr val="tx1"/>
                  </a:solidFill>
                  <a:latin typeface="微软雅黑" panose="020B0503020204020204" pitchFamily="34" charset="-122"/>
                  <a:ea typeface="微软雅黑" panose="020B0503020204020204" pitchFamily="34" charset="-122"/>
                </a:rPr>
                <a:t>个和第</a:t>
              </a:r>
              <a:r>
                <a:rPr lang="en-US" altLang="zh-CN" dirty="0">
                  <a:solidFill>
                    <a:schemeClr val="tx1"/>
                  </a:solidFill>
                  <a:latin typeface="微软雅黑" panose="020B0503020204020204" pitchFamily="34" charset="-122"/>
                  <a:ea typeface="微软雅黑" panose="020B0503020204020204" pitchFamily="34" charset="-122"/>
                </a:rPr>
                <a:t>2</a:t>
              </a:r>
              <a:r>
                <a:rPr lang="zh-CN" altLang="en-US" dirty="0">
                  <a:solidFill>
                    <a:schemeClr val="tx1"/>
                  </a:solidFill>
                  <a:latin typeface="微软雅黑" panose="020B0503020204020204" pitchFamily="34" charset="-122"/>
                  <a:ea typeface="微软雅黑" panose="020B0503020204020204" pitchFamily="34" charset="-122"/>
                </a:rPr>
                <a:t>个参数的值通过位置变量</a:t>
              </a:r>
              <a:r>
                <a:rPr lang="en-US" altLang="zh-CN" dirty="0">
                  <a:solidFill>
                    <a:schemeClr val="tx1"/>
                  </a:solidFill>
                  <a:latin typeface="微软雅黑" panose="020B0503020204020204" pitchFamily="34" charset="-122"/>
                  <a:ea typeface="微软雅黑" panose="020B0503020204020204" pitchFamily="34" charset="-122"/>
                </a:rPr>
                <a:t>$1</a:t>
              </a:r>
              <a:r>
                <a:rPr lang="zh-CN" altLang="en-US" dirty="0">
                  <a:solidFill>
                    <a:schemeClr val="tx1"/>
                  </a:solidFill>
                  <a:latin typeface="微软雅黑" panose="020B0503020204020204" pitchFamily="34" charset="-122"/>
                  <a:ea typeface="微软雅黑" panose="020B0503020204020204" pitchFamily="34" charset="-122"/>
                </a:rPr>
                <a:t>、</a:t>
              </a:r>
              <a:r>
                <a:rPr lang="en-US" altLang="zh-CN" dirty="0">
                  <a:solidFill>
                    <a:schemeClr val="tx1"/>
                  </a:solidFill>
                  <a:latin typeface="微软雅黑" panose="020B0503020204020204" pitchFamily="34" charset="-122"/>
                  <a:ea typeface="微软雅黑" panose="020B0503020204020204" pitchFamily="34" charset="-122"/>
                </a:rPr>
                <a:t>$2</a:t>
              </a:r>
              <a:r>
                <a:rPr lang="zh-CN" altLang="en-US" dirty="0">
                  <a:solidFill>
                    <a:schemeClr val="tx1"/>
                  </a:solidFill>
                  <a:latin typeface="微软雅黑" panose="020B0503020204020204" pitchFamily="34" charset="-122"/>
                  <a:ea typeface="微软雅黑" panose="020B0503020204020204" pitchFamily="34" charset="-122"/>
                </a:rPr>
                <a:t>分别赋给</a:t>
              </a:r>
              <a:r>
                <a:rPr lang="en-US" altLang="zh-CN" dirty="0">
                  <a:solidFill>
                    <a:schemeClr val="tx1"/>
                  </a:solidFill>
                  <a:latin typeface="微软雅黑" panose="020B0503020204020204" pitchFamily="34" charset="-122"/>
                  <a:ea typeface="微软雅黑" panose="020B0503020204020204" pitchFamily="34" charset="-122"/>
                </a:rPr>
                <a:t>filename</a:t>
              </a:r>
              <a:r>
                <a:rPr lang="zh-CN" altLang="en-US" dirty="0">
                  <a:solidFill>
                    <a:schemeClr val="tx1"/>
                  </a:solidFill>
                  <a:latin typeface="微软雅黑" panose="020B0503020204020204" pitchFamily="34" charset="-122"/>
                  <a:ea typeface="微软雅黑" panose="020B0503020204020204" pitchFamily="34" charset="-122"/>
                </a:rPr>
                <a:t>和</a:t>
              </a:r>
              <a:r>
                <a:rPr lang="en-US" altLang="zh-CN" dirty="0">
                  <a:solidFill>
                    <a:schemeClr val="tx1"/>
                  </a:solidFill>
                  <a:latin typeface="微软雅黑" panose="020B0503020204020204" pitchFamily="34" charset="-122"/>
                  <a:ea typeface="微软雅黑" panose="020B0503020204020204" pitchFamily="34" charset="-122"/>
                </a:rPr>
                <a:t>word</a:t>
              </a:r>
              <a:r>
                <a:rPr lang="zh-CN" altLang="en-US" dirty="0">
                  <a:solidFill>
                    <a:schemeClr val="tx1"/>
                  </a:solidFill>
                  <a:latin typeface="微软雅黑" panose="020B0503020204020204" pitchFamily="34" charset="-122"/>
                  <a:ea typeface="微软雅黑" panose="020B0503020204020204" pitchFamily="34" charset="-122"/>
                </a:rPr>
                <a:t>变量。</a:t>
              </a:r>
            </a:p>
            <a:p>
              <a:pPr indent="457200" eaLnBrk="1" latinLnBrk="0" hangingPunct="1">
                <a:lnSpc>
                  <a:spcPct val="150000"/>
                </a:lnSpc>
              </a:pPr>
              <a:endParaRPr lang="zh-CN" altLang="en-US" dirty="0">
                <a:solidFill>
                  <a:schemeClr val="tx1"/>
                </a:solidFill>
                <a:latin typeface="微软雅黑" panose="020B0503020204020204" pitchFamily="34" charset="-122"/>
                <a:ea typeface="微软雅黑" panose="020B0503020204020204" pitchFamily="3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Righ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13"/>
          <p:cNvSpPr>
            <a:spLocks noChangeArrowheads="1"/>
          </p:cNvSpPr>
          <p:nvPr/>
        </p:nvSpPr>
        <p:spPr bwMode="gray">
          <a:xfrm>
            <a:off x="540385" y="2489200"/>
            <a:ext cx="11308715" cy="384810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15" name="对角圆角矩形 14"/>
          <p:cNvSpPr/>
          <p:nvPr/>
        </p:nvSpPr>
        <p:spPr>
          <a:xfrm>
            <a:off x="565785" y="1714500"/>
            <a:ext cx="2718435" cy="557332"/>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1．建立bash脚本</a:t>
            </a:r>
          </a:p>
        </p:txBody>
      </p:sp>
      <p:grpSp>
        <p:nvGrpSpPr>
          <p:cNvPr id="3" name="组合 14"/>
          <p:cNvGrpSpPr/>
          <p:nvPr/>
        </p:nvGrpSpPr>
        <p:grpSpPr bwMode="auto">
          <a:xfrm>
            <a:off x="558800" y="2867661"/>
            <a:ext cx="11159648" cy="3050539"/>
            <a:chOff x="1516325" y="2129330"/>
            <a:chExt cx="2816663" cy="745167"/>
          </a:xfrm>
        </p:grpSpPr>
        <p:sp>
          <p:nvSpPr>
            <p:cNvPr id="7" name="矩形 6"/>
            <p:cNvSpPr>
              <a:spLocks noChangeArrowheads="1"/>
            </p:cNvSpPr>
            <p:nvPr/>
          </p:nvSpPr>
          <p:spPr bwMode="auto">
            <a:xfrm>
              <a:off x="1516325" y="2129330"/>
              <a:ext cx="2625793" cy="11168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在编辑器，如vi中，编辑如下程序：</a:t>
              </a:r>
            </a:p>
          </p:txBody>
        </p:sp>
        <p:sp>
          <p:nvSpPr>
            <p:cNvPr id="5" name="MH_Text_1"/>
            <p:cNvSpPr txBox="1">
              <a:spLocks noChangeArrowheads="1"/>
            </p:cNvSpPr>
            <p:nvPr>
              <p:custDataLst>
                <p:tags r:id="rId1"/>
              </p:custDataLst>
            </p:nvPr>
          </p:nvSpPr>
          <p:spPr bwMode="auto">
            <a:xfrm>
              <a:off x="1556804" y="2305849"/>
              <a:ext cx="2776184" cy="568648"/>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10   if  grep   $word   $filename &gt;/home/Stu/temp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11   then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12   echo  "The word was found ! "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13   else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14   echo  "The word was not found ! "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15   fi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16   fi </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17   exit 0 </a:t>
              </a:r>
            </a:p>
          </p:txBody>
        </p:sp>
      </p:grpSp>
      <p:grpSp>
        <p:nvGrpSpPr>
          <p:cNvPr id="16" name="组合 15"/>
          <p:cNvGrpSpPr/>
          <p:nvPr/>
        </p:nvGrpSpPr>
        <p:grpSpPr>
          <a:xfrm>
            <a:off x="5524500" y="2971800"/>
            <a:ext cx="5842635" cy="2832100"/>
            <a:chOff x="5524500" y="2971800"/>
            <a:chExt cx="5842635" cy="2832100"/>
          </a:xfrm>
        </p:grpSpPr>
        <p:cxnSp>
          <p:nvCxnSpPr>
            <p:cNvPr id="8" name="直接连接符 7"/>
            <p:cNvCxnSpPr>
              <a:stCxn id="9" idx="1"/>
            </p:cNvCxnSpPr>
            <p:nvPr/>
          </p:nvCxnSpPr>
          <p:spPr>
            <a:xfrm rot="10800000" flipV="1">
              <a:off x="5524500" y="4387850"/>
              <a:ext cx="596900" cy="6350"/>
            </a:xfrm>
            <a:prstGeom prst="line">
              <a:avLst/>
            </a:prstGeom>
            <a:ln w="12700">
              <a:solidFill>
                <a:schemeClr val="tx2">
                  <a:lumMod val="60000"/>
                  <a:lumOff val="40000"/>
                </a:schemeClr>
              </a:solidFill>
              <a:tailEnd type="ova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121400" y="2971800"/>
              <a:ext cx="5245735" cy="2832100"/>
            </a:xfrm>
            <a:prstGeom prst="rect">
              <a:avLst/>
            </a:prstGeom>
            <a:noFill/>
            <a:ln w="3175">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indent="457200">
                <a:lnSpc>
                  <a:spcPct val="150000"/>
                </a:lnSpc>
              </a:pPr>
              <a:r>
                <a:rPr lang="zh-CN" altLang="en-US" dirty="0">
                  <a:solidFill>
                    <a:schemeClr val="tx1"/>
                  </a:solidFill>
                  <a:latin typeface="微软雅黑" panose="020B0503020204020204" pitchFamily="34" charset="-122"/>
                  <a:ea typeface="微软雅黑" panose="020B0503020204020204" pitchFamily="34" charset="-122"/>
                </a:rPr>
                <a:t>第</a:t>
              </a:r>
              <a:r>
                <a:rPr lang="en-US" altLang="zh-CN" dirty="0">
                  <a:solidFill>
                    <a:schemeClr val="tx1"/>
                  </a:solidFill>
                  <a:latin typeface="微软雅黑" panose="020B0503020204020204" pitchFamily="34" charset="-122"/>
                  <a:ea typeface="微软雅黑" panose="020B0503020204020204" pitchFamily="34" charset="-122"/>
                </a:rPr>
                <a:t>10</a:t>
              </a:r>
              <a:r>
                <a:rPr lang="zh-CN" altLang="en-US" dirty="0">
                  <a:solidFill>
                    <a:schemeClr val="tx1"/>
                  </a:solidFill>
                  <a:latin typeface="微软雅黑" panose="020B0503020204020204" pitchFamily="34" charset="-122"/>
                  <a:ea typeface="微软雅黑" panose="020B0503020204020204" pitchFamily="34" charset="-122"/>
                </a:rPr>
                <a:t>行利用</a:t>
              </a:r>
              <a:r>
                <a:rPr lang="en-US" altLang="zh-CN" dirty="0" err="1">
                  <a:solidFill>
                    <a:schemeClr val="tx1"/>
                  </a:solidFill>
                  <a:latin typeface="微软雅黑" panose="020B0503020204020204" pitchFamily="34" charset="-122"/>
                  <a:ea typeface="微软雅黑" panose="020B0503020204020204" pitchFamily="34" charset="-122"/>
                </a:rPr>
                <a:t>grep</a:t>
              </a:r>
              <a:r>
                <a:rPr lang="zh-CN" altLang="en-US" dirty="0">
                  <a:solidFill>
                    <a:schemeClr val="tx1"/>
                  </a:solidFill>
                  <a:latin typeface="微软雅黑" panose="020B0503020204020204" pitchFamily="34" charset="-122"/>
                  <a:ea typeface="微软雅黑" panose="020B0503020204020204" pitchFamily="34" charset="-122"/>
                </a:rPr>
                <a:t>在指定的文件中搜索单词，同时将输出重定向到</a:t>
              </a:r>
              <a:r>
                <a:rPr lang="en-US" altLang="zh-CN" dirty="0">
                  <a:solidFill>
                    <a:schemeClr val="tx1"/>
                  </a:solidFill>
                  <a:latin typeface="微软雅黑" panose="020B0503020204020204" pitchFamily="34" charset="-122"/>
                  <a:ea typeface="微软雅黑" panose="020B0503020204020204" pitchFamily="34" charset="-122"/>
                </a:rPr>
                <a:t>/home/Stu/temp</a:t>
              </a:r>
              <a:r>
                <a:rPr lang="zh-CN" altLang="en-US" dirty="0">
                  <a:solidFill>
                    <a:schemeClr val="tx1"/>
                  </a:solidFill>
                  <a:latin typeface="微软雅黑" panose="020B0503020204020204" pitchFamily="34" charset="-122"/>
                  <a:ea typeface="微软雅黑" panose="020B0503020204020204" pitchFamily="34" charset="-122"/>
                </a:rPr>
                <a:t>中。如果</a:t>
              </a:r>
              <a:r>
                <a:rPr lang="en-US" altLang="zh-CN" dirty="0" err="1">
                  <a:solidFill>
                    <a:schemeClr val="tx1"/>
                  </a:solidFill>
                  <a:latin typeface="微软雅黑" panose="020B0503020204020204" pitchFamily="34" charset="-122"/>
                  <a:ea typeface="微软雅黑" panose="020B0503020204020204" pitchFamily="34" charset="-122"/>
                </a:rPr>
                <a:t>grep</a:t>
              </a:r>
              <a:r>
                <a:rPr lang="zh-CN" altLang="en-US" dirty="0">
                  <a:solidFill>
                    <a:schemeClr val="tx1"/>
                  </a:solidFill>
                  <a:latin typeface="微软雅黑" panose="020B0503020204020204" pitchFamily="34" charset="-122"/>
                  <a:ea typeface="微软雅黑" panose="020B0503020204020204" pitchFamily="34" charset="-122"/>
                </a:rPr>
                <a:t>命令找到了这个单词，那么就执行第</a:t>
              </a:r>
              <a:r>
                <a:rPr lang="en-US" altLang="zh-CN" dirty="0">
                  <a:solidFill>
                    <a:schemeClr val="tx1"/>
                  </a:solidFill>
                  <a:latin typeface="微软雅黑" panose="020B0503020204020204" pitchFamily="34" charset="-122"/>
                  <a:ea typeface="微软雅黑" panose="020B0503020204020204" pitchFamily="34" charset="-122"/>
                </a:rPr>
                <a:t>12</a:t>
              </a:r>
              <a:r>
                <a:rPr lang="zh-CN" altLang="en-US" dirty="0">
                  <a:solidFill>
                    <a:schemeClr val="tx1"/>
                  </a:solidFill>
                  <a:latin typeface="微软雅黑" panose="020B0503020204020204" pitchFamily="34" charset="-122"/>
                  <a:ea typeface="微软雅黑" panose="020B0503020204020204" pitchFamily="34" charset="-122"/>
                </a:rPr>
                <a:t>行的命令，显示“</a:t>
              </a:r>
              <a:r>
                <a:rPr lang="en-US" altLang="zh-CN" dirty="0">
                  <a:solidFill>
                    <a:schemeClr val="tx1"/>
                  </a:solidFill>
                  <a:latin typeface="微软雅黑" panose="020B0503020204020204" pitchFamily="34" charset="-122"/>
                  <a:ea typeface="微软雅黑" panose="020B0503020204020204" pitchFamily="34" charset="-122"/>
                </a:rPr>
                <a:t>The word was found</a:t>
              </a:r>
              <a:r>
                <a:rPr lang="zh-CN" altLang="en-US" dirty="0">
                  <a:solidFill>
                    <a:schemeClr val="tx1"/>
                  </a:solidFill>
                  <a:latin typeface="微软雅黑" panose="020B0503020204020204" pitchFamily="34" charset="-122"/>
                  <a:ea typeface="微软雅黑" panose="020B0503020204020204" pitchFamily="34" charset="-122"/>
                </a:rPr>
                <a:t>！”的信息；否则，就执行第</a:t>
              </a:r>
              <a:r>
                <a:rPr lang="en-US" altLang="zh-CN" dirty="0">
                  <a:solidFill>
                    <a:schemeClr val="tx1"/>
                  </a:solidFill>
                  <a:latin typeface="微软雅黑" panose="020B0503020204020204" pitchFamily="34" charset="-122"/>
                  <a:ea typeface="微软雅黑" panose="020B0503020204020204" pitchFamily="34" charset="-122"/>
                </a:rPr>
                <a:t>14</a:t>
              </a:r>
              <a:r>
                <a:rPr lang="zh-CN" altLang="en-US" dirty="0">
                  <a:solidFill>
                    <a:schemeClr val="tx1"/>
                  </a:solidFill>
                  <a:latin typeface="微软雅黑" panose="020B0503020204020204" pitchFamily="34" charset="-122"/>
                  <a:ea typeface="微软雅黑" panose="020B0503020204020204" pitchFamily="34" charset="-122"/>
                </a:rPr>
                <a:t>行的命令，显示“</a:t>
              </a:r>
              <a:r>
                <a:rPr lang="en-US" altLang="zh-CN" dirty="0">
                  <a:solidFill>
                    <a:schemeClr val="tx1"/>
                  </a:solidFill>
                  <a:latin typeface="微软雅黑" panose="020B0503020204020204" pitchFamily="34" charset="-122"/>
                  <a:ea typeface="微软雅黑" panose="020B0503020204020204" pitchFamily="34" charset="-122"/>
                </a:rPr>
                <a:t>The word was not found</a:t>
              </a:r>
              <a:r>
                <a:rPr lang="zh-CN" altLang="en-US" dirty="0">
                  <a:solidFill>
                    <a:schemeClr val="tx1"/>
                  </a:solidFill>
                  <a:latin typeface="微软雅黑" panose="020B0503020204020204" pitchFamily="34" charset="-122"/>
                  <a:ea typeface="微软雅黑" panose="020B0503020204020204" pitchFamily="34" charset="-122"/>
                </a:rPr>
                <a:t>！”信息后，执行</a:t>
              </a:r>
              <a:r>
                <a:rPr lang="en-US" altLang="zh-CN" dirty="0">
                  <a:solidFill>
                    <a:schemeClr val="tx1"/>
                  </a:solidFill>
                  <a:latin typeface="微软雅黑" panose="020B0503020204020204" pitchFamily="34" charset="-122"/>
                  <a:ea typeface="微软雅黑" panose="020B0503020204020204" pitchFamily="34" charset="-122"/>
                </a:rPr>
                <a:t>exit</a:t>
              </a:r>
              <a:r>
                <a:rPr lang="zh-CN" altLang="en-US" dirty="0">
                  <a:solidFill>
                    <a:schemeClr val="tx1"/>
                  </a:solidFill>
                  <a:latin typeface="微软雅黑" panose="020B0503020204020204" pitchFamily="34" charset="-122"/>
                  <a:ea typeface="微软雅黑" panose="020B0503020204020204" pitchFamily="34" charset="-122"/>
                </a:rPr>
                <a:t>命令，退出。</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Righ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930400"/>
            <a:ext cx="11149965" cy="456438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11" name="对角圆角矩形 10"/>
          <p:cNvSpPr/>
          <p:nvPr/>
        </p:nvSpPr>
        <p:spPr>
          <a:xfrm>
            <a:off x="529590" y="1310640"/>
            <a:ext cx="2718435" cy="557332"/>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2．调试bash脚本</a:t>
            </a:r>
          </a:p>
        </p:txBody>
      </p:sp>
      <p:grpSp>
        <p:nvGrpSpPr>
          <p:cNvPr id="6" name="组合 5"/>
          <p:cNvGrpSpPr/>
          <p:nvPr/>
        </p:nvGrpSpPr>
        <p:grpSpPr>
          <a:xfrm>
            <a:off x="1165225" y="2880360"/>
            <a:ext cx="9350375" cy="3482338"/>
            <a:chOff x="9065" y="2910"/>
            <a:chExt cx="8112" cy="6737"/>
          </a:xfrm>
        </p:grpSpPr>
        <p:grpSp>
          <p:nvGrpSpPr>
            <p:cNvPr id="7" name="组合 14"/>
            <p:cNvGrpSpPr/>
            <p:nvPr/>
          </p:nvGrpSpPr>
          <p:grpSpPr bwMode="auto">
            <a:xfrm>
              <a:off x="9101" y="2910"/>
              <a:ext cx="8076" cy="6737"/>
              <a:chOff x="1516325" y="1744647"/>
              <a:chExt cx="3713666" cy="1355421"/>
            </a:xfrm>
          </p:grpSpPr>
          <p:grpSp>
            <p:nvGrpSpPr>
              <p:cNvPr id="8" name="组合 12"/>
              <p:cNvGrpSpPr/>
              <p:nvPr/>
            </p:nvGrpSpPr>
            <p:grpSpPr bwMode="auto">
              <a:xfrm>
                <a:off x="1516325" y="1744647"/>
                <a:ext cx="3713666" cy="1355421"/>
                <a:chOff x="1516325" y="1744647"/>
                <a:chExt cx="3713666" cy="1355421"/>
              </a:xfrm>
            </p:grpSpPr>
            <p:sp>
              <p:nvSpPr>
                <p:cNvPr id="9" name="矩形 8"/>
                <p:cNvSpPr/>
                <p:nvPr/>
              </p:nvSpPr>
              <p:spPr>
                <a:xfrm>
                  <a:off x="1516325" y="1744647"/>
                  <a:ext cx="3713666" cy="1355421"/>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 name="矩形 6"/>
                <p:cNvSpPr>
                  <a:spLocks noChangeArrowheads="1"/>
                </p:cNvSpPr>
                <p:nvPr/>
              </p:nvSpPr>
              <p:spPr bwMode="auto">
                <a:xfrm>
                  <a:off x="1516325" y="1744647"/>
                  <a:ext cx="3469031" cy="17795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通过命令</a:t>
                  </a:r>
                </a:p>
              </p:txBody>
            </p:sp>
          </p:grpSp>
          <p:sp>
            <p:nvSpPr>
              <p:cNvPr id="15" name="MH_Text_1"/>
              <p:cNvSpPr txBox="1">
                <a:spLocks noChangeArrowheads="1"/>
              </p:cNvSpPr>
              <p:nvPr>
                <p:custDataLst>
                  <p:tags r:id="rId2"/>
                </p:custDataLst>
              </p:nvPr>
            </p:nvSpPr>
            <p:spPr bwMode="auto">
              <a:xfrm>
                <a:off x="1603741" y="1897194"/>
                <a:ext cx="3525207" cy="184561"/>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-x  /home/Stu/search  文件名指定的单词</a:t>
                </a:r>
              </a:p>
            </p:txBody>
          </p:sp>
        </p:grpSp>
        <p:sp>
          <p:nvSpPr>
            <p:cNvPr id="16" name="Text Box 44"/>
            <p:cNvSpPr txBox="1">
              <a:spLocks noChangeArrowheads="1"/>
            </p:cNvSpPr>
            <p:nvPr/>
          </p:nvSpPr>
          <p:spPr bwMode="auto">
            <a:xfrm>
              <a:off x="9065" y="6582"/>
              <a:ext cx="7996" cy="3007"/>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r>
                <a:rPr lang="zh-CN" altLang="en-US" sz="2000" dirty="0">
                  <a:solidFill>
                    <a:schemeClr val="tx1">
                      <a:lumMod val="85000"/>
                      <a:lumOff val="15000"/>
                    </a:schemeClr>
                  </a:solidFill>
                </a:rPr>
                <a:t>跟踪脚本程序的</a:t>
              </a:r>
              <a:r>
                <a:rPr lang="zh-CN" altLang="en-US" sz="2000" b="1" dirty="0">
                  <a:solidFill>
                    <a:srgbClr val="0070C0"/>
                  </a:solidFill>
                </a:rPr>
                <a:t>执行过程</a:t>
              </a:r>
              <a:r>
                <a:rPr lang="zh-CN" altLang="en-US" sz="2000" dirty="0">
                  <a:solidFill>
                    <a:schemeClr val="tx1">
                      <a:lumMod val="85000"/>
                      <a:lumOff val="15000"/>
                    </a:schemeClr>
                  </a:solidFill>
                </a:rPr>
                <a:t>，对脚本进行</a:t>
              </a:r>
              <a:r>
                <a:rPr lang="zh-CN" altLang="en-US" sz="2000" b="1" dirty="0">
                  <a:solidFill>
                    <a:srgbClr val="0070C0"/>
                  </a:solidFill>
                </a:rPr>
                <a:t>调试</a:t>
              </a:r>
              <a:r>
                <a:rPr lang="zh-CN" altLang="en-US" sz="2000" dirty="0">
                  <a:solidFill>
                    <a:schemeClr val="tx1">
                      <a:lumMod val="85000"/>
                      <a:lumOff val="15000"/>
                    </a:schemeClr>
                  </a:solidFill>
                </a:rPr>
                <a:t>。如有错误，则可以进一步修改，直到调试后，无错误出现，即可结束调试。使用这种命令形式，可以同时完成脚本的</a:t>
              </a:r>
              <a:r>
                <a:rPr lang="zh-CN" altLang="en-US" sz="2000" b="1" dirty="0">
                  <a:solidFill>
                    <a:srgbClr val="0070C0"/>
                  </a:solidFill>
                </a:rPr>
                <a:t>调试和执行</a:t>
              </a:r>
              <a:r>
                <a:rPr lang="zh-CN" altLang="en-US" sz="2000" dirty="0">
                  <a:solidFill>
                    <a:schemeClr val="tx1">
                      <a:lumMod val="85000"/>
                      <a:lumOff val="15000"/>
                    </a:schemeClr>
                  </a:solidFill>
                </a:rPr>
                <a:t>。</a:t>
              </a:r>
            </a:p>
          </p:txBody>
        </p:sp>
        <p:sp>
          <p:nvSpPr>
            <p:cNvPr id="17" name="矩形 6"/>
            <p:cNvSpPr>
              <a:spLocks noChangeArrowheads="1"/>
            </p:cNvSpPr>
            <p:nvPr/>
          </p:nvSpPr>
          <p:spPr bwMode="auto">
            <a:xfrm>
              <a:off x="9291" y="4586"/>
              <a:ext cx="7544" cy="88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或</a:t>
              </a:r>
            </a:p>
          </p:txBody>
        </p:sp>
        <p:sp>
          <p:nvSpPr>
            <p:cNvPr id="18" name="MH_Text_1"/>
            <p:cNvSpPr txBox="1">
              <a:spLocks noChangeArrowheads="1"/>
            </p:cNvSpPr>
            <p:nvPr>
              <p:custDataLst>
                <p:tags r:id="rId1"/>
              </p:custDataLst>
            </p:nvPr>
          </p:nvSpPr>
          <p:spPr bwMode="auto">
            <a:xfrm>
              <a:off x="9230" y="5437"/>
              <a:ext cx="7666" cy="1076"/>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$/bin/bash  -v  /home/Stu/search  文件名指定的单词</a:t>
              </a:r>
            </a:p>
          </p:txBody>
        </p:sp>
      </p:grpSp>
      <p:sp>
        <p:nvSpPr>
          <p:cNvPr id="4" name="圆角矩形 3"/>
          <p:cNvSpPr/>
          <p:nvPr/>
        </p:nvSpPr>
        <p:spPr>
          <a:xfrm>
            <a:off x="1189355" y="1992630"/>
            <a:ext cx="9313545" cy="67691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eaLnBrk="1" latinLnBrk="0" hangingPunct="1">
              <a:lnSpc>
                <a:spcPct val="16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调试该脚本时，还应给出两个参数，即被搜索的文件名和要查找的指定的单词。</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P spid="4" grpId="0" animBg="1"/>
      <p:bldP spid="4" grpId="1" animBg="1"/>
      <p:bldP spid="4" grpId="2"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993900"/>
            <a:ext cx="11149965" cy="4500880"/>
          </a:xfrm>
          <a:prstGeom prst="roundRect">
            <a:avLst>
              <a:gd name="adj" fmla="val 6232"/>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indent="457200" algn="l" eaLnBrk="1" latinLnBrk="0" hangingPunct="1">
              <a:lnSpc>
                <a:spcPct val="150000"/>
              </a:lnSpc>
              <a:spcBef>
                <a:spcPct val="0"/>
              </a:spcBef>
              <a:spcAft>
                <a:spcPct val="0"/>
              </a:spcAft>
              <a:defRPr/>
            </a:pPr>
            <a:endParaRPr lang="zh-CN" altLang="en-US" sz="2400" kern="0">
              <a:latin typeface="微软雅黑" panose="020B0503020204020204" pitchFamily="34" charset="-122"/>
              <a:ea typeface="微软雅黑" panose="020B0503020204020204" pitchFamily="34" charset="-122"/>
            </a:endParaRPr>
          </a:p>
        </p:txBody>
      </p:sp>
      <p:sp>
        <p:nvSpPr>
          <p:cNvPr id="11" name="对角圆角矩形 10"/>
          <p:cNvSpPr/>
          <p:nvPr/>
        </p:nvSpPr>
        <p:spPr>
          <a:xfrm>
            <a:off x="540385" y="1277620"/>
            <a:ext cx="2718435" cy="557332"/>
          </a:xfrm>
          <a:prstGeom prst="round2DiagRect">
            <a:avLst/>
          </a:prstGeom>
          <a:ln>
            <a:solidFill>
              <a:srgbClr val="3399FF"/>
            </a:solidFill>
            <a:prstDash val="sysDash"/>
          </a:ln>
        </p:spPr>
        <p:style>
          <a:lnRef idx="2">
            <a:schemeClr val="accent5"/>
          </a:lnRef>
          <a:fillRef idx="1">
            <a:schemeClr val="lt1"/>
          </a:fillRef>
          <a:effectRef idx="0">
            <a:schemeClr val="accent5"/>
          </a:effectRef>
          <a:fontRef idx="minor">
            <a:schemeClr val="dk1"/>
          </a:fontRef>
        </p:style>
        <p:txBody>
          <a:bodyPr wrap="square">
            <a:spAutoFit/>
          </a:bodyPr>
          <a:lstStyle/>
          <a:p>
            <a:pPr marL="285750" indent="-285750">
              <a:lnSpc>
                <a:spcPct val="135000"/>
              </a:lnSpc>
              <a:buFont typeface="Wingdings" panose="05000000000000000000" pitchFamily="2" charset="2"/>
              <a:buChar char="u"/>
            </a:pPr>
            <a:r>
              <a:rPr lang="zh-CN" altLang="zh-CN" sz="2000" b="1" dirty="0">
                <a:solidFill>
                  <a:srgbClr val="3399FF"/>
                </a:solidFill>
                <a:latin typeface="微软雅黑" panose="020B0503020204020204" pitchFamily="34" charset="-122"/>
                <a:ea typeface="微软雅黑" panose="020B0503020204020204" pitchFamily="34" charset="-122"/>
              </a:rPr>
              <a:t>3．执行bash脚本</a:t>
            </a:r>
          </a:p>
        </p:txBody>
      </p:sp>
      <p:grpSp>
        <p:nvGrpSpPr>
          <p:cNvPr id="6" name="组合 5"/>
          <p:cNvGrpSpPr/>
          <p:nvPr/>
        </p:nvGrpSpPr>
        <p:grpSpPr>
          <a:xfrm>
            <a:off x="950595" y="2128434"/>
            <a:ext cx="9971405" cy="2622113"/>
            <a:chOff x="9101" y="2911"/>
            <a:chExt cx="7176" cy="4779"/>
          </a:xfrm>
        </p:grpSpPr>
        <p:grpSp>
          <p:nvGrpSpPr>
            <p:cNvPr id="7" name="组合 14"/>
            <p:cNvGrpSpPr/>
            <p:nvPr/>
          </p:nvGrpSpPr>
          <p:grpSpPr bwMode="auto">
            <a:xfrm>
              <a:off x="9101" y="2911"/>
              <a:ext cx="7175" cy="4779"/>
              <a:chOff x="1516325" y="1744446"/>
              <a:chExt cx="3299463" cy="961451"/>
            </a:xfrm>
          </p:grpSpPr>
          <p:grpSp>
            <p:nvGrpSpPr>
              <p:cNvPr id="8" name="组合 12"/>
              <p:cNvGrpSpPr/>
              <p:nvPr/>
            </p:nvGrpSpPr>
            <p:grpSpPr bwMode="auto">
              <a:xfrm>
                <a:off x="1516325" y="1744446"/>
                <a:ext cx="3299463" cy="961451"/>
                <a:chOff x="1516325" y="1744446"/>
                <a:chExt cx="3299463" cy="961451"/>
              </a:xfrm>
            </p:grpSpPr>
            <p:sp>
              <p:nvSpPr>
                <p:cNvPr id="9" name="矩形 8"/>
                <p:cNvSpPr/>
                <p:nvPr/>
              </p:nvSpPr>
              <p:spPr>
                <a:xfrm>
                  <a:off x="1516325" y="1744446"/>
                  <a:ext cx="3299463" cy="961451"/>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0" name="矩形 6"/>
                <p:cNvSpPr>
                  <a:spLocks noChangeArrowheads="1"/>
                </p:cNvSpPr>
                <p:nvPr/>
              </p:nvSpPr>
              <p:spPr bwMode="auto">
                <a:xfrm>
                  <a:off x="1516325" y="1744647"/>
                  <a:ext cx="3148991" cy="16764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方法一</a:t>
                  </a:r>
                </a:p>
              </p:txBody>
            </p:sp>
          </p:grpSp>
          <p:sp>
            <p:nvSpPr>
              <p:cNvPr id="15" name="MH_Text_1"/>
              <p:cNvSpPr txBox="1">
                <a:spLocks noChangeArrowheads="1"/>
              </p:cNvSpPr>
              <p:nvPr>
                <p:custDataLst>
                  <p:tags r:id="rId3"/>
                </p:custDataLst>
              </p:nvPr>
            </p:nvSpPr>
            <p:spPr bwMode="auto">
              <a:xfrm>
                <a:off x="1603696" y="1897160"/>
                <a:ext cx="3061621" cy="265909"/>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$chmod  u+x  /home/Stu/search </a:t>
                </a:r>
              </a:p>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a:t>
                </a:r>
                <a:r>
                  <a:rPr lang="en-US" altLang="zh-CN" sz="1800" b="1" dirty="0">
                    <a:solidFill>
                      <a:srgbClr val="0070C0"/>
                    </a:solidFill>
                    <a:latin typeface="微软雅黑" panose="020B0503020204020204" pitchFamily="34" charset="-122"/>
                    <a:ea typeface="微软雅黑" panose="020B0503020204020204" pitchFamily="34" charset="-122"/>
                    <a:cs typeface="+mn-cs"/>
                    <a:sym typeface="+mn-ea"/>
                  </a:rPr>
                  <a:t>.</a:t>
                </a: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/home/Stu/search  文件名 指定的单词</a:t>
                </a:r>
              </a:p>
            </p:txBody>
          </p:sp>
        </p:grpSp>
        <p:sp>
          <p:nvSpPr>
            <p:cNvPr id="16" name="Text Box 44"/>
            <p:cNvSpPr txBox="1">
              <a:spLocks noChangeArrowheads="1"/>
            </p:cNvSpPr>
            <p:nvPr/>
          </p:nvSpPr>
          <p:spPr bwMode="auto">
            <a:xfrm>
              <a:off x="9101" y="6340"/>
              <a:ext cx="7176" cy="874"/>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eaLnBrk="1" latinLnBrk="0" hangingPunct="1">
                <a:lnSpc>
                  <a:spcPct val="160000"/>
                </a:lnSpc>
              </a:pPr>
              <a:endParaRPr lang="zh-CN" altLang="en-US" sz="1800" b="1" dirty="0">
                <a:solidFill>
                  <a:srgbClr val="009900"/>
                </a:solidFill>
              </a:endParaRPr>
            </a:p>
          </p:txBody>
        </p:sp>
        <p:sp>
          <p:nvSpPr>
            <p:cNvPr id="17" name="矩形 6"/>
            <p:cNvSpPr>
              <a:spLocks noChangeArrowheads="1"/>
            </p:cNvSpPr>
            <p:nvPr/>
          </p:nvSpPr>
          <p:spPr bwMode="auto">
            <a:xfrm>
              <a:off x="9291" y="5068"/>
              <a:ext cx="6658" cy="1380"/>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华康俪金黑W8(P)"/>
                </a:rPr>
                <a:t>首先，设置脚本的</a:t>
              </a:r>
              <a:r>
                <a:rPr lang="zh-CN" altLang="en-US" sz="1800" b="1" dirty="0">
                  <a:solidFill>
                    <a:srgbClr val="0070C0"/>
                  </a:solidFill>
                  <a:latin typeface="微软雅黑" panose="020B0503020204020204" pitchFamily="34" charset="-122"/>
                  <a:ea typeface="微软雅黑" panose="020B0503020204020204" pitchFamily="34" charset="-122"/>
                  <a:cs typeface="华康俪金黑W8(P)"/>
                </a:rPr>
                <a:t>访问权限为可执行</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华康俪金黑W8(P)"/>
                </a:rPr>
                <a:t>，然后执行该脚本（需传递两个参数，即文件名和指定的单词）。</a:t>
              </a:r>
            </a:p>
          </p:txBody>
        </p:sp>
        <p:sp>
          <p:nvSpPr>
            <p:cNvPr id="18" name="MH_Text_1"/>
            <p:cNvSpPr txBox="1">
              <a:spLocks noChangeArrowheads="1"/>
            </p:cNvSpPr>
            <p:nvPr>
              <p:custDataLst>
                <p:tags r:id="rId2"/>
              </p:custDataLst>
            </p:nvPr>
          </p:nvSpPr>
          <p:spPr bwMode="auto">
            <a:xfrm>
              <a:off x="9248" y="6370"/>
              <a:ext cx="6741" cy="1076"/>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$．search   文件名 指定的单词</a:t>
              </a:r>
            </a:p>
          </p:txBody>
        </p:sp>
      </p:grpSp>
      <p:grpSp>
        <p:nvGrpSpPr>
          <p:cNvPr id="3" name="组合 2"/>
          <p:cNvGrpSpPr/>
          <p:nvPr/>
        </p:nvGrpSpPr>
        <p:grpSpPr>
          <a:xfrm>
            <a:off x="983614" y="4894493"/>
            <a:ext cx="9963785" cy="1519678"/>
            <a:chOff x="9101" y="2911"/>
            <a:chExt cx="7175" cy="2770"/>
          </a:xfrm>
        </p:grpSpPr>
        <p:grpSp>
          <p:nvGrpSpPr>
            <p:cNvPr id="4" name="组合 14"/>
            <p:cNvGrpSpPr/>
            <p:nvPr/>
          </p:nvGrpSpPr>
          <p:grpSpPr bwMode="auto">
            <a:xfrm>
              <a:off x="9101" y="2911"/>
              <a:ext cx="7175" cy="2770"/>
              <a:chOff x="1516325" y="1744647"/>
              <a:chExt cx="3299592" cy="557198"/>
            </a:xfrm>
          </p:grpSpPr>
          <p:grpSp>
            <p:nvGrpSpPr>
              <p:cNvPr id="5" name="组合 12"/>
              <p:cNvGrpSpPr/>
              <p:nvPr/>
            </p:nvGrpSpPr>
            <p:grpSpPr bwMode="auto">
              <a:xfrm>
                <a:off x="1516325" y="1744647"/>
                <a:ext cx="3299592" cy="557198"/>
                <a:chOff x="1516325" y="1744647"/>
                <a:chExt cx="3299592" cy="557198"/>
              </a:xfrm>
            </p:grpSpPr>
            <p:sp>
              <p:nvSpPr>
                <p:cNvPr id="12" name="矩形 11"/>
                <p:cNvSpPr/>
                <p:nvPr/>
              </p:nvSpPr>
              <p:spPr>
                <a:xfrm>
                  <a:off x="1516325" y="1744647"/>
                  <a:ext cx="3299592" cy="557198"/>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3" name="矩形 6"/>
                <p:cNvSpPr>
                  <a:spLocks noChangeArrowheads="1"/>
                </p:cNvSpPr>
                <p:nvPr/>
              </p:nvSpPr>
              <p:spPr bwMode="auto">
                <a:xfrm>
                  <a:off x="1516325" y="1744647"/>
                  <a:ext cx="3148991" cy="16764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方法二</a:t>
                  </a:r>
                </a:p>
              </p:txBody>
            </p:sp>
          </p:grpSp>
          <p:sp>
            <p:nvSpPr>
              <p:cNvPr id="19" name="MH_Text_1"/>
              <p:cNvSpPr txBox="1">
                <a:spLocks noChangeArrowheads="1"/>
              </p:cNvSpPr>
              <p:nvPr>
                <p:custDataLst>
                  <p:tags r:id="rId1"/>
                </p:custDataLst>
              </p:nvPr>
            </p:nvSpPr>
            <p:spPr bwMode="auto">
              <a:xfrm>
                <a:off x="1565735" y="1937677"/>
                <a:ext cx="3212443" cy="186276"/>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$bash   /home/Stu/search  文件名 指定的单词</a:t>
                </a:r>
              </a:p>
            </p:txBody>
          </p:sp>
        </p:grpSp>
        <p:sp>
          <p:nvSpPr>
            <p:cNvPr id="21" name="矩形 6"/>
            <p:cNvSpPr>
              <a:spLocks noChangeArrowheads="1"/>
            </p:cNvSpPr>
            <p:nvPr/>
          </p:nvSpPr>
          <p:spPr bwMode="auto">
            <a:xfrm>
              <a:off x="9253" y="4861"/>
              <a:ext cx="6658" cy="766"/>
            </a:xfrm>
            <a:prstGeom prst="rect">
              <a:avLst/>
            </a:prstGeom>
            <a:noFill/>
            <a:ln w="9525">
              <a:noFill/>
              <a:miter lim="800000"/>
            </a:ln>
          </p:spPr>
          <p:txBody>
            <a:bodyPr wrap="square">
              <a:spAutoFit/>
            </a:bodyPr>
            <a:lstStyle/>
            <a:p>
              <a:pPr indent="457200" eaLnBrk="1" latinLnBrk="0" hangingPunct="1">
                <a:lnSpc>
                  <a:spcPct val="120000"/>
                </a:lnSpc>
                <a:spcAft>
                  <a:spcPts val="500"/>
                </a:spcAft>
                <a:buFont typeface="Arial" panose="020B0604020202020204" pitchFamily="34" charset="0"/>
                <a:buNone/>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华康俪金黑W8(P)"/>
                </a:rPr>
                <a:t>直接由bash执行该脚本。</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downRight)">
                                      <p:cBhvr>
                                        <p:cTn id="11" dur="500"/>
                                        <p:tgtEl>
                                          <p:spTgt spid="6"/>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7477092" y="2489200"/>
            <a:ext cx="4714908" cy="3421631"/>
          </a:xfrm>
          <a:prstGeom prst="rect">
            <a:avLst/>
          </a:prstGeom>
          <a:noFill/>
          <a:ln w="9525">
            <a:noFill/>
            <a:miter lim="800000"/>
            <a:headEnd/>
            <a:tailEnd/>
          </a:ln>
          <a:effectLst/>
        </p:spPr>
      </p:pic>
      <p:sp>
        <p:nvSpPr>
          <p:cNvPr id="5" name="深色1"/>
          <p:cNvSpPr/>
          <p:nvPr/>
        </p:nvSpPr>
        <p:spPr>
          <a:xfrm>
            <a:off x="-8478" y="1855808"/>
            <a:ext cx="2662394" cy="4430712"/>
          </a:xfrm>
          <a:custGeom>
            <a:avLst/>
            <a:gdLst/>
            <a:ahLst/>
            <a:cxnLst/>
            <a:rect l="l" t="t" r="r" b="b"/>
            <a:pathLst>
              <a:path w="2662394" h="4430712">
                <a:moveTo>
                  <a:pt x="0" y="0"/>
                </a:moveTo>
                <a:lnTo>
                  <a:pt x="945429" y="0"/>
                </a:lnTo>
                <a:lnTo>
                  <a:pt x="2662394" y="4430712"/>
                </a:lnTo>
                <a:lnTo>
                  <a:pt x="0" y="4430712"/>
                </a:lnTo>
                <a:close/>
              </a:path>
            </a:pathLst>
          </a:custGeom>
          <a:solidFill>
            <a:schemeClr val="accent2">
              <a:lumMod val="40000"/>
              <a:lumOff val="60000"/>
            </a:schemeClr>
          </a:solidFill>
          <a:ln w="25400" cap="flat" cmpd="sng" algn="ctr">
            <a:noFill/>
            <a:prstDash val="solid"/>
          </a:ln>
          <a:effectLst>
            <a:outerShdw blurRad="50800" dist="38100" algn="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b="1" kern="0">
              <a:solidFill>
                <a:sysClr val="window" lastClr="FFFFFF"/>
              </a:solidFill>
              <a:latin typeface="Calibri" panose="020F0502020204030204"/>
              <a:ea typeface="微软雅黑" panose="020B0503020204020204" pitchFamily="34" charset="-122"/>
            </a:endParaRPr>
          </a:p>
        </p:txBody>
      </p:sp>
      <p:grpSp>
        <p:nvGrpSpPr>
          <p:cNvPr id="6" name="文本 1"/>
          <p:cNvGrpSpPr/>
          <p:nvPr/>
        </p:nvGrpSpPr>
        <p:grpSpPr>
          <a:xfrm>
            <a:off x="1371028" y="2010080"/>
            <a:ext cx="8014271" cy="447675"/>
            <a:chOff x="1372616" y="1095532"/>
            <a:chExt cx="6653478" cy="447675"/>
          </a:xfrm>
        </p:grpSpPr>
        <p:cxnSp>
          <p:nvCxnSpPr>
            <p:cNvPr id="7" name="直接连接符 6"/>
            <p:cNvCxnSpPr/>
            <p:nvPr/>
          </p:nvCxnSpPr>
          <p:spPr>
            <a:xfrm>
              <a:off x="1372616" y="1543001"/>
              <a:ext cx="6582098" cy="0"/>
            </a:xfrm>
            <a:prstGeom prst="line">
              <a:avLst/>
            </a:prstGeom>
            <a:noFill/>
            <a:ln w="9525" cap="flat" cmpd="sng" algn="ctr">
              <a:solidFill>
                <a:srgbClr val="C5C5C5"/>
              </a:solidFill>
              <a:prstDash val="solid"/>
            </a:ln>
            <a:effectLst/>
          </p:spPr>
        </p:cxnSp>
        <p:sp>
          <p:nvSpPr>
            <p:cNvPr id="9" name="TextBox 8"/>
            <p:cNvSpPr txBox="1"/>
            <p:nvPr/>
          </p:nvSpPr>
          <p:spPr bwMode="auto">
            <a:xfrm>
              <a:off x="1382360" y="1095532"/>
              <a:ext cx="6643734" cy="447675"/>
            </a:xfrm>
            <a:prstGeom prst="rect">
              <a:avLst/>
            </a:prstGeom>
            <a:noFill/>
          </p:spPr>
          <p:txBody>
            <a:bodyPr wrap="square">
              <a:spAutoFit/>
            </a:bodyPr>
            <a:lstStyle/>
            <a:p>
              <a:pPr>
                <a:lnSpc>
                  <a:spcPct val="130000"/>
                </a:lnSpc>
                <a:defRPr/>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1</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什么是shell？Red Hat Linux系统默认的是哪一种shell?</a:t>
              </a:r>
              <a:endParaRPr lang="zh-CN" altLang="en-US" sz="1800" kern="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grpSp>
        <p:nvGrpSpPr>
          <p:cNvPr id="10" name="文本 2"/>
          <p:cNvGrpSpPr/>
          <p:nvPr/>
        </p:nvGrpSpPr>
        <p:grpSpPr>
          <a:xfrm>
            <a:off x="1452530" y="2571744"/>
            <a:ext cx="6715172" cy="500066"/>
            <a:chOff x="1454117" y="1715600"/>
            <a:chExt cx="6715172" cy="500066"/>
          </a:xfrm>
        </p:grpSpPr>
        <p:cxnSp>
          <p:nvCxnSpPr>
            <p:cNvPr id="4" name="直接连接符 3"/>
            <p:cNvCxnSpPr/>
            <p:nvPr/>
          </p:nvCxnSpPr>
          <p:spPr>
            <a:xfrm>
              <a:off x="1594071" y="2215666"/>
              <a:ext cx="6359924" cy="0"/>
            </a:xfrm>
            <a:prstGeom prst="line">
              <a:avLst/>
            </a:prstGeom>
            <a:noFill/>
            <a:ln w="9525" cap="flat" cmpd="sng" algn="ctr">
              <a:solidFill>
                <a:srgbClr val="C5C5C5"/>
              </a:solidFill>
              <a:prstDash val="solid"/>
            </a:ln>
            <a:effectLst/>
          </p:spPr>
        </p:cxnSp>
        <p:sp>
          <p:nvSpPr>
            <p:cNvPr id="8" name="TextBox 11"/>
            <p:cNvSpPr txBox="1"/>
            <p:nvPr/>
          </p:nvSpPr>
          <p:spPr bwMode="auto">
            <a:xfrm>
              <a:off x="1454117" y="1715600"/>
              <a:ext cx="6715172" cy="447675"/>
            </a:xfrm>
            <a:prstGeom prst="rect">
              <a:avLst/>
            </a:prstGeom>
            <a:noFill/>
          </p:spPr>
          <p:txBody>
            <a:bodyPr wrap="square">
              <a:spAutoFit/>
            </a:bodyPr>
            <a:lstStyle/>
            <a:p>
              <a:pPr>
                <a:lnSpc>
                  <a:spcPct val="130000"/>
                </a:lnSpc>
                <a:defRPr/>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2．shell的主要功能是什么？bash有什么特点？</a:t>
              </a:r>
              <a:endParaRPr lang="zh-CN" altLang="en-US" sz="1800" kern="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grpSp>
        <p:nvGrpSpPr>
          <p:cNvPr id="13" name="文本 3"/>
          <p:cNvGrpSpPr/>
          <p:nvPr/>
        </p:nvGrpSpPr>
        <p:grpSpPr>
          <a:xfrm>
            <a:off x="1809750" y="3156585"/>
            <a:ext cx="6286500" cy="447675"/>
            <a:chOff x="1811307" y="2585890"/>
            <a:chExt cx="6286544" cy="780534"/>
          </a:xfrm>
        </p:grpSpPr>
        <p:cxnSp>
          <p:nvCxnSpPr>
            <p:cNvPr id="14" name="直接连接符 13"/>
            <p:cNvCxnSpPr/>
            <p:nvPr/>
          </p:nvCxnSpPr>
          <p:spPr>
            <a:xfrm>
              <a:off x="1820289" y="3358674"/>
              <a:ext cx="6133706" cy="0"/>
            </a:xfrm>
            <a:prstGeom prst="line">
              <a:avLst/>
            </a:prstGeom>
            <a:noFill/>
            <a:ln w="9525" cap="flat" cmpd="sng" algn="ctr">
              <a:solidFill>
                <a:srgbClr val="C5C5C5"/>
              </a:solidFill>
              <a:prstDash val="solid"/>
            </a:ln>
            <a:effectLst/>
          </p:spPr>
        </p:cxnSp>
        <p:sp>
          <p:nvSpPr>
            <p:cNvPr id="15" name="TextBox 14"/>
            <p:cNvSpPr txBox="1"/>
            <p:nvPr/>
          </p:nvSpPr>
          <p:spPr bwMode="auto">
            <a:xfrm>
              <a:off x="1811307" y="2585890"/>
              <a:ext cx="6286544" cy="780534"/>
            </a:xfrm>
            <a:prstGeom prst="rect">
              <a:avLst/>
            </a:prstGeom>
            <a:noFill/>
          </p:spPr>
          <p:txBody>
            <a:bodyPr wrap="square">
              <a:spAutoFit/>
            </a:bodyPr>
            <a:lstStyle/>
            <a:p>
              <a:pPr>
                <a:lnSpc>
                  <a:spcPct val="130000"/>
                </a:lnSpc>
                <a:defRPr/>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3．执行shell脚本的方式主要是什么？</a:t>
              </a:r>
              <a:endParaRPr lang="zh-CN" altLang="en-US" sz="1800" kern="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sp>
        <p:nvSpPr>
          <p:cNvPr id="21" name="TextBox 20"/>
          <p:cNvSpPr txBox="1"/>
          <p:nvPr/>
        </p:nvSpPr>
        <p:spPr bwMode="auto">
          <a:xfrm>
            <a:off x="2131033" y="3679753"/>
            <a:ext cx="5643602" cy="447675"/>
          </a:xfrm>
          <a:prstGeom prst="rect">
            <a:avLst/>
          </a:prstGeom>
          <a:noFill/>
        </p:spPr>
        <p:txBody>
          <a:bodyPr wrap="square">
            <a:spAutoFit/>
          </a:bodyPr>
          <a:lstStyle/>
          <a:p>
            <a:pPr>
              <a:lnSpc>
                <a:spcPct val="13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4．什么是重定向？什么是管道？</a:t>
            </a:r>
            <a:endParaRPr lang="zh-CN" altLang="en-US" sz="1800" kern="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cxnSp>
        <p:nvCxnSpPr>
          <p:cNvPr id="24" name="直接连接符 23"/>
          <p:cNvCxnSpPr/>
          <p:nvPr/>
        </p:nvCxnSpPr>
        <p:spPr>
          <a:xfrm>
            <a:off x="2272882" y="4210697"/>
            <a:ext cx="5471722" cy="0"/>
          </a:xfrm>
          <a:prstGeom prst="line">
            <a:avLst/>
          </a:prstGeom>
          <a:noFill/>
          <a:ln w="9525" cap="flat" cmpd="sng" algn="ctr">
            <a:solidFill>
              <a:srgbClr val="C5C5C5"/>
            </a:solidFill>
            <a:prstDash val="solid"/>
          </a:ln>
          <a:effectLst/>
        </p:spPr>
      </p:cxnSp>
      <p:grpSp>
        <p:nvGrpSpPr>
          <p:cNvPr id="26" name="文本 7"/>
          <p:cNvGrpSpPr/>
          <p:nvPr/>
        </p:nvGrpSpPr>
        <p:grpSpPr>
          <a:xfrm>
            <a:off x="2350770" y="4358640"/>
            <a:ext cx="5315585" cy="447675"/>
            <a:chOff x="2710872" y="4644558"/>
            <a:chExt cx="5315540" cy="1302512"/>
          </a:xfrm>
        </p:grpSpPr>
        <p:cxnSp>
          <p:nvCxnSpPr>
            <p:cNvPr id="27" name="直接连接符 26"/>
            <p:cNvCxnSpPr/>
            <p:nvPr/>
          </p:nvCxnSpPr>
          <p:spPr>
            <a:xfrm>
              <a:off x="2710872" y="5716128"/>
              <a:ext cx="5243123" cy="0"/>
            </a:xfrm>
            <a:prstGeom prst="line">
              <a:avLst/>
            </a:prstGeom>
            <a:noFill/>
            <a:ln w="9525" cap="flat" cmpd="sng" algn="ctr">
              <a:solidFill>
                <a:srgbClr val="C5C5C5"/>
              </a:solidFill>
              <a:prstDash val="solid"/>
            </a:ln>
            <a:effectLst/>
          </p:spPr>
        </p:cxnSp>
        <p:sp>
          <p:nvSpPr>
            <p:cNvPr id="28" name="TextBox 27"/>
            <p:cNvSpPr txBox="1"/>
            <p:nvPr/>
          </p:nvSpPr>
          <p:spPr bwMode="auto">
            <a:xfrm>
              <a:off x="2740000" y="4644558"/>
              <a:ext cx="5286412" cy="1302512"/>
            </a:xfrm>
            <a:prstGeom prst="rect">
              <a:avLst/>
            </a:prstGeom>
            <a:noFill/>
          </p:spPr>
          <p:txBody>
            <a:bodyPr wrap="square">
              <a:spAutoFit/>
            </a:bodyPr>
            <a:lstStyle/>
            <a:p>
              <a:pPr>
                <a:lnSpc>
                  <a:spcPct val="13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5．说明三种引号的作用，以及有什么区别？</a:t>
              </a:r>
              <a:endParaRPr lang="zh-CN" altLang="en-US" sz="1800" kern="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grpSp>
        <p:nvGrpSpPr>
          <p:cNvPr id="17" name="文本 7"/>
          <p:cNvGrpSpPr/>
          <p:nvPr/>
        </p:nvGrpSpPr>
        <p:grpSpPr>
          <a:xfrm>
            <a:off x="2477770" y="4988560"/>
            <a:ext cx="5315585" cy="803910"/>
            <a:chOff x="2710872" y="4644558"/>
            <a:chExt cx="5315540" cy="1156268"/>
          </a:xfrm>
        </p:grpSpPr>
        <p:cxnSp>
          <p:nvCxnSpPr>
            <p:cNvPr id="18" name="直接连接符 17"/>
            <p:cNvCxnSpPr/>
            <p:nvPr/>
          </p:nvCxnSpPr>
          <p:spPr>
            <a:xfrm>
              <a:off x="2710872" y="5716128"/>
              <a:ext cx="5243123" cy="0"/>
            </a:xfrm>
            <a:prstGeom prst="line">
              <a:avLst/>
            </a:prstGeom>
            <a:noFill/>
            <a:ln w="9525" cap="flat" cmpd="sng" algn="ctr">
              <a:solidFill>
                <a:srgbClr val="C5C5C5"/>
              </a:solidFill>
              <a:prstDash val="solid"/>
            </a:ln>
            <a:effectLst/>
          </p:spPr>
        </p:cxnSp>
        <p:sp>
          <p:nvSpPr>
            <p:cNvPr id="19" name="TextBox 27"/>
            <p:cNvSpPr txBox="1"/>
            <p:nvPr/>
          </p:nvSpPr>
          <p:spPr bwMode="auto">
            <a:xfrm>
              <a:off x="2740000" y="4644558"/>
              <a:ext cx="5286412" cy="1156268"/>
            </a:xfrm>
            <a:prstGeom prst="rect">
              <a:avLst/>
            </a:prstGeom>
            <a:noFill/>
          </p:spPr>
          <p:txBody>
            <a:bodyPr wrap="square">
              <a:spAutoFit/>
            </a:bodyPr>
            <a:lstStyle/>
            <a:p>
              <a:pPr>
                <a:lnSpc>
                  <a:spcPct val="13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6．shell有哪几种类型的变量？如何实现对变量的赋值和引用？</a:t>
              </a:r>
              <a:endParaRPr lang="zh-CN" altLang="en-US" sz="1800" kern="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nodeType="withEffect">
                                  <p:stCondLst>
                                    <p:cond delay="20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nodeType="withEffect">
                                  <p:stCondLst>
                                    <p:cond delay="40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par>
                                <p:cTn id="23" presetID="22" presetClass="entr" presetSubtype="4"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500"/>
                                        <p:tgtEl>
                                          <p:spTgt spid="24"/>
                                        </p:tgtEl>
                                      </p:cBhvr>
                                    </p:animEffect>
                                  </p:childTnLst>
                                </p:cTn>
                              </p:par>
                            </p:childTnLst>
                          </p:cTn>
                        </p:par>
                        <p:par>
                          <p:cTn id="26" fill="hold">
                            <p:stCondLst>
                              <p:cond delay="1500"/>
                            </p:stCondLst>
                            <p:childTnLst>
                              <p:par>
                                <p:cTn id="27" presetID="22" presetClass="entr" presetSubtype="8"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childTnLst>
                          </p:cTn>
                        </p:par>
                        <p:par>
                          <p:cTn id="30" fill="hold">
                            <p:stCondLst>
                              <p:cond delay="2000"/>
                            </p:stCondLst>
                            <p:childTnLst>
                              <p:par>
                                <p:cTn id="31" presetID="22" presetClass="entr" presetSubtype="8" fill="hold"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par>
                          <p:cTn id="34" fill="hold">
                            <p:stCondLst>
                              <p:cond delay="2500"/>
                            </p:stCondLst>
                            <p:childTnLst>
                              <p:par>
                                <p:cTn id="35" presetID="22" presetClass="entr" presetSubtype="1" fill="hold" nodeType="afterEffect">
                                  <p:stCondLst>
                                    <p:cond delay="0"/>
                                  </p:stCondLst>
                                  <p:childTnLst>
                                    <p:set>
                                      <p:cBhvr>
                                        <p:cTn id="36" dur="1" fill="hold">
                                          <p:stCondLst>
                                            <p:cond delay="0"/>
                                          </p:stCondLst>
                                        </p:cTn>
                                        <p:tgtEl>
                                          <p:spTgt spid="6146"/>
                                        </p:tgtEl>
                                        <p:attrNameLst>
                                          <p:attrName>style.visibility</p:attrName>
                                        </p:attrNameLst>
                                      </p:cBhvr>
                                      <p:to>
                                        <p:strVal val="visible"/>
                                      </p:to>
                                    </p:set>
                                    <p:animEffect transition="in" filter="wipe(up)">
                                      <p:cBhvr>
                                        <p:cTn id="3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p:cNvPicPr>
            <a:picLocks noChangeAspect="1" noChangeArrowheads="1"/>
          </p:cNvPicPr>
          <p:nvPr/>
        </p:nvPicPr>
        <p:blipFill>
          <a:blip r:embed="rId2" cstate="print"/>
          <a:srcRect/>
          <a:stretch>
            <a:fillRect/>
          </a:stretch>
        </p:blipFill>
        <p:spPr bwMode="auto">
          <a:xfrm>
            <a:off x="7477092" y="2489200"/>
            <a:ext cx="4714908" cy="3421631"/>
          </a:xfrm>
          <a:prstGeom prst="rect">
            <a:avLst/>
          </a:prstGeom>
          <a:noFill/>
          <a:ln w="9525">
            <a:noFill/>
            <a:miter lim="800000"/>
            <a:headEnd/>
            <a:tailEnd/>
          </a:ln>
          <a:effectLst/>
        </p:spPr>
      </p:pic>
      <p:sp>
        <p:nvSpPr>
          <p:cNvPr id="5" name="深色1"/>
          <p:cNvSpPr/>
          <p:nvPr/>
        </p:nvSpPr>
        <p:spPr>
          <a:xfrm>
            <a:off x="-8478" y="1855808"/>
            <a:ext cx="2662394" cy="4430712"/>
          </a:xfrm>
          <a:custGeom>
            <a:avLst/>
            <a:gdLst/>
            <a:ahLst/>
            <a:cxnLst/>
            <a:rect l="l" t="t" r="r" b="b"/>
            <a:pathLst>
              <a:path w="2662394" h="4430712">
                <a:moveTo>
                  <a:pt x="0" y="0"/>
                </a:moveTo>
                <a:lnTo>
                  <a:pt x="945429" y="0"/>
                </a:lnTo>
                <a:lnTo>
                  <a:pt x="2662394" y="4430712"/>
                </a:lnTo>
                <a:lnTo>
                  <a:pt x="0" y="4430712"/>
                </a:lnTo>
                <a:close/>
              </a:path>
            </a:pathLst>
          </a:custGeom>
          <a:solidFill>
            <a:schemeClr val="accent2">
              <a:lumMod val="40000"/>
              <a:lumOff val="60000"/>
            </a:schemeClr>
          </a:solidFill>
          <a:ln w="25400" cap="flat" cmpd="sng" algn="ctr">
            <a:noFill/>
            <a:prstDash val="solid"/>
          </a:ln>
          <a:effectLst>
            <a:outerShdw blurRad="50800" dist="38100" algn="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b="1" kern="0">
              <a:solidFill>
                <a:sysClr val="window" lastClr="FFFFFF"/>
              </a:solidFill>
              <a:latin typeface="Calibri" panose="020F0502020204030204"/>
              <a:ea typeface="微软雅黑" panose="020B0503020204020204" pitchFamily="34" charset="-122"/>
            </a:endParaRPr>
          </a:p>
        </p:txBody>
      </p:sp>
      <p:grpSp>
        <p:nvGrpSpPr>
          <p:cNvPr id="6" name="文本 1"/>
          <p:cNvGrpSpPr/>
          <p:nvPr/>
        </p:nvGrpSpPr>
        <p:grpSpPr>
          <a:xfrm>
            <a:off x="946849" y="1740205"/>
            <a:ext cx="6582346" cy="2449830"/>
            <a:chOff x="1616456" y="1110772"/>
            <a:chExt cx="6582346" cy="2449830"/>
          </a:xfrm>
        </p:grpSpPr>
        <p:cxnSp>
          <p:nvCxnSpPr>
            <p:cNvPr id="7" name="直接连接符 6"/>
            <p:cNvCxnSpPr/>
            <p:nvPr/>
          </p:nvCxnSpPr>
          <p:spPr>
            <a:xfrm>
              <a:off x="2473642" y="3292327"/>
              <a:ext cx="5725160" cy="1905"/>
            </a:xfrm>
            <a:prstGeom prst="line">
              <a:avLst/>
            </a:prstGeom>
            <a:noFill/>
            <a:ln w="9525" cap="flat" cmpd="sng" algn="ctr">
              <a:solidFill>
                <a:srgbClr val="C5C5C5"/>
              </a:solidFill>
              <a:prstDash val="solid"/>
            </a:ln>
            <a:effectLst/>
          </p:spPr>
        </p:cxnSp>
        <p:sp>
          <p:nvSpPr>
            <p:cNvPr id="9" name="TextBox 8"/>
            <p:cNvSpPr txBox="1"/>
            <p:nvPr/>
          </p:nvSpPr>
          <p:spPr bwMode="auto">
            <a:xfrm>
              <a:off x="1616456" y="1110772"/>
              <a:ext cx="6409690" cy="2449830"/>
            </a:xfrm>
            <a:prstGeom prst="rect">
              <a:avLst/>
            </a:prstGeom>
            <a:noFill/>
          </p:spPr>
          <p:txBody>
            <a:bodyPr wrap="square">
              <a:spAutoFit/>
            </a:bodyPr>
            <a:lstStyle/>
            <a:p>
              <a:pPr>
                <a:lnSpc>
                  <a:spcPct val="130000"/>
                </a:lnSpc>
                <a:defRPr/>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7．试说明下列命令的执行结果</a:t>
              </a:r>
            </a:p>
            <a:p>
              <a:pPr eaLnBrk="1" latinLnBrk="0" hangingPunct="1">
                <a:lnSpc>
                  <a:spcPct val="15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   （1）ls  [a-h]?.c </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endParaRPr>
            </a:p>
            <a:p>
              <a:pPr eaLnBrk="1" latinLnBrk="0" hangingPunct="1">
                <a:lnSpc>
                  <a:spcPct val="15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      （2）sort &lt;text1&amp;&gt;&gt;test2 </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endParaRPr>
            </a:p>
            <a:p>
              <a:pPr eaLnBrk="1" latinLnBrk="0" hangingPunct="1">
                <a:lnSpc>
                  <a:spcPct val="15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          （3）ls |wc  -l </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endParaRPr>
            </a:p>
            <a:p>
              <a:pPr eaLnBrk="1" latinLnBrk="0" hangingPunct="1">
                <a:lnSpc>
                  <a:spcPct val="15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             （4）假设当前目录为 /home，则以下程序结果。</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30000"/>
                </a:lnSpc>
                <a:defRPr/>
              </a:pPr>
              <a:endParaRPr lang="zh-CN" altLang="en-US" sz="1800" kern="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grpSp>
        <p:nvGrpSpPr>
          <p:cNvPr id="10" name="文本 2"/>
          <p:cNvGrpSpPr/>
          <p:nvPr/>
        </p:nvGrpSpPr>
        <p:grpSpPr>
          <a:xfrm>
            <a:off x="2033555" y="3884924"/>
            <a:ext cx="6812933" cy="2401256"/>
            <a:chOff x="1393157" y="1373335"/>
            <a:chExt cx="6812933" cy="2401256"/>
          </a:xfrm>
        </p:grpSpPr>
        <p:cxnSp>
          <p:nvCxnSpPr>
            <p:cNvPr id="4" name="直接连接符 3"/>
            <p:cNvCxnSpPr/>
            <p:nvPr/>
          </p:nvCxnSpPr>
          <p:spPr>
            <a:xfrm>
              <a:off x="1846166" y="3774591"/>
              <a:ext cx="6359924" cy="0"/>
            </a:xfrm>
            <a:prstGeom prst="line">
              <a:avLst/>
            </a:prstGeom>
            <a:noFill/>
            <a:ln w="9525" cap="flat" cmpd="sng" algn="ctr">
              <a:solidFill>
                <a:srgbClr val="C5C5C5"/>
              </a:solidFill>
              <a:prstDash val="solid"/>
            </a:ln>
            <a:effectLst/>
          </p:spPr>
        </p:cxnSp>
        <p:sp>
          <p:nvSpPr>
            <p:cNvPr id="8" name="TextBox 11"/>
            <p:cNvSpPr txBox="1"/>
            <p:nvPr/>
          </p:nvSpPr>
          <p:spPr bwMode="auto">
            <a:xfrm>
              <a:off x="1393157" y="1373335"/>
              <a:ext cx="3273425" cy="447675"/>
            </a:xfrm>
            <a:prstGeom prst="rect">
              <a:avLst/>
            </a:prstGeom>
            <a:noFill/>
          </p:spPr>
          <p:txBody>
            <a:bodyPr wrap="square">
              <a:spAutoFit/>
            </a:bodyPr>
            <a:lstStyle/>
            <a:p>
              <a:pPr>
                <a:lnSpc>
                  <a:spcPct val="130000"/>
                </a:lnSpc>
                <a:defRPr/>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sym typeface="+mn-ea"/>
                </a:rPr>
                <a:t>8．分析下面shell脚本的功能</a:t>
              </a:r>
            </a:p>
          </p:txBody>
        </p:sp>
      </p:grpSp>
      <p:grpSp>
        <p:nvGrpSpPr>
          <p:cNvPr id="22" name="组合 21"/>
          <p:cNvGrpSpPr/>
          <p:nvPr/>
        </p:nvGrpSpPr>
        <p:grpSpPr>
          <a:xfrm>
            <a:off x="4511675" y="1560830"/>
            <a:ext cx="4615815" cy="1576705"/>
            <a:chOff x="11021" y="7759"/>
            <a:chExt cx="7269" cy="2483"/>
          </a:xfrm>
        </p:grpSpPr>
        <p:sp>
          <p:nvSpPr>
            <p:cNvPr id="23" name="流程图: 过程 22"/>
            <p:cNvSpPr/>
            <p:nvPr/>
          </p:nvSpPr>
          <p:spPr>
            <a:xfrm>
              <a:off x="11166" y="7783"/>
              <a:ext cx="6762" cy="2459"/>
            </a:xfrm>
            <a:prstGeom prst="flowChartProcess">
              <a:avLst/>
            </a:prstGeom>
            <a:solidFill>
              <a:schemeClr val="accent6">
                <a:lumMod val="60000"/>
                <a:lumOff val="40000"/>
              </a:schemeClr>
            </a:solidFill>
            <a:ln w="9525" cap="flat" cmpd="sng" algn="ctr">
              <a:noFill/>
              <a:prstDash val="solid"/>
              <a:round/>
              <a:headEnd type="none" w="med" len="med"/>
              <a:tailEnd type="none" w="med" len="med"/>
            </a:ln>
          </p:spPr>
          <p:txBody>
            <a:bodyPr vert="horz" wrap="none" lIns="90000" tIns="46800" rIns="90000" bIns="46800" numCol="1" anchor="ctr" anchorCtr="0" compatLnSpc="1"/>
            <a:lstStyle/>
            <a:p>
              <a:pPr indent="457200" algn="l">
                <a:lnSpc>
                  <a:spcPct val="150000"/>
                </a:lnSpc>
                <a:buFont typeface="Arial" panose="020B0604020202020204" pitchFamily="34" charset="0"/>
                <a:buNone/>
              </a:pPr>
              <a:endPar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endParaRPr>
            </a:p>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zh-CN" altLang="en-US" sz="2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Arial Unicode MS" panose="020B0604020202020204" pitchFamily="34" charset="-128"/>
                <a:sym typeface="Arial Unicode MS" panose="020B0604020202020204" pitchFamily="34" charset="-122"/>
              </a:endParaRPr>
            </a:p>
          </p:txBody>
        </p:sp>
        <p:sp>
          <p:nvSpPr>
            <p:cNvPr id="25" name="文本框 24"/>
            <p:cNvSpPr txBox="1"/>
            <p:nvPr/>
          </p:nvSpPr>
          <p:spPr>
            <a:xfrm>
              <a:off x="11021" y="7759"/>
              <a:ext cx="7269" cy="2304"/>
            </a:xfrm>
            <a:prstGeom prst="rect">
              <a:avLst/>
            </a:prstGeom>
            <a:noFill/>
            <a:ln>
              <a:noFill/>
            </a:ln>
          </p:spPr>
          <p:txBody>
            <a:bodyPr wrap="square" rtlCol="0">
              <a:spAutoFit/>
            </a:bodyPr>
            <a:lstStyle/>
            <a:p>
              <a:pPr indent="457200" algn="l">
                <a:lnSpc>
                  <a:spcPct val="150000"/>
                </a:lnSpc>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string1="$PWD"；</a:t>
              </a:r>
            </a:p>
            <a:p>
              <a:pPr indent="457200" algn="l">
                <a:lnSpc>
                  <a:spcPct val="150000"/>
                </a:lnSpc>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string2="\$PWD" </a:t>
              </a:r>
            </a:p>
            <a:p>
              <a:pPr indent="457200" algn="l">
                <a:lnSpc>
                  <a:spcPct val="150000"/>
                </a:lnSpc>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echo "$string1 and $string2" </a:t>
              </a:r>
            </a:p>
          </p:txBody>
        </p:sp>
      </p:grpSp>
      <p:grpSp>
        <p:nvGrpSpPr>
          <p:cNvPr id="31" name="组合 30"/>
          <p:cNvGrpSpPr/>
          <p:nvPr/>
        </p:nvGrpSpPr>
        <p:grpSpPr>
          <a:xfrm>
            <a:off x="2885440" y="4363085"/>
            <a:ext cx="3869055" cy="1899920"/>
            <a:chOff x="4544" y="7135"/>
            <a:chExt cx="6093" cy="2992"/>
          </a:xfrm>
        </p:grpSpPr>
        <p:sp>
          <p:nvSpPr>
            <p:cNvPr id="30" name="流程图: 过程 29"/>
            <p:cNvSpPr/>
            <p:nvPr/>
          </p:nvSpPr>
          <p:spPr>
            <a:xfrm>
              <a:off x="4979" y="7135"/>
              <a:ext cx="5659" cy="2935"/>
            </a:xfrm>
            <a:prstGeom prst="flowChartProcess">
              <a:avLst/>
            </a:prstGeom>
            <a:solidFill>
              <a:schemeClr val="accent6">
                <a:lumMod val="60000"/>
                <a:lumOff val="40000"/>
              </a:schemeClr>
            </a:solidFill>
            <a:ln w="9525" cap="flat" cmpd="sng" algn="ctr">
              <a:noFill/>
              <a:prstDash val="solid"/>
              <a:round/>
              <a:headEnd type="none" w="med" len="med"/>
              <a:tailEnd type="none" w="med" len="med"/>
            </a:ln>
          </p:spPr>
          <p:txBody>
            <a:bodyPr vert="horz" wrap="none" lIns="90000" tIns="46800" rIns="90000" bIns="46800" numCol="1" anchor="ctr" anchorCtr="0" compatLnSpc="1"/>
            <a:lstStyle/>
            <a:p>
              <a:pPr indent="457200" algn="l">
                <a:lnSpc>
                  <a:spcPct val="150000"/>
                </a:lnSpc>
                <a:buFont typeface="Arial" panose="020B0604020202020204" pitchFamily="34" charset="0"/>
                <a:buNone/>
              </a:pPr>
              <a:endPar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endParaRPr>
            </a:p>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zh-CN" altLang="en-US" sz="2400" b="0"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Arial Unicode MS" panose="020B0604020202020204" pitchFamily="34" charset="-128"/>
                <a:sym typeface="Arial Unicode MS" panose="020B0604020202020204" pitchFamily="34" charset="-122"/>
              </a:endParaRPr>
            </a:p>
          </p:txBody>
        </p:sp>
        <p:sp>
          <p:nvSpPr>
            <p:cNvPr id="29" name="文本框 28"/>
            <p:cNvSpPr txBox="1"/>
            <p:nvPr/>
          </p:nvSpPr>
          <p:spPr>
            <a:xfrm>
              <a:off x="4544" y="7135"/>
              <a:ext cx="5779" cy="2993"/>
            </a:xfrm>
            <a:prstGeom prst="rect">
              <a:avLst/>
            </a:prstGeom>
            <a:noFill/>
            <a:ln>
              <a:noFill/>
            </a:ln>
          </p:spPr>
          <p:txBody>
            <a:bodyPr wrap="square" rtlCol="0">
              <a:spAutoFit/>
            </a:bodyPr>
            <a:lstStyle/>
            <a:p>
              <a:pPr indent="457200" algn="l">
                <a:lnSpc>
                  <a:spcPct val="110000"/>
                </a:lnSpc>
                <a:buFont typeface="Arial" panose="020B0604020202020204" pitchFamily="34" charset="0"/>
                <a:buNone/>
              </a:pPr>
              <a:r>
                <a:rPr lang="zh-CN" altLang="en-US" sz="18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count=$# cmd=echo </a:t>
              </a:r>
            </a:p>
            <a:p>
              <a:pPr indent="457200" algn="l">
                <a:lnSpc>
                  <a:spcPct val="110000"/>
                </a:lnSpc>
                <a:buFont typeface="Arial" panose="020B0604020202020204" pitchFamily="34" charset="0"/>
                <a:buNone/>
              </a:pPr>
              <a:r>
                <a:rPr lang="zh-CN" altLang="en-US" sz="18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while  [ $count  -gt  0 ] </a:t>
              </a:r>
            </a:p>
            <a:p>
              <a:pPr indent="457200" algn="l">
                <a:lnSpc>
                  <a:spcPct val="110000"/>
                </a:lnSpc>
                <a:buFont typeface="Arial" panose="020B0604020202020204" pitchFamily="34" charset="0"/>
                <a:buNone/>
              </a:pPr>
              <a:r>
                <a:rPr lang="zh-CN" altLang="en-US" sz="18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do  </a:t>
              </a:r>
            </a:p>
            <a:p>
              <a:pPr indent="457200" algn="l">
                <a:lnSpc>
                  <a:spcPct val="110000"/>
                </a:lnSpc>
                <a:buFont typeface="Arial" panose="020B0604020202020204" pitchFamily="34" charset="0"/>
                <a:buNone/>
              </a:pPr>
              <a:r>
                <a:rPr lang="zh-CN" altLang="en-US" sz="18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    cmd="$cmd  \$$count" </a:t>
              </a:r>
            </a:p>
            <a:p>
              <a:pPr indent="457200" algn="l">
                <a:lnSpc>
                  <a:spcPct val="110000"/>
                </a:lnSpc>
                <a:buFont typeface="Arial" panose="020B0604020202020204" pitchFamily="34" charset="0"/>
                <a:buNone/>
              </a:pPr>
              <a:r>
                <a:rPr lang="zh-CN" altLang="en-US" sz="18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    let  count=$count-1 </a:t>
              </a:r>
            </a:p>
            <a:p>
              <a:pPr indent="457200" algn="l">
                <a:lnSpc>
                  <a:spcPct val="110000"/>
                </a:lnSpc>
                <a:buFont typeface="Arial" panose="020B0604020202020204" pitchFamily="34" charset="0"/>
                <a:buNone/>
              </a:pPr>
              <a:r>
                <a:rPr lang="zh-CN" altLang="en-US" sz="18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done </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nodeType="withEffect">
                                  <p:stCondLst>
                                    <p:cond delay="20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18" presetClass="entr" presetSubtype="6"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strips(downRight)">
                                      <p:cBhvr>
                                        <p:cTn id="18" dur="500"/>
                                        <p:tgtEl>
                                          <p:spTgt spid="22"/>
                                        </p:tgtEl>
                                      </p:cBhvr>
                                    </p:animEffect>
                                  </p:childTnLst>
                                </p:cTn>
                              </p:par>
                            </p:childTnLst>
                          </p:cTn>
                        </p:par>
                        <p:par>
                          <p:cTn id="19" fill="hold">
                            <p:stCondLst>
                              <p:cond delay="1000"/>
                            </p:stCondLst>
                            <p:childTnLst>
                              <p:par>
                                <p:cTn id="20" presetID="18" presetClass="entr" presetSubtype="6"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strips(downRight)">
                                      <p:cBhvr>
                                        <p:cTn id="22" dur="500"/>
                                        <p:tgtEl>
                                          <p:spTgt spid="31"/>
                                        </p:tgtEl>
                                      </p:cBhvr>
                                    </p:animEffect>
                                  </p:childTnLst>
                                </p:cTn>
                              </p:par>
                            </p:childTnLst>
                          </p:cTn>
                        </p:par>
                        <p:par>
                          <p:cTn id="23" fill="hold">
                            <p:stCondLst>
                              <p:cond delay="1500"/>
                            </p:stCondLst>
                            <p:childTnLst>
                              <p:par>
                                <p:cTn id="24" presetID="22" presetClass="entr" presetSubtype="1"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图片 2"/>
          <p:cNvPicPr>
            <a:picLocks noChangeAspect="1" noChangeArrowheads="1"/>
          </p:cNvPicPr>
          <p:nvPr/>
        </p:nvPicPr>
        <p:blipFill>
          <a:blip r:embed="rId3" cstate="print"/>
          <a:srcRect/>
          <a:stretch>
            <a:fillRect/>
          </a:stretch>
        </p:blipFill>
        <p:spPr bwMode="auto">
          <a:xfrm>
            <a:off x="-163513" y="-25400"/>
            <a:ext cx="12584113" cy="5757863"/>
          </a:xfrm>
          <a:prstGeom prst="rect">
            <a:avLst/>
          </a:prstGeom>
          <a:noFill/>
          <a:ln w="9525">
            <a:noFill/>
            <a:miter lim="800000"/>
            <a:headEnd/>
            <a:tailEnd/>
          </a:ln>
        </p:spPr>
      </p:pic>
      <p:sp>
        <p:nvSpPr>
          <p:cNvPr id="4" name="矩形 3"/>
          <p:cNvSpPr/>
          <p:nvPr/>
        </p:nvSpPr>
        <p:spPr>
          <a:xfrm>
            <a:off x="-161925" y="-25400"/>
            <a:ext cx="12582525" cy="7369175"/>
          </a:xfrm>
          <a:prstGeom prst="rect">
            <a:avLst/>
          </a:prstGeom>
          <a:solidFill>
            <a:srgbClr val="000E2A">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p:nvSpPr>
        <p:spPr>
          <a:xfrm>
            <a:off x="-161925" y="4921250"/>
            <a:ext cx="12580938" cy="2422525"/>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文本框 1"/>
          <p:cNvSpPr txBox="1"/>
          <p:nvPr/>
        </p:nvSpPr>
        <p:spPr>
          <a:xfrm>
            <a:off x="3270885" y="2715894"/>
            <a:ext cx="6063615" cy="1446550"/>
          </a:xfrm>
          <a:prstGeom prst="rect">
            <a:avLst/>
          </a:prstGeom>
          <a:noFill/>
        </p:spPr>
        <p:txBody>
          <a:bodyPr wrap="square">
            <a:spAutoFit/>
          </a:bodyPr>
          <a:lstStyle/>
          <a:p>
            <a:pPr fontAlgn="auto">
              <a:buFont typeface="Arial" panose="020B0604020202020204" pitchFamily="34" charset="0"/>
              <a:buNone/>
              <a:defRPr/>
            </a:pPr>
            <a:r>
              <a:rPr lang="zh-CN" altLang="en-US" sz="8800" b="1"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cs typeface="+mn-cs"/>
              </a:rPr>
              <a:t>谢 谢 观 看</a:t>
            </a:r>
            <a:endParaRPr lang="zh-CN" altLang="en-US" sz="8800" b="1" noProof="1">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4"/>
</p:tagLst>
</file>

<file path=ppt/tags/tag38.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4"/>
</p:tagLst>
</file>

<file path=ppt/tags/tag39.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3"/>
</p:tagLst>
</file>

<file path=ppt/tags/tag40.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3"/>
</p:tagLst>
</file>

<file path=ppt/tags/tag41.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2"/>
</p:tagLst>
</file>

<file path=ppt/tags/tag42.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2"/>
</p:tagLst>
</file>

<file path=ppt/tags/tag43.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1"/>
</p:tagLst>
</file>

<file path=ppt/tags/tag44.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1"/>
</p:tagLst>
</file>

<file path=ppt/tags/tag4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heme/theme1.xml><?xml version="1.0" encoding="utf-8"?>
<a:theme xmlns:a="http://schemas.openxmlformats.org/drawingml/2006/main" name="1_SAP_PartnerEdge2009_1[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rtnerEdge2008_1.0">
      <a:majorFont>
        <a:latin typeface="Arial Black"/>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2"/>
        </a:solidFill>
        <a:ln w="9525" cap="flat" cmpd="sng" algn="ctr">
          <a:solidFill>
            <a:schemeClr val="accent2"/>
          </a:solidFill>
          <a:prstDash val="solid"/>
          <a:round/>
          <a:headEnd type="none" w="med" len="med"/>
          <a:tailEnd type="none" w="med" len="med"/>
        </a:ln>
      </a:spPr>
      <a:bodyPr vert="horz" wrap="none" lIns="90000" tIns="46800" rIns="90000" bIns="46800" numCol="1" anchor="ctr" anchorCtr="0" compatLnSpc="1"/>
      <a:lstStyle>
        <a:def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defRPr kumimoji="0" lang="de-DE" sz="1600" b="0" i="0" u="none" strike="noStrike" cap="none" normalizeH="0" baseline="0" smtClean="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defRPr>
        </a:defPPr>
      </a:lstStyle>
    </a:spDef>
    <a:lnDef>
      <a:spPr bwMode="auto">
        <a:xfrm>
          <a:off x="0" y="0"/>
          <a:ext cx="1" cy="1"/>
        </a:xfrm>
        <a:custGeom>
          <a:avLst/>
          <a:gdLst/>
          <a:ahLst/>
          <a:cxnLst/>
          <a:rect l="0" t="0" r="0" b="0"/>
          <a:pathLst/>
        </a:custGeom>
        <a:solidFill>
          <a:schemeClr val="bg2"/>
        </a:solidFill>
        <a:ln w="9525" cap="flat" cmpd="sng" algn="ctr">
          <a:solidFill>
            <a:schemeClr val="accent2"/>
          </a:solidFill>
          <a:prstDash val="solid"/>
          <a:round/>
          <a:headEnd type="none" w="med" len="med"/>
          <a:tailEnd type="none" w="med" len="med"/>
        </a:ln>
      </a:spPr>
      <a:bodyPr vert="horz" wrap="none" lIns="90000" tIns="46800" rIns="90000" bIns="46800" numCol="1" anchor="ctr" anchorCtr="0" compatLnSpc="1"/>
      <a:lstStyle>
        <a:def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defRPr kumimoji="0" lang="de-DE" sz="1600" b="0" i="0" u="none" strike="noStrike" cap="none" normalizeH="0" baseline="0" smtClean="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defRPr>
        </a:defPPr>
      </a:lstStyle>
    </a:lnDef>
  </a:objectDefaults>
  <a:extraClrSchemeLst>
    <a:extraClrScheme>
      <a:clrScheme name="PartnerEdge2008_1.0 1">
        <a:dk1>
          <a:srgbClr val="000000"/>
        </a:dk1>
        <a:lt1>
          <a:srgbClr val="FFFFFF"/>
        </a:lt1>
        <a:dk2>
          <a:srgbClr val="44697D"/>
        </a:dk2>
        <a:lt2>
          <a:srgbClr val="CCCCCC"/>
        </a:lt2>
        <a:accent1>
          <a:srgbClr val="F0AB00"/>
        </a:accent1>
        <a:accent2>
          <a:srgbClr val="666666"/>
        </a:accent2>
        <a:accent3>
          <a:srgbClr val="FFFFFF"/>
        </a:accent3>
        <a:accent4>
          <a:srgbClr val="000000"/>
        </a:accent4>
        <a:accent5>
          <a:srgbClr val="F6D2AA"/>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
      <a:clrScheme name="PartnerEdge2008_1.0 2">
        <a:dk1>
          <a:srgbClr val="000000"/>
        </a:dk1>
        <a:lt1>
          <a:srgbClr val="FFFFFF"/>
        </a:lt1>
        <a:dk2>
          <a:srgbClr val="6996BE"/>
        </a:dk2>
        <a:lt2>
          <a:srgbClr val="CCCCCC"/>
        </a:lt2>
        <a:accent1>
          <a:srgbClr val="F0AB00"/>
        </a:accent1>
        <a:accent2>
          <a:srgbClr val="666666"/>
        </a:accent2>
        <a:accent3>
          <a:srgbClr val="FFFFFF"/>
        </a:accent3>
        <a:accent4>
          <a:srgbClr val="000000"/>
        </a:accent4>
        <a:accent5>
          <a:srgbClr val="F6D2AA"/>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
      <a:clrScheme name="PartnerEdge2008_1.0 3">
        <a:dk1>
          <a:srgbClr val="000000"/>
        </a:dk1>
        <a:lt1>
          <a:srgbClr val="FFFFFF"/>
        </a:lt1>
        <a:dk2>
          <a:srgbClr val="F0AB00"/>
        </a:dk2>
        <a:lt2>
          <a:srgbClr val="CCCCCC"/>
        </a:lt2>
        <a:accent1>
          <a:srgbClr val="6996BE"/>
        </a:accent1>
        <a:accent2>
          <a:srgbClr val="666666"/>
        </a:accent2>
        <a:accent3>
          <a:srgbClr val="FFFFFF"/>
        </a:accent3>
        <a:accent4>
          <a:srgbClr val="000000"/>
        </a:accent4>
        <a:accent5>
          <a:srgbClr val="B9C9DB"/>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8570</TotalTime>
  <Words>14532</Words>
  <Application>Microsoft Office PowerPoint</Application>
  <PresentationFormat>宽屏</PresentationFormat>
  <Paragraphs>1230</Paragraphs>
  <Slides>98</Slides>
  <Notes>32</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98</vt:i4>
      </vt:variant>
    </vt:vector>
  </HeadingPairs>
  <TitlesOfParts>
    <vt:vector size="118" baseType="lpstr">
      <vt:lpstr>Arial Unicode MS</vt:lpstr>
      <vt:lpstr>Lao UI</vt:lpstr>
      <vt:lpstr>等线</vt:lpstr>
      <vt:lpstr>黑体</vt:lpstr>
      <vt:lpstr>华康俪金黑W8(P)</vt:lpstr>
      <vt:lpstr>华文细黑</vt:lpstr>
      <vt:lpstr>华文中宋</vt:lpstr>
      <vt:lpstr>楷体</vt:lpstr>
      <vt:lpstr>宋体</vt:lpstr>
      <vt:lpstr>微软雅黑</vt:lpstr>
      <vt:lpstr>Arial</vt:lpstr>
      <vt:lpstr>Arial Black</vt:lpstr>
      <vt:lpstr>Calibri</vt:lpstr>
      <vt:lpstr>Impact</vt:lpstr>
      <vt:lpstr>Microsoft Sans Serif</vt:lpstr>
      <vt:lpstr>Mistral</vt:lpstr>
      <vt:lpstr>Times New Roman</vt:lpstr>
      <vt:lpstr>Wingdings</vt:lpstr>
      <vt:lpstr>Wingdings 3</vt:lpstr>
      <vt:lpstr>1_SAP_PartnerEdge2009_1[1].0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WangBo-Two</cp:lastModifiedBy>
  <cp:revision>380</cp:revision>
  <dcterms:created xsi:type="dcterms:W3CDTF">2016-12-04T01:48:00Z</dcterms:created>
  <dcterms:modified xsi:type="dcterms:W3CDTF">2024-06-14T02:02:52Z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2052-10.1.0.6205</vt:lpwstr>
  </property>
</Properties>
</file>