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8.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12.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4"/>
  </p:notesMasterIdLst>
  <p:sldIdLst>
    <p:sldId id="257" r:id="rId2"/>
    <p:sldId id="258" r:id="rId3"/>
    <p:sldId id="259" r:id="rId4"/>
    <p:sldId id="260" r:id="rId5"/>
    <p:sldId id="261" r:id="rId6"/>
    <p:sldId id="262" r:id="rId7"/>
    <p:sldId id="507" r:id="rId8"/>
    <p:sldId id="265" r:id="rId9"/>
    <p:sldId id="424" r:id="rId10"/>
    <p:sldId id="266" r:id="rId11"/>
    <p:sldId id="267" r:id="rId12"/>
    <p:sldId id="504" r:id="rId13"/>
    <p:sldId id="505" r:id="rId14"/>
    <p:sldId id="432" r:id="rId15"/>
    <p:sldId id="274" r:id="rId16"/>
    <p:sldId id="275" r:id="rId17"/>
    <p:sldId id="508" r:id="rId18"/>
    <p:sldId id="279" r:id="rId19"/>
    <p:sldId id="283" r:id="rId20"/>
    <p:sldId id="510" r:id="rId21"/>
    <p:sldId id="433" r:id="rId22"/>
    <p:sldId id="292" r:id="rId23"/>
    <p:sldId id="293" r:id="rId24"/>
    <p:sldId id="294" r:id="rId25"/>
    <p:sldId id="295" r:id="rId26"/>
    <p:sldId id="434" r:id="rId27"/>
    <p:sldId id="514" r:id="rId28"/>
    <p:sldId id="518" r:id="rId29"/>
    <p:sldId id="516" r:id="rId30"/>
    <p:sldId id="517" r:id="rId31"/>
    <p:sldId id="319" r:id="rId32"/>
    <p:sldId id="435" r:id="rId33"/>
    <p:sldId id="320" r:id="rId34"/>
    <p:sldId id="321" r:id="rId35"/>
    <p:sldId id="322" r:id="rId36"/>
    <p:sldId id="323" r:id="rId37"/>
    <p:sldId id="436" r:id="rId38"/>
    <p:sldId id="324" r:id="rId39"/>
    <p:sldId id="325" r:id="rId40"/>
    <p:sldId id="326" r:id="rId41"/>
    <p:sldId id="327" r:id="rId42"/>
    <p:sldId id="328" r:id="rId43"/>
    <p:sldId id="329" r:id="rId44"/>
    <p:sldId id="330" r:id="rId45"/>
    <p:sldId id="331" r:id="rId46"/>
    <p:sldId id="519" r:id="rId47"/>
    <p:sldId id="333" r:id="rId48"/>
    <p:sldId id="334" r:id="rId49"/>
    <p:sldId id="335" r:id="rId50"/>
    <p:sldId id="336" r:id="rId51"/>
    <p:sldId id="339" r:id="rId52"/>
    <p:sldId id="337" r:id="rId53"/>
    <p:sldId id="340" r:id="rId54"/>
    <p:sldId id="437" r:id="rId55"/>
    <p:sldId id="499" r:id="rId56"/>
    <p:sldId id="498" r:id="rId57"/>
    <p:sldId id="343" r:id="rId58"/>
    <p:sldId id="344" r:id="rId59"/>
    <p:sldId id="591" r:id="rId60"/>
    <p:sldId id="590" r:id="rId61"/>
    <p:sldId id="589" r:id="rId62"/>
    <p:sldId id="278" r:id="rId63"/>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70">
          <p15:clr>
            <a:srgbClr val="A4A3A4"/>
          </p15:clr>
        </p15:guide>
        <p15:guide id="2" pos="389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00"/>
    <a:srgbClr val="E4E4E4"/>
    <a:srgbClr val="01AF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84"/>
      </p:cViewPr>
      <p:guideLst>
        <p:guide orient="horz" pos="2070"/>
        <p:guide pos="389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pPr/>
              <a:t>2024/6/14</a:t>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pPr/>
              <a:t>‹#›</a:t>
            </a:fld>
            <a:endParaRPr lang="zh-CN" altLang="en-US"/>
          </a:p>
        </p:txBody>
      </p:sp>
    </p:spTree>
    <p:extLst>
      <p:ext uri="{BB962C8B-B14F-4D97-AF65-F5344CB8AC3E}">
        <p14:creationId xmlns:p14="http://schemas.microsoft.com/office/powerpoint/2010/main" val="552624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ChangeArrowheads="1" noTextEdit="1"/>
          </p:cNvSpPr>
          <p:nvPr>
            <p:ph type="sldImg" idx="4294967295"/>
          </p:nvPr>
        </p:nvSpPr>
        <p:spPr>
          <a:ln>
            <a:miter lim="800000"/>
          </a:ln>
        </p:spPr>
      </p:sp>
      <p:sp>
        <p:nvSpPr>
          <p:cNvPr id="48131" name="文本占位符 2"/>
          <p:cNvSpPr>
            <a:spLocks noGrp="1" noChangeArrowheads="1"/>
          </p:cNvSpPr>
          <p:nvPr>
            <p:ph type="body" idx="4294967295"/>
          </p:nvPr>
        </p:nvSpPr>
        <p:spPr>
          <a:noFill/>
        </p:spPr>
        <p:txBody>
          <a:bodyPr/>
          <a:lstStyle/>
          <a:p>
            <a:pPr eaLnBrk="1" hangingPunct="1"/>
            <a:endParaRPr lang="zh-CN" altLang="en-US"/>
          </a:p>
        </p:txBody>
      </p:sp>
      <p:sp>
        <p:nvSpPr>
          <p:cNvPr id="48132" name="灯片编号占位符 3"/>
          <p:cNvSpPr>
            <a:spLocks noGrp="1" noChangeArrowheads="1"/>
          </p:cNvSpPr>
          <p:nvPr>
            <p:ph type="sldNum" sz="quarter" idx="5"/>
          </p:nvPr>
        </p:nvSpPr>
        <p:spPr bwMode="auto">
          <a:noFill/>
          <a:ln>
            <a:miter lim="800000"/>
          </a:ln>
        </p:spPr>
        <p:txBody>
          <a:bodyPr/>
          <a:lstStyle/>
          <a:p>
            <a:fld id="{EEAFF227-7F20-4DA8-8FDA-44BEEE954114}"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ChangeArrowheads="1" noTextEdit="1"/>
          </p:cNvSpPr>
          <p:nvPr>
            <p:ph type="sldImg" idx="4294967295"/>
          </p:nvPr>
        </p:nvSpPr>
        <p:spPr>
          <a:ln>
            <a:miter lim="800000"/>
          </a:ln>
        </p:spPr>
      </p:sp>
      <p:sp>
        <p:nvSpPr>
          <p:cNvPr id="49155" name="文本占位符 2"/>
          <p:cNvSpPr>
            <a:spLocks noGrp="1" noChangeArrowheads="1"/>
          </p:cNvSpPr>
          <p:nvPr>
            <p:ph type="body" idx="4294967295"/>
          </p:nvPr>
        </p:nvSpPr>
        <p:spPr>
          <a:noFill/>
        </p:spPr>
        <p:txBody>
          <a:bodyPr/>
          <a:lstStyle/>
          <a:p>
            <a:pPr eaLnBrk="1" hangingPunct="1"/>
            <a:endParaRPr lang="zh-CN" altLang="en-US"/>
          </a:p>
        </p:txBody>
      </p:sp>
      <p:sp>
        <p:nvSpPr>
          <p:cNvPr id="49156" name="灯片编号占位符 3"/>
          <p:cNvSpPr>
            <a:spLocks noGrp="1" noChangeArrowheads="1"/>
          </p:cNvSpPr>
          <p:nvPr>
            <p:ph type="sldNum" sz="quarter" idx="5"/>
          </p:nvPr>
        </p:nvSpPr>
        <p:spPr bwMode="auto">
          <a:noFill/>
          <a:ln>
            <a:miter lim="800000"/>
          </a:ln>
        </p:spPr>
        <p:txBody>
          <a:bodyPr/>
          <a:lstStyle/>
          <a:p>
            <a:fld id="{CCEDD406-8F44-4401-9932-B6C8EF0C44BA}"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idx="4294967295"/>
          </p:nvPr>
        </p:nvSpPr>
        <p:spPr>
          <a:ln>
            <a:miter lim="800000"/>
          </a:ln>
        </p:spPr>
      </p:sp>
      <p:sp>
        <p:nvSpPr>
          <p:cNvPr id="50179" name="备注占位符 2"/>
          <p:cNvSpPr>
            <a:spLocks noGrp="1" noChangeArrowheads="1"/>
          </p:cNvSpPr>
          <p:nvPr>
            <p:ph type="body" idx="4294967295"/>
          </p:nvPr>
        </p:nvSpPr>
        <p:spPr>
          <a:noFill/>
        </p:spPr>
        <p:txBody>
          <a:bodyPr/>
          <a:lstStyle/>
          <a:p>
            <a:pPr eaLnBrk="1" hangingPunct="1"/>
            <a:endParaRPr lang="zh-CN" altLang="en-US"/>
          </a:p>
        </p:txBody>
      </p:sp>
      <p:sp>
        <p:nvSpPr>
          <p:cNvPr id="50180" name="灯片编号占位符 3"/>
          <p:cNvSpPr>
            <a:spLocks noGrp="1" noChangeArrowheads="1"/>
          </p:cNvSpPr>
          <p:nvPr>
            <p:ph type="sldNum" sz="quarter" idx="5"/>
          </p:nvPr>
        </p:nvSpPr>
        <p:spPr bwMode="auto">
          <a:xfrm>
            <a:off x="3884613" y="8685213"/>
            <a:ext cx="2971800" cy="457200"/>
          </a:xfrm>
          <a:noFill/>
          <a:ln>
            <a:miter lim="800000"/>
          </a:ln>
        </p:spPr>
        <p:txBody>
          <a:bodyPr/>
          <a:lstStyle/>
          <a:p>
            <a:fld id="{6F92B71E-25F2-4AA4-91FD-9D4A7105099D}" type="slidenum">
              <a:rPr lang="en-US" altLang="zh-CN" smtClean="0">
                <a:latin typeface="Arial" panose="020B0604020202020204" pitchFamily="34" charset="0"/>
              </a:rPr>
              <a:pPr/>
              <a:t>3</a:t>
            </a:fld>
            <a:endParaRPr lang="en-US" altLang="zh-CN">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idx="4294967295"/>
          </p:nvPr>
        </p:nvSpPr>
        <p:spPr>
          <a:ln>
            <a:miter lim="800000"/>
          </a:ln>
        </p:spPr>
      </p:sp>
      <p:sp>
        <p:nvSpPr>
          <p:cNvPr id="50179" name="备注占位符 2"/>
          <p:cNvSpPr>
            <a:spLocks noGrp="1" noChangeArrowheads="1"/>
          </p:cNvSpPr>
          <p:nvPr>
            <p:ph type="body" idx="4294967295"/>
          </p:nvPr>
        </p:nvSpPr>
        <p:spPr>
          <a:noFill/>
        </p:spPr>
        <p:txBody>
          <a:bodyPr/>
          <a:lstStyle/>
          <a:p>
            <a:pPr eaLnBrk="1" hangingPunct="1"/>
            <a:endParaRPr lang="zh-CN" altLang="en-US"/>
          </a:p>
        </p:txBody>
      </p:sp>
      <p:sp>
        <p:nvSpPr>
          <p:cNvPr id="50180" name="灯片编号占位符 3"/>
          <p:cNvSpPr>
            <a:spLocks noGrp="1" noChangeArrowheads="1"/>
          </p:cNvSpPr>
          <p:nvPr>
            <p:ph type="sldNum" sz="quarter" idx="5"/>
          </p:nvPr>
        </p:nvSpPr>
        <p:spPr bwMode="auto">
          <a:xfrm>
            <a:off x="3884613" y="8685213"/>
            <a:ext cx="2971800" cy="457200"/>
          </a:xfrm>
          <a:noFill/>
          <a:ln>
            <a:miter lim="800000"/>
          </a:ln>
        </p:spPr>
        <p:txBody>
          <a:bodyPr/>
          <a:lstStyle/>
          <a:p>
            <a:fld id="{6F92B71E-25F2-4AA4-91FD-9D4A7105099D}" type="slidenum">
              <a:rPr lang="en-US" altLang="zh-CN" smtClean="0">
                <a:latin typeface="Arial" panose="020B0604020202020204" pitchFamily="34" charset="0"/>
              </a:rPr>
              <a:pPr/>
              <a:t>9</a:t>
            </a:fld>
            <a:endParaRPr lang="en-US" altLang="zh-CN">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pPr/>
              <a:t>12</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pPr/>
              <a:t>13</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idx="4294967295"/>
          </p:nvPr>
        </p:nvSpPr>
        <p:spPr>
          <a:ln>
            <a:miter lim="800000"/>
          </a:ln>
        </p:spPr>
      </p:sp>
      <p:sp>
        <p:nvSpPr>
          <p:cNvPr id="50179" name="备注占位符 2"/>
          <p:cNvSpPr>
            <a:spLocks noGrp="1" noChangeArrowheads="1"/>
          </p:cNvSpPr>
          <p:nvPr>
            <p:ph type="body" idx="4294967295"/>
          </p:nvPr>
        </p:nvSpPr>
        <p:spPr>
          <a:noFill/>
        </p:spPr>
        <p:txBody>
          <a:bodyPr/>
          <a:lstStyle/>
          <a:p>
            <a:pPr eaLnBrk="1" hangingPunct="1"/>
            <a:endParaRPr lang="zh-CN" altLang="en-US"/>
          </a:p>
        </p:txBody>
      </p:sp>
      <p:sp>
        <p:nvSpPr>
          <p:cNvPr id="50180" name="灯片编号占位符 3"/>
          <p:cNvSpPr>
            <a:spLocks noGrp="1" noChangeArrowheads="1"/>
          </p:cNvSpPr>
          <p:nvPr>
            <p:ph type="sldNum" sz="quarter" idx="5"/>
          </p:nvPr>
        </p:nvSpPr>
        <p:spPr bwMode="auto">
          <a:xfrm>
            <a:off x="3884613" y="8685213"/>
            <a:ext cx="2971800" cy="457200"/>
          </a:xfrm>
          <a:noFill/>
          <a:ln>
            <a:miter lim="800000"/>
          </a:ln>
        </p:spPr>
        <p:txBody>
          <a:bodyPr/>
          <a:lstStyle/>
          <a:p>
            <a:fld id="{6F92B71E-25F2-4AA4-91FD-9D4A7105099D}" type="slidenum">
              <a:rPr lang="en-US" altLang="zh-CN" smtClean="0">
                <a:latin typeface="Arial" panose="020B0604020202020204" pitchFamily="34" charset="0"/>
              </a:rPr>
              <a:pPr/>
              <a:t>14</a:t>
            </a:fld>
            <a:endParaRPr lang="en-US" altLang="zh-CN">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idx="4294967295"/>
          </p:nvPr>
        </p:nvSpPr>
        <p:spPr>
          <a:ln>
            <a:miter lim="800000"/>
          </a:ln>
        </p:spPr>
      </p:sp>
      <p:sp>
        <p:nvSpPr>
          <p:cNvPr id="50179" name="备注占位符 2"/>
          <p:cNvSpPr>
            <a:spLocks noGrp="1" noChangeArrowheads="1"/>
          </p:cNvSpPr>
          <p:nvPr>
            <p:ph type="body" idx="4294967295"/>
          </p:nvPr>
        </p:nvSpPr>
        <p:spPr>
          <a:noFill/>
        </p:spPr>
        <p:txBody>
          <a:bodyPr/>
          <a:lstStyle/>
          <a:p>
            <a:pPr eaLnBrk="1" hangingPunct="1"/>
            <a:endParaRPr lang="zh-CN" altLang="en-US"/>
          </a:p>
        </p:txBody>
      </p:sp>
      <p:sp>
        <p:nvSpPr>
          <p:cNvPr id="50180" name="灯片编号占位符 3"/>
          <p:cNvSpPr>
            <a:spLocks noGrp="1" noChangeArrowheads="1"/>
          </p:cNvSpPr>
          <p:nvPr>
            <p:ph type="sldNum" sz="quarter" idx="5"/>
          </p:nvPr>
        </p:nvSpPr>
        <p:spPr bwMode="auto">
          <a:xfrm>
            <a:off x="3884613" y="8685213"/>
            <a:ext cx="2971800" cy="457200"/>
          </a:xfrm>
          <a:noFill/>
          <a:ln>
            <a:miter lim="800000"/>
          </a:ln>
        </p:spPr>
        <p:txBody>
          <a:bodyPr/>
          <a:lstStyle/>
          <a:p>
            <a:fld id="{6F92B71E-25F2-4AA4-91FD-9D4A7105099D}" type="slidenum">
              <a:rPr lang="en-US" altLang="zh-CN" smtClean="0">
                <a:latin typeface="Arial" panose="020B0604020202020204" pitchFamily="34" charset="0"/>
              </a:rPr>
              <a:pPr/>
              <a:t>21</a:t>
            </a:fld>
            <a:endParaRPr lang="en-US" altLang="zh-CN">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idx="4294967295"/>
          </p:nvPr>
        </p:nvSpPr>
        <p:spPr>
          <a:ln>
            <a:miter lim="800000"/>
          </a:ln>
        </p:spPr>
      </p:sp>
      <p:sp>
        <p:nvSpPr>
          <p:cNvPr id="50179" name="备注占位符 2"/>
          <p:cNvSpPr>
            <a:spLocks noGrp="1" noChangeArrowheads="1"/>
          </p:cNvSpPr>
          <p:nvPr>
            <p:ph type="body" idx="4294967295"/>
          </p:nvPr>
        </p:nvSpPr>
        <p:spPr>
          <a:noFill/>
        </p:spPr>
        <p:txBody>
          <a:bodyPr/>
          <a:lstStyle/>
          <a:p>
            <a:pPr eaLnBrk="1" hangingPunct="1"/>
            <a:endParaRPr lang="zh-CN" altLang="en-US"/>
          </a:p>
        </p:txBody>
      </p:sp>
      <p:sp>
        <p:nvSpPr>
          <p:cNvPr id="50180" name="灯片编号占位符 3"/>
          <p:cNvSpPr>
            <a:spLocks noGrp="1" noChangeArrowheads="1"/>
          </p:cNvSpPr>
          <p:nvPr>
            <p:ph type="sldNum" sz="quarter" idx="5"/>
          </p:nvPr>
        </p:nvSpPr>
        <p:spPr bwMode="auto">
          <a:xfrm>
            <a:off x="3884613" y="8685213"/>
            <a:ext cx="2971800" cy="457200"/>
          </a:xfrm>
          <a:noFill/>
          <a:ln>
            <a:miter lim="800000"/>
          </a:ln>
        </p:spPr>
        <p:txBody>
          <a:bodyPr/>
          <a:lstStyle/>
          <a:p>
            <a:fld id="{6F92B71E-25F2-4AA4-91FD-9D4A7105099D}" type="slidenum">
              <a:rPr lang="en-US" altLang="zh-CN" smtClean="0">
                <a:latin typeface="Arial" panose="020B0604020202020204" pitchFamily="34" charset="0"/>
              </a:rPr>
              <a:pPr/>
              <a:t>26</a:t>
            </a:fld>
            <a:endParaRPr lang="en-US" altLang="zh-CN">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idx="4294967295"/>
          </p:nvPr>
        </p:nvSpPr>
        <p:spPr>
          <a:ln>
            <a:miter lim="800000"/>
          </a:ln>
        </p:spPr>
      </p:sp>
      <p:sp>
        <p:nvSpPr>
          <p:cNvPr id="50179" name="备注占位符 2"/>
          <p:cNvSpPr>
            <a:spLocks noGrp="1" noChangeArrowheads="1"/>
          </p:cNvSpPr>
          <p:nvPr>
            <p:ph type="body" idx="4294967295"/>
          </p:nvPr>
        </p:nvSpPr>
        <p:spPr>
          <a:noFill/>
        </p:spPr>
        <p:txBody>
          <a:bodyPr/>
          <a:lstStyle/>
          <a:p>
            <a:pPr eaLnBrk="1" hangingPunct="1"/>
            <a:endParaRPr lang="zh-CN" altLang="en-US"/>
          </a:p>
        </p:txBody>
      </p:sp>
      <p:sp>
        <p:nvSpPr>
          <p:cNvPr id="50180" name="灯片编号占位符 3"/>
          <p:cNvSpPr>
            <a:spLocks noGrp="1" noChangeArrowheads="1"/>
          </p:cNvSpPr>
          <p:nvPr>
            <p:ph type="sldNum" sz="quarter" idx="5"/>
          </p:nvPr>
        </p:nvSpPr>
        <p:spPr bwMode="auto">
          <a:xfrm>
            <a:off x="3884613" y="8685213"/>
            <a:ext cx="2971800" cy="457200"/>
          </a:xfrm>
          <a:noFill/>
          <a:ln>
            <a:miter lim="800000"/>
          </a:ln>
        </p:spPr>
        <p:txBody>
          <a:bodyPr/>
          <a:lstStyle/>
          <a:p>
            <a:fld id="{6F92B71E-25F2-4AA4-91FD-9D4A7105099D}" type="slidenum">
              <a:rPr lang="en-US" altLang="zh-CN" smtClean="0">
                <a:latin typeface="Arial" panose="020B0604020202020204" pitchFamily="34" charset="0"/>
              </a:rPr>
              <a:pPr/>
              <a:t>32</a:t>
            </a:fld>
            <a:endParaRPr lang="en-US" altLang="zh-CN">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idx="4294967295"/>
          </p:nvPr>
        </p:nvSpPr>
        <p:spPr>
          <a:ln>
            <a:miter lim="800000"/>
          </a:ln>
        </p:spPr>
      </p:sp>
      <p:sp>
        <p:nvSpPr>
          <p:cNvPr id="50179" name="备注占位符 2"/>
          <p:cNvSpPr>
            <a:spLocks noGrp="1" noChangeArrowheads="1"/>
          </p:cNvSpPr>
          <p:nvPr>
            <p:ph type="body" idx="4294967295"/>
          </p:nvPr>
        </p:nvSpPr>
        <p:spPr>
          <a:noFill/>
        </p:spPr>
        <p:txBody>
          <a:bodyPr/>
          <a:lstStyle/>
          <a:p>
            <a:pPr eaLnBrk="1" hangingPunct="1"/>
            <a:endParaRPr lang="zh-CN" altLang="en-US"/>
          </a:p>
        </p:txBody>
      </p:sp>
      <p:sp>
        <p:nvSpPr>
          <p:cNvPr id="50180" name="灯片编号占位符 3"/>
          <p:cNvSpPr>
            <a:spLocks noGrp="1" noChangeArrowheads="1"/>
          </p:cNvSpPr>
          <p:nvPr>
            <p:ph type="sldNum" sz="quarter" idx="5"/>
          </p:nvPr>
        </p:nvSpPr>
        <p:spPr bwMode="auto">
          <a:xfrm>
            <a:off x="3884613" y="8685213"/>
            <a:ext cx="2971800" cy="457200"/>
          </a:xfrm>
          <a:noFill/>
          <a:ln>
            <a:miter lim="800000"/>
          </a:ln>
        </p:spPr>
        <p:txBody>
          <a:bodyPr/>
          <a:lstStyle/>
          <a:p>
            <a:fld id="{6F92B71E-25F2-4AA4-91FD-9D4A7105099D}" type="slidenum">
              <a:rPr lang="en-US" altLang="zh-CN" smtClean="0">
                <a:latin typeface="Arial" panose="020B0604020202020204" pitchFamily="34" charset="0"/>
              </a:rPr>
              <a:pPr/>
              <a:t>37</a:t>
            </a:fld>
            <a:endParaRPr lang="en-US" altLang="zh-CN">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idx="4294967295"/>
          </p:nvPr>
        </p:nvSpPr>
        <p:spPr>
          <a:xfrm>
            <a:off x="481013" y="1279525"/>
            <a:ext cx="6140450" cy="3454400"/>
          </a:xfrm>
          <a:ln>
            <a:miter lim="800000"/>
          </a:ln>
        </p:spPr>
      </p:sp>
      <p:sp>
        <p:nvSpPr>
          <p:cNvPr id="50179" name="备注占位符 2"/>
          <p:cNvSpPr>
            <a:spLocks noGrp="1" noChangeArrowheads="1"/>
          </p:cNvSpPr>
          <p:nvPr>
            <p:ph type="body" idx="4294967295"/>
          </p:nvPr>
        </p:nvSpPr>
        <p:spPr>
          <a:noFill/>
        </p:spPr>
        <p:txBody>
          <a:bodyPr/>
          <a:lstStyle/>
          <a:p>
            <a:pPr eaLnBrk="1" hangingPunct="1"/>
            <a:endParaRPr lang="zh-CN" altLang="en-US"/>
          </a:p>
        </p:txBody>
      </p:sp>
      <p:sp>
        <p:nvSpPr>
          <p:cNvPr id="50180" name="灯片编号占位符 3"/>
          <p:cNvSpPr>
            <a:spLocks noGrp="1" noChangeArrowheads="1"/>
          </p:cNvSpPr>
          <p:nvPr>
            <p:ph type="sldNum" sz="quarter" idx="5"/>
          </p:nvPr>
        </p:nvSpPr>
        <p:spPr bwMode="auto">
          <a:xfrm>
            <a:off x="3884613" y="8685213"/>
            <a:ext cx="2971800" cy="457200"/>
          </a:xfrm>
          <a:noFill/>
          <a:ln>
            <a:miter lim="800000"/>
          </a:ln>
        </p:spPr>
        <p:txBody>
          <a:bodyPr/>
          <a:lstStyle/>
          <a:p>
            <a:fld id="{6F92B71E-25F2-4AA4-91FD-9D4A7105099D}" type="slidenum">
              <a:rPr lang="en-US" altLang="zh-CN" smtClean="0">
                <a:latin typeface="Arial" panose="020B0604020202020204" pitchFamily="34" charset="0"/>
              </a:rPr>
              <a:pPr/>
              <a:t>54</a:t>
            </a:fld>
            <a:endParaRPr lang="en-US" altLang="zh-CN">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ChangeArrowheads="1" noTextEdit="1"/>
          </p:cNvSpPr>
          <p:nvPr>
            <p:ph type="sldImg" idx="4294967295"/>
          </p:nvPr>
        </p:nvSpPr>
        <p:spPr>
          <a:xfrm>
            <a:off x="481013" y="1279525"/>
            <a:ext cx="6140450" cy="3454400"/>
          </a:xfrm>
          <a:ln>
            <a:miter lim="800000"/>
          </a:ln>
        </p:spPr>
      </p:sp>
      <p:sp>
        <p:nvSpPr>
          <p:cNvPr id="74755" name="文本占位符 2"/>
          <p:cNvSpPr>
            <a:spLocks noGrp="1" noChangeArrowheads="1"/>
          </p:cNvSpPr>
          <p:nvPr>
            <p:ph type="body" idx="4294967295"/>
          </p:nvPr>
        </p:nvSpPr>
        <p:spPr>
          <a:noFill/>
        </p:spPr>
        <p:txBody>
          <a:bodyPr/>
          <a:lstStyle/>
          <a:p>
            <a:pPr eaLnBrk="1" hangingPunct="1"/>
            <a:endParaRPr lang="zh-CN" altLang="en-US"/>
          </a:p>
        </p:txBody>
      </p:sp>
      <p:sp>
        <p:nvSpPr>
          <p:cNvPr id="74756" name="灯片编号占位符 3"/>
          <p:cNvSpPr>
            <a:spLocks noGrp="1" noChangeArrowheads="1"/>
          </p:cNvSpPr>
          <p:nvPr>
            <p:ph type="sldNum" sz="quarter" idx="5"/>
          </p:nvPr>
        </p:nvSpPr>
        <p:spPr bwMode="auto">
          <a:noFill/>
          <a:ln>
            <a:miter lim="800000"/>
          </a:ln>
        </p:spPr>
        <p:txBody>
          <a:bodyPr/>
          <a:lstStyle/>
          <a:p>
            <a:fld id="{65B7EC01-864E-40D4-8ACF-B22006FE1010}" type="slidenum">
              <a:rPr lang="zh-CN" altLang="en-US" smtClean="0"/>
              <a:pPr/>
              <a:t>62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extBox 5"/>
          <p:cNvSpPr txBox="1">
            <a:spLocks noChangeArrowheads="1"/>
          </p:cNvSpPr>
          <p:nvPr userDrawn="1"/>
        </p:nvSpPr>
        <p:spPr bwMode="auto">
          <a:xfrm>
            <a:off x="379413" y="1557338"/>
            <a:ext cx="277812" cy="4086225"/>
          </a:xfrm>
          <a:prstGeom prst="rect">
            <a:avLst/>
          </a:prstGeom>
          <a:noFill/>
          <a:ln w="9525">
            <a:noFill/>
            <a:miter lim="800000"/>
          </a:ln>
        </p:spPr>
        <p:txBody>
          <a:bodyPr vert="eaVert" lIns="0" tIns="0" rIns="0" bIns="0" anchor="ctr">
            <a:spAutoFit/>
          </a:bodyPr>
          <a:lstStyle/>
          <a:p>
            <a:pPr>
              <a:buFont typeface="Arial" panose="020B0604020202020204" pitchFamily="34" charset="0"/>
              <a:buNone/>
              <a:defRPr/>
            </a:pPr>
            <a:r>
              <a:rPr lang="zh-CN" altLang="en-US">
                <a:solidFill>
                  <a:schemeClr val="bg1"/>
                </a:solidFill>
                <a:latin typeface="Impact" panose="020B0806030902050204" pitchFamily="34" charset="0"/>
                <a:ea typeface="微软雅黑" panose="020B0503020204020204" charset="-122"/>
              </a:rPr>
              <a:t>从零起步</a:t>
            </a:r>
            <a:r>
              <a:rPr lang="en-US" altLang="zh-CN">
                <a:solidFill>
                  <a:schemeClr val="bg1"/>
                </a:solidFill>
                <a:latin typeface="Impact" panose="020B0806030902050204" pitchFamily="34" charset="0"/>
                <a:ea typeface="微软雅黑" panose="020B0503020204020204" charset="-122"/>
              </a:rPr>
              <a:t>—— </a:t>
            </a:r>
            <a:r>
              <a:rPr lang="en-US" altLang="en-US">
                <a:solidFill>
                  <a:schemeClr val="bg1"/>
                </a:solidFill>
                <a:latin typeface="Impact" panose="020B0806030902050204" pitchFamily="34" charset="0"/>
                <a:ea typeface="微软雅黑" panose="020B0503020204020204" charset="-122"/>
              </a:rPr>
              <a:t>Premiere Pro CS6 </a:t>
            </a:r>
            <a:r>
              <a:rPr lang="zh-CN" altLang="en-US">
                <a:solidFill>
                  <a:schemeClr val="bg1"/>
                </a:solidFill>
                <a:latin typeface="Impact" panose="020B0806030902050204" pitchFamily="34" charset="0"/>
                <a:ea typeface="微软雅黑" panose="020B0503020204020204" charset="-122"/>
              </a:rPr>
              <a:t>快速上手</a:t>
            </a:r>
            <a:endParaRPr lang="zh-CN" altLang="en-US">
              <a:solidFill>
                <a:schemeClr val="bg1"/>
              </a:solidFill>
              <a:latin typeface="微软雅黑" panose="020B0503020204020204" charset="-122"/>
              <a:ea typeface="微软雅黑" panose="020B0503020204020204" charset="-122"/>
            </a:endParaRPr>
          </a:p>
        </p:txBody>
      </p:sp>
      <p:sp>
        <p:nvSpPr>
          <p:cNvPr id="3" name="标题 1"/>
          <p:cNvSpPr>
            <a:spLocks noGrp="1"/>
          </p:cNvSpPr>
          <p:nvPr userDrawn="1"/>
        </p:nvSpPr>
        <p:spPr>
          <a:xfrm>
            <a:off x="3386773" y="290195"/>
            <a:ext cx="2047875" cy="520700"/>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defRPr>
            </a:lvl1pPr>
          </a:lstStyle>
          <a:p>
            <a:pPr fontAlgn="auto">
              <a:buFont typeface="Arial" panose="020B0604020202020204" pitchFamily="34" charset="0"/>
              <a:buNone/>
              <a:defRPr/>
            </a:pPr>
            <a:r>
              <a:rPr lang="zh-CN" altLang="en-US" noProof="1">
                <a:cs typeface="+mn-cs"/>
              </a:rPr>
              <a:t>章前导读</a:t>
            </a:r>
            <a:endParaRPr lang="zh-CN" altLang="en-US" noProof="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userDrawn="1"/>
        </p:nvSpPr>
        <p:spPr>
          <a:xfrm>
            <a:off x="3390900" y="294005"/>
            <a:ext cx="3558540" cy="715645"/>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defRPr>
            </a:lvl1pPr>
          </a:lstStyle>
          <a:p>
            <a:pPr fontAlgn="auto">
              <a:buFont typeface="Arial" panose="020B0604020202020204" pitchFamily="34" charset="0"/>
              <a:buNone/>
              <a:defRPr/>
            </a:pPr>
            <a:r>
              <a:rPr lang="zh-CN" altLang="en-US" noProof="1">
                <a:cs typeface="+mn-cs"/>
              </a:rPr>
              <a:t>4.1  vi的工作方式</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2" grpId="2"/>
      <p:bldP spid="2" grpId="3"/>
      <p:bldP spid="2" grpId="4"/>
      <p:bldP spid="2" grpId="5"/>
      <p:bldP spid="2" grpId="6"/>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标题，文本与内容">
    <p:spTree>
      <p:nvGrpSpPr>
        <p:cNvPr id="1" name=""/>
        <p:cNvGrpSpPr/>
        <p:nvPr/>
      </p:nvGrpSpPr>
      <p:grpSpPr>
        <a:xfrm>
          <a:off x="0" y="0"/>
          <a:ext cx="0" cy="0"/>
          <a:chOff x="0" y="0"/>
          <a:chExt cx="0" cy="0"/>
        </a:xfrm>
      </p:grpSpPr>
      <p:sp>
        <p:nvSpPr>
          <p:cNvPr id="2" name="标题 1"/>
          <p:cNvSpPr>
            <a:spLocks noGrp="1"/>
          </p:cNvSpPr>
          <p:nvPr userDrawn="1"/>
        </p:nvSpPr>
        <p:spPr>
          <a:xfrm>
            <a:off x="3335655" y="294005"/>
            <a:ext cx="5581650" cy="627063"/>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defRPr>
            </a:lvl1pPr>
          </a:lstStyle>
          <a:p>
            <a:pPr fontAlgn="auto">
              <a:buFont typeface="Arial" panose="020B0604020202020204" pitchFamily="34" charset="0"/>
              <a:buNone/>
              <a:defRPr/>
            </a:pPr>
            <a:r>
              <a:rPr lang="zh-CN" altLang="en-US" noProof="1">
                <a:cs typeface="+mn-cs"/>
              </a:rPr>
              <a:t>4.2  vi的启动和退出</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文本与内容">
    <p:spTree>
      <p:nvGrpSpPr>
        <p:cNvPr id="1" name=""/>
        <p:cNvGrpSpPr/>
        <p:nvPr/>
      </p:nvGrpSpPr>
      <p:grpSpPr>
        <a:xfrm>
          <a:off x="0" y="0"/>
          <a:ext cx="0" cy="0"/>
          <a:chOff x="0" y="0"/>
          <a:chExt cx="0" cy="0"/>
        </a:xfrm>
      </p:grpSpPr>
      <p:sp>
        <p:nvSpPr>
          <p:cNvPr id="2" name="标题 1"/>
          <p:cNvSpPr>
            <a:spLocks noGrp="1"/>
          </p:cNvSpPr>
          <p:nvPr userDrawn="1"/>
        </p:nvSpPr>
        <p:spPr>
          <a:xfrm>
            <a:off x="3335655" y="294005"/>
            <a:ext cx="2852420" cy="627380"/>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defRPr>
            </a:lvl1pPr>
          </a:lstStyle>
          <a:p>
            <a:pPr fontAlgn="auto">
              <a:buFont typeface="Arial" panose="020B0604020202020204" pitchFamily="34" charset="0"/>
              <a:buNone/>
              <a:defRPr/>
            </a:pPr>
            <a:r>
              <a:rPr lang="zh-CN" altLang="en-US" noProof="1">
                <a:cs typeface="+mn-cs"/>
              </a:rPr>
              <a:t>4.3  文本输入</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标题，文本与内容">
    <p:spTree>
      <p:nvGrpSpPr>
        <p:cNvPr id="1" name=""/>
        <p:cNvGrpSpPr/>
        <p:nvPr/>
      </p:nvGrpSpPr>
      <p:grpSpPr>
        <a:xfrm>
          <a:off x="0" y="0"/>
          <a:ext cx="0" cy="0"/>
          <a:chOff x="0" y="0"/>
          <a:chExt cx="0" cy="0"/>
        </a:xfrm>
      </p:grpSpPr>
      <p:sp>
        <p:nvSpPr>
          <p:cNvPr id="2" name="标题 1"/>
          <p:cNvSpPr>
            <a:spLocks noGrp="1"/>
          </p:cNvSpPr>
          <p:nvPr userDrawn="1"/>
        </p:nvSpPr>
        <p:spPr>
          <a:xfrm>
            <a:off x="3379470" y="294005"/>
            <a:ext cx="3122295" cy="627380"/>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defRPr>
            </a:lvl1pPr>
          </a:lstStyle>
          <a:p>
            <a:pPr fontAlgn="auto">
              <a:buFont typeface="Arial" panose="020B0604020202020204" pitchFamily="34" charset="0"/>
              <a:buNone/>
              <a:defRPr/>
            </a:pPr>
            <a:r>
              <a:rPr lang="zh-CN" altLang="en-US" noProof="1">
                <a:cs typeface="+mn-cs"/>
              </a:rPr>
              <a:t>4.4  打开文件</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标题，文本与内容">
    <p:spTree>
      <p:nvGrpSpPr>
        <p:cNvPr id="1" name=""/>
        <p:cNvGrpSpPr/>
        <p:nvPr/>
      </p:nvGrpSpPr>
      <p:grpSpPr>
        <a:xfrm>
          <a:off x="0" y="0"/>
          <a:ext cx="0" cy="0"/>
          <a:chOff x="0" y="0"/>
          <a:chExt cx="0" cy="0"/>
        </a:xfrm>
      </p:grpSpPr>
      <p:sp>
        <p:nvSpPr>
          <p:cNvPr id="2" name="标题 1"/>
          <p:cNvSpPr>
            <a:spLocks noGrp="1"/>
          </p:cNvSpPr>
          <p:nvPr userDrawn="1"/>
        </p:nvSpPr>
        <p:spPr>
          <a:xfrm>
            <a:off x="3485515" y="294005"/>
            <a:ext cx="2988310" cy="627380"/>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defRPr>
            </a:lvl1pPr>
          </a:lstStyle>
          <a:p>
            <a:pPr fontAlgn="auto">
              <a:buFont typeface="Arial" panose="020B0604020202020204" pitchFamily="34" charset="0"/>
              <a:buNone/>
              <a:defRPr/>
            </a:pPr>
            <a:r>
              <a:rPr lang="zh-CN" altLang="en-US" noProof="1">
                <a:cs typeface="+mn-cs"/>
              </a:rPr>
              <a:t>4.5  保存文件</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标题，文本与内容">
    <p:spTree>
      <p:nvGrpSpPr>
        <p:cNvPr id="1" name=""/>
        <p:cNvGrpSpPr/>
        <p:nvPr/>
      </p:nvGrpSpPr>
      <p:grpSpPr>
        <a:xfrm>
          <a:off x="0" y="0"/>
          <a:ext cx="0" cy="0"/>
          <a:chOff x="0" y="0"/>
          <a:chExt cx="0" cy="0"/>
        </a:xfrm>
      </p:grpSpPr>
      <p:sp>
        <p:nvSpPr>
          <p:cNvPr id="2" name="标题 1"/>
          <p:cNvSpPr>
            <a:spLocks noGrp="1"/>
          </p:cNvSpPr>
          <p:nvPr userDrawn="1"/>
        </p:nvSpPr>
        <p:spPr>
          <a:xfrm>
            <a:off x="3455670" y="278765"/>
            <a:ext cx="2597785" cy="627380"/>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defRPr>
            </a:lvl1pPr>
          </a:lstStyle>
          <a:p>
            <a:pPr fontAlgn="auto">
              <a:buFont typeface="Arial" panose="020B0604020202020204" pitchFamily="34" charset="0"/>
              <a:buNone/>
              <a:defRPr/>
            </a:pPr>
            <a:r>
              <a:rPr lang="zh-CN" altLang="en-US" noProof="1">
                <a:cs typeface="+mn-cs"/>
              </a:rPr>
              <a:t>4.6  移动光标</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5_标题，文本与内容">
    <p:spTree>
      <p:nvGrpSpPr>
        <p:cNvPr id="1" name=""/>
        <p:cNvGrpSpPr/>
        <p:nvPr/>
      </p:nvGrpSpPr>
      <p:grpSpPr>
        <a:xfrm>
          <a:off x="0" y="0"/>
          <a:ext cx="0" cy="0"/>
          <a:chOff x="0" y="0"/>
          <a:chExt cx="0" cy="0"/>
        </a:xfrm>
      </p:grpSpPr>
      <p:sp>
        <p:nvSpPr>
          <p:cNvPr id="2" name="标题 1"/>
          <p:cNvSpPr>
            <a:spLocks noGrp="1"/>
          </p:cNvSpPr>
          <p:nvPr userDrawn="1"/>
        </p:nvSpPr>
        <p:spPr>
          <a:xfrm>
            <a:off x="3440430" y="323850"/>
            <a:ext cx="2852420" cy="627380"/>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defRPr>
            </a:lvl1pPr>
          </a:lstStyle>
          <a:p>
            <a:pPr fontAlgn="auto">
              <a:buFont typeface="Arial" panose="020B0604020202020204" pitchFamily="34" charset="0"/>
              <a:buNone/>
              <a:defRPr/>
            </a:pPr>
            <a:r>
              <a:rPr lang="zh-CN" altLang="en-US" noProof="1">
                <a:cs typeface="+mn-cs"/>
              </a:rPr>
              <a:t>4.7  文本修改</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标题，文本与内容">
    <p:spTree>
      <p:nvGrpSpPr>
        <p:cNvPr id="1" name=""/>
        <p:cNvGrpSpPr/>
        <p:nvPr/>
      </p:nvGrpSpPr>
      <p:grpSpPr>
        <a:xfrm>
          <a:off x="0" y="0"/>
          <a:ext cx="0" cy="0"/>
          <a:chOff x="0" y="0"/>
          <a:chExt cx="0" cy="0"/>
        </a:xfrm>
      </p:grpSpPr>
      <p:sp>
        <p:nvSpPr>
          <p:cNvPr id="2" name="标题 1"/>
          <p:cNvSpPr>
            <a:spLocks noGrp="1"/>
          </p:cNvSpPr>
          <p:nvPr userDrawn="1"/>
        </p:nvSpPr>
        <p:spPr>
          <a:xfrm>
            <a:off x="3440430" y="323850"/>
            <a:ext cx="2852420" cy="627380"/>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defRPr>
            </a:lvl1pPr>
          </a:lstStyle>
          <a:p>
            <a:pPr fontAlgn="auto">
              <a:buFont typeface="Arial" panose="020B0604020202020204" pitchFamily="34" charset="0"/>
              <a:buNone/>
              <a:defRPr/>
            </a:pPr>
            <a:r>
              <a:rPr lang="zh-CN" altLang="en-US" noProof="1">
                <a:cs typeface="+mn-cs"/>
              </a:rPr>
              <a:t>4.8  ex命令</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封面与封底">
    <p:spTree>
      <p:nvGrpSpPr>
        <p:cNvPr id="1" name=""/>
        <p:cNvGrpSpPr/>
        <p:nvPr/>
      </p:nvGrpSpPr>
      <p:grpSpPr>
        <a:xfrm>
          <a:off x="0" y="0"/>
          <a:ext cx="0" cy="0"/>
          <a:chOff x="0" y="0"/>
          <a:chExt cx="0" cy="0"/>
        </a:xfrm>
      </p:grpSpPr>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封面与封底">
    <p:spTree>
      <p:nvGrpSpPr>
        <p:cNvPr id="1" name=""/>
        <p:cNvGrpSpPr/>
        <p:nvPr/>
      </p:nvGrpSpPr>
      <p:grpSpPr>
        <a:xfrm>
          <a:off x="0" y="0"/>
          <a:ext cx="0" cy="0"/>
          <a:chOff x="0" y="0"/>
          <a:chExt cx="0" cy="0"/>
        </a:xfrm>
      </p:grpSpPr>
      <p:sp>
        <p:nvSpPr>
          <p:cNvPr id="2" name="标题 1"/>
          <p:cNvSpPr>
            <a:spLocks noGrp="1"/>
          </p:cNvSpPr>
          <p:nvPr userDrawn="1"/>
        </p:nvSpPr>
        <p:spPr>
          <a:xfrm>
            <a:off x="3440430" y="323850"/>
            <a:ext cx="2852420" cy="627380"/>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defRPr>
            </a:lvl1pPr>
          </a:lstStyle>
          <a:p>
            <a:pPr fontAlgn="auto">
              <a:buFont typeface="Arial" panose="020B0604020202020204" pitchFamily="34" charset="0"/>
              <a:buNone/>
              <a:defRPr/>
            </a:pPr>
            <a:r>
              <a:rPr lang="zh-CN" altLang="en-US" noProof="1">
                <a:cs typeface="+mn-cs"/>
              </a:rPr>
              <a:t>问题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664599" name="Rectangle 23"/>
          <p:cNvSpPr>
            <a:spLocks noChangeArrowheads="1"/>
          </p:cNvSpPr>
          <p:nvPr/>
        </p:nvSpPr>
        <p:spPr bwMode="gray">
          <a:xfrm>
            <a:off x="438150" y="163830"/>
            <a:ext cx="2504440" cy="814070"/>
          </a:xfrm>
          <a:prstGeom prst="rect">
            <a:avLst/>
          </a:prstGeom>
          <a:ln>
            <a:noFill/>
          </a:ln>
        </p:spPr>
        <p:style>
          <a:lnRef idx="1">
            <a:schemeClr val="dk1"/>
          </a:lnRef>
          <a:fillRef idx="2">
            <a:schemeClr val="dk1"/>
          </a:fillRef>
          <a:effectRef idx="1">
            <a:schemeClr val="dk1"/>
          </a:effectRef>
          <a:fontRef idx="minor">
            <a:schemeClr val="dk1"/>
          </a:fontRef>
        </p:style>
        <p:txBody>
          <a:bodyPr wrap="none" anchor="ctr"/>
          <a:lstStyle/>
          <a:p>
            <a:pPr fontAlgn="auto">
              <a:buFont typeface="Arial" panose="020B0604020202020204" pitchFamily="34" charset="0"/>
              <a:buNone/>
              <a:defRPr/>
            </a:pPr>
            <a:endParaRPr lang="zh-CN" altLang="en-US" noProof="1"/>
          </a:p>
        </p:txBody>
      </p:sp>
      <p:pic>
        <p:nvPicPr>
          <p:cNvPr id="1027" name="图片 3" descr="timg"/>
          <p:cNvPicPr>
            <a:picLocks noChangeAspect="1" noChangeArrowheads="1"/>
          </p:cNvPicPr>
          <p:nvPr/>
        </p:nvPicPr>
        <p:blipFill>
          <a:blip r:embed="rId13" cstate="print"/>
          <a:srcRect/>
          <a:stretch>
            <a:fillRect/>
          </a:stretch>
        </p:blipFill>
        <p:spPr bwMode="auto">
          <a:xfrm>
            <a:off x="554990" y="312738"/>
            <a:ext cx="541338" cy="504825"/>
          </a:xfrm>
          <a:prstGeom prst="rect">
            <a:avLst/>
          </a:prstGeom>
          <a:noFill/>
          <a:ln w="9525">
            <a:noFill/>
            <a:miter lim="800000"/>
            <a:headEnd/>
            <a:tailEnd/>
          </a:ln>
        </p:spPr>
      </p:pic>
      <p:sp>
        <p:nvSpPr>
          <p:cNvPr id="1028" name="TextBox 4"/>
          <p:cNvSpPr txBox="1">
            <a:spLocks noChangeArrowheads="1"/>
          </p:cNvSpPr>
          <p:nvPr/>
        </p:nvSpPr>
        <p:spPr bwMode="auto">
          <a:xfrm>
            <a:off x="1125220" y="323850"/>
            <a:ext cx="1598295" cy="548640"/>
          </a:xfrm>
          <a:prstGeom prst="rect">
            <a:avLst/>
          </a:prstGeom>
          <a:noFill/>
          <a:ln w="9525">
            <a:noFill/>
            <a:miter lim="800000"/>
          </a:ln>
        </p:spPr>
        <p:txBody>
          <a:bodyPr wrap="square">
            <a:spAutoFit/>
          </a:bodyPr>
          <a:lstStyle/>
          <a:p>
            <a:pPr>
              <a:buFont typeface="Arial" panose="020B0604020202020204" pitchFamily="34" charset="0"/>
              <a:buNone/>
              <a:defRPr/>
            </a:pPr>
            <a:r>
              <a:rPr lang="zh-CN" altLang="en-US" sz="2800" b="1">
                <a:latin typeface="微软雅黑" panose="020B0503020204020204" charset="-122"/>
                <a:ea typeface="微软雅黑" panose="020B0503020204020204" charset="-122"/>
              </a:rPr>
              <a:t>vi编辑器</a:t>
            </a:r>
          </a:p>
        </p:txBody>
      </p:sp>
      <p:sp>
        <p:nvSpPr>
          <p:cNvPr id="36" name="矩形 35"/>
          <p:cNvSpPr/>
          <p:nvPr/>
        </p:nvSpPr>
        <p:spPr>
          <a:xfrm>
            <a:off x="41275" y="152400"/>
            <a:ext cx="396875" cy="827088"/>
          </a:xfrm>
          <a:prstGeom prst="rect">
            <a:avLst/>
          </a:prstGeom>
          <a:ln>
            <a:noFill/>
          </a:ln>
        </p:spPr>
        <p:style>
          <a:lnRef idx="1">
            <a:schemeClr val="dk1"/>
          </a:lnRef>
          <a:fillRef idx="2">
            <a:schemeClr val="dk1"/>
          </a:fillRef>
          <a:effectRef idx="1">
            <a:schemeClr val="dk1"/>
          </a:effectRef>
          <a:fontRef idx="minor">
            <a:schemeClr val="dk1"/>
          </a:fontRef>
        </p:style>
        <p:txBody>
          <a:bodyPr anchor="ctr"/>
          <a:lstStyle/>
          <a:p>
            <a:pPr algn="ctr" fontAlgn="auto">
              <a:buFont typeface="Arial" panose="020B0604020202020204" pitchFamily="34" charset="0"/>
              <a:buNone/>
              <a:defRPr/>
            </a:pPr>
            <a:endParaRPr lang="zh-CN" altLang="en-US" noProof="1">
              <a:solidFill>
                <a:schemeClr val="tx1"/>
              </a:solidFill>
            </a:endParaRPr>
          </a:p>
        </p:txBody>
      </p:sp>
      <p:sp>
        <p:nvSpPr>
          <p:cNvPr id="1030" name="TextBox 4"/>
          <p:cNvSpPr txBox="1">
            <a:spLocks noChangeArrowheads="1"/>
          </p:cNvSpPr>
          <p:nvPr/>
        </p:nvSpPr>
        <p:spPr bwMode="auto">
          <a:xfrm>
            <a:off x="109221" y="98425"/>
            <a:ext cx="260985" cy="955675"/>
          </a:xfrm>
          <a:prstGeom prst="rect">
            <a:avLst/>
          </a:prstGeom>
          <a:noFill/>
          <a:ln w="9525">
            <a:noFill/>
            <a:miter lim="800000"/>
          </a:ln>
        </p:spPr>
        <p:txBody>
          <a:bodyPr vert="eaVert" lIns="0" tIns="0" rIns="0" bIns="0" anchor="ctr">
            <a:spAutoFit/>
          </a:bodyPr>
          <a:lstStyle/>
          <a:p>
            <a:pPr algn="ctr">
              <a:buFont typeface="Arial" panose="020B0604020202020204" pitchFamily="34" charset="0"/>
              <a:buNone/>
              <a:defRPr/>
            </a:pPr>
            <a:r>
              <a:rPr lang="zh-CN" altLang="en-US" sz="1600">
                <a:solidFill>
                  <a:srgbClr val="404040"/>
                </a:solidFill>
                <a:latin typeface="微软雅黑" panose="020B0503020204020204" charset="-122"/>
                <a:ea typeface="微软雅黑" panose="020B0503020204020204" charset="-122"/>
              </a:rPr>
              <a:t>第四章</a:t>
            </a:r>
          </a:p>
        </p:txBody>
      </p:sp>
      <p:sp>
        <p:nvSpPr>
          <p:cNvPr id="1031" name="饼形 9"/>
          <p:cNvSpPr>
            <a:spLocks noChangeArrowheads="1"/>
          </p:cNvSpPr>
          <p:nvPr/>
        </p:nvSpPr>
        <p:spPr bwMode="auto">
          <a:xfrm rot="-10440000">
            <a:off x="11614150" y="6323013"/>
            <a:ext cx="1189038" cy="1089025"/>
          </a:xfrm>
          <a:custGeom>
            <a:avLst/>
            <a:gdLst/>
            <a:ahLst/>
            <a:cxnLst>
              <a:cxn ang="0">
                <a:pos x="1184933" y="482865"/>
              </a:cxn>
              <a:cxn ang="0">
                <a:pos x="1188720" y="544195"/>
              </a:cxn>
              <a:cxn ang="0">
                <a:pos x="650440" y="1085999"/>
              </a:cxn>
              <a:cxn ang="0">
                <a:pos x="594360" y="544195"/>
              </a:cxn>
            </a:cxnLst>
            <a:rect l="0" t="0" r="r" b="b"/>
            <a:pathLst>
              <a:path w="1188720" h="1088390">
                <a:moveTo>
                  <a:pt x="1184933" y="482865"/>
                </a:moveTo>
                <a:cubicBezTo>
                  <a:pt x="1187451" y="502959"/>
                  <a:pt x="1188720" y="523442"/>
                  <a:pt x="1188720" y="544195"/>
                </a:cubicBezTo>
                <a:cubicBezTo>
                  <a:pt x="1188720" y="827482"/>
                  <a:pt x="952307" y="1060213"/>
                  <a:pt x="650440" y="1085999"/>
                </a:cubicBezTo>
                <a:lnTo>
                  <a:pt x="594360" y="544195"/>
                </a:lnTo>
                <a:close/>
              </a:path>
            </a:pathLst>
          </a:custGeom>
          <a:solidFill>
            <a:srgbClr val="00B0F0"/>
          </a:solidFill>
          <a:ln w="9525">
            <a:noFill/>
            <a:round/>
          </a:ln>
        </p:spPr>
        <p:txBody>
          <a:bodyPr/>
          <a:lstStyle/>
          <a:p>
            <a:pPr>
              <a:buFont typeface="Arial" panose="020B0604020202020204" pitchFamily="34" charset="0"/>
              <a:buNone/>
              <a:defRPr/>
            </a:pPr>
            <a:endParaRPr lang="zh-CN" altLang="en-US"/>
          </a:p>
        </p:txBody>
      </p:sp>
      <p:sp>
        <p:nvSpPr>
          <p:cNvPr id="11" name="文本框 10"/>
          <p:cNvSpPr txBox="1"/>
          <p:nvPr/>
        </p:nvSpPr>
        <p:spPr>
          <a:xfrm>
            <a:off x="11721465" y="6453505"/>
            <a:ext cx="659765" cy="365760"/>
          </a:xfrm>
          <a:prstGeom prst="rect">
            <a:avLst/>
          </a:prstGeom>
          <a:noFill/>
        </p:spPr>
        <p:txBody>
          <a:bodyPr wrap="square">
            <a:spAutoFit/>
          </a:bodyPr>
          <a:lstStyle/>
          <a:p>
            <a:pPr fontAlgn="auto">
              <a:buFont typeface="Arial" panose="020B0604020202020204" pitchFamily="34" charset="0"/>
              <a:buNone/>
              <a:defRPr/>
            </a:pPr>
            <a:fld id="{814D200E-B95F-4368-AFE5-0261574EA689}" type="slidenum">
              <a:rPr lang="zh-CN" altLang="en-US" b="1" noProof="1">
                <a:effectLst>
                  <a:innerShdw blurRad="63500" dist="50800" dir="18900000">
                    <a:prstClr val="black">
                      <a:alpha val="50000"/>
                    </a:prstClr>
                  </a:innerShdw>
                </a:effectLst>
                <a:latin typeface="Times New Roman" panose="02020603050405020304" pitchFamily="18" charset="0"/>
                <a:ea typeface="楷体" panose="02010609060101010101" pitchFamily="49" charset="-122"/>
                <a:cs typeface="Arial Unicode MS" panose="020B0604020202020204" pitchFamily="34" charset="-122"/>
              </a:rPr>
              <a:pPr fontAlgn="auto">
                <a:buFont typeface="Arial" panose="020B0604020202020204" pitchFamily="34" charset="0"/>
                <a:buNone/>
                <a:defRPr/>
              </a:pPr>
              <a:t>‹#›</a:t>
            </a:fld>
            <a:endParaRPr lang="zh-CN" altLang="en-US" b="1" noProof="1">
              <a:effectLst>
                <a:innerShdw blurRad="63500" dist="50800" dir="18900000">
                  <a:prstClr val="black">
                    <a:alpha val="50000"/>
                  </a:prstClr>
                </a:innerShdw>
              </a:effectLst>
              <a:latin typeface="Times New Roman" panose="02020603050405020304" pitchFamily="18" charset="0"/>
              <a:ea typeface="楷体" panose="02010609060101010101" pitchFamily="49" charset="-122"/>
              <a:cs typeface="Arial Unicode MS" panose="020B0604020202020204" pitchFamily="34" charset="-122"/>
            </a:endParaRPr>
          </a:p>
        </p:txBody>
      </p:sp>
      <p:sp>
        <p:nvSpPr>
          <p:cNvPr id="1033" name="矩形 5"/>
          <p:cNvSpPr>
            <a:spLocks noChangeArrowheads="1"/>
          </p:cNvSpPr>
          <p:nvPr/>
        </p:nvSpPr>
        <p:spPr bwMode="auto">
          <a:xfrm>
            <a:off x="3136900" y="170180"/>
            <a:ext cx="8587105" cy="820420"/>
          </a:xfrm>
          <a:prstGeom prst="rect">
            <a:avLst/>
          </a:prstGeom>
          <a:gradFill rotWithShape="1">
            <a:gsLst>
              <a:gs pos="0">
                <a:srgbClr val="00B0F0"/>
              </a:gs>
              <a:gs pos="50000">
                <a:srgbClr val="0070C0"/>
              </a:gs>
              <a:gs pos="100000">
                <a:srgbClr val="00B0F0"/>
              </a:gs>
            </a:gsLst>
            <a:lin ang="15720000"/>
          </a:gradFill>
          <a:ln w="9525">
            <a:noFill/>
            <a:miter lim="800000"/>
          </a:ln>
        </p:spPr>
        <p:txBody>
          <a:bodyPr wrap="none" lIns="90000" tIns="46800" rIns="90000" bIns="46800" anchor="ctr"/>
          <a:lstStyle/>
          <a:p>
            <a:pPr algn="ctr">
              <a:buClr>
                <a:schemeClr val="accent1"/>
              </a:buClr>
              <a:buSzPct val="80000"/>
              <a:buFont typeface="Wingdings" panose="05000000000000000000" pitchFamily="2" charset="2"/>
              <a:buNone/>
              <a:defRPr/>
            </a:pPr>
            <a:endParaRPr lang="de-DE" altLang="en-US" sz="16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l" rtl="0" eaLnBrk="0" fontAlgn="base" hangingPunct="0">
        <a:spcBef>
          <a:spcPct val="0"/>
        </a:spcBef>
        <a:spcAft>
          <a:spcPct val="0"/>
        </a:spcAft>
        <a:defRPr sz="24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cs typeface="+mj-cs"/>
        </a:defRPr>
      </a:lvl1pPr>
      <a:lvl2pPr algn="l" rtl="0" eaLnBrk="0" fontAlgn="base" hangingPunct="0">
        <a:spcBef>
          <a:spcPct val="0"/>
        </a:spcBef>
        <a:spcAft>
          <a:spcPct val="0"/>
        </a:spcAft>
        <a:defRPr sz="2400">
          <a:solidFill>
            <a:schemeClr val="tx1"/>
          </a:solidFill>
          <a:latin typeface="宋体" panose="02010600030101010101" pitchFamily="2" charset="-122"/>
          <a:ea typeface="宋体" panose="02010600030101010101" pitchFamily="2" charset="-122"/>
          <a:cs typeface="Arial Unicode MS" panose="020B0604020202020204" pitchFamily="34" charset="-128"/>
        </a:defRPr>
      </a:lvl2pPr>
      <a:lvl3pPr algn="l" rtl="0" eaLnBrk="0" fontAlgn="base" hangingPunct="0">
        <a:spcBef>
          <a:spcPct val="0"/>
        </a:spcBef>
        <a:spcAft>
          <a:spcPct val="0"/>
        </a:spcAft>
        <a:defRPr sz="2400">
          <a:solidFill>
            <a:schemeClr val="tx1"/>
          </a:solidFill>
          <a:latin typeface="宋体" panose="02010600030101010101" pitchFamily="2" charset="-122"/>
          <a:ea typeface="宋体" panose="02010600030101010101" pitchFamily="2" charset="-122"/>
          <a:cs typeface="Arial Unicode MS" panose="020B0604020202020204" pitchFamily="34" charset="-128"/>
        </a:defRPr>
      </a:lvl3pPr>
      <a:lvl4pPr algn="l" rtl="0" eaLnBrk="0" fontAlgn="base" hangingPunct="0">
        <a:spcBef>
          <a:spcPct val="0"/>
        </a:spcBef>
        <a:spcAft>
          <a:spcPct val="0"/>
        </a:spcAft>
        <a:defRPr sz="2400">
          <a:solidFill>
            <a:schemeClr val="tx1"/>
          </a:solidFill>
          <a:latin typeface="宋体" panose="02010600030101010101" pitchFamily="2" charset="-122"/>
          <a:ea typeface="宋体" panose="02010600030101010101" pitchFamily="2" charset="-122"/>
          <a:cs typeface="Arial Unicode MS" panose="020B0604020202020204" pitchFamily="34" charset="-128"/>
        </a:defRPr>
      </a:lvl4pPr>
      <a:lvl5pPr algn="l" rtl="0" eaLnBrk="0" fontAlgn="base" hangingPunct="0">
        <a:spcBef>
          <a:spcPct val="0"/>
        </a:spcBef>
        <a:spcAft>
          <a:spcPct val="0"/>
        </a:spcAft>
        <a:defRPr sz="2400">
          <a:solidFill>
            <a:schemeClr val="tx1"/>
          </a:solidFill>
          <a:latin typeface="宋体" panose="02010600030101010101" pitchFamily="2" charset="-122"/>
          <a:ea typeface="宋体" panose="02010600030101010101" pitchFamily="2" charset="-122"/>
          <a:cs typeface="Arial Unicode MS" panose="020B0604020202020204" pitchFamily="34" charset="-128"/>
        </a:defRPr>
      </a:lvl5pPr>
      <a:lvl6pPr marL="457200" algn="l" rtl="0" eaLnBrk="1" fontAlgn="base" hangingPunct="1">
        <a:spcBef>
          <a:spcPct val="0"/>
        </a:spcBef>
        <a:spcAft>
          <a:spcPct val="0"/>
        </a:spcAft>
        <a:defRPr sz="2200">
          <a:solidFill>
            <a:schemeClr val="tx2"/>
          </a:solidFill>
          <a:latin typeface="Arial Black" panose="020B0A04020102020204" pitchFamily="34" charset="0"/>
          <a:ea typeface="Arial Unicode MS" panose="020B0604020202020204" pitchFamily="34" charset="-128"/>
          <a:cs typeface="Arial Unicode MS" panose="020B0604020202020204" pitchFamily="34" charset="-128"/>
        </a:defRPr>
      </a:lvl6pPr>
      <a:lvl7pPr marL="914400" algn="l" rtl="0" eaLnBrk="1" fontAlgn="base" hangingPunct="1">
        <a:spcBef>
          <a:spcPct val="0"/>
        </a:spcBef>
        <a:spcAft>
          <a:spcPct val="0"/>
        </a:spcAft>
        <a:defRPr sz="2200">
          <a:solidFill>
            <a:schemeClr val="tx2"/>
          </a:solidFill>
          <a:latin typeface="Arial Black" panose="020B0A04020102020204" pitchFamily="34" charset="0"/>
          <a:ea typeface="Arial Unicode MS" panose="020B0604020202020204" pitchFamily="34" charset="-128"/>
          <a:cs typeface="Arial Unicode MS" panose="020B0604020202020204" pitchFamily="34" charset="-128"/>
        </a:defRPr>
      </a:lvl7pPr>
      <a:lvl8pPr marL="1371600" algn="l" rtl="0" eaLnBrk="1" fontAlgn="base" hangingPunct="1">
        <a:spcBef>
          <a:spcPct val="0"/>
        </a:spcBef>
        <a:spcAft>
          <a:spcPct val="0"/>
        </a:spcAft>
        <a:defRPr sz="2200">
          <a:solidFill>
            <a:schemeClr val="tx2"/>
          </a:solidFill>
          <a:latin typeface="Arial Black" panose="020B0A04020102020204" pitchFamily="34" charset="0"/>
          <a:ea typeface="Arial Unicode MS" panose="020B0604020202020204" pitchFamily="34" charset="-128"/>
          <a:cs typeface="Arial Unicode MS" panose="020B0604020202020204" pitchFamily="34" charset="-128"/>
        </a:defRPr>
      </a:lvl8pPr>
      <a:lvl9pPr marL="1828800" algn="l" rtl="0" eaLnBrk="1" fontAlgn="base" hangingPunct="1">
        <a:spcBef>
          <a:spcPct val="0"/>
        </a:spcBef>
        <a:spcAft>
          <a:spcPct val="0"/>
        </a:spcAft>
        <a:defRPr sz="2200">
          <a:solidFill>
            <a:schemeClr val="tx2"/>
          </a:solidFill>
          <a:latin typeface="Arial Black" panose="020B0A04020102020204" pitchFamily="34" charset="0"/>
          <a:ea typeface="Arial Unicode MS" panose="020B0604020202020204" pitchFamily="34" charset="-128"/>
          <a:cs typeface="Arial Unicode MS" panose="020B0604020202020204" pitchFamily="34" charset="-128"/>
        </a:defRPr>
      </a:lvl9pPr>
    </p:titleStyle>
    <p:bodyStyle>
      <a:lvl1pPr marL="342900" indent="-342900" algn="l" rtl="0" eaLnBrk="0" fontAlgn="base" hangingPunct="0">
        <a:spcBef>
          <a:spcPct val="75000"/>
        </a:spcBef>
        <a:spcAft>
          <a:spcPct val="0"/>
        </a:spcAft>
        <a:buClr>
          <a:schemeClr val="tx1"/>
        </a:buClr>
        <a:buSzPct val="80000"/>
        <a:buFont typeface="Wingdings" panose="05000000000000000000" pitchFamily="2" charset="2"/>
        <a:buChar char="•"/>
        <a:defRPr sz="3200">
          <a:solidFill>
            <a:schemeClr val="tx1"/>
          </a:solidFill>
          <a:latin typeface="宋体" panose="02010600030101010101" pitchFamily="2" charset="-122"/>
          <a:ea typeface="宋体" panose="02010600030101010101" pitchFamily="2" charset="-122"/>
          <a:cs typeface="+mn-cs"/>
        </a:defRPr>
      </a:lvl1pPr>
      <a:lvl2pPr marL="184150" indent="-182880" algn="l" rtl="0" eaLnBrk="0" fontAlgn="base" hangingPunct="0">
        <a:spcBef>
          <a:spcPct val="25000"/>
        </a:spcBef>
        <a:spcAft>
          <a:spcPct val="0"/>
        </a:spcAft>
        <a:buClr>
          <a:srgbClr val="F0AB00"/>
        </a:buClr>
        <a:buSzPct val="80000"/>
        <a:buFont typeface="Wingdings" panose="05000000000000000000" pitchFamily="2" charset="2"/>
        <a:buChar char="n"/>
        <a:defRPr sz="1600">
          <a:solidFill>
            <a:schemeClr val="tx1"/>
          </a:solidFill>
          <a:latin typeface="宋体" panose="02010600030101010101" pitchFamily="2" charset="-122"/>
          <a:ea typeface="宋体" panose="02010600030101010101" pitchFamily="2" charset="-122"/>
          <a:cs typeface="+mn-cs"/>
        </a:defRPr>
      </a:lvl2pPr>
      <a:lvl3pPr marL="541655" indent="-195580" algn="l" rtl="0" eaLnBrk="0" fontAlgn="base" hangingPunct="0">
        <a:spcBef>
          <a:spcPct val="25000"/>
        </a:spcBef>
        <a:spcAft>
          <a:spcPct val="0"/>
        </a:spcAft>
        <a:buClr>
          <a:srgbClr val="666666"/>
        </a:buClr>
        <a:buSzPct val="80000"/>
        <a:buFont typeface="Wingdings" panose="05000000000000000000" pitchFamily="2" charset="2"/>
        <a:buChar char="n"/>
        <a:defRPr sz="1600">
          <a:solidFill>
            <a:schemeClr val="tx1"/>
          </a:solidFill>
          <a:latin typeface="宋体" panose="02010600030101010101" pitchFamily="2" charset="-122"/>
          <a:ea typeface="宋体" panose="02010600030101010101" pitchFamily="2" charset="-122"/>
          <a:cs typeface="+mn-cs"/>
        </a:defRPr>
      </a:lvl3pPr>
      <a:lvl4pPr marL="708025" indent="-165100" algn="l" rtl="0" eaLnBrk="0" fontAlgn="base" hangingPunct="0">
        <a:spcBef>
          <a:spcPct val="25000"/>
        </a:spcBef>
        <a:spcAft>
          <a:spcPct val="0"/>
        </a:spcAft>
        <a:buClr>
          <a:srgbClr val="666666"/>
        </a:buClr>
        <a:buSzPct val="80000"/>
        <a:buFont typeface="Arial" panose="020B0604020202020204" pitchFamily="34" charset="0"/>
        <a:buChar char="–"/>
        <a:defRPr sz="1600">
          <a:solidFill>
            <a:schemeClr val="tx1"/>
          </a:solidFill>
          <a:latin typeface="宋体" panose="02010600030101010101" pitchFamily="2" charset="-122"/>
          <a:ea typeface="宋体" panose="02010600030101010101" pitchFamily="2" charset="-122"/>
          <a:cs typeface="+mn-cs"/>
        </a:defRPr>
      </a:lvl4pPr>
      <a:lvl5pPr marL="904875" indent="-195580" algn="l" rtl="0" eaLnBrk="0" fontAlgn="base" hangingPunct="0">
        <a:spcBef>
          <a:spcPct val="15000"/>
        </a:spcBef>
        <a:spcAft>
          <a:spcPct val="0"/>
        </a:spcAft>
        <a:buClr>
          <a:srgbClr val="666666"/>
        </a:buClr>
        <a:buSzPct val="80000"/>
        <a:buFont typeface="Arial" panose="020B0604020202020204" pitchFamily="34" charset="0"/>
        <a:buChar char="–"/>
        <a:defRPr sz="1400">
          <a:solidFill>
            <a:schemeClr val="tx1"/>
          </a:solidFill>
          <a:latin typeface="宋体" panose="02010600030101010101" pitchFamily="2" charset="-122"/>
          <a:ea typeface="宋体" panose="02010600030101010101" pitchFamily="2" charset="-122"/>
          <a:cs typeface="+mn-cs"/>
        </a:defRPr>
      </a:lvl5pPr>
      <a:lvl6pPr marL="1362075" indent="-195580" algn="l" rtl="0" eaLnBrk="1" fontAlgn="base" hangingPunct="1">
        <a:spcBef>
          <a:spcPct val="15000"/>
        </a:spcBef>
        <a:spcAft>
          <a:spcPct val="0"/>
        </a:spcAft>
        <a:buClr>
          <a:srgbClr val="666666"/>
        </a:buClr>
        <a:buSzPct val="80000"/>
        <a:buFont typeface="Arial" panose="020B0604020202020204" pitchFamily="34" charset="0"/>
        <a:buChar char="–"/>
        <a:defRPr sz="1400">
          <a:solidFill>
            <a:schemeClr val="tx1"/>
          </a:solidFill>
          <a:latin typeface="+mn-lt"/>
          <a:ea typeface="+mn-ea"/>
          <a:cs typeface="+mn-cs"/>
        </a:defRPr>
      </a:lvl6pPr>
      <a:lvl7pPr marL="1819275" indent="-195580" algn="l" rtl="0" eaLnBrk="1" fontAlgn="base" hangingPunct="1">
        <a:spcBef>
          <a:spcPct val="15000"/>
        </a:spcBef>
        <a:spcAft>
          <a:spcPct val="0"/>
        </a:spcAft>
        <a:buClr>
          <a:srgbClr val="666666"/>
        </a:buClr>
        <a:buSzPct val="80000"/>
        <a:buFont typeface="Arial" panose="020B0604020202020204" pitchFamily="34" charset="0"/>
        <a:buChar char="–"/>
        <a:defRPr sz="1400">
          <a:solidFill>
            <a:schemeClr val="tx1"/>
          </a:solidFill>
          <a:latin typeface="+mn-lt"/>
          <a:ea typeface="+mn-ea"/>
          <a:cs typeface="+mn-cs"/>
        </a:defRPr>
      </a:lvl7pPr>
      <a:lvl8pPr marL="2276475" indent="-195580" algn="l" rtl="0" eaLnBrk="1" fontAlgn="base" hangingPunct="1">
        <a:spcBef>
          <a:spcPct val="15000"/>
        </a:spcBef>
        <a:spcAft>
          <a:spcPct val="0"/>
        </a:spcAft>
        <a:buClr>
          <a:srgbClr val="666666"/>
        </a:buClr>
        <a:buSzPct val="80000"/>
        <a:buFont typeface="Arial" panose="020B0604020202020204" pitchFamily="34" charset="0"/>
        <a:buChar char="–"/>
        <a:defRPr sz="1400">
          <a:solidFill>
            <a:schemeClr val="tx1"/>
          </a:solidFill>
          <a:latin typeface="+mn-lt"/>
          <a:ea typeface="+mn-ea"/>
          <a:cs typeface="+mn-cs"/>
        </a:defRPr>
      </a:lvl8pPr>
      <a:lvl9pPr marL="2733675" indent="-195580" algn="l" rtl="0" eaLnBrk="1" fontAlgn="base" hangingPunct="1">
        <a:spcBef>
          <a:spcPct val="15000"/>
        </a:spcBef>
        <a:spcAft>
          <a:spcPct val="0"/>
        </a:spcAft>
        <a:buClr>
          <a:srgbClr val="666666"/>
        </a:buClr>
        <a:buSzPct val="80000"/>
        <a:buFont typeface="Arial" panose="020B0604020202020204" pitchFamily="34" charset="0"/>
        <a:buChar char="–"/>
        <a:defRPr sz="14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ags" Target="../tags/tag6.xml"/><Relationship Id="rId5" Type="http://schemas.openxmlformats.org/officeDocument/2006/relationships/image" Target="../media/image8.png"/><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9.xml"/><Relationship Id="rId1" Type="http://schemas.openxmlformats.org/officeDocument/2006/relationships/tags" Target="../tags/tag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4.xml"/><Relationship Id="rId1" Type="http://schemas.openxmlformats.org/officeDocument/2006/relationships/tags" Target="../tags/tag10.xml"/><Relationship Id="rId4" Type="http://schemas.openxmlformats.org/officeDocument/2006/relationships/image" Target="../media/image7.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2.xml"/><Relationship Id="rId1" Type="http://schemas.openxmlformats.org/officeDocument/2006/relationships/tags" Target="../tags/tag11.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4"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6.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8.xml"/><Relationship Id="rId1" Type="http://schemas.openxmlformats.org/officeDocument/2006/relationships/tags" Target="../tags/tag17.xml"/></Relationships>
</file>

<file path=ppt/slides/_rels/slide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5.xml"/><Relationship Id="rId1" Type="http://schemas.openxmlformats.org/officeDocument/2006/relationships/tags" Target="../tags/tag1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21.xml"/><Relationship Id="rId1" Type="http://schemas.openxmlformats.org/officeDocument/2006/relationships/tags" Target="../tags/tag20.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23.xml"/><Relationship Id="rId1" Type="http://schemas.openxmlformats.org/officeDocument/2006/relationships/tags" Target="../tags/tag22.xml"/><Relationship Id="rId4" Type="http://schemas.openxmlformats.org/officeDocument/2006/relationships/image" Target="../media/image7.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25.xml"/><Relationship Id="rId1" Type="http://schemas.openxmlformats.org/officeDocument/2006/relationships/tags" Target="../tags/tag24.xml"/><Relationship Id="rId4" Type="http://schemas.openxmlformats.org/officeDocument/2006/relationships/image" Target="../media/image22.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27.xml"/><Relationship Id="rId1" Type="http://schemas.openxmlformats.org/officeDocument/2006/relationships/tags" Target="../tags/tag26.xml"/><Relationship Id="rId4" Type="http://schemas.openxmlformats.org/officeDocument/2006/relationships/image" Target="../media/image7.jpeg"/></Relationships>
</file>

<file path=ppt/slides/_rels/slide4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8.xml"/><Relationship Id="rId1" Type="http://schemas.openxmlformats.org/officeDocument/2006/relationships/tags" Target="../tags/tag28.xml"/></Relationships>
</file>

<file path=ppt/slides/_rels/slide4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8.xml"/><Relationship Id="rId1" Type="http://schemas.openxmlformats.org/officeDocument/2006/relationships/tags" Target="../tags/tag29.xml"/></Relationships>
</file>

<file path=ppt/slides/_rels/slide4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8.xml"/><Relationship Id="rId1" Type="http://schemas.openxmlformats.org/officeDocument/2006/relationships/tags" Target="../tags/tag30.xml"/></Relationships>
</file>

<file path=ppt/slides/_rels/slide5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4"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tags" Target="../tags/tag38.xml"/><Relationship Id="rId1" Type="http://schemas.openxmlformats.org/officeDocument/2006/relationships/tags" Target="../tags/tag3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图片 2"/>
          <p:cNvPicPr>
            <a:picLocks noChangeAspect="1" noChangeArrowheads="1"/>
          </p:cNvPicPr>
          <p:nvPr/>
        </p:nvPicPr>
        <p:blipFill>
          <a:blip r:embed="rId3" cstate="print"/>
          <a:srcRect/>
          <a:stretch>
            <a:fillRect/>
          </a:stretch>
        </p:blipFill>
        <p:spPr bwMode="auto">
          <a:xfrm>
            <a:off x="-163513" y="-25400"/>
            <a:ext cx="12584113" cy="5757863"/>
          </a:xfrm>
          <a:prstGeom prst="rect">
            <a:avLst/>
          </a:prstGeom>
          <a:noFill/>
          <a:ln w="9525">
            <a:noFill/>
            <a:miter lim="800000"/>
            <a:headEnd/>
            <a:tailEnd/>
          </a:ln>
        </p:spPr>
      </p:pic>
      <p:sp>
        <p:nvSpPr>
          <p:cNvPr id="4" name="矩形 3"/>
          <p:cNvSpPr/>
          <p:nvPr/>
        </p:nvSpPr>
        <p:spPr>
          <a:xfrm>
            <a:off x="-161925" y="-25400"/>
            <a:ext cx="12582525" cy="7369175"/>
          </a:xfrm>
          <a:prstGeom prst="rect">
            <a:avLst/>
          </a:prstGeom>
          <a:solidFill>
            <a:srgbClr val="000E2A">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124" name="文本框 4"/>
          <p:cNvSpPr txBox="1">
            <a:spLocks noChangeArrowheads="1"/>
          </p:cNvSpPr>
          <p:nvPr/>
        </p:nvSpPr>
        <p:spPr bwMode="auto">
          <a:xfrm>
            <a:off x="1494949" y="1972945"/>
            <a:ext cx="9869805" cy="1168400"/>
          </a:xfrm>
          <a:prstGeom prst="rect">
            <a:avLst/>
          </a:prstGeom>
          <a:noFill/>
          <a:ln w="9525">
            <a:noFill/>
            <a:miter lim="800000"/>
          </a:ln>
        </p:spPr>
        <p:txBody>
          <a:bodyPr wrap="none">
            <a:spAutoFit/>
          </a:bodyPr>
          <a:lstStyle/>
          <a:p>
            <a:pPr algn="ctr">
              <a:defRPr/>
            </a:pPr>
            <a:r>
              <a:rPr lang="en-US" altLang="zh-CN" sz="6600" b="1" dirty="0">
                <a:solidFill>
                  <a:schemeClr val="bg1"/>
                </a:solidFill>
                <a:latin typeface="Times New Roman" panose="02020603050405020304" pitchFamily="18" charset="0"/>
                <a:ea typeface="微软雅黑" panose="020B0503020204020204" charset="-122"/>
                <a:cs typeface="+mn-cs"/>
              </a:rPr>
              <a:t>Linux</a:t>
            </a:r>
            <a:r>
              <a:rPr lang="zh-CN" altLang="en-US" sz="6600" b="1" dirty="0">
                <a:solidFill>
                  <a:schemeClr val="bg1"/>
                </a:solidFill>
                <a:latin typeface="微软雅黑" panose="020B0503020204020204" charset="-122"/>
                <a:ea typeface="微软雅黑" panose="020B0503020204020204" charset="-122"/>
                <a:cs typeface="+mn-cs"/>
              </a:rPr>
              <a:t>操作系统及应用技术</a:t>
            </a:r>
          </a:p>
        </p:txBody>
      </p:sp>
      <p:sp>
        <p:nvSpPr>
          <p:cNvPr id="6" name="矩形 5"/>
          <p:cNvSpPr/>
          <p:nvPr/>
        </p:nvSpPr>
        <p:spPr>
          <a:xfrm>
            <a:off x="3862070" y="3725545"/>
            <a:ext cx="4951730" cy="74485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sz="3200" dirty="0">
                <a:solidFill>
                  <a:schemeClr val="bg1">
                    <a:lumMod val="75000"/>
                  </a:schemeClr>
                </a:solidFill>
                <a:latin typeface="微软雅黑" panose="020B0503020204020204" charset="-122"/>
                <a:ea typeface="微软雅黑" panose="020B0503020204020204" charset="-122"/>
              </a:rPr>
              <a:t>第四章  </a:t>
            </a:r>
            <a:r>
              <a:rPr sz="3200" dirty="0">
                <a:solidFill>
                  <a:schemeClr val="bg1">
                    <a:lumMod val="75000"/>
                  </a:schemeClr>
                </a:solidFill>
                <a:ea typeface="微软雅黑" panose="020B0503020204020204" charset="-122"/>
              </a:rPr>
              <a:t> vi编辑器</a:t>
            </a:r>
          </a:p>
        </p:txBody>
      </p:sp>
      <p:sp>
        <p:nvSpPr>
          <p:cNvPr id="9" name="任意多边形 8"/>
          <p:cNvSpPr/>
          <p:nvPr/>
        </p:nvSpPr>
        <p:spPr>
          <a:xfrm>
            <a:off x="-161925" y="4921250"/>
            <a:ext cx="12580938" cy="2422525"/>
          </a:xfrm>
          <a:custGeom>
            <a:avLst/>
            <a:gdLst>
              <a:gd name="connsiteX0" fmla="*/ 0 w 12192000"/>
              <a:gd name="connsiteY0" fmla="*/ 0 h 2070437"/>
              <a:gd name="connsiteX1" fmla="*/ 5436625 w 12192000"/>
              <a:gd name="connsiteY1" fmla="*/ 0 h 2070437"/>
              <a:gd name="connsiteX2" fmla="*/ 5525440 w 12192000"/>
              <a:gd name="connsiteY2" fmla="*/ 7837 h 2070437"/>
              <a:gd name="connsiteX3" fmla="*/ 6091201 w 12192000"/>
              <a:gd name="connsiteY3" fmla="*/ 559628 h 2070437"/>
              <a:gd name="connsiteX4" fmla="*/ 6096239 w 12192000"/>
              <a:gd name="connsiteY4" fmla="*/ 609600 h 2070437"/>
              <a:gd name="connsiteX5" fmla="*/ 6114805 w 12192000"/>
              <a:gd name="connsiteY5" fmla="*/ 609600 h 2070437"/>
              <a:gd name="connsiteX6" fmla="*/ 6119842 w 12192000"/>
              <a:gd name="connsiteY6" fmla="*/ 559628 h 2070437"/>
              <a:gd name="connsiteX7" fmla="*/ 6685604 w 12192000"/>
              <a:gd name="connsiteY7" fmla="*/ 7837 h 2070437"/>
              <a:gd name="connsiteX8" fmla="*/ 6774419 w 12192000"/>
              <a:gd name="connsiteY8" fmla="*/ 0 h 2070437"/>
              <a:gd name="connsiteX9" fmla="*/ 12192000 w 12192000"/>
              <a:gd name="connsiteY9" fmla="*/ 0 h 2070437"/>
              <a:gd name="connsiteX10" fmla="*/ 12192000 w 12192000"/>
              <a:gd name="connsiteY10" fmla="*/ 2070437 h 2070437"/>
              <a:gd name="connsiteX11" fmla="*/ 0 w 12192000"/>
              <a:gd name="connsiteY11" fmla="*/ 2070437 h 207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70437">
                <a:moveTo>
                  <a:pt x="0" y="0"/>
                </a:moveTo>
                <a:lnTo>
                  <a:pt x="5436625" y="0"/>
                </a:lnTo>
                <a:lnTo>
                  <a:pt x="5525440" y="7837"/>
                </a:lnTo>
                <a:cubicBezTo>
                  <a:pt x="5808922" y="58474"/>
                  <a:pt x="6033693" y="278587"/>
                  <a:pt x="6091201" y="559628"/>
                </a:cubicBezTo>
                <a:lnTo>
                  <a:pt x="6096239" y="609600"/>
                </a:lnTo>
                <a:lnTo>
                  <a:pt x="6114805" y="609600"/>
                </a:lnTo>
                <a:lnTo>
                  <a:pt x="6119842" y="559628"/>
                </a:lnTo>
                <a:cubicBezTo>
                  <a:pt x="6177351" y="278587"/>
                  <a:pt x="6402121" y="58474"/>
                  <a:pt x="6685604" y="7837"/>
                </a:cubicBezTo>
                <a:lnTo>
                  <a:pt x="6774419" y="0"/>
                </a:lnTo>
                <a:lnTo>
                  <a:pt x="12192000" y="0"/>
                </a:lnTo>
                <a:lnTo>
                  <a:pt x="12192000" y="2070437"/>
                </a:lnTo>
                <a:lnTo>
                  <a:pt x="0" y="2070437"/>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153" name="文本框 11"/>
          <p:cNvSpPr txBox="1">
            <a:spLocks noChangeArrowheads="1"/>
          </p:cNvSpPr>
          <p:nvPr/>
        </p:nvSpPr>
        <p:spPr bwMode="auto">
          <a:xfrm>
            <a:off x="8505825" y="5732463"/>
            <a:ext cx="2632075" cy="603250"/>
          </a:xfrm>
          <a:prstGeom prst="rect">
            <a:avLst/>
          </a:prstGeom>
          <a:noFill/>
          <a:ln w="9525">
            <a:noFill/>
            <a:miter lim="800000"/>
          </a:ln>
        </p:spPr>
        <p:txBody>
          <a:bodyPr>
            <a:spAutoFit/>
          </a:bodyPr>
          <a:lstStyle/>
          <a:p>
            <a:pPr>
              <a:lnSpc>
                <a:spcPct val="120000"/>
              </a:lnSpc>
              <a:defRPr/>
            </a:pPr>
            <a:r>
              <a:rPr lang="zh-CN" altLang="en-US" sz="2800" dirty="0">
                <a:solidFill>
                  <a:schemeClr val="bg2">
                    <a:lumMod val="10000"/>
                  </a:schemeClr>
                </a:solidFill>
                <a:latin typeface="Algerian" panose="04020705040A02060702" pitchFamily="82" charset="0"/>
                <a:ea typeface="+mn-ea"/>
                <a:cs typeface="+mn-cs"/>
              </a:rPr>
              <a:t>主讲人：</a:t>
            </a:r>
            <a:r>
              <a:rPr lang="en-US" sz="2800" dirty="0">
                <a:solidFill>
                  <a:schemeClr val="bg2">
                    <a:lumMod val="10000"/>
                  </a:schemeClr>
                </a:solidFill>
                <a:latin typeface="Algerian" panose="04020705040A02060702" pitchFamily="82" charset="0"/>
                <a:ea typeface="+mn-ea"/>
                <a:cs typeface="+mn-cs"/>
              </a:rPr>
              <a:t>XXX</a:t>
            </a:r>
            <a:r>
              <a:rPr lang="en-US" altLang="zh-CN" sz="2800" dirty="0">
                <a:solidFill>
                  <a:schemeClr val="bg2">
                    <a:lumMod val="10000"/>
                  </a:schemeClr>
                </a:solidFill>
                <a:latin typeface="Algerian" panose="04020705040A02060702" pitchFamily="82" charset="0"/>
                <a:ea typeface="+mn-ea"/>
                <a:cs typeface="+mn-cs"/>
              </a:rPr>
              <a:t>   </a:t>
            </a:r>
            <a:r>
              <a:rPr lang="en-US" altLang="zh-CN" sz="2000" dirty="0">
                <a:solidFill>
                  <a:schemeClr val="bg2">
                    <a:lumMod val="10000"/>
                  </a:schemeClr>
                </a:solidFill>
                <a:latin typeface="Algerian" panose="04020705040A02060702" pitchFamily="82" charset="0"/>
                <a:ea typeface="+mn-ea"/>
                <a:cs typeface="+mn-cs"/>
              </a:rPr>
              <a:t>           </a:t>
            </a:r>
            <a:endParaRPr lang="zh-CN" altLang="en-US" sz="2000" dirty="0">
              <a:solidFill>
                <a:schemeClr val="bg2">
                  <a:lumMod val="10000"/>
                </a:schemeClr>
              </a:solidFill>
              <a:latin typeface="Algerian" panose="04020705040A02060702" pitchFamily="82" charset="0"/>
              <a:ea typeface="+mn-ea"/>
              <a:cs typeface="+mn-cs"/>
            </a:endParaRPr>
          </a:p>
        </p:txBody>
      </p:sp>
      <p:sp>
        <p:nvSpPr>
          <p:cNvPr id="14" name="Freeform 74"/>
          <p:cNvSpPr>
            <a:spLocks noEditPoints="1"/>
          </p:cNvSpPr>
          <p:nvPr/>
        </p:nvSpPr>
        <p:spPr bwMode="auto">
          <a:xfrm>
            <a:off x="7970838" y="5732463"/>
            <a:ext cx="534987" cy="601662"/>
          </a:xfrm>
          <a:custGeom>
            <a:avLst/>
            <a:gdLst>
              <a:gd name="T0" fmla="*/ 16 w 91"/>
              <a:gd name="T1" fmla="*/ 108 h 118"/>
              <a:gd name="T2" fmla="*/ 12 w 91"/>
              <a:gd name="T3" fmla="*/ 108 h 118"/>
              <a:gd name="T4" fmla="*/ 2 w 91"/>
              <a:gd name="T5" fmla="*/ 92 h 118"/>
              <a:gd name="T6" fmla="*/ 9 w 91"/>
              <a:gd name="T7" fmla="*/ 65 h 118"/>
              <a:gd name="T8" fmla="*/ 15 w 91"/>
              <a:gd name="T9" fmla="*/ 54 h 118"/>
              <a:gd name="T10" fmla="*/ 15 w 91"/>
              <a:gd name="T11" fmla="*/ 54 h 118"/>
              <a:gd name="T12" fmla="*/ 16 w 91"/>
              <a:gd name="T13" fmla="*/ 54 h 118"/>
              <a:gd name="T14" fmla="*/ 32 w 91"/>
              <a:gd name="T15" fmla="*/ 50 h 118"/>
              <a:gd name="T16" fmla="*/ 35 w 91"/>
              <a:gd name="T17" fmla="*/ 52 h 118"/>
              <a:gd name="T18" fmla="*/ 43 w 91"/>
              <a:gd name="T19" fmla="*/ 71 h 118"/>
              <a:gd name="T20" fmla="*/ 19 w 91"/>
              <a:gd name="T21" fmla="*/ 71 h 118"/>
              <a:gd name="T22" fmla="*/ 16 w 91"/>
              <a:gd name="T23" fmla="*/ 74 h 118"/>
              <a:gd name="T24" fmla="*/ 16 w 91"/>
              <a:gd name="T25" fmla="*/ 108 h 118"/>
              <a:gd name="T26" fmla="*/ 21 w 91"/>
              <a:gd name="T27" fmla="*/ 76 h 118"/>
              <a:gd name="T28" fmla="*/ 21 w 91"/>
              <a:gd name="T29" fmla="*/ 107 h 118"/>
              <a:gd name="T30" fmla="*/ 71 w 91"/>
              <a:gd name="T31" fmla="*/ 107 h 118"/>
              <a:gd name="T32" fmla="*/ 71 w 91"/>
              <a:gd name="T33" fmla="*/ 76 h 118"/>
              <a:gd name="T34" fmla="*/ 21 w 91"/>
              <a:gd name="T35" fmla="*/ 76 h 118"/>
              <a:gd name="T36" fmla="*/ 29 w 91"/>
              <a:gd name="T37" fmla="*/ 33 h 118"/>
              <a:gd name="T38" fmla="*/ 30 w 91"/>
              <a:gd name="T39" fmla="*/ 17 h 118"/>
              <a:gd name="T40" fmla="*/ 48 w 91"/>
              <a:gd name="T41" fmla="*/ 17 h 118"/>
              <a:gd name="T42" fmla="*/ 58 w 91"/>
              <a:gd name="T43" fmla="*/ 20 h 118"/>
              <a:gd name="T44" fmla="*/ 59 w 91"/>
              <a:gd name="T45" fmla="*/ 33 h 118"/>
              <a:gd name="T46" fmla="*/ 64 w 91"/>
              <a:gd name="T47" fmla="*/ 26 h 118"/>
              <a:gd name="T48" fmla="*/ 62 w 91"/>
              <a:gd name="T49" fmla="*/ 9 h 118"/>
              <a:gd name="T50" fmla="*/ 48 w 91"/>
              <a:gd name="T51" fmla="*/ 3 h 118"/>
              <a:gd name="T52" fmla="*/ 27 w 91"/>
              <a:gd name="T53" fmla="*/ 7 h 118"/>
              <a:gd name="T54" fmla="*/ 25 w 91"/>
              <a:gd name="T55" fmla="*/ 29 h 118"/>
              <a:gd name="T56" fmla="*/ 29 w 91"/>
              <a:gd name="T57" fmla="*/ 33 h 118"/>
              <a:gd name="T58" fmla="*/ 14 w 91"/>
              <a:gd name="T59" fmla="*/ 112 h 118"/>
              <a:gd name="T60" fmla="*/ 78 w 91"/>
              <a:gd name="T61" fmla="*/ 112 h 118"/>
              <a:gd name="T62" fmla="*/ 74 w 91"/>
              <a:gd name="T63" fmla="*/ 118 h 118"/>
              <a:gd name="T64" fmla="*/ 17 w 91"/>
              <a:gd name="T65" fmla="*/ 118 h 118"/>
              <a:gd name="T66" fmla="*/ 14 w 91"/>
              <a:gd name="T67" fmla="*/ 112 h 118"/>
              <a:gd name="T68" fmla="*/ 81 w 91"/>
              <a:gd name="T69" fmla="*/ 65 h 118"/>
              <a:gd name="T70" fmla="*/ 88 w 91"/>
              <a:gd name="T71" fmla="*/ 92 h 118"/>
              <a:gd name="T72" fmla="*/ 79 w 91"/>
              <a:gd name="T73" fmla="*/ 108 h 118"/>
              <a:gd name="T74" fmla="*/ 76 w 91"/>
              <a:gd name="T75" fmla="*/ 108 h 118"/>
              <a:gd name="T76" fmla="*/ 76 w 91"/>
              <a:gd name="T77" fmla="*/ 75 h 118"/>
              <a:gd name="T78" fmla="*/ 72 w 91"/>
              <a:gd name="T79" fmla="*/ 71 h 118"/>
              <a:gd name="T80" fmla="*/ 48 w 91"/>
              <a:gd name="T81" fmla="*/ 71 h 118"/>
              <a:gd name="T82" fmla="*/ 56 w 91"/>
              <a:gd name="T83" fmla="*/ 52 h 118"/>
              <a:gd name="T84" fmla="*/ 59 w 91"/>
              <a:gd name="T85" fmla="*/ 50 h 118"/>
              <a:gd name="T86" fmla="*/ 75 w 91"/>
              <a:gd name="T87" fmla="*/ 54 h 118"/>
              <a:gd name="T88" fmla="*/ 76 w 91"/>
              <a:gd name="T89" fmla="*/ 54 h 118"/>
              <a:gd name="T90" fmla="*/ 76 w 91"/>
              <a:gd name="T91" fmla="*/ 55 h 118"/>
              <a:gd name="T92" fmla="*/ 81 w 91"/>
              <a:gd name="T93" fmla="*/ 65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1" h="118">
                <a:moveTo>
                  <a:pt x="16" y="108"/>
                </a:moveTo>
                <a:cubicBezTo>
                  <a:pt x="12" y="108"/>
                  <a:pt x="12" y="108"/>
                  <a:pt x="12" y="108"/>
                </a:cubicBezTo>
                <a:cubicBezTo>
                  <a:pt x="1" y="108"/>
                  <a:pt x="0" y="101"/>
                  <a:pt x="2" y="92"/>
                </a:cubicBezTo>
                <a:cubicBezTo>
                  <a:pt x="9" y="65"/>
                  <a:pt x="9" y="65"/>
                  <a:pt x="9" y="65"/>
                </a:cubicBezTo>
                <a:cubicBezTo>
                  <a:pt x="10" y="61"/>
                  <a:pt x="12" y="57"/>
                  <a:pt x="15" y="54"/>
                </a:cubicBezTo>
                <a:cubicBezTo>
                  <a:pt x="15" y="54"/>
                  <a:pt x="15" y="54"/>
                  <a:pt x="15" y="54"/>
                </a:cubicBezTo>
                <a:cubicBezTo>
                  <a:pt x="16" y="54"/>
                  <a:pt x="16" y="54"/>
                  <a:pt x="16" y="54"/>
                </a:cubicBezTo>
                <a:cubicBezTo>
                  <a:pt x="32" y="50"/>
                  <a:pt x="32" y="50"/>
                  <a:pt x="32" y="50"/>
                </a:cubicBezTo>
                <a:cubicBezTo>
                  <a:pt x="35" y="52"/>
                  <a:pt x="35" y="52"/>
                  <a:pt x="35" y="52"/>
                </a:cubicBezTo>
                <a:cubicBezTo>
                  <a:pt x="43" y="71"/>
                  <a:pt x="43" y="71"/>
                  <a:pt x="43" y="71"/>
                </a:cubicBezTo>
                <a:cubicBezTo>
                  <a:pt x="19" y="71"/>
                  <a:pt x="19" y="71"/>
                  <a:pt x="19" y="71"/>
                </a:cubicBezTo>
                <a:cubicBezTo>
                  <a:pt x="16" y="74"/>
                  <a:pt x="16" y="74"/>
                  <a:pt x="16" y="74"/>
                </a:cubicBezTo>
                <a:cubicBezTo>
                  <a:pt x="16" y="108"/>
                  <a:pt x="16" y="108"/>
                  <a:pt x="16" y="108"/>
                </a:cubicBezTo>
                <a:close/>
                <a:moveTo>
                  <a:pt x="21" y="76"/>
                </a:moveTo>
                <a:cubicBezTo>
                  <a:pt x="21" y="107"/>
                  <a:pt x="21" y="107"/>
                  <a:pt x="21" y="107"/>
                </a:cubicBezTo>
                <a:cubicBezTo>
                  <a:pt x="71" y="107"/>
                  <a:pt x="71" y="107"/>
                  <a:pt x="71" y="107"/>
                </a:cubicBezTo>
                <a:cubicBezTo>
                  <a:pt x="71" y="76"/>
                  <a:pt x="71" y="76"/>
                  <a:pt x="71" y="76"/>
                </a:cubicBezTo>
                <a:cubicBezTo>
                  <a:pt x="21" y="76"/>
                  <a:pt x="21" y="76"/>
                  <a:pt x="21" y="76"/>
                </a:cubicBezTo>
                <a:close/>
                <a:moveTo>
                  <a:pt x="29" y="33"/>
                </a:moveTo>
                <a:cubicBezTo>
                  <a:pt x="29" y="26"/>
                  <a:pt x="28" y="24"/>
                  <a:pt x="30" y="17"/>
                </a:cubicBezTo>
                <a:cubicBezTo>
                  <a:pt x="34" y="20"/>
                  <a:pt x="44" y="18"/>
                  <a:pt x="48" y="17"/>
                </a:cubicBezTo>
                <a:cubicBezTo>
                  <a:pt x="50" y="20"/>
                  <a:pt x="54" y="21"/>
                  <a:pt x="58" y="20"/>
                </a:cubicBezTo>
                <a:cubicBezTo>
                  <a:pt x="59" y="25"/>
                  <a:pt x="59" y="26"/>
                  <a:pt x="59" y="33"/>
                </a:cubicBezTo>
                <a:cubicBezTo>
                  <a:pt x="59" y="33"/>
                  <a:pt x="63" y="30"/>
                  <a:pt x="64" y="26"/>
                </a:cubicBezTo>
                <a:cubicBezTo>
                  <a:pt x="64" y="23"/>
                  <a:pt x="63" y="11"/>
                  <a:pt x="62" y="9"/>
                </a:cubicBezTo>
                <a:cubicBezTo>
                  <a:pt x="60" y="5"/>
                  <a:pt x="56" y="2"/>
                  <a:pt x="48" y="3"/>
                </a:cubicBezTo>
                <a:cubicBezTo>
                  <a:pt x="40" y="0"/>
                  <a:pt x="31" y="3"/>
                  <a:pt x="27" y="7"/>
                </a:cubicBezTo>
                <a:cubicBezTo>
                  <a:pt x="25" y="9"/>
                  <a:pt x="23" y="27"/>
                  <a:pt x="25" y="29"/>
                </a:cubicBezTo>
                <a:cubicBezTo>
                  <a:pt x="27" y="32"/>
                  <a:pt x="29" y="33"/>
                  <a:pt x="29" y="33"/>
                </a:cubicBezTo>
                <a:close/>
                <a:moveTo>
                  <a:pt x="14" y="112"/>
                </a:moveTo>
                <a:cubicBezTo>
                  <a:pt x="78" y="112"/>
                  <a:pt x="78" y="112"/>
                  <a:pt x="78" y="112"/>
                </a:cubicBezTo>
                <a:cubicBezTo>
                  <a:pt x="74" y="118"/>
                  <a:pt x="74" y="118"/>
                  <a:pt x="74" y="118"/>
                </a:cubicBezTo>
                <a:cubicBezTo>
                  <a:pt x="17" y="118"/>
                  <a:pt x="17" y="118"/>
                  <a:pt x="17" y="118"/>
                </a:cubicBezTo>
                <a:cubicBezTo>
                  <a:pt x="14" y="112"/>
                  <a:pt x="14" y="112"/>
                  <a:pt x="14" y="112"/>
                </a:cubicBezTo>
                <a:close/>
                <a:moveTo>
                  <a:pt x="81" y="65"/>
                </a:moveTo>
                <a:cubicBezTo>
                  <a:pt x="88" y="92"/>
                  <a:pt x="88" y="92"/>
                  <a:pt x="88" y="92"/>
                </a:cubicBezTo>
                <a:cubicBezTo>
                  <a:pt x="91" y="101"/>
                  <a:pt x="89" y="108"/>
                  <a:pt x="79" y="108"/>
                </a:cubicBezTo>
                <a:cubicBezTo>
                  <a:pt x="76" y="108"/>
                  <a:pt x="76" y="108"/>
                  <a:pt x="76" y="108"/>
                </a:cubicBezTo>
                <a:cubicBezTo>
                  <a:pt x="76" y="75"/>
                  <a:pt x="76" y="75"/>
                  <a:pt x="76" y="75"/>
                </a:cubicBezTo>
                <a:cubicBezTo>
                  <a:pt x="72" y="71"/>
                  <a:pt x="72" y="71"/>
                  <a:pt x="72" y="71"/>
                </a:cubicBezTo>
                <a:cubicBezTo>
                  <a:pt x="48" y="71"/>
                  <a:pt x="48" y="71"/>
                  <a:pt x="48" y="71"/>
                </a:cubicBezTo>
                <a:cubicBezTo>
                  <a:pt x="56" y="52"/>
                  <a:pt x="56" y="52"/>
                  <a:pt x="56" y="52"/>
                </a:cubicBezTo>
                <a:cubicBezTo>
                  <a:pt x="59" y="50"/>
                  <a:pt x="59" y="50"/>
                  <a:pt x="59" y="50"/>
                </a:cubicBezTo>
                <a:cubicBezTo>
                  <a:pt x="75" y="54"/>
                  <a:pt x="75" y="54"/>
                  <a:pt x="75" y="54"/>
                </a:cubicBezTo>
                <a:cubicBezTo>
                  <a:pt x="76" y="54"/>
                  <a:pt x="76" y="54"/>
                  <a:pt x="76" y="54"/>
                </a:cubicBezTo>
                <a:cubicBezTo>
                  <a:pt x="76" y="55"/>
                  <a:pt x="76" y="55"/>
                  <a:pt x="76" y="55"/>
                </a:cubicBezTo>
                <a:cubicBezTo>
                  <a:pt x="79" y="58"/>
                  <a:pt x="80" y="61"/>
                  <a:pt x="81" y="65"/>
                </a:cubicBezTo>
                <a:close/>
              </a:path>
            </a:pathLst>
          </a:custGeom>
          <a:solidFill>
            <a:schemeClr val="tx2">
              <a:lumMod val="50000"/>
            </a:schemeClr>
          </a:solidFill>
          <a:ln w="9525">
            <a:noFill/>
            <a:round/>
          </a:ln>
        </p:spPr>
        <p:txBody>
          <a:bodyPr/>
          <a:lstStyle/>
          <a:p>
            <a:pPr fontAlgn="auto">
              <a:spcBef>
                <a:spcPts val="0"/>
              </a:spcBef>
              <a:spcAft>
                <a:spcPts val="0"/>
              </a:spcAft>
              <a:defRPr/>
            </a:pPr>
            <a:endParaRPr lang="zh-CN" altLang="en-US">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6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448310" y="1600200"/>
            <a:ext cx="6135370" cy="4206240"/>
          </a:xfrm>
          <a:prstGeom prst="rect">
            <a:avLst/>
          </a:prstGeom>
          <a:noFill/>
          <a:ln w="9525">
            <a:noFill/>
            <a:miter lim="800000"/>
          </a:ln>
        </p:spPr>
        <p:txBody>
          <a:bodyPr wrap="square">
            <a:spAutoFit/>
          </a:bodyPr>
          <a:lstStyle/>
          <a:p>
            <a:pPr indent="457200" eaLnBrk="1" latinLnBrk="0" hangingPunct="1">
              <a:lnSpc>
                <a:spcPct val="150000"/>
              </a:lnSpc>
              <a:buFont typeface="Arial" panose="020B0604020202020204" pitchFamily="34" charset="0"/>
              <a:buNone/>
            </a:pPr>
            <a:r>
              <a:rPr lang="zh-CN" altLang="en-US" sz="2000" dirty="0">
                <a:latin typeface="微软雅黑" panose="020B0503020204020204" charset="-122"/>
                <a:ea typeface="微软雅黑" panose="020B0503020204020204" charset="-122"/>
              </a:rPr>
              <a:t>Linux下文本编辑的功能越来越强大。很多公司已将它们的Office软件移植到Linux上。但是，这些软件是在X Window下使用的，而且不是所有的Linux版本都附带的。所以，首先要学习基本的</a:t>
            </a:r>
            <a:r>
              <a:rPr lang="zh-CN" altLang="en-US" sz="2000" b="1" dirty="0">
                <a:solidFill>
                  <a:srgbClr val="0070C0"/>
                </a:solidFill>
                <a:latin typeface="微软雅黑" panose="020B0503020204020204" charset="-122"/>
                <a:ea typeface="微软雅黑" panose="020B0503020204020204" charset="-122"/>
              </a:rPr>
              <a:t>文字编辑器</a:t>
            </a:r>
            <a:r>
              <a:rPr lang="zh-CN" altLang="en-US" sz="2000" dirty="0">
                <a:latin typeface="微软雅黑" panose="020B0503020204020204" charset="-122"/>
                <a:ea typeface="微软雅黑" panose="020B0503020204020204" charset="-122"/>
              </a:rPr>
              <a:t>。</a:t>
            </a:r>
          </a:p>
          <a:p>
            <a:pPr indent="457200" eaLnBrk="1" latinLnBrk="0" hangingPunct="1">
              <a:lnSpc>
                <a:spcPct val="150000"/>
              </a:lnSpc>
              <a:buFont typeface="Arial" panose="020B0604020202020204" pitchFamily="34" charset="0"/>
              <a:buNone/>
            </a:pPr>
            <a:r>
              <a:rPr lang="zh-CN" altLang="en-US" sz="2000" dirty="0">
                <a:latin typeface="微软雅黑" panose="020B0503020204020204" charset="-122"/>
                <a:ea typeface="微软雅黑" panose="020B0503020204020204" charset="-122"/>
              </a:rPr>
              <a:t>在Linux系统中，vi是常用的编辑器，它的文本编辑功能十分强大。它是一个全屏幕文本编辑器，是visual interface的简称，几乎每个Linux系统都提供了vi。初学者可能感到使用vi很困难，但经过一段时间的学习和使用后，就会体会到使用vi非常方便。</a:t>
            </a:r>
          </a:p>
        </p:txBody>
      </p:sp>
      <p:sp>
        <p:nvSpPr>
          <p:cNvPr id="19" name="矩形 18"/>
          <p:cNvSpPr/>
          <p:nvPr/>
        </p:nvSpPr>
        <p:spPr>
          <a:xfrm flipV="1">
            <a:off x="10477" y="6126480"/>
            <a:ext cx="12117388" cy="93663"/>
          </a:xfrm>
          <a:prstGeom prst="rect">
            <a:avLst/>
          </a:prstGeom>
          <a:solidFill>
            <a:srgbClr val="00B0F0">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pic>
        <p:nvPicPr>
          <p:cNvPr id="4099" name="Picture 3" descr="C:\Users\Administrator\桌面\b6762199-ee66-4a22-9d9c-f0d761a45996.jpgb6762199-ee66-4a22-9d9c-f0d761a45996"/>
          <p:cNvPicPr>
            <a:picLocks noChangeAspect="1" noChangeArrowheads="1"/>
          </p:cNvPicPr>
          <p:nvPr/>
        </p:nvPicPr>
        <p:blipFill>
          <a:blip r:embed="rId3" cstate="print"/>
          <a:srcRect/>
          <a:stretch>
            <a:fillRect/>
          </a:stretch>
        </p:blipFill>
        <p:spPr bwMode="auto">
          <a:xfrm>
            <a:off x="6675120" y="1727835"/>
            <a:ext cx="5086985" cy="381381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099"/>
                                        </p:tgtEl>
                                        <p:attrNameLst>
                                          <p:attrName>style.visibility</p:attrName>
                                        </p:attrNameLst>
                                      </p:cBhvr>
                                      <p:to>
                                        <p:strVal val="visible"/>
                                      </p:to>
                                    </p:set>
                                    <p:animEffect transition="in" filter="fade">
                                      <p:cBhvr>
                                        <p:cTn id="7" dur="500"/>
                                        <p:tgtEl>
                                          <p:spTgt spid="4099"/>
                                        </p:tgtEl>
                                      </p:cBhvr>
                                    </p:animEffect>
                                  </p:childTnLst>
                                </p:cTn>
                              </p:par>
                            </p:childTnLst>
                          </p:cTn>
                        </p:par>
                        <p:par>
                          <p:cTn id="8" fill="hold">
                            <p:stCondLst>
                              <p:cond delay="500"/>
                            </p:stCondLst>
                            <p:childTnLst>
                              <p:par>
                                <p:cTn id="9" presetID="17" presetClass="entr" presetSubtype="10"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p:cTn id="11" dur="500" fill="hold"/>
                                        <p:tgtEl>
                                          <p:spTgt spid="18"/>
                                        </p:tgtEl>
                                        <p:attrNameLst>
                                          <p:attrName>ppt_w</p:attrName>
                                        </p:attrNameLst>
                                      </p:cBhvr>
                                      <p:tavLst>
                                        <p:tav tm="0">
                                          <p:val>
                                            <p:fltVal val="0"/>
                                          </p:val>
                                        </p:tav>
                                        <p:tav tm="100000">
                                          <p:val>
                                            <p:strVal val="#ppt_w"/>
                                          </p:val>
                                        </p:tav>
                                      </p:tavLst>
                                    </p:anim>
                                    <p:anim calcmode="lin" valueType="num">
                                      <p:cBhvr>
                                        <p:cTn id="12" dur="500" fill="hold"/>
                                        <p:tgtEl>
                                          <p:spTgt spid="18"/>
                                        </p:tgtEl>
                                        <p:attrNameLst>
                                          <p:attrName>ppt_h</p:attrName>
                                        </p:attrNameLst>
                                      </p:cBhvr>
                                      <p:tavLst>
                                        <p:tav tm="0">
                                          <p:val>
                                            <p:strVal val="#ppt_h"/>
                                          </p:val>
                                        </p:tav>
                                        <p:tav tm="100000">
                                          <p:val>
                                            <p:strVal val="#ppt_h"/>
                                          </p:val>
                                        </p:tav>
                                      </p:tavLst>
                                    </p:anim>
                                  </p:childTnLst>
                                </p:cTn>
                              </p:par>
                              <p:par>
                                <p:cTn id="13" presetID="22" presetClass="entr" presetSubtype="2"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right)">
                                      <p:cBhvr>
                                        <p:cTn id="1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AutoShape 3"/>
          <p:cNvSpPr>
            <a:spLocks noChangeArrowheads="1"/>
          </p:cNvSpPr>
          <p:nvPr/>
        </p:nvSpPr>
        <p:spPr bwMode="auto">
          <a:xfrm>
            <a:off x="1555115" y="1776730"/>
            <a:ext cx="9341485" cy="4612005"/>
          </a:xfrm>
          <a:prstGeom prst="roundRect">
            <a:avLst>
              <a:gd name="adj" fmla="val 2773"/>
            </a:avLst>
          </a:prstGeom>
          <a:noFill/>
          <a:ln w="3175">
            <a:solidFill>
              <a:srgbClr val="333333"/>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6148" name="AutoShape 4"/>
          <p:cNvSpPr>
            <a:spLocks noChangeArrowheads="1"/>
          </p:cNvSpPr>
          <p:nvPr/>
        </p:nvSpPr>
        <p:spPr bwMode="auto">
          <a:xfrm>
            <a:off x="5062855" y="1310005"/>
            <a:ext cx="2147570" cy="869315"/>
          </a:xfrm>
          <a:prstGeom prst="roundRect">
            <a:avLst>
              <a:gd name="adj" fmla="val 15657"/>
            </a:avLst>
          </a:prstGeom>
          <a:solidFill>
            <a:schemeClr val="bg1"/>
          </a:solidFill>
          <a:ln w="3175">
            <a:solidFill>
              <a:srgbClr val="333333">
                <a:alpha val="56862"/>
              </a:srgbClr>
            </a:solidFill>
            <a:round/>
          </a:ln>
        </p:spPr>
        <p:txBody>
          <a:bodyPr wrap="none" anchor="ctr"/>
          <a:lstStyle/>
          <a:p>
            <a:pPr algn="ctr">
              <a:spcBef>
                <a:spcPct val="50000"/>
              </a:spcBef>
              <a:buFont typeface="Arial" panose="020B0604020202020204" pitchFamily="34" charset="0"/>
              <a:buNone/>
            </a:pPr>
            <a:r>
              <a:rPr lang="zh-CN" altLang="en-US" sz="3200" b="1">
                <a:latin typeface="微软雅黑" panose="020B0503020204020204" charset="-122"/>
                <a:ea typeface="微软雅黑" panose="020B0503020204020204" charset="-122"/>
              </a:rPr>
              <a:t>本章要点</a:t>
            </a:r>
          </a:p>
        </p:txBody>
      </p:sp>
      <p:sp>
        <p:nvSpPr>
          <p:cNvPr id="3" name="标题 1"/>
          <p:cNvSpPr>
            <a:spLocks noGrp="1"/>
          </p:cNvSpPr>
          <p:nvPr/>
        </p:nvSpPr>
        <p:spPr>
          <a:xfrm>
            <a:off x="3462655" y="310515"/>
            <a:ext cx="1133475" cy="561975"/>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defRPr>
            </a:lvl1pPr>
          </a:lstStyle>
          <a:p>
            <a:pPr fontAlgn="auto">
              <a:buFont typeface="Arial" panose="020B0604020202020204" pitchFamily="34" charset="0"/>
              <a:buNone/>
              <a:defRPr/>
            </a:pPr>
            <a:r>
              <a:rPr lang="zh-CN" altLang="en-US" noProof="1">
                <a:cs typeface="+mn-cs"/>
              </a:rPr>
              <a:t>目录</a:t>
            </a:r>
            <a:endParaRPr lang="zh-CN" altLang="en-US" noProof="1"/>
          </a:p>
        </p:txBody>
      </p:sp>
      <p:grpSp>
        <p:nvGrpSpPr>
          <p:cNvPr id="10" name="Group 5"/>
          <p:cNvGrpSpPr/>
          <p:nvPr/>
        </p:nvGrpSpPr>
        <p:grpSpPr bwMode="auto">
          <a:xfrm>
            <a:off x="6588125" y="5144770"/>
            <a:ext cx="3764280" cy="481330"/>
            <a:chOff x="3" y="0"/>
            <a:chExt cx="4243" cy="333"/>
          </a:xfrm>
        </p:grpSpPr>
        <p:grpSp>
          <p:nvGrpSpPr>
            <p:cNvPr id="11" name="Group 6"/>
            <p:cNvGrpSpPr/>
            <p:nvPr/>
          </p:nvGrpSpPr>
          <p:grpSpPr bwMode="auto">
            <a:xfrm>
              <a:off x="3" y="0"/>
              <a:ext cx="4243" cy="333"/>
              <a:chOff x="0" y="0"/>
              <a:chExt cx="4243" cy="333"/>
            </a:xfrm>
          </p:grpSpPr>
          <p:sp>
            <p:nvSpPr>
              <p:cNvPr id="1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4.8  ex命令</a:t>
              </a:r>
            </a:p>
          </p:txBody>
        </p:sp>
      </p:grpSp>
      <p:grpSp>
        <p:nvGrpSpPr>
          <p:cNvPr id="15" name="Group 5"/>
          <p:cNvGrpSpPr/>
          <p:nvPr/>
        </p:nvGrpSpPr>
        <p:grpSpPr bwMode="auto">
          <a:xfrm>
            <a:off x="6569075" y="4255135"/>
            <a:ext cx="3794760" cy="481330"/>
            <a:chOff x="3" y="0"/>
            <a:chExt cx="4243" cy="333"/>
          </a:xfrm>
        </p:grpSpPr>
        <p:grpSp>
          <p:nvGrpSpPr>
            <p:cNvPr id="16" name="Group 6"/>
            <p:cNvGrpSpPr/>
            <p:nvPr/>
          </p:nvGrpSpPr>
          <p:grpSpPr bwMode="auto">
            <a:xfrm>
              <a:off x="3" y="0"/>
              <a:ext cx="4243" cy="333"/>
              <a:chOff x="0" y="0"/>
              <a:chExt cx="4243" cy="333"/>
            </a:xfrm>
          </p:grpSpPr>
          <p:sp>
            <p:nvSpPr>
              <p:cNvPr id="1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4.7  文本修改</a:t>
              </a:r>
            </a:p>
          </p:txBody>
        </p:sp>
      </p:grpSp>
      <p:grpSp>
        <p:nvGrpSpPr>
          <p:cNvPr id="20" name="Group 5"/>
          <p:cNvGrpSpPr/>
          <p:nvPr/>
        </p:nvGrpSpPr>
        <p:grpSpPr bwMode="auto">
          <a:xfrm>
            <a:off x="2021205" y="2421255"/>
            <a:ext cx="4041140" cy="481330"/>
            <a:chOff x="3" y="0"/>
            <a:chExt cx="4243" cy="333"/>
          </a:xfrm>
        </p:grpSpPr>
        <p:grpSp>
          <p:nvGrpSpPr>
            <p:cNvPr id="21" name="Group 6"/>
            <p:cNvGrpSpPr/>
            <p:nvPr/>
          </p:nvGrpSpPr>
          <p:grpSpPr bwMode="auto">
            <a:xfrm>
              <a:off x="3" y="0"/>
              <a:ext cx="4243" cy="333"/>
              <a:chOff x="0" y="0"/>
              <a:chExt cx="4243" cy="333"/>
            </a:xfrm>
          </p:grpSpPr>
          <p:sp>
            <p:nvSpPr>
              <p:cNvPr id="22" name="AutoShape 7"/>
              <p:cNvSpPr>
                <a:spLocks noChangeArrowheads="1"/>
              </p:cNvSpPr>
              <p:nvPr/>
            </p:nvSpPr>
            <p:spPr bwMode="auto">
              <a:xfrm>
                <a:off x="0" y="0"/>
                <a:ext cx="4243" cy="333"/>
              </a:xfrm>
              <a:prstGeom prst="roundRect">
                <a:avLst>
                  <a:gd name="adj" fmla="val 15657"/>
                </a:avLst>
              </a:prstGeom>
              <a:solidFill>
                <a:srgbClr val="00B0F0"/>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latin typeface="微软雅黑" panose="020B0503020204020204" charset="-122"/>
                  <a:ea typeface="微软雅黑" panose="020B0503020204020204" charset="-122"/>
                  <a:sym typeface="Arial Unicode MS" panose="020B0604020202020204" pitchFamily="34" charset="-122"/>
                </a:rPr>
                <a:t>4.1  vi的工作方式</a:t>
              </a:r>
            </a:p>
          </p:txBody>
        </p:sp>
      </p:grpSp>
      <p:grpSp>
        <p:nvGrpSpPr>
          <p:cNvPr id="25" name="Group 5"/>
          <p:cNvGrpSpPr/>
          <p:nvPr/>
        </p:nvGrpSpPr>
        <p:grpSpPr bwMode="auto">
          <a:xfrm>
            <a:off x="1986280" y="3320415"/>
            <a:ext cx="4091940" cy="481330"/>
            <a:chOff x="3" y="0"/>
            <a:chExt cx="4243" cy="333"/>
          </a:xfrm>
        </p:grpSpPr>
        <p:grpSp>
          <p:nvGrpSpPr>
            <p:cNvPr id="26" name="Group 6"/>
            <p:cNvGrpSpPr/>
            <p:nvPr/>
          </p:nvGrpSpPr>
          <p:grpSpPr bwMode="auto">
            <a:xfrm>
              <a:off x="3" y="0"/>
              <a:ext cx="4243" cy="333"/>
              <a:chOff x="0" y="0"/>
              <a:chExt cx="4243" cy="333"/>
            </a:xfrm>
          </p:grpSpPr>
          <p:sp>
            <p:nvSpPr>
              <p:cNvPr id="2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4.2  vi的启动和退出</a:t>
              </a:r>
            </a:p>
          </p:txBody>
        </p:sp>
      </p:grpSp>
      <p:grpSp>
        <p:nvGrpSpPr>
          <p:cNvPr id="30" name="Group 5"/>
          <p:cNvGrpSpPr/>
          <p:nvPr/>
        </p:nvGrpSpPr>
        <p:grpSpPr bwMode="auto">
          <a:xfrm>
            <a:off x="2034540" y="4241165"/>
            <a:ext cx="4074160" cy="481330"/>
            <a:chOff x="3" y="0"/>
            <a:chExt cx="4243" cy="333"/>
          </a:xfrm>
        </p:grpSpPr>
        <p:grpSp>
          <p:nvGrpSpPr>
            <p:cNvPr id="31" name="Group 6"/>
            <p:cNvGrpSpPr/>
            <p:nvPr/>
          </p:nvGrpSpPr>
          <p:grpSpPr bwMode="auto">
            <a:xfrm>
              <a:off x="3" y="0"/>
              <a:ext cx="4243" cy="333"/>
              <a:chOff x="0" y="0"/>
              <a:chExt cx="4243" cy="333"/>
            </a:xfrm>
          </p:grpSpPr>
          <p:sp>
            <p:nvSpPr>
              <p:cNvPr id="3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4.3  文本输入</a:t>
              </a:r>
            </a:p>
          </p:txBody>
        </p:sp>
      </p:grpSp>
      <p:grpSp>
        <p:nvGrpSpPr>
          <p:cNvPr id="35" name="Group 5"/>
          <p:cNvGrpSpPr/>
          <p:nvPr/>
        </p:nvGrpSpPr>
        <p:grpSpPr bwMode="auto">
          <a:xfrm>
            <a:off x="2046605" y="5113020"/>
            <a:ext cx="4037330" cy="481330"/>
            <a:chOff x="3" y="0"/>
            <a:chExt cx="4243" cy="333"/>
          </a:xfrm>
        </p:grpSpPr>
        <p:grpSp>
          <p:nvGrpSpPr>
            <p:cNvPr id="36" name="Group 6"/>
            <p:cNvGrpSpPr/>
            <p:nvPr/>
          </p:nvGrpSpPr>
          <p:grpSpPr bwMode="auto">
            <a:xfrm>
              <a:off x="3" y="0"/>
              <a:ext cx="4243" cy="333"/>
              <a:chOff x="0" y="0"/>
              <a:chExt cx="4243" cy="333"/>
            </a:xfrm>
          </p:grpSpPr>
          <p:sp>
            <p:nvSpPr>
              <p:cNvPr id="3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9" name="Text Box 9"/>
            <p:cNvSpPr txBox="1">
              <a:spLocks noChangeArrowheads="1"/>
            </p:cNvSpPr>
            <p:nvPr/>
          </p:nvSpPr>
          <p:spPr bwMode="auto">
            <a:xfrm>
              <a:off x="879" y="34"/>
              <a:ext cx="3004"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4.4  打开文件</a:t>
              </a:r>
            </a:p>
          </p:txBody>
        </p:sp>
      </p:grpSp>
      <p:grpSp>
        <p:nvGrpSpPr>
          <p:cNvPr id="40" name="Group 5"/>
          <p:cNvGrpSpPr/>
          <p:nvPr/>
        </p:nvGrpSpPr>
        <p:grpSpPr bwMode="auto">
          <a:xfrm>
            <a:off x="6516370" y="2437130"/>
            <a:ext cx="3808095" cy="481330"/>
            <a:chOff x="3" y="0"/>
            <a:chExt cx="4243" cy="333"/>
          </a:xfrm>
        </p:grpSpPr>
        <p:grpSp>
          <p:nvGrpSpPr>
            <p:cNvPr id="41" name="Group 6"/>
            <p:cNvGrpSpPr/>
            <p:nvPr/>
          </p:nvGrpSpPr>
          <p:grpSpPr bwMode="auto">
            <a:xfrm>
              <a:off x="3" y="0"/>
              <a:ext cx="4243" cy="333"/>
              <a:chOff x="0" y="0"/>
              <a:chExt cx="4243" cy="333"/>
            </a:xfrm>
          </p:grpSpPr>
          <p:sp>
            <p:nvSpPr>
              <p:cNvPr id="4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4.5  保存文件</a:t>
              </a:r>
            </a:p>
          </p:txBody>
        </p:sp>
      </p:grpSp>
      <p:grpSp>
        <p:nvGrpSpPr>
          <p:cNvPr id="45" name="Group 5"/>
          <p:cNvGrpSpPr/>
          <p:nvPr/>
        </p:nvGrpSpPr>
        <p:grpSpPr bwMode="auto">
          <a:xfrm>
            <a:off x="6548120" y="3333750"/>
            <a:ext cx="3775710" cy="481330"/>
            <a:chOff x="3" y="0"/>
            <a:chExt cx="4243" cy="333"/>
          </a:xfrm>
        </p:grpSpPr>
        <p:grpSp>
          <p:nvGrpSpPr>
            <p:cNvPr id="46" name="Group 6"/>
            <p:cNvGrpSpPr/>
            <p:nvPr/>
          </p:nvGrpSpPr>
          <p:grpSpPr bwMode="auto">
            <a:xfrm>
              <a:off x="3" y="0"/>
              <a:ext cx="4243" cy="333"/>
              <a:chOff x="0" y="0"/>
              <a:chExt cx="4243" cy="333"/>
            </a:xfrm>
          </p:grpSpPr>
          <p:sp>
            <p:nvSpPr>
              <p:cNvPr id="4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4.6  移动光标</a:t>
              </a:r>
            </a:p>
          </p:txBody>
        </p:sp>
      </p:grpSp>
    </p:spTree>
  </p:cSld>
  <p:clrMapOvr>
    <a:masterClrMapping/>
  </p:clrMapOvr>
  <p:transition>
    <p:randomBa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701626" y="3302493"/>
            <a:ext cx="10661808" cy="2911698"/>
            <a:chOff x="701626" y="3302493"/>
            <a:chExt cx="10661808" cy="2911698"/>
          </a:xfrm>
        </p:grpSpPr>
        <p:grpSp>
          <p:nvGrpSpPr>
            <p:cNvPr id="5" name="组合 4"/>
            <p:cNvGrpSpPr/>
            <p:nvPr/>
          </p:nvGrpSpPr>
          <p:grpSpPr>
            <a:xfrm>
              <a:off x="701626" y="3302493"/>
              <a:ext cx="10661808" cy="2911698"/>
              <a:chOff x="6132" y="3018"/>
              <a:chExt cx="16404" cy="6146"/>
            </a:xfrm>
          </p:grpSpPr>
          <p:sp>
            <p:nvSpPr>
              <p:cNvPr id="10242" name="AutoShape 2"/>
              <p:cNvSpPr/>
              <p:nvPr/>
            </p:nvSpPr>
            <p:spPr>
              <a:xfrm>
                <a:off x="6132" y="3018"/>
                <a:ext cx="16404" cy="6146"/>
              </a:xfrm>
              <a:prstGeom prst="roundRect">
                <a:avLst>
                  <a:gd name="adj" fmla="val 2644"/>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zh-CN" altLang="en-US" sz="1600" i="0" dirty="0">
                  <a:latin typeface="微软雅黑" panose="020B0503020204020204" charset="-122"/>
                  <a:ea typeface="微软雅黑" panose="020B0503020204020204" charset="-122"/>
                </a:endParaRPr>
              </a:p>
              <a:p>
                <a:pPr indent="457200" fontAlgn="auto">
                  <a:lnSpc>
                    <a:spcPct val="150000"/>
                  </a:lnSpc>
                  <a:spcAft>
                    <a:spcPts val="600"/>
                  </a:spcAft>
                </a:pPr>
                <a:endParaRPr lang="en-US" altLang="zh-CN" sz="1200" dirty="0">
                  <a:latin typeface="微软雅黑" panose="020B0503020204020204" charset="-122"/>
                  <a:ea typeface="微软雅黑" panose="020B0503020204020204" charset="-122"/>
                  <a:sym typeface="+mn-ea"/>
                </a:endParaRPr>
              </a:p>
              <a:p>
                <a:pPr indent="457200" fontAlgn="auto">
                  <a:lnSpc>
                    <a:spcPct val="150000"/>
                  </a:lnSpc>
                  <a:spcAft>
                    <a:spcPts val="600"/>
                  </a:spcAft>
                </a:pPr>
                <a:r>
                  <a:rPr lang="en-US" altLang="zh-CN" sz="1900" dirty="0">
                    <a:latin typeface="微软雅黑" panose="020B0503020204020204" charset="-122"/>
                    <a:ea typeface="微软雅黑" panose="020B0503020204020204" charset="-122"/>
                    <a:sym typeface="+mn-ea"/>
                  </a:rPr>
                  <a:t>当输入命令vi后，进入vi编辑器时，就处于vi的命令方式。此时，从键盘上输入的任何字符都被作为</a:t>
                </a:r>
                <a:r>
                  <a:rPr lang="en-US" altLang="zh-CN" sz="1900" b="1" dirty="0">
                    <a:solidFill>
                      <a:srgbClr val="0070C0"/>
                    </a:solidFill>
                    <a:latin typeface="微软雅黑" panose="020B0503020204020204" charset="-122"/>
                    <a:ea typeface="微软雅黑" panose="020B0503020204020204" charset="-122"/>
                    <a:sym typeface="+mn-ea"/>
                  </a:rPr>
                  <a:t>编辑命令来解释</a:t>
                </a:r>
                <a:r>
                  <a:rPr lang="en-US" altLang="zh-CN" sz="1900" dirty="0">
                    <a:latin typeface="微软雅黑" panose="020B0503020204020204" charset="-122"/>
                    <a:ea typeface="微软雅黑" panose="020B0503020204020204" charset="-122"/>
                    <a:sym typeface="+mn-ea"/>
                  </a:rPr>
                  <a:t>，如a（append）表示附加命令、i（insert）表示插入命令、</a:t>
                </a:r>
                <a:r>
                  <a:rPr lang="en-US" altLang="zh-CN" sz="1900" dirty="0">
                    <a:solidFill>
                      <a:srgbClr val="FF0000"/>
                    </a:solidFill>
                    <a:latin typeface="微软雅黑" panose="020B0503020204020204" charset="-122"/>
                    <a:ea typeface="微软雅黑" panose="020B0503020204020204" charset="-122"/>
                    <a:sym typeface="+mn-ea"/>
                  </a:rPr>
                  <a:t>x表示删除字符命令等</a:t>
                </a:r>
                <a:r>
                  <a:rPr lang="en-US" altLang="zh-CN" sz="1900" dirty="0">
                    <a:latin typeface="微软雅黑" panose="020B0503020204020204" charset="-122"/>
                    <a:ea typeface="微软雅黑" panose="020B0503020204020204" charset="-122"/>
                    <a:sym typeface="+mn-ea"/>
                  </a:rPr>
                  <a:t>。如果输入的字符不是vi的合法命令，则计算机将发出“报警声”，光标不移动，且在命令方式下输入的字符（即vi命令）并不在屏幕上显示出来，如输入i，屏幕上并无变化，但通过执行i命令，编辑器的工作方式却发生变化，由命令方式变为输入方式。</a:t>
                </a: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6991" y="3312"/>
                <a:ext cx="4634" cy="739"/>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800" b="1" dirty="0">
                    <a:solidFill>
                      <a:srgbClr val="0066FF"/>
                    </a:solidFill>
                    <a:latin typeface="微软雅黑" panose="020B0503020204020204" charset="-122"/>
                    <a:ea typeface="微软雅黑" panose="020B0503020204020204" charset="-122"/>
                  </a:rPr>
                  <a:t>4.1.1  命令方式</a:t>
                </a:r>
              </a:p>
            </p:txBody>
          </p:sp>
        </p:grpSp>
        <p:sp>
          <p:nvSpPr>
            <p:cNvPr id="23" name="椭圆 22"/>
            <p:cNvSpPr/>
            <p:nvPr/>
          </p:nvSpPr>
          <p:spPr bwMode="auto">
            <a:xfrm>
              <a:off x="906132" y="3564971"/>
              <a:ext cx="331475" cy="298754"/>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600" noProof="1">
                <a:solidFill>
                  <a:srgbClr val="0066FF"/>
                </a:solidFill>
                <a:latin typeface="Arial Unicode MS" panose="020B0604020202020204" pitchFamily="34" charset="-122"/>
              </a:endParaRPr>
            </a:p>
          </p:txBody>
        </p:sp>
      </p:grpSp>
      <p:sp>
        <p:nvSpPr>
          <p:cNvPr id="3" name="AutoShape 2"/>
          <p:cNvSpPr/>
          <p:nvPr/>
        </p:nvSpPr>
        <p:spPr>
          <a:xfrm>
            <a:off x="727710" y="1801089"/>
            <a:ext cx="10662340" cy="1306090"/>
          </a:xfrm>
          <a:prstGeom prst="roundRect">
            <a:avLst>
              <a:gd name="adj" fmla="val 2644"/>
            </a:avLst>
          </a:prstGeom>
          <a:noFill/>
          <a:ln w="3175" cap="flat" cmpd="sng">
            <a:noFill/>
            <a:prstDash val="solid"/>
            <a:round/>
            <a:headEnd type="none" w="med" len="med"/>
            <a:tailEnd type="none" w="med" len="med"/>
          </a:ln>
        </p:spPr>
        <p:txBody>
          <a:bodyPr anchor="t"/>
          <a:lstStyle/>
          <a:p>
            <a:pPr lvl="0" indent="457200" eaLnBrk="1" latinLnBrk="0" hangingPunct="1">
              <a:lnSpc>
                <a:spcPct val="150000"/>
              </a:lnSpc>
              <a:buClr>
                <a:schemeClr val="accent2"/>
              </a:buClr>
              <a:buFont typeface="Wingdings" panose="05000000000000000000" pitchFamily="2" charset="2"/>
              <a:buNone/>
            </a:pPr>
            <a:r>
              <a:rPr lang="en-US" altLang="zh-CN" sz="2400" dirty="0">
                <a:latin typeface="微软雅黑" panose="020B0503020204020204" charset="-122"/>
                <a:ea typeface="微软雅黑" panose="020B0503020204020204" charset="-122"/>
                <a:sym typeface="+mn-ea"/>
              </a:rPr>
              <a:t>vi编辑器有3种工作方式，即</a:t>
            </a:r>
            <a:r>
              <a:rPr lang="en-US" altLang="zh-CN" sz="2400" b="1" dirty="0">
                <a:solidFill>
                  <a:srgbClr val="0070C0"/>
                </a:solidFill>
                <a:latin typeface="微软雅黑" panose="020B0503020204020204" charset="-122"/>
                <a:ea typeface="微软雅黑" panose="020B0503020204020204" charset="-122"/>
                <a:sym typeface="+mn-ea"/>
              </a:rPr>
              <a:t>命令方式</a:t>
            </a:r>
            <a:r>
              <a:rPr lang="en-US" altLang="zh-CN" sz="2400" dirty="0">
                <a:latin typeface="微软雅黑" panose="020B0503020204020204" charset="-122"/>
                <a:ea typeface="微软雅黑" panose="020B0503020204020204" charset="-122"/>
                <a:sym typeface="+mn-ea"/>
              </a:rPr>
              <a:t>、</a:t>
            </a:r>
            <a:r>
              <a:rPr lang="en-US" altLang="zh-CN" sz="2400" b="1" dirty="0">
                <a:solidFill>
                  <a:srgbClr val="0070C0"/>
                </a:solidFill>
                <a:latin typeface="微软雅黑" panose="020B0503020204020204" charset="-122"/>
                <a:ea typeface="微软雅黑" panose="020B0503020204020204" charset="-122"/>
                <a:sym typeface="+mn-ea"/>
              </a:rPr>
              <a:t>输入方式</a:t>
            </a:r>
            <a:r>
              <a:rPr lang="en-US" altLang="zh-CN" sz="2400" dirty="0">
                <a:latin typeface="微软雅黑" panose="020B0503020204020204" charset="-122"/>
                <a:ea typeface="微软雅黑" panose="020B0503020204020204" charset="-122"/>
                <a:sym typeface="+mn-ea"/>
              </a:rPr>
              <a:t>和</a:t>
            </a:r>
            <a:r>
              <a:rPr lang="en-US" altLang="zh-CN" sz="2400" b="1" dirty="0">
                <a:solidFill>
                  <a:srgbClr val="0070C0"/>
                </a:solidFill>
                <a:latin typeface="微软雅黑" panose="020B0503020204020204" charset="-122"/>
                <a:ea typeface="微软雅黑" panose="020B0503020204020204" charset="-122"/>
                <a:sym typeface="+mn-ea"/>
              </a:rPr>
              <a:t>ex转义方式</a:t>
            </a:r>
            <a:r>
              <a:rPr lang="en-US" altLang="zh-CN" sz="2400" dirty="0">
                <a:latin typeface="微软雅黑" panose="020B0503020204020204" charset="-122"/>
                <a:ea typeface="微软雅黑" panose="020B0503020204020204" charset="-122"/>
                <a:sym typeface="+mn-ea"/>
              </a:rPr>
              <a:t>。通过相应的命令或操作，3种工作方式之间可以</a:t>
            </a:r>
            <a:r>
              <a:rPr lang="en-US" altLang="zh-CN" sz="2400" b="1" dirty="0">
                <a:solidFill>
                  <a:srgbClr val="0070C0"/>
                </a:solidFill>
                <a:latin typeface="微软雅黑" panose="020B0503020204020204" charset="-122"/>
                <a:ea typeface="微软雅黑" panose="020B0503020204020204" charset="-122"/>
                <a:sym typeface="+mn-ea"/>
              </a:rPr>
              <a:t>相互转换</a:t>
            </a:r>
            <a:r>
              <a:rPr lang="en-US" altLang="zh-CN" sz="2400" dirty="0">
                <a:latin typeface="微软雅黑" panose="020B0503020204020204" charset="-122"/>
                <a:ea typeface="微软雅黑" panose="020B0503020204020204" charset="-122"/>
                <a:sym typeface="+mn-ea"/>
              </a:rPr>
              <a:t>。</a:t>
            </a:r>
          </a:p>
          <a:p>
            <a:pPr indent="457200" fontAlgn="auto">
              <a:lnSpc>
                <a:spcPct val="150000"/>
              </a:lnSpc>
              <a:spcAft>
                <a:spcPts val="600"/>
              </a:spcAft>
            </a:pPr>
            <a:endParaRPr lang="en-US" altLang="zh-CN" sz="2000" b="1" dirty="0">
              <a:solidFill>
                <a:srgbClr val="0070C0"/>
              </a:solidFill>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2000" dirty="0">
              <a:latin typeface="微软雅黑" panose="020B0503020204020204" charset="-122"/>
              <a:ea typeface="微软雅黑" panose="020B0503020204020204" charset="-122"/>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508000" y="1718310"/>
            <a:ext cx="11194415" cy="48044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grpSp>
        <p:nvGrpSpPr>
          <p:cNvPr id="2" name="组合 1"/>
          <p:cNvGrpSpPr/>
          <p:nvPr/>
        </p:nvGrpSpPr>
        <p:grpSpPr>
          <a:xfrm>
            <a:off x="691515" y="1082040"/>
            <a:ext cx="3388360" cy="529590"/>
            <a:chOff x="1089" y="1704"/>
            <a:chExt cx="5336" cy="834"/>
          </a:xfrm>
        </p:grpSpPr>
        <p:sp>
          <p:nvSpPr>
            <p:cNvPr id="22" name="矩形 6"/>
            <p:cNvSpPr>
              <a:spLocks noChangeArrowheads="1"/>
            </p:cNvSpPr>
            <p:nvPr/>
          </p:nvSpPr>
          <p:spPr bwMode="auto">
            <a:xfrm>
              <a:off x="1791" y="1704"/>
              <a:ext cx="4634"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rPr>
                <a:t>4.1.2  输入方式</a:t>
              </a:r>
            </a:p>
          </p:txBody>
        </p:sp>
        <p:sp>
          <p:nvSpPr>
            <p:cNvPr id="23" name="椭圆 22"/>
            <p:cNvSpPr/>
            <p:nvPr/>
          </p:nvSpPr>
          <p:spPr bwMode="auto">
            <a:xfrm>
              <a:off x="1089" y="1887"/>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sp>
        <p:nvSpPr>
          <p:cNvPr id="14" name="矩形 13"/>
          <p:cNvSpPr/>
          <p:nvPr/>
        </p:nvSpPr>
        <p:spPr>
          <a:xfrm>
            <a:off x="819150" y="2324735"/>
            <a:ext cx="5120005" cy="3733800"/>
          </a:xfrm>
          <a:prstGeom prst="rect">
            <a:avLst/>
          </a:prstGeom>
        </p:spPr>
        <p:txBody>
          <a:bodyPr wrap="square">
            <a:spAutoFit/>
          </a:bodyPr>
          <a:lstStyle/>
          <a:p>
            <a:pPr indent="457200">
              <a:lnSpc>
                <a:spcPct val="130000"/>
              </a:lnSpc>
              <a:spcAft>
                <a:spcPts val="600"/>
              </a:spcAft>
              <a:defRPr/>
            </a:pPr>
            <a:r>
              <a:rPr lang="zh-CN" altLang="en-US" sz="2000" dirty="0">
                <a:solidFill>
                  <a:srgbClr val="FF0000"/>
                </a:solidFill>
                <a:latin typeface="微软雅黑" panose="020B0503020204020204" charset="-122"/>
                <a:ea typeface="微软雅黑" panose="020B0503020204020204" charset="-122"/>
              </a:rPr>
              <a:t>通过输入vi的插入命令（i）、附加命令（a）、打开命令（o）、替换命令（s）、修改命令（c）或取代命令（r）即可从命令方式进入到输入方式。</a:t>
            </a:r>
          </a:p>
          <a:p>
            <a:pPr indent="457200">
              <a:lnSpc>
                <a:spcPct val="130000"/>
              </a:lnSpc>
              <a:spcAft>
                <a:spcPts val="600"/>
              </a:spcAft>
              <a:defRPr/>
            </a:pPr>
            <a:r>
              <a:rPr lang="zh-CN" altLang="en-US" sz="2000" dirty="0">
                <a:solidFill>
                  <a:schemeClr val="tx1">
                    <a:lumMod val="85000"/>
                    <a:lumOff val="15000"/>
                  </a:schemeClr>
                </a:solidFill>
                <a:latin typeface="微软雅黑" panose="020B0503020204020204" charset="-122"/>
                <a:ea typeface="微软雅黑" panose="020B0503020204020204" charset="-122"/>
              </a:rPr>
              <a:t>在输入方式下，从键盘上输入的所有字符都被插入到正在编辑的</a:t>
            </a:r>
            <a:r>
              <a:rPr lang="zh-CN" altLang="en-US" sz="2000" b="1" dirty="0">
                <a:solidFill>
                  <a:srgbClr val="0070C0"/>
                </a:solidFill>
                <a:latin typeface="微软雅黑" panose="020B0503020204020204" charset="-122"/>
                <a:ea typeface="微软雅黑" panose="020B0503020204020204" charset="-122"/>
              </a:rPr>
              <a:t>缓冲区</a:t>
            </a:r>
            <a:r>
              <a:rPr lang="zh-CN" altLang="en-US" sz="2000" dirty="0">
                <a:solidFill>
                  <a:schemeClr val="tx1">
                    <a:lumMod val="85000"/>
                    <a:lumOff val="15000"/>
                  </a:schemeClr>
                </a:solidFill>
                <a:latin typeface="微软雅黑" panose="020B0503020204020204" charset="-122"/>
                <a:ea typeface="微软雅黑" panose="020B0503020204020204" charset="-122"/>
              </a:rPr>
              <a:t>中，被当作该文件的正文。进入输入方式后，输入的可见字符都在屏幕上显示出来，而编辑命令不再起作用，仅作为普通字母出现。</a:t>
            </a:r>
          </a:p>
        </p:txBody>
      </p:sp>
      <p:sp>
        <p:nvSpPr>
          <p:cNvPr id="15" name="矩形 14"/>
          <p:cNvSpPr/>
          <p:nvPr/>
        </p:nvSpPr>
        <p:spPr>
          <a:xfrm>
            <a:off x="603215" y="6119196"/>
            <a:ext cx="216000" cy="216000"/>
          </a:xfrm>
          <a:prstGeom prst="rect">
            <a:avLst/>
          </a:prstGeom>
          <a:solidFill>
            <a:srgbClr val="FF6600"/>
          </a:solidFill>
          <a:effectLst/>
        </p:spPr>
        <p:txBody>
          <a:bodyPr lIns="90000" tIns="36000" rIns="90000" bIns="36000"/>
          <a:lstStyle/>
          <a:p>
            <a:pPr indent="457200">
              <a:lnSpc>
                <a:spcPct val="134000"/>
              </a:lnSpc>
              <a:spcBef>
                <a:spcPts val="600"/>
              </a:spcBef>
            </a:pPr>
            <a:endParaRPr lang="zh-CN" altLang="en-US" sz="2400" b="1">
              <a:solidFill>
                <a:schemeClr val="bg1"/>
              </a:solidFill>
              <a:latin typeface="微软雅黑" panose="020B0503020204020204" charset="-122"/>
              <a:ea typeface="微软雅黑" panose="020B0503020204020204" charset="-122"/>
            </a:endParaRPr>
          </a:p>
        </p:txBody>
      </p:sp>
      <p:cxnSp>
        <p:nvCxnSpPr>
          <p:cNvPr id="16" name="直接连接符 15"/>
          <p:cNvCxnSpPr/>
          <p:nvPr/>
        </p:nvCxnSpPr>
        <p:spPr>
          <a:xfrm>
            <a:off x="403501" y="6226194"/>
            <a:ext cx="2808312" cy="0"/>
          </a:xfrm>
          <a:prstGeom prst="line">
            <a:avLst/>
          </a:prstGeom>
        </p:spPr>
        <p:style>
          <a:lnRef idx="1">
            <a:schemeClr val="accent6"/>
          </a:lnRef>
          <a:fillRef idx="0">
            <a:schemeClr val="accent6"/>
          </a:fillRef>
          <a:effectRef idx="0">
            <a:schemeClr val="accent6"/>
          </a:effectRef>
          <a:fontRef idx="minor">
            <a:schemeClr val="tx1"/>
          </a:fontRef>
        </p:style>
      </p:cxnSp>
      <p:cxnSp>
        <p:nvCxnSpPr>
          <p:cNvPr id="17" name="直接连接符 16"/>
          <p:cNvCxnSpPr/>
          <p:nvPr/>
        </p:nvCxnSpPr>
        <p:spPr>
          <a:xfrm>
            <a:off x="711483" y="4537400"/>
            <a:ext cx="0" cy="1980803"/>
          </a:xfrm>
          <a:prstGeom prst="line">
            <a:avLst/>
          </a:prstGeom>
        </p:spPr>
        <p:style>
          <a:lnRef idx="1">
            <a:schemeClr val="accent6"/>
          </a:lnRef>
          <a:fillRef idx="0">
            <a:schemeClr val="accent6"/>
          </a:fillRef>
          <a:effectRef idx="0">
            <a:schemeClr val="accent6"/>
          </a:effectRef>
          <a:fontRef idx="minor">
            <a:schemeClr val="tx1"/>
          </a:fontRef>
        </p:style>
      </p:cxnSp>
      <p:grpSp>
        <p:nvGrpSpPr>
          <p:cNvPr id="18" name="组合 14"/>
          <p:cNvGrpSpPr/>
          <p:nvPr/>
        </p:nvGrpSpPr>
        <p:grpSpPr bwMode="auto">
          <a:xfrm>
            <a:off x="6396355" y="2161540"/>
            <a:ext cx="4946015" cy="3794760"/>
            <a:chOff x="1037496" y="1786456"/>
            <a:chExt cx="9884476" cy="1713982"/>
          </a:xfrm>
        </p:grpSpPr>
        <p:grpSp>
          <p:nvGrpSpPr>
            <p:cNvPr id="19" name="组合 12"/>
            <p:cNvGrpSpPr/>
            <p:nvPr/>
          </p:nvGrpSpPr>
          <p:grpSpPr bwMode="auto">
            <a:xfrm>
              <a:off x="1037496" y="1786456"/>
              <a:ext cx="9884476" cy="1713982"/>
              <a:chOff x="1037496" y="1786456"/>
              <a:chExt cx="9884476" cy="1713982"/>
            </a:xfrm>
          </p:grpSpPr>
          <p:sp>
            <p:nvSpPr>
              <p:cNvPr id="20" name="矩形 19"/>
              <p:cNvSpPr/>
              <p:nvPr/>
            </p:nvSpPr>
            <p:spPr>
              <a:xfrm>
                <a:off x="1037496"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21" name="矩形 6"/>
              <p:cNvSpPr>
                <a:spLocks noChangeArrowheads="1"/>
              </p:cNvSpPr>
              <p:nvPr/>
            </p:nvSpPr>
            <p:spPr bwMode="auto">
              <a:xfrm>
                <a:off x="1063528" y="1787887"/>
                <a:ext cx="9858444" cy="487005"/>
              </a:xfrm>
              <a:prstGeom prst="rect">
                <a:avLst/>
              </a:prstGeom>
              <a:noFill/>
              <a:ln w="9525">
                <a:noFill/>
                <a:miter lim="800000"/>
              </a:ln>
            </p:spPr>
            <p:txBody>
              <a:bodyPr wrap="square">
                <a:spAutoFit/>
              </a:bodyPr>
              <a:lstStyle/>
              <a:p>
                <a:pPr indent="457200" eaLnBrk="1" latinLnBrk="0" hangingPunct="1">
                  <a:lnSpc>
                    <a:spcPct val="120000"/>
                  </a:lnSpc>
                  <a:spcAft>
                    <a:spcPts val="500"/>
                  </a:spcAft>
                  <a:buFont typeface="Arial" panose="020B0604020202020204" pitchFamily="34" charset="0"/>
                  <a:buNone/>
                </a:pPr>
                <a:r>
                  <a:rPr sz="1800" b="1">
                    <a:solidFill>
                      <a:srgbClr val="FF0000"/>
                    </a:solidFill>
                    <a:latin typeface="微软雅黑" panose="020B0503020204020204" charset="-122"/>
                    <a:ea typeface="微软雅黑" panose="020B0503020204020204" charset="-122"/>
                    <a:cs typeface="华康俪金黑W8(P)"/>
                  </a:rPr>
                  <a:t>例如，</a:t>
                </a:r>
                <a:r>
                  <a:rPr sz="1800" b="1">
                    <a:solidFill>
                      <a:srgbClr val="009900"/>
                    </a:solidFill>
                    <a:latin typeface="微软雅黑" panose="020B0503020204020204" charset="-122"/>
                    <a:ea typeface="微软雅黑" panose="020B0503020204020204" charset="-122"/>
                    <a:cs typeface="华康俪金黑W8(P)"/>
                  </a:rPr>
                  <a:t>在命令方式下输入字母i，进入到输入方式，然后再输入i，就在屏幕上相应光标处添加一个字母i。</a:t>
                </a:r>
                <a:r>
                  <a:rPr lang="zh-CN" altLang="en-US" sz="1800" b="1">
                    <a:solidFill>
                      <a:srgbClr val="009900"/>
                    </a:solidFill>
                    <a:latin typeface="微软雅黑" panose="020B0503020204020204" charset="-122"/>
                    <a:ea typeface="微软雅黑" panose="020B0503020204020204" charset="-122"/>
                    <a:cs typeface="华康俪金黑W8(P)"/>
                  </a:rPr>
                  <a:t>设原来屏幕显示的情况如下：</a:t>
                </a:r>
              </a:p>
            </p:txBody>
          </p:sp>
        </p:grpSp>
        <p:sp>
          <p:nvSpPr>
            <p:cNvPr id="24" name="MH_Text_1"/>
            <p:cNvSpPr txBox="1">
              <a:spLocks noChangeArrowheads="1"/>
            </p:cNvSpPr>
            <p:nvPr>
              <p:custDataLst>
                <p:tags r:id="rId1"/>
              </p:custDataLst>
            </p:nvPr>
          </p:nvSpPr>
          <p:spPr bwMode="auto">
            <a:xfrm>
              <a:off x="1140287" y="2275182"/>
              <a:ext cx="9653513" cy="1188831"/>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this is an example */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main()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prntf(</a:t>
              </a:r>
              <a:r>
                <a:rPr lang="zh-CN" altLang="en-US" sz="1800" b="1" dirty="0">
                  <a:solidFill>
                    <a:srgbClr val="FF0000"/>
                  </a:solidFill>
                  <a:latin typeface="微软雅黑" panose="020B0503020204020204" charset="-122"/>
                  <a:ea typeface="微软雅黑" panose="020B0503020204020204" charset="-122"/>
                  <a:cs typeface="+mn-cs"/>
                  <a:sym typeface="+mn-ea"/>
                </a:rPr>
                <a:t>"ok!"</a:t>
              </a:r>
              <a:r>
                <a:rPr lang="zh-CN" altLang="en-US" sz="1800" b="1" dirty="0">
                  <a:solidFill>
                    <a:srgbClr val="0070C0"/>
                  </a:solidFill>
                  <a:latin typeface="微软雅黑" panose="020B0503020204020204" charset="-122"/>
                  <a:ea typeface="微软雅黑" panose="020B0503020204020204" charset="-122"/>
                  <a:cs typeface="+mn-cs"/>
                  <a:sym typeface="+mn-ea"/>
                </a:rPr>
                <a:t>);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8" presetClass="entr" presetSubtype="16"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diamond(in)">
                                      <p:cBhvr>
                                        <p:cTn id="11" dur="500"/>
                                        <p:tgtEl>
                                          <p:spTgt spid="14"/>
                                        </p:tgtEl>
                                      </p:cBhvr>
                                    </p:animEffect>
                                  </p:childTnLst>
                                </p:cTn>
                              </p:par>
                              <p:par>
                                <p:cTn id="12" presetID="23" presetClass="entr" presetSubtype="16"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p:cTn id="14" dur="500" fill="hold"/>
                                        <p:tgtEl>
                                          <p:spTgt spid="15"/>
                                        </p:tgtEl>
                                        <p:attrNameLst>
                                          <p:attrName>ppt_w</p:attrName>
                                        </p:attrNameLst>
                                      </p:cBhvr>
                                      <p:tavLst>
                                        <p:tav tm="0">
                                          <p:val>
                                            <p:fltVal val="0"/>
                                          </p:val>
                                        </p:tav>
                                        <p:tav tm="100000">
                                          <p:val>
                                            <p:strVal val="#ppt_w"/>
                                          </p:val>
                                        </p:tav>
                                      </p:tavLst>
                                    </p:anim>
                                    <p:anim calcmode="lin" valueType="num">
                                      <p:cBhvr>
                                        <p:cTn id="15" dur="500" fill="hold"/>
                                        <p:tgtEl>
                                          <p:spTgt spid="15"/>
                                        </p:tgtEl>
                                        <p:attrNameLst>
                                          <p:attrName>ppt_h</p:attrName>
                                        </p:attrNameLst>
                                      </p:cBhvr>
                                      <p:tavLst>
                                        <p:tav tm="0">
                                          <p:val>
                                            <p:fltVal val="0"/>
                                          </p:val>
                                        </p:tav>
                                        <p:tav tm="100000">
                                          <p:val>
                                            <p:strVal val="#ppt_h"/>
                                          </p:val>
                                        </p:tav>
                                      </p:tavLst>
                                    </p:anim>
                                  </p:childTnLst>
                                </p:cTn>
                              </p:par>
                              <p:par>
                                <p:cTn id="16" presetID="23" presetClass="entr" presetSubtype="16" fill="hold" nodeType="withEffect">
                                  <p:stCondLst>
                                    <p:cond delay="0"/>
                                  </p:stCondLst>
                                  <p:childTnLst>
                                    <p:set>
                                      <p:cBhvr>
                                        <p:cTn id="17" dur="1" fill="hold">
                                          <p:stCondLst>
                                            <p:cond delay="0"/>
                                          </p:stCondLst>
                                        </p:cTn>
                                        <p:tgtEl>
                                          <p:spTgt spid="17"/>
                                        </p:tgtEl>
                                        <p:attrNameLst>
                                          <p:attrName>style.visibility</p:attrName>
                                        </p:attrNameLst>
                                      </p:cBhvr>
                                      <p:to>
                                        <p:strVal val="visible"/>
                                      </p:to>
                                    </p:set>
                                    <p:anim calcmode="lin" valueType="num">
                                      <p:cBhvr>
                                        <p:cTn id="18" dur="500" fill="hold"/>
                                        <p:tgtEl>
                                          <p:spTgt spid="17"/>
                                        </p:tgtEl>
                                        <p:attrNameLst>
                                          <p:attrName>ppt_w</p:attrName>
                                        </p:attrNameLst>
                                      </p:cBhvr>
                                      <p:tavLst>
                                        <p:tav tm="0">
                                          <p:val>
                                            <p:fltVal val="0"/>
                                          </p:val>
                                        </p:tav>
                                        <p:tav tm="100000">
                                          <p:val>
                                            <p:strVal val="#ppt_w"/>
                                          </p:val>
                                        </p:tav>
                                      </p:tavLst>
                                    </p:anim>
                                    <p:anim calcmode="lin" valueType="num">
                                      <p:cBhvr>
                                        <p:cTn id="19" dur="500" fill="hold"/>
                                        <p:tgtEl>
                                          <p:spTgt spid="17"/>
                                        </p:tgtEl>
                                        <p:attrNameLst>
                                          <p:attrName>ppt_h</p:attrName>
                                        </p:attrNameLst>
                                      </p:cBhvr>
                                      <p:tavLst>
                                        <p:tav tm="0">
                                          <p:val>
                                            <p:fltVal val="0"/>
                                          </p:val>
                                        </p:tav>
                                        <p:tav tm="100000">
                                          <p:val>
                                            <p:strVal val="#ppt_h"/>
                                          </p:val>
                                        </p:tav>
                                      </p:tavLst>
                                    </p:anim>
                                  </p:childTnLst>
                                </p:cTn>
                              </p:par>
                              <p:par>
                                <p:cTn id="20" presetID="23" presetClass="entr" presetSubtype="16"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p:cTn id="22" dur="500" fill="hold"/>
                                        <p:tgtEl>
                                          <p:spTgt spid="16"/>
                                        </p:tgtEl>
                                        <p:attrNameLst>
                                          <p:attrName>ppt_w</p:attrName>
                                        </p:attrNameLst>
                                      </p:cBhvr>
                                      <p:tavLst>
                                        <p:tav tm="0">
                                          <p:val>
                                            <p:fltVal val="0"/>
                                          </p:val>
                                        </p:tav>
                                        <p:tav tm="100000">
                                          <p:val>
                                            <p:strVal val="#ppt_w"/>
                                          </p:val>
                                        </p:tav>
                                      </p:tavLst>
                                    </p:anim>
                                    <p:anim calcmode="lin" valueType="num">
                                      <p:cBhvr>
                                        <p:cTn id="23" dur="500" fill="hold"/>
                                        <p:tgtEl>
                                          <p:spTgt spid="16"/>
                                        </p:tgtEl>
                                        <p:attrNameLst>
                                          <p:attrName>ppt_h</p:attrName>
                                        </p:attrNameLst>
                                      </p:cBhvr>
                                      <p:tavLst>
                                        <p:tav tm="0">
                                          <p:val>
                                            <p:fltVal val="0"/>
                                          </p:val>
                                        </p:tav>
                                        <p:tav tm="100000">
                                          <p:val>
                                            <p:strVal val="#ppt_h"/>
                                          </p:val>
                                        </p:tav>
                                      </p:tavLst>
                                    </p:anim>
                                  </p:childTnLst>
                                </p:cTn>
                              </p:par>
                            </p:childTnLst>
                          </p:cTn>
                        </p:par>
                        <p:par>
                          <p:cTn id="24" fill="hold">
                            <p:stCondLst>
                              <p:cond delay="1000"/>
                            </p:stCondLst>
                            <p:childTnLst>
                              <p:par>
                                <p:cTn id="25" presetID="18" presetClass="entr" presetSubtype="6" fill="hold"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strips(downRight)">
                                      <p:cBhvr>
                                        <p:cTn id="2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508000" y="1718310"/>
            <a:ext cx="11194415" cy="48044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294259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rPr>
              <a:t>4.1.2  输入方式</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sp>
        <p:nvSpPr>
          <p:cNvPr id="46" name="Text Box 44"/>
          <p:cNvSpPr txBox="1">
            <a:spLocks noChangeArrowheads="1"/>
          </p:cNvSpPr>
          <p:nvPr/>
        </p:nvSpPr>
        <p:spPr bwMode="auto">
          <a:xfrm>
            <a:off x="5753735" y="2362835"/>
            <a:ext cx="5154930" cy="329184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50000"/>
              </a:lnSpc>
            </a:pPr>
            <a:r>
              <a:rPr lang="zh-CN" altLang="en-US" sz="2000" dirty="0">
                <a:solidFill>
                  <a:schemeClr val="tx1">
                    <a:lumMod val="85000"/>
                    <a:lumOff val="15000"/>
                  </a:schemeClr>
                </a:solidFill>
              </a:rPr>
              <a:t>在字母n之前加入了一个字母i。</a:t>
            </a:r>
          </a:p>
          <a:p>
            <a:pPr eaLnBrk="1" latinLnBrk="0" hangingPunct="1">
              <a:lnSpc>
                <a:spcPct val="150000"/>
              </a:lnSpc>
            </a:pPr>
            <a:r>
              <a:rPr lang="zh-CN" altLang="en-US" sz="2000" dirty="0">
                <a:solidFill>
                  <a:schemeClr val="tx1">
                    <a:lumMod val="85000"/>
                    <a:lumOff val="15000"/>
                  </a:schemeClr>
                </a:solidFill>
              </a:rPr>
              <a:t>由输入方式回到命令方式的办法是按下</a:t>
            </a:r>
            <a:r>
              <a:rPr lang="zh-CN" altLang="en-US" sz="2000" b="1" dirty="0">
                <a:solidFill>
                  <a:srgbClr val="0070C0"/>
                </a:solidFill>
              </a:rPr>
              <a:t>【Esc】键</a:t>
            </a:r>
            <a:r>
              <a:rPr lang="zh-CN" altLang="en-US" sz="2000" dirty="0">
                <a:solidFill>
                  <a:schemeClr val="tx1">
                    <a:lumMod val="85000"/>
                    <a:lumOff val="15000"/>
                  </a:schemeClr>
                </a:solidFill>
              </a:rPr>
              <a:t>（通常在键盘的左上角）。如果已在命令方式下，那么按下Esc键就会发出“嘟嘟”声。如果不能断定目前处于什么模式，可以多按几次【Esc】键，听到系统发出蜂鸣声后，证明已经进入命令模式。</a:t>
            </a:r>
          </a:p>
        </p:txBody>
      </p:sp>
      <p:grpSp>
        <p:nvGrpSpPr>
          <p:cNvPr id="3" name="组合 14"/>
          <p:cNvGrpSpPr/>
          <p:nvPr/>
        </p:nvGrpSpPr>
        <p:grpSpPr bwMode="auto">
          <a:xfrm>
            <a:off x="1016000" y="2222500"/>
            <a:ext cx="4368165" cy="3796030"/>
            <a:chOff x="1037496" y="1786456"/>
            <a:chExt cx="9969584" cy="1713982"/>
          </a:xfrm>
        </p:grpSpPr>
        <p:grpSp>
          <p:nvGrpSpPr>
            <p:cNvPr id="2" name="组合 12"/>
            <p:cNvGrpSpPr/>
            <p:nvPr/>
          </p:nvGrpSpPr>
          <p:grpSpPr bwMode="auto">
            <a:xfrm>
              <a:off x="1037496" y="1786456"/>
              <a:ext cx="9969584" cy="1713982"/>
              <a:chOff x="1037496" y="1786456"/>
              <a:chExt cx="9969584" cy="1713982"/>
            </a:xfrm>
          </p:grpSpPr>
          <p:sp>
            <p:nvSpPr>
              <p:cNvPr id="5" name="矩形 4"/>
              <p:cNvSpPr/>
              <p:nvPr/>
            </p:nvSpPr>
            <p:spPr>
              <a:xfrm>
                <a:off x="1037496"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0" name="矩形 9"/>
              <p:cNvSpPr>
                <a:spLocks noChangeArrowheads="1"/>
              </p:cNvSpPr>
              <p:nvPr/>
            </p:nvSpPr>
            <p:spPr bwMode="auto">
              <a:xfrm>
                <a:off x="1148636" y="1787887"/>
                <a:ext cx="9858444" cy="486842"/>
              </a:xfrm>
              <a:prstGeom prst="rect">
                <a:avLst/>
              </a:prstGeom>
              <a:noFill/>
              <a:ln w="9525">
                <a:noFill/>
                <a:miter lim="800000"/>
              </a:ln>
            </p:spPr>
            <p:txBody>
              <a:bodyPr wrap="square">
                <a:spAutoFit/>
              </a:bodyPr>
              <a:lstStyle/>
              <a:p>
                <a:pPr indent="457200" eaLnBrk="1" latinLnBrk="0" hangingPunct="1">
                  <a:lnSpc>
                    <a:spcPct val="120000"/>
                  </a:lnSpc>
                  <a:spcAft>
                    <a:spcPts val="500"/>
                  </a:spcAft>
                  <a:buFont typeface="Arial" panose="020B0604020202020204" pitchFamily="34" charset="0"/>
                  <a:buNone/>
                </a:pPr>
                <a:r>
                  <a:rPr sz="1800" b="1">
                    <a:solidFill>
                      <a:srgbClr val="009900"/>
                    </a:solidFill>
                    <a:latin typeface="微软雅黑" panose="020B0503020204020204" charset="-122"/>
                    <a:ea typeface="微软雅黑" panose="020B0503020204020204" charset="-122"/>
                    <a:cs typeface="华康俪金黑W8(P)"/>
                  </a:rPr>
                  <a:t>光标停在字符串prntf的字母n处。输入i命令，屏幕显示没有变化。接着再输入i，屏幕显示为：</a:t>
                </a:r>
              </a:p>
            </p:txBody>
          </p:sp>
        </p:grpSp>
        <p:sp>
          <p:nvSpPr>
            <p:cNvPr id="11" name="MH_Text_1"/>
            <p:cNvSpPr txBox="1">
              <a:spLocks noChangeArrowheads="1"/>
            </p:cNvSpPr>
            <p:nvPr>
              <p:custDataLst>
                <p:tags r:id="rId1"/>
              </p:custDataLst>
            </p:nvPr>
          </p:nvSpPr>
          <p:spPr bwMode="auto">
            <a:xfrm>
              <a:off x="1140395" y="2275018"/>
              <a:ext cx="9653641" cy="1185853"/>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this  is  an  example */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main()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printf(</a:t>
              </a:r>
              <a:r>
                <a:rPr lang="zh-CN" altLang="en-US" sz="1800" b="1" dirty="0">
                  <a:solidFill>
                    <a:srgbClr val="FF0000"/>
                  </a:solidFill>
                  <a:latin typeface="微软雅黑" panose="020B0503020204020204" charset="-122"/>
                  <a:ea typeface="微软雅黑" panose="020B0503020204020204" charset="-122"/>
                  <a:cs typeface="+mn-cs"/>
                  <a:sym typeface="+mn-ea"/>
                </a:rPr>
                <a:t>"ok"</a:t>
              </a:r>
              <a:r>
                <a:rPr lang="zh-CN" altLang="en-US" sz="1800" b="1" dirty="0">
                  <a:solidFill>
                    <a:srgbClr val="0070C0"/>
                  </a:solidFill>
                  <a:latin typeface="微软雅黑" panose="020B0503020204020204" charset="-122"/>
                  <a:ea typeface="微软雅黑" panose="020B0503020204020204" charset="-122"/>
                  <a:cs typeface="+mn-cs"/>
                  <a:sym typeface="+mn-ea"/>
                </a:rPr>
                <a:t>);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par>
                                <p:cTn id="8" presetID="18" presetClass="entr" presetSubtype="6" fill="hold" grpId="0"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strips(downRight)">
                                      <p:cBhvr>
                                        <p:cTn id="10"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508000" y="1718310"/>
            <a:ext cx="11126470" cy="48044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grpSp>
        <p:nvGrpSpPr>
          <p:cNvPr id="3" name="组合 2"/>
          <p:cNvGrpSpPr/>
          <p:nvPr/>
        </p:nvGrpSpPr>
        <p:grpSpPr>
          <a:xfrm>
            <a:off x="691515" y="1082040"/>
            <a:ext cx="3388360" cy="529590"/>
            <a:chOff x="1089" y="1704"/>
            <a:chExt cx="5336" cy="834"/>
          </a:xfrm>
        </p:grpSpPr>
        <p:sp>
          <p:nvSpPr>
            <p:cNvPr id="22" name="矩形 6"/>
            <p:cNvSpPr>
              <a:spLocks noChangeArrowheads="1"/>
            </p:cNvSpPr>
            <p:nvPr/>
          </p:nvSpPr>
          <p:spPr bwMode="auto">
            <a:xfrm>
              <a:off x="1791" y="1704"/>
              <a:ext cx="4634"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rPr>
                <a:t>4.1.3  ex转义方式</a:t>
              </a:r>
            </a:p>
          </p:txBody>
        </p:sp>
        <p:sp>
          <p:nvSpPr>
            <p:cNvPr id="23" name="椭圆 22"/>
            <p:cNvSpPr/>
            <p:nvPr/>
          </p:nvSpPr>
          <p:spPr bwMode="auto">
            <a:xfrm>
              <a:off x="1089" y="1887"/>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cxnSp>
        <p:nvCxnSpPr>
          <p:cNvPr id="19" name="直接连接符 18"/>
          <p:cNvCxnSpPr/>
          <p:nvPr/>
        </p:nvCxnSpPr>
        <p:spPr>
          <a:xfrm rot="5400000" flipH="1" flipV="1">
            <a:off x="453192" y="2723077"/>
            <a:ext cx="1713718" cy="794"/>
          </a:xfrm>
          <a:prstGeom prst="line">
            <a:avLst/>
          </a:prstGeom>
          <a:ln>
            <a:solidFill>
              <a:srgbClr val="F5A7FB"/>
            </a:solidFill>
            <a:prstDash val="sysDash"/>
            <a:headEnd type="oval"/>
            <a:tailEnd type="oval"/>
          </a:ln>
        </p:spPr>
        <p:style>
          <a:lnRef idx="1">
            <a:schemeClr val="accent5"/>
          </a:lnRef>
          <a:fillRef idx="0">
            <a:schemeClr val="accent5"/>
          </a:fillRef>
          <a:effectRef idx="0">
            <a:schemeClr val="accent5"/>
          </a:effectRef>
          <a:fontRef idx="minor">
            <a:schemeClr val="tx1"/>
          </a:fontRef>
        </p:style>
      </p:cxnSp>
      <p:cxnSp>
        <p:nvCxnSpPr>
          <p:cNvPr id="21" name="直接连接符 20"/>
          <p:cNvCxnSpPr/>
          <p:nvPr/>
        </p:nvCxnSpPr>
        <p:spPr>
          <a:xfrm flipH="1">
            <a:off x="1388110" y="1878965"/>
            <a:ext cx="6506210" cy="6985"/>
          </a:xfrm>
          <a:prstGeom prst="line">
            <a:avLst/>
          </a:prstGeom>
          <a:ln>
            <a:solidFill>
              <a:srgbClr val="F5A7FB"/>
            </a:solidFill>
            <a:prstDash val="sysDash"/>
            <a:headEnd type="oval"/>
            <a:tailEnd type="oval"/>
          </a:ln>
        </p:spPr>
        <p:style>
          <a:lnRef idx="1">
            <a:schemeClr val="accent5"/>
          </a:lnRef>
          <a:fillRef idx="0">
            <a:schemeClr val="accent5"/>
          </a:fillRef>
          <a:effectRef idx="0">
            <a:schemeClr val="accent5"/>
          </a:effectRef>
          <a:fontRef idx="minor">
            <a:schemeClr val="tx1"/>
          </a:fontRef>
        </p:style>
      </p:cxnSp>
      <p:cxnSp>
        <p:nvCxnSpPr>
          <p:cNvPr id="4" name="直接连接符 3"/>
          <p:cNvCxnSpPr/>
          <p:nvPr/>
        </p:nvCxnSpPr>
        <p:spPr>
          <a:xfrm flipH="1">
            <a:off x="1410970" y="3631565"/>
            <a:ext cx="6468110" cy="5080"/>
          </a:xfrm>
          <a:prstGeom prst="line">
            <a:avLst/>
          </a:prstGeom>
          <a:ln>
            <a:solidFill>
              <a:srgbClr val="F5A7FB"/>
            </a:solidFill>
            <a:prstDash val="sysDash"/>
            <a:headEnd type="oval"/>
            <a:tailEnd type="oval"/>
          </a:ln>
        </p:spPr>
        <p:style>
          <a:lnRef idx="1">
            <a:schemeClr val="accent5"/>
          </a:lnRef>
          <a:fillRef idx="0">
            <a:schemeClr val="accent5"/>
          </a:fillRef>
          <a:effectRef idx="0">
            <a:schemeClr val="accent5"/>
          </a:effectRef>
          <a:fontRef idx="minor">
            <a:schemeClr val="tx1"/>
          </a:fontRef>
        </p:style>
      </p:cxnSp>
      <p:sp>
        <p:nvSpPr>
          <p:cNvPr id="24" name="矩形 23"/>
          <p:cNvSpPr/>
          <p:nvPr/>
        </p:nvSpPr>
        <p:spPr>
          <a:xfrm>
            <a:off x="1431290" y="1992630"/>
            <a:ext cx="6426835" cy="1463040"/>
          </a:xfrm>
          <a:prstGeom prst="rect">
            <a:avLst/>
          </a:prstGeom>
        </p:spPr>
        <p:txBody>
          <a:bodyPr wrap="square">
            <a:spAutoFit/>
          </a:bodyPr>
          <a:lstStyle/>
          <a:p>
            <a:pPr indent="457200">
              <a:lnSpc>
                <a:spcPct val="150000"/>
              </a:lnSpc>
            </a:pPr>
            <a:r>
              <a:rPr lang="zh-CN" altLang="en-US" sz="2000" dirty="0">
                <a:solidFill>
                  <a:schemeClr val="tx1">
                    <a:lumMod val="85000"/>
                    <a:lumOff val="15000"/>
                  </a:schemeClr>
                </a:solidFill>
                <a:latin typeface="微软雅黑" panose="020B0503020204020204" charset="-122"/>
                <a:ea typeface="微软雅黑" panose="020B0503020204020204" charset="-122"/>
              </a:rPr>
              <a:t>vi和ex编辑器的功能是相同的，二者的主要区别是用户界面：在vi编辑器中，命令通常是一个字符，如a、x、r等；而在ex编辑器中，命令是以回车结束的正文行。</a:t>
            </a:r>
          </a:p>
        </p:txBody>
      </p:sp>
      <p:sp>
        <p:nvSpPr>
          <p:cNvPr id="33" name="矩形 32"/>
          <p:cNvSpPr/>
          <p:nvPr/>
        </p:nvSpPr>
        <p:spPr>
          <a:xfrm>
            <a:off x="1411605" y="3716020"/>
            <a:ext cx="6325870" cy="2606040"/>
          </a:xfrm>
          <a:prstGeom prst="rect">
            <a:avLst/>
          </a:prstGeom>
        </p:spPr>
        <p:txBody>
          <a:bodyPr wrap="square">
            <a:spAutoFit/>
          </a:bodyPr>
          <a:lstStyle/>
          <a:p>
            <a:pPr indent="457200">
              <a:lnSpc>
                <a:spcPct val="150000"/>
              </a:lnSpc>
            </a:pPr>
            <a:r>
              <a:rPr sz="2000" b="1" dirty="0">
                <a:solidFill>
                  <a:srgbClr val="0070C0"/>
                </a:solidFill>
                <a:latin typeface="微软雅黑" panose="020B0503020204020204" charset="-122"/>
                <a:ea typeface="微软雅黑" panose="020B0503020204020204" charset="-122"/>
              </a:rPr>
              <a:t>vi编辑器</a:t>
            </a:r>
            <a:r>
              <a:rPr dirty="0">
                <a:solidFill>
                  <a:schemeClr val="tx1">
                    <a:lumMod val="85000"/>
                    <a:lumOff val="15000"/>
                  </a:schemeClr>
                </a:solidFill>
                <a:latin typeface="微软雅黑" panose="020B0503020204020204" charset="-122"/>
                <a:ea typeface="微软雅黑" panose="020B0503020204020204" charset="-122"/>
              </a:rPr>
              <a:t>有一个专门的“转义”命令，可访问很多面向行的ex命令。</a:t>
            </a:r>
            <a:r>
              <a:rPr dirty="0">
                <a:solidFill>
                  <a:srgbClr val="FF0000"/>
                </a:solidFill>
                <a:latin typeface="微软雅黑" panose="020B0503020204020204" charset="-122"/>
                <a:ea typeface="微软雅黑" panose="020B0503020204020204" charset="-122"/>
              </a:rPr>
              <a:t>为使用ex转义方式，可输入一个冒号“:”。</a:t>
            </a:r>
            <a:r>
              <a:rPr dirty="0">
                <a:solidFill>
                  <a:schemeClr val="tx1">
                    <a:lumMod val="85000"/>
                    <a:lumOff val="15000"/>
                  </a:schemeClr>
                </a:solidFill>
                <a:latin typeface="微软雅黑" panose="020B0503020204020204" charset="-122"/>
                <a:ea typeface="微软雅黑" panose="020B0503020204020204" charset="-122"/>
              </a:rPr>
              <a:t>冒号作为ex命令提示符出现在状态行（通常在屏幕下一行）。按下</a:t>
            </a:r>
            <a:r>
              <a:rPr b="1" dirty="0">
                <a:solidFill>
                  <a:srgbClr val="0070C0"/>
                </a:solidFill>
                <a:latin typeface="微软雅黑" panose="020B0503020204020204" charset="-122"/>
                <a:ea typeface="微软雅黑" panose="020B0503020204020204" charset="-122"/>
              </a:rPr>
              <a:t>“中断”键</a:t>
            </a:r>
            <a:r>
              <a:rPr dirty="0">
                <a:solidFill>
                  <a:schemeClr val="tx1">
                    <a:lumMod val="85000"/>
                    <a:lumOff val="15000"/>
                  </a:schemeClr>
                </a:solidFill>
                <a:latin typeface="微软雅黑" panose="020B0503020204020204" charset="-122"/>
                <a:ea typeface="微软雅黑" panose="020B0503020204020204" charset="-122"/>
              </a:rPr>
              <a:t>（通常是【Del】键）可终止正在执行的命令。多数文件管理命令都是在ex转义方式下执行的（如读取文件、将编辑缓冲区的内容写到文件中等）。</a:t>
            </a:r>
          </a:p>
        </p:txBody>
      </p:sp>
      <p:cxnSp>
        <p:nvCxnSpPr>
          <p:cNvPr id="34" name="直接连接符 33"/>
          <p:cNvCxnSpPr/>
          <p:nvPr/>
        </p:nvCxnSpPr>
        <p:spPr>
          <a:xfrm flipV="1">
            <a:off x="1308735" y="4012565"/>
            <a:ext cx="1905" cy="2264410"/>
          </a:xfrm>
          <a:prstGeom prst="line">
            <a:avLst/>
          </a:prstGeom>
          <a:ln>
            <a:solidFill>
              <a:srgbClr val="F5A7FB"/>
            </a:solidFill>
            <a:prstDash val="sysDash"/>
            <a:headEnd type="oval"/>
            <a:tailEnd type="oval"/>
          </a:ln>
        </p:spPr>
        <p:style>
          <a:lnRef idx="1">
            <a:schemeClr val="accent5"/>
          </a:lnRef>
          <a:fillRef idx="0">
            <a:schemeClr val="accent5"/>
          </a:fillRef>
          <a:effectRef idx="0">
            <a:schemeClr val="accent5"/>
          </a:effectRef>
          <a:fontRef idx="minor">
            <a:schemeClr val="tx1"/>
          </a:fontRef>
        </p:style>
      </p:cxnSp>
      <p:cxnSp>
        <p:nvCxnSpPr>
          <p:cNvPr id="35" name="直接连接符 34"/>
          <p:cNvCxnSpPr/>
          <p:nvPr/>
        </p:nvCxnSpPr>
        <p:spPr>
          <a:xfrm flipH="1">
            <a:off x="1411605" y="6374765"/>
            <a:ext cx="6452235" cy="3175"/>
          </a:xfrm>
          <a:prstGeom prst="line">
            <a:avLst/>
          </a:prstGeom>
          <a:ln>
            <a:solidFill>
              <a:srgbClr val="F5A7FB"/>
            </a:solidFill>
            <a:prstDash val="sysDash"/>
            <a:headEnd type="oval"/>
            <a:tailEnd type="oval"/>
          </a:ln>
        </p:spPr>
        <p:style>
          <a:lnRef idx="1">
            <a:schemeClr val="accent5"/>
          </a:lnRef>
          <a:fillRef idx="0">
            <a:schemeClr val="accent5"/>
          </a:fillRef>
          <a:effectRef idx="0">
            <a:schemeClr val="accent5"/>
          </a:effectRef>
          <a:fontRef idx="minor">
            <a:schemeClr val="tx1"/>
          </a:fontRef>
        </p:style>
      </p:cxnSp>
      <p:pic>
        <p:nvPicPr>
          <p:cNvPr id="5" name="Picture 2" descr="C:\Users\user\Desktop\35.png"/>
          <p:cNvPicPr>
            <a:picLocks noChangeAspect="1" noChangeArrowheads="1"/>
          </p:cNvPicPr>
          <p:nvPr/>
        </p:nvPicPr>
        <p:blipFill rotWithShape="1">
          <a:blip r:embed="rId2" cstate="email"/>
          <a:srcRect b="2574"/>
          <a:stretch>
            <a:fillRect/>
          </a:stretch>
        </p:blipFill>
        <p:spPr bwMode="auto">
          <a:xfrm flipH="1">
            <a:off x="7838440" y="2392045"/>
            <a:ext cx="3675380" cy="41306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2"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right)">
                                      <p:cBhvr>
                                        <p:cTn id="10" dur="500"/>
                                        <p:tgtEl>
                                          <p:spTgt spid="21"/>
                                        </p:tgtEl>
                                      </p:cBhvr>
                                    </p:animEffect>
                                  </p:childTnLst>
                                </p:cTn>
                              </p:par>
                              <p:par>
                                <p:cTn id="11" presetID="22" presetClass="entr" presetSubtype="1"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up)">
                                      <p:cBhvr>
                                        <p:cTn id="13" dur="500"/>
                                        <p:tgtEl>
                                          <p:spTgt spid="19"/>
                                        </p:tgtEl>
                                      </p:cBhvr>
                                    </p:animEffect>
                                  </p:childTnLst>
                                </p:cTn>
                              </p:par>
                              <p:par>
                                <p:cTn id="14" presetID="22" presetClass="entr" presetSubtype="8"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par>
                          <p:cTn id="17" fill="hold">
                            <p:stCondLst>
                              <p:cond delay="500"/>
                            </p:stCondLst>
                            <p:childTnLst>
                              <p:par>
                                <p:cTn id="18" presetID="12" presetClass="entr" presetSubtype="2" fill="hold" grpId="0"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slide(fromRight)">
                                      <p:cBhvr>
                                        <p:cTn id="20" dur="500"/>
                                        <p:tgtEl>
                                          <p:spTgt spid="24"/>
                                        </p:tgtEl>
                                      </p:cBhvr>
                                    </p:animEffect>
                                  </p:childTnLst>
                                </p:cTn>
                              </p:par>
                              <p:par>
                                <p:cTn id="21" presetID="22" presetClass="entr" presetSubtype="2" fill="hold" nodeType="with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wipe(right)">
                                      <p:cBhvr>
                                        <p:cTn id="23" dur="500"/>
                                        <p:tgtEl>
                                          <p:spTgt spid="35"/>
                                        </p:tgtEl>
                                      </p:cBhvr>
                                    </p:animEffect>
                                  </p:childTnLst>
                                </p:cTn>
                              </p:par>
                              <p:par>
                                <p:cTn id="24" presetID="22" presetClass="entr" presetSubtype="1" fill="hold"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wipe(up)">
                                      <p:cBhvr>
                                        <p:cTn id="26" dur="500"/>
                                        <p:tgtEl>
                                          <p:spTgt spid="34"/>
                                        </p:tgtEl>
                                      </p:cBhvr>
                                    </p:animEffect>
                                  </p:childTnLst>
                                </p:cTn>
                              </p:par>
                            </p:childTnLst>
                          </p:cTn>
                        </p:par>
                        <p:par>
                          <p:cTn id="27" fill="hold">
                            <p:stCondLst>
                              <p:cond delay="1000"/>
                            </p:stCondLst>
                            <p:childTnLst>
                              <p:par>
                                <p:cTn id="28" presetID="12" presetClass="entr" presetSubtype="2" fill="hold" grpId="0" nodeType="after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slide(fromRight)">
                                      <p:cBhvr>
                                        <p:cTn id="30" dur="500"/>
                                        <p:tgtEl>
                                          <p:spTgt spid="33"/>
                                        </p:tgtEl>
                                      </p:cBhvr>
                                    </p:animEffect>
                                  </p:childTnLst>
                                </p:cTn>
                              </p:par>
                            </p:childTnLst>
                          </p:cTn>
                        </p:par>
                        <p:par>
                          <p:cTn id="31" fill="hold">
                            <p:stCondLst>
                              <p:cond delay="1500"/>
                            </p:stCondLst>
                            <p:childTnLst>
                              <p:par>
                                <p:cTn id="32" presetID="2" presetClass="entr" presetSubtype="2" fill="hold" nodeType="afterEffect">
                                  <p:stCondLst>
                                    <p:cond delay="0"/>
                                  </p:stCondLst>
                                  <p:childTnLst>
                                    <p:set>
                                      <p:cBhvr>
                                        <p:cTn id="33" dur="1" fill="hold">
                                          <p:stCondLst>
                                            <p:cond delay="0"/>
                                          </p:stCondLst>
                                        </p:cTn>
                                        <p:tgtEl>
                                          <p:spTgt spid="5"/>
                                        </p:tgtEl>
                                        <p:attrNameLst>
                                          <p:attrName>style.visibility</p:attrName>
                                        </p:attrNameLst>
                                      </p:cBhvr>
                                      <p:to>
                                        <p:strVal val="visible"/>
                                      </p:to>
                                    </p:set>
                                    <p:anim calcmode="lin" valueType="num">
                                      <p:cBhvr additive="base">
                                        <p:cTn id="34" dur="500" fill="hold"/>
                                        <p:tgtEl>
                                          <p:spTgt spid="5"/>
                                        </p:tgtEl>
                                        <p:attrNameLst>
                                          <p:attrName>ppt_x</p:attrName>
                                        </p:attrNameLst>
                                      </p:cBhvr>
                                      <p:tavLst>
                                        <p:tav tm="0">
                                          <p:val>
                                            <p:strVal val="1+#ppt_w/2"/>
                                          </p:val>
                                        </p:tav>
                                        <p:tav tm="100000">
                                          <p:val>
                                            <p:strVal val="#ppt_x"/>
                                          </p:val>
                                        </p:tav>
                                      </p:tavLst>
                                    </p:anim>
                                    <p:anim calcmode="lin" valueType="num">
                                      <p:cBhvr additive="base">
                                        <p:cTn id="35"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508000" y="1718310"/>
            <a:ext cx="11194415" cy="48044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294259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rPr>
              <a:t>4.1.3  ex转义方式</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sp>
        <p:nvSpPr>
          <p:cNvPr id="5" name="Text Box 44"/>
          <p:cNvSpPr txBox="1">
            <a:spLocks noChangeArrowheads="1"/>
          </p:cNvSpPr>
          <p:nvPr/>
        </p:nvSpPr>
        <p:spPr bwMode="auto">
          <a:xfrm>
            <a:off x="6573520" y="5867400"/>
            <a:ext cx="4912360" cy="45890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50000"/>
              </a:lnSpc>
            </a:pPr>
            <a:r>
              <a:rPr lang="zh-CN" altLang="en-US" sz="1800" dirty="0">
                <a:solidFill>
                  <a:schemeClr val="tx1">
                    <a:lumMod val="85000"/>
                    <a:lumOff val="15000"/>
                  </a:schemeClr>
                </a:solidFill>
              </a:rPr>
              <a:t>图4-1  </a:t>
            </a:r>
            <a:r>
              <a:rPr lang="zh-CN" altLang="en-US" sz="1800" dirty="0">
                <a:solidFill>
                  <a:srgbClr val="FF0000"/>
                </a:solidFill>
              </a:rPr>
              <a:t>vi编辑器3种工作方式之间的转换</a:t>
            </a:r>
            <a:r>
              <a:rPr lang="zh-CN" altLang="en-US" sz="1800" b="1" dirty="0">
                <a:solidFill>
                  <a:srgbClr val="FF0000"/>
                </a:solidFill>
              </a:rPr>
              <a:t>  </a:t>
            </a:r>
          </a:p>
        </p:txBody>
      </p:sp>
      <p:grpSp>
        <p:nvGrpSpPr>
          <p:cNvPr id="9" name="组合 8"/>
          <p:cNvGrpSpPr/>
          <p:nvPr/>
        </p:nvGrpSpPr>
        <p:grpSpPr>
          <a:xfrm>
            <a:off x="932180" y="1818005"/>
            <a:ext cx="10232390" cy="4312285"/>
            <a:chOff x="1468" y="2863"/>
            <a:chExt cx="16114" cy="6791"/>
          </a:xfrm>
        </p:grpSpPr>
        <p:sp>
          <p:nvSpPr>
            <p:cNvPr id="46" name="Text Box 44"/>
            <p:cNvSpPr txBox="1">
              <a:spLocks noChangeArrowheads="1"/>
            </p:cNvSpPr>
            <p:nvPr/>
          </p:nvSpPr>
          <p:spPr bwMode="auto">
            <a:xfrm>
              <a:off x="1468" y="5910"/>
              <a:ext cx="8884" cy="3744"/>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50000"/>
                </a:lnSpc>
              </a:pPr>
              <a:r>
                <a:rPr lang="zh-CN" altLang="en-US" sz="2000" dirty="0">
                  <a:solidFill>
                    <a:schemeClr val="tx1">
                      <a:lumMod val="85000"/>
                      <a:lumOff val="15000"/>
                    </a:schemeClr>
                  </a:solidFill>
                </a:rPr>
                <a:t>表示从文件第一行至文件的末尾（＄）将大写I全部替换成小写i。</a:t>
              </a:r>
            </a:p>
            <a:p>
              <a:pPr eaLnBrk="1" latinLnBrk="0" hangingPunct="1">
                <a:lnSpc>
                  <a:spcPct val="150000"/>
                </a:lnSpc>
              </a:pPr>
              <a:r>
                <a:rPr lang="zh-CN" altLang="en-US" sz="2000" dirty="0">
                  <a:solidFill>
                    <a:schemeClr val="tx1">
                      <a:lumMod val="85000"/>
                      <a:lumOff val="15000"/>
                    </a:schemeClr>
                  </a:solidFill>
                </a:rPr>
                <a:t>转义命令执行后，自动回到命令方式。</a:t>
              </a:r>
            </a:p>
            <a:p>
              <a:pPr eaLnBrk="1" latinLnBrk="0" hangingPunct="1">
                <a:lnSpc>
                  <a:spcPct val="150000"/>
                </a:lnSpc>
              </a:pPr>
              <a:r>
                <a:rPr lang="zh-CN" altLang="en-US" sz="2000" dirty="0">
                  <a:solidFill>
                    <a:schemeClr val="tx1">
                      <a:lumMod val="85000"/>
                      <a:lumOff val="15000"/>
                    </a:schemeClr>
                  </a:solidFill>
                </a:rPr>
                <a:t>vi编辑器的3种工作方式之间的转换如图4-1所示。   </a:t>
              </a:r>
            </a:p>
          </p:txBody>
        </p:sp>
        <p:pic>
          <p:nvPicPr>
            <p:cNvPr id="2" name="图片 1" descr="4-1"/>
            <p:cNvPicPr preferRelativeResize="0">
              <a:picLocks noChangeAspect="1"/>
            </p:cNvPicPr>
            <p:nvPr/>
          </p:nvPicPr>
          <p:blipFill>
            <a:blip r:embed="rId3" cstate="print"/>
            <a:stretch>
              <a:fillRect/>
            </a:stretch>
          </p:blipFill>
          <p:spPr>
            <a:xfrm>
              <a:off x="11256" y="2863"/>
              <a:ext cx="6327" cy="6365"/>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9525">
              <a:noFill/>
            </a:ln>
          </p:spPr>
        </p:pic>
        <p:grpSp>
          <p:nvGrpSpPr>
            <p:cNvPr id="3" name="组合 14"/>
            <p:cNvGrpSpPr/>
            <p:nvPr/>
          </p:nvGrpSpPr>
          <p:grpSpPr bwMode="auto">
            <a:xfrm>
              <a:off x="2184" y="4012"/>
              <a:ext cx="4575" cy="1766"/>
              <a:chOff x="1037496" y="1786456"/>
              <a:chExt cx="9969584" cy="1713982"/>
            </a:xfrm>
          </p:grpSpPr>
          <p:grpSp>
            <p:nvGrpSpPr>
              <p:cNvPr id="4" name="组合 12"/>
              <p:cNvGrpSpPr/>
              <p:nvPr/>
            </p:nvGrpSpPr>
            <p:grpSpPr bwMode="auto">
              <a:xfrm>
                <a:off x="1037496" y="1786456"/>
                <a:ext cx="9969584" cy="1713982"/>
                <a:chOff x="1037496" y="1786456"/>
                <a:chExt cx="9969584" cy="1713982"/>
              </a:xfrm>
            </p:grpSpPr>
            <p:sp>
              <p:nvSpPr>
                <p:cNvPr id="6" name="矩形 5"/>
                <p:cNvSpPr/>
                <p:nvPr/>
              </p:nvSpPr>
              <p:spPr>
                <a:xfrm>
                  <a:off x="1037496"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sz="100" noProof="1"/>
                </a:p>
              </p:txBody>
            </p:sp>
            <p:sp>
              <p:nvSpPr>
                <p:cNvPr id="7" name="矩形 6"/>
                <p:cNvSpPr>
                  <a:spLocks noChangeArrowheads="1"/>
                </p:cNvSpPr>
                <p:nvPr/>
              </p:nvSpPr>
              <p:spPr bwMode="auto">
                <a:xfrm>
                  <a:off x="1148636" y="1787887"/>
                  <a:ext cx="9858444" cy="698792"/>
                </a:xfrm>
                <a:prstGeom prst="rect">
                  <a:avLst/>
                </a:prstGeom>
                <a:noFill/>
                <a:ln w="9525">
                  <a:noFill/>
                  <a:miter lim="800000"/>
                </a:ln>
              </p:spPr>
              <p:txBody>
                <a:bodyPr wrap="square">
                  <a:spAutoFit/>
                </a:bodyPr>
                <a:lstStyle/>
                <a:p>
                  <a:pPr indent="0" eaLnBrk="1" latinLnBrk="0" hangingPunct="1">
                    <a:lnSpc>
                      <a:spcPct val="120000"/>
                    </a:lnSpc>
                    <a:spcAft>
                      <a:spcPts val="500"/>
                    </a:spcAft>
                    <a:buFont typeface="Arial" panose="020B0604020202020204" pitchFamily="34" charset="0"/>
                    <a:buNone/>
                  </a:pPr>
                  <a:r>
                    <a:rPr sz="2000" b="1">
                      <a:solidFill>
                        <a:srgbClr val="009900"/>
                      </a:solidFill>
                      <a:latin typeface="微软雅黑" panose="020B0503020204020204" charset="-122"/>
                      <a:ea typeface="微软雅黑" panose="020B0503020204020204" charset="-122"/>
                      <a:cs typeface="华康俪金黑W8(P)"/>
                    </a:rPr>
                    <a:t>例如：</a:t>
                  </a:r>
                </a:p>
              </p:txBody>
            </p:sp>
          </p:grpSp>
          <p:sp>
            <p:nvSpPr>
              <p:cNvPr id="8" name="MH_Text_1"/>
              <p:cNvSpPr txBox="1">
                <a:spLocks noChangeArrowheads="1"/>
              </p:cNvSpPr>
              <p:nvPr>
                <p:custDataLst>
                  <p:tags r:id="rId1"/>
                </p:custDataLst>
              </p:nvPr>
            </p:nvSpPr>
            <p:spPr bwMode="auto">
              <a:xfrm>
                <a:off x="1139916" y="2470689"/>
                <a:ext cx="9653608" cy="968604"/>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en-US" altLang="zh-CN" sz="2000" b="1" dirty="0">
                    <a:solidFill>
                      <a:srgbClr val="0070C0"/>
                    </a:solidFill>
                    <a:latin typeface="微软雅黑" panose="020B0503020204020204" charset="-122"/>
                    <a:ea typeface="微软雅黑" panose="020B0503020204020204" charset="-122"/>
                    <a:cs typeface="+mn-cs"/>
                    <a:sym typeface="+mn-ea"/>
                  </a:rPr>
                  <a:t> </a:t>
                </a:r>
                <a:r>
                  <a:rPr lang="zh-CN" altLang="en-US" sz="2000" b="1" dirty="0">
                    <a:solidFill>
                      <a:srgbClr val="0070C0"/>
                    </a:solidFill>
                    <a:latin typeface="微软雅黑" panose="020B0503020204020204" charset="-122"/>
                    <a:ea typeface="微软雅黑" panose="020B0503020204020204" charset="-122"/>
                    <a:cs typeface="+mn-cs"/>
                    <a:sym typeface="+mn-ea"/>
                  </a:rPr>
                  <a:t>:1,＄s/I/i/g     回车</a:t>
                </a: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trips(downRight)">
                                      <p:cBhvr>
                                        <p:cTn id="7" dur="1000"/>
                                        <p:tgtEl>
                                          <p:spTgt spid="9"/>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AutoShape 3"/>
          <p:cNvSpPr>
            <a:spLocks noChangeArrowheads="1"/>
          </p:cNvSpPr>
          <p:nvPr/>
        </p:nvSpPr>
        <p:spPr bwMode="auto">
          <a:xfrm>
            <a:off x="1555115" y="1776730"/>
            <a:ext cx="9341485" cy="4612005"/>
          </a:xfrm>
          <a:prstGeom prst="roundRect">
            <a:avLst>
              <a:gd name="adj" fmla="val 2773"/>
            </a:avLst>
          </a:prstGeom>
          <a:noFill/>
          <a:ln w="3175">
            <a:solidFill>
              <a:srgbClr val="333333"/>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6148" name="AutoShape 4"/>
          <p:cNvSpPr>
            <a:spLocks noChangeArrowheads="1"/>
          </p:cNvSpPr>
          <p:nvPr/>
        </p:nvSpPr>
        <p:spPr bwMode="auto">
          <a:xfrm>
            <a:off x="5062855" y="1310005"/>
            <a:ext cx="2147570" cy="869315"/>
          </a:xfrm>
          <a:prstGeom prst="roundRect">
            <a:avLst>
              <a:gd name="adj" fmla="val 15657"/>
            </a:avLst>
          </a:prstGeom>
          <a:solidFill>
            <a:schemeClr val="bg1"/>
          </a:solidFill>
          <a:ln w="3175">
            <a:solidFill>
              <a:srgbClr val="333333">
                <a:alpha val="56862"/>
              </a:srgbClr>
            </a:solidFill>
            <a:round/>
          </a:ln>
        </p:spPr>
        <p:txBody>
          <a:bodyPr wrap="none" anchor="ctr"/>
          <a:lstStyle/>
          <a:p>
            <a:pPr algn="ctr">
              <a:spcBef>
                <a:spcPct val="50000"/>
              </a:spcBef>
              <a:buFont typeface="Arial" panose="020B0604020202020204" pitchFamily="34" charset="0"/>
              <a:buNone/>
            </a:pPr>
            <a:r>
              <a:rPr lang="zh-CN" altLang="en-US" sz="3200" b="1">
                <a:latin typeface="微软雅黑" panose="020B0503020204020204" charset="-122"/>
                <a:ea typeface="微软雅黑" panose="020B0503020204020204" charset="-122"/>
              </a:rPr>
              <a:t>本章要点</a:t>
            </a:r>
          </a:p>
        </p:txBody>
      </p:sp>
      <p:sp>
        <p:nvSpPr>
          <p:cNvPr id="3" name="标题 1"/>
          <p:cNvSpPr>
            <a:spLocks noGrp="1"/>
          </p:cNvSpPr>
          <p:nvPr/>
        </p:nvSpPr>
        <p:spPr>
          <a:xfrm>
            <a:off x="3462655" y="310515"/>
            <a:ext cx="1133475" cy="561975"/>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defRPr>
            </a:lvl1pPr>
          </a:lstStyle>
          <a:p>
            <a:pPr fontAlgn="auto">
              <a:buFont typeface="Arial" panose="020B0604020202020204" pitchFamily="34" charset="0"/>
              <a:buNone/>
              <a:defRPr/>
            </a:pPr>
            <a:r>
              <a:rPr lang="zh-CN" altLang="en-US" noProof="1">
                <a:cs typeface="+mn-cs"/>
              </a:rPr>
              <a:t>目录</a:t>
            </a:r>
            <a:endParaRPr lang="zh-CN" altLang="en-US" noProof="1"/>
          </a:p>
        </p:txBody>
      </p:sp>
      <p:grpSp>
        <p:nvGrpSpPr>
          <p:cNvPr id="10" name="Group 5"/>
          <p:cNvGrpSpPr/>
          <p:nvPr/>
        </p:nvGrpSpPr>
        <p:grpSpPr bwMode="auto">
          <a:xfrm>
            <a:off x="6588125" y="5144770"/>
            <a:ext cx="3764280" cy="481330"/>
            <a:chOff x="3" y="0"/>
            <a:chExt cx="4243" cy="333"/>
          </a:xfrm>
        </p:grpSpPr>
        <p:grpSp>
          <p:nvGrpSpPr>
            <p:cNvPr id="11" name="Group 6"/>
            <p:cNvGrpSpPr/>
            <p:nvPr/>
          </p:nvGrpSpPr>
          <p:grpSpPr bwMode="auto">
            <a:xfrm>
              <a:off x="3" y="0"/>
              <a:ext cx="4243" cy="333"/>
              <a:chOff x="0" y="0"/>
              <a:chExt cx="4243" cy="333"/>
            </a:xfrm>
          </p:grpSpPr>
          <p:sp>
            <p:nvSpPr>
              <p:cNvPr id="1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4.8  ex命令</a:t>
              </a:r>
            </a:p>
          </p:txBody>
        </p:sp>
      </p:grpSp>
      <p:grpSp>
        <p:nvGrpSpPr>
          <p:cNvPr id="15" name="Group 5"/>
          <p:cNvGrpSpPr/>
          <p:nvPr/>
        </p:nvGrpSpPr>
        <p:grpSpPr bwMode="auto">
          <a:xfrm>
            <a:off x="6569075" y="4255135"/>
            <a:ext cx="3794760" cy="481330"/>
            <a:chOff x="3" y="0"/>
            <a:chExt cx="4243" cy="333"/>
          </a:xfrm>
        </p:grpSpPr>
        <p:grpSp>
          <p:nvGrpSpPr>
            <p:cNvPr id="16" name="Group 6"/>
            <p:cNvGrpSpPr/>
            <p:nvPr/>
          </p:nvGrpSpPr>
          <p:grpSpPr bwMode="auto">
            <a:xfrm>
              <a:off x="3" y="0"/>
              <a:ext cx="4243" cy="333"/>
              <a:chOff x="0" y="0"/>
              <a:chExt cx="4243" cy="333"/>
            </a:xfrm>
          </p:grpSpPr>
          <p:sp>
            <p:nvSpPr>
              <p:cNvPr id="1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4.7  文本修改</a:t>
              </a:r>
            </a:p>
          </p:txBody>
        </p:sp>
      </p:grpSp>
      <p:grpSp>
        <p:nvGrpSpPr>
          <p:cNvPr id="20" name="Group 5"/>
          <p:cNvGrpSpPr/>
          <p:nvPr/>
        </p:nvGrpSpPr>
        <p:grpSpPr bwMode="auto">
          <a:xfrm>
            <a:off x="2021205" y="2421255"/>
            <a:ext cx="4041140" cy="481330"/>
            <a:chOff x="3" y="0"/>
            <a:chExt cx="4243" cy="333"/>
          </a:xfrm>
        </p:grpSpPr>
        <p:grpSp>
          <p:nvGrpSpPr>
            <p:cNvPr id="21" name="Group 6"/>
            <p:cNvGrpSpPr/>
            <p:nvPr/>
          </p:nvGrpSpPr>
          <p:grpSpPr bwMode="auto">
            <a:xfrm>
              <a:off x="3" y="0"/>
              <a:ext cx="4243" cy="333"/>
              <a:chOff x="0" y="0"/>
              <a:chExt cx="4243" cy="333"/>
            </a:xfrm>
          </p:grpSpPr>
          <p:sp>
            <p:nvSpPr>
              <p:cNvPr id="2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4.1  vi的工作方式</a:t>
              </a:r>
            </a:p>
          </p:txBody>
        </p:sp>
      </p:grpSp>
      <p:grpSp>
        <p:nvGrpSpPr>
          <p:cNvPr id="25" name="Group 5"/>
          <p:cNvGrpSpPr/>
          <p:nvPr/>
        </p:nvGrpSpPr>
        <p:grpSpPr bwMode="auto">
          <a:xfrm>
            <a:off x="1986280" y="3320415"/>
            <a:ext cx="4091940" cy="481330"/>
            <a:chOff x="3" y="0"/>
            <a:chExt cx="4243" cy="333"/>
          </a:xfrm>
        </p:grpSpPr>
        <p:grpSp>
          <p:nvGrpSpPr>
            <p:cNvPr id="26" name="Group 6"/>
            <p:cNvGrpSpPr/>
            <p:nvPr/>
          </p:nvGrpSpPr>
          <p:grpSpPr bwMode="auto">
            <a:xfrm>
              <a:off x="3" y="0"/>
              <a:ext cx="4243" cy="333"/>
              <a:chOff x="0" y="0"/>
              <a:chExt cx="4243" cy="333"/>
            </a:xfrm>
          </p:grpSpPr>
          <p:sp>
            <p:nvSpPr>
              <p:cNvPr id="27" name="AutoShape 7"/>
              <p:cNvSpPr>
                <a:spLocks noChangeArrowheads="1"/>
              </p:cNvSpPr>
              <p:nvPr/>
            </p:nvSpPr>
            <p:spPr bwMode="auto">
              <a:xfrm>
                <a:off x="0" y="0"/>
                <a:ext cx="4243" cy="333"/>
              </a:xfrm>
              <a:prstGeom prst="roundRect">
                <a:avLst>
                  <a:gd name="adj" fmla="val 15657"/>
                </a:avLst>
              </a:prstGeom>
              <a:solidFill>
                <a:srgbClr val="00B0F0"/>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tx1"/>
                  </a:solidFill>
                  <a:latin typeface="微软雅黑" panose="020B0503020204020204" charset="-122"/>
                  <a:ea typeface="微软雅黑" panose="020B0503020204020204" charset="-122"/>
                  <a:sym typeface="Arial Unicode MS" panose="020B0604020202020204" pitchFamily="34" charset="-122"/>
                </a:rPr>
                <a:t>4.2  vi的启动和退出</a:t>
              </a:r>
            </a:p>
          </p:txBody>
        </p:sp>
      </p:grpSp>
      <p:grpSp>
        <p:nvGrpSpPr>
          <p:cNvPr id="30" name="Group 5"/>
          <p:cNvGrpSpPr/>
          <p:nvPr/>
        </p:nvGrpSpPr>
        <p:grpSpPr bwMode="auto">
          <a:xfrm>
            <a:off x="2034540" y="4241165"/>
            <a:ext cx="4074160" cy="481330"/>
            <a:chOff x="3" y="0"/>
            <a:chExt cx="4243" cy="333"/>
          </a:xfrm>
        </p:grpSpPr>
        <p:grpSp>
          <p:nvGrpSpPr>
            <p:cNvPr id="31" name="Group 6"/>
            <p:cNvGrpSpPr/>
            <p:nvPr/>
          </p:nvGrpSpPr>
          <p:grpSpPr bwMode="auto">
            <a:xfrm>
              <a:off x="3" y="0"/>
              <a:ext cx="4243" cy="333"/>
              <a:chOff x="0" y="0"/>
              <a:chExt cx="4243" cy="333"/>
            </a:xfrm>
          </p:grpSpPr>
          <p:sp>
            <p:nvSpPr>
              <p:cNvPr id="3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4.3  文本输入</a:t>
              </a:r>
            </a:p>
          </p:txBody>
        </p:sp>
      </p:grpSp>
      <p:grpSp>
        <p:nvGrpSpPr>
          <p:cNvPr id="35" name="Group 5"/>
          <p:cNvGrpSpPr/>
          <p:nvPr/>
        </p:nvGrpSpPr>
        <p:grpSpPr bwMode="auto">
          <a:xfrm>
            <a:off x="2046605" y="5113020"/>
            <a:ext cx="4037330" cy="481330"/>
            <a:chOff x="3" y="0"/>
            <a:chExt cx="4243" cy="333"/>
          </a:xfrm>
        </p:grpSpPr>
        <p:grpSp>
          <p:nvGrpSpPr>
            <p:cNvPr id="36" name="Group 6"/>
            <p:cNvGrpSpPr/>
            <p:nvPr/>
          </p:nvGrpSpPr>
          <p:grpSpPr bwMode="auto">
            <a:xfrm>
              <a:off x="3" y="0"/>
              <a:ext cx="4243" cy="333"/>
              <a:chOff x="0" y="0"/>
              <a:chExt cx="4243" cy="333"/>
            </a:xfrm>
          </p:grpSpPr>
          <p:sp>
            <p:nvSpPr>
              <p:cNvPr id="3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9" name="Text Box 9"/>
            <p:cNvSpPr txBox="1">
              <a:spLocks noChangeArrowheads="1"/>
            </p:cNvSpPr>
            <p:nvPr/>
          </p:nvSpPr>
          <p:spPr bwMode="auto">
            <a:xfrm>
              <a:off x="879" y="34"/>
              <a:ext cx="3004"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4.4  打开文件</a:t>
              </a:r>
            </a:p>
          </p:txBody>
        </p:sp>
      </p:grpSp>
      <p:grpSp>
        <p:nvGrpSpPr>
          <p:cNvPr id="40" name="Group 5"/>
          <p:cNvGrpSpPr/>
          <p:nvPr/>
        </p:nvGrpSpPr>
        <p:grpSpPr bwMode="auto">
          <a:xfrm>
            <a:off x="6516370" y="2437130"/>
            <a:ext cx="3808095" cy="481330"/>
            <a:chOff x="3" y="0"/>
            <a:chExt cx="4243" cy="333"/>
          </a:xfrm>
        </p:grpSpPr>
        <p:grpSp>
          <p:nvGrpSpPr>
            <p:cNvPr id="41" name="Group 6"/>
            <p:cNvGrpSpPr/>
            <p:nvPr/>
          </p:nvGrpSpPr>
          <p:grpSpPr bwMode="auto">
            <a:xfrm>
              <a:off x="3" y="0"/>
              <a:ext cx="4243" cy="333"/>
              <a:chOff x="0" y="0"/>
              <a:chExt cx="4243" cy="333"/>
            </a:xfrm>
          </p:grpSpPr>
          <p:sp>
            <p:nvSpPr>
              <p:cNvPr id="4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4.5  保存文件</a:t>
              </a:r>
            </a:p>
          </p:txBody>
        </p:sp>
      </p:grpSp>
      <p:grpSp>
        <p:nvGrpSpPr>
          <p:cNvPr id="45" name="Group 5"/>
          <p:cNvGrpSpPr/>
          <p:nvPr/>
        </p:nvGrpSpPr>
        <p:grpSpPr bwMode="auto">
          <a:xfrm>
            <a:off x="6548120" y="3333750"/>
            <a:ext cx="3775710" cy="481330"/>
            <a:chOff x="3" y="0"/>
            <a:chExt cx="4243" cy="333"/>
          </a:xfrm>
        </p:grpSpPr>
        <p:grpSp>
          <p:nvGrpSpPr>
            <p:cNvPr id="46" name="Group 6"/>
            <p:cNvGrpSpPr/>
            <p:nvPr/>
          </p:nvGrpSpPr>
          <p:grpSpPr bwMode="auto">
            <a:xfrm>
              <a:off x="3" y="0"/>
              <a:ext cx="4243" cy="333"/>
              <a:chOff x="0" y="0"/>
              <a:chExt cx="4243" cy="333"/>
            </a:xfrm>
          </p:grpSpPr>
          <p:sp>
            <p:nvSpPr>
              <p:cNvPr id="4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4.6  移动光标</a:t>
              </a:r>
            </a:p>
          </p:txBody>
        </p:sp>
      </p:grpSp>
    </p:spTree>
  </p:cSld>
  <p:clrMapOvr>
    <a:masterClrMapping/>
  </p:clrMapOvr>
  <p:transition>
    <p:randomBa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106915" y="1559156"/>
            <a:ext cx="7454900" cy="47670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grpSp>
        <p:nvGrpSpPr>
          <p:cNvPr id="5" name="组合 4"/>
          <p:cNvGrpSpPr/>
          <p:nvPr/>
        </p:nvGrpSpPr>
        <p:grpSpPr>
          <a:xfrm>
            <a:off x="4452990" y="1568045"/>
            <a:ext cx="2908300" cy="529590"/>
            <a:chOff x="7233" y="2102"/>
            <a:chExt cx="4580" cy="834"/>
          </a:xfrm>
        </p:grpSpPr>
        <p:sp>
          <p:nvSpPr>
            <p:cNvPr id="22" name="矩形 6"/>
            <p:cNvSpPr>
              <a:spLocks noChangeArrowheads="1"/>
            </p:cNvSpPr>
            <p:nvPr/>
          </p:nvSpPr>
          <p:spPr bwMode="auto">
            <a:xfrm>
              <a:off x="8115" y="2102"/>
              <a:ext cx="369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rPr>
                <a:t>4.2.1  启动vi</a:t>
              </a:r>
            </a:p>
          </p:txBody>
        </p:sp>
        <p:sp>
          <p:nvSpPr>
            <p:cNvPr id="23" name="椭圆 22"/>
            <p:cNvSpPr/>
            <p:nvPr/>
          </p:nvSpPr>
          <p:spPr bwMode="auto">
            <a:xfrm>
              <a:off x="7233" y="2284"/>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grpSp>
        <p:nvGrpSpPr>
          <p:cNvPr id="3" name="组合 14"/>
          <p:cNvGrpSpPr/>
          <p:nvPr/>
        </p:nvGrpSpPr>
        <p:grpSpPr bwMode="auto">
          <a:xfrm>
            <a:off x="4522839" y="2098270"/>
            <a:ext cx="6992383" cy="3291205"/>
            <a:chOff x="1037496" y="1786456"/>
            <a:chExt cx="9969584" cy="1713982"/>
          </a:xfrm>
        </p:grpSpPr>
        <p:grpSp>
          <p:nvGrpSpPr>
            <p:cNvPr id="4" name="组合 12"/>
            <p:cNvGrpSpPr/>
            <p:nvPr/>
          </p:nvGrpSpPr>
          <p:grpSpPr bwMode="auto">
            <a:xfrm>
              <a:off x="1037496" y="1786456"/>
              <a:ext cx="9969584" cy="1713982"/>
              <a:chOff x="1037496" y="1786456"/>
              <a:chExt cx="9969584" cy="1713982"/>
            </a:xfrm>
          </p:grpSpPr>
          <p:sp>
            <p:nvSpPr>
              <p:cNvPr id="6" name="矩形 5"/>
              <p:cNvSpPr/>
              <p:nvPr/>
            </p:nvSpPr>
            <p:spPr>
              <a:xfrm>
                <a:off x="1037496"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7" name="矩形 6"/>
              <p:cNvSpPr>
                <a:spLocks noChangeArrowheads="1"/>
              </p:cNvSpPr>
              <p:nvPr/>
            </p:nvSpPr>
            <p:spPr bwMode="auto">
              <a:xfrm>
                <a:off x="1148636" y="1787887"/>
                <a:ext cx="9858444" cy="390218"/>
              </a:xfrm>
              <a:prstGeom prst="rect">
                <a:avLst/>
              </a:prstGeom>
              <a:noFill/>
              <a:ln w="9525">
                <a:noFill/>
                <a:miter lim="800000"/>
              </a:ln>
            </p:spPr>
            <p:txBody>
              <a:bodyPr wrap="square">
                <a:spAutoFit/>
              </a:bodyPr>
              <a:lstStyle/>
              <a:p>
                <a:pPr indent="457200" eaLnBrk="1" latinLnBrk="0" hangingPunct="1">
                  <a:lnSpc>
                    <a:spcPct val="120000"/>
                  </a:lnSpc>
                  <a:spcAft>
                    <a:spcPts val="500"/>
                  </a:spcAft>
                  <a:buFont typeface="Arial" panose="020B0604020202020204" pitchFamily="34" charset="0"/>
                  <a:buNone/>
                </a:pPr>
                <a:r>
                  <a:rPr sz="1800" b="1">
                    <a:solidFill>
                      <a:srgbClr val="009900"/>
                    </a:solidFill>
                    <a:latin typeface="微软雅黑" panose="020B0503020204020204" charset="-122"/>
                    <a:ea typeface="微软雅黑" panose="020B0503020204020204" charset="-122"/>
                    <a:cs typeface="华康俪金黑W8(P)"/>
                  </a:rPr>
                  <a:t>在系统提示符下，输入命令vi和想要编辑（建立）的文件名，便可进入vi。</a:t>
                </a:r>
                <a:r>
                  <a:rPr sz="1800" b="1">
                    <a:solidFill>
                      <a:srgbClr val="FF0000"/>
                    </a:solidFill>
                    <a:latin typeface="微软雅黑" panose="020B0503020204020204" charset="-122"/>
                    <a:ea typeface="微软雅黑" panose="020B0503020204020204" charset="-122"/>
                    <a:cs typeface="华康俪金黑W8(P)"/>
                  </a:rPr>
                  <a:t>例如：</a:t>
                </a:r>
              </a:p>
            </p:txBody>
          </p:sp>
        </p:grpSp>
        <p:sp>
          <p:nvSpPr>
            <p:cNvPr id="8" name="MH_Text_1"/>
            <p:cNvSpPr txBox="1">
              <a:spLocks noChangeArrowheads="1"/>
            </p:cNvSpPr>
            <p:nvPr>
              <p:custDataLst>
                <p:tags r:id="rId1"/>
              </p:custDataLst>
            </p:nvPr>
          </p:nvSpPr>
          <p:spPr bwMode="auto">
            <a:xfrm>
              <a:off x="1139766" y="2162781"/>
              <a:ext cx="9653337" cy="1301074"/>
            </a:xfrm>
            <a:prstGeom prst="rect">
              <a:avLst/>
            </a:prstGeom>
            <a:solidFill>
              <a:srgbClr val="F2F2F2"/>
            </a:solidFill>
            <a:ln w="9525">
              <a:noFill/>
              <a:miter lim="800000"/>
            </a:ln>
          </p:spPr>
          <p:txBody>
            <a:bodyPr/>
            <a:lstStyle/>
            <a:p>
              <a:pPr indent="0" algn="l" eaLnBrk="1" fontAlgn="auto" latinLnBrk="0" hangingPunct="1">
                <a:lnSpc>
                  <a:spcPct val="10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[root@localhost root]#vi  example.c</a:t>
              </a:r>
            </a:p>
            <a:p>
              <a:pPr indent="0" algn="l" eaLnBrk="1" fontAlgn="auto" latinLnBrk="0" hangingPunct="1">
                <a:lnSpc>
                  <a:spcPct val="10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a:t>
              </a:r>
            </a:p>
            <a:p>
              <a:pPr indent="0" algn="l" eaLnBrk="1" fontAlgn="auto" latinLnBrk="0" hangingPunct="1">
                <a:lnSpc>
                  <a:spcPct val="10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a:t>
              </a:r>
            </a:p>
            <a:p>
              <a:pPr indent="0" algn="l" eaLnBrk="1" fontAlgn="auto" latinLnBrk="0" hangingPunct="1">
                <a:lnSpc>
                  <a:spcPct val="10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a:t>
              </a:r>
            </a:p>
            <a:p>
              <a:pPr indent="0" algn="l" eaLnBrk="1" fontAlgn="auto" latinLnBrk="0" hangingPunct="1">
                <a:lnSpc>
                  <a:spcPct val="10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a:t>
              </a:r>
            </a:p>
            <a:p>
              <a:pPr indent="0" algn="l" eaLnBrk="1" fontAlgn="auto" latinLnBrk="0" hangingPunct="1">
                <a:lnSpc>
                  <a:spcPct val="10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a:t>
              </a:r>
            </a:p>
            <a:p>
              <a:pPr indent="0" algn="l" eaLnBrk="1" fontAlgn="auto" latinLnBrk="0" hangingPunct="1">
                <a:lnSpc>
                  <a:spcPct val="10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a:t>
              </a:r>
            </a:p>
            <a:p>
              <a:pPr indent="0" algn="l" eaLnBrk="1" fontAlgn="auto" latinLnBrk="0" hangingPunct="1">
                <a:lnSpc>
                  <a:spcPct val="10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a:t>
              </a:r>
            </a:p>
            <a:p>
              <a:pPr indent="0" algn="l" eaLnBrk="1" fontAlgn="auto" latinLnBrk="0" hangingPunct="1">
                <a:lnSpc>
                  <a:spcPct val="10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"example.c"[未命名]                                    0,0-1       全部</a:t>
              </a:r>
            </a:p>
          </p:txBody>
        </p:sp>
      </p:grpSp>
      <p:sp>
        <p:nvSpPr>
          <p:cNvPr id="46" name="Text Box 44"/>
          <p:cNvSpPr txBox="1">
            <a:spLocks noChangeArrowheads="1"/>
          </p:cNvSpPr>
          <p:nvPr/>
        </p:nvSpPr>
        <p:spPr bwMode="auto">
          <a:xfrm>
            <a:off x="4178670" y="5390110"/>
            <a:ext cx="7289165" cy="86793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1800" dirty="0">
                <a:solidFill>
                  <a:schemeClr val="tx1">
                    <a:lumMod val="85000"/>
                    <a:lumOff val="15000"/>
                  </a:schemeClr>
                </a:solidFill>
              </a:rPr>
              <a:t>上述示例表示example.c是一个新文件，里面还没有任何东西。光标停在屏幕的左上角。在每一行开头都有一个“～”符号，表示空行。   </a:t>
            </a:r>
          </a:p>
        </p:txBody>
      </p:sp>
      <p:sp>
        <p:nvSpPr>
          <p:cNvPr id="2" name="AutoShape 2"/>
          <p:cNvSpPr/>
          <p:nvPr/>
        </p:nvSpPr>
        <p:spPr>
          <a:xfrm>
            <a:off x="463348" y="2351405"/>
            <a:ext cx="3574415" cy="3242945"/>
          </a:xfrm>
          <a:prstGeom prst="roundRect">
            <a:avLst>
              <a:gd name="adj" fmla="val 5370"/>
            </a:avLst>
          </a:prstGeom>
          <a:noFill/>
          <a:ln w="3175" cap="flat" cmpd="sng">
            <a:noFill/>
            <a:prstDash val="solid"/>
            <a:round/>
            <a:headEnd type="none" w="med" len="med"/>
            <a:tailEnd type="none" w="med" len="med"/>
          </a:ln>
        </p:spPr>
        <p:txBody>
          <a:bodyPr anchor="t"/>
          <a:lstStyle/>
          <a:p>
            <a:pPr lvl="0" indent="457200" eaLnBrk="1" latinLnBrk="0" hangingPunct="1">
              <a:lnSpc>
                <a:spcPct val="150000"/>
              </a:lnSpc>
              <a:buClr>
                <a:schemeClr val="accent2"/>
              </a:buClr>
              <a:buFont typeface="Wingdings" panose="05000000000000000000" pitchFamily="2" charset="2"/>
              <a:buNone/>
            </a:pPr>
            <a:r>
              <a:rPr lang="en-US" altLang="zh-CN" sz="2400" dirty="0">
                <a:latin typeface="微软雅黑" panose="020B0503020204020204" charset="-122"/>
                <a:ea typeface="微软雅黑" panose="020B0503020204020204" charset="-122"/>
                <a:sym typeface="+mn-ea"/>
              </a:rPr>
              <a:t>只有进入vi编辑器之后才可以使用vi的命令；完成文本编辑以后，应退出vi，回到</a:t>
            </a:r>
            <a:r>
              <a:rPr lang="en-US" altLang="zh-CN" sz="2400" b="1" dirty="0">
                <a:solidFill>
                  <a:srgbClr val="0070C0"/>
                </a:solidFill>
                <a:latin typeface="微软雅黑" panose="020B0503020204020204" charset="-122"/>
                <a:ea typeface="微软雅黑" panose="020B0503020204020204" charset="-122"/>
                <a:sym typeface="+mn-ea"/>
              </a:rPr>
              <a:t>shell命令</a:t>
            </a:r>
            <a:r>
              <a:rPr lang="en-US" altLang="zh-CN" sz="2400" dirty="0">
                <a:latin typeface="微软雅黑" panose="020B0503020204020204" charset="-122"/>
                <a:ea typeface="微软雅黑" panose="020B0503020204020204" charset="-122"/>
                <a:sym typeface="+mn-ea"/>
              </a:rPr>
              <a:t>状态下。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par>
                          <p:cTn id="12" fill="hold">
                            <p:stCondLst>
                              <p:cond delay="1000"/>
                            </p:stCondLst>
                            <p:childTnLst>
                              <p:par>
                                <p:cTn id="13" presetID="18" presetClass="entr" presetSubtype="6"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strips(downRight)">
                                      <p:cBhvr>
                                        <p:cTn id="15" dur="500"/>
                                        <p:tgtEl>
                                          <p:spTgt spid="3"/>
                                        </p:tgtEl>
                                      </p:cBhvr>
                                    </p:animEffect>
                                  </p:childTnLst>
                                </p:cTn>
                              </p:par>
                              <p:par>
                                <p:cTn id="16" presetID="18" presetClass="entr" presetSubtype="6" fill="hold" grpId="0" nodeType="withEffect">
                                  <p:stCondLst>
                                    <p:cond delay="0"/>
                                  </p:stCondLst>
                                  <p:childTnLst>
                                    <p:set>
                                      <p:cBhvr>
                                        <p:cTn id="17" dur="1" fill="hold">
                                          <p:stCondLst>
                                            <p:cond delay="0"/>
                                          </p:stCondLst>
                                        </p:cTn>
                                        <p:tgtEl>
                                          <p:spTgt spid="46"/>
                                        </p:tgtEl>
                                        <p:attrNameLst>
                                          <p:attrName>style.visibility</p:attrName>
                                        </p:attrNameLst>
                                      </p:cBhvr>
                                      <p:to>
                                        <p:strVal val="visible"/>
                                      </p:to>
                                    </p:set>
                                    <p:animEffect transition="in" filter="strips(downRight)">
                                      <p:cBhvr>
                                        <p:cTn id="18"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2" grpId="0" bldLvl="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508000" y="1718310"/>
            <a:ext cx="11194415" cy="4815205"/>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213487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4.2.1  启动vi</a:t>
            </a:r>
            <a:endParaRPr lang="zh-CN" altLang="en-US" sz="2400" b="1">
              <a:solidFill>
                <a:srgbClr val="0066FF"/>
              </a:solidFill>
              <a:latin typeface="微软雅黑" panose="020B0503020204020204" charset="-122"/>
              <a:ea typeface="微软雅黑" panose="020B0503020204020204" charset="-122"/>
            </a:endParaRP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3" name="组合 14"/>
          <p:cNvGrpSpPr/>
          <p:nvPr/>
        </p:nvGrpSpPr>
        <p:grpSpPr bwMode="auto">
          <a:xfrm>
            <a:off x="691515" y="3284855"/>
            <a:ext cx="6569075" cy="3131185"/>
            <a:chOff x="1036829" y="1786456"/>
            <a:chExt cx="10073007" cy="1713982"/>
          </a:xfrm>
        </p:grpSpPr>
        <p:grpSp>
          <p:nvGrpSpPr>
            <p:cNvPr id="4" name="组合 12"/>
            <p:cNvGrpSpPr/>
            <p:nvPr/>
          </p:nvGrpSpPr>
          <p:grpSpPr bwMode="auto">
            <a:xfrm>
              <a:off x="1036829" y="1786456"/>
              <a:ext cx="10073007" cy="1713982"/>
              <a:chOff x="1036829" y="1786456"/>
              <a:chExt cx="10073007" cy="1713982"/>
            </a:xfrm>
          </p:grpSpPr>
          <p:sp>
            <p:nvSpPr>
              <p:cNvPr id="6" name="矩形 5"/>
              <p:cNvSpPr/>
              <p:nvPr/>
            </p:nvSpPr>
            <p:spPr>
              <a:xfrm>
                <a:off x="1036829"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7" name="矩形 6"/>
              <p:cNvSpPr>
                <a:spLocks noChangeArrowheads="1"/>
              </p:cNvSpPr>
              <p:nvPr/>
            </p:nvSpPr>
            <p:spPr bwMode="auto">
              <a:xfrm>
                <a:off x="1251392" y="1786497"/>
                <a:ext cx="9858444" cy="250267"/>
              </a:xfrm>
              <a:prstGeom prst="rect">
                <a:avLst/>
              </a:prstGeom>
              <a:noFill/>
              <a:ln w="9525">
                <a:noFill/>
                <a:miter lim="800000"/>
              </a:ln>
            </p:spPr>
            <p:txBody>
              <a:bodyPr wrap="square">
                <a:spAutoFit/>
              </a:bodyPr>
              <a:lstStyle/>
              <a:p>
                <a:pPr indent="0" eaLnBrk="1" latinLnBrk="0" hangingPunct="1">
                  <a:lnSpc>
                    <a:spcPct val="120000"/>
                  </a:lnSpc>
                  <a:spcAft>
                    <a:spcPts val="500"/>
                  </a:spcAft>
                  <a:buFont typeface="Arial" panose="020B0604020202020204" pitchFamily="34" charset="0"/>
                  <a:buNone/>
                </a:pPr>
                <a:r>
                  <a:rPr sz="2000" b="1">
                    <a:solidFill>
                      <a:srgbClr val="009900"/>
                    </a:solidFill>
                    <a:latin typeface="微软雅黑" panose="020B0503020204020204" charset="-122"/>
                    <a:ea typeface="微软雅黑" panose="020B0503020204020204" charset="-122"/>
                    <a:cs typeface="华康俪金黑W8(P)"/>
                  </a:rPr>
                  <a:t>例如：</a:t>
                </a:r>
              </a:p>
            </p:txBody>
          </p:sp>
        </p:grpSp>
        <p:sp>
          <p:nvSpPr>
            <p:cNvPr id="8" name="MH_Text_1"/>
            <p:cNvSpPr txBox="1">
              <a:spLocks noChangeArrowheads="1"/>
            </p:cNvSpPr>
            <p:nvPr>
              <p:custDataLst>
                <p:tags r:id="rId1"/>
              </p:custDataLst>
            </p:nvPr>
          </p:nvSpPr>
          <p:spPr bwMode="auto">
            <a:xfrm>
              <a:off x="1139587" y="2077588"/>
              <a:ext cx="9653301" cy="1386458"/>
            </a:xfrm>
            <a:prstGeom prst="rect">
              <a:avLst/>
            </a:prstGeom>
            <a:solidFill>
              <a:srgbClr val="F2F2F2"/>
            </a:solidFill>
            <a:ln w="9525">
              <a:noFill/>
              <a:miter lim="800000"/>
            </a:ln>
          </p:spPr>
          <p:txBody>
            <a:bodyPr/>
            <a:lstStyle/>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[root@localhost root]#vi m1.c </a:t>
              </a:r>
            </a:p>
            <a:p>
              <a:pPr indent="0" algn="l" eaLnBrk="1" fontAlgn="auto" latinLnBrk="0" hangingPunct="1">
                <a:lnSpc>
                  <a:spcPct val="110000"/>
                </a:lnSpc>
                <a:buFont typeface="Arial" panose="020B0604020202020204" pitchFamily="34" charset="0"/>
                <a:buNone/>
                <a:defRPr/>
              </a:pPr>
              <a:r>
                <a:rPr lang="zh-CN" altLang="en-US" sz="1800" b="1" u="sng" dirty="0">
                  <a:solidFill>
                    <a:srgbClr val="0070C0"/>
                  </a:solidFill>
                  <a:latin typeface="微软雅黑" panose="020B0503020204020204" charset="-122"/>
                  <a:ea typeface="微软雅黑" panose="020B0503020204020204" charset="-122"/>
                  <a:cs typeface="+mn-cs"/>
                  <a:sym typeface="+mn-ea"/>
                </a:rPr>
                <a:t>m</a:t>
              </a:r>
              <a:r>
                <a:rPr lang="zh-CN" altLang="en-US" sz="1800" b="1" dirty="0">
                  <a:solidFill>
                    <a:srgbClr val="0070C0"/>
                  </a:solidFill>
                  <a:latin typeface="微软雅黑" panose="020B0503020204020204" charset="-122"/>
                  <a:ea typeface="微软雅黑" panose="020B0503020204020204" charset="-122"/>
                  <a:cs typeface="+mn-cs"/>
                  <a:sym typeface="+mn-ea"/>
                </a:rPr>
                <a:t>ain() { </a:t>
              </a:r>
            </a:p>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printf(</a:t>
              </a:r>
              <a:r>
                <a:rPr lang="zh-CN" altLang="en-US" sz="1800" b="1" dirty="0">
                  <a:solidFill>
                    <a:srgbClr val="FF0000"/>
                  </a:solidFill>
                  <a:latin typeface="微软雅黑" panose="020B0503020204020204" charset="-122"/>
                  <a:ea typeface="微软雅黑" panose="020B0503020204020204" charset="-122"/>
                  <a:cs typeface="+mn-cs"/>
                  <a:sym typeface="+mn-ea"/>
                </a:rPr>
                <a:t>"Hello!\n"</a:t>
              </a:r>
              <a:r>
                <a:rPr lang="zh-CN" altLang="en-US" sz="1800" b="1" dirty="0">
                  <a:solidFill>
                    <a:srgbClr val="0070C0"/>
                  </a:solidFill>
                  <a:latin typeface="微软雅黑" panose="020B0503020204020204" charset="-122"/>
                  <a:ea typeface="微软雅黑" panose="020B0503020204020204" charset="-122"/>
                  <a:cs typeface="+mn-cs"/>
                  <a:sym typeface="+mn-ea"/>
                </a:rPr>
                <a:t>); </a:t>
              </a:r>
            </a:p>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a:t>
              </a:r>
            </a:p>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a:t>
              </a:r>
            </a:p>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a:t>
              </a:r>
            </a:p>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a:t>
              </a:r>
            </a:p>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"m1.c"[已转换]   4L,24C                        4,1            全部</a:t>
              </a:r>
            </a:p>
          </p:txBody>
        </p:sp>
      </p:grpSp>
      <p:sp>
        <p:nvSpPr>
          <p:cNvPr id="46" name="Text Box 44"/>
          <p:cNvSpPr txBox="1">
            <a:spLocks noChangeArrowheads="1"/>
          </p:cNvSpPr>
          <p:nvPr/>
        </p:nvSpPr>
        <p:spPr bwMode="auto">
          <a:xfrm>
            <a:off x="758825" y="1797050"/>
            <a:ext cx="10671175" cy="137160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dirty="0">
                <a:solidFill>
                  <a:schemeClr val="tx1">
                    <a:lumMod val="85000"/>
                    <a:lumOff val="15000"/>
                  </a:schemeClr>
                </a:solidFill>
              </a:rPr>
              <a:t>如果指定的文件已在系统中存在，输入上述形式的命令后，那么在屏幕上显示出该文件的内容，光标停在</a:t>
            </a:r>
            <a:r>
              <a:rPr lang="zh-CN" altLang="en-US" sz="2000" b="1" dirty="0">
                <a:solidFill>
                  <a:srgbClr val="0070C0"/>
                </a:solidFill>
              </a:rPr>
              <a:t>左上角</a:t>
            </a:r>
            <a:r>
              <a:rPr lang="zh-CN" altLang="en-US" sz="2000" dirty="0">
                <a:solidFill>
                  <a:schemeClr val="tx1">
                    <a:lumMod val="85000"/>
                    <a:lumOff val="15000"/>
                  </a:schemeClr>
                </a:solidFill>
              </a:rPr>
              <a:t>。在屏幕的底行显示出一行信息，包括正在编辑的文件名、行数和字符个数。该行称为vi的状态行</a:t>
            </a:r>
          </a:p>
        </p:txBody>
      </p:sp>
      <p:pic>
        <p:nvPicPr>
          <p:cNvPr id="2" name="图片 1" descr="0032017558161674_b"/>
          <p:cNvPicPr>
            <a:picLocks noChangeAspect="1"/>
          </p:cNvPicPr>
          <p:nvPr/>
        </p:nvPicPr>
        <p:blipFill>
          <a:blip r:embed="rId3" cstate="print"/>
          <a:stretch>
            <a:fillRect/>
          </a:stretch>
        </p:blipFill>
        <p:spPr>
          <a:xfrm>
            <a:off x="8137525" y="3365500"/>
            <a:ext cx="3277235" cy="315277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up)">
                                      <p:cBhvr>
                                        <p:cTn id="7" dur="500"/>
                                        <p:tgtEl>
                                          <p:spTgt spid="46"/>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strips(downRight)">
                                      <p:cBhvr>
                                        <p:cTn id="11" dur="500"/>
                                        <p:tgtEl>
                                          <p:spTgt spid="3"/>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521970" y="1612900"/>
            <a:ext cx="11194415" cy="494030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grpSp>
        <p:nvGrpSpPr>
          <p:cNvPr id="2" name="组合 1"/>
          <p:cNvGrpSpPr/>
          <p:nvPr/>
        </p:nvGrpSpPr>
        <p:grpSpPr>
          <a:xfrm>
            <a:off x="691515" y="1082040"/>
            <a:ext cx="2519680" cy="529590"/>
            <a:chOff x="1089" y="1704"/>
            <a:chExt cx="3968" cy="834"/>
          </a:xfrm>
        </p:grpSpPr>
        <p:sp>
          <p:nvSpPr>
            <p:cNvPr id="22" name="矩形 6"/>
            <p:cNvSpPr>
              <a:spLocks noChangeArrowheads="1"/>
            </p:cNvSpPr>
            <p:nvPr/>
          </p:nvSpPr>
          <p:spPr bwMode="auto">
            <a:xfrm>
              <a:off x="1791" y="1704"/>
              <a:ext cx="3267"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rPr>
                <a:t>4.2.2  退出vi</a:t>
              </a:r>
            </a:p>
          </p:txBody>
        </p:sp>
        <p:sp>
          <p:nvSpPr>
            <p:cNvPr id="23" name="椭圆 22"/>
            <p:cNvSpPr/>
            <p:nvPr/>
          </p:nvSpPr>
          <p:spPr bwMode="auto">
            <a:xfrm>
              <a:off x="1089" y="1887"/>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sp>
        <p:nvSpPr>
          <p:cNvPr id="37" name="矩形 36"/>
          <p:cNvSpPr/>
          <p:nvPr/>
        </p:nvSpPr>
        <p:spPr>
          <a:xfrm>
            <a:off x="914400" y="1734185"/>
            <a:ext cx="7393940" cy="47269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2000" rIns="216000" rtlCol="0" anchor="ctr"/>
          <a:lstStyle/>
          <a:p>
            <a:pPr algn="just">
              <a:lnSpc>
                <a:spcPct val="138000"/>
              </a:lnSpc>
            </a:pPr>
            <a:endParaRPr lang="en-US" altLang="zh-CN" sz="1400" dirty="0">
              <a:solidFill>
                <a:schemeClr val="tx1">
                  <a:lumMod val="65000"/>
                  <a:lumOff val="35000"/>
                </a:schemeClr>
              </a:solidFill>
              <a:latin typeface="微软雅黑" panose="020B0503020204020204" charset="-122"/>
              <a:ea typeface="微软雅黑" panose="020B0503020204020204" charset="-122"/>
            </a:endParaRPr>
          </a:p>
          <a:p>
            <a:pPr indent="457200" algn="just">
              <a:lnSpc>
                <a:spcPct val="130000"/>
              </a:lnSpc>
            </a:pPr>
            <a:endParaRPr lang="en-US" altLang="zh-CN" sz="1400" dirty="0">
              <a:solidFill>
                <a:schemeClr val="tx1">
                  <a:lumMod val="65000"/>
                  <a:lumOff val="35000"/>
                </a:schemeClr>
              </a:solidFill>
              <a:latin typeface="微软雅黑" panose="020B0503020204020204" charset="-122"/>
              <a:ea typeface="微软雅黑" panose="020B0503020204020204" charset="-122"/>
            </a:endParaRPr>
          </a:p>
          <a:p>
            <a:pPr indent="457200" algn="just">
              <a:lnSpc>
                <a:spcPct val="130000"/>
              </a:lnSpc>
            </a:pPr>
            <a:endParaRPr lang="en-US" altLang="zh-CN" sz="1400" dirty="0">
              <a:solidFill>
                <a:schemeClr val="tx1">
                  <a:lumMod val="65000"/>
                  <a:lumOff val="35000"/>
                </a:schemeClr>
              </a:solidFill>
              <a:latin typeface="微软雅黑" panose="020B0503020204020204" charset="-122"/>
              <a:ea typeface="微软雅黑" panose="020B0503020204020204" charset="-122"/>
            </a:endParaRPr>
          </a:p>
          <a:p>
            <a:pPr indent="457200" algn="just">
              <a:lnSpc>
                <a:spcPct val="130000"/>
              </a:lnSpc>
            </a:pPr>
            <a:endParaRPr lang="en-US" altLang="zh-CN" sz="1400" dirty="0">
              <a:solidFill>
                <a:schemeClr val="tx1">
                  <a:lumMod val="65000"/>
                  <a:lumOff val="35000"/>
                </a:schemeClr>
              </a:solidFill>
              <a:latin typeface="微软雅黑" panose="020B0503020204020204" charset="-122"/>
              <a:ea typeface="微软雅黑" panose="020B0503020204020204" charset="-122"/>
            </a:endParaRPr>
          </a:p>
          <a:p>
            <a:pPr indent="457200" algn="just">
              <a:lnSpc>
                <a:spcPct val="130000"/>
              </a:lnSpc>
            </a:pPr>
            <a:endParaRPr lang="en-US" altLang="zh-CN" sz="1400" dirty="0">
              <a:solidFill>
                <a:schemeClr val="tx1">
                  <a:lumMod val="65000"/>
                  <a:lumOff val="35000"/>
                </a:schemeClr>
              </a:solidFill>
              <a:latin typeface="微软雅黑" panose="020B0503020204020204" charset="-122"/>
              <a:ea typeface="微软雅黑" panose="020B0503020204020204" charset="-122"/>
            </a:endParaRPr>
          </a:p>
          <a:p>
            <a:pPr indent="457200" algn="just">
              <a:lnSpc>
                <a:spcPct val="130000"/>
              </a:lnSpc>
            </a:pPr>
            <a:endParaRPr lang="en-US" altLang="zh-CN" sz="1400" dirty="0">
              <a:solidFill>
                <a:schemeClr val="tx1">
                  <a:lumMod val="65000"/>
                  <a:lumOff val="35000"/>
                </a:schemeClr>
              </a:solidFill>
              <a:latin typeface="微软雅黑" panose="020B0503020204020204" charset="-122"/>
              <a:ea typeface="微软雅黑" panose="020B0503020204020204" charset="-122"/>
            </a:endParaRPr>
          </a:p>
          <a:p>
            <a:pPr indent="457200" algn="just">
              <a:lnSpc>
                <a:spcPct val="130000"/>
              </a:lnSpc>
            </a:pPr>
            <a:endParaRPr lang="en-US" altLang="zh-CN" sz="1400" dirty="0">
              <a:solidFill>
                <a:schemeClr val="tx1">
                  <a:lumMod val="65000"/>
                  <a:lumOff val="35000"/>
                </a:schemeClr>
              </a:solidFill>
              <a:latin typeface="微软雅黑" panose="020B0503020204020204" charset="-122"/>
              <a:ea typeface="微软雅黑" panose="020B0503020204020204" charset="-122"/>
            </a:endParaRPr>
          </a:p>
          <a:p>
            <a:pPr indent="457200" algn="just">
              <a:lnSpc>
                <a:spcPct val="130000"/>
              </a:lnSpc>
            </a:pPr>
            <a:endParaRPr lang="en-US" altLang="zh-CN" sz="1400" dirty="0">
              <a:solidFill>
                <a:schemeClr val="tx1">
                  <a:lumMod val="65000"/>
                  <a:lumOff val="35000"/>
                </a:schemeClr>
              </a:solidFill>
              <a:latin typeface="微软雅黑" panose="020B0503020204020204" charset="-122"/>
              <a:ea typeface="微软雅黑" panose="020B0503020204020204" charset="-122"/>
            </a:endParaRPr>
          </a:p>
          <a:p>
            <a:pPr indent="457200" algn="just">
              <a:lnSpc>
                <a:spcPct val="130000"/>
              </a:lnSpc>
            </a:pPr>
            <a:endParaRPr lang="en-US" altLang="zh-CN" sz="1400" dirty="0">
              <a:solidFill>
                <a:schemeClr val="tx1">
                  <a:lumMod val="65000"/>
                  <a:lumOff val="35000"/>
                </a:schemeClr>
              </a:solidFill>
              <a:latin typeface="微软雅黑" panose="020B0503020204020204" charset="-122"/>
              <a:ea typeface="微软雅黑" panose="020B0503020204020204" charset="-122"/>
            </a:endParaRPr>
          </a:p>
          <a:p>
            <a:pPr indent="457200" algn="just">
              <a:lnSpc>
                <a:spcPct val="130000"/>
              </a:lnSpc>
            </a:pPr>
            <a:endParaRPr lang="en-US" altLang="zh-CN" sz="1400" dirty="0">
              <a:solidFill>
                <a:schemeClr val="tx1">
                  <a:lumMod val="65000"/>
                  <a:lumOff val="35000"/>
                </a:schemeClr>
              </a:solidFill>
              <a:latin typeface="微软雅黑" panose="020B0503020204020204" charset="-122"/>
              <a:ea typeface="微软雅黑" panose="020B0503020204020204" charset="-122"/>
            </a:endParaRPr>
          </a:p>
          <a:p>
            <a:pPr indent="457200" algn="just">
              <a:lnSpc>
                <a:spcPct val="130000"/>
              </a:lnSpc>
            </a:pPr>
            <a:endParaRPr lang="en-US" altLang="zh-CN" sz="1400" dirty="0">
              <a:solidFill>
                <a:schemeClr val="tx1">
                  <a:lumMod val="65000"/>
                  <a:lumOff val="35000"/>
                </a:schemeClr>
              </a:solidFill>
              <a:latin typeface="微软雅黑" panose="020B0503020204020204" charset="-122"/>
              <a:ea typeface="微软雅黑" panose="020B0503020204020204" charset="-122"/>
            </a:endParaRPr>
          </a:p>
          <a:p>
            <a:pPr indent="457200" algn="just">
              <a:lnSpc>
                <a:spcPct val="130000"/>
              </a:lnSpc>
            </a:pPr>
            <a:endParaRPr lang="en-US" altLang="zh-CN" sz="1400" dirty="0">
              <a:solidFill>
                <a:schemeClr val="tx1">
                  <a:lumMod val="65000"/>
                  <a:lumOff val="35000"/>
                </a:schemeClr>
              </a:solidFill>
              <a:latin typeface="微软雅黑" panose="020B0503020204020204" charset="-122"/>
              <a:ea typeface="微软雅黑" panose="020B0503020204020204" charset="-122"/>
            </a:endParaRPr>
          </a:p>
          <a:p>
            <a:pPr indent="457200" algn="just">
              <a:lnSpc>
                <a:spcPct val="130000"/>
              </a:lnSpc>
            </a:pPr>
            <a:endParaRPr lang="en-US" altLang="zh-CN" sz="1400" dirty="0">
              <a:solidFill>
                <a:schemeClr val="tx1">
                  <a:lumMod val="65000"/>
                  <a:lumOff val="35000"/>
                </a:schemeClr>
              </a:solidFill>
              <a:latin typeface="微软雅黑" panose="020B0503020204020204" charset="-122"/>
              <a:ea typeface="微软雅黑" panose="020B0503020204020204" charset="-122"/>
            </a:endParaRPr>
          </a:p>
          <a:p>
            <a:pPr algn="just">
              <a:lnSpc>
                <a:spcPct val="138000"/>
              </a:lnSpc>
            </a:pPr>
            <a:endParaRPr lang="en-US" altLang="zh-CN" sz="1400" dirty="0">
              <a:solidFill>
                <a:schemeClr val="tx1">
                  <a:lumMod val="65000"/>
                  <a:lumOff val="35000"/>
                </a:schemeClr>
              </a:solidFill>
              <a:latin typeface="微软雅黑" panose="020B0503020204020204" charset="-122"/>
              <a:ea typeface="微软雅黑" panose="020B0503020204020204" charset="-122"/>
            </a:endParaRPr>
          </a:p>
          <a:p>
            <a:pPr algn="just">
              <a:lnSpc>
                <a:spcPct val="138000"/>
              </a:lnSpc>
            </a:pPr>
            <a:endParaRPr lang="en-US" altLang="zh-CN" sz="1400" dirty="0">
              <a:solidFill>
                <a:schemeClr val="tx1">
                  <a:lumMod val="65000"/>
                  <a:lumOff val="35000"/>
                </a:schemeClr>
              </a:solidFill>
              <a:latin typeface="微软雅黑" panose="020B0503020204020204" charset="-122"/>
              <a:ea typeface="微软雅黑" panose="020B0503020204020204" charset="-122"/>
            </a:endParaRPr>
          </a:p>
          <a:p>
            <a:pPr algn="just">
              <a:lnSpc>
                <a:spcPct val="138000"/>
              </a:lnSpc>
            </a:pPr>
            <a:endParaRPr lang="en-US" altLang="zh-CN" sz="1400" dirty="0">
              <a:solidFill>
                <a:schemeClr val="tx1">
                  <a:lumMod val="65000"/>
                  <a:lumOff val="35000"/>
                </a:schemeClr>
              </a:solidFill>
              <a:latin typeface="微软雅黑" panose="020B0503020204020204" charset="-122"/>
              <a:ea typeface="微软雅黑" panose="020B0503020204020204" charset="-122"/>
            </a:endParaRPr>
          </a:p>
          <a:p>
            <a:pPr algn="just">
              <a:lnSpc>
                <a:spcPct val="138000"/>
              </a:lnSpc>
            </a:pPr>
            <a:endParaRPr lang="en-US" altLang="zh-CN" sz="1400" dirty="0">
              <a:solidFill>
                <a:schemeClr val="tx1">
                  <a:lumMod val="65000"/>
                  <a:lumOff val="35000"/>
                </a:schemeClr>
              </a:solidFill>
              <a:latin typeface="微软雅黑" panose="020B0503020204020204" charset="-122"/>
              <a:ea typeface="微软雅黑" panose="020B0503020204020204" charset="-122"/>
            </a:endParaRPr>
          </a:p>
          <a:p>
            <a:pPr algn="just">
              <a:lnSpc>
                <a:spcPct val="138000"/>
              </a:lnSpc>
            </a:pPr>
            <a:endParaRPr lang="en-US" altLang="zh-CN" sz="1400" dirty="0">
              <a:solidFill>
                <a:schemeClr val="tx1">
                  <a:lumMod val="65000"/>
                  <a:lumOff val="35000"/>
                </a:schemeClr>
              </a:solidFill>
              <a:latin typeface="微软雅黑" panose="020B0503020204020204" charset="-122"/>
              <a:ea typeface="微软雅黑" panose="020B0503020204020204" charset="-122"/>
            </a:endParaRPr>
          </a:p>
        </p:txBody>
      </p:sp>
      <p:sp>
        <p:nvSpPr>
          <p:cNvPr id="38" name="矩形 37"/>
          <p:cNvSpPr/>
          <p:nvPr/>
        </p:nvSpPr>
        <p:spPr>
          <a:xfrm>
            <a:off x="914236" y="1999748"/>
            <a:ext cx="159196" cy="720080"/>
          </a:xfrm>
          <a:prstGeom prst="rect">
            <a:avLst/>
          </a:prstGeom>
          <a:gradFill>
            <a:gsLst>
              <a:gs pos="0">
                <a:srgbClr val="007BD3"/>
              </a:gs>
              <a:gs pos="100000">
                <a:srgbClr val="03437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899160" y="3239135"/>
            <a:ext cx="116205" cy="917575"/>
          </a:xfrm>
          <a:prstGeom prst="rect">
            <a:avLst/>
          </a:prstGeom>
          <a:gradFill>
            <a:gsLst>
              <a:gs pos="0">
                <a:srgbClr val="007BD3"/>
              </a:gs>
              <a:gs pos="100000">
                <a:srgbClr val="03437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880745" y="4826635"/>
            <a:ext cx="135890" cy="1057275"/>
          </a:xfrm>
          <a:prstGeom prst="rect">
            <a:avLst/>
          </a:prstGeom>
          <a:gradFill>
            <a:gsLst>
              <a:gs pos="0">
                <a:srgbClr val="007BD3"/>
              </a:gs>
              <a:gs pos="100000">
                <a:srgbClr val="03437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1095375" y="1694180"/>
            <a:ext cx="6831330" cy="1005840"/>
          </a:xfrm>
          <a:prstGeom prst="rect">
            <a:avLst/>
          </a:prstGeom>
        </p:spPr>
        <p:txBody>
          <a:bodyPr wrap="square">
            <a:spAutoFit/>
          </a:bodyPr>
          <a:lstStyle/>
          <a:p>
            <a:pPr lvl="0" indent="457200" algn="just">
              <a:lnSpc>
                <a:spcPct val="150000"/>
              </a:lnSpc>
            </a:pPr>
            <a:r>
              <a:rPr lang="zh-CN" altLang="en-US" sz="2000" dirty="0">
                <a:latin typeface="微软雅黑" panose="020B0503020204020204" charset="-122"/>
                <a:ea typeface="微软雅黑" panose="020B0503020204020204" charset="-122"/>
              </a:rPr>
              <a:t>当编辑完文件后，准备返回到shell状态时，应执行退出vi的命令。在vi的ex转义方式下有4种方法可以退出vi编辑器。</a:t>
            </a:r>
          </a:p>
        </p:txBody>
      </p:sp>
      <p:sp>
        <p:nvSpPr>
          <p:cNvPr id="50" name="矩形 49"/>
          <p:cNvSpPr/>
          <p:nvPr/>
        </p:nvSpPr>
        <p:spPr>
          <a:xfrm>
            <a:off x="1095375" y="2857500"/>
            <a:ext cx="6830695" cy="1516380"/>
          </a:xfrm>
          <a:prstGeom prst="rect">
            <a:avLst/>
          </a:prstGeom>
        </p:spPr>
        <p:txBody>
          <a:bodyPr wrap="square">
            <a:spAutoFit/>
          </a:bodyPr>
          <a:lstStyle/>
          <a:p>
            <a:pPr indent="457200" algn="just">
              <a:lnSpc>
                <a:spcPct val="130000"/>
              </a:lnSpc>
            </a:pPr>
            <a:r>
              <a:rPr lang="zh-CN" altLang="en-US" dirty="0">
                <a:solidFill>
                  <a:srgbClr val="FF0000"/>
                </a:solidFill>
                <a:latin typeface="微软雅黑" panose="020B0503020204020204" charset="-122"/>
                <a:ea typeface="微软雅黑" panose="020B0503020204020204" charset="-122"/>
              </a:rPr>
              <a:t>（1）</a:t>
            </a:r>
            <a:r>
              <a:rPr lang="zh-CN" altLang="en-US" b="1" dirty="0">
                <a:solidFill>
                  <a:srgbClr val="FF0000"/>
                </a:solidFill>
                <a:latin typeface="微软雅黑" panose="020B0503020204020204" charset="-122"/>
                <a:ea typeface="微软雅黑" panose="020B0503020204020204" charset="-122"/>
              </a:rPr>
              <a:t>“:wq”</a:t>
            </a:r>
            <a:r>
              <a:rPr lang="zh-CN" altLang="en-US" dirty="0">
                <a:solidFill>
                  <a:srgbClr val="FF0000"/>
                </a:solidFill>
                <a:latin typeface="微软雅黑" panose="020B0503020204020204" charset="-122"/>
                <a:ea typeface="微软雅黑" panose="020B0503020204020204" charset="-122"/>
              </a:rPr>
              <a:t>的功能是将编辑缓冲区的内容写到指定的文件中，以退出编辑器，回到shell状态下。</a:t>
            </a:r>
          </a:p>
          <a:p>
            <a:pPr indent="457200" algn="just">
              <a:lnSpc>
                <a:spcPct val="130000"/>
              </a:lnSpc>
            </a:pPr>
            <a:r>
              <a:rPr lang="zh-CN" altLang="en-US" dirty="0">
                <a:solidFill>
                  <a:srgbClr val="FF0000"/>
                </a:solidFill>
                <a:latin typeface="微软雅黑" panose="020B0503020204020204" charset="-122"/>
                <a:ea typeface="微软雅黑" panose="020B0503020204020204" charset="-122"/>
              </a:rPr>
              <a:t>其操作过程是，先输入</a:t>
            </a:r>
            <a:r>
              <a:rPr lang="zh-CN" altLang="en-US" b="1" dirty="0">
                <a:solidFill>
                  <a:srgbClr val="FF0000"/>
                </a:solidFill>
                <a:latin typeface="微软雅黑" panose="020B0503020204020204" charset="-122"/>
                <a:ea typeface="微软雅黑" panose="020B0503020204020204" charset="-122"/>
              </a:rPr>
              <a:t>冒号“:”</a:t>
            </a:r>
            <a:r>
              <a:rPr lang="zh-CN" altLang="en-US" dirty="0">
                <a:solidFill>
                  <a:srgbClr val="FF0000"/>
                </a:solidFill>
                <a:latin typeface="微软雅黑" panose="020B0503020204020204" charset="-122"/>
                <a:ea typeface="微软雅黑" panose="020B0503020204020204" charset="-122"/>
              </a:rPr>
              <a:t>，再输入命令wq，然后按【Enter】 键。</a:t>
            </a:r>
          </a:p>
        </p:txBody>
      </p:sp>
      <p:sp>
        <p:nvSpPr>
          <p:cNvPr id="51" name="矩形 50"/>
          <p:cNvSpPr/>
          <p:nvPr/>
        </p:nvSpPr>
        <p:spPr>
          <a:xfrm>
            <a:off x="1262380" y="4297680"/>
            <a:ext cx="6663690" cy="2148840"/>
          </a:xfrm>
          <a:prstGeom prst="rect">
            <a:avLst/>
          </a:prstGeom>
        </p:spPr>
        <p:txBody>
          <a:bodyPr wrap="square">
            <a:spAutoFit/>
          </a:bodyPr>
          <a:lstStyle/>
          <a:p>
            <a:pPr lvl="0" indent="457200" algn="just">
              <a:lnSpc>
                <a:spcPct val="150000"/>
              </a:lnSpc>
            </a:pPr>
            <a:r>
              <a:rPr lang="zh-CN" altLang="en-US" dirty="0">
                <a:latin typeface="微软雅黑" panose="020B0503020204020204" charset="-122"/>
                <a:ea typeface="微软雅黑" panose="020B0503020204020204" charset="-122"/>
              </a:rPr>
              <a:t>（2）</a:t>
            </a:r>
            <a:r>
              <a:rPr lang="zh-CN" altLang="en-US" b="1" dirty="0">
                <a:solidFill>
                  <a:srgbClr val="0070C0"/>
                </a:solidFill>
                <a:latin typeface="微软雅黑" panose="020B0503020204020204" charset="-122"/>
                <a:ea typeface="微软雅黑" panose="020B0503020204020204" charset="-122"/>
              </a:rPr>
              <a:t>“:ZZ”</a:t>
            </a:r>
            <a:r>
              <a:rPr lang="zh-CN" altLang="en-US" dirty="0">
                <a:latin typeface="微软雅黑" panose="020B0503020204020204" charset="-122"/>
                <a:ea typeface="微软雅黑" panose="020B0503020204020204" charset="-122"/>
              </a:rPr>
              <a:t>的功能是仅当对所编辑的内容做过修改时，才将缓冲区的内容写到指定文件上。</a:t>
            </a:r>
          </a:p>
          <a:p>
            <a:pPr lvl="0" indent="457200" algn="just">
              <a:lnSpc>
                <a:spcPct val="150000"/>
              </a:lnSpc>
            </a:pPr>
            <a:r>
              <a:rPr lang="zh-CN" altLang="en-US" dirty="0">
                <a:latin typeface="微软雅黑" panose="020B0503020204020204" charset="-122"/>
                <a:ea typeface="微软雅黑" panose="020B0503020204020204" charset="-122"/>
              </a:rPr>
              <a:t>（3）</a:t>
            </a:r>
            <a:r>
              <a:rPr lang="zh-CN" altLang="en-US" b="1" dirty="0">
                <a:solidFill>
                  <a:srgbClr val="0070C0"/>
                </a:solidFill>
                <a:effectLst/>
                <a:latin typeface="微软雅黑" panose="020B0503020204020204" charset="-122"/>
                <a:ea typeface="微软雅黑" panose="020B0503020204020204" charset="-122"/>
              </a:rPr>
              <a:t>“:x”</a:t>
            </a:r>
            <a:r>
              <a:rPr lang="zh-CN" altLang="en-US" dirty="0">
                <a:latin typeface="微软雅黑" panose="020B0503020204020204" charset="-122"/>
                <a:ea typeface="微软雅黑" panose="020B0503020204020204" charset="-122"/>
              </a:rPr>
              <a:t>的功能与“:ZZ”相同。</a:t>
            </a:r>
          </a:p>
          <a:p>
            <a:pPr lvl="0" indent="457200" algn="just">
              <a:lnSpc>
                <a:spcPct val="150000"/>
              </a:lnSpc>
            </a:pPr>
            <a:r>
              <a:rPr lang="zh-CN" altLang="en-US" dirty="0">
                <a:solidFill>
                  <a:srgbClr val="FF0000"/>
                </a:solidFill>
                <a:latin typeface="微软雅黑" panose="020B0503020204020204" charset="-122"/>
                <a:ea typeface="微软雅黑" panose="020B0503020204020204" charset="-122"/>
              </a:rPr>
              <a:t>（4）</a:t>
            </a:r>
            <a:r>
              <a:rPr lang="zh-CN" altLang="en-US" b="1" dirty="0">
                <a:solidFill>
                  <a:srgbClr val="FF0000"/>
                </a:solidFill>
                <a:latin typeface="微软雅黑" panose="020B0503020204020204" charset="-122"/>
                <a:ea typeface="微软雅黑" panose="020B0503020204020204" charset="-122"/>
              </a:rPr>
              <a:t>“:q！”</a:t>
            </a:r>
            <a:r>
              <a:rPr lang="zh-CN" altLang="en-US" dirty="0">
                <a:solidFill>
                  <a:srgbClr val="FF0000"/>
                </a:solidFill>
                <a:latin typeface="微软雅黑" panose="020B0503020204020204" charset="-122"/>
                <a:ea typeface="微软雅黑" panose="020B0503020204020204" charset="-122"/>
              </a:rPr>
              <a:t>的功能是强行退出vi。感叹号“！”，通知vi，无条件退出，不将缓冲区中的内容写到文件中。</a:t>
            </a:r>
          </a:p>
        </p:txBody>
      </p:sp>
      <p:grpSp>
        <p:nvGrpSpPr>
          <p:cNvPr id="3" name="组合 2"/>
          <p:cNvGrpSpPr/>
          <p:nvPr/>
        </p:nvGrpSpPr>
        <p:grpSpPr>
          <a:xfrm>
            <a:off x="8446135" y="4826635"/>
            <a:ext cx="3137535" cy="1696085"/>
            <a:chOff x="15037" y="7916"/>
            <a:chExt cx="4941" cy="2910"/>
          </a:xfrm>
        </p:grpSpPr>
        <p:grpSp>
          <p:nvGrpSpPr>
            <p:cNvPr id="6" name="组合 14"/>
            <p:cNvGrpSpPr/>
            <p:nvPr/>
          </p:nvGrpSpPr>
          <p:grpSpPr bwMode="auto">
            <a:xfrm>
              <a:off x="15108" y="8481"/>
              <a:ext cx="4870" cy="2345"/>
              <a:chOff x="1166778" y="1723580"/>
              <a:chExt cx="9858444" cy="1776858"/>
            </a:xfrm>
          </p:grpSpPr>
          <p:grpSp>
            <p:nvGrpSpPr>
              <p:cNvPr id="7" name="组合 12"/>
              <p:cNvGrpSpPr/>
              <p:nvPr/>
            </p:nvGrpSpPr>
            <p:grpSpPr bwMode="auto">
              <a:xfrm>
                <a:off x="1166778" y="1723580"/>
                <a:ext cx="9858444" cy="1776858"/>
                <a:chOff x="1166778" y="1723580"/>
                <a:chExt cx="9858444" cy="1776858"/>
              </a:xfrm>
            </p:grpSpPr>
            <p:sp>
              <p:nvSpPr>
                <p:cNvPr id="11" name="矩形 10"/>
                <p:cNvSpPr/>
                <p:nvPr/>
              </p:nvSpPr>
              <p:spPr>
                <a:xfrm>
                  <a:off x="1166778"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2" name="矩形 6"/>
                <p:cNvSpPr>
                  <a:spLocks noChangeArrowheads="1"/>
                </p:cNvSpPr>
                <p:nvPr/>
              </p:nvSpPr>
              <p:spPr bwMode="auto">
                <a:xfrm>
                  <a:off x="3338877" y="1723580"/>
                  <a:ext cx="2479793" cy="594376"/>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华康俪金黑W8(P)"/>
                      <a:ea typeface="华康俪金黑W8(P)"/>
                      <a:cs typeface="华康俪金黑W8(P)"/>
                    </a:rPr>
                    <a:t>说明</a:t>
                  </a:r>
                </a:p>
              </p:txBody>
            </p:sp>
          </p:grpSp>
          <p:sp>
            <p:nvSpPr>
              <p:cNvPr id="13" name="MH_Text_1"/>
              <p:cNvSpPr txBox="1">
                <a:spLocks noChangeArrowheads="1"/>
              </p:cNvSpPr>
              <p:nvPr>
                <p:custDataLst>
                  <p:tags r:id="rId1"/>
                </p:custDataLst>
              </p:nvPr>
            </p:nvSpPr>
            <p:spPr bwMode="auto">
              <a:xfrm>
                <a:off x="1361114" y="2254392"/>
                <a:ext cx="9469774" cy="1214344"/>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sz="2000" b="1">
                    <a:solidFill>
                      <a:srgbClr val="0070C0"/>
                    </a:solidFill>
                    <a:latin typeface="微软雅黑" panose="020B0503020204020204" charset="-122"/>
                    <a:ea typeface="微软雅黑" panose="020B0503020204020204" charset="-122"/>
                  </a:rPr>
                  <a:t>以下命令的操作方式均与其相同。</a:t>
                </a:r>
              </a:p>
            </p:txBody>
          </p:sp>
        </p:grpSp>
        <p:pic>
          <p:nvPicPr>
            <p:cNvPr id="16" name="图片 15" descr="www.tuweimei.comComp_9747389_aloyhm04q205BMmtimdiv2o2HN82PIep.jpg"/>
            <p:cNvPicPr>
              <a:picLocks noGrp="1"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15037" y="7916"/>
              <a:ext cx="1463" cy="1463"/>
            </a:xfrm>
            <a:prstGeom prst="rect">
              <a:avLst/>
            </a:prstGeom>
            <a:noFill/>
            <a:ln w="9525">
              <a:noFill/>
              <a:miter lim="800000"/>
              <a:headEnd/>
              <a:tailEnd/>
            </a:ln>
          </p:spPr>
        </p:pic>
      </p:grpSp>
      <p:pic>
        <p:nvPicPr>
          <p:cNvPr id="17" name="图片 16" descr="b863be977d85f89558525af7b387fd05"/>
          <p:cNvPicPr>
            <a:picLocks noChangeAspect="1"/>
          </p:cNvPicPr>
          <p:nvPr/>
        </p:nvPicPr>
        <p:blipFill>
          <a:blip r:embed="rId5" cstate="print"/>
          <a:stretch>
            <a:fillRect/>
          </a:stretch>
        </p:blipFill>
        <p:spPr>
          <a:xfrm>
            <a:off x="8761730" y="1885315"/>
            <a:ext cx="2551430" cy="294132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 presetClass="entr" presetSubtype="4" decel="100000" fill="hold" grpId="0" nodeType="afterEffect">
                                  <p:stCondLst>
                                    <p:cond delay="0"/>
                                  </p:stCondLst>
                                  <p:childTnLst>
                                    <p:set>
                                      <p:cBhvr>
                                        <p:cTn id="10" dur="1" fill="hold">
                                          <p:stCondLst>
                                            <p:cond delay="0"/>
                                          </p:stCondLst>
                                        </p:cTn>
                                        <p:tgtEl>
                                          <p:spTgt spid="37"/>
                                        </p:tgtEl>
                                        <p:attrNameLst>
                                          <p:attrName>style.visibility</p:attrName>
                                        </p:attrNameLst>
                                      </p:cBhvr>
                                      <p:to>
                                        <p:strVal val="visible"/>
                                      </p:to>
                                    </p:set>
                                    <p:anim calcmode="lin" valueType="num">
                                      <p:cBhvr additive="base">
                                        <p:cTn id="11" dur="500" fill="hold"/>
                                        <p:tgtEl>
                                          <p:spTgt spid="37"/>
                                        </p:tgtEl>
                                        <p:attrNameLst>
                                          <p:attrName>ppt_x</p:attrName>
                                        </p:attrNameLst>
                                      </p:cBhvr>
                                      <p:tavLst>
                                        <p:tav tm="0">
                                          <p:val>
                                            <p:strVal val="#ppt_x"/>
                                          </p:val>
                                        </p:tav>
                                        <p:tav tm="100000">
                                          <p:val>
                                            <p:strVal val="#ppt_x"/>
                                          </p:val>
                                        </p:tav>
                                      </p:tavLst>
                                    </p:anim>
                                    <p:anim calcmode="lin" valueType="num">
                                      <p:cBhvr additive="base">
                                        <p:cTn id="12" dur="500" fill="hold"/>
                                        <p:tgtEl>
                                          <p:spTgt spid="37"/>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42" presetClass="entr" presetSubtype="0" fill="hold" nodeType="afterEffect">
                                  <p:stCondLst>
                                    <p:cond delay="0"/>
                                  </p:stCondLst>
                                  <p:childTnLst>
                                    <p:set>
                                      <p:cBhvr>
                                        <p:cTn id="15" dur="1" fill="hold">
                                          <p:stCondLst>
                                            <p:cond delay="0"/>
                                          </p:stCondLst>
                                        </p:cTn>
                                        <p:tgtEl>
                                          <p:spTgt spid="49">
                                            <p:txEl>
                                              <p:pRg st="0" end="0"/>
                                            </p:txEl>
                                          </p:spTgt>
                                        </p:tgtEl>
                                        <p:attrNameLst>
                                          <p:attrName>style.visibility</p:attrName>
                                        </p:attrNameLst>
                                      </p:cBhvr>
                                      <p:to>
                                        <p:strVal val="visible"/>
                                      </p:to>
                                    </p:set>
                                    <p:animEffect transition="in" filter="fade">
                                      <p:cBhvr>
                                        <p:cTn id="16" dur="1000"/>
                                        <p:tgtEl>
                                          <p:spTgt spid="49">
                                            <p:txEl>
                                              <p:pRg st="0" end="0"/>
                                            </p:txEl>
                                          </p:spTgt>
                                        </p:tgtEl>
                                      </p:cBhvr>
                                    </p:animEffect>
                                    <p:anim calcmode="lin" valueType="num">
                                      <p:cBhvr>
                                        <p:cTn id="17" dur="1000" fill="hold"/>
                                        <p:tgtEl>
                                          <p:spTgt spid="49">
                                            <p:txEl>
                                              <p:pRg st="0" end="0"/>
                                            </p:txEl>
                                          </p:spTgt>
                                        </p:tgtEl>
                                        <p:attrNameLst>
                                          <p:attrName>ppt_x</p:attrName>
                                        </p:attrNameLst>
                                      </p:cBhvr>
                                      <p:tavLst>
                                        <p:tav tm="0">
                                          <p:val>
                                            <p:strVal val="#ppt_x"/>
                                          </p:val>
                                        </p:tav>
                                        <p:tav tm="100000">
                                          <p:val>
                                            <p:strVal val="#ppt_x"/>
                                          </p:val>
                                        </p:tav>
                                      </p:tavLst>
                                    </p:anim>
                                    <p:anim calcmode="lin" valueType="num">
                                      <p:cBhvr>
                                        <p:cTn id="18" dur="1000" fill="hold"/>
                                        <p:tgtEl>
                                          <p:spTgt spid="49">
                                            <p:txEl>
                                              <p:pRg st="0" end="0"/>
                                            </p:txEl>
                                          </p:spTgt>
                                        </p:tgtEl>
                                        <p:attrNameLst>
                                          <p:attrName>ppt_y</p:attrName>
                                        </p:attrNameLst>
                                      </p:cBhvr>
                                      <p:tavLst>
                                        <p:tav tm="0">
                                          <p:val>
                                            <p:strVal val="#ppt_y+.1"/>
                                          </p:val>
                                        </p:tav>
                                        <p:tav tm="100000">
                                          <p:val>
                                            <p:strVal val="#ppt_y"/>
                                          </p:val>
                                        </p:tav>
                                      </p:tavLst>
                                    </p:anim>
                                  </p:childTnLst>
                                </p:cTn>
                              </p:par>
                              <p:par>
                                <p:cTn id="19" presetID="2" presetClass="entr" presetSubtype="1" decel="100000" fill="hold" grpId="0" nodeType="withEffect">
                                  <p:stCondLst>
                                    <p:cond delay="0"/>
                                  </p:stCondLst>
                                  <p:childTnLst>
                                    <p:set>
                                      <p:cBhvr>
                                        <p:cTn id="20" dur="1" fill="hold">
                                          <p:stCondLst>
                                            <p:cond delay="0"/>
                                          </p:stCondLst>
                                        </p:cTn>
                                        <p:tgtEl>
                                          <p:spTgt spid="38"/>
                                        </p:tgtEl>
                                        <p:attrNameLst>
                                          <p:attrName>style.visibility</p:attrName>
                                        </p:attrNameLst>
                                      </p:cBhvr>
                                      <p:to>
                                        <p:strVal val="visible"/>
                                      </p:to>
                                    </p:set>
                                    <p:anim calcmode="lin" valueType="num">
                                      <p:cBhvr additive="base">
                                        <p:cTn id="21" dur="500" fill="hold"/>
                                        <p:tgtEl>
                                          <p:spTgt spid="38"/>
                                        </p:tgtEl>
                                        <p:attrNameLst>
                                          <p:attrName>ppt_x</p:attrName>
                                        </p:attrNameLst>
                                      </p:cBhvr>
                                      <p:tavLst>
                                        <p:tav tm="0">
                                          <p:val>
                                            <p:strVal val="#ppt_x"/>
                                          </p:val>
                                        </p:tav>
                                        <p:tav tm="100000">
                                          <p:val>
                                            <p:strVal val="#ppt_x"/>
                                          </p:val>
                                        </p:tav>
                                      </p:tavLst>
                                    </p:anim>
                                    <p:anim calcmode="lin" valueType="num">
                                      <p:cBhvr additive="base">
                                        <p:cTn id="22" dur="500" fill="hold"/>
                                        <p:tgtEl>
                                          <p:spTgt spid="38"/>
                                        </p:tgtEl>
                                        <p:attrNameLst>
                                          <p:attrName>ppt_y</p:attrName>
                                        </p:attrNameLst>
                                      </p:cBhvr>
                                      <p:tavLst>
                                        <p:tav tm="0">
                                          <p:val>
                                            <p:strVal val="0-#ppt_h/2"/>
                                          </p:val>
                                        </p:tav>
                                        <p:tav tm="100000">
                                          <p:val>
                                            <p:strVal val="#ppt_y"/>
                                          </p:val>
                                        </p:tav>
                                      </p:tavLst>
                                    </p:anim>
                                  </p:childTnLst>
                                </p:cTn>
                              </p:par>
                              <p:par>
                                <p:cTn id="23" presetID="2" presetClass="entr" presetSubtype="1" decel="10000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anim calcmode="lin" valueType="num">
                                      <p:cBhvr additive="base">
                                        <p:cTn id="25" dur="500" fill="hold"/>
                                        <p:tgtEl>
                                          <p:spTgt spid="40"/>
                                        </p:tgtEl>
                                        <p:attrNameLst>
                                          <p:attrName>ppt_x</p:attrName>
                                        </p:attrNameLst>
                                      </p:cBhvr>
                                      <p:tavLst>
                                        <p:tav tm="0">
                                          <p:val>
                                            <p:strVal val="#ppt_x"/>
                                          </p:val>
                                        </p:tav>
                                        <p:tav tm="100000">
                                          <p:val>
                                            <p:strVal val="#ppt_x"/>
                                          </p:val>
                                        </p:tav>
                                      </p:tavLst>
                                    </p:anim>
                                    <p:anim calcmode="lin" valueType="num">
                                      <p:cBhvr additive="base">
                                        <p:cTn id="26" dur="500" fill="hold"/>
                                        <p:tgtEl>
                                          <p:spTgt spid="40"/>
                                        </p:tgtEl>
                                        <p:attrNameLst>
                                          <p:attrName>ppt_y</p:attrName>
                                        </p:attrNameLst>
                                      </p:cBhvr>
                                      <p:tavLst>
                                        <p:tav tm="0">
                                          <p:val>
                                            <p:strVal val="0-#ppt_h/2"/>
                                          </p:val>
                                        </p:tav>
                                        <p:tav tm="100000">
                                          <p:val>
                                            <p:strVal val="#ppt_y"/>
                                          </p:val>
                                        </p:tav>
                                      </p:tavLst>
                                    </p:anim>
                                  </p:childTnLst>
                                </p:cTn>
                              </p:par>
                              <p:par>
                                <p:cTn id="27" presetID="2" presetClass="entr" presetSubtype="1" decel="100000" fill="hold" grpId="0" nodeType="withEffect">
                                  <p:stCondLst>
                                    <p:cond delay="0"/>
                                  </p:stCondLst>
                                  <p:childTnLst>
                                    <p:set>
                                      <p:cBhvr>
                                        <p:cTn id="28" dur="1" fill="hold">
                                          <p:stCondLst>
                                            <p:cond delay="0"/>
                                          </p:stCondLst>
                                        </p:cTn>
                                        <p:tgtEl>
                                          <p:spTgt spid="47"/>
                                        </p:tgtEl>
                                        <p:attrNameLst>
                                          <p:attrName>style.visibility</p:attrName>
                                        </p:attrNameLst>
                                      </p:cBhvr>
                                      <p:to>
                                        <p:strVal val="visible"/>
                                      </p:to>
                                    </p:set>
                                    <p:anim calcmode="lin" valueType="num">
                                      <p:cBhvr additive="base">
                                        <p:cTn id="29" dur="500" fill="hold"/>
                                        <p:tgtEl>
                                          <p:spTgt spid="47"/>
                                        </p:tgtEl>
                                        <p:attrNameLst>
                                          <p:attrName>ppt_x</p:attrName>
                                        </p:attrNameLst>
                                      </p:cBhvr>
                                      <p:tavLst>
                                        <p:tav tm="0">
                                          <p:val>
                                            <p:strVal val="#ppt_x"/>
                                          </p:val>
                                        </p:tav>
                                        <p:tav tm="100000">
                                          <p:val>
                                            <p:strVal val="#ppt_x"/>
                                          </p:val>
                                        </p:tav>
                                      </p:tavLst>
                                    </p:anim>
                                    <p:anim calcmode="lin" valueType="num">
                                      <p:cBhvr additive="base">
                                        <p:cTn id="30" dur="500" fill="hold"/>
                                        <p:tgtEl>
                                          <p:spTgt spid="47"/>
                                        </p:tgtEl>
                                        <p:attrNameLst>
                                          <p:attrName>ppt_y</p:attrName>
                                        </p:attrNameLst>
                                      </p:cBhvr>
                                      <p:tavLst>
                                        <p:tav tm="0">
                                          <p:val>
                                            <p:strVal val="0-#ppt_h/2"/>
                                          </p:val>
                                        </p:tav>
                                        <p:tav tm="100000">
                                          <p:val>
                                            <p:strVal val="#ppt_y"/>
                                          </p:val>
                                        </p:tav>
                                      </p:tavLst>
                                    </p:anim>
                                  </p:childTnLst>
                                </p:cTn>
                              </p:par>
                            </p:childTnLst>
                          </p:cTn>
                        </p:par>
                        <p:par>
                          <p:cTn id="31" fill="hold">
                            <p:stCondLst>
                              <p:cond delay="2000"/>
                            </p:stCondLst>
                            <p:childTnLst>
                              <p:par>
                                <p:cTn id="32" presetID="42" presetClass="entr" presetSubtype="0" fill="hold" nodeType="afterEffect">
                                  <p:stCondLst>
                                    <p:cond delay="0"/>
                                  </p:stCondLst>
                                  <p:childTnLst>
                                    <p:set>
                                      <p:cBhvr>
                                        <p:cTn id="33" dur="1" fill="hold">
                                          <p:stCondLst>
                                            <p:cond delay="0"/>
                                          </p:stCondLst>
                                        </p:cTn>
                                        <p:tgtEl>
                                          <p:spTgt spid="50">
                                            <p:txEl>
                                              <p:pRg st="0" end="0"/>
                                            </p:txEl>
                                          </p:spTgt>
                                        </p:tgtEl>
                                        <p:attrNameLst>
                                          <p:attrName>style.visibility</p:attrName>
                                        </p:attrNameLst>
                                      </p:cBhvr>
                                      <p:to>
                                        <p:strVal val="visible"/>
                                      </p:to>
                                    </p:set>
                                    <p:animEffect transition="in" filter="fade">
                                      <p:cBhvr>
                                        <p:cTn id="34" dur="500"/>
                                        <p:tgtEl>
                                          <p:spTgt spid="50">
                                            <p:txEl>
                                              <p:pRg st="0" end="0"/>
                                            </p:txEl>
                                          </p:spTgt>
                                        </p:tgtEl>
                                      </p:cBhvr>
                                    </p:animEffect>
                                    <p:anim calcmode="lin" valueType="num">
                                      <p:cBhvr>
                                        <p:cTn id="35" dur="500" fill="hold"/>
                                        <p:tgtEl>
                                          <p:spTgt spid="50">
                                            <p:txEl>
                                              <p:pRg st="0" end="0"/>
                                            </p:txEl>
                                          </p:spTgt>
                                        </p:tgtEl>
                                        <p:attrNameLst>
                                          <p:attrName>ppt_x</p:attrName>
                                        </p:attrNameLst>
                                      </p:cBhvr>
                                      <p:tavLst>
                                        <p:tav tm="0">
                                          <p:val>
                                            <p:strVal val="#ppt_x"/>
                                          </p:val>
                                        </p:tav>
                                        <p:tav tm="100000">
                                          <p:val>
                                            <p:strVal val="#ppt_x"/>
                                          </p:val>
                                        </p:tav>
                                      </p:tavLst>
                                    </p:anim>
                                    <p:anim calcmode="lin" valueType="num">
                                      <p:cBhvr>
                                        <p:cTn id="36" dur="500" fill="hold"/>
                                        <p:tgtEl>
                                          <p:spTgt spid="50">
                                            <p:txEl>
                                              <p:pRg st="0" end="0"/>
                                            </p:txEl>
                                          </p:spTgt>
                                        </p:tgtEl>
                                        <p:attrNameLst>
                                          <p:attrName>ppt_y</p:attrName>
                                        </p:attrNameLst>
                                      </p:cBhvr>
                                      <p:tavLst>
                                        <p:tav tm="0">
                                          <p:val>
                                            <p:strVal val="#ppt_y+.1"/>
                                          </p:val>
                                        </p:tav>
                                        <p:tav tm="100000">
                                          <p:val>
                                            <p:strVal val="#ppt_y"/>
                                          </p:val>
                                        </p:tav>
                                      </p:tavLst>
                                    </p:anim>
                                  </p:childTnLst>
                                </p:cTn>
                              </p:par>
                            </p:childTnLst>
                          </p:cTn>
                        </p:par>
                        <p:par>
                          <p:cTn id="37" fill="hold">
                            <p:stCondLst>
                              <p:cond delay="2500"/>
                            </p:stCondLst>
                            <p:childTnLst>
                              <p:par>
                                <p:cTn id="38" presetID="42" presetClass="entr" presetSubtype="0" fill="hold" nodeType="afterEffect">
                                  <p:stCondLst>
                                    <p:cond delay="0"/>
                                  </p:stCondLst>
                                  <p:childTnLst>
                                    <p:set>
                                      <p:cBhvr>
                                        <p:cTn id="39" dur="1" fill="hold">
                                          <p:stCondLst>
                                            <p:cond delay="0"/>
                                          </p:stCondLst>
                                        </p:cTn>
                                        <p:tgtEl>
                                          <p:spTgt spid="50">
                                            <p:txEl>
                                              <p:pRg st="1" end="1"/>
                                            </p:txEl>
                                          </p:spTgt>
                                        </p:tgtEl>
                                        <p:attrNameLst>
                                          <p:attrName>style.visibility</p:attrName>
                                        </p:attrNameLst>
                                      </p:cBhvr>
                                      <p:to>
                                        <p:strVal val="visible"/>
                                      </p:to>
                                    </p:set>
                                    <p:animEffect transition="in" filter="fade">
                                      <p:cBhvr>
                                        <p:cTn id="40" dur="500"/>
                                        <p:tgtEl>
                                          <p:spTgt spid="50">
                                            <p:txEl>
                                              <p:pRg st="1" end="1"/>
                                            </p:txEl>
                                          </p:spTgt>
                                        </p:tgtEl>
                                      </p:cBhvr>
                                    </p:animEffect>
                                    <p:anim calcmode="lin" valueType="num">
                                      <p:cBhvr>
                                        <p:cTn id="41" dur="500" fill="hold"/>
                                        <p:tgtEl>
                                          <p:spTgt spid="50">
                                            <p:txEl>
                                              <p:pRg st="1" end="1"/>
                                            </p:txEl>
                                          </p:spTgt>
                                        </p:tgtEl>
                                        <p:attrNameLst>
                                          <p:attrName>ppt_x</p:attrName>
                                        </p:attrNameLst>
                                      </p:cBhvr>
                                      <p:tavLst>
                                        <p:tav tm="0">
                                          <p:val>
                                            <p:strVal val="#ppt_x"/>
                                          </p:val>
                                        </p:tav>
                                        <p:tav tm="100000">
                                          <p:val>
                                            <p:strVal val="#ppt_x"/>
                                          </p:val>
                                        </p:tav>
                                      </p:tavLst>
                                    </p:anim>
                                    <p:anim calcmode="lin" valueType="num">
                                      <p:cBhvr>
                                        <p:cTn id="42" dur="500" fill="hold"/>
                                        <p:tgtEl>
                                          <p:spTgt spid="50">
                                            <p:txEl>
                                              <p:pRg st="1" end="1"/>
                                            </p:txEl>
                                          </p:spTgt>
                                        </p:tgtEl>
                                        <p:attrNameLst>
                                          <p:attrName>ppt_y</p:attrName>
                                        </p:attrNameLst>
                                      </p:cBhvr>
                                      <p:tavLst>
                                        <p:tav tm="0">
                                          <p:val>
                                            <p:strVal val="#ppt_y+.1"/>
                                          </p:val>
                                        </p:tav>
                                        <p:tav tm="100000">
                                          <p:val>
                                            <p:strVal val="#ppt_y"/>
                                          </p:val>
                                        </p:tav>
                                      </p:tavLst>
                                    </p:anim>
                                  </p:childTnLst>
                                </p:cTn>
                              </p:par>
                            </p:childTnLst>
                          </p:cTn>
                        </p:par>
                        <p:par>
                          <p:cTn id="43" fill="hold">
                            <p:stCondLst>
                              <p:cond delay="3000"/>
                            </p:stCondLst>
                            <p:childTnLst>
                              <p:par>
                                <p:cTn id="44" presetID="42" presetClass="entr" presetSubtype="0" fill="hold" nodeType="afterEffect">
                                  <p:stCondLst>
                                    <p:cond delay="0"/>
                                  </p:stCondLst>
                                  <p:childTnLst>
                                    <p:set>
                                      <p:cBhvr>
                                        <p:cTn id="45" dur="1" fill="hold">
                                          <p:stCondLst>
                                            <p:cond delay="0"/>
                                          </p:stCondLst>
                                        </p:cTn>
                                        <p:tgtEl>
                                          <p:spTgt spid="51">
                                            <p:txEl>
                                              <p:pRg st="0" end="0"/>
                                            </p:txEl>
                                          </p:spTgt>
                                        </p:tgtEl>
                                        <p:attrNameLst>
                                          <p:attrName>style.visibility</p:attrName>
                                        </p:attrNameLst>
                                      </p:cBhvr>
                                      <p:to>
                                        <p:strVal val="visible"/>
                                      </p:to>
                                    </p:set>
                                    <p:animEffect transition="in" filter="fade">
                                      <p:cBhvr>
                                        <p:cTn id="46" dur="500"/>
                                        <p:tgtEl>
                                          <p:spTgt spid="51">
                                            <p:txEl>
                                              <p:pRg st="0" end="0"/>
                                            </p:txEl>
                                          </p:spTgt>
                                        </p:tgtEl>
                                      </p:cBhvr>
                                    </p:animEffect>
                                    <p:anim calcmode="lin" valueType="num">
                                      <p:cBhvr>
                                        <p:cTn id="47" dur="500" fill="hold"/>
                                        <p:tgtEl>
                                          <p:spTgt spid="51">
                                            <p:txEl>
                                              <p:pRg st="0" end="0"/>
                                            </p:txEl>
                                          </p:spTgt>
                                        </p:tgtEl>
                                        <p:attrNameLst>
                                          <p:attrName>ppt_x</p:attrName>
                                        </p:attrNameLst>
                                      </p:cBhvr>
                                      <p:tavLst>
                                        <p:tav tm="0">
                                          <p:val>
                                            <p:strVal val="#ppt_x"/>
                                          </p:val>
                                        </p:tav>
                                        <p:tav tm="100000">
                                          <p:val>
                                            <p:strVal val="#ppt_x"/>
                                          </p:val>
                                        </p:tav>
                                      </p:tavLst>
                                    </p:anim>
                                    <p:anim calcmode="lin" valueType="num">
                                      <p:cBhvr>
                                        <p:cTn id="48" dur="500" fill="hold"/>
                                        <p:tgtEl>
                                          <p:spTgt spid="51">
                                            <p:txEl>
                                              <p:pRg st="0" end="0"/>
                                            </p:txEl>
                                          </p:spTgt>
                                        </p:tgtEl>
                                        <p:attrNameLst>
                                          <p:attrName>ppt_y</p:attrName>
                                        </p:attrNameLst>
                                      </p:cBhvr>
                                      <p:tavLst>
                                        <p:tav tm="0">
                                          <p:val>
                                            <p:strVal val="#ppt_y+.1"/>
                                          </p:val>
                                        </p:tav>
                                        <p:tav tm="100000">
                                          <p:val>
                                            <p:strVal val="#ppt_y"/>
                                          </p:val>
                                        </p:tav>
                                      </p:tavLst>
                                    </p:anim>
                                  </p:childTnLst>
                                </p:cTn>
                              </p:par>
                            </p:childTnLst>
                          </p:cTn>
                        </p:par>
                        <p:par>
                          <p:cTn id="49" fill="hold">
                            <p:stCondLst>
                              <p:cond delay="3500"/>
                            </p:stCondLst>
                            <p:childTnLst>
                              <p:par>
                                <p:cTn id="50" presetID="42" presetClass="entr" presetSubtype="0" fill="hold" nodeType="afterEffect">
                                  <p:stCondLst>
                                    <p:cond delay="0"/>
                                  </p:stCondLst>
                                  <p:childTnLst>
                                    <p:set>
                                      <p:cBhvr>
                                        <p:cTn id="51" dur="1" fill="hold">
                                          <p:stCondLst>
                                            <p:cond delay="0"/>
                                          </p:stCondLst>
                                        </p:cTn>
                                        <p:tgtEl>
                                          <p:spTgt spid="51">
                                            <p:txEl>
                                              <p:pRg st="1" end="1"/>
                                            </p:txEl>
                                          </p:spTgt>
                                        </p:tgtEl>
                                        <p:attrNameLst>
                                          <p:attrName>style.visibility</p:attrName>
                                        </p:attrNameLst>
                                      </p:cBhvr>
                                      <p:to>
                                        <p:strVal val="visible"/>
                                      </p:to>
                                    </p:set>
                                    <p:animEffect transition="in" filter="fade">
                                      <p:cBhvr>
                                        <p:cTn id="52" dur="500"/>
                                        <p:tgtEl>
                                          <p:spTgt spid="51">
                                            <p:txEl>
                                              <p:pRg st="1" end="1"/>
                                            </p:txEl>
                                          </p:spTgt>
                                        </p:tgtEl>
                                      </p:cBhvr>
                                    </p:animEffect>
                                    <p:anim calcmode="lin" valueType="num">
                                      <p:cBhvr>
                                        <p:cTn id="53" dur="500" fill="hold"/>
                                        <p:tgtEl>
                                          <p:spTgt spid="51">
                                            <p:txEl>
                                              <p:pRg st="1" end="1"/>
                                            </p:txEl>
                                          </p:spTgt>
                                        </p:tgtEl>
                                        <p:attrNameLst>
                                          <p:attrName>ppt_x</p:attrName>
                                        </p:attrNameLst>
                                      </p:cBhvr>
                                      <p:tavLst>
                                        <p:tav tm="0">
                                          <p:val>
                                            <p:strVal val="#ppt_x"/>
                                          </p:val>
                                        </p:tav>
                                        <p:tav tm="100000">
                                          <p:val>
                                            <p:strVal val="#ppt_x"/>
                                          </p:val>
                                        </p:tav>
                                      </p:tavLst>
                                    </p:anim>
                                    <p:anim calcmode="lin" valueType="num">
                                      <p:cBhvr>
                                        <p:cTn id="54" dur="500" fill="hold"/>
                                        <p:tgtEl>
                                          <p:spTgt spid="51">
                                            <p:txEl>
                                              <p:pRg st="1" end="1"/>
                                            </p:txEl>
                                          </p:spTgt>
                                        </p:tgtEl>
                                        <p:attrNameLst>
                                          <p:attrName>ppt_y</p:attrName>
                                        </p:attrNameLst>
                                      </p:cBhvr>
                                      <p:tavLst>
                                        <p:tav tm="0">
                                          <p:val>
                                            <p:strVal val="#ppt_y+.1"/>
                                          </p:val>
                                        </p:tav>
                                        <p:tav tm="100000">
                                          <p:val>
                                            <p:strVal val="#ppt_y"/>
                                          </p:val>
                                        </p:tav>
                                      </p:tavLst>
                                    </p:anim>
                                  </p:childTnLst>
                                </p:cTn>
                              </p:par>
                            </p:childTnLst>
                          </p:cTn>
                        </p:par>
                        <p:par>
                          <p:cTn id="55" fill="hold">
                            <p:stCondLst>
                              <p:cond delay="4000"/>
                            </p:stCondLst>
                            <p:childTnLst>
                              <p:par>
                                <p:cTn id="56" presetID="42" presetClass="entr" presetSubtype="0" fill="hold" nodeType="afterEffect">
                                  <p:stCondLst>
                                    <p:cond delay="0"/>
                                  </p:stCondLst>
                                  <p:childTnLst>
                                    <p:set>
                                      <p:cBhvr>
                                        <p:cTn id="57" dur="1" fill="hold">
                                          <p:stCondLst>
                                            <p:cond delay="0"/>
                                          </p:stCondLst>
                                        </p:cTn>
                                        <p:tgtEl>
                                          <p:spTgt spid="51">
                                            <p:txEl>
                                              <p:pRg st="2" end="2"/>
                                            </p:txEl>
                                          </p:spTgt>
                                        </p:tgtEl>
                                        <p:attrNameLst>
                                          <p:attrName>style.visibility</p:attrName>
                                        </p:attrNameLst>
                                      </p:cBhvr>
                                      <p:to>
                                        <p:strVal val="visible"/>
                                      </p:to>
                                    </p:set>
                                    <p:animEffect transition="in" filter="fade">
                                      <p:cBhvr>
                                        <p:cTn id="58" dur="500"/>
                                        <p:tgtEl>
                                          <p:spTgt spid="51">
                                            <p:txEl>
                                              <p:pRg st="2" end="2"/>
                                            </p:txEl>
                                          </p:spTgt>
                                        </p:tgtEl>
                                      </p:cBhvr>
                                    </p:animEffect>
                                    <p:anim calcmode="lin" valueType="num">
                                      <p:cBhvr>
                                        <p:cTn id="59" dur="500" fill="hold"/>
                                        <p:tgtEl>
                                          <p:spTgt spid="51">
                                            <p:txEl>
                                              <p:pRg st="2" end="2"/>
                                            </p:txEl>
                                          </p:spTgt>
                                        </p:tgtEl>
                                        <p:attrNameLst>
                                          <p:attrName>ppt_x</p:attrName>
                                        </p:attrNameLst>
                                      </p:cBhvr>
                                      <p:tavLst>
                                        <p:tav tm="0">
                                          <p:val>
                                            <p:strVal val="#ppt_x"/>
                                          </p:val>
                                        </p:tav>
                                        <p:tav tm="100000">
                                          <p:val>
                                            <p:strVal val="#ppt_x"/>
                                          </p:val>
                                        </p:tav>
                                      </p:tavLst>
                                    </p:anim>
                                    <p:anim calcmode="lin" valueType="num">
                                      <p:cBhvr>
                                        <p:cTn id="60" dur="500" fill="hold"/>
                                        <p:tgtEl>
                                          <p:spTgt spid="51">
                                            <p:txEl>
                                              <p:pRg st="2" end="2"/>
                                            </p:txEl>
                                          </p:spTgt>
                                        </p:tgtEl>
                                        <p:attrNameLst>
                                          <p:attrName>ppt_y</p:attrName>
                                        </p:attrNameLst>
                                      </p:cBhvr>
                                      <p:tavLst>
                                        <p:tav tm="0">
                                          <p:val>
                                            <p:strVal val="#ppt_y+.1"/>
                                          </p:val>
                                        </p:tav>
                                        <p:tav tm="100000">
                                          <p:val>
                                            <p:strVal val="#ppt_y"/>
                                          </p:val>
                                        </p:tav>
                                      </p:tavLst>
                                    </p:anim>
                                  </p:childTnLst>
                                </p:cTn>
                              </p:par>
                            </p:childTnLst>
                          </p:cTn>
                        </p:par>
                        <p:par>
                          <p:cTn id="61" fill="hold">
                            <p:stCondLst>
                              <p:cond delay="4500"/>
                            </p:stCondLst>
                            <p:childTnLst>
                              <p:par>
                                <p:cTn id="62" presetID="22" presetClass="entr" presetSubtype="8" fill="hold" nodeType="afterEffect">
                                  <p:stCondLst>
                                    <p:cond delay="0"/>
                                  </p:stCondLst>
                                  <p:childTnLst>
                                    <p:set>
                                      <p:cBhvr>
                                        <p:cTn id="63" dur="1" fill="hold">
                                          <p:stCondLst>
                                            <p:cond delay="0"/>
                                          </p:stCondLst>
                                        </p:cTn>
                                        <p:tgtEl>
                                          <p:spTgt spid="3"/>
                                        </p:tgtEl>
                                        <p:attrNameLst>
                                          <p:attrName>style.visibility</p:attrName>
                                        </p:attrNameLst>
                                      </p:cBhvr>
                                      <p:to>
                                        <p:strVal val="visible"/>
                                      </p:to>
                                    </p:set>
                                    <p:animEffect transition="in" filter="wipe(left)">
                                      <p:cBhvr>
                                        <p:cTn id="64" dur="500"/>
                                        <p:tgtEl>
                                          <p:spTgt spid="3"/>
                                        </p:tgtEl>
                                      </p:cBhvr>
                                    </p:animEffect>
                                  </p:childTnLst>
                                </p:cTn>
                              </p:par>
                              <p:par>
                                <p:cTn id="65" presetID="22" presetClass="entr" presetSubtype="8" fill="hold" nodeType="with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wipe(left)">
                                      <p:cBhvr>
                                        <p:cTn id="6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bldLvl="0" animBg="1"/>
      <p:bldP spid="38" grpId="0" bldLvl="0" animBg="1"/>
      <p:bldP spid="40" grpId="0" bldLvl="0" animBg="1"/>
      <p:bldP spid="47"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99110" y="1704975"/>
            <a:ext cx="11264265" cy="4735195"/>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207454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rPr>
              <a:t>4.2.2  退出vi</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sp>
        <p:nvSpPr>
          <p:cNvPr id="10" name="剪去对角的矩形 9"/>
          <p:cNvSpPr/>
          <p:nvPr/>
        </p:nvSpPr>
        <p:spPr>
          <a:xfrm>
            <a:off x="5322570" y="2385060"/>
            <a:ext cx="6318885" cy="3950226"/>
          </a:xfrm>
          <a:prstGeom prst="snip2Diag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wrap="square">
            <a:spAutoFit/>
          </a:bodyPr>
          <a:lstStyle/>
          <a:p>
            <a:pPr indent="457200">
              <a:lnSpc>
                <a:spcPct val="150000"/>
              </a:lnSpc>
              <a:spcAft>
                <a:spcPts val="600"/>
              </a:spcAft>
            </a:pPr>
            <a:r>
              <a:rPr lang="zh-CN" altLang="en-US" sz="2000" dirty="0">
                <a:latin typeface="微软雅黑" panose="020B0503020204020204" charset="-122"/>
                <a:ea typeface="微软雅黑" panose="020B0503020204020204" charset="-122"/>
              </a:rPr>
              <a:t>应该强调的是，当利用vi编辑器编辑文本时，输入或修改的内容都存放在</a:t>
            </a:r>
            <a:r>
              <a:rPr lang="zh-CN" altLang="en-US" sz="2000" b="1" dirty="0">
                <a:solidFill>
                  <a:srgbClr val="0070C0"/>
                </a:solidFill>
                <a:latin typeface="微软雅黑" panose="020B0503020204020204" charset="-122"/>
                <a:ea typeface="微软雅黑" panose="020B0503020204020204" charset="-122"/>
              </a:rPr>
              <a:t>编辑缓冲区</a:t>
            </a:r>
            <a:r>
              <a:rPr lang="zh-CN" altLang="en-US" sz="2000" dirty="0">
                <a:latin typeface="微软雅黑" panose="020B0503020204020204" charset="-122"/>
                <a:ea typeface="微软雅黑" panose="020B0503020204020204" charset="-122"/>
              </a:rPr>
              <a:t>中，并没有存放在磁盘的文件中。如果没有使用写盘的命令而直接退出vi，那么编辑缓冲区中的内容就被</a:t>
            </a:r>
            <a:r>
              <a:rPr lang="zh-CN" altLang="en-US" sz="2000" b="1" dirty="0">
                <a:solidFill>
                  <a:srgbClr val="0070C0"/>
                </a:solidFill>
                <a:latin typeface="微软雅黑" panose="020B0503020204020204" charset="-122"/>
                <a:ea typeface="微软雅黑" panose="020B0503020204020204" charset="-122"/>
              </a:rPr>
              <a:t>丢弃了</a:t>
            </a:r>
            <a:r>
              <a:rPr lang="zh-CN" altLang="en-US" sz="2000" dirty="0">
                <a:latin typeface="微软雅黑" panose="020B0503020204020204" charset="-122"/>
                <a:ea typeface="微软雅黑" panose="020B0503020204020204" charset="-122"/>
              </a:rPr>
              <a:t>，即在此之前所做的编辑工作也就白费了。所以，退出vi时，应该考虑是否需要保存所编辑的内容，再执行合适的退出命令。</a:t>
            </a:r>
          </a:p>
        </p:txBody>
      </p:sp>
      <p:pic>
        <p:nvPicPr>
          <p:cNvPr id="3" name="图片 2" descr="退出"/>
          <p:cNvPicPr>
            <a:picLocks noChangeAspect="1"/>
          </p:cNvPicPr>
          <p:nvPr/>
        </p:nvPicPr>
        <p:blipFill>
          <a:blip r:embed="rId3" cstate="print"/>
          <a:stretch>
            <a:fillRect/>
          </a:stretch>
        </p:blipFill>
        <p:spPr>
          <a:xfrm>
            <a:off x="499110" y="2385060"/>
            <a:ext cx="4589145" cy="382460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trips(downRight)">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AutoShape 3"/>
          <p:cNvSpPr>
            <a:spLocks noChangeArrowheads="1"/>
          </p:cNvSpPr>
          <p:nvPr/>
        </p:nvSpPr>
        <p:spPr bwMode="auto">
          <a:xfrm>
            <a:off x="1555115" y="1776730"/>
            <a:ext cx="9341485" cy="4612005"/>
          </a:xfrm>
          <a:prstGeom prst="roundRect">
            <a:avLst>
              <a:gd name="adj" fmla="val 2773"/>
            </a:avLst>
          </a:prstGeom>
          <a:noFill/>
          <a:ln w="3175">
            <a:solidFill>
              <a:srgbClr val="333333"/>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6148" name="AutoShape 4"/>
          <p:cNvSpPr>
            <a:spLocks noChangeArrowheads="1"/>
          </p:cNvSpPr>
          <p:nvPr/>
        </p:nvSpPr>
        <p:spPr bwMode="auto">
          <a:xfrm>
            <a:off x="5062855" y="1310005"/>
            <a:ext cx="2147570" cy="869315"/>
          </a:xfrm>
          <a:prstGeom prst="roundRect">
            <a:avLst>
              <a:gd name="adj" fmla="val 15657"/>
            </a:avLst>
          </a:prstGeom>
          <a:solidFill>
            <a:schemeClr val="bg1"/>
          </a:solidFill>
          <a:ln w="3175">
            <a:solidFill>
              <a:srgbClr val="333333">
                <a:alpha val="56862"/>
              </a:srgbClr>
            </a:solidFill>
            <a:round/>
          </a:ln>
        </p:spPr>
        <p:txBody>
          <a:bodyPr wrap="none" anchor="ctr"/>
          <a:lstStyle/>
          <a:p>
            <a:pPr algn="ctr">
              <a:spcBef>
                <a:spcPct val="50000"/>
              </a:spcBef>
              <a:buFont typeface="Arial" panose="020B0604020202020204" pitchFamily="34" charset="0"/>
              <a:buNone/>
            </a:pPr>
            <a:r>
              <a:rPr lang="zh-CN" altLang="en-US" sz="3200" b="1">
                <a:latin typeface="微软雅黑" panose="020B0503020204020204" charset="-122"/>
                <a:ea typeface="微软雅黑" panose="020B0503020204020204" charset="-122"/>
              </a:rPr>
              <a:t>本章要点</a:t>
            </a:r>
          </a:p>
        </p:txBody>
      </p:sp>
      <p:sp>
        <p:nvSpPr>
          <p:cNvPr id="3" name="标题 1"/>
          <p:cNvSpPr>
            <a:spLocks noGrp="1"/>
          </p:cNvSpPr>
          <p:nvPr/>
        </p:nvSpPr>
        <p:spPr>
          <a:xfrm>
            <a:off x="3462655" y="310515"/>
            <a:ext cx="1133475" cy="561975"/>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defRPr>
            </a:lvl1pPr>
          </a:lstStyle>
          <a:p>
            <a:pPr fontAlgn="auto">
              <a:buFont typeface="Arial" panose="020B0604020202020204" pitchFamily="34" charset="0"/>
              <a:buNone/>
              <a:defRPr/>
            </a:pPr>
            <a:r>
              <a:rPr lang="zh-CN" altLang="en-US" noProof="1">
                <a:cs typeface="+mn-cs"/>
              </a:rPr>
              <a:t>目录</a:t>
            </a:r>
            <a:endParaRPr lang="zh-CN" altLang="en-US" noProof="1"/>
          </a:p>
        </p:txBody>
      </p:sp>
      <p:grpSp>
        <p:nvGrpSpPr>
          <p:cNvPr id="10" name="Group 5"/>
          <p:cNvGrpSpPr/>
          <p:nvPr/>
        </p:nvGrpSpPr>
        <p:grpSpPr bwMode="auto">
          <a:xfrm>
            <a:off x="6588125" y="5144770"/>
            <a:ext cx="3764280" cy="481330"/>
            <a:chOff x="3" y="0"/>
            <a:chExt cx="4243" cy="333"/>
          </a:xfrm>
        </p:grpSpPr>
        <p:grpSp>
          <p:nvGrpSpPr>
            <p:cNvPr id="11" name="Group 6"/>
            <p:cNvGrpSpPr/>
            <p:nvPr/>
          </p:nvGrpSpPr>
          <p:grpSpPr bwMode="auto">
            <a:xfrm>
              <a:off x="3" y="0"/>
              <a:ext cx="4243" cy="333"/>
              <a:chOff x="0" y="0"/>
              <a:chExt cx="4243" cy="333"/>
            </a:xfrm>
          </p:grpSpPr>
          <p:sp>
            <p:nvSpPr>
              <p:cNvPr id="1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4.8  ex命令</a:t>
              </a:r>
            </a:p>
          </p:txBody>
        </p:sp>
      </p:grpSp>
      <p:grpSp>
        <p:nvGrpSpPr>
          <p:cNvPr id="15" name="Group 5"/>
          <p:cNvGrpSpPr/>
          <p:nvPr/>
        </p:nvGrpSpPr>
        <p:grpSpPr bwMode="auto">
          <a:xfrm>
            <a:off x="6569075" y="4255135"/>
            <a:ext cx="3794760" cy="481330"/>
            <a:chOff x="3" y="0"/>
            <a:chExt cx="4243" cy="333"/>
          </a:xfrm>
        </p:grpSpPr>
        <p:grpSp>
          <p:nvGrpSpPr>
            <p:cNvPr id="16" name="Group 6"/>
            <p:cNvGrpSpPr/>
            <p:nvPr/>
          </p:nvGrpSpPr>
          <p:grpSpPr bwMode="auto">
            <a:xfrm>
              <a:off x="3" y="0"/>
              <a:ext cx="4243" cy="333"/>
              <a:chOff x="0" y="0"/>
              <a:chExt cx="4243" cy="333"/>
            </a:xfrm>
          </p:grpSpPr>
          <p:sp>
            <p:nvSpPr>
              <p:cNvPr id="1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4.7  文本修改</a:t>
              </a:r>
            </a:p>
          </p:txBody>
        </p:sp>
      </p:grpSp>
      <p:grpSp>
        <p:nvGrpSpPr>
          <p:cNvPr id="20" name="Group 5"/>
          <p:cNvGrpSpPr/>
          <p:nvPr/>
        </p:nvGrpSpPr>
        <p:grpSpPr bwMode="auto">
          <a:xfrm>
            <a:off x="2021205" y="2421255"/>
            <a:ext cx="4041140" cy="481330"/>
            <a:chOff x="3" y="0"/>
            <a:chExt cx="4243" cy="333"/>
          </a:xfrm>
        </p:grpSpPr>
        <p:grpSp>
          <p:nvGrpSpPr>
            <p:cNvPr id="21" name="Group 6"/>
            <p:cNvGrpSpPr/>
            <p:nvPr/>
          </p:nvGrpSpPr>
          <p:grpSpPr bwMode="auto">
            <a:xfrm>
              <a:off x="3" y="0"/>
              <a:ext cx="4243" cy="333"/>
              <a:chOff x="0" y="0"/>
              <a:chExt cx="4243" cy="333"/>
            </a:xfrm>
          </p:grpSpPr>
          <p:sp>
            <p:nvSpPr>
              <p:cNvPr id="2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4.1  vi的工作方式</a:t>
              </a:r>
            </a:p>
          </p:txBody>
        </p:sp>
      </p:grpSp>
      <p:grpSp>
        <p:nvGrpSpPr>
          <p:cNvPr id="25" name="Group 5"/>
          <p:cNvGrpSpPr/>
          <p:nvPr/>
        </p:nvGrpSpPr>
        <p:grpSpPr bwMode="auto">
          <a:xfrm>
            <a:off x="2046605" y="4229735"/>
            <a:ext cx="4091940" cy="481330"/>
            <a:chOff x="3" y="0"/>
            <a:chExt cx="4243" cy="333"/>
          </a:xfrm>
        </p:grpSpPr>
        <p:grpSp>
          <p:nvGrpSpPr>
            <p:cNvPr id="26" name="Group 6"/>
            <p:cNvGrpSpPr/>
            <p:nvPr/>
          </p:nvGrpSpPr>
          <p:grpSpPr bwMode="auto">
            <a:xfrm>
              <a:off x="3" y="0"/>
              <a:ext cx="4243" cy="333"/>
              <a:chOff x="0" y="0"/>
              <a:chExt cx="4243" cy="333"/>
            </a:xfrm>
          </p:grpSpPr>
          <p:sp>
            <p:nvSpPr>
              <p:cNvPr id="27" name="AutoShape 7"/>
              <p:cNvSpPr>
                <a:spLocks noChangeArrowheads="1"/>
              </p:cNvSpPr>
              <p:nvPr/>
            </p:nvSpPr>
            <p:spPr bwMode="auto">
              <a:xfrm>
                <a:off x="0" y="0"/>
                <a:ext cx="4243" cy="333"/>
              </a:xfrm>
              <a:prstGeom prst="roundRect">
                <a:avLst>
                  <a:gd name="adj" fmla="val 15657"/>
                </a:avLst>
              </a:prstGeom>
              <a:solidFill>
                <a:srgbClr val="00B0F0"/>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tx1"/>
                  </a:solidFill>
                  <a:latin typeface="微软雅黑" panose="020B0503020204020204" charset="-122"/>
                  <a:ea typeface="微软雅黑" panose="020B0503020204020204" charset="-122"/>
                  <a:sym typeface="Arial Unicode MS" panose="020B0604020202020204" pitchFamily="34" charset="-122"/>
                </a:rPr>
                <a:t>4.</a:t>
              </a:r>
              <a:r>
                <a:rPr lang="en-US" altLang="zh-CN" sz="2000" b="1">
                  <a:solidFill>
                    <a:schemeClr val="tx1"/>
                  </a:solidFill>
                  <a:latin typeface="微软雅黑" panose="020B0503020204020204" charset="-122"/>
                  <a:ea typeface="微软雅黑" panose="020B0503020204020204" charset="-122"/>
                  <a:sym typeface="Arial Unicode MS" panose="020B0604020202020204" pitchFamily="34" charset="-122"/>
                </a:rPr>
                <a:t>3</a:t>
              </a:r>
              <a:r>
                <a:rPr lang="zh-CN" altLang="en-US" sz="2000" b="1">
                  <a:solidFill>
                    <a:schemeClr val="tx1"/>
                  </a:solidFill>
                  <a:latin typeface="微软雅黑" panose="020B0503020204020204" charset="-122"/>
                  <a:ea typeface="微软雅黑" panose="020B0503020204020204" charset="-122"/>
                  <a:sym typeface="Arial Unicode MS" panose="020B0604020202020204" pitchFamily="34" charset="-122"/>
                </a:rPr>
                <a:t>  文本输入</a:t>
              </a:r>
            </a:p>
          </p:txBody>
        </p:sp>
      </p:grpSp>
      <p:grpSp>
        <p:nvGrpSpPr>
          <p:cNvPr id="30" name="Group 5"/>
          <p:cNvGrpSpPr/>
          <p:nvPr/>
        </p:nvGrpSpPr>
        <p:grpSpPr bwMode="auto">
          <a:xfrm>
            <a:off x="1999615" y="3302000"/>
            <a:ext cx="4074160" cy="481330"/>
            <a:chOff x="3" y="0"/>
            <a:chExt cx="4243" cy="333"/>
          </a:xfrm>
        </p:grpSpPr>
        <p:grpSp>
          <p:nvGrpSpPr>
            <p:cNvPr id="31" name="Group 6"/>
            <p:cNvGrpSpPr/>
            <p:nvPr/>
          </p:nvGrpSpPr>
          <p:grpSpPr bwMode="auto">
            <a:xfrm>
              <a:off x="3" y="0"/>
              <a:ext cx="4243" cy="333"/>
              <a:chOff x="0" y="0"/>
              <a:chExt cx="4243" cy="333"/>
            </a:xfrm>
          </p:grpSpPr>
          <p:sp>
            <p:nvSpPr>
              <p:cNvPr id="3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a:t>
              </a:r>
              <a:r>
                <a:rPr lang="en-US" altLang="zh-CN"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2 </a:t>
              </a: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 </a:t>
              </a:r>
              <a:r>
                <a:rPr lang="en-US" altLang="zh-CN"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vi</a:t>
              </a: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的启动和退出</a:t>
              </a:r>
            </a:p>
          </p:txBody>
        </p:sp>
      </p:grpSp>
      <p:grpSp>
        <p:nvGrpSpPr>
          <p:cNvPr id="35" name="Group 5"/>
          <p:cNvGrpSpPr/>
          <p:nvPr/>
        </p:nvGrpSpPr>
        <p:grpSpPr bwMode="auto">
          <a:xfrm>
            <a:off x="2046605" y="5113020"/>
            <a:ext cx="4037330" cy="481330"/>
            <a:chOff x="3" y="0"/>
            <a:chExt cx="4243" cy="333"/>
          </a:xfrm>
        </p:grpSpPr>
        <p:grpSp>
          <p:nvGrpSpPr>
            <p:cNvPr id="36" name="Group 6"/>
            <p:cNvGrpSpPr/>
            <p:nvPr/>
          </p:nvGrpSpPr>
          <p:grpSpPr bwMode="auto">
            <a:xfrm>
              <a:off x="3" y="0"/>
              <a:ext cx="4243" cy="333"/>
              <a:chOff x="0" y="0"/>
              <a:chExt cx="4243" cy="333"/>
            </a:xfrm>
          </p:grpSpPr>
          <p:sp>
            <p:nvSpPr>
              <p:cNvPr id="3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9" name="Text Box 9"/>
            <p:cNvSpPr txBox="1">
              <a:spLocks noChangeArrowheads="1"/>
            </p:cNvSpPr>
            <p:nvPr/>
          </p:nvSpPr>
          <p:spPr bwMode="auto">
            <a:xfrm>
              <a:off x="879" y="34"/>
              <a:ext cx="3004"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4.4  打开文件</a:t>
              </a:r>
            </a:p>
          </p:txBody>
        </p:sp>
      </p:grpSp>
      <p:grpSp>
        <p:nvGrpSpPr>
          <p:cNvPr id="40" name="Group 5"/>
          <p:cNvGrpSpPr/>
          <p:nvPr/>
        </p:nvGrpSpPr>
        <p:grpSpPr bwMode="auto">
          <a:xfrm>
            <a:off x="6516370" y="2437130"/>
            <a:ext cx="3808095" cy="481330"/>
            <a:chOff x="3" y="0"/>
            <a:chExt cx="4243" cy="333"/>
          </a:xfrm>
        </p:grpSpPr>
        <p:grpSp>
          <p:nvGrpSpPr>
            <p:cNvPr id="41" name="Group 6"/>
            <p:cNvGrpSpPr/>
            <p:nvPr/>
          </p:nvGrpSpPr>
          <p:grpSpPr bwMode="auto">
            <a:xfrm>
              <a:off x="3" y="0"/>
              <a:ext cx="4243" cy="333"/>
              <a:chOff x="0" y="0"/>
              <a:chExt cx="4243" cy="333"/>
            </a:xfrm>
          </p:grpSpPr>
          <p:sp>
            <p:nvSpPr>
              <p:cNvPr id="4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4.5  保存文件</a:t>
              </a:r>
            </a:p>
          </p:txBody>
        </p:sp>
      </p:grpSp>
      <p:grpSp>
        <p:nvGrpSpPr>
          <p:cNvPr id="45" name="Group 5"/>
          <p:cNvGrpSpPr/>
          <p:nvPr/>
        </p:nvGrpSpPr>
        <p:grpSpPr bwMode="auto">
          <a:xfrm>
            <a:off x="6548120" y="3333750"/>
            <a:ext cx="3775710" cy="481330"/>
            <a:chOff x="3" y="0"/>
            <a:chExt cx="4243" cy="333"/>
          </a:xfrm>
        </p:grpSpPr>
        <p:grpSp>
          <p:nvGrpSpPr>
            <p:cNvPr id="46" name="Group 6"/>
            <p:cNvGrpSpPr/>
            <p:nvPr/>
          </p:nvGrpSpPr>
          <p:grpSpPr bwMode="auto">
            <a:xfrm>
              <a:off x="3" y="0"/>
              <a:ext cx="4243" cy="333"/>
              <a:chOff x="0" y="0"/>
              <a:chExt cx="4243" cy="333"/>
            </a:xfrm>
          </p:grpSpPr>
          <p:sp>
            <p:nvSpPr>
              <p:cNvPr id="4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4.6  移动光标</a:t>
              </a:r>
            </a:p>
          </p:txBody>
        </p:sp>
      </p:grpSp>
    </p:spTree>
  </p:cSld>
  <p:clrMapOvr>
    <a:masterClrMapping/>
  </p:clrMapOvr>
  <p:transition>
    <p:randomBa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034155" y="1325880"/>
            <a:ext cx="7667625" cy="5293995"/>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grpSp>
        <p:nvGrpSpPr>
          <p:cNvPr id="5" name="组合 4"/>
          <p:cNvGrpSpPr/>
          <p:nvPr/>
        </p:nvGrpSpPr>
        <p:grpSpPr>
          <a:xfrm>
            <a:off x="4394835" y="1334770"/>
            <a:ext cx="2786380" cy="530225"/>
            <a:chOff x="7233" y="2102"/>
            <a:chExt cx="4388" cy="835"/>
          </a:xfrm>
        </p:grpSpPr>
        <p:sp>
          <p:nvSpPr>
            <p:cNvPr id="22" name="矩形 6"/>
            <p:cNvSpPr>
              <a:spLocks noChangeArrowheads="1"/>
            </p:cNvSpPr>
            <p:nvPr/>
          </p:nvSpPr>
          <p:spPr bwMode="auto">
            <a:xfrm>
              <a:off x="7923" y="2102"/>
              <a:ext cx="369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rPr>
                <a:t>4.3.1  插入命令</a:t>
              </a:r>
            </a:p>
          </p:txBody>
        </p:sp>
        <p:sp>
          <p:nvSpPr>
            <p:cNvPr id="23" name="椭圆 22"/>
            <p:cNvSpPr/>
            <p:nvPr/>
          </p:nvSpPr>
          <p:spPr bwMode="auto">
            <a:xfrm>
              <a:off x="7233" y="2284"/>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grpSp>
        <p:nvGrpSpPr>
          <p:cNvPr id="3" name="组合 14"/>
          <p:cNvGrpSpPr/>
          <p:nvPr/>
        </p:nvGrpSpPr>
        <p:grpSpPr bwMode="auto">
          <a:xfrm>
            <a:off x="4636770" y="4245610"/>
            <a:ext cx="6673850" cy="2314575"/>
            <a:chOff x="1037496" y="1786456"/>
            <a:chExt cx="10046052" cy="1713982"/>
          </a:xfrm>
        </p:grpSpPr>
        <p:grpSp>
          <p:nvGrpSpPr>
            <p:cNvPr id="4" name="组合 12"/>
            <p:cNvGrpSpPr/>
            <p:nvPr/>
          </p:nvGrpSpPr>
          <p:grpSpPr bwMode="auto">
            <a:xfrm>
              <a:off x="1037496" y="1786456"/>
              <a:ext cx="10046052" cy="1713982"/>
              <a:chOff x="1037496" y="1786456"/>
              <a:chExt cx="10046052" cy="1713982"/>
            </a:xfrm>
          </p:grpSpPr>
          <p:sp>
            <p:nvSpPr>
              <p:cNvPr id="6" name="矩形 5"/>
              <p:cNvSpPr/>
              <p:nvPr/>
            </p:nvSpPr>
            <p:spPr>
              <a:xfrm>
                <a:off x="1037496"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7" name="矩形 6"/>
              <p:cNvSpPr>
                <a:spLocks noChangeArrowheads="1"/>
              </p:cNvSpPr>
              <p:nvPr/>
            </p:nvSpPr>
            <p:spPr bwMode="auto">
              <a:xfrm>
                <a:off x="1225104" y="1787887"/>
                <a:ext cx="9858444" cy="311291"/>
              </a:xfrm>
              <a:prstGeom prst="rect">
                <a:avLst/>
              </a:prstGeom>
              <a:noFill/>
              <a:ln w="9525">
                <a:noFill/>
                <a:miter lim="800000"/>
              </a:ln>
            </p:spPr>
            <p:txBody>
              <a:bodyPr wrap="square">
                <a:spAutoFit/>
              </a:bodyPr>
              <a:lstStyle/>
              <a:p>
                <a:pPr indent="0" eaLnBrk="1" latinLnBrk="0" hangingPunct="1">
                  <a:lnSpc>
                    <a:spcPct val="120000"/>
                  </a:lnSpc>
                  <a:spcAft>
                    <a:spcPts val="500"/>
                  </a:spcAft>
                  <a:buFont typeface="Arial" panose="020B0604020202020204" pitchFamily="34" charset="0"/>
                  <a:buNone/>
                </a:pPr>
                <a:r>
                  <a:rPr sz="1800" b="1">
                    <a:solidFill>
                      <a:srgbClr val="00B050"/>
                    </a:solidFill>
                    <a:latin typeface="微软雅黑" panose="020B0503020204020204" charset="-122"/>
                    <a:ea typeface="微软雅黑" panose="020B0503020204020204" charset="-122"/>
                    <a:cs typeface="华康俪金黑W8(P)"/>
                  </a:rPr>
                  <a:t>例如，屏幕初始显示为：</a:t>
                </a:r>
              </a:p>
            </p:txBody>
          </p:sp>
        </p:grpSp>
        <p:sp>
          <p:nvSpPr>
            <p:cNvPr id="8" name="MH_Text_1"/>
            <p:cNvSpPr txBox="1">
              <a:spLocks noChangeArrowheads="1"/>
            </p:cNvSpPr>
            <p:nvPr>
              <p:custDataLst>
                <p:tags r:id="rId1"/>
              </p:custDataLst>
            </p:nvPr>
          </p:nvSpPr>
          <p:spPr bwMode="auto">
            <a:xfrm>
              <a:off x="1139773" y="2099158"/>
              <a:ext cx="9653195" cy="1401280"/>
            </a:xfrm>
            <a:prstGeom prst="rect">
              <a:avLst/>
            </a:prstGeom>
            <a:solidFill>
              <a:srgbClr val="F2F2F2"/>
            </a:solidFill>
            <a:ln w="9525">
              <a:noFill/>
              <a:miter lim="800000"/>
            </a:ln>
          </p:spPr>
          <p:txBody>
            <a:bodyPr/>
            <a:lstStyle/>
            <a:p>
              <a:pPr indent="0" algn="l" eaLnBrk="1" fontAlgn="auto" latinLnBrk="0" hangingPunct="1">
                <a:lnSpc>
                  <a:spcPct val="10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/*this  is  an  example */</a:t>
              </a:r>
            </a:p>
            <a:p>
              <a:pPr indent="0" algn="l" eaLnBrk="1" fontAlgn="auto" latinLnBrk="0" hangingPunct="1">
                <a:lnSpc>
                  <a:spcPct val="10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main()</a:t>
              </a:r>
            </a:p>
            <a:p>
              <a:pPr indent="0" algn="l" eaLnBrk="1" fontAlgn="auto" latinLnBrk="0" hangingPunct="1">
                <a:lnSpc>
                  <a:spcPct val="10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a:t>
              </a:r>
            </a:p>
            <a:p>
              <a:pPr indent="0" algn="l" eaLnBrk="1" fontAlgn="auto" latinLnBrk="0" hangingPunct="1">
                <a:lnSpc>
                  <a:spcPct val="10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a,b=10</a:t>
              </a:r>
              <a:r>
                <a:rPr lang="zh-CN" altLang="en-US" sz="1800" b="1" u="sng" dirty="0">
                  <a:solidFill>
                    <a:srgbClr val="0070C0"/>
                  </a:solidFill>
                  <a:latin typeface="微软雅黑" panose="020B0503020204020204" charset="-122"/>
                  <a:ea typeface="微软雅黑" panose="020B0503020204020204" charset="-122"/>
                  <a:cs typeface="+mn-cs"/>
                  <a:sym typeface="+mn-ea"/>
                </a:rPr>
                <a:t>；</a:t>
              </a:r>
            </a:p>
            <a:p>
              <a:pPr indent="0" algn="l" eaLnBrk="1" fontAlgn="auto" latinLnBrk="0" hangingPunct="1">
                <a:lnSpc>
                  <a:spcPct val="10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printf("%d\n",a=b*2);</a:t>
              </a:r>
            </a:p>
            <a:p>
              <a:pPr indent="0" algn="l" eaLnBrk="1" fontAlgn="auto" latinLnBrk="0" hangingPunct="1">
                <a:lnSpc>
                  <a:spcPct val="10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a:t>
              </a:r>
            </a:p>
            <a:p>
              <a:pPr indent="0" algn="l" eaLnBrk="1" fontAlgn="auto" latinLnBrk="0" hangingPunct="1">
                <a:lnSpc>
                  <a:spcPct val="10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a:t>
              </a:r>
            </a:p>
          </p:txBody>
        </p:sp>
      </p:grpSp>
      <p:sp>
        <p:nvSpPr>
          <p:cNvPr id="46" name="Text Box 44"/>
          <p:cNvSpPr txBox="1">
            <a:spLocks noChangeArrowheads="1"/>
          </p:cNvSpPr>
          <p:nvPr/>
        </p:nvSpPr>
        <p:spPr bwMode="auto">
          <a:xfrm>
            <a:off x="4125595" y="1834515"/>
            <a:ext cx="7493000" cy="222504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dirty="0">
                <a:solidFill>
                  <a:schemeClr val="tx1">
                    <a:lumMod val="85000"/>
                    <a:lumOff val="15000"/>
                  </a:schemeClr>
                </a:solidFill>
              </a:rPr>
              <a:t>插入命令有两个，即i和I。</a:t>
            </a:r>
          </a:p>
          <a:p>
            <a:pPr eaLnBrk="1" latinLnBrk="0" hangingPunct="1">
              <a:lnSpc>
                <a:spcPct val="140000"/>
              </a:lnSpc>
            </a:pPr>
            <a:r>
              <a:rPr lang="zh-CN" altLang="en-US" sz="2000" dirty="0">
                <a:solidFill>
                  <a:schemeClr val="tx1">
                    <a:lumMod val="85000"/>
                    <a:lumOff val="15000"/>
                  </a:schemeClr>
                </a:solidFill>
              </a:rPr>
              <a:t>（1）在</a:t>
            </a:r>
            <a:r>
              <a:rPr lang="zh-CN" altLang="en-US" sz="2000" dirty="0">
                <a:solidFill>
                  <a:srgbClr val="FF0000"/>
                </a:solidFill>
              </a:rPr>
              <a:t>i命令</a:t>
            </a:r>
            <a:r>
              <a:rPr lang="zh-CN" altLang="en-US" sz="2000" dirty="0">
                <a:solidFill>
                  <a:schemeClr val="tx1">
                    <a:lumMod val="85000"/>
                    <a:lumOff val="15000"/>
                  </a:schemeClr>
                </a:solidFill>
              </a:rPr>
              <a:t>之后输入的内容都</a:t>
            </a:r>
            <a:r>
              <a:rPr lang="zh-CN" altLang="en-US" sz="2000" dirty="0">
                <a:solidFill>
                  <a:srgbClr val="FF0000"/>
                </a:solidFill>
              </a:rPr>
              <a:t>插在光标位置之前</a:t>
            </a:r>
            <a:r>
              <a:rPr lang="zh-CN" altLang="en-US" sz="2000" dirty="0">
                <a:solidFill>
                  <a:schemeClr val="tx1">
                    <a:lumMod val="85000"/>
                    <a:lumOff val="15000"/>
                  </a:schemeClr>
                </a:solidFill>
              </a:rPr>
              <a:t>，光标后的文本相应向右移动。如按</a:t>
            </a:r>
            <a:r>
              <a:rPr lang="zh-CN" altLang="en-US" sz="2000" b="1" dirty="0">
                <a:solidFill>
                  <a:srgbClr val="0070C0"/>
                </a:solidFill>
              </a:rPr>
              <a:t>【Enter】键</a:t>
            </a:r>
            <a:r>
              <a:rPr lang="zh-CN" altLang="en-US" sz="2000" dirty="0">
                <a:solidFill>
                  <a:schemeClr val="tx1">
                    <a:lumMod val="85000"/>
                    <a:lumOff val="15000"/>
                  </a:schemeClr>
                </a:solidFill>
              </a:rPr>
              <a:t>，就插入新的一行或者换行。</a:t>
            </a:r>
          </a:p>
          <a:p>
            <a:pPr eaLnBrk="1" latinLnBrk="0" hangingPunct="1">
              <a:lnSpc>
                <a:spcPct val="140000"/>
              </a:lnSpc>
            </a:pPr>
            <a:r>
              <a:rPr lang="zh-CN" altLang="en-US" sz="2000" dirty="0">
                <a:solidFill>
                  <a:schemeClr val="tx1">
                    <a:lumMod val="85000"/>
                    <a:lumOff val="15000"/>
                  </a:schemeClr>
                </a:solidFill>
              </a:rPr>
              <a:t>（2）输入</a:t>
            </a:r>
            <a:r>
              <a:rPr lang="zh-CN" altLang="en-US" sz="2000" dirty="0">
                <a:solidFill>
                  <a:srgbClr val="FF0000"/>
                </a:solidFill>
              </a:rPr>
              <a:t>I命令</a:t>
            </a:r>
            <a:r>
              <a:rPr lang="zh-CN" altLang="en-US" sz="2000" dirty="0">
                <a:solidFill>
                  <a:schemeClr val="tx1">
                    <a:lumMod val="85000"/>
                    <a:lumOff val="15000"/>
                  </a:schemeClr>
                </a:solidFill>
              </a:rPr>
              <a:t>后，光标所在行的</a:t>
            </a:r>
            <a:r>
              <a:rPr lang="zh-CN" altLang="en-US" sz="2000" dirty="0">
                <a:solidFill>
                  <a:srgbClr val="FF0000"/>
                </a:solidFill>
              </a:rPr>
              <a:t>行首</a:t>
            </a:r>
            <a:r>
              <a:rPr lang="zh-CN" altLang="en-US" sz="2000" dirty="0">
                <a:solidFill>
                  <a:schemeClr val="tx1">
                    <a:lumMod val="85000"/>
                    <a:lumOff val="15000"/>
                  </a:schemeClr>
                </a:solidFill>
              </a:rPr>
              <a:t>插入新增文本，行首是该行的第一个非空白字符。   </a:t>
            </a:r>
          </a:p>
        </p:txBody>
      </p:sp>
      <p:sp>
        <p:nvSpPr>
          <p:cNvPr id="2" name="AutoShape 2"/>
          <p:cNvSpPr/>
          <p:nvPr/>
        </p:nvSpPr>
        <p:spPr>
          <a:xfrm>
            <a:off x="422910" y="2021840"/>
            <a:ext cx="3477260" cy="3901440"/>
          </a:xfrm>
          <a:prstGeom prst="roundRect">
            <a:avLst>
              <a:gd name="adj" fmla="val 5370"/>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457200" eaLnBrk="1" latinLnBrk="0" hangingPunct="1">
              <a:lnSpc>
                <a:spcPct val="150000"/>
              </a:lnSpc>
              <a:buClr>
                <a:schemeClr val="accent2"/>
              </a:buClr>
              <a:buFont typeface="Wingdings" panose="05000000000000000000" pitchFamily="2" charset="2"/>
              <a:buNone/>
            </a:pPr>
            <a:r>
              <a:rPr lang="en-US" altLang="zh-CN" sz="2000" dirty="0">
                <a:latin typeface="微软雅黑" panose="020B0503020204020204" charset="-122"/>
                <a:ea typeface="微软雅黑" panose="020B0503020204020204" charset="-122"/>
                <a:sym typeface="+mn-ea"/>
              </a:rPr>
              <a:t>如果想新建一个文件或者想对已存在的文件进行添加或者要做较多修改，就要在输入方式下</a:t>
            </a:r>
            <a:r>
              <a:rPr lang="en-US" altLang="zh-CN" sz="2000" b="1" dirty="0">
                <a:solidFill>
                  <a:srgbClr val="0070C0"/>
                </a:solidFill>
                <a:latin typeface="微软雅黑" panose="020B0503020204020204" charset="-122"/>
                <a:ea typeface="微软雅黑" panose="020B0503020204020204" charset="-122"/>
                <a:sym typeface="+mn-ea"/>
              </a:rPr>
              <a:t>输入新的文本</a:t>
            </a:r>
            <a:r>
              <a:rPr lang="en-US" altLang="zh-CN" sz="2000" dirty="0">
                <a:latin typeface="微软雅黑" panose="020B0503020204020204" charset="-122"/>
                <a:ea typeface="微软雅黑" panose="020B0503020204020204" charset="-122"/>
                <a:sym typeface="+mn-ea"/>
              </a:rPr>
              <a:t>。文本插入命令总是进入输入方式。以下命令是纯粹的</a:t>
            </a:r>
            <a:r>
              <a:rPr lang="en-US" altLang="zh-CN" sz="2000" b="1" dirty="0">
                <a:solidFill>
                  <a:srgbClr val="0070C0"/>
                </a:solidFill>
                <a:latin typeface="微软雅黑" panose="020B0503020204020204" charset="-122"/>
                <a:ea typeface="微软雅黑" panose="020B0503020204020204" charset="-122"/>
                <a:sym typeface="+mn-ea"/>
              </a:rPr>
              <a:t>插入命令</a:t>
            </a:r>
            <a:r>
              <a:rPr lang="en-US" altLang="zh-CN" sz="2000" dirty="0">
                <a:latin typeface="微软雅黑" panose="020B0503020204020204" charset="-122"/>
                <a:ea typeface="微软雅黑" panose="020B0503020204020204" charset="-122"/>
                <a:sym typeface="+mn-ea"/>
              </a:rPr>
              <a:t>，使用时不会删除文本。</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par>
                          <p:cTn id="12" fill="hold">
                            <p:stCondLst>
                              <p:cond delay="1000"/>
                            </p:stCondLst>
                            <p:childTnLst>
                              <p:par>
                                <p:cTn id="13" presetID="18" presetClass="entr" presetSubtype="6" fill="hold" grpId="0"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strips(downRight)">
                                      <p:cBhvr>
                                        <p:cTn id="15" dur="500"/>
                                        <p:tgtEl>
                                          <p:spTgt spid="46"/>
                                        </p:tgtEl>
                                      </p:cBhvr>
                                    </p:animEffect>
                                  </p:childTnLst>
                                </p:cTn>
                              </p:par>
                              <p:par>
                                <p:cTn id="16" presetID="18" presetClass="entr" presetSubtype="6"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strips(downRight)">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ldLvl="0"/>
      <p:bldP spid="2"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508000" y="1718310"/>
            <a:ext cx="11194415" cy="48044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250063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rPr>
              <a:t>4.3.1  插入命令</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3" name="组合 2"/>
          <p:cNvGrpSpPr/>
          <p:nvPr/>
        </p:nvGrpSpPr>
        <p:grpSpPr bwMode="auto">
          <a:xfrm>
            <a:off x="1137285" y="2021205"/>
            <a:ext cx="5098415" cy="2815590"/>
            <a:chOff x="1037496" y="1786456"/>
            <a:chExt cx="10054688" cy="1713982"/>
          </a:xfrm>
        </p:grpSpPr>
        <p:grpSp>
          <p:nvGrpSpPr>
            <p:cNvPr id="4" name="组合 12"/>
            <p:cNvGrpSpPr/>
            <p:nvPr/>
          </p:nvGrpSpPr>
          <p:grpSpPr bwMode="auto">
            <a:xfrm>
              <a:off x="1037496" y="1786456"/>
              <a:ext cx="10054688" cy="1713982"/>
              <a:chOff x="1037496" y="1786456"/>
              <a:chExt cx="10054688" cy="1713982"/>
            </a:xfrm>
          </p:grpSpPr>
          <p:sp>
            <p:nvSpPr>
              <p:cNvPr id="6" name="矩形 5"/>
              <p:cNvSpPr/>
              <p:nvPr/>
            </p:nvSpPr>
            <p:spPr>
              <a:xfrm>
                <a:off x="1037496"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7" name="矩形 6"/>
              <p:cNvSpPr>
                <a:spLocks noChangeArrowheads="1"/>
              </p:cNvSpPr>
              <p:nvPr/>
            </p:nvSpPr>
            <p:spPr bwMode="auto">
              <a:xfrm>
                <a:off x="1233740" y="1787887"/>
                <a:ext cx="9858444" cy="255899"/>
              </a:xfrm>
              <a:prstGeom prst="rect">
                <a:avLst/>
              </a:prstGeom>
              <a:noFill/>
              <a:ln w="9525">
                <a:noFill/>
                <a:miter lim="800000"/>
              </a:ln>
            </p:spPr>
            <p:txBody>
              <a:bodyPr wrap="square">
                <a:spAutoFit/>
              </a:bodyPr>
              <a:lstStyle/>
              <a:p>
                <a:pPr indent="0" eaLnBrk="1" latinLnBrk="0" hangingPunct="1">
                  <a:lnSpc>
                    <a:spcPct val="120000"/>
                  </a:lnSpc>
                  <a:spcAft>
                    <a:spcPts val="500"/>
                  </a:spcAft>
                  <a:buFont typeface="Arial" panose="020B0604020202020204" pitchFamily="34" charset="0"/>
                  <a:buNone/>
                </a:pPr>
                <a:r>
                  <a:rPr sz="1800" b="1">
                    <a:solidFill>
                      <a:srgbClr val="009900"/>
                    </a:solidFill>
                    <a:latin typeface="微软雅黑" panose="020B0503020204020204" charset="-122"/>
                    <a:ea typeface="微软雅黑" panose="020B0503020204020204" charset="-122"/>
                    <a:cs typeface="华康俪金黑W8(P)"/>
                  </a:rPr>
                  <a:t>输入</a:t>
                </a:r>
                <a:r>
                  <a:rPr sz="1800" b="1">
                    <a:solidFill>
                      <a:srgbClr val="FF0000"/>
                    </a:solidFill>
                    <a:latin typeface="微软雅黑" panose="020B0503020204020204" charset="-122"/>
                    <a:ea typeface="微软雅黑" panose="020B0503020204020204" charset="-122"/>
                    <a:cs typeface="华康俪金黑W8(P)"/>
                  </a:rPr>
                  <a:t>I命令</a:t>
                </a:r>
                <a:r>
                  <a:rPr sz="1800" b="1">
                    <a:solidFill>
                      <a:srgbClr val="009900"/>
                    </a:solidFill>
                    <a:latin typeface="微软雅黑" panose="020B0503020204020204" charset="-122"/>
                    <a:ea typeface="微软雅黑" panose="020B0503020204020204" charset="-122"/>
                    <a:cs typeface="华康俪金黑W8(P)"/>
                  </a:rPr>
                  <a:t>后，光标就移到行首，屏幕显示为：</a:t>
                </a:r>
              </a:p>
            </p:txBody>
          </p:sp>
        </p:grpSp>
        <p:sp>
          <p:nvSpPr>
            <p:cNvPr id="8" name="MH_Text_1"/>
            <p:cNvSpPr txBox="1">
              <a:spLocks noChangeArrowheads="1"/>
            </p:cNvSpPr>
            <p:nvPr>
              <p:custDataLst>
                <p:tags r:id="rId2"/>
              </p:custDataLst>
            </p:nvPr>
          </p:nvSpPr>
          <p:spPr bwMode="auto">
            <a:xfrm>
              <a:off x="1140184" y="2064458"/>
              <a:ext cx="9652701" cy="1412373"/>
            </a:xfrm>
            <a:prstGeom prst="rect">
              <a:avLst/>
            </a:prstGeom>
            <a:solidFill>
              <a:srgbClr val="F2F2F2"/>
            </a:solidFill>
            <a:ln w="9525">
              <a:noFill/>
              <a:miter lim="800000"/>
            </a:ln>
          </p:spPr>
          <p:txBody>
            <a:bodyPr/>
            <a:lstStyle/>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this  is  an example */ </a:t>
              </a:r>
            </a:p>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main() </a:t>
              </a:r>
            </a:p>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a:t>
              </a:r>
            </a:p>
            <a:p>
              <a:pPr indent="0" algn="l" eaLnBrk="1" fontAlgn="auto" latinLnBrk="0" hangingPunct="1">
                <a:lnSpc>
                  <a:spcPct val="120000"/>
                </a:lnSpc>
                <a:buFont typeface="Arial" panose="020B0604020202020204" pitchFamily="34" charset="0"/>
                <a:buNone/>
                <a:defRPr/>
              </a:pPr>
              <a:r>
                <a:rPr lang="zh-CN" altLang="en-US" sz="1800" b="1" u="sng" dirty="0">
                  <a:solidFill>
                    <a:srgbClr val="FF0000"/>
                  </a:solidFill>
                  <a:latin typeface="微软雅黑" panose="020B0503020204020204" charset="-122"/>
                  <a:ea typeface="微软雅黑" panose="020B0503020204020204" charset="-122"/>
                  <a:cs typeface="+mn-cs"/>
                  <a:sym typeface="+mn-ea"/>
                </a:rPr>
                <a:t>a</a:t>
              </a:r>
              <a:r>
                <a:rPr lang="zh-CN" altLang="en-US" sz="1800" b="1" dirty="0">
                  <a:solidFill>
                    <a:srgbClr val="0070C0"/>
                  </a:solidFill>
                  <a:latin typeface="微软雅黑" panose="020B0503020204020204" charset="-122"/>
                  <a:ea typeface="微软雅黑" panose="020B0503020204020204" charset="-122"/>
                  <a:cs typeface="+mn-cs"/>
                  <a:sym typeface="+mn-ea"/>
                </a:rPr>
                <a:t>,b=10;</a:t>
              </a:r>
            </a:p>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printf("%d\n",a=b*2);</a:t>
              </a:r>
            </a:p>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a:t>
              </a:r>
            </a:p>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a:t>
              </a:r>
            </a:p>
          </p:txBody>
        </p:sp>
      </p:grpSp>
      <p:grpSp>
        <p:nvGrpSpPr>
          <p:cNvPr id="9" name="组合 14"/>
          <p:cNvGrpSpPr/>
          <p:nvPr/>
        </p:nvGrpSpPr>
        <p:grpSpPr bwMode="auto">
          <a:xfrm>
            <a:off x="5476240" y="3135630"/>
            <a:ext cx="5098415" cy="3310890"/>
            <a:chOff x="1037496" y="1786456"/>
            <a:chExt cx="10054688" cy="1713982"/>
          </a:xfrm>
        </p:grpSpPr>
        <p:grpSp>
          <p:nvGrpSpPr>
            <p:cNvPr id="10" name="组合 12"/>
            <p:cNvGrpSpPr/>
            <p:nvPr/>
          </p:nvGrpSpPr>
          <p:grpSpPr bwMode="auto">
            <a:xfrm>
              <a:off x="1037496" y="1786456"/>
              <a:ext cx="10054688" cy="1713982"/>
              <a:chOff x="1037496" y="1786456"/>
              <a:chExt cx="10054688" cy="1713982"/>
            </a:xfrm>
          </p:grpSpPr>
          <p:sp>
            <p:nvSpPr>
              <p:cNvPr id="11" name="矩形 10"/>
              <p:cNvSpPr/>
              <p:nvPr/>
            </p:nvSpPr>
            <p:spPr>
              <a:xfrm>
                <a:off x="1037496"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2" name="矩形 11"/>
              <p:cNvSpPr>
                <a:spLocks noChangeArrowheads="1"/>
              </p:cNvSpPr>
              <p:nvPr/>
            </p:nvSpPr>
            <p:spPr bwMode="auto">
              <a:xfrm>
                <a:off x="1233740" y="1787887"/>
                <a:ext cx="9858444" cy="387898"/>
              </a:xfrm>
              <a:prstGeom prst="rect">
                <a:avLst/>
              </a:prstGeom>
              <a:noFill/>
              <a:ln w="9525">
                <a:noFill/>
                <a:miter lim="800000"/>
              </a:ln>
            </p:spPr>
            <p:txBody>
              <a:bodyPr wrap="square">
                <a:spAutoFit/>
              </a:bodyPr>
              <a:lstStyle/>
              <a:p>
                <a:pPr indent="0" eaLnBrk="1" latinLnBrk="0" hangingPunct="1">
                  <a:lnSpc>
                    <a:spcPct val="120000"/>
                  </a:lnSpc>
                  <a:spcAft>
                    <a:spcPts val="500"/>
                  </a:spcAft>
                  <a:buFont typeface="Arial" panose="020B0604020202020204" pitchFamily="34" charset="0"/>
                  <a:buNone/>
                </a:pPr>
                <a:r>
                  <a:rPr sz="1800" b="1">
                    <a:solidFill>
                      <a:srgbClr val="009900"/>
                    </a:solidFill>
                    <a:latin typeface="微软雅黑" panose="020B0503020204020204" charset="-122"/>
                    <a:ea typeface="微软雅黑" panose="020B0503020204020204" charset="-122"/>
                    <a:cs typeface="华康俪金黑W8(P)"/>
                  </a:rPr>
                  <a:t>此时，光标移到该行的首字符</a:t>
                </a:r>
                <a:r>
                  <a:rPr sz="1800" b="1">
                    <a:solidFill>
                      <a:srgbClr val="FF0000"/>
                    </a:solidFill>
                    <a:latin typeface="微软雅黑" panose="020B0503020204020204" charset="-122"/>
                    <a:ea typeface="微软雅黑" panose="020B0503020204020204" charset="-122"/>
                    <a:cs typeface="华康俪金黑W8(P)"/>
                  </a:rPr>
                  <a:t>“a”</a:t>
                </a:r>
                <a:r>
                  <a:rPr sz="1800" b="1">
                    <a:solidFill>
                      <a:srgbClr val="009900"/>
                    </a:solidFill>
                    <a:latin typeface="微软雅黑" panose="020B0503020204020204" charset="-122"/>
                    <a:ea typeface="微软雅黑" panose="020B0503020204020204" charset="-122"/>
                    <a:cs typeface="华康俪金黑W8(P)"/>
                  </a:rPr>
                  <a:t>上。接着输入</a:t>
                </a:r>
                <a:r>
                  <a:rPr sz="1800" b="1">
                    <a:solidFill>
                      <a:srgbClr val="FF0000"/>
                    </a:solidFill>
                    <a:latin typeface="微软雅黑" panose="020B0503020204020204" charset="-122"/>
                    <a:ea typeface="微软雅黑" panose="020B0503020204020204" charset="-122"/>
                    <a:cs typeface="华康俪金黑W8(P)"/>
                  </a:rPr>
                  <a:t>int</a:t>
                </a:r>
                <a:r>
                  <a:rPr sz="1800" b="1">
                    <a:solidFill>
                      <a:srgbClr val="009900"/>
                    </a:solidFill>
                    <a:latin typeface="微软雅黑" panose="020B0503020204020204" charset="-122"/>
                    <a:ea typeface="微软雅黑" panose="020B0503020204020204" charset="-122"/>
                    <a:cs typeface="华康俪金黑W8(P)"/>
                  </a:rPr>
                  <a:t>和一个</a:t>
                </a:r>
                <a:r>
                  <a:rPr sz="1800" b="1">
                    <a:solidFill>
                      <a:srgbClr val="FF0000"/>
                    </a:solidFill>
                    <a:latin typeface="微软雅黑" panose="020B0503020204020204" charset="-122"/>
                    <a:ea typeface="微软雅黑" panose="020B0503020204020204" charset="-122"/>
                    <a:cs typeface="华康俪金黑W8(P)"/>
                  </a:rPr>
                  <a:t>“空格”</a:t>
                </a:r>
                <a:r>
                  <a:rPr sz="1800" b="1">
                    <a:solidFill>
                      <a:srgbClr val="009900"/>
                    </a:solidFill>
                    <a:latin typeface="微软雅黑" panose="020B0503020204020204" charset="-122"/>
                    <a:ea typeface="微软雅黑" panose="020B0503020204020204" charset="-122"/>
                    <a:cs typeface="华康俪金黑W8(P)"/>
                  </a:rPr>
                  <a:t>，显示为：</a:t>
                </a:r>
              </a:p>
            </p:txBody>
          </p:sp>
        </p:grpSp>
        <p:sp>
          <p:nvSpPr>
            <p:cNvPr id="13" name="MH_Text_1"/>
            <p:cNvSpPr txBox="1">
              <a:spLocks noChangeArrowheads="1"/>
            </p:cNvSpPr>
            <p:nvPr>
              <p:custDataLst>
                <p:tags r:id="rId1"/>
              </p:custDataLst>
            </p:nvPr>
          </p:nvSpPr>
          <p:spPr bwMode="auto">
            <a:xfrm>
              <a:off x="1138932" y="2192953"/>
              <a:ext cx="9652701" cy="1281231"/>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/*this  is  an  example */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main()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int </a:t>
              </a:r>
              <a:r>
                <a:rPr lang="zh-CN" altLang="en-US" sz="1800" b="1" u="sng" dirty="0">
                  <a:solidFill>
                    <a:srgbClr val="FF0000"/>
                  </a:solidFill>
                  <a:latin typeface="微软雅黑" panose="020B0503020204020204" charset="-122"/>
                  <a:ea typeface="微软雅黑" panose="020B0503020204020204" charset="-122"/>
                  <a:cs typeface="+mn-cs"/>
                  <a:sym typeface="+mn-ea"/>
                </a:rPr>
                <a:t>a</a:t>
              </a:r>
              <a:r>
                <a:rPr lang="zh-CN" altLang="en-US" sz="1800" b="1" dirty="0">
                  <a:solidFill>
                    <a:srgbClr val="0070C0"/>
                  </a:solidFill>
                  <a:latin typeface="微软雅黑" panose="020B0503020204020204" charset="-122"/>
                  <a:ea typeface="微软雅黑" panose="020B0503020204020204" charset="-122"/>
                  <a:cs typeface="+mn-cs"/>
                  <a:sym typeface="+mn-ea"/>
                </a:rPr>
                <a:t>,b=10;</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printf("%d\n",a=b*2);</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charset="-122"/>
                  <a:ea typeface="微软雅黑" panose="020B0503020204020204" charset="-122"/>
                  <a:cs typeface="+mn-cs"/>
                  <a:sym typeface="+mn-ea"/>
                </a:rPr>
                <a:t>~ </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upRight)">
                                      <p:cBhvr>
                                        <p:cTn id="7" dur="500"/>
                                        <p:tgtEl>
                                          <p:spTgt spid="3"/>
                                        </p:tgtEl>
                                      </p:cBhvr>
                                    </p:animEffect>
                                  </p:childTnLst>
                                </p:cTn>
                              </p:par>
                            </p:childTnLst>
                          </p:cTn>
                        </p:par>
                        <p:par>
                          <p:cTn id="8" fill="hold">
                            <p:stCondLst>
                              <p:cond delay="500"/>
                            </p:stCondLst>
                            <p:childTnLst>
                              <p:par>
                                <p:cTn id="9" presetID="18" presetClass="entr" presetSubtype="3"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strips(upRight)">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508000" y="1718310"/>
            <a:ext cx="11194415" cy="48044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272859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4.3.2  附加命令</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sp>
        <p:nvSpPr>
          <p:cNvPr id="13" name="矩形 12"/>
          <p:cNvSpPr/>
          <p:nvPr/>
        </p:nvSpPr>
        <p:spPr>
          <a:xfrm>
            <a:off x="696563" y="1749097"/>
            <a:ext cx="3918585" cy="483235"/>
          </a:xfrm>
          <a:prstGeom prst="rect">
            <a:avLst/>
          </a:prstGeom>
        </p:spPr>
        <p:txBody>
          <a:bodyPr wrap="none">
            <a:spAutoFit/>
          </a:bodyPr>
          <a:lstStyle/>
          <a:p>
            <a:pPr algn="l"/>
            <a:r>
              <a:rPr lang="zh-CN" altLang="en-US" sz="2400" dirty="0">
                <a:solidFill>
                  <a:schemeClr val="tx1">
                    <a:lumMod val="85000"/>
                    <a:lumOff val="15000"/>
                  </a:schemeClr>
                </a:solidFill>
                <a:latin typeface="微软雅黑" panose="020B0503020204020204" charset="-122"/>
                <a:ea typeface="微软雅黑" panose="020B0503020204020204" charset="-122"/>
                <a:sym typeface="+mn-ea"/>
              </a:rPr>
              <a:t>附加命令有两个，即a和A。</a:t>
            </a:r>
          </a:p>
        </p:txBody>
      </p:sp>
      <p:pic>
        <p:nvPicPr>
          <p:cNvPr id="14338" name="Picture 2"/>
          <p:cNvPicPr>
            <a:picLocks noChangeAspect="1" noChangeArrowheads="1"/>
          </p:cNvPicPr>
          <p:nvPr/>
        </p:nvPicPr>
        <p:blipFill>
          <a:blip r:embed="rId3" cstate="print"/>
          <a:srcRect/>
          <a:stretch>
            <a:fillRect/>
          </a:stretch>
        </p:blipFill>
        <p:spPr bwMode="auto">
          <a:xfrm>
            <a:off x="3865880" y="3280410"/>
            <a:ext cx="4569460" cy="2951480"/>
          </a:xfrm>
          <a:prstGeom prst="rect">
            <a:avLst/>
          </a:prstGeom>
          <a:noFill/>
          <a:ln w="9525">
            <a:noFill/>
            <a:miter lim="800000"/>
            <a:headEnd/>
            <a:tailEnd/>
          </a:ln>
          <a:effectLst/>
        </p:spPr>
      </p:pic>
      <p:sp>
        <p:nvSpPr>
          <p:cNvPr id="15" name="矩形 14"/>
          <p:cNvSpPr/>
          <p:nvPr/>
        </p:nvSpPr>
        <p:spPr>
          <a:xfrm>
            <a:off x="691515" y="3522980"/>
            <a:ext cx="2785745" cy="2492990"/>
          </a:xfrm>
          <a:prstGeom prst="rect">
            <a:avLst/>
          </a:prstGeom>
        </p:spPr>
        <p:txBody>
          <a:bodyPr wrap="square">
            <a:spAutoFit/>
          </a:bodyPr>
          <a:lstStyle/>
          <a:p>
            <a:pPr indent="457200">
              <a:lnSpc>
                <a:spcPct val="130000"/>
              </a:lnSpc>
              <a:spcAft>
                <a:spcPts val="600"/>
              </a:spcAft>
            </a:pPr>
            <a:r>
              <a:rPr altLang="en-US" sz="2400" b="1" dirty="0">
                <a:solidFill>
                  <a:srgbClr val="0070C0"/>
                </a:solidFill>
                <a:latin typeface="微软雅黑" panose="020B0503020204020204" charset="-122"/>
                <a:ea typeface="微软雅黑" panose="020B0503020204020204" charset="-122"/>
              </a:rPr>
              <a:t>（1）a命令：</a:t>
            </a:r>
            <a:r>
              <a:rPr altLang="en-US" sz="2400" dirty="0">
                <a:latin typeface="微软雅黑" panose="020B0503020204020204" charset="-122"/>
                <a:ea typeface="微软雅黑" panose="020B0503020204020204" charset="-122"/>
              </a:rPr>
              <a:t>该命令之后输入的字符都插入到</a:t>
            </a:r>
            <a:r>
              <a:rPr altLang="en-US" sz="2400" dirty="0">
                <a:solidFill>
                  <a:srgbClr val="FF0000"/>
                </a:solidFill>
                <a:latin typeface="微软雅黑" panose="020B0503020204020204" charset="-122"/>
                <a:ea typeface="微软雅黑" panose="020B0503020204020204" charset="-122"/>
              </a:rPr>
              <a:t>光标之后</a:t>
            </a:r>
            <a:r>
              <a:rPr altLang="en-US" sz="2400" dirty="0">
                <a:latin typeface="微软雅黑" panose="020B0503020204020204" charset="-122"/>
                <a:ea typeface="微软雅黑" panose="020B0503020204020204" charset="-122"/>
              </a:rPr>
              <a:t>，光标可在一行的任何位置。</a:t>
            </a:r>
          </a:p>
        </p:txBody>
      </p:sp>
      <p:sp>
        <p:nvSpPr>
          <p:cNvPr id="16" name="矩形 15"/>
          <p:cNvSpPr/>
          <p:nvPr/>
        </p:nvSpPr>
        <p:spPr>
          <a:xfrm>
            <a:off x="8740160" y="3280723"/>
            <a:ext cx="2767212" cy="2973122"/>
          </a:xfrm>
          <a:prstGeom prst="rect">
            <a:avLst/>
          </a:prstGeom>
        </p:spPr>
        <p:txBody>
          <a:bodyPr wrap="square">
            <a:spAutoFit/>
          </a:bodyPr>
          <a:lstStyle/>
          <a:p>
            <a:pPr indent="457200">
              <a:lnSpc>
                <a:spcPct val="130000"/>
              </a:lnSpc>
              <a:spcAft>
                <a:spcPts val="600"/>
              </a:spcAft>
            </a:pPr>
            <a:r>
              <a:rPr altLang="en-US" sz="2400" b="1" dirty="0">
                <a:solidFill>
                  <a:srgbClr val="0070C0"/>
                </a:solidFill>
                <a:latin typeface="微软雅黑" panose="020B0503020204020204" charset="-122"/>
                <a:ea typeface="微软雅黑" panose="020B0503020204020204" charset="-122"/>
              </a:rPr>
              <a:t>（2）A命令：</a:t>
            </a:r>
            <a:r>
              <a:rPr altLang="en-US" sz="2400" dirty="0">
                <a:latin typeface="微软雅黑" panose="020B0503020204020204" charset="-122"/>
                <a:ea typeface="微软雅黑" panose="020B0503020204020204" charset="-122"/>
              </a:rPr>
              <a:t>在光标所在行的行尾添加文本。当输入A命令后，光标自动移到该行的</a:t>
            </a:r>
            <a:r>
              <a:rPr altLang="en-US" sz="2400" dirty="0">
                <a:solidFill>
                  <a:srgbClr val="FF0000"/>
                </a:solidFill>
                <a:latin typeface="微软雅黑" panose="020B0503020204020204" charset="-122"/>
                <a:ea typeface="微软雅黑" panose="020B0503020204020204" charset="-122"/>
              </a:rPr>
              <a:t>行尾</a:t>
            </a:r>
            <a:r>
              <a:rPr altLang="en-US" sz="2400" dirty="0">
                <a:latin typeface="微软雅黑" panose="020B0503020204020204" charset="-122"/>
                <a:ea typeface="微软雅黑" panose="020B0503020204020204" charset="-122"/>
              </a:rPr>
              <a:t>。</a:t>
            </a:r>
          </a:p>
        </p:txBody>
      </p:sp>
      <p:grpSp>
        <p:nvGrpSpPr>
          <p:cNvPr id="5" name="组合 4"/>
          <p:cNvGrpSpPr/>
          <p:nvPr/>
        </p:nvGrpSpPr>
        <p:grpSpPr>
          <a:xfrm>
            <a:off x="4671695" y="1379220"/>
            <a:ext cx="3236595" cy="1783715"/>
            <a:chOff x="15055" y="7973"/>
            <a:chExt cx="4923" cy="2853"/>
          </a:xfrm>
        </p:grpSpPr>
        <p:grpSp>
          <p:nvGrpSpPr>
            <p:cNvPr id="6" name="组合 14"/>
            <p:cNvGrpSpPr/>
            <p:nvPr/>
          </p:nvGrpSpPr>
          <p:grpSpPr bwMode="auto">
            <a:xfrm>
              <a:off x="15108" y="8564"/>
              <a:ext cx="4870" cy="2262"/>
              <a:chOff x="1166778" y="1786456"/>
              <a:chExt cx="9858444" cy="1713982"/>
            </a:xfrm>
          </p:grpSpPr>
          <p:grpSp>
            <p:nvGrpSpPr>
              <p:cNvPr id="7" name="组合 12"/>
              <p:cNvGrpSpPr/>
              <p:nvPr/>
            </p:nvGrpSpPr>
            <p:grpSpPr bwMode="auto">
              <a:xfrm>
                <a:off x="1166778" y="1786456"/>
                <a:ext cx="9858444" cy="1713982"/>
                <a:chOff x="1166778" y="1786456"/>
                <a:chExt cx="9858444" cy="1713982"/>
              </a:xfrm>
            </p:grpSpPr>
            <p:sp>
              <p:nvSpPr>
                <p:cNvPr id="8" name="矩形 7"/>
                <p:cNvSpPr/>
                <p:nvPr/>
              </p:nvSpPr>
              <p:spPr>
                <a:xfrm>
                  <a:off x="1166778"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2" name="矩形 6"/>
                <p:cNvSpPr>
                  <a:spLocks noChangeArrowheads="1"/>
                </p:cNvSpPr>
                <p:nvPr/>
              </p:nvSpPr>
              <p:spPr bwMode="auto">
                <a:xfrm>
                  <a:off x="3264191" y="1794480"/>
                  <a:ext cx="2688298" cy="55411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FF0000"/>
                      </a:solidFill>
                      <a:latin typeface="微软雅黑" panose="020B0503020204020204" charset="-122"/>
                      <a:ea typeface="微软雅黑" panose="020B0503020204020204" charset="-122"/>
                      <a:cs typeface="华康俪金黑W8(P)"/>
                    </a:rPr>
                    <a:t>注意</a:t>
                  </a:r>
                </a:p>
              </p:txBody>
            </p:sp>
          </p:grpSp>
          <p:sp>
            <p:nvSpPr>
              <p:cNvPr id="17" name="MH_Text_1"/>
              <p:cNvSpPr txBox="1">
                <a:spLocks noChangeArrowheads="1"/>
              </p:cNvSpPr>
              <p:nvPr>
                <p:custDataLst>
                  <p:tags r:id="rId1"/>
                </p:custDataLst>
              </p:nvPr>
            </p:nvSpPr>
            <p:spPr bwMode="auto">
              <a:xfrm>
                <a:off x="1360959" y="2304731"/>
                <a:ext cx="9470041" cy="1164168"/>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sz="2000" b="1" dirty="0">
                    <a:solidFill>
                      <a:srgbClr val="FF0000"/>
                    </a:solidFill>
                    <a:latin typeface="微软雅黑" panose="020B0503020204020204" charset="-122"/>
                    <a:ea typeface="微软雅黑" panose="020B0503020204020204" charset="-122"/>
                    <a:cs typeface="+mn-cs"/>
                    <a:sym typeface="+mn-ea"/>
                  </a:rPr>
                  <a:t>A命令</a:t>
                </a:r>
                <a:r>
                  <a:rPr lang="zh-CN" altLang="en-US" sz="2000" b="1" dirty="0">
                    <a:solidFill>
                      <a:srgbClr val="0070C0"/>
                    </a:solidFill>
                    <a:latin typeface="微软雅黑" panose="020B0503020204020204" charset="-122"/>
                    <a:ea typeface="微软雅黑" panose="020B0503020204020204" charset="-122"/>
                    <a:cs typeface="+mn-cs"/>
                    <a:sym typeface="+mn-ea"/>
                  </a:rPr>
                  <a:t>是将文本添加到</a:t>
                </a:r>
                <a:r>
                  <a:rPr lang="zh-CN" altLang="en-US" sz="2000" b="1" dirty="0">
                    <a:solidFill>
                      <a:srgbClr val="FF0000"/>
                    </a:solidFill>
                    <a:latin typeface="微软雅黑" panose="020B0503020204020204" charset="-122"/>
                    <a:ea typeface="微软雅黑" panose="020B0503020204020204" charset="-122"/>
                    <a:cs typeface="+mn-cs"/>
                    <a:sym typeface="+mn-ea"/>
                  </a:rPr>
                  <a:t>行尾</a:t>
                </a:r>
                <a:r>
                  <a:rPr lang="zh-CN" altLang="en-US" sz="2000" b="1" dirty="0">
                    <a:solidFill>
                      <a:srgbClr val="0070C0"/>
                    </a:solidFill>
                    <a:latin typeface="微软雅黑" panose="020B0503020204020204" charset="-122"/>
                    <a:ea typeface="微软雅黑" panose="020B0503020204020204" charset="-122"/>
                    <a:cs typeface="+mn-cs"/>
                    <a:sym typeface="+mn-ea"/>
                  </a:rPr>
                  <a:t>的唯一方法</a:t>
                </a:r>
                <a:endParaRPr lang="zh-CN" altLang="en-US" sz="2000" b="1" dirty="0">
                  <a:solidFill>
                    <a:srgbClr val="FF0000"/>
                  </a:solidFill>
                  <a:latin typeface="微软雅黑" panose="020B0503020204020204" charset="-122"/>
                  <a:ea typeface="微软雅黑" panose="020B0503020204020204" charset="-122"/>
                </a:endParaRPr>
              </a:p>
            </p:txBody>
          </p:sp>
        </p:grpSp>
        <p:pic>
          <p:nvPicPr>
            <p:cNvPr id="18" name="图片 17" descr="www.tuweimei.comComp_9747389_aloyhm04q205BMmtimdiv2o2HN82PIep.jpg"/>
            <p:cNvPicPr>
              <a:picLocks noGrp="1"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15055" y="7973"/>
              <a:ext cx="1463" cy="1463"/>
            </a:xfrm>
            <a:prstGeom prst="rect">
              <a:avLst/>
            </a:prstGeom>
            <a:noFill/>
            <a:ln w="9525">
              <a:noFill/>
              <a:miter lim="800000"/>
              <a:headEnd/>
              <a:tailEnd/>
            </a:ln>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14338"/>
                                        </p:tgtEl>
                                        <p:attrNameLst>
                                          <p:attrName>style.visibility</p:attrName>
                                        </p:attrNameLst>
                                      </p:cBhvr>
                                      <p:to>
                                        <p:strVal val="visible"/>
                                      </p:to>
                                    </p:set>
                                    <p:anim calcmode="lin" valueType="num">
                                      <p:cBhvr>
                                        <p:cTn id="11" dur="500" fill="hold"/>
                                        <p:tgtEl>
                                          <p:spTgt spid="14338"/>
                                        </p:tgtEl>
                                        <p:attrNameLst>
                                          <p:attrName>ppt_w</p:attrName>
                                        </p:attrNameLst>
                                      </p:cBhvr>
                                      <p:tavLst>
                                        <p:tav tm="0">
                                          <p:val>
                                            <p:fltVal val="0"/>
                                          </p:val>
                                        </p:tav>
                                        <p:tav tm="100000">
                                          <p:val>
                                            <p:strVal val="#ppt_w"/>
                                          </p:val>
                                        </p:tav>
                                      </p:tavLst>
                                    </p:anim>
                                    <p:anim calcmode="lin" valueType="num">
                                      <p:cBhvr>
                                        <p:cTn id="12" dur="500" fill="hold"/>
                                        <p:tgtEl>
                                          <p:spTgt spid="14338"/>
                                        </p:tgtEl>
                                        <p:attrNameLst>
                                          <p:attrName>ppt_h</p:attrName>
                                        </p:attrNameLst>
                                      </p:cBhvr>
                                      <p:tavLst>
                                        <p:tav tm="0">
                                          <p:val>
                                            <p:fltVal val="0"/>
                                          </p:val>
                                        </p:tav>
                                        <p:tav tm="100000">
                                          <p:val>
                                            <p:strVal val="#ppt_h"/>
                                          </p:val>
                                        </p:tav>
                                      </p:tavLst>
                                    </p:anim>
                                    <p:animEffect transition="in" filter="fade">
                                      <p:cBhvr>
                                        <p:cTn id="13" dur="500"/>
                                        <p:tgtEl>
                                          <p:spTgt spid="14338"/>
                                        </p:tgtEl>
                                      </p:cBhvr>
                                    </p:animEffect>
                                  </p:childTnLst>
                                </p:cTn>
                              </p:par>
                            </p:childTnLst>
                          </p:cTn>
                        </p:par>
                        <p:par>
                          <p:cTn id="14" fill="hold">
                            <p:stCondLst>
                              <p:cond delay="1000"/>
                            </p:stCondLst>
                            <p:childTnLst>
                              <p:par>
                                <p:cTn id="15" presetID="5" presetClass="entr" presetSubtype="10" fill="hold" grpId="0"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checkerboard(across)">
                                      <p:cBhvr>
                                        <p:cTn id="17" dur="500"/>
                                        <p:tgtEl>
                                          <p:spTgt spid="15"/>
                                        </p:tgtEl>
                                      </p:cBhvr>
                                    </p:animEffect>
                                  </p:childTnLst>
                                </p:cTn>
                              </p:par>
                            </p:childTnLst>
                          </p:cTn>
                        </p:par>
                        <p:par>
                          <p:cTn id="18" fill="hold">
                            <p:stCondLst>
                              <p:cond delay="1500"/>
                            </p:stCondLst>
                            <p:childTnLst>
                              <p:par>
                                <p:cTn id="19" presetID="5" presetClass="entr" presetSubtype="10" fill="hold" grpId="0" nodeType="after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checkerboard(across)">
                                      <p:cBhvr>
                                        <p:cTn id="21" dur="500"/>
                                        <p:tgtEl>
                                          <p:spTgt spid="16"/>
                                        </p:tgtEl>
                                      </p:cBhvr>
                                    </p:animEffect>
                                  </p:childTnLst>
                                </p:cTn>
                              </p:par>
                            </p:childTnLst>
                          </p:cTn>
                        </p:par>
                        <p:par>
                          <p:cTn id="22" fill="hold">
                            <p:stCondLst>
                              <p:cond delay="2000"/>
                            </p:stCondLst>
                            <p:childTnLst>
                              <p:par>
                                <p:cTn id="23" presetID="18" presetClass="entr" presetSubtype="6"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strips(downRight)">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98475" y="1724660"/>
            <a:ext cx="11194415" cy="48044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grpSp>
        <p:nvGrpSpPr>
          <p:cNvPr id="10" name="组合 9"/>
          <p:cNvGrpSpPr/>
          <p:nvPr/>
        </p:nvGrpSpPr>
        <p:grpSpPr>
          <a:xfrm>
            <a:off x="691515" y="1082040"/>
            <a:ext cx="3173730" cy="529590"/>
            <a:chOff x="1089" y="1704"/>
            <a:chExt cx="4998" cy="834"/>
          </a:xfrm>
        </p:grpSpPr>
        <p:sp>
          <p:nvSpPr>
            <p:cNvPr id="22" name="矩形 6"/>
            <p:cNvSpPr>
              <a:spLocks noChangeArrowheads="1"/>
            </p:cNvSpPr>
            <p:nvPr/>
          </p:nvSpPr>
          <p:spPr bwMode="auto">
            <a:xfrm>
              <a:off x="1791" y="1704"/>
              <a:ext cx="4297"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4.3.3  打开命令</a:t>
              </a:r>
            </a:p>
          </p:txBody>
        </p:sp>
        <p:sp>
          <p:nvSpPr>
            <p:cNvPr id="23" name="椭圆 22"/>
            <p:cNvSpPr/>
            <p:nvPr/>
          </p:nvSpPr>
          <p:spPr bwMode="auto">
            <a:xfrm>
              <a:off x="1089" y="1887"/>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sp>
        <p:nvSpPr>
          <p:cNvPr id="46" name="Text Box 44"/>
          <p:cNvSpPr txBox="1">
            <a:spLocks noChangeArrowheads="1"/>
          </p:cNvSpPr>
          <p:nvPr/>
        </p:nvSpPr>
        <p:spPr bwMode="auto">
          <a:xfrm>
            <a:off x="814070" y="1920875"/>
            <a:ext cx="11042015" cy="179832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dirty="0">
                <a:solidFill>
                  <a:schemeClr val="tx1">
                    <a:lumMod val="85000"/>
                    <a:lumOff val="15000"/>
                  </a:schemeClr>
                </a:solidFill>
              </a:rPr>
              <a:t>打开命令有两个，即o和O。</a:t>
            </a:r>
          </a:p>
          <a:p>
            <a:pPr eaLnBrk="1" latinLnBrk="0" hangingPunct="1">
              <a:lnSpc>
                <a:spcPct val="140000"/>
              </a:lnSpc>
            </a:pPr>
            <a:r>
              <a:rPr lang="zh-CN" altLang="en-US" sz="2000" dirty="0">
                <a:solidFill>
                  <a:schemeClr val="tx1">
                    <a:lumMod val="85000"/>
                    <a:lumOff val="15000"/>
                  </a:schemeClr>
                </a:solidFill>
              </a:rPr>
              <a:t>（1）o命令：在光标所</a:t>
            </a:r>
            <a:r>
              <a:rPr lang="zh-CN" altLang="en-US" sz="2000" dirty="0">
                <a:solidFill>
                  <a:srgbClr val="FF0000"/>
                </a:solidFill>
              </a:rPr>
              <a:t>在行的下面新开辟一行</a:t>
            </a:r>
            <a:r>
              <a:rPr lang="zh-CN" altLang="en-US" sz="2000" dirty="0">
                <a:solidFill>
                  <a:schemeClr val="tx1">
                    <a:lumMod val="85000"/>
                    <a:lumOff val="15000"/>
                  </a:schemeClr>
                </a:solidFill>
              </a:rPr>
              <a:t>，随后输入的文本就插入在这一行上。</a:t>
            </a:r>
          </a:p>
          <a:p>
            <a:pPr eaLnBrk="1" latinLnBrk="0" hangingPunct="1">
              <a:lnSpc>
                <a:spcPct val="140000"/>
              </a:lnSpc>
            </a:pPr>
            <a:r>
              <a:rPr lang="zh-CN" altLang="en-US" sz="2000" dirty="0">
                <a:solidFill>
                  <a:schemeClr val="tx1">
                    <a:lumMod val="85000"/>
                    <a:lumOff val="15000"/>
                  </a:schemeClr>
                </a:solidFill>
              </a:rPr>
              <a:t>（2）O命令：在光标所</a:t>
            </a:r>
            <a:r>
              <a:rPr lang="zh-CN" altLang="en-US" sz="2000" dirty="0">
                <a:solidFill>
                  <a:srgbClr val="FF0000"/>
                </a:solidFill>
              </a:rPr>
              <a:t>在行的上面新开辟一行</a:t>
            </a:r>
            <a:r>
              <a:rPr lang="zh-CN" altLang="en-US" sz="2000" dirty="0">
                <a:solidFill>
                  <a:schemeClr val="tx1">
                    <a:lumMod val="85000"/>
                    <a:lumOff val="15000"/>
                  </a:schemeClr>
                </a:solidFill>
              </a:rPr>
              <a:t>，随后输入的文本就插入在这一行上。</a:t>
            </a:r>
          </a:p>
          <a:p>
            <a:pPr eaLnBrk="1" latinLnBrk="0" hangingPunct="1">
              <a:lnSpc>
                <a:spcPct val="140000"/>
              </a:lnSpc>
            </a:pPr>
            <a:r>
              <a:rPr lang="zh-CN" altLang="en-US" sz="2000" dirty="0">
                <a:solidFill>
                  <a:schemeClr val="tx1">
                    <a:lumMod val="85000"/>
                    <a:lumOff val="15000"/>
                  </a:schemeClr>
                </a:solidFill>
              </a:rPr>
              <a:t>在新行被打开之后，光标停在新行的行首，等待输入文本。</a:t>
            </a:r>
          </a:p>
        </p:txBody>
      </p:sp>
      <p:grpSp>
        <p:nvGrpSpPr>
          <p:cNvPr id="12" name="组合 11"/>
          <p:cNvGrpSpPr/>
          <p:nvPr/>
        </p:nvGrpSpPr>
        <p:grpSpPr>
          <a:xfrm>
            <a:off x="523240" y="3780155"/>
            <a:ext cx="5512435" cy="2268220"/>
            <a:chOff x="824" y="5953"/>
            <a:chExt cx="8681" cy="3572"/>
          </a:xfrm>
        </p:grpSpPr>
        <p:grpSp>
          <p:nvGrpSpPr>
            <p:cNvPr id="14" name="组合 14"/>
            <p:cNvGrpSpPr/>
            <p:nvPr/>
          </p:nvGrpSpPr>
          <p:grpSpPr bwMode="auto">
            <a:xfrm>
              <a:off x="3851" y="5953"/>
              <a:ext cx="5654" cy="3573"/>
              <a:chOff x="1166778" y="1786456"/>
              <a:chExt cx="9858444" cy="1713982"/>
            </a:xfrm>
          </p:grpSpPr>
          <p:grpSp>
            <p:nvGrpSpPr>
              <p:cNvPr id="10249" name="组合 12"/>
              <p:cNvGrpSpPr/>
              <p:nvPr/>
            </p:nvGrpSpPr>
            <p:grpSpPr bwMode="auto">
              <a:xfrm>
                <a:off x="1166778" y="1786456"/>
                <a:ext cx="9858444" cy="1713982"/>
                <a:chOff x="1166778" y="1786456"/>
                <a:chExt cx="9858444" cy="1713982"/>
              </a:xfrm>
            </p:grpSpPr>
            <p:sp>
              <p:nvSpPr>
                <p:cNvPr id="2" name="矩形 1"/>
                <p:cNvSpPr/>
                <p:nvPr/>
              </p:nvSpPr>
              <p:spPr>
                <a:xfrm>
                  <a:off x="1166778"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0252" name="矩形 6"/>
                <p:cNvSpPr>
                  <a:spLocks noChangeArrowheads="1"/>
                </p:cNvSpPr>
                <p:nvPr/>
              </p:nvSpPr>
              <p:spPr bwMode="auto">
                <a:xfrm>
                  <a:off x="1256122" y="1794256"/>
                  <a:ext cx="9360492" cy="345387"/>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FF0000"/>
                      </a:solidFill>
                      <a:latin typeface="微软雅黑" panose="020B0503020204020204" charset="-122"/>
                      <a:ea typeface="微软雅黑" panose="020B0503020204020204" charset="-122"/>
                      <a:cs typeface="华康俪金黑W8(P)"/>
                    </a:rPr>
                    <a:t>例如，</a:t>
                  </a:r>
                  <a:r>
                    <a:rPr lang="zh-CN" altLang="en-US" sz="2000" b="1">
                      <a:solidFill>
                        <a:srgbClr val="009900"/>
                      </a:solidFill>
                      <a:latin typeface="微软雅黑" panose="020B0503020204020204" charset="-122"/>
                      <a:ea typeface="微软雅黑" panose="020B0503020204020204" charset="-122"/>
                      <a:cs typeface="华康俪金黑W8(P)"/>
                    </a:rPr>
                    <a:t>原来屏幕显示为：</a:t>
                  </a:r>
                </a:p>
              </p:txBody>
            </p:sp>
          </p:grpSp>
          <p:sp>
            <p:nvSpPr>
              <p:cNvPr id="10250" name="MH_Text_1"/>
              <p:cNvSpPr txBox="1">
                <a:spLocks noChangeArrowheads="1"/>
              </p:cNvSpPr>
              <p:nvPr>
                <p:custDataLst>
                  <p:tags r:id="rId2"/>
                </p:custDataLst>
              </p:nvPr>
            </p:nvSpPr>
            <p:spPr bwMode="auto">
              <a:xfrm>
                <a:off x="1360593" y="2136240"/>
                <a:ext cx="9469440" cy="1332752"/>
              </a:xfrm>
              <a:prstGeom prst="rect">
                <a:avLst/>
              </a:prstGeom>
              <a:solidFill>
                <a:srgbClr val="F2F2F2"/>
              </a:solidFill>
              <a:ln w="9525">
                <a:noFill/>
                <a:miter lim="800000"/>
              </a:ln>
            </p:spPr>
            <p:txBody>
              <a:bodyPr/>
              <a:lstStyle/>
              <a:p>
                <a:pPr indent="0" fontAlgn="auto">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 this is an example */</a:t>
                </a:r>
              </a:p>
              <a:p>
                <a:pPr indent="0" fontAlgn="auto">
                  <a:lnSpc>
                    <a:spcPct val="120000"/>
                  </a:lnSpc>
                  <a:buFont typeface="Arial" panose="020B0604020202020204" pitchFamily="34" charset="0"/>
                  <a:buNone/>
                </a:pPr>
                <a:r>
                  <a:rPr lang="zh-CN" altLang="en-US" sz="2000" b="1" u="sng" dirty="0">
                    <a:solidFill>
                      <a:srgbClr val="0070C0"/>
                    </a:solidFill>
                    <a:latin typeface="微软雅黑" panose="020B0503020204020204" charset="-122"/>
                    <a:ea typeface="微软雅黑" panose="020B0503020204020204" charset="-122"/>
                    <a:cs typeface="+mn-cs"/>
                    <a:sym typeface="+mn-ea"/>
                  </a:rPr>
                  <a:t>{</a:t>
                </a:r>
              </a:p>
              <a:p>
                <a:pPr indent="0" fontAlgn="auto">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printf("ok!"); </a:t>
                </a:r>
              </a:p>
              <a:p>
                <a:pPr indent="0" fontAlgn="auto">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 </a:t>
                </a:r>
              </a:p>
              <a:p>
                <a:pPr indent="0" fontAlgn="auto">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 </a:t>
                </a:r>
              </a:p>
            </p:txBody>
          </p:sp>
        </p:grpSp>
        <p:sp>
          <p:nvSpPr>
            <p:cNvPr id="3" name="线形标注 1 2"/>
            <p:cNvSpPr/>
            <p:nvPr/>
          </p:nvSpPr>
          <p:spPr>
            <a:xfrm flipH="1">
              <a:off x="824" y="6538"/>
              <a:ext cx="2272" cy="988"/>
            </a:xfrm>
            <a:prstGeom prst="borderCallout1">
              <a:avLst>
                <a:gd name="adj1" fmla="val 47565"/>
                <a:gd name="adj2" fmla="val 1096"/>
                <a:gd name="adj3" fmla="val 120344"/>
                <a:gd name="adj4" fmla="val -41813"/>
              </a:avLst>
            </a:prstGeom>
            <a:solidFill>
              <a:schemeClr val="bg1"/>
            </a:solidFill>
            <a:ln w="12700" cap="flat" cmpd="sng" algn="ctr">
              <a:solidFill>
                <a:schemeClr val="accent1">
                  <a:shade val="50000"/>
                </a:schemeClr>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r>
                <a:rPr kumimoji="0" lang="en-US" altLang="de-DE" b="1" i="0" u="none" strike="noStrike" cap="none" normalizeH="0" baseline="0">
                  <a:ln>
                    <a:noFill/>
                  </a:ln>
                  <a:solidFill>
                    <a:srgbClr val="0070C0"/>
                  </a:solidFill>
                  <a:effectLst/>
                  <a:latin typeface="微软雅黑" panose="020B0503020204020204" charset="-122"/>
                  <a:ea typeface="微软雅黑" panose="020B0503020204020204" charset="-122"/>
                  <a:cs typeface="Arial Unicode MS" panose="020B0604020202020204" pitchFamily="34" charset="-128"/>
                </a:rPr>
                <a:t>  </a:t>
              </a:r>
              <a:r>
                <a:rPr kumimoji="0" lang="de-DE" altLang="en-US" b="1" i="0" u="none" strike="noStrike" cap="none" normalizeH="0" baseline="0">
                  <a:ln>
                    <a:noFill/>
                  </a:ln>
                  <a:solidFill>
                    <a:srgbClr val="0070C0"/>
                  </a:solidFill>
                  <a:effectLst/>
                  <a:latin typeface="微软雅黑" panose="020B0503020204020204" charset="-122"/>
                  <a:ea typeface="微软雅黑" panose="020B0503020204020204" charset="-122"/>
                  <a:cs typeface="Arial Unicode MS" panose="020B0604020202020204" pitchFamily="34" charset="-128"/>
                </a:rPr>
                <a:t>光标位于“{”</a:t>
              </a:r>
            </a:p>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r>
                <a:rPr kumimoji="0" lang="de-DE" altLang="en-US" b="1" i="0" u="none" strike="noStrike" cap="none" normalizeH="0" baseline="0">
                  <a:ln>
                    <a:noFill/>
                  </a:ln>
                  <a:solidFill>
                    <a:srgbClr val="0070C0"/>
                  </a:solidFill>
                  <a:effectLst/>
                  <a:latin typeface="微软雅黑" panose="020B0503020204020204" charset="-122"/>
                  <a:ea typeface="微软雅黑" panose="020B0503020204020204" charset="-122"/>
                  <a:cs typeface="Arial Unicode MS" panose="020B0604020202020204" pitchFamily="34" charset="-128"/>
                </a:rPr>
                <a:t>的位置。</a:t>
              </a:r>
            </a:p>
          </p:txBody>
        </p:sp>
      </p:grpSp>
      <p:grpSp>
        <p:nvGrpSpPr>
          <p:cNvPr id="13" name="组合 12"/>
          <p:cNvGrpSpPr/>
          <p:nvPr/>
        </p:nvGrpSpPr>
        <p:grpSpPr>
          <a:xfrm>
            <a:off x="6330950" y="3703320"/>
            <a:ext cx="5325110" cy="2680970"/>
            <a:chOff x="9970" y="5832"/>
            <a:chExt cx="8386" cy="4222"/>
          </a:xfrm>
        </p:grpSpPr>
        <p:grpSp>
          <p:nvGrpSpPr>
            <p:cNvPr id="4" name="组合 14"/>
            <p:cNvGrpSpPr/>
            <p:nvPr/>
          </p:nvGrpSpPr>
          <p:grpSpPr bwMode="auto">
            <a:xfrm>
              <a:off x="12602" y="5832"/>
              <a:ext cx="5755" cy="4223"/>
              <a:chOff x="1166778" y="1786456"/>
              <a:chExt cx="9858444" cy="1713982"/>
            </a:xfrm>
          </p:grpSpPr>
          <p:grpSp>
            <p:nvGrpSpPr>
              <p:cNvPr id="5" name="组合 12"/>
              <p:cNvGrpSpPr/>
              <p:nvPr/>
            </p:nvGrpSpPr>
            <p:grpSpPr bwMode="auto">
              <a:xfrm>
                <a:off x="1166778" y="1786456"/>
                <a:ext cx="9858444" cy="1713982"/>
                <a:chOff x="1166778" y="1786456"/>
                <a:chExt cx="9858444" cy="1713982"/>
              </a:xfrm>
            </p:grpSpPr>
            <p:sp>
              <p:nvSpPr>
                <p:cNvPr id="6" name="矩形 5"/>
                <p:cNvSpPr/>
                <p:nvPr/>
              </p:nvSpPr>
              <p:spPr>
                <a:xfrm>
                  <a:off x="1166778"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7" name="矩形 6"/>
                <p:cNvSpPr>
                  <a:spLocks noChangeArrowheads="1"/>
                </p:cNvSpPr>
                <p:nvPr/>
              </p:nvSpPr>
              <p:spPr bwMode="auto">
                <a:xfrm>
                  <a:off x="1256122" y="1794256"/>
                  <a:ext cx="9360492" cy="52600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微软雅黑" panose="020B0503020204020204" charset="-122"/>
                      <a:ea typeface="微软雅黑" panose="020B0503020204020204" charset="-122"/>
                      <a:cs typeface="华康俪金黑W8(P)"/>
                    </a:rPr>
                    <a:t>输入O命令（大写字母）后，屏幕显示为：</a:t>
                  </a:r>
                </a:p>
              </p:txBody>
            </p:sp>
          </p:grpSp>
          <p:sp>
            <p:nvSpPr>
              <p:cNvPr id="8" name="MH_Text_1"/>
              <p:cNvSpPr txBox="1">
                <a:spLocks noChangeArrowheads="1"/>
              </p:cNvSpPr>
              <p:nvPr>
                <p:custDataLst>
                  <p:tags r:id="rId1"/>
                </p:custDataLst>
              </p:nvPr>
            </p:nvSpPr>
            <p:spPr bwMode="auto">
              <a:xfrm>
                <a:off x="1362064" y="2329430"/>
                <a:ext cx="9469616" cy="1152427"/>
              </a:xfrm>
              <a:prstGeom prst="rect">
                <a:avLst/>
              </a:prstGeom>
              <a:solidFill>
                <a:srgbClr val="F2F2F2"/>
              </a:solidFill>
              <a:ln w="9525">
                <a:noFill/>
                <a:miter lim="800000"/>
              </a:ln>
            </p:spPr>
            <p:txBody>
              <a:bodyPr/>
              <a:lstStyle/>
              <a:p>
                <a:pPr indent="0" fontAlgn="auto">
                  <a:lnSpc>
                    <a:spcPct val="10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 this is an example */</a:t>
                </a:r>
              </a:p>
              <a:p>
                <a:pPr indent="0" fontAlgn="auto">
                  <a:lnSpc>
                    <a:spcPct val="100000"/>
                  </a:lnSpc>
                  <a:buFont typeface="Arial" panose="020B0604020202020204" pitchFamily="34" charset="0"/>
                  <a:buNone/>
                </a:pPr>
                <a:r>
                  <a:rPr lang="zh-CN" altLang="en-US" sz="2000" b="1" u="sng" dirty="0">
                    <a:solidFill>
                      <a:srgbClr val="0070C0"/>
                    </a:solidFill>
                    <a:effectLst/>
                    <a:latin typeface="微软雅黑" panose="020B0503020204020204" charset="-122"/>
                    <a:ea typeface="微软雅黑" panose="020B0503020204020204" charset="-122"/>
                    <a:cs typeface="+mn-cs"/>
                    <a:sym typeface="+mn-ea"/>
                  </a:rPr>
                  <a:t>  </a:t>
                </a:r>
              </a:p>
              <a:p>
                <a:pPr indent="0" fontAlgn="auto">
                  <a:lnSpc>
                    <a:spcPct val="10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  </a:t>
                </a:r>
              </a:p>
              <a:p>
                <a:pPr indent="0" fontAlgn="auto">
                  <a:lnSpc>
                    <a:spcPct val="10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printf("ok!"); </a:t>
                </a:r>
              </a:p>
              <a:p>
                <a:pPr indent="0" fontAlgn="auto">
                  <a:lnSpc>
                    <a:spcPct val="10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 </a:t>
                </a:r>
              </a:p>
              <a:p>
                <a:pPr indent="0" fontAlgn="auto">
                  <a:lnSpc>
                    <a:spcPct val="10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 </a:t>
                </a:r>
              </a:p>
            </p:txBody>
          </p:sp>
        </p:grpSp>
        <p:sp>
          <p:nvSpPr>
            <p:cNvPr id="9" name="线形标注 1 8"/>
            <p:cNvSpPr/>
            <p:nvPr/>
          </p:nvSpPr>
          <p:spPr>
            <a:xfrm flipH="1">
              <a:off x="9970" y="6137"/>
              <a:ext cx="1740" cy="1349"/>
            </a:xfrm>
            <a:prstGeom prst="borderCallout1">
              <a:avLst>
                <a:gd name="adj1" fmla="val 47565"/>
                <a:gd name="adj2" fmla="val 1096"/>
                <a:gd name="adj3" fmla="val 138176"/>
                <a:gd name="adj4" fmla="val -68678"/>
              </a:avLst>
            </a:prstGeom>
            <a:solidFill>
              <a:schemeClr val="bg1"/>
            </a:solidFill>
            <a:ln w="12700" cap="flat" cmpd="sng" algn="ctr">
              <a:solidFill>
                <a:schemeClr val="accent1">
                  <a:shade val="50000"/>
                </a:schemeClr>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r>
                <a:rPr kumimoji="0" lang="en-US" altLang="de-DE" b="1" i="0" u="none" strike="noStrike" cap="none" normalizeH="0" baseline="0">
                  <a:ln>
                    <a:noFill/>
                  </a:ln>
                  <a:solidFill>
                    <a:srgbClr val="0070C0"/>
                  </a:solidFill>
                  <a:effectLst/>
                  <a:latin typeface="微软雅黑" panose="020B0503020204020204" charset="-122"/>
                  <a:ea typeface="微软雅黑" panose="020B0503020204020204" charset="-122"/>
                  <a:cs typeface="Arial Unicode MS" panose="020B0604020202020204" pitchFamily="34" charset="-128"/>
                </a:rPr>
                <a:t>  </a:t>
              </a:r>
              <a:r>
                <a:rPr kumimoji="0" lang="de-DE" altLang="en-US" b="1" i="0" u="none" strike="noStrike" cap="none" normalizeH="0" baseline="0">
                  <a:ln>
                    <a:noFill/>
                  </a:ln>
                  <a:solidFill>
                    <a:srgbClr val="0070C0"/>
                  </a:solidFill>
                  <a:effectLst/>
                  <a:latin typeface="微软雅黑" panose="020B0503020204020204" charset="-122"/>
                  <a:ea typeface="微软雅黑" panose="020B0503020204020204" charset="-122"/>
                  <a:cs typeface="Arial Unicode MS" panose="020B0604020202020204" pitchFamily="34" charset="-128"/>
                </a:rPr>
                <a:t>光标</a:t>
              </a:r>
              <a:r>
                <a:rPr kumimoji="0" lang="zh-CN" altLang="de-DE" b="1" i="0" u="none" strike="noStrike" cap="none" normalizeH="0" baseline="0">
                  <a:ln>
                    <a:noFill/>
                  </a:ln>
                  <a:solidFill>
                    <a:srgbClr val="0070C0"/>
                  </a:solidFill>
                  <a:effectLst/>
                  <a:latin typeface="微软雅黑" panose="020B0503020204020204" charset="-122"/>
                  <a:ea typeface="微软雅黑" panose="020B0503020204020204" charset="-122"/>
                  <a:cs typeface="Arial Unicode MS" panose="020B0604020202020204" pitchFamily="34" charset="-128"/>
                </a:rPr>
                <a:t>所在</a:t>
              </a:r>
            </a:p>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r>
                <a:rPr kumimoji="0" lang="de-DE" altLang="en-US" b="1" i="0" u="none" strike="noStrike" cap="none" normalizeH="0" baseline="0">
                  <a:ln>
                    <a:noFill/>
                  </a:ln>
                  <a:solidFill>
                    <a:srgbClr val="0070C0"/>
                  </a:solidFill>
                  <a:effectLst/>
                  <a:latin typeface="微软雅黑" panose="020B0503020204020204" charset="-122"/>
                  <a:ea typeface="微软雅黑" panose="020B0503020204020204" charset="-122"/>
                  <a:cs typeface="Arial Unicode MS" panose="020B0604020202020204" pitchFamily="34" charset="-128"/>
                </a:rPr>
                <a:t>位置。</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p:stCondLst>
                              <p:cond delay="500"/>
                            </p:stCondLst>
                            <p:childTnLst>
                              <p:par>
                                <p:cTn id="9" presetID="47" presetClass="entr" presetSubtype="0" fill="hold" grpId="0"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fade">
                                      <p:cBhvr>
                                        <p:cTn id="11" dur="1000"/>
                                        <p:tgtEl>
                                          <p:spTgt spid="46"/>
                                        </p:tgtEl>
                                      </p:cBhvr>
                                    </p:animEffect>
                                    <p:anim calcmode="lin" valueType="num">
                                      <p:cBhvr>
                                        <p:cTn id="12" dur="1000" fill="hold"/>
                                        <p:tgtEl>
                                          <p:spTgt spid="46"/>
                                        </p:tgtEl>
                                        <p:attrNameLst>
                                          <p:attrName>ppt_x</p:attrName>
                                        </p:attrNameLst>
                                      </p:cBhvr>
                                      <p:tavLst>
                                        <p:tav tm="0">
                                          <p:val>
                                            <p:strVal val="#ppt_x"/>
                                          </p:val>
                                        </p:tav>
                                        <p:tav tm="100000">
                                          <p:val>
                                            <p:strVal val="#ppt_x"/>
                                          </p:val>
                                        </p:tav>
                                      </p:tavLst>
                                    </p:anim>
                                    <p:anim calcmode="lin" valueType="num">
                                      <p:cBhvr>
                                        <p:cTn id="13" dur="1000" fill="hold"/>
                                        <p:tgtEl>
                                          <p:spTgt spid="46"/>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18" presetClass="entr" presetSubtype="9" fill="hold"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strips(upLeft)">
                                      <p:cBhvr>
                                        <p:cTn id="17" dur="500"/>
                                        <p:tgtEl>
                                          <p:spTgt spid="12"/>
                                        </p:tgtEl>
                                      </p:cBhvr>
                                    </p:animEffect>
                                  </p:childTnLst>
                                </p:cTn>
                              </p:par>
                            </p:childTnLst>
                          </p:cTn>
                        </p:par>
                        <p:par>
                          <p:cTn id="18" fill="hold">
                            <p:stCondLst>
                              <p:cond delay="2000"/>
                            </p:stCondLst>
                            <p:childTnLst>
                              <p:par>
                                <p:cTn id="19" presetID="18" presetClass="entr" presetSubtype="9" fill="hold"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strips(upLeft)">
                                      <p:cBhvr>
                                        <p:cTn id="2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508000" y="1784985"/>
            <a:ext cx="11167110" cy="4569162"/>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grpSp>
        <p:nvGrpSpPr>
          <p:cNvPr id="3" name="组合 2"/>
          <p:cNvGrpSpPr/>
          <p:nvPr/>
        </p:nvGrpSpPr>
        <p:grpSpPr>
          <a:xfrm>
            <a:off x="691515" y="1082040"/>
            <a:ext cx="4611370" cy="529590"/>
            <a:chOff x="1089" y="1704"/>
            <a:chExt cx="7262" cy="834"/>
          </a:xfrm>
        </p:grpSpPr>
        <p:sp>
          <p:nvSpPr>
            <p:cNvPr id="22" name="矩形 6"/>
            <p:cNvSpPr>
              <a:spLocks noChangeArrowheads="1"/>
            </p:cNvSpPr>
            <p:nvPr/>
          </p:nvSpPr>
          <p:spPr bwMode="auto">
            <a:xfrm>
              <a:off x="1791" y="1704"/>
              <a:ext cx="6561"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4.3.4  输入方式下光标移动</a:t>
              </a:r>
            </a:p>
          </p:txBody>
        </p:sp>
        <p:sp>
          <p:nvSpPr>
            <p:cNvPr id="23" name="椭圆 22"/>
            <p:cNvSpPr/>
            <p:nvPr/>
          </p:nvSpPr>
          <p:spPr bwMode="auto">
            <a:xfrm>
              <a:off x="1089" y="1887"/>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sp>
        <p:nvSpPr>
          <p:cNvPr id="63" name="矩形 62"/>
          <p:cNvSpPr/>
          <p:nvPr/>
        </p:nvSpPr>
        <p:spPr>
          <a:xfrm>
            <a:off x="691514" y="2156972"/>
            <a:ext cx="6782305" cy="3269613"/>
          </a:xfrm>
          <a:prstGeom prst="rect">
            <a:avLst/>
          </a:prstGeom>
          <a:solidFill>
            <a:srgbClr val="D9D9D9">
              <a:alpha val="40000"/>
            </a:srgbClr>
          </a:solidFill>
        </p:spPr>
        <p:txBody>
          <a:bodyPr wrap="square">
            <a:spAutoFit/>
          </a:bodyPr>
          <a:lstStyle/>
          <a:p>
            <a:pPr indent="457200" fontAlgn="auto">
              <a:lnSpc>
                <a:spcPct val="150000"/>
              </a:lnSpc>
            </a:pPr>
            <a:r>
              <a:rPr lang="zh-CN" altLang="en-US" sz="2000" dirty="0">
                <a:solidFill>
                  <a:schemeClr val="tx1">
                    <a:lumMod val="85000"/>
                    <a:lumOff val="15000"/>
                  </a:schemeClr>
                </a:solidFill>
                <a:latin typeface="微软雅黑" panose="020B0503020204020204" charset="-122"/>
                <a:ea typeface="微软雅黑" panose="020B0503020204020204" charset="-122"/>
                <a:sym typeface="+mn-ea"/>
              </a:rPr>
              <a:t>在键盘的右下方有4个表示方向的方向键，利用它们可以在输入方式下移动光标。每按一次“上”“下”方向键，光标即相应地移动一行；每按一次“左”“右”方向键，光标即在当前行上相应地移动一个字符位置。当光标位于行首（或行尾）时，按下“左”方向键（或“右”方向键），系统会发出“嘟嘟”声，并且返回到命令方式。</a:t>
            </a:r>
            <a:endParaRPr lang="en-US" altLang="zh-CN" sz="2000" dirty="0">
              <a:solidFill>
                <a:schemeClr val="tx1">
                  <a:lumMod val="85000"/>
                  <a:lumOff val="15000"/>
                </a:schemeClr>
              </a:solidFill>
              <a:latin typeface="微软雅黑" panose="020B0503020204020204" charset="-122"/>
              <a:ea typeface="微软雅黑" panose="020B0503020204020204" charset="-122"/>
              <a:sym typeface="+mn-ea"/>
            </a:endParaRPr>
          </a:p>
          <a:p>
            <a:pPr indent="457200" fontAlgn="auto">
              <a:lnSpc>
                <a:spcPct val="150000"/>
              </a:lnSpc>
            </a:pPr>
            <a:endParaRPr lang="en-US" altLang="zh-CN" sz="2000" dirty="0">
              <a:solidFill>
                <a:schemeClr val="tx1">
                  <a:lumMod val="85000"/>
                  <a:lumOff val="15000"/>
                </a:schemeClr>
              </a:solidFill>
              <a:latin typeface="微软雅黑" panose="020B0503020204020204" charset="-122"/>
              <a:ea typeface="微软雅黑" panose="020B0503020204020204" charset="-122"/>
              <a:sym typeface="+mn-ea"/>
            </a:endParaRPr>
          </a:p>
        </p:txBody>
      </p:sp>
      <p:pic>
        <p:nvPicPr>
          <p:cNvPr id="5" name="图片 4" descr="184726343"/>
          <p:cNvPicPr>
            <a:picLocks noChangeAspect="1"/>
          </p:cNvPicPr>
          <p:nvPr/>
        </p:nvPicPr>
        <p:blipFill>
          <a:blip r:embed="rId2" cstate="print"/>
          <a:stretch>
            <a:fillRect/>
          </a:stretch>
        </p:blipFill>
        <p:spPr>
          <a:xfrm>
            <a:off x="7778103" y="3564294"/>
            <a:ext cx="3420069" cy="256533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63"/>
                                        </p:tgtEl>
                                        <p:attrNameLst>
                                          <p:attrName>style.visibility</p:attrName>
                                        </p:attrNameLst>
                                      </p:cBhvr>
                                      <p:to>
                                        <p:strVal val="visible"/>
                                      </p:to>
                                    </p:set>
                                    <p:animEffect transition="in" filter="checkerboard(across)">
                                      <p:cBhvr>
                                        <p:cTn id="11" dur="500"/>
                                        <p:tgtEl>
                                          <p:spTgt spid="63"/>
                                        </p:tgtEl>
                                      </p:cBhvr>
                                    </p:animEffect>
                                  </p:childTnLst>
                                </p:cTn>
                              </p:par>
                            </p:childTnLst>
                          </p:cTn>
                        </p:par>
                        <p:par>
                          <p:cTn id="12" fill="hold">
                            <p:stCondLst>
                              <p:cond delay="1000"/>
                            </p:stCondLst>
                            <p:childTnLst>
                              <p:par>
                                <p:cTn id="13" presetID="2" presetClass="entr" presetSubtype="2"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1+#ppt_w/2"/>
                                          </p:val>
                                        </p:tav>
                                        <p:tav tm="100000">
                                          <p:val>
                                            <p:strVal val="#ppt_x"/>
                                          </p:val>
                                        </p:tav>
                                      </p:tavLst>
                                    </p:anim>
                                    <p:anim calcmode="lin" valueType="num">
                                      <p:cBhvr additive="base">
                                        <p:cTn id="16"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98475" y="1684020"/>
            <a:ext cx="11194415" cy="48044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416623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4.3.4  输入方式下光标移动</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sp>
        <p:nvSpPr>
          <p:cNvPr id="10" name="矩形 9"/>
          <p:cNvSpPr/>
          <p:nvPr/>
        </p:nvSpPr>
        <p:spPr>
          <a:xfrm>
            <a:off x="5523230" y="2486025"/>
            <a:ext cx="5994400" cy="3215005"/>
          </a:xfrm>
          <a:prstGeom prst="rect">
            <a:avLst/>
          </a:prstGeom>
          <a:solidFill>
            <a:schemeClr val="bg2">
              <a:lumMod val="9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5876925" y="2478405"/>
            <a:ext cx="5430520" cy="3162300"/>
          </a:xfrm>
          <a:prstGeom prst="rect">
            <a:avLst/>
          </a:prstGeom>
        </p:spPr>
        <p:txBody>
          <a:bodyPr wrap="square">
            <a:spAutoFit/>
          </a:bodyPr>
          <a:lstStyle/>
          <a:p>
            <a:pPr indent="457200" fontAlgn="auto">
              <a:lnSpc>
                <a:spcPct val="140000"/>
              </a:lnSpc>
            </a:pPr>
            <a:r>
              <a:rPr lang="zh-CN" altLang="en-US" sz="2400" dirty="0">
                <a:solidFill>
                  <a:schemeClr val="tx1">
                    <a:lumMod val="85000"/>
                    <a:lumOff val="15000"/>
                  </a:schemeClr>
                </a:solidFill>
                <a:latin typeface="微软雅黑" panose="020B0503020204020204" charset="-122"/>
                <a:ea typeface="微软雅黑" panose="020B0503020204020204" charset="-122"/>
                <a:sym typeface="+mn-ea"/>
              </a:rPr>
              <a:t>利用</a:t>
            </a:r>
            <a:r>
              <a:rPr lang="zh-CN" altLang="en-US" sz="2400" b="1" dirty="0">
                <a:solidFill>
                  <a:srgbClr val="0070C0"/>
                </a:solidFill>
                <a:latin typeface="微软雅黑" panose="020B0503020204020204" charset="-122"/>
                <a:ea typeface="微软雅黑" panose="020B0503020204020204" charset="-122"/>
                <a:sym typeface="+mn-ea"/>
              </a:rPr>
              <a:t>【Backspace】键</a:t>
            </a:r>
            <a:r>
              <a:rPr lang="zh-CN" altLang="en-US" sz="2400" dirty="0">
                <a:solidFill>
                  <a:schemeClr val="tx1">
                    <a:lumMod val="85000"/>
                    <a:lumOff val="15000"/>
                  </a:schemeClr>
                </a:solidFill>
                <a:latin typeface="微软雅黑" panose="020B0503020204020204" charset="-122"/>
                <a:ea typeface="微软雅黑" panose="020B0503020204020204" charset="-122"/>
                <a:sym typeface="+mn-ea"/>
              </a:rPr>
              <a:t>（退格键）可将光标从当前行新插入的字符上回退一个字符。在按</a:t>
            </a:r>
            <a:r>
              <a:rPr lang="zh-CN" altLang="en-US" sz="2400" b="1" dirty="0">
                <a:solidFill>
                  <a:srgbClr val="0070C0"/>
                </a:solidFill>
                <a:latin typeface="微软雅黑" panose="020B0503020204020204" charset="-122"/>
                <a:ea typeface="微软雅黑" panose="020B0503020204020204" charset="-122"/>
                <a:sym typeface="+mn-ea"/>
              </a:rPr>
              <a:t>【Backspace】键</a:t>
            </a:r>
            <a:r>
              <a:rPr lang="zh-CN" altLang="en-US" sz="2400" dirty="0">
                <a:solidFill>
                  <a:schemeClr val="tx1">
                    <a:lumMod val="85000"/>
                    <a:lumOff val="15000"/>
                  </a:schemeClr>
                </a:solidFill>
                <a:latin typeface="微软雅黑" panose="020B0503020204020204" charset="-122"/>
                <a:ea typeface="微软雅黑" panose="020B0503020204020204" charset="-122"/>
                <a:sym typeface="+mn-ea"/>
              </a:rPr>
              <a:t>（退格键）之后，字符从输入缓冲区中删除，但仍留在当前屏幕上，写入文件时被删除的字符就不存在了。</a:t>
            </a:r>
          </a:p>
        </p:txBody>
      </p:sp>
      <p:grpSp>
        <p:nvGrpSpPr>
          <p:cNvPr id="13" name="组合 12"/>
          <p:cNvGrpSpPr/>
          <p:nvPr/>
        </p:nvGrpSpPr>
        <p:grpSpPr>
          <a:xfrm>
            <a:off x="586740" y="2501900"/>
            <a:ext cx="5165725" cy="3138170"/>
            <a:chOff x="3892" y="3171"/>
            <a:chExt cx="11390" cy="5085"/>
          </a:xfrm>
        </p:grpSpPr>
        <p:grpSp>
          <p:nvGrpSpPr>
            <p:cNvPr id="15" name="组合 14"/>
            <p:cNvGrpSpPr/>
            <p:nvPr/>
          </p:nvGrpSpPr>
          <p:grpSpPr bwMode="auto">
            <a:xfrm>
              <a:off x="3892" y="3171"/>
              <a:ext cx="10918" cy="5085"/>
              <a:chOff x="1102319" y="1794209"/>
              <a:chExt cx="13507740" cy="1713982"/>
            </a:xfrm>
          </p:grpSpPr>
          <p:grpSp>
            <p:nvGrpSpPr>
              <p:cNvPr id="16" name="组合 12"/>
              <p:cNvGrpSpPr/>
              <p:nvPr/>
            </p:nvGrpSpPr>
            <p:grpSpPr bwMode="auto">
              <a:xfrm>
                <a:off x="1102319" y="1794209"/>
                <a:ext cx="13507740" cy="1713982"/>
                <a:chOff x="1102319" y="1794209"/>
                <a:chExt cx="13507740" cy="1713982"/>
              </a:xfrm>
            </p:grpSpPr>
            <p:sp>
              <p:nvSpPr>
                <p:cNvPr id="17" name="矩形 16"/>
                <p:cNvSpPr/>
                <p:nvPr/>
              </p:nvSpPr>
              <p:spPr>
                <a:xfrm>
                  <a:off x="1102319" y="1794209"/>
                  <a:ext cx="13507740"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8" name="矩形 6"/>
                <p:cNvSpPr>
                  <a:spLocks noChangeArrowheads="1"/>
                </p:cNvSpPr>
                <p:nvPr/>
              </p:nvSpPr>
              <p:spPr bwMode="auto">
                <a:xfrm>
                  <a:off x="1256485" y="1794209"/>
                  <a:ext cx="13351791" cy="24971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FF0000"/>
                      </a:solidFill>
                      <a:latin typeface="微软雅黑" panose="020B0503020204020204" charset="-122"/>
                      <a:ea typeface="微软雅黑" panose="020B0503020204020204" charset="-122"/>
                      <a:cs typeface="华康俪金黑W8(P)"/>
                    </a:rPr>
                    <a:t>例如，</a:t>
                  </a:r>
                  <a:r>
                    <a:rPr lang="zh-CN" altLang="en-US" sz="2000" b="1">
                      <a:solidFill>
                        <a:srgbClr val="009900"/>
                      </a:solidFill>
                      <a:latin typeface="微软雅黑" panose="020B0503020204020204" charset="-122"/>
                      <a:ea typeface="微软雅黑" panose="020B0503020204020204" charset="-122"/>
                      <a:cs typeface="华康俪金黑W8(P)"/>
                    </a:rPr>
                    <a:t>屏幕显示的正文行（刚插入的）是：</a:t>
                  </a:r>
                </a:p>
              </p:txBody>
            </p:sp>
          </p:grpSp>
          <p:sp>
            <p:nvSpPr>
              <p:cNvPr id="19" name="MH_Text_1"/>
              <p:cNvSpPr txBox="1">
                <a:spLocks noChangeArrowheads="1"/>
              </p:cNvSpPr>
              <p:nvPr>
                <p:custDataLst>
                  <p:tags r:id="rId3"/>
                </p:custDataLst>
              </p:nvPr>
            </p:nvSpPr>
            <p:spPr bwMode="auto">
              <a:xfrm>
                <a:off x="1369768" y="2064773"/>
                <a:ext cx="12633963" cy="218082"/>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praem</a:t>
                </a:r>
              </a:p>
            </p:txBody>
          </p:sp>
        </p:grpSp>
        <p:grpSp>
          <p:nvGrpSpPr>
            <p:cNvPr id="20" name="组合 19"/>
            <p:cNvGrpSpPr/>
            <p:nvPr/>
          </p:nvGrpSpPr>
          <p:grpSpPr>
            <a:xfrm>
              <a:off x="4047" y="4616"/>
              <a:ext cx="11235" cy="3383"/>
              <a:chOff x="4047" y="4616"/>
              <a:chExt cx="11235" cy="3383"/>
            </a:xfrm>
          </p:grpSpPr>
          <p:sp>
            <p:nvSpPr>
              <p:cNvPr id="21" name="矩形 6"/>
              <p:cNvSpPr>
                <a:spLocks noChangeArrowheads="1"/>
              </p:cNvSpPr>
              <p:nvPr/>
            </p:nvSpPr>
            <p:spPr bwMode="auto">
              <a:xfrm>
                <a:off x="4469" y="6322"/>
                <a:ext cx="10813" cy="741"/>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微软雅黑" panose="020B0503020204020204" charset="-122"/>
                    <a:ea typeface="微软雅黑" panose="020B0503020204020204" charset="-122"/>
                    <a:cs typeface="华康俪金黑W8(P)"/>
                  </a:rPr>
                  <a:t>按Esc键后，显示为：</a:t>
                </a:r>
              </a:p>
            </p:txBody>
          </p:sp>
          <p:grpSp>
            <p:nvGrpSpPr>
              <p:cNvPr id="24" name="组合 23"/>
              <p:cNvGrpSpPr/>
              <p:nvPr/>
            </p:nvGrpSpPr>
            <p:grpSpPr>
              <a:xfrm>
                <a:off x="4047" y="4616"/>
                <a:ext cx="11058" cy="3383"/>
                <a:chOff x="4047" y="4616"/>
                <a:chExt cx="11058" cy="3383"/>
              </a:xfrm>
            </p:grpSpPr>
            <p:sp>
              <p:nvSpPr>
                <p:cNvPr id="25" name="矩形 6"/>
                <p:cNvSpPr>
                  <a:spLocks noChangeArrowheads="1"/>
                </p:cNvSpPr>
                <p:nvPr/>
              </p:nvSpPr>
              <p:spPr bwMode="auto">
                <a:xfrm>
                  <a:off x="4292" y="4616"/>
                  <a:ext cx="10813" cy="741"/>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rgbClr val="009900"/>
                      </a:solidFill>
                      <a:latin typeface="微软雅黑" panose="020B0503020204020204" charset="-122"/>
                      <a:ea typeface="微软雅黑" panose="020B0503020204020204" charset="-122"/>
                      <a:cs typeface="华康俪金黑W8(P)"/>
                    </a:rPr>
                    <a:t>连续按三次Backspace键后，显示为：</a:t>
                  </a:r>
                </a:p>
              </p:txBody>
            </p:sp>
            <p:sp>
              <p:nvSpPr>
                <p:cNvPr id="26" name="MH_Text_1"/>
                <p:cNvSpPr txBox="1">
                  <a:spLocks noChangeArrowheads="1"/>
                </p:cNvSpPr>
                <p:nvPr>
                  <p:custDataLst>
                    <p:tags r:id="rId1"/>
                  </p:custDataLst>
                </p:nvPr>
              </p:nvSpPr>
              <p:spPr bwMode="auto">
                <a:xfrm>
                  <a:off x="4047" y="5539"/>
                  <a:ext cx="10162" cy="783"/>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praem</a:t>
                  </a:r>
                </a:p>
              </p:txBody>
            </p:sp>
            <p:sp>
              <p:nvSpPr>
                <p:cNvPr id="27" name="MH_Text_1"/>
                <p:cNvSpPr txBox="1">
                  <a:spLocks noChangeArrowheads="1"/>
                </p:cNvSpPr>
                <p:nvPr>
                  <p:custDataLst>
                    <p:tags r:id="rId2"/>
                  </p:custDataLst>
                </p:nvPr>
              </p:nvSpPr>
              <p:spPr bwMode="auto">
                <a:xfrm>
                  <a:off x="4047" y="7216"/>
                  <a:ext cx="10162" cy="783"/>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p</a:t>
                  </a:r>
                  <a:r>
                    <a:rPr lang="zh-CN" altLang="en-US" sz="2000" b="1" u="sng" dirty="0">
                      <a:solidFill>
                        <a:srgbClr val="0070C0"/>
                      </a:solidFill>
                      <a:latin typeface="微软雅黑" panose="020B0503020204020204" charset="-122"/>
                      <a:ea typeface="微软雅黑" panose="020B0503020204020204" charset="-122"/>
                      <a:cs typeface="+mn-cs"/>
                      <a:sym typeface="+mn-ea"/>
                    </a:rPr>
                    <a:t>r</a:t>
                  </a:r>
                </a:p>
              </p:txBody>
            </p:sp>
          </p:gr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 presetClass="entr" presetSubtype="10" fill="hold" grpId="0"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checkerboard(across)">
                                      <p:cBhvr>
                                        <p:cTn id="13" dur="500"/>
                                        <p:tgtEl>
                                          <p:spTgt spid="12"/>
                                        </p:tgtEl>
                                      </p:cBhvr>
                                    </p:animEffect>
                                  </p:childTnLst>
                                </p:cTn>
                              </p:par>
                              <p:par>
                                <p:cTn id="14" presetID="18" presetClass="entr" presetSubtype="6"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strips(downRight)">
                                      <p:cBhvr>
                                        <p:cTn id="1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AutoShape 3"/>
          <p:cNvSpPr>
            <a:spLocks noChangeArrowheads="1"/>
          </p:cNvSpPr>
          <p:nvPr/>
        </p:nvSpPr>
        <p:spPr bwMode="auto">
          <a:xfrm>
            <a:off x="1555115" y="1776730"/>
            <a:ext cx="9341485" cy="4612005"/>
          </a:xfrm>
          <a:prstGeom prst="roundRect">
            <a:avLst>
              <a:gd name="adj" fmla="val 2773"/>
            </a:avLst>
          </a:prstGeom>
          <a:noFill/>
          <a:ln w="3175">
            <a:solidFill>
              <a:srgbClr val="333333"/>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6148" name="AutoShape 4"/>
          <p:cNvSpPr>
            <a:spLocks noChangeArrowheads="1"/>
          </p:cNvSpPr>
          <p:nvPr/>
        </p:nvSpPr>
        <p:spPr bwMode="auto">
          <a:xfrm>
            <a:off x="5062855" y="1310005"/>
            <a:ext cx="2147570" cy="869315"/>
          </a:xfrm>
          <a:prstGeom prst="roundRect">
            <a:avLst>
              <a:gd name="adj" fmla="val 15657"/>
            </a:avLst>
          </a:prstGeom>
          <a:solidFill>
            <a:schemeClr val="bg1"/>
          </a:solidFill>
          <a:ln w="3175">
            <a:solidFill>
              <a:srgbClr val="333333">
                <a:alpha val="56862"/>
              </a:srgbClr>
            </a:solidFill>
            <a:round/>
          </a:ln>
        </p:spPr>
        <p:txBody>
          <a:bodyPr wrap="none" anchor="ctr"/>
          <a:lstStyle/>
          <a:p>
            <a:pPr algn="ctr">
              <a:spcBef>
                <a:spcPct val="50000"/>
              </a:spcBef>
              <a:buFont typeface="Arial" panose="020B0604020202020204" pitchFamily="34" charset="0"/>
              <a:buNone/>
            </a:pPr>
            <a:r>
              <a:rPr lang="zh-CN" altLang="en-US" sz="3200" b="1">
                <a:latin typeface="微软雅黑" panose="020B0503020204020204" charset="-122"/>
                <a:ea typeface="微软雅黑" panose="020B0503020204020204" charset="-122"/>
              </a:rPr>
              <a:t>本章要点</a:t>
            </a:r>
          </a:p>
        </p:txBody>
      </p:sp>
      <p:sp>
        <p:nvSpPr>
          <p:cNvPr id="3" name="标题 1"/>
          <p:cNvSpPr>
            <a:spLocks noGrp="1"/>
          </p:cNvSpPr>
          <p:nvPr/>
        </p:nvSpPr>
        <p:spPr>
          <a:xfrm>
            <a:off x="3462655" y="310515"/>
            <a:ext cx="1133475" cy="561975"/>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defRPr>
            </a:lvl1pPr>
          </a:lstStyle>
          <a:p>
            <a:pPr fontAlgn="auto">
              <a:buFont typeface="Arial" panose="020B0604020202020204" pitchFamily="34" charset="0"/>
              <a:buNone/>
              <a:defRPr/>
            </a:pPr>
            <a:r>
              <a:rPr lang="zh-CN" altLang="en-US" noProof="1">
                <a:cs typeface="+mn-cs"/>
              </a:rPr>
              <a:t>目录</a:t>
            </a:r>
            <a:endParaRPr lang="zh-CN" altLang="en-US" noProof="1"/>
          </a:p>
        </p:txBody>
      </p:sp>
      <p:grpSp>
        <p:nvGrpSpPr>
          <p:cNvPr id="10" name="Group 5"/>
          <p:cNvGrpSpPr/>
          <p:nvPr/>
        </p:nvGrpSpPr>
        <p:grpSpPr bwMode="auto">
          <a:xfrm>
            <a:off x="6588125" y="5144770"/>
            <a:ext cx="3764280" cy="481330"/>
            <a:chOff x="3" y="0"/>
            <a:chExt cx="4243" cy="333"/>
          </a:xfrm>
        </p:grpSpPr>
        <p:grpSp>
          <p:nvGrpSpPr>
            <p:cNvPr id="11" name="Group 6"/>
            <p:cNvGrpSpPr/>
            <p:nvPr/>
          </p:nvGrpSpPr>
          <p:grpSpPr bwMode="auto">
            <a:xfrm>
              <a:off x="3" y="0"/>
              <a:ext cx="4243" cy="333"/>
              <a:chOff x="0" y="0"/>
              <a:chExt cx="4243" cy="333"/>
            </a:xfrm>
          </p:grpSpPr>
          <p:sp>
            <p:nvSpPr>
              <p:cNvPr id="1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4.8  ex命令</a:t>
              </a:r>
            </a:p>
          </p:txBody>
        </p:sp>
      </p:grpSp>
      <p:grpSp>
        <p:nvGrpSpPr>
          <p:cNvPr id="15" name="Group 5"/>
          <p:cNvGrpSpPr/>
          <p:nvPr/>
        </p:nvGrpSpPr>
        <p:grpSpPr bwMode="auto">
          <a:xfrm>
            <a:off x="6569075" y="4255135"/>
            <a:ext cx="3794760" cy="481330"/>
            <a:chOff x="3" y="0"/>
            <a:chExt cx="4243" cy="333"/>
          </a:xfrm>
        </p:grpSpPr>
        <p:grpSp>
          <p:nvGrpSpPr>
            <p:cNvPr id="16" name="Group 6"/>
            <p:cNvGrpSpPr/>
            <p:nvPr/>
          </p:nvGrpSpPr>
          <p:grpSpPr bwMode="auto">
            <a:xfrm>
              <a:off x="3" y="0"/>
              <a:ext cx="4243" cy="333"/>
              <a:chOff x="0" y="0"/>
              <a:chExt cx="4243" cy="333"/>
            </a:xfrm>
          </p:grpSpPr>
          <p:sp>
            <p:nvSpPr>
              <p:cNvPr id="1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4.7  文本修改</a:t>
              </a:r>
            </a:p>
          </p:txBody>
        </p:sp>
      </p:grpSp>
      <p:grpSp>
        <p:nvGrpSpPr>
          <p:cNvPr id="20" name="Group 5"/>
          <p:cNvGrpSpPr/>
          <p:nvPr/>
        </p:nvGrpSpPr>
        <p:grpSpPr bwMode="auto">
          <a:xfrm>
            <a:off x="2021205" y="2421255"/>
            <a:ext cx="4041140" cy="481330"/>
            <a:chOff x="3" y="0"/>
            <a:chExt cx="4243" cy="333"/>
          </a:xfrm>
        </p:grpSpPr>
        <p:grpSp>
          <p:nvGrpSpPr>
            <p:cNvPr id="21" name="Group 6"/>
            <p:cNvGrpSpPr/>
            <p:nvPr/>
          </p:nvGrpSpPr>
          <p:grpSpPr bwMode="auto">
            <a:xfrm>
              <a:off x="3" y="0"/>
              <a:ext cx="4243" cy="333"/>
              <a:chOff x="0" y="0"/>
              <a:chExt cx="4243" cy="333"/>
            </a:xfrm>
          </p:grpSpPr>
          <p:sp>
            <p:nvSpPr>
              <p:cNvPr id="2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4.1  vi的工作方式</a:t>
              </a:r>
            </a:p>
          </p:txBody>
        </p:sp>
      </p:grpSp>
      <p:grpSp>
        <p:nvGrpSpPr>
          <p:cNvPr id="25" name="Group 5"/>
          <p:cNvGrpSpPr/>
          <p:nvPr/>
        </p:nvGrpSpPr>
        <p:grpSpPr bwMode="auto">
          <a:xfrm>
            <a:off x="1986280" y="3320415"/>
            <a:ext cx="4091940" cy="481330"/>
            <a:chOff x="3" y="0"/>
            <a:chExt cx="4243" cy="333"/>
          </a:xfrm>
        </p:grpSpPr>
        <p:grpSp>
          <p:nvGrpSpPr>
            <p:cNvPr id="26" name="Group 6"/>
            <p:cNvGrpSpPr/>
            <p:nvPr/>
          </p:nvGrpSpPr>
          <p:grpSpPr bwMode="auto">
            <a:xfrm>
              <a:off x="3" y="0"/>
              <a:ext cx="4243" cy="333"/>
              <a:chOff x="0" y="0"/>
              <a:chExt cx="4243" cy="333"/>
            </a:xfrm>
          </p:grpSpPr>
          <p:sp>
            <p:nvSpPr>
              <p:cNvPr id="2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4.2  vi的启动和退出</a:t>
              </a:r>
            </a:p>
          </p:txBody>
        </p:sp>
      </p:grpSp>
      <p:grpSp>
        <p:nvGrpSpPr>
          <p:cNvPr id="30" name="Group 5"/>
          <p:cNvGrpSpPr/>
          <p:nvPr/>
        </p:nvGrpSpPr>
        <p:grpSpPr bwMode="auto">
          <a:xfrm>
            <a:off x="2034540" y="4241165"/>
            <a:ext cx="4074160" cy="481330"/>
            <a:chOff x="3" y="0"/>
            <a:chExt cx="4243" cy="333"/>
          </a:xfrm>
        </p:grpSpPr>
        <p:grpSp>
          <p:nvGrpSpPr>
            <p:cNvPr id="31" name="Group 6"/>
            <p:cNvGrpSpPr/>
            <p:nvPr/>
          </p:nvGrpSpPr>
          <p:grpSpPr bwMode="auto">
            <a:xfrm>
              <a:off x="3" y="0"/>
              <a:ext cx="4243" cy="333"/>
              <a:chOff x="0" y="0"/>
              <a:chExt cx="4243" cy="333"/>
            </a:xfrm>
          </p:grpSpPr>
          <p:sp>
            <p:nvSpPr>
              <p:cNvPr id="3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4.3  文本输入</a:t>
              </a:r>
            </a:p>
          </p:txBody>
        </p:sp>
      </p:grpSp>
      <p:grpSp>
        <p:nvGrpSpPr>
          <p:cNvPr id="35" name="Group 5"/>
          <p:cNvGrpSpPr/>
          <p:nvPr/>
        </p:nvGrpSpPr>
        <p:grpSpPr bwMode="auto">
          <a:xfrm>
            <a:off x="2046605" y="5113020"/>
            <a:ext cx="4037330" cy="481330"/>
            <a:chOff x="3" y="0"/>
            <a:chExt cx="4243" cy="333"/>
          </a:xfrm>
        </p:grpSpPr>
        <p:grpSp>
          <p:nvGrpSpPr>
            <p:cNvPr id="36" name="Group 6"/>
            <p:cNvGrpSpPr/>
            <p:nvPr/>
          </p:nvGrpSpPr>
          <p:grpSpPr bwMode="auto">
            <a:xfrm>
              <a:off x="3" y="0"/>
              <a:ext cx="4243" cy="333"/>
              <a:chOff x="0" y="0"/>
              <a:chExt cx="4243" cy="333"/>
            </a:xfrm>
          </p:grpSpPr>
          <p:sp>
            <p:nvSpPr>
              <p:cNvPr id="37" name="AutoShape 7"/>
              <p:cNvSpPr>
                <a:spLocks noChangeArrowheads="1"/>
              </p:cNvSpPr>
              <p:nvPr/>
            </p:nvSpPr>
            <p:spPr bwMode="auto">
              <a:xfrm>
                <a:off x="0" y="0"/>
                <a:ext cx="4243" cy="333"/>
              </a:xfrm>
              <a:prstGeom prst="roundRect">
                <a:avLst>
                  <a:gd name="adj" fmla="val 15657"/>
                </a:avLst>
              </a:prstGeom>
              <a:solidFill>
                <a:srgbClr val="00B0F0"/>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9" name="Text Box 9"/>
            <p:cNvSpPr txBox="1">
              <a:spLocks noChangeArrowheads="1"/>
            </p:cNvSpPr>
            <p:nvPr/>
          </p:nvSpPr>
          <p:spPr bwMode="auto">
            <a:xfrm>
              <a:off x="879" y="34"/>
              <a:ext cx="3004"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tx1"/>
                  </a:solidFill>
                  <a:latin typeface="微软雅黑" panose="020B0503020204020204" charset="-122"/>
                  <a:ea typeface="微软雅黑" panose="020B0503020204020204" charset="-122"/>
                  <a:sym typeface="Arial Unicode MS" panose="020B0604020202020204" pitchFamily="34" charset="-122"/>
                </a:rPr>
                <a:t>4.4  打开文件</a:t>
              </a:r>
            </a:p>
          </p:txBody>
        </p:sp>
      </p:grpSp>
      <p:grpSp>
        <p:nvGrpSpPr>
          <p:cNvPr id="40" name="Group 5"/>
          <p:cNvGrpSpPr/>
          <p:nvPr/>
        </p:nvGrpSpPr>
        <p:grpSpPr bwMode="auto">
          <a:xfrm>
            <a:off x="6516370" y="2437130"/>
            <a:ext cx="3808095" cy="481330"/>
            <a:chOff x="3" y="0"/>
            <a:chExt cx="4243" cy="333"/>
          </a:xfrm>
        </p:grpSpPr>
        <p:grpSp>
          <p:nvGrpSpPr>
            <p:cNvPr id="41" name="Group 6"/>
            <p:cNvGrpSpPr/>
            <p:nvPr/>
          </p:nvGrpSpPr>
          <p:grpSpPr bwMode="auto">
            <a:xfrm>
              <a:off x="3" y="0"/>
              <a:ext cx="4243" cy="333"/>
              <a:chOff x="0" y="0"/>
              <a:chExt cx="4243" cy="333"/>
            </a:xfrm>
          </p:grpSpPr>
          <p:sp>
            <p:nvSpPr>
              <p:cNvPr id="4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4.5  保存文件</a:t>
              </a:r>
            </a:p>
          </p:txBody>
        </p:sp>
      </p:grpSp>
      <p:grpSp>
        <p:nvGrpSpPr>
          <p:cNvPr id="45" name="Group 5"/>
          <p:cNvGrpSpPr/>
          <p:nvPr/>
        </p:nvGrpSpPr>
        <p:grpSpPr bwMode="auto">
          <a:xfrm>
            <a:off x="6548120" y="3333750"/>
            <a:ext cx="3775710" cy="481330"/>
            <a:chOff x="3" y="0"/>
            <a:chExt cx="4243" cy="333"/>
          </a:xfrm>
        </p:grpSpPr>
        <p:grpSp>
          <p:nvGrpSpPr>
            <p:cNvPr id="46" name="Group 6"/>
            <p:cNvGrpSpPr/>
            <p:nvPr/>
          </p:nvGrpSpPr>
          <p:grpSpPr bwMode="auto">
            <a:xfrm>
              <a:off x="3" y="0"/>
              <a:ext cx="4243" cy="333"/>
              <a:chOff x="0" y="0"/>
              <a:chExt cx="4243" cy="333"/>
            </a:xfrm>
          </p:grpSpPr>
          <p:sp>
            <p:nvSpPr>
              <p:cNvPr id="4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4.6  移动光标</a:t>
              </a:r>
            </a:p>
          </p:txBody>
        </p:sp>
      </p:grpSp>
    </p:spTree>
  </p:cSld>
  <p:clrMapOvr>
    <a:masterClrMapping/>
  </p:clrMapOvr>
  <p:transition>
    <p:randomBa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p:cNvSpPr/>
          <p:nvPr/>
        </p:nvSpPr>
        <p:spPr>
          <a:xfrm>
            <a:off x="4161155" y="1920240"/>
            <a:ext cx="7461885" cy="460375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r>
              <a:rPr lang="en-US" altLang="zh-CN" sz="1900" dirty="0">
                <a:latin typeface="微软雅黑" panose="020B0503020204020204" charset="-122"/>
                <a:ea typeface="微软雅黑" panose="020B0503020204020204" charset="-122"/>
                <a:sym typeface="+mn-ea"/>
              </a:rPr>
              <a:t>      </a:t>
            </a: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10242" name="AutoShape 2"/>
          <p:cNvSpPr/>
          <p:nvPr/>
        </p:nvSpPr>
        <p:spPr>
          <a:xfrm>
            <a:off x="447040" y="1920240"/>
            <a:ext cx="3554095" cy="4603115"/>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grpSp>
        <p:nvGrpSpPr>
          <p:cNvPr id="2" name="组合 1"/>
          <p:cNvGrpSpPr/>
          <p:nvPr/>
        </p:nvGrpSpPr>
        <p:grpSpPr>
          <a:xfrm>
            <a:off x="691515" y="1082040"/>
            <a:ext cx="4084320" cy="529590"/>
            <a:chOff x="1089" y="1704"/>
            <a:chExt cx="6432" cy="834"/>
          </a:xfrm>
        </p:grpSpPr>
        <p:sp>
          <p:nvSpPr>
            <p:cNvPr id="22" name="矩形 6"/>
            <p:cNvSpPr>
              <a:spLocks noChangeArrowheads="1"/>
            </p:cNvSpPr>
            <p:nvPr/>
          </p:nvSpPr>
          <p:spPr bwMode="auto">
            <a:xfrm>
              <a:off x="1791" y="1704"/>
              <a:ext cx="5730"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4.</a:t>
              </a:r>
              <a:r>
                <a:rPr lang="en-US" altLang="zh-CN" sz="2400" b="1">
                  <a:solidFill>
                    <a:srgbClr val="0066FF"/>
                  </a:solidFill>
                  <a:latin typeface="微软雅黑" panose="020B0503020204020204" charset="-122"/>
                  <a:ea typeface="微软雅黑" panose="020B0503020204020204" charset="-122"/>
                  <a:sym typeface="+mn-ea"/>
                </a:rPr>
                <a:t>4</a:t>
              </a:r>
              <a:r>
                <a:rPr lang="zh-CN" altLang="en-US" sz="2400" b="1">
                  <a:solidFill>
                    <a:srgbClr val="0066FF"/>
                  </a:solidFill>
                  <a:latin typeface="微软雅黑" panose="020B0503020204020204" charset="-122"/>
                  <a:ea typeface="微软雅黑" panose="020B0503020204020204" charset="-122"/>
                  <a:sym typeface="+mn-ea"/>
                </a:rPr>
                <a:t>.</a:t>
              </a:r>
              <a:r>
                <a:rPr lang="en-US" altLang="zh-CN" sz="2400" b="1">
                  <a:solidFill>
                    <a:srgbClr val="0066FF"/>
                  </a:solidFill>
                  <a:latin typeface="微软雅黑" panose="020B0503020204020204" charset="-122"/>
                  <a:ea typeface="微软雅黑" panose="020B0503020204020204" charset="-122"/>
                  <a:sym typeface="+mn-ea"/>
                </a:rPr>
                <a:t>1 </a:t>
              </a:r>
              <a:r>
                <a:rPr lang="zh-CN" altLang="en-US" sz="2400" b="1">
                  <a:solidFill>
                    <a:srgbClr val="0066FF"/>
                  </a:solidFill>
                  <a:latin typeface="微软雅黑" panose="020B0503020204020204" charset="-122"/>
                  <a:ea typeface="微软雅黑" panose="020B0503020204020204" charset="-122"/>
                  <a:sym typeface="+mn-ea"/>
                </a:rPr>
                <a:t> 打开一个文件</a:t>
              </a:r>
            </a:p>
          </p:txBody>
        </p:sp>
        <p:sp>
          <p:nvSpPr>
            <p:cNvPr id="23" name="椭圆 22"/>
            <p:cNvSpPr/>
            <p:nvPr/>
          </p:nvSpPr>
          <p:spPr bwMode="auto">
            <a:xfrm>
              <a:off x="1089" y="1887"/>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sp>
        <p:nvSpPr>
          <p:cNvPr id="10" name="Text Box 44"/>
          <p:cNvSpPr txBox="1">
            <a:spLocks noChangeArrowheads="1"/>
          </p:cNvSpPr>
          <p:nvPr/>
        </p:nvSpPr>
        <p:spPr bwMode="auto">
          <a:xfrm>
            <a:off x="691515" y="2291080"/>
            <a:ext cx="2791460" cy="367411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400" dirty="0">
                <a:solidFill>
                  <a:schemeClr val="tx1">
                    <a:lumMod val="85000"/>
                    <a:lumOff val="15000"/>
                  </a:schemeClr>
                </a:solidFill>
              </a:rPr>
              <a:t>在vi编辑器下，打开文件是指将从磁盘中调入内存，以供vi使用。vi可以一次打开一个文件，也可以一次打开多个文件。</a:t>
            </a:r>
          </a:p>
        </p:txBody>
      </p:sp>
      <p:sp>
        <p:nvSpPr>
          <p:cNvPr id="6" name="Text Box 44"/>
          <p:cNvSpPr txBox="1">
            <a:spLocks noChangeArrowheads="1"/>
          </p:cNvSpPr>
          <p:nvPr/>
        </p:nvSpPr>
        <p:spPr bwMode="auto">
          <a:xfrm>
            <a:off x="4364355" y="2291080"/>
            <a:ext cx="7044690" cy="162687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scene3d>
              <a:camera prst="orthographicFront"/>
              <a:lightRig rig="threePt" dir="t"/>
            </a:scene3d>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400" dirty="0">
                <a:solidFill>
                  <a:schemeClr val="tx1">
                    <a:lumMod val="85000"/>
                    <a:lumOff val="15000"/>
                  </a:schemeClr>
                </a:solidFill>
                <a:effectLst/>
              </a:rPr>
              <a:t>用vi打开文件的方法很简单，即在vi命令后面接上路径及文件名，然后按</a:t>
            </a:r>
            <a:r>
              <a:rPr lang="zh-CN" altLang="en-US" sz="2400" b="1" dirty="0">
                <a:solidFill>
                  <a:srgbClr val="0070C0"/>
                </a:solidFill>
                <a:effectLst/>
              </a:rPr>
              <a:t>【Enter】键</a:t>
            </a:r>
            <a:r>
              <a:rPr lang="zh-CN" altLang="en-US" sz="2400" dirty="0">
                <a:solidFill>
                  <a:schemeClr val="tx1">
                    <a:lumMod val="85000"/>
                    <a:lumOff val="15000"/>
                  </a:schemeClr>
                </a:solidFill>
                <a:effectLst/>
              </a:rPr>
              <a:t>，就像下面这样：</a:t>
            </a:r>
          </a:p>
        </p:txBody>
      </p:sp>
      <p:sp>
        <p:nvSpPr>
          <p:cNvPr id="8" name="流程图: 过程 7"/>
          <p:cNvSpPr/>
          <p:nvPr/>
        </p:nvSpPr>
        <p:spPr>
          <a:xfrm>
            <a:off x="4776017" y="4580890"/>
            <a:ext cx="2380588" cy="502920"/>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latinLnBrk="0" hangingPunct="1">
              <a:lnSpc>
                <a:spcPct val="100000"/>
              </a:lnSpc>
              <a:spcBef>
                <a:spcPct val="0"/>
              </a:spcBef>
              <a:spcAft>
                <a:spcPct val="0"/>
              </a:spcAft>
              <a:buClr>
                <a:schemeClr val="accent1"/>
              </a:buClr>
              <a:buSzPct val="80000"/>
              <a:buFont typeface="Wingdings" panose="05000000000000000000" pitchFamily="2" charset="2"/>
              <a:buNone/>
            </a:pPr>
            <a:r>
              <a:rPr lang="zh-CN" altLang="en-US" sz="2000" b="1" dirty="0">
                <a:solidFill>
                  <a:srgbClr val="0070C0"/>
                </a:solidFill>
                <a:latin typeface="微软雅黑" panose="020B0503020204020204" charset="-122"/>
                <a:ea typeface="微软雅黑" panose="020B0503020204020204" charset="-122"/>
                <a:sym typeface="Arial Unicode MS" panose="020B0604020202020204" pitchFamily="34" charset="-122"/>
              </a:rPr>
              <a:t>vi  vi_test</a:t>
            </a:r>
          </a:p>
        </p:txBody>
      </p:sp>
      <p:pic>
        <p:nvPicPr>
          <p:cNvPr id="3" name="图片 2" descr="u=2390986283,4139472517&amp;fm=21&amp;gp=0"/>
          <p:cNvPicPr>
            <a:picLocks noChangeAspect="1"/>
          </p:cNvPicPr>
          <p:nvPr/>
        </p:nvPicPr>
        <p:blipFill>
          <a:blip r:embed="rId2" cstate="print"/>
          <a:stretch>
            <a:fillRect/>
          </a:stretch>
        </p:blipFill>
        <p:spPr>
          <a:xfrm>
            <a:off x="8261985" y="4282440"/>
            <a:ext cx="3361055" cy="224091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500"/>
                                        <p:tgtEl>
                                          <p:spTgt spid="10"/>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500"/>
                                        <p:tgtEl>
                                          <p:spTgt spid="6"/>
                                        </p:tgtEl>
                                      </p:cBhvr>
                                    </p:animEffect>
                                  </p:childTnLst>
                                </p:cTn>
                              </p:par>
                            </p:childTnLst>
                          </p:cTn>
                        </p:par>
                        <p:par>
                          <p:cTn id="16" fill="hold">
                            <p:stCondLst>
                              <p:cond delay="1500"/>
                            </p:stCondLst>
                            <p:childTnLst>
                              <p:par>
                                <p:cTn id="17" presetID="18" presetClass="entr" presetSubtype="6"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trips(downRight)">
                                      <p:cBhvr>
                                        <p:cTn id="19" dur="500"/>
                                        <p:tgtEl>
                                          <p:spTgt spid="8"/>
                                        </p:tgtEl>
                                      </p:cBhvr>
                                    </p:animEffect>
                                  </p:childTnLst>
                                </p:cTn>
                              </p:par>
                              <p:par>
                                <p:cTn id="20" presetID="18" presetClass="entr" presetSubtype="6" fill="hold"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strips(downRight)">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6" grpId="0" animBg="1"/>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508000" y="1718310"/>
            <a:ext cx="11194415" cy="48044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336677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4.</a:t>
            </a:r>
            <a:r>
              <a:rPr lang="en-US" altLang="zh-CN" sz="2400" b="1">
                <a:solidFill>
                  <a:srgbClr val="0066FF"/>
                </a:solidFill>
                <a:latin typeface="微软雅黑" panose="020B0503020204020204" charset="-122"/>
                <a:ea typeface="微软雅黑" panose="020B0503020204020204" charset="-122"/>
                <a:sym typeface="+mn-ea"/>
              </a:rPr>
              <a:t>4</a:t>
            </a:r>
            <a:r>
              <a:rPr lang="zh-CN" altLang="en-US" sz="2400" b="1">
                <a:solidFill>
                  <a:srgbClr val="0066FF"/>
                </a:solidFill>
                <a:latin typeface="微软雅黑" panose="020B0503020204020204" charset="-122"/>
                <a:ea typeface="微软雅黑" panose="020B0503020204020204" charset="-122"/>
                <a:sym typeface="+mn-ea"/>
              </a:rPr>
              <a:t>.</a:t>
            </a:r>
            <a:r>
              <a:rPr lang="en-US" altLang="zh-CN" sz="2400" b="1">
                <a:solidFill>
                  <a:srgbClr val="0066FF"/>
                </a:solidFill>
                <a:latin typeface="微软雅黑" panose="020B0503020204020204" charset="-122"/>
                <a:ea typeface="微软雅黑" panose="020B0503020204020204" charset="-122"/>
                <a:sym typeface="+mn-ea"/>
              </a:rPr>
              <a:t>1 </a:t>
            </a:r>
            <a:r>
              <a:rPr lang="zh-CN" altLang="en-US" sz="2400" b="1">
                <a:solidFill>
                  <a:srgbClr val="0066FF"/>
                </a:solidFill>
                <a:latin typeface="微软雅黑" panose="020B0503020204020204" charset="-122"/>
                <a:ea typeface="微软雅黑" panose="020B0503020204020204" charset="-122"/>
                <a:sym typeface="+mn-ea"/>
              </a:rPr>
              <a:t> 打开一个文件</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14" name="组合 14"/>
          <p:cNvGrpSpPr/>
          <p:nvPr/>
        </p:nvGrpSpPr>
        <p:grpSpPr bwMode="auto">
          <a:xfrm>
            <a:off x="1490345" y="2393315"/>
            <a:ext cx="8828405" cy="4065587"/>
            <a:chOff x="1166778" y="1786456"/>
            <a:chExt cx="13504529" cy="1713982"/>
          </a:xfrm>
        </p:grpSpPr>
        <p:grpSp>
          <p:nvGrpSpPr>
            <p:cNvPr id="10249" name="组合 12"/>
            <p:cNvGrpSpPr/>
            <p:nvPr/>
          </p:nvGrpSpPr>
          <p:grpSpPr bwMode="auto">
            <a:xfrm>
              <a:off x="1166778" y="1786456"/>
              <a:ext cx="13504529" cy="1713982"/>
              <a:chOff x="1166778" y="1786456"/>
              <a:chExt cx="13504529" cy="1713982"/>
            </a:xfrm>
          </p:grpSpPr>
          <p:sp>
            <p:nvSpPr>
              <p:cNvPr id="2" name="矩形 1"/>
              <p:cNvSpPr/>
              <p:nvPr/>
            </p:nvSpPr>
            <p:spPr>
              <a:xfrm>
                <a:off x="1166778" y="1786456"/>
                <a:ext cx="13504529"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0252" name="矩形 6"/>
              <p:cNvSpPr>
                <a:spLocks noChangeArrowheads="1"/>
              </p:cNvSpPr>
              <p:nvPr/>
            </p:nvSpPr>
            <p:spPr bwMode="auto">
              <a:xfrm>
                <a:off x="1256122" y="1794256"/>
                <a:ext cx="9360492" cy="192748"/>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en-US" altLang="zh-CN" sz="2000" b="1">
                    <a:solidFill>
                      <a:srgbClr val="009900"/>
                    </a:solidFill>
                    <a:latin typeface="微软雅黑" panose="020B0503020204020204" charset="-122"/>
                    <a:ea typeface="微软雅黑" panose="020B0503020204020204" charset="-122"/>
                    <a:cs typeface="华康俪金黑W8(P)"/>
                  </a:rPr>
                  <a:t>  </a:t>
                </a:r>
                <a:r>
                  <a:rPr lang="zh-CN" altLang="en-US" sz="2000" b="1">
                    <a:solidFill>
                      <a:srgbClr val="009900"/>
                    </a:solidFill>
                    <a:latin typeface="微软雅黑" panose="020B0503020204020204" charset="-122"/>
                    <a:ea typeface="微软雅黑" panose="020B0503020204020204" charset="-122"/>
                    <a:cs typeface="华康俪金黑W8(P)"/>
                  </a:rPr>
                  <a:t>上面的操作可打开如下屏幕显示：</a:t>
                </a:r>
              </a:p>
            </p:txBody>
          </p:sp>
        </p:grpSp>
        <p:sp>
          <p:nvSpPr>
            <p:cNvPr id="10250" name="MH_Text_1"/>
            <p:cNvSpPr txBox="1">
              <a:spLocks noChangeArrowheads="1"/>
            </p:cNvSpPr>
            <p:nvPr>
              <p:custDataLst>
                <p:tags r:id="rId1"/>
              </p:custDataLst>
            </p:nvPr>
          </p:nvSpPr>
          <p:spPr bwMode="auto">
            <a:xfrm>
              <a:off x="1234772" y="1990983"/>
              <a:ext cx="13311232" cy="1484157"/>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How  are  you! </a:t>
              </a:r>
            </a:p>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This is thr first text made by vi! </a:t>
              </a:r>
            </a:p>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It's very simple. Don’t you think so? </a:t>
              </a:r>
            </a:p>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 </a:t>
              </a:r>
            </a:p>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 </a:t>
              </a:r>
            </a:p>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 </a:t>
              </a:r>
            </a:p>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 </a:t>
              </a:r>
            </a:p>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 </a:t>
              </a:r>
            </a:p>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"vi_test" [已转换]   3L,85C                        1,1            全部</a:t>
              </a:r>
            </a:p>
          </p:txBody>
        </p:sp>
      </p:grpSp>
      <p:sp>
        <p:nvSpPr>
          <p:cNvPr id="10" name="Text Box 44"/>
          <p:cNvSpPr txBox="1">
            <a:spLocks noChangeArrowheads="1"/>
          </p:cNvSpPr>
          <p:nvPr/>
        </p:nvSpPr>
        <p:spPr bwMode="auto">
          <a:xfrm>
            <a:off x="508000" y="1718310"/>
            <a:ext cx="10650220" cy="51816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b="1" dirty="0">
                <a:solidFill>
                  <a:schemeClr val="tx1">
                    <a:lumMod val="75000"/>
                    <a:lumOff val="25000"/>
                  </a:schemeClr>
                </a:solidFill>
              </a:rPr>
              <a:t>vi程序就会在指定的路径里寻找文件。如果没有指定路径，就默认为当前目录。</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Right)">
                                      <p:cBhvr>
                                        <p:cTn id="7" dur="500"/>
                                        <p:tgtEl>
                                          <p:spTgt spid="10"/>
                                        </p:tgtEl>
                                      </p:cBhvr>
                                    </p:animEffect>
                                  </p:childTnLst>
                                </p:cTn>
                              </p:par>
                              <p:par>
                                <p:cTn id="8" presetID="18" presetClass="entr" presetSubtype="6"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strips(downRight)">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508000" y="1718310"/>
            <a:ext cx="11194415" cy="48044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336677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4.</a:t>
            </a:r>
            <a:r>
              <a:rPr lang="en-US" altLang="zh-CN" sz="2400" b="1">
                <a:solidFill>
                  <a:srgbClr val="0066FF"/>
                </a:solidFill>
                <a:latin typeface="微软雅黑" panose="020B0503020204020204" charset="-122"/>
                <a:ea typeface="微软雅黑" panose="020B0503020204020204" charset="-122"/>
                <a:sym typeface="+mn-ea"/>
              </a:rPr>
              <a:t>4</a:t>
            </a:r>
            <a:r>
              <a:rPr lang="zh-CN" altLang="en-US" sz="2400" b="1">
                <a:solidFill>
                  <a:srgbClr val="0066FF"/>
                </a:solidFill>
                <a:latin typeface="微软雅黑" panose="020B0503020204020204" charset="-122"/>
                <a:ea typeface="微软雅黑" panose="020B0503020204020204" charset="-122"/>
                <a:sym typeface="+mn-ea"/>
              </a:rPr>
              <a:t>.</a:t>
            </a:r>
            <a:r>
              <a:rPr lang="en-US" altLang="zh-CN" sz="2400" b="1">
                <a:solidFill>
                  <a:srgbClr val="0066FF"/>
                </a:solidFill>
                <a:latin typeface="微软雅黑" panose="020B0503020204020204" charset="-122"/>
                <a:ea typeface="微软雅黑" panose="020B0503020204020204" charset="-122"/>
                <a:sym typeface="+mn-ea"/>
              </a:rPr>
              <a:t>1 </a:t>
            </a:r>
            <a:r>
              <a:rPr lang="zh-CN" altLang="en-US" sz="2400" b="1">
                <a:solidFill>
                  <a:srgbClr val="0066FF"/>
                </a:solidFill>
                <a:latin typeface="微软雅黑" panose="020B0503020204020204" charset="-122"/>
                <a:ea typeface="微软雅黑" panose="020B0503020204020204" charset="-122"/>
                <a:sym typeface="+mn-ea"/>
              </a:rPr>
              <a:t> 打开一个文件</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14" name="组合 14"/>
          <p:cNvGrpSpPr/>
          <p:nvPr/>
        </p:nvGrpSpPr>
        <p:grpSpPr bwMode="auto">
          <a:xfrm>
            <a:off x="1016000" y="2345055"/>
            <a:ext cx="8828405" cy="1410970"/>
            <a:chOff x="1166778" y="1786456"/>
            <a:chExt cx="13504529" cy="1713982"/>
          </a:xfrm>
        </p:grpSpPr>
        <p:grpSp>
          <p:nvGrpSpPr>
            <p:cNvPr id="10249" name="组合 12"/>
            <p:cNvGrpSpPr/>
            <p:nvPr/>
          </p:nvGrpSpPr>
          <p:grpSpPr bwMode="auto">
            <a:xfrm>
              <a:off x="1166778" y="1786456"/>
              <a:ext cx="13504529" cy="1713982"/>
              <a:chOff x="1166778" y="1786456"/>
              <a:chExt cx="13504529" cy="1713982"/>
            </a:xfrm>
          </p:grpSpPr>
          <p:sp>
            <p:nvSpPr>
              <p:cNvPr id="2" name="矩形 1"/>
              <p:cNvSpPr/>
              <p:nvPr/>
            </p:nvSpPr>
            <p:spPr>
              <a:xfrm>
                <a:off x="1166778" y="1786456"/>
                <a:ext cx="13504529"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0252" name="矩形 6"/>
              <p:cNvSpPr>
                <a:spLocks noChangeArrowheads="1"/>
              </p:cNvSpPr>
              <p:nvPr/>
            </p:nvSpPr>
            <p:spPr bwMode="auto">
              <a:xfrm>
                <a:off x="1346458" y="1816148"/>
                <a:ext cx="9360492" cy="555386"/>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en-US" sz="2000" b="1">
                    <a:solidFill>
                      <a:srgbClr val="009900"/>
                    </a:solidFill>
                    <a:latin typeface="微软雅黑" panose="020B0503020204020204" charset="-122"/>
                    <a:ea typeface="微软雅黑" panose="020B0503020204020204" charset="-122"/>
                    <a:cs typeface="华康俪金黑W8(P)"/>
                  </a:rPr>
                  <a:t> </a:t>
                </a:r>
                <a:r>
                  <a:rPr sz="2000" b="1">
                    <a:solidFill>
                      <a:srgbClr val="009900"/>
                    </a:solidFill>
                    <a:latin typeface="微软雅黑" panose="020B0503020204020204" charset="-122"/>
                    <a:ea typeface="微软雅黑" panose="020B0503020204020204" charset="-122"/>
                    <a:cs typeface="华康俪金黑W8(P)"/>
                  </a:rPr>
                  <a:t>在底部的状态上显示：</a:t>
                </a:r>
              </a:p>
            </p:txBody>
          </p:sp>
        </p:grpSp>
        <p:sp>
          <p:nvSpPr>
            <p:cNvPr id="10250" name="MH_Text_1"/>
            <p:cNvSpPr txBox="1">
              <a:spLocks noChangeArrowheads="1"/>
            </p:cNvSpPr>
            <p:nvPr>
              <p:custDataLst>
                <p:tags r:id="rId2"/>
              </p:custDataLst>
            </p:nvPr>
          </p:nvSpPr>
          <p:spPr bwMode="auto">
            <a:xfrm>
              <a:off x="1234772" y="2485316"/>
              <a:ext cx="13311232" cy="989666"/>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"vi_test" [已转换]   3L,85C                         1,1  </a:t>
              </a:r>
            </a:p>
          </p:txBody>
        </p:sp>
      </p:grpSp>
      <p:sp>
        <p:nvSpPr>
          <p:cNvPr id="10" name="Text Box 44"/>
          <p:cNvSpPr txBox="1">
            <a:spLocks noChangeArrowheads="1"/>
          </p:cNvSpPr>
          <p:nvPr/>
        </p:nvSpPr>
        <p:spPr bwMode="auto">
          <a:xfrm>
            <a:off x="508000" y="1718310"/>
            <a:ext cx="10650220" cy="51816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b="1" dirty="0">
                <a:solidFill>
                  <a:schemeClr val="tx1">
                    <a:lumMod val="75000"/>
                    <a:lumOff val="25000"/>
                  </a:schemeClr>
                </a:solidFill>
              </a:rPr>
              <a:t>vi将vi_test读入缓冲区中，并在屏幕上显示出来。</a:t>
            </a:r>
          </a:p>
        </p:txBody>
      </p:sp>
      <p:grpSp>
        <p:nvGrpSpPr>
          <p:cNvPr id="3" name="组合 14"/>
          <p:cNvGrpSpPr/>
          <p:nvPr/>
        </p:nvGrpSpPr>
        <p:grpSpPr bwMode="auto">
          <a:xfrm>
            <a:off x="1060450" y="3902075"/>
            <a:ext cx="8828405" cy="1956435"/>
            <a:chOff x="1166778" y="1786456"/>
            <a:chExt cx="13504529" cy="1713982"/>
          </a:xfrm>
        </p:grpSpPr>
        <p:grpSp>
          <p:nvGrpSpPr>
            <p:cNvPr id="4" name="组合 12"/>
            <p:cNvGrpSpPr/>
            <p:nvPr/>
          </p:nvGrpSpPr>
          <p:grpSpPr bwMode="auto">
            <a:xfrm>
              <a:off x="1166778" y="1786456"/>
              <a:ext cx="13504529" cy="1713982"/>
              <a:chOff x="1166778" y="1786456"/>
              <a:chExt cx="13504529" cy="1713982"/>
            </a:xfrm>
          </p:grpSpPr>
          <p:sp>
            <p:nvSpPr>
              <p:cNvPr id="5" name="矩形 4"/>
              <p:cNvSpPr/>
              <p:nvPr/>
            </p:nvSpPr>
            <p:spPr>
              <a:xfrm>
                <a:off x="1166778" y="1786456"/>
                <a:ext cx="13504529"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6" name="矩形 6"/>
              <p:cNvSpPr>
                <a:spLocks noChangeArrowheads="1"/>
              </p:cNvSpPr>
              <p:nvPr/>
            </p:nvSpPr>
            <p:spPr bwMode="auto">
              <a:xfrm>
                <a:off x="1346458" y="1816148"/>
                <a:ext cx="9360492" cy="400541"/>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sz="2000" b="1">
                    <a:solidFill>
                      <a:srgbClr val="009900"/>
                    </a:solidFill>
                    <a:latin typeface="微软雅黑" panose="020B0503020204020204" charset="-122"/>
                    <a:ea typeface="微软雅黑" panose="020B0503020204020204" charset="-122"/>
                    <a:cs typeface="华康俪金黑W8(P)"/>
                  </a:rPr>
                  <a:t>这时，如果按a进入输入模式，则底部的状态行如下：</a:t>
                </a:r>
              </a:p>
            </p:txBody>
          </p:sp>
        </p:grpSp>
        <p:sp>
          <p:nvSpPr>
            <p:cNvPr id="7" name="MH_Text_1"/>
            <p:cNvSpPr txBox="1">
              <a:spLocks noChangeArrowheads="1"/>
            </p:cNvSpPr>
            <p:nvPr>
              <p:custDataLst>
                <p:tags r:id="rId1"/>
              </p:custDataLst>
            </p:nvPr>
          </p:nvSpPr>
          <p:spPr bwMode="auto">
            <a:xfrm>
              <a:off x="1247400" y="2216481"/>
              <a:ext cx="13311232" cy="1144880"/>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 </a:t>
              </a:r>
            </a:p>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 </a:t>
              </a:r>
            </a:p>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—插入—  </a:t>
              </a:r>
            </a:p>
          </p:txBody>
        </p:sp>
      </p:grpSp>
      <p:sp>
        <p:nvSpPr>
          <p:cNvPr id="8" name="Text Box 44"/>
          <p:cNvSpPr txBox="1">
            <a:spLocks noChangeArrowheads="1"/>
          </p:cNvSpPr>
          <p:nvPr/>
        </p:nvSpPr>
        <p:spPr bwMode="auto">
          <a:xfrm>
            <a:off x="1040765" y="5902325"/>
            <a:ext cx="10650220" cy="51816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b="1" dirty="0">
                <a:solidFill>
                  <a:schemeClr val="tx1">
                    <a:lumMod val="75000"/>
                    <a:lumOff val="25000"/>
                  </a:schemeClr>
                </a:solidFill>
              </a:rPr>
              <a:t>它标志着当前正在做的事情。</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up)">
                                      <p:cBhvr>
                                        <p:cTn id="11" dur="500"/>
                                        <p:tgtEl>
                                          <p:spTgt spid="14"/>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500"/>
                                        <p:tgtEl>
                                          <p:spTgt spid="3"/>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up)">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95935" y="1718310"/>
            <a:ext cx="11194415" cy="48044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336677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4.</a:t>
            </a:r>
            <a:r>
              <a:rPr lang="en-US" altLang="zh-CN" sz="2400" b="1">
                <a:solidFill>
                  <a:srgbClr val="0066FF"/>
                </a:solidFill>
                <a:latin typeface="微软雅黑" panose="020B0503020204020204" charset="-122"/>
                <a:ea typeface="微软雅黑" panose="020B0503020204020204" charset="-122"/>
                <a:sym typeface="+mn-ea"/>
              </a:rPr>
              <a:t>4</a:t>
            </a:r>
            <a:r>
              <a:rPr lang="zh-CN" altLang="en-US" sz="2400" b="1">
                <a:solidFill>
                  <a:srgbClr val="0066FF"/>
                </a:solidFill>
                <a:latin typeface="微软雅黑" panose="020B0503020204020204" charset="-122"/>
                <a:ea typeface="微软雅黑" panose="020B0503020204020204" charset="-122"/>
                <a:sym typeface="+mn-ea"/>
              </a:rPr>
              <a:t>.</a:t>
            </a:r>
            <a:r>
              <a:rPr lang="en-US" altLang="zh-CN" sz="2400" b="1">
                <a:solidFill>
                  <a:srgbClr val="0066FF"/>
                </a:solidFill>
                <a:latin typeface="微软雅黑" panose="020B0503020204020204" charset="-122"/>
                <a:ea typeface="微软雅黑" panose="020B0503020204020204" charset="-122"/>
                <a:sym typeface="+mn-ea"/>
              </a:rPr>
              <a:t>1 </a:t>
            </a:r>
            <a:r>
              <a:rPr lang="zh-CN" altLang="en-US" sz="2400" b="1">
                <a:solidFill>
                  <a:srgbClr val="0066FF"/>
                </a:solidFill>
                <a:latin typeface="微软雅黑" panose="020B0503020204020204" charset="-122"/>
                <a:ea typeface="微软雅黑" panose="020B0503020204020204" charset="-122"/>
                <a:sym typeface="+mn-ea"/>
              </a:rPr>
              <a:t> 打开一个文件</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sp>
        <p:nvSpPr>
          <p:cNvPr id="10" name="Text Box 44"/>
          <p:cNvSpPr txBox="1">
            <a:spLocks noChangeArrowheads="1"/>
          </p:cNvSpPr>
          <p:nvPr/>
        </p:nvSpPr>
        <p:spPr bwMode="auto">
          <a:xfrm>
            <a:off x="770890" y="4657725"/>
            <a:ext cx="10650220" cy="90742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dirty="0">
                <a:solidFill>
                  <a:srgbClr val="FF0000"/>
                </a:solidFill>
              </a:rPr>
              <a:t>在vi里怎么实现“另存为”呢？</a:t>
            </a:r>
            <a:r>
              <a:rPr lang="zh-CN" altLang="en-US" sz="2000" dirty="0">
                <a:solidFill>
                  <a:schemeClr val="tx1">
                    <a:lumMod val="85000"/>
                    <a:lumOff val="15000"/>
                  </a:schemeClr>
                </a:solidFill>
              </a:rPr>
              <a:t>其实使用</a:t>
            </a:r>
            <a:r>
              <a:rPr lang="zh-CN" altLang="en-US" sz="2000" b="1" dirty="0">
                <a:solidFill>
                  <a:srgbClr val="0070C0"/>
                </a:solidFill>
              </a:rPr>
              <a:t>“:w”命令</a:t>
            </a:r>
            <a:r>
              <a:rPr lang="zh-CN" altLang="en-US" sz="2000" dirty="0">
                <a:solidFill>
                  <a:schemeClr val="tx1">
                    <a:lumMod val="85000"/>
                    <a:lumOff val="15000"/>
                  </a:schemeClr>
                </a:solidFill>
              </a:rPr>
              <a:t>就可以了。在“:w”</a:t>
            </a:r>
            <a:r>
              <a:rPr lang="zh-CN" altLang="en-US" sz="2000" dirty="0">
                <a:solidFill>
                  <a:srgbClr val="FF0000"/>
                </a:solidFill>
              </a:rPr>
              <a:t>后面给定一个</a:t>
            </a:r>
            <a:r>
              <a:rPr lang="zh-CN" altLang="en-US" sz="2000" dirty="0">
                <a:solidFill>
                  <a:schemeClr val="tx1">
                    <a:lumMod val="85000"/>
                    <a:lumOff val="15000"/>
                  </a:schemeClr>
                </a:solidFill>
              </a:rPr>
              <a:t>与用户打开的文件名字</a:t>
            </a:r>
            <a:r>
              <a:rPr lang="zh-CN" altLang="en-US" sz="2000" dirty="0">
                <a:solidFill>
                  <a:srgbClr val="FF0000"/>
                </a:solidFill>
              </a:rPr>
              <a:t>不一样的文件名</a:t>
            </a:r>
            <a:r>
              <a:rPr lang="zh-CN" altLang="en-US" sz="2000" dirty="0">
                <a:solidFill>
                  <a:schemeClr val="tx1">
                    <a:lumMod val="85000"/>
                    <a:lumOff val="15000"/>
                  </a:schemeClr>
                </a:solidFill>
              </a:rPr>
              <a:t>，然后按</a:t>
            </a:r>
            <a:r>
              <a:rPr lang="zh-CN" altLang="en-US" sz="2000" b="1" dirty="0">
                <a:solidFill>
                  <a:srgbClr val="0070C0"/>
                </a:solidFill>
              </a:rPr>
              <a:t>【Enter】键</a:t>
            </a:r>
            <a:r>
              <a:rPr lang="zh-CN" altLang="en-US" sz="2000" dirty="0">
                <a:solidFill>
                  <a:schemeClr val="tx1">
                    <a:lumMod val="85000"/>
                    <a:lumOff val="15000"/>
                  </a:schemeClr>
                </a:solidFill>
              </a:rPr>
              <a:t>即可。</a:t>
            </a:r>
          </a:p>
        </p:txBody>
      </p:sp>
      <p:grpSp>
        <p:nvGrpSpPr>
          <p:cNvPr id="27" name="组合 26"/>
          <p:cNvGrpSpPr/>
          <p:nvPr/>
        </p:nvGrpSpPr>
        <p:grpSpPr>
          <a:xfrm>
            <a:off x="768350" y="1611191"/>
            <a:ext cx="10272395" cy="2603939"/>
            <a:chOff x="13357" y="7158"/>
            <a:chExt cx="5138" cy="2721"/>
          </a:xfrm>
        </p:grpSpPr>
        <p:grpSp>
          <p:nvGrpSpPr>
            <p:cNvPr id="28" name="组合 14"/>
            <p:cNvGrpSpPr/>
            <p:nvPr/>
          </p:nvGrpSpPr>
          <p:grpSpPr bwMode="auto">
            <a:xfrm>
              <a:off x="13357" y="7617"/>
              <a:ext cx="5138" cy="2262"/>
              <a:chOff x="1166778" y="1786456"/>
              <a:chExt cx="9858444" cy="1713982"/>
            </a:xfrm>
          </p:grpSpPr>
          <p:grpSp>
            <p:nvGrpSpPr>
              <p:cNvPr id="9" name="组合 12"/>
              <p:cNvGrpSpPr/>
              <p:nvPr/>
            </p:nvGrpSpPr>
            <p:grpSpPr bwMode="auto">
              <a:xfrm>
                <a:off x="1166778" y="1786456"/>
                <a:ext cx="9858444" cy="1713982"/>
                <a:chOff x="1166778" y="1786456"/>
                <a:chExt cx="9858444" cy="1713982"/>
              </a:xfrm>
            </p:grpSpPr>
            <p:sp>
              <p:nvSpPr>
                <p:cNvPr id="29" name="矩形 28"/>
                <p:cNvSpPr/>
                <p:nvPr/>
              </p:nvSpPr>
              <p:spPr>
                <a:xfrm>
                  <a:off x="1166778"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b="1" noProof="1"/>
                </a:p>
              </p:txBody>
            </p:sp>
            <p:sp>
              <p:nvSpPr>
                <p:cNvPr id="11" name="矩形 6"/>
                <p:cNvSpPr>
                  <a:spLocks noChangeArrowheads="1"/>
                </p:cNvSpPr>
                <p:nvPr/>
              </p:nvSpPr>
              <p:spPr bwMode="auto">
                <a:xfrm>
                  <a:off x="2609382" y="1837566"/>
                  <a:ext cx="2479793" cy="419824"/>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FF0000"/>
                      </a:solidFill>
                      <a:latin typeface="华康俪金黑W8(P)"/>
                      <a:ea typeface="华康俪金黑W8(P)"/>
                      <a:cs typeface="华康俪金黑W8(P)"/>
                    </a:rPr>
                    <a:t>注意</a:t>
                  </a:r>
                </a:p>
              </p:txBody>
            </p:sp>
          </p:grpSp>
          <p:sp>
            <p:nvSpPr>
              <p:cNvPr id="12" name="MH_Text_1"/>
              <p:cNvSpPr txBox="1">
                <a:spLocks noChangeArrowheads="1"/>
              </p:cNvSpPr>
              <p:nvPr>
                <p:custDataLst>
                  <p:tags r:id="rId1"/>
                </p:custDataLst>
              </p:nvPr>
            </p:nvSpPr>
            <p:spPr bwMode="auto">
              <a:xfrm>
                <a:off x="1219632" y="2257878"/>
                <a:ext cx="9734352" cy="1214371"/>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sz="2000" b="1">
                    <a:solidFill>
                      <a:srgbClr val="0070C0"/>
                    </a:solidFill>
                    <a:latin typeface="微软雅黑" panose="020B0503020204020204" charset="-122"/>
                    <a:ea typeface="微软雅黑" panose="020B0503020204020204" charset="-122"/>
                  </a:rPr>
                  <a:t>刚进入vi时，光标在第一个字母“H”的下面，按a进入输入模式后，此时的光标位于第二个字母“o”的下面。如果用户按的是i进入输入状态，则光标位于第一个字母“H”的下面。这就是用a与i的区别：a在光标所在的字母后面插入，而i在这个字母的前面插入。</a:t>
                </a:r>
              </a:p>
            </p:txBody>
          </p:sp>
        </p:grpSp>
        <p:pic>
          <p:nvPicPr>
            <p:cNvPr id="30" name="图片 4" descr="www.tuweimei.comComp_9747389_aloyhm04q205BMmtimdiv2o2HN82PIep.jpg"/>
            <p:cNvPicPr>
              <a:picLocks noGrp="1"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3357" y="7158"/>
              <a:ext cx="617" cy="1261"/>
            </a:xfrm>
            <a:prstGeom prst="rect">
              <a:avLst/>
            </a:prstGeom>
            <a:noFill/>
            <a:ln w="9525">
              <a:noFill/>
              <a:miter lim="800000"/>
              <a:headEnd/>
              <a:tailEnd/>
            </a:ln>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strips(downRight)">
                                      <p:cBhvr>
                                        <p:cTn id="7" dur="500"/>
                                        <p:tgtEl>
                                          <p:spTgt spid="2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AutoShape 3"/>
          <p:cNvSpPr>
            <a:spLocks noChangeArrowheads="1"/>
          </p:cNvSpPr>
          <p:nvPr/>
        </p:nvSpPr>
        <p:spPr bwMode="auto">
          <a:xfrm>
            <a:off x="1555115" y="1776730"/>
            <a:ext cx="9341485" cy="4612005"/>
          </a:xfrm>
          <a:prstGeom prst="roundRect">
            <a:avLst>
              <a:gd name="adj" fmla="val 2773"/>
            </a:avLst>
          </a:prstGeom>
          <a:noFill/>
          <a:ln w="3175">
            <a:solidFill>
              <a:srgbClr val="333333"/>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6148" name="AutoShape 4"/>
          <p:cNvSpPr>
            <a:spLocks noChangeArrowheads="1"/>
          </p:cNvSpPr>
          <p:nvPr/>
        </p:nvSpPr>
        <p:spPr bwMode="auto">
          <a:xfrm>
            <a:off x="5062855" y="1310005"/>
            <a:ext cx="2147570" cy="869315"/>
          </a:xfrm>
          <a:prstGeom prst="roundRect">
            <a:avLst>
              <a:gd name="adj" fmla="val 15657"/>
            </a:avLst>
          </a:prstGeom>
          <a:solidFill>
            <a:schemeClr val="bg1"/>
          </a:solidFill>
          <a:ln w="3175">
            <a:solidFill>
              <a:srgbClr val="333333">
                <a:alpha val="56862"/>
              </a:srgbClr>
            </a:solidFill>
            <a:round/>
          </a:ln>
        </p:spPr>
        <p:txBody>
          <a:bodyPr wrap="none" anchor="ctr"/>
          <a:lstStyle/>
          <a:p>
            <a:pPr algn="ctr">
              <a:spcBef>
                <a:spcPct val="50000"/>
              </a:spcBef>
              <a:buFont typeface="Arial" panose="020B0604020202020204" pitchFamily="34" charset="0"/>
              <a:buNone/>
            </a:pPr>
            <a:r>
              <a:rPr lang="zh-CN" altLang="en-US" sz="3200" b="1">
                <a:latin typeface="微软雅黑" panose="020B0503020204020204" charset="-122"/>
                <a:ea typeface="微软雅黑" panose="020B0503020204020204" charset="-122"/>
              </a:rPr>
              <a:t>本章要点</a:t>
            </a:r>
          </a:p>
        </p:txBody>
      </p:sp>
      <p:sp>
        <p:nvSpPr>
          <p:cNvPr id="3" name="标题 1"/>
          <p:cNvSpPr>
            <a:spLocks noGrp="1"/>
          </p:cNvSpPr>
          <p:nvPr/>
        </p:nvSpPr>
        <p:spPr>
          <a:xfrm>
            <a:off x="3462655" y="310515"/>
            <a:ext cx="1133475" cy="561975"/>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defRPr>
            </a:lvl1pPr>
          </a:lstStyle>
          <a:p>
            <a:pPr fontAlgn="auto">
              <a:buFont typeface="Arial" panose="020B0604020202020204" pitchFamily="34" charset="0"/>
              <a:buNone/>
              <a:defRPr/>
            </a:pPr>
            <a:r>
              <a:rPr lang="zh-CN" altLang="en-US" noProof="1">
                <a:cs typeface="+mn-cs"/>
              </a:rPr>
              <a:t>目录</a:t>
            </a:r>
            <a:endParaRPr lang="zh-CN" altLang="en-US" noProof="1"/>
          </a:p>
        </p:txBody>
      </p:sp>
      <p:grpSp>
        <p:nvGrpSpPr>
          <p:cNvPr id="10" name="Group 5"/>
          <p:cNvGrpSpPr/>
          <p:nvPr/>
        </p:nvGrpSpPr>
        <p:grpSpPr bwMode="auto">
          <a:xfrm>
            <a:off x="6588125" y="5144770"/>
            <a:ext cx="3764280" cy="481330"/>
            <a:chOff x="3" y="0"/>
            <a:chExt cx="4243" cy="333"/>
          </a:xfrm>
        </p:grpSpPr>
        <p:grpSp>
          <p:nvGrpSpPr>
            <p:cNvPr id="11" name="Group 6"/>
            <p:cNvGrpSpPr/>
            <p:nvPr/>
          </p:nvGrpSpPr>
          <p:grpSpPr bwMode="auto">
            <a:xfrm>
              <a:off x="3" y="0"/>
              <a:ext cx="4243" cy="333"/>
              <a:chOff x="0" y="0"/>
              <a:chExt cx="4243" cy="333"/>
            </a:xfrm>
          </p:grpSpPr>
          <p:sp>
            <p:nvSpPr>
              <p:cNvPr id="1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4.8  ex命令</a:t>
              </a:r>
            </a:p>
          </p:txBody>
        </p:sp>
      </p:grpSp>
      <p:grpSp>
        <p:nvGrpSpPr>
          <p:cNvPr id="15" name="Group 5"/>
          <p:cNvGrpSpPr/>
          <p:nvPr/>
        </p:nvGrpSpPr>
        <p:grpSpPr bwMode="auto">
          <a:xfrm>
            <a:off x="6569075" y="4255135"/>
            <a:ext cx="3794760" cy="481330"/>
            <a:chOff x="3" y="0"/>
            <a:chExt cx="4243" cy="333"/>
          </a:xfrm>
        </p:grpSpPr>
        <p:grpSp>
          <p:nvGrpSpPr>
            <p:cNvPr id="16" name="Group 6"/>
            <p:cNvGrpSpPr/>
            <p:nvPr/>
          </p:nvGrpSpPr>
          <p:grpSpPr bwMode="auto">
            <a:xfrm>
              <a:off x="3" y="0"/>
              <a:ext cx="4243" cy="333"/>
              <a:chOff x="0" y="0"/>
              <a:chExt cx="4243" cy="333"/>
            </a:xfrm>
          </p:grpSpPr>
          <p:sp>
            <p:nvSpPr>
              <p:cNvPr id="1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4.7  文本修改</a:t>
              </a:r>
            </a:p>
          </p:txBody>
        </p:sp>
      </p:grpSp>
      <p:grpSp>
        <p:nvGrpSpPr>
          <p:cNvPr id="20" name="Group 5"/>
          <p:cNvGrpSpPr/>
          <p:nvPr/>
        </p:nvGrpSpPr>
        <p:grpSpPr bwMode="auto">
          <a:xfrm>
            <a:off x="2021205" y="2421255"/>
            <a:ext cx="4041140" cy="481330"/>
            <a:chOff x="3" y="0"/>
            <a:chExt cx="4243" cy="333"/>
          </a:xfrm>
        </p:grpSpPr>
        <p:grpSp>
          <p:nvGrpSpPr>
            <p:cNvPr id="21" name="Group 6"/>
            <p:cNvGrpSpPr/>
            <p:nvPr/>
          </p:nvGrpSpPr>
          <p:grpSpPr bwMode="auto">
            <a:xfrm>
              <a:off x="3" y="0"/>
              <a:ext cx="4243" cy="333"/>
              <a:chOff x="0" y="0"/>
              <a:chExt cx="4243" cy="333"/>
            </a:xfrm>
          </p:grpSpPr>
          <p:sp>
            <p:nvSpPr>
              <p:cNvPr id="2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4.1  vi的工作方式</a:t>
              </a:r>
            </a:p>
          </p:txBody>
        </p:sp>
      </p:grpSp>
      <p:grpSp>
        <p:nvGrpSpPr>
          <p:cNvPr id="25" name="Group 5"/>
          <p:cNvGrpSpPr/>
          <p:nvPr/>
        </p:nvGrpSpPr>
        <p:grpSpPr bwMode="auto">
          <a:xfrm>
            <a:off x="1986280" y="3320415"/>
            <a:ext cx="4091940" cy="481330"/>
            <a:chOff x="3" y="0"/>
            <a:chExt cx="4243" cy="333"/>
          </a:xfrm>
        </p:grpSpPr>
        <p:grpSp>
          <p:nvGrpSpPr>
            <p:cNvPr id="26" name="Group 6"/>
            <p:cNvGrpSpPr/>
            <p:nvPr/>
          </p:nvGrpSpPr>
          <p:grpSpPr bwMode="auto">
            <a:xfrm>
              <a:off x="3" y="0"/>
              <a:ext cx="4243" cy="333"/>
              <a:chOff x="0" y="0"/>
              <a:chExt cx="4243" cy="333"/>
            </a:xfrm>
          </p:grpSpPr>
          <p:sp>
            <p:nvSpPr>
              <p:cNvPr id="2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4.2  vi的启动和退出</a:t>
              </a:r>
            </a:p>
          </p:txBody>
        </p:sp>
      </p:grpSp>
      <p:grpSp>
        <p:nvGrpSpPr>
          <p:cNvPr id="30" name="Group 5"/>
          <p:cNvGrpSpPr/>
          <p:nvPr/>
        </p:nvGrpSpPr>
        <p:grpSpPr bwMode="auto">
          <a:xfrm>
            <a:off x="2034540" y="4241165"/>
            <a:ext cx="4074160" cy="481330"/>
            <a:chOff x="3" y="0"/>
            <a:chExt cx="4243" cy="333"/>
          </a:xfrm>
        </p:grpSpPr>
        <p:grpSp>
          <p:nvGrpSpPr>
            <p:cNvPr id="31" name="Group 6"/>
            <p:cNvGrpSpPr/>
            <p:nvPr/>
          </p:nvGrpSpPr>
          <p:grpSpPr bwMode="auto">
            <a:xfrm>
              <a:off x="3" y="0"/>
              <a:ext cx="4243" cy="333"/>
              <a:chOff x="0" y="0"/>
              <a:chExt cx="4243" cy="333"/>
            </a:xfrm>
          </p:grpSpPr>
          <p:sp>
            <p:nvSpPr>
              <p:cNvPr id="3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4.3  文本输入</a:t>
              </a:r>
            </a:p>
          </p:txBody>
        </p:sp>
      </p:grpSp>
      <p:grpSp>
        <p:nvGrpSpPr>
          <p:cNvPr id="35" name="Group 5"/>
          <p:cNvGrpSpPr/>
          <p:nvPr/>
        </p:nvGrpSpPr>
        <p:grpSpPr bwMode="auto">
          <a:xfrm>
            <a:off x="2046605" y="5113020"/>
            <a:ext cx="4037330" cy="481330"/>
            <a:chOff x="3" y="0"/>
            <a:chExt cx="4243" cy="333"/>
          </a:xfrm>
        </p:grpSpPr>
        <p:grpSp>
          <p:nvGrpSpPr>
            <p:cNvPr id="36" name="Group 6"/>
            <p:cNvGrpSpPr/>
            <p:nvPr/>
          </p:nvGrpSpPr>
          <p:grpSpPr bwMode="auto">
            <a:xfrm>
              <a:off x="3" y="0"/>
              <a:ext cx="4243" cy="333"/>
              <a:chOff x="0" y="0"/>
              <a:chExt cx="4243" cy="333"/>
            </a:xfrm>
          </p:grpSpPr>
          <p:sp>
            <p:nvSpPr>
              <p:cNvPr id="3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9" name="Text Box 9"/>
            <p:cNvSpPr txBox="1">
              <a:spLocks noChangeArrowheads="1"/>
            </p:cNvSpPr>
            <p:nvPr/>
          </p:nvSpPr>
          <p:spPr bwMode="auto">
            <a:xfrm>
              <a:off x="879" y="34"/>
              <a:ext cx="3004"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4.4  打开文件</a:t>
              </a:r>
            </a:p>
          </p:txBody>
        </p:sp>
      </p:grpSp>
      <p:grpSp>
        <p:nvGrpSpPr>
          <p:cNvPr id="40" name="Group 5"/>
          <p:cNvGrpSpPr/>
          <p:nvPr/>
        </p:nvGrpSpPr>
        <p:grpSpPr bwMode="auto">
          <a:xfrm>
            <a:off x="6516370" y="2437130"/>
            <a:ext cx="3808095" cy="481330"/>
            <a:chOff x="3" y="0"/>
            <a:chExt cx="4243" cy="333"/>
          </a:xfrm>
        </p:grpSpPr>
        <p:grpSp>
          <p:nvGrpSpPr>
            <p:cNvPr id="41" name="Group 6"/>
            <p:cNvGrpSpPr/>
            <p:nvPr/>
          </p:nvGrpSpPr>
          <p:grpSpPr bwMode="auto">
            <a:xfrm>
              <a:off x="3" y="0"/>
              <a:ext cx="4243" cy="333"/>
              <a:chOff x="0" y="0"/>
              <a:chExt cx="4243" cy="333"/>
            </a:xfrm>
          </p:grpSpPr>
          <p:sp>
            <p:nvSpPr>
              <p:cNvPr id="42" name="AutoShape 7"/>
              <p:cNvSpPr>
                <a:spLocks noChangeArrowheads="1"/>
              </p:cNvSpPr>
              <p:nvPr/>
            </p:nvSpPr>
            <p:spPr bwMode="auto">
              <a:xfrm>
                <a:off x="0" y="0"/>
                <a:ext cx="4243" cy="333"/>
              </a:xfrm>
              <a:prstGeom prst="roundRect">
                <a:avLst>
                  <a:gd name="adj" fmla="val 15657"/>
                </a:avLst>
              </a:prstGeom>
              <a:solidFill>
                <a:srgbClr val="00B0F0"/>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tx1"/>
                  </a:solidFill>
                  <a:latin typeface="微软雅黑" panose="020B0503020204020204" charset="-122"/>
                  <a:ea typeface="微软雅黑" panose="020B0503020204020204" charset="-122"/>
                  <a:sym typeface="Arial Unicode MS" panose="020B0604020202020204" pitchFamily="34" charset="-122"/>
                </a:rPr>
                <a:t>4.5  保存文件</a:t>
              </a:r>
            </a:p>
          </p:txBody>
        </p:sp>
      </p:grpSp>
      <p:grpSp>
        <p:nvGrpSpPr>
          <p:cNvPr id="45" name="Group 5"/>
          <p:cNvGrpSpPr/>
          <p:nvPr/>
        </p:nvGrpSpPr>
        <p:grpSpPr bwMode="auto">
          <a:xfrm>
            <a:off x="6548120" y="3333750"/>
            <a:ext cx="3775710" cy="481330"/>
            <a:chOff x="3" y="0"/>
            <a:chExt cx="4243" cy="333"/>
          </a:xfrm>
        </p:grpSpPr>
        <p:grpSp>
          <p:nvGrpSpPr>
            <p:cNvPr id="46" name="Group 6"/>
            <p:cNvGrpSpPr/>
            <p:nvPr/>
          </p:nvGrpSpPr>
          <p:grpSpPr bwMode="auto">
            <a:xfrm>
              <a:off x="3" y="0"/>
              <a:ext cx="4243" cy="333"/>
              <a:chOff x="0" y="0"/>
              <a:chExt cx="4243" cy="333"/>
            </a:xfrm>
          </p:grpSpPr>
          <p:sp>
            <p:nvSpPr>
              <p:cNvPr id="4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4.6  移动光标</a:t>
              </a:r>
            </a:p>
          </p:txBody>
        </p:sp>
      </p:grpSp>
    </p:spTree>
  </p:cSld>
  <p:clrMapOvr>
    <a:masterClrMapping/>
  </p:clrMapOvr>
  <p:transition>
    <p:randomBa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接连接符 5"/>
          <p:cNvCxnSpPr/>
          <p:nvPr/>
        </p:nvCxnSpPr>
        <p:spPr>
          <a:xfrm>
            <a:off x="957396" y="6213494"/>
            <a:ext cx="6572296" cy="1588"/>
          </a:xfrm>
          <a:prstGeom prst="line">
            <a:avLst/>
          </a:prstGeom>
          <a:noFill/>
          <a:ln w="9525" cap="flat" cmpd="sng">
            <a:solidFill>
              <a:srgbClr val="C00000"/>
            </a:solidFill>
            <a:prstDash val="dash"/>
            <a:round/>
            <a:headEnd type="oval" w="med" len="med"/>
            <a:tailEnd type="oval"/>
          </a:ln>
          <a:extLst>
            <a:ext uri="{909E8E84-426E-40DD-AFC4-6F175D3DCCD1}">
              <a14:hiddenFill xmlns:a14="http://schemas.microsoft.com/office/drawing/2010/main">
                <a:noFill/>
              </a14:hiddenFill>
            </a:ext>
          </a:extLst>
        </p:spPr>
      </p:cxnSp>
      <p:cxnSp>
        <p:nvCxnSpPr>
          <p:cNvPr id="7" name="直接连接符 6"/>
          <p:cNvCxnSpPr/>
          <p:nvPr/>
        </p:nvCxnSpPr>
        <p:spPr>
          <a:xfrm>
            <a:off x="952464" y="1712900"/>
            <a:ext cx="0" cy="4393060"/>
          </a:xfrm>
          <a:prstGeom prst="line">
            <a:avLst/>
          </a:prstGeom>
          <a:noFill/>
          <a:ln w="9525" cap="flat" cmpd="sng">
            <a:solidFill>
              <a:srgbClr val="C00000"/>
            </a:solidFill>
            <a:prstDash val="dash"/>
            <a:round/>
            <a:headEnd type="oval" w="med" len="med"/>
            <a:tailEnd type="oval"/>
          </a:ln>
          <a:extLst>
            <a:ext uri="{909E8E84-426E-40DD-AFC4-6F175D3DCCD1}">
              <a14:hiddenFill xmlns:a14="http://schemas.microsoft.com/office/drawing/2010/main">
                <a:noFill/>
              </a14:hiddenFill>
            </a:ext>
          </a:extLst>
        </p:spPr>
      </p:cxnSp>
      <p:sp>
        <p:nvSpPr>
          <p:cNvPr id="10" name="矩形 9"/>
          <p:cNvSpPr/>
          <p:nvPr/>
        </p:nvSpPr>
        <p:spPr>
          <a:xfrm>
            <a:off x="1195671" y="2126925"/>
            <a:ext cx="6096000" cy="3749040"/>
          </a:xfrm>
          <a:prstGeom prst="rect">
            <a:avLst/>
          </a:prstGeom>
        </p:spPr>
        <p:txBody>
          <a:bodyPr>
            <a:spAutoFit/>
          </a:bodyPr>
          <a:lstStyle/>
          <a:p>
            <a:pPr indent="457200" fontAlgn="auto">
              <a:lnSpc>
                <a:spcPct val="150000"/>
              </a:lnSpc>
            </a:pPr>
            <a:r>
              <a:rPr lang="zh-CN" altLang="en-US" sz="2000" b="1" dirty="0">
                <a:solidFill>
                  <a:srgbClr val="0070C0"/>
                </a:solidFill>
                <a:latin typeface="微软雅黑" panose="020B0503020204020204" charset="-122"/>
                <a:ea typeface="微软雅黑" panose="020B0503020204020204" charset="-122"/>
                <a:sym typeface="+mn-ea"/>
              </a:rPr>
              <a:t>经常保存文件</a:t>
            </a:r>
            <a:r>
              <a:rPr lang="zh-CN" altLang="en-US" sz="2000" dirty="0">
                <a:solidFill>
                  <a:schemeClr val="tx1">
                    <a:lumMod val="75000"/>
                    <a:lumOff val="25000"/>
                  </a:schemeClr>
                </a:solidFill>
                <a:latin typeface="微软雅黑" panose="020B0503020204020204" charset="-122"/>
                <a:ea typeface="微软雅黑" panose="020B0503020204020204" charset="-122"/>
                <a:sym typeface="+mn-ea"/>
              </a:rPr>
              <a:t>绝对是个好主意。对于很重要的文件更应该多存几个文件。在用户启动vi时，vi将指定的文件读入</a:t>
            </a:r>
            <a:r>
              <a:rPr lang="zh-CN" altLang="en-US" sz="2000" b="1" dirty="0">
                <a:solidFill>
                  <a:srgbClr val="0070C0"/>
                </a:solidFill>
                <a:latin typeface="微软雅黑" panose="020B0503020204020204" charset="-122"/>
                <a:ea typeface="微软雅黑" panose="020B0503020204020204" charset="-122"/>
                <a:sym typeface="+mn-ea"/>
              </a:rPr>
              <a:t>缓冲区</a:t>
            </a:r>
            <a:r>
              <a:rPr lang="zh-CN" altLang="en-US" sz="2000" dirty="0">
                <a:solidFill>
                  <a:schemeClr val="tx1">
                    <a:lumMod val="75000"/>
                    <a:lumOff val="25000"/>
                  </a:schemeClr>
                </a:solidFill>
                <a:latin typeface="微软雅黑" panose="020B0503020204020204" charset="-122"/>
                <a:ea typeface="微软雅黑" panose="020B0503020204020204" charset="-122"/>
                <a:sym typeface="+mn-ea"/>
              </a:rPr>
              <a:t>。用户随后的所有的录入、修改和删除等操作都是对缓冲区中的内容进行的。用户的输入内容不会被保存到磁盘上。如果在用户正操作时，突然计算机停电了，那么缓冲区作为内存的一部分，其中的内容也必然全部丢失。在下一次开机时，用户能够得到的只是上一次存盘时的文件。</a:t>
            </a:r>
            <a:endParaRPr lang="zh-CN" altLang="en-US" sz="2000" kern="0" dirty="0">
              <a:solidFill>
                <a:schemeClr val="tx1">
                  <a:lumMod val="75000"/>
                  <a:lumOff val="25000"/>
                </a:schemeClr>
              </a:solidFill>
              <a:latin typeface="微软雅黑" panose="020B0503020204020204" charset="-122"/>
              <a:ea typeface="微软雅黑" panose="020B0503020204020204" charset="-122"/>
              <a:sym typeface="+mn-ea"/>
            </a:endParaRPr>
          </a:p>
        </p:txBody>
      </p:sp>
      <p:pic>
        <p:nvPicPr>
          <p:cNvPr id="2" name="Picture 5" descr="C:\Documents and Settings\tdz\桌面\未标题-1 拷贝.png"/>
          <p:cNvPicPr>
            <a:picLocks noChangeAspect="1" noChangeArrowheads="1"/>
          </p:cNvPicPr>
          <p:nvPr/>
        </p:nvPicPr>
        <p:blipFill>
          <a:blip r:embed="rId2" cstate="print"/>
          <a:srcRect/>
          <a:stretch>
            <a:fillRect/>
          </a:stretch>
        </p:blipFill>
        <p:spPr bwMode="auto">
          <a:xfrm>
            <a:off x="8451850" y="1056640"/>
            <a:ext cx="2874010" cy="54679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lide(fromLeft)">
                                      <p:cBhvr>
                                        <p:cTn id="7" dur="500"/>
                                        <p:tgtEl>
                                          <p:spTgt spid="7"/>
                                        </p:tgtEl>
                                      </p:cBhvr>
                                    </p:animEffect>
                                  </p:childTnLst>
                                </p:cTn>
                              </p:par>
                              <p:par>
                                <p:cTn id="8" presetID="12" presetClass="entr" presetSubtype="8"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slide(fromLeft)">
                                      <p:cBhvr>
                                        <p:cTn id="10" dur="500"/>
                                        <p:tgtEl>
                                          <p:spTgt spid="6"/>
                                        </p:tgtEl>
                                      </p:cBhvr>
                                    </p:animEffect>
                                  </p:childTnLst>
                                </p:cTn>
                              </p:par>
                            </p:childTnLst>
                          </p:cTn>
                        </p:par>
                        <p:par>
                          <p:cTn id="11" fill="hold">
                            <p:stCondLst>
                              <p:cond delay="500"/>
                            </p:stCondLst>
                            <p:childTnLst>
                              <p:par>
                                <p:cTn id="12" presetID="53" presetClass="entr" presetSubtype="16" fill="hold" grpId="0" nodeType="after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500" fill="hold"/>
                                        <p:tgtEl>
                                          <p:spTgt spid="10"/>
                                        </p:tgtEl>
                                        <p:attrNameLst>
                                          <p:attrName>ppt_w</p:attrName>
                                        </p:attrNameLst>
                                      </p:cBhvr>
                                      <p:tavLst>
                                        <p:tav tm="0">
                                          <p:val>
                                            <p:fltVal val="0"/>
                                          </p:val>
                                        </p:tav>
                                        <p:tav tm="100000">
                                          <p:val>
                                            <p:strVal val="#ppt_w"/>
                                          </p:val>
                                        </p:tav>
                                      </p:tavLst>
                                    </p:anim>
                                    <p:anim calcmode="lin" valueType="num">
                                      <p:cBhvr>
                                        <p:cTn id="15" dur="500" fill="hold"/>
                                        <p:tgtEl>
                                          <p:spTgt spid="10"/>
                                        </p:tgtEl>
                                        <p:attrNameLst>
                                          <p:attrName>ppt_h</p:attrName>
                                        </p:attrNameLst>
                                      </p:cBhvr>
                                      <p:tavLst>
                                        <p:tav tm="0">
                                          <p:val>
                                            <p:fltVal val="0"/>
                                          </p:val>
                                        </p:tav>
                                        <p:tav tm="100000">
                                          <p:val>
                                            <p:strVal val="#ppt_h"/>
                                          </p:val>
                                        </p:tav>
                                      </p:tavLst>
                                    </p:anim>
                                    <p:animEffect transition="in" filter="fade">
                                      <p:cBhvr>
                                        <p:cTn id="16" dur="500"/>
                                        <p:tgtEl>
                                          <p:spTgt spid="10"/>
                                        </p:tgtEl>
                                      </p:cBhvr>
                                    </p:animEffect>
                                  </p:childTnLst>
                                </p:cTn>
                              </p:par>
                            </p:childTnLst>
                          </p:cTn>
                        </p:par>
                        <p:par>
                          <p:cTn id="17" fill="hold">
                            <p:stCondLst>
                              <p:cond delay="1000"/>
                            </p:stCondLst>
                            <p:childTnLst>
                              <p:par>
                                <p:cTn id="18" presetID="12" presetClass="entr" presetSubtype="2"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slide(fromRight)">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525586" y="1280160"/>
            <a:ext cx="11066194" cy="52341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17" name="椭圆 7"/>
          <p:cNvSpPr/>
          <p:nvPr/>
        </p:nvSpPr>
        <p:spPr>
          <a:xfrm>
            <a:off x="3493" y="2774030"/>
            <a:ext cx="3692320" cy="4088847"/>
          </a:xfrm>
          <a:custGeom>
            <a:avLst/>
            <a:gdLst/>
            <a:ahLst/>
            <a:cxnLst/>
            <a:rect l="l" t="t" r="r" b="b"/>
            <a:pathLst>
              <a:path w="4291640" h="4752529">
                <a:moveTo>
                  <a:pt x="1623508" y="0"/>
                </a:moveTo>
                <a:cubicBezTo>
                  <a:pt x="3097077" y="0"/>
                  <a:pt x="4291640" y="1194563"/>
                  <a:pt x="4291640" y="2668132"/>
                </a:cubicBezTo>
                <a:cubicBezTo>
                  <a:pt x="4291640" y="3512329"/>
                  <a:pt x="3899577" y="4264955"/>
                  <a:pt x="3286539" y="4752529"/>
                </a:cubicBezTo>
                <a:lnTo>
                  <a:pt x="0" y="4752529"/>
                </a:lnTo>
                <a:lnTo>
                  <a:pt x="0" y="554181"/>
                </a:lnTo>
                <a:cubicBezTo>
                  <a:pt x="448305" y="205804"/>
                  <a:pt x="1011872" y="0"/>
                  <a:pt x="1623508" y="0"/>
                </a:cubicBezTo>
                <a:close/>
              </a:path>
            </a:pathLst>
          </a:custGeom>
          <a:gradFill flip="none" rotWithShape="1">
            <a:gsLst>
              <a:gs pos="0">
                <a:sysClr val="window" lastClr="FFFFFF">
                  <a:lumMod val="85000"/>
                </a:sysClr>
              </a:gs>
              <a:gs pos="100000">
                <a:sysClr val="window" lastClr="FFFFFF">
                  <a:lumMod val="95000"/>
                </a:sysClr>
              </a:gs>
            </a:gsLst>
            <a:lin ang="0" scaled="1"/>
            <a:tileRect/>
          </a:gradFill>
          <a:ln w="12700" cap="flat" cmpd="sng" algn="ctr">
            <a:solidFill>
              <a:sysClr val="window" lastClr="FFFFFF">
                <a:lumMod val="85000"/>
              </a:sysClr>
            </a:solidFill>
            <a:prstDash val="solid"/>
          </a:ln>
          <a:effectLst>
            <a:outerShdw blurRad="114300" dist="38100" dir="18900000" algn="bl" rotWithShape="0">
              <a:prstClr val="black">
                <a:alpha val="21000"/>
              </a:prstClr>
            </a:outerShdw>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pic>
        <p:nvPicPr>
          <p:cNvPr id="25" name="图片 24"/>
          <p:cNvPicPr>
            <a:picLocks noChangeAspect="1"/>
          </p:cNvPicPr>
          <p:nvPr/>
        </p:nvPicPr>
        <p:blipFill>
          <a:blip r:embed="rId2" cstate="print"/>
          <a:stretch>
            <a:fillRect/>
          </a:stretch>
        </p:blipFill>
        <p:spPr>
          <a:xfrm>
            <a:off x="418790" y="2061876"/>
            <a:ext cx="3417925" cy="3400443"/>
          </a:xfrm>
          <a:prstGeom prst="rect">
            <a:avLst/>
          </a:prstGeom>
        </p:spPr>
      </p:pic>
      <p:sp>
        <p:nvSpPr>
          <p:cNvPr id="26" name="TextBox 24"/>
          <p:cNvSpPr txBox="1"/>
          <p:nvPr/>
        </p:nvSpPr>
        <p:spPr>
          <a:xfrm rot="18792308">
            <a:off x="615973" y="4060769"/>
            <a:ext cx="1205743" cy="769441"/>
          </a:xfrm>
          <a:prstGeom prst="rect">
            <a:avLst/>
          </a:prstGeom>
          <a:noFill/>
        </p:spPr>
        <p:txBody>
          <a:bodyPr wrap="square" rtlCol="0">
            <a:spAutoFit/>
          </a:bodyPr>
          <a:lstStyle/>
          <a:p>
            <a:pPr algn="ctr">
              <a:defRPr/>
            </a:pPr>
            <a:r>
              <a:rPr lang="en-US" altLang="zh-CN" sz="4400" b="1" kern="0" dirty="0">
                <a:solidFill>
                  <a:sysClr val="windowText" lastClr="000000">
                    <a:lumMod val="65000"/>
                    <a:lumOff val="35000"/>
                  </a:sysClr>
                </a:solidFill>
                <a:latin typeface="Arial" panose="020B0604020202020204" pitchFamily="34" charset="0"/>
                <a:ea typeface="微软雅黑" panose="020B0503020204020204" charset="-122"/>
                <a:cs typeface="Arial" panose="020B0604020202020204" pitchFamily="34" charset="0"/>
              </a:rPr>
              <a:t>3</a:t>
            </a:r>
            <a:endParaRPr lang="zh-CN" altLang="en-US" sz="4400" b="1" kern="0" dirty="0">
              <a:solidFill>
                <a:sysClr val="windowText" lastClr="000000">
                  <a:lumMod val="65000"/>
                  <a:lumOff val="35000"/>
                </a:sysClr>
              </a:solidFill>
              <a:latin typeface="Arial" panose="020B0604020202020204" pitchFamily="34" charset="0"/>
              <a:ea typeface="微软雅黑" panose="020B0503020204020204" charset="-122"/>
              <a:cs typeface="Arial" panose="020B0604020202020204" pitchFamily="34" charset="0"/>
            </a:endParaRPr>
          </a:p>
        </p:txBody>
      </p:sp>
      <p:pic>
        <p:nvPicPr>
          <p:cNvPr id="27" name="图片 26"/>
          <p:cNvPicPr>
            <a:picLocks noChangeAspect="1"/>
          </p:cNvPicPr>
          <p:nvPr/>
        </p:nvPicPr>
        <p:blipFill>
          <a:blip r:embed="rId3" cstate="print"/>
          <a:stretch>
            <a:fillRect/>
          </a:stretch>
        </p:blipFill>
        <p:spPr>
          <a:xfrm>
            <a:off x="1008027" y="3503139"/>
            <a:ext cx="3601497" cy="2631189"/>
          </a:xfrm>
          <a:prstGeom prst="rect">
            <a:avLst/>
          </a:prstGeom>
        </p:spPr>
      </p:pic>
      <p:sp>
        <p:nvSpPr>
          <p:cNvPr id="28" name="TextBox 26"/>
          <p:cNvSpPr txBox="1"/>
          <p:nvPr/>
        </p:nvSpPr>
        <p:spPr>
          <a:xfrm rot="19999040">
            <a:off x="1277755" y="4832055"/>
            <a:ext cx="1205743" cy="769441"/>
          </a:xfrm>
          <a:prstGeom prst="rect">
            <a:avLst/>
          </a:prstGeom>
          <a:noFill/>
        </p:spPr>
        <p:txBody>
          <a:bodyPr wrap="square" rtlCol="0">
            <a:spAutoFit/>
          </a:bodyPr>
          <a:lstStyle/>
          <a:p>
            <a:pPr algn="ctr">
              <a:defRPr/>
            </a:pPr>
            <a:r>
              <a:rPr lang="en-US" altLang="zh-CN" sz="4400" b="1" kern="0" dirty="0">
                <a:solidFill>
                  <a:sysClr val="windowText" lastClr="000000">
                    <a:lumMod val="65000"/>
                    <a:lumOff val="35000"/>
                  </a:sysClr>
                </a:solidFill>
                <a:latin typeface="Arial" panose="020B0604020202020204" pitchFamily="34" charset="0"/>
                <a:ea typeface="微软雅黑" panose="020B0503020204020204" charset="-122"/>
                <a:cs typeface="Arial" panose="020B0604020202020204" pitchFamily="34" charset="0"/>
              </a:rPr>
              <a:t>2</a:t>
            </a:r>
            <a:endParaRPr lang="zh-CN" altLang="en-US" sz="4400" b="1" kern="0" dirty="0">
              <a:solidFill>
                <a:sysClr val="windowText" lastClr="000000">
                  <a:lumMod val="65000"/>
                  <a:lumOff val="35000"/>
                </a:sysClr>
              </a:solidFill>
              <a:latin typeface="Arial" panose="020B0604020202020204" pitchFamily="34" charset="0"/>
              <a:ea typeface="微软雅黑" panose="020B0503020204020204" charset="-122"/>
              <a:cs typeface="Arial" panose="020B0604020202020204" pitchFamily="34" charset="0"/>
            </a:endParaRPr>
          </a:p>
        </p:txBody>
      </p:sp>
      <p:pic>
        <p:nvPicPr>
          <p:cNvPr id="29" name="图片 28"/>
          <p:cNvPicPr>
            <a:picLocks noChangeAspect="1"/>
          </p:cNvPicPr>
          <p:nvPr/>
        </p:nvPicPr>
        <p:blipFill>
          <a:blip r:embed="rId4" cstate="print"/>
          <a:stretch>
            <a:fillRect/>
          </a:stretch>
        </p:blipFill>
        <p:spPr>
          <a:xfrm>
            <a:off x="1480231" y="5108517"/>
            <a:ext cx="3278061" cy="1643402"/>
          </a:xfrm>
          <a:prstGeom prst="rect">
            <a:avLst/>
          </a:prstGeom>
        </p:spPr>
      </p:pic>
      <p:sp>
        <p:nvSpPr>
          <p:cNvPr id="30" name="TextBox 28"/>
          <p:cNvSpPr txBox="1"/>
          <p:nvPr/>
        </p:nvSpPr>
        <p:spPr>
          <a:xfrm rot="21275461">
            <a:off x="1597632" y="5641619"/>
            <a:ext cx="1205743" cy="769441"/>
          </a:xfrm>
          <a:prstGeom prst="rect">
            <a:avLst/>
          </a:prstGeom>
          <a:noFill/>
        </p:spPr>
        <p:txBody>
          <a:bodyPr wrap="square" rtlCol="0">
            <a:spAutoFit/>
          </a:bodyPr>
          <a:lstStyle/>
          <a:p>
            <a:pPr algn="ctr">
              <a:defRPr/>
            </a:pPr>
            <a:r>
              <a:rPr lang="en-US" altLang="zh-CN" sz="4400" b="1" kern="0" dirty="0">
                <a:solidFill>
                  <a:sysClr val="windowText" lastClr="000000">
                    <a:lumMod val="65000"/>
                    <a:lumOff val="35000"/>
                  </a:sysClr>
                </a:solidFill>
                <a:latin typeface="Arial" panose="020B0604020202020204" pitchFamily="34" charset="0"/>
                <a:ea typeface="微软雅黑" panose="020B0503020204020204" charset="-122"/>
                <a:cs typeface="Arial" panose="020B0604020202020204" pitchFamily="34" charset="0"/>
              </a:rPr>
              <a:t>1</a:t>
            </a:r>
            <a:endParaRPr lang="zh-CN" altLang="en-US" sz="4400" b="1" kern="0" dirty="0">
              <a:solidFill>
                <a:sysClr val="windowText" lastClr="000000">
                  <a:lumMod val="65000"/>
                  <a:lumOff val="35000"/>
                </a:sysClr>
              </a:solidFill>
              <a:latin typeface="Arial" panose="020B0604020202020204" pitchFamily="34" charset="0"/>
              <a:ea typeface="微软雅黑" panose="020B0503020204020204" charset="-122"/>
              <a:cs typeface="Arial" panose="020B0604020202020204" pitchFamily="34" charset="0"/>
            </a:endParaRPr>
          </a:p>
        </p:txBody>
      </p:sp>
      <p:sp>
        <p:nvSpPr>
          <p:cNvPr id="32" name="TextBox 30"/>
          <p:cNvSpPr txBox="1"/>
          <p:nvPr/>
        </p:nvSpPr>
        <p:spPr>
          <a:xfrm rot="18886036">
            <a:off x="1702889" y="3202911"/>
            <a:ext cx="1213246" cy="483235"/>
          </a:xfrm>
          <a:prstGeom prst="rect">
            <a:avLst/>
          </a:prstGeom>
          <a:noFill/>
        </p:spPr>
        <p:txBody>
          <a:bodyPr wrap="square" rtlCol="0">
            <a:spAutoFit/>
          </a:bodyPr>
          <a:lstStyle/>
          <a:p>
            <a:pPr algn="ctr">
              <a:defRPr/>
            </a:pPr>
            <a:r>
              <a:rPr lang="zh-CN" altLang="en-US" sz="2400" b="1" kern="0" dirty="0">
                <a:solidFill>
                  <a:schemeClr val="bg1"/>
                </a:solidFill>
                <a:latin typeface="微软雅黑" panose="020B0503020204020204" charset="-122"/>
                <a:ea typeface="微软雅黑" panose="020B0503020204020204" charset="-122"/>
              </a:rPr>
              <a:t>“:w”：</a:t>
            </a:r>
          </a:p>
        </p:txBody>
      </p:sp>
      <p:sp>
        <p:nvSpPr>
          <p:cNvPr id="33" name="TextBox 31"/>
          <p:cNvSpPr txBox="1"/>
          <p:nvPr/>
        </p:nvSpPr>
        <p:spPr>
          <a:xfrm rot="20182062">
            <a:off x="2309495" y="4352290"/>
            <a:ext cx="1619250" cy="417830"/>
          </a:xfrm>
          <a:prstGeom prst="rect">
            <a:avLst/>
          </a:prstGeom>
          <a:noFill/>
        </p:spPr>
        <p:txBody>
          <a:bodyPr wrap="square" rtlCol="0">
            <a:spAutoFit/>
          </a:bodyPr>
          <a:lstStyle/>
          <a:p>
            <a:pPr algn="ctr">
              <a:defRPr/>
            </a:pPr>
            <a:r>
              <a:rPr lang="zh-CN" altLang="en-US" sz="2000" b="1" kern="0" dirty="0">
                <a:solidFill>
                  <a:schemeClr val="bg1"/>
                </a:solidFill>
                <a:latin typeface="微软雅黑" panose="020B0503020204020204" charset="-122"/>
                <a:ea typeface="微软雅黑" panose="020B0503020204020204" charset="-122"/>
              </a:rPr>
              <a:t>“:w file”：</a:t>
            </a:r>
          </a:p>
        </p:txBody>
      </p:sp>
      <p:sp>
        <p:nvSpPr>
          <p:cNvPr id="34" name="TextBox 32"/>
          <p:cNvSpPr txBox="1"/>
          <p:nvPr/>
        </p:nvSpPr>
        <p:spPr>
          <a:xfrm rot="21282557">
            <a:off x="2853055" y="5588376"/>
            <a:ext cx="1603375" cy="417830"/>
          </a:xfrm>
          <a:prstGeom prst="rect">
            <a:avLst/>
          </a:prstGeom>
          <a:noFill/>
        </p:spPr>
        <p:txBody>
          <a:bodyPr wrap="square" rtlCol="0">
            <a:spAutoFit/>
          </a:bodyPr>
          <a:lstStyle/>
          <a:p>
            <a:pPr algn="ctr">
              <a:defRPr/>
            </a:pPr>
            <a:r>
              <a:rPr lang="zh-CN" altLang="en-US" sz="2000" b="1" kern="0" dirty="0">
                <a:solidFill>
                  <a:schemeClr val="tx1">
                    <a:lumMod val="50000"/>
                    <a:lumOff val="50000"/>
                  </a:schemeClr>
                </a:solidFill>
                <a:latin typeface="微软雅黑" panose="020B0503020204020204" charset="-122"/>
                <a:ea typeface="微软雅黑" panose="020B0503020204020204" charset="-122"/>
              </a:rPr>
              <a:t>“:w! file”：</a:t>
            </a:r>
          </a:p>
        </p:txBody>
      </p:sp>
      <p:sp>
        <p:nvSpPr>
          <p:cNvPr id="45" name="TextBox 44"/>
          <p:cNvSpPr txBox="1"/>
          <p:nvPr/>
        </p:nvSpPr>
        <p:spPr>
          <a:xfrm>
            <a:off x="1132205" y="1280160"/>
            <a:ext cx="7803515" cy="640080"/>
          </a:xfrm>
          <a:prstGeom prst="rect">
            <a:avLst/>
          </a:prstGeom>
          <a:noFill/>
        </p:spPr>
        <p:txBody>
          <a:bodyPr wrap="square" rtlCol="0">
            <a:spAutoFit/>
          </a:bodyPr>
          <a:lstStyle/>
          <a:p>
            <a:pPr eaLnBrk="1" latinLnBrk="0" hangingPunct="1">
              <a:lnSpc>
                <a:spcPct val="150000"/>
              </a:lnSpc>
            </a:pPr>
            <a:r>
              <a:rPr lang="zh-CN" altLang="en-US" sz="2400" b="1" dirty="0">
                <a:solidFill>
                  <a:srgbClr val="0070C0"/>
                </a:solidFill>
                <a:latin typeface="微软雅黑" panose="020B0503020204020204" charset="-122"/>
                <a:ea typeface="微软雅黑" panose="020B0503020204020204" charset="-122"/>
                <a:sym typeface="+mn-ea"/>
              </a:rPr>
              <a:t>在用户录入文本时，要不断地存盘，3个存盘的命令如下：</a:t>
            </a:r>
          </a:p>
        </p:txBody>
      </p:sp>
      <p:sp>
        <p:nvSpPr>
          <p:cNvPr id="48" name="矩形 47"/>
          <p:cNvSpPr/>
          <p:nvPr/>
        </p:nvSpPr>
        <p:spPr>
          <a:xfrm>
            <a:off x="5096186" y="5586741"/>
            <a:ext cx="6096000" cy="487680"/>
          </a:xfrm>
          <a:prstGeom prst="rect">
            <a:avLst/>
          </a:prstGeom>
        </p:spPr>
        <p:txBody>
          <a:bodyPr>
            <a:spAutoFit/>
          </a:bodyPr>
          <a:lstStyle/>
          <a:p>
            <a:pPr indent="457200">
              <a:lnSpc>
                <a:spcPct val="130000"/>
              </a:lnSpc>
              <a:defRPr/>
            </a:pPr>
            <a:r>
              <a:rPr lang="zh-CN" altLang="en-US" sz="2000" dirty="0">
                <a:solidFill>
                  <a:schemeClr val="tx1">
                    <a:lumMod val="75000"/>
                    <a:lumOff val="25000"/>
                  </a:schemeClr>
                </a:solidFill>
                <a:latin typeface="微软雅黑" panose="020B0503020204020204" charset="-122"/>
                <a:ea typeface="微软雅黑" panose="020B0503020204020204" charset="-122"/>
                <a:sym typeface="+mn-ea"/>
              </a:rPr>
              <a:t>强制将缓冲区中的内容写到file中。</a:t>
            </a:r>
            <a:endParaRPr lang="zh-CN" altLang="en-US" sz="2000" kern="0" dirty="0">
              <a:solidFill>
                <a:schemeClr val="tx1">
                  <a:lumMod val="75000"/>
                  <a:lumOff val="25000"/>
                </a:schemeClr>
              </a:solidFill>
              <a:latin typeface="微软雅黑" panose="020B0503020204020204" charset="-122"/>
              <a:ea typeface="微软雅黑" panose="020B0503020204020204" charset="-122"/>
              <a:sym typeface="+mn-ea"/>
            </a:endParaRPr>
          </a:p>
        </p:txBody>
      </p:sp>
      <p:sp>
        <p:nvSpPr>
          <p:cNvPr id="49" name="矩形 48"/>
          <p:cNvSpPr/>
          <p:nvPr/>
        </p:nvSpPr>
        <p:spPr>
          <a:xfrm>
            <a:off x="5095868" y="3855720"/>
            <a:ext cx="5072098" cy="548640"/>
          </a:xfrm>
          <a:prstGeom prst="rect">
            <a:avLst/>
          </a:prstGeom>
        </p:spPr>
        <p:txBody>
          <a:bodyPr wrap="square">
            <a:spAutoFit/>
          </a:bodyPr>
          <a:lstStyle/>
          <a:p>
            <a:pPr eaLnBrk="1" latinLnBrk="0" hangingPunct="1">
              <a:lnSpc>
                <a:spcPct val="150000"/>
              </a:lnSpc>
            </a:pPr>
            <a:r>
              <a:rPr lang="zh-CN" altLang="en-US" sz="2000" dirty="0">
                <a:solidFill>
                  <a:schemeClr val="tx1">
                    <a:lumMod val="75000"/>
                    <a:lumOff val="25000"/>
                  </a:schemeClr>
                </a:solidFill>
                <a:latin typeface="微软雅黑" panose="020B0503020204020204" charset="-122"/>
                <a:ea typeface="微软雅黑" panose="020B0503020204020204" charset="-122"/>
                <a:sym typeface="+mn-ea"/>
              </a:rPr>
              <a:t>将缓冲区中的内容写到名为file的文件中；</a:t>
            </a:r>
            <a:endParaRPr lang="zh-CN" altLang="en-US" sz="2000" kern="0" dirty="0">
              <a:solidFill>
                <a:schemeClr val="tx1">
                  <a:lumMod val="75000"/>
                  <a:lumOff val="25000"/>
                </a:schemeClr>
              </a:solidFill>
              <a:latin typeface="微软雅黑" panose="020B0503020204020204" charset="-122"/>
              <a:ea typeface="微软雅黑" panose="020B0503020204020204" charset="-122"/>
              <a:sym typeface="+mn-ea"/>
            </a:endParaRPr>
          </a:p>
        </p:txBody>
      </p:sp>
      <p:sp>
        <p:nvSpPr>
          <p:cNvPr id="50" name="矩形 49"/>
          <p:cNvSpPr/>
          <p:nvPr/>
        </p:nvSpPr>
        <p:spPr>
          <a:xfrm>
            <a:off x="3990340" y="1920240"/>
            <a:ext cx="6177915" cy="1005840"/>
          </a:xfrm>
          <a:prstGeom prst="rect">
            <a:avLst/>
          </a:prstGeom>
        </p:spPr>
        <p:txBody>
          <a:bodyPr wrap="square">
            <a:spAutoFit/>
          </a:bodyPr>
          <a:lstStyle/>
          <a:p>
            <a:pPr indent="457200" fontAlgn="auto">
              <a:lnSpc>
                <a:spcPct val="150000"/>
              </a:lnSpc>
            </a:pPr>
            <a:r>
              <a:rPr lang="zh-CN" altLang="en-US" sz="2000" dirty="0">
                <a:solidFill>
                  <a:schemeClr val="tx1">
                    <a:lumMod val="75000"/>
                    <a:lumOff val="25000"/>
                  </a:schemeClr>
                </a:solidFill>
                <a:latin typeface="微软雅黑" panose="020B0503020204020204" charset="-122"/>
                <a:ea typeface="微软雅黑" panose="020B0503020204020204" charset="-122"/>
                <a:sym typeface="+mn-ea"/>
              </a:rPr>
              <a:t>将缓冲区中的内容写到上一次指定的文件（上一次保存时的文件，如未保存，则是打开时的文件）中；</a:t>
            </a:r>
            <a:endParaRPr lang="zh-CN" altLang="en-US" sz="2000" kern="0" dirty="0">
              <a:solidFill>
                <a:schemeClr val="tx1">
                  <a:lumMod val="75000"/>
                  <a:lumOff val="25000"/>
                </a:schemeClr>
              </a:solidFill>
              <a:latin typeface="微软雅黑" panose="020B0503020204020204" charset="-122"/>
              <a:ea typeface="微软雅黑" panose="020B0503020204020204" charset="-122"/>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1"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500"/>
                                        <p:tgtEl>
                                          <p:spTgt spid="45"/>
                                        </p:tgtEl>
                                      </p:cBhvr>
                                    </p:animEffect>
                                  </p:childTnLst>
                                </p:cTn>
                              </p:par>
                            </p:childTnLst>
                          </p:cTn>
                        </p:par>
                        <p:par>
                          <p:cTn id="8" fill="hold">
                            <p:stCondLst>
                              <p:cond delay="500"/>
                            </p:stCondLst>
                            <p:childTnLst>
                              <p:par>
                                <p:cTn id="9" presetID="53" presetClass="entr" presetSubtype="16" fill="hold" grpId="13" nodeType="after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p:cTn id="11" dur="500" fill="hold"/>
                                        <p:tgtEl>
                                          <p:spTgt spid="17"/>
                                        </p:tgtEl>
                                        <p:attrNameLst>
                                          <p:attrName>ppt_w</p:attrName>
                                        </p:attrNameLst>
                                      </p:cBhvr>
                                      <p:tavLst>
                                        <p:tav tm="0">
                                          <p:val>
                                            <p:fltVal val="0"/>
                                          </p:val>
                                        </p:tav>
                                        <p:tav tm="100000">
                                          <p:val>
                                            <p:strVal val="#ppt_w"/>
                                          </p:val>
                                        </p:tav>
                                      </p:tavLst>
                                    </p:anim>
                                    <p:anim calcmode="lin" valueType="num">
                                      <p:cBhvr>
                                        <p:cTn id="12" dur="500" fill="hold"/>
                                        <p:tgtEl>
                                          <p:spTgt spid="17"/>
                                        </p:tgtEl>
                                        <p:attrNameLst>
                                          <p:attrName>ppt_h</p:attrName>
                                        </p:attrNameLst>
                                      </p:cBhvr>
                                      <p:tavLst>
                                        <p:tav tm="0">
                                          <p:val>
                                            <p:fltVal val="0"/>
                                          </p:val>
                                        </p:tav>
                                        <p:tav tm="100000">
                                          <p:val>
                                            <p:strVal val="#ppt_h"/>
                                          </p:val>
                                        </p:tav>
                                      </p:tavLst>
                                    </p:anim>
                                    <p:animEffect transition="in" filter="fade">
                                      <p:cBhvr>
                                        <p:cTn id="13" dur="500"/>
                                        <p:tgtEl>
                                          <p:spTgt spid="17"/>
                                        </p:tgtEl>
                                      </p:cBhvr>
                                    </p:animEffect>
                                  </p:childTnLst>
                                </p:cTn>
                              </p:par>
                            </p:childTnLst>
                          </p:cTn>
                        </p:par>
                        <p:par>
                          <p:cTn id="14" fill="hold">
                            <p:stCondLst>
                              <p:cond delay="1000"/>
                            </p:stCondLst>
                            <p:childTnLst>
                              <p:par>
                                <p:cTn id="15" presetID="42" presetClass="entr" presetSubtype="0" fill="hold" nodeType="after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anim calcmode="lin" valueType="num">
                                      <p:cBhvr>
                                        <p:cTn id="18" dur="500" fill="hold"/>
                                        <p:tgtEl>
                                          <p:spTgt spid="29"/>
                                        </p:tgtEl>
                                        <p:attrNameLst>
                                          <p:attrName>ppt_x</p:attrName>
                                        </p:attrNameLst>
                                      </p:cBhvr>
                                      <p:tavLst>
                                        <p:tav tm="0">
                                          <p:val>
                                            <p:strVal val="#ppt_x"/>
                                          </p:val>
                                        </p:tav>
                                        <p:tav tm="100000">
                                          <p:val>
                                            <p:strVal val="#ppt_x"/>
                                          </p:val>
                                        </p:tav>
                                      </p:tavLst>
                                    </p:anim>
                                    <p:anim calcmode="lin" valueType="num">
                                      <p:cBhvr>
                                        <p:cTn id="19" dur="500" fill="hold"/>
                                        <p:tgtEl>
                                          <p:spTgt spid="2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1000"/>
                                        <p:tgtEl>
                                          <p:spTgt spid="30"/>
                                        </p:tgtEl>
                                      </p:cBhvr>
                                    </p:animEffect>
                                    <p:anim calcmode="lin" valueType="num">
                                      <p:cBhvr>
                                        <p:cTn id="23" dur="1000" fill="hold"/>
                                        <p:tgtEl>
                                          <p:spTgt spid="30"/>
                                        </p:tgtEl>
                                        <p:attrNameLst>
                                          <p:attrName>ppt_x</p:attrName>
                                        </p:attrNameLst>
                                      </p:cBhvr>
                                      <p:tavLst>
                                        <p:tav tm="0">
                                          <p:val>
                                            <p:strVal val="#ppt_x"/>
                                          </p:val>
                                        </p:tav>
                                        <p:tav tm="100000">
                                          <p:val>
                                            <p:strVal val="#ppt_x"/>
                                          </p:val>
                                        </p:tav>
                                      </p:tavLst>
                                    </p:anim>
                                    <p:anim calcmode="lin" valueType="num">
                                      <p:cBhvr>
                                        <p:cTn id="24" dur="1000" fill="hold"/>
                                        <p:tgtEl>
                                          <p:spTgt spid="3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1000"/>
                                        <p:tgtEl>
                                          <p:spTgt spid="34"/>
                                        </p:tgtEl>
                                      </p:cBhvr>
                                    </p:animEffect>
                                    <p:anim calcmode="lin" valueType="num">
                                      <p:cBhvr>
                                        <p:cTn id="28" dur="1000" fill="hold"/>
                                        <p:tgtEl>
                                          <p:spTgt spid="34"/>
                                        </p:tgtEl>
                                        <p:attrNameLst>
                                          <p:attrName>ppt_x</p:attrName>
                                        </p:attrNameLst>
                                      </p:cBhvr>
                                      <p:tavLst>
                                        <p:tav tm="0">
                                          <p:val>
                                            <p:strVal val="#ppt_x"/>
                                          </p:val>
                                        </p:tav>
                                        <p:tav tm="100000">
                                          <p:val>
                                            <p:strVal val="#ppt_x"/>
                                          </p:val>
                                        </p:tav>
                                      </p:tavLst>
                                    </p:anim>
                                    <p:anim calcmode="lin" valueType="num">
                                      <p:cBhvr>
                                        <p:cTn id="29" dur="1000" fill="hold"/>
                                        <p:tgtEl>
                                          <p:spTgt spid="34"/>
                                        </p:tgtEl>
                                        <p:attrNameLst>
                                          <p:attrName>ppt_y</p:attrName>
                                        </p:attrNameLst>
                                      </p:cBhvr>
                                      <p:tavLst>
                                        <p:tav tm="0">
                                          <p:val>
                                            <p:strVal val="#ppt_y+.1"/>
                                          </p:val>
                                        </p:tav>
                                        <p:tav tm="100000">
                                          <p:val>
                                            <p:strVal val="#ppt_y"/>
                                          </p:val>
                                        </p:tav>
                                      </p:tavLst>
                                    </p:anim>
                                  </p:childTnLst>
                                </p:cTn>
                              </p:par>
                            </p:childTnLst>
                          </p:cTn>
                        </p:par>
                        <p:par>
                          <p:cTn id="30" fill="hold">
                            <p:stCondLst>
                              <p:cond delay="2000"/>
                            </p:stCondLst>
                            <p:childTnLst>
                              <p:par>
                                <p:cTn id="31" presetID="12" presetClass="entr" presetSubtype="2" fill="hold" grpId="0" nodeType="afterEffect">
                                  <p:stCondLst>
                                    <p:cond delay="0"/>
                                  </p:stCondLst>
                                  <p:childTnLst>
                                    <p:set>
                                      <p:cBhvr>
                                        <p:cTn id="32" dur="1" fill="hold">
                                          <p:stCondLst>
                                            <p:cond delay="0"/>
                                          </p:stCondLst>
                                        </p:cTn>
                                        <p:tgtEl>
                                          <p:spTgt spid="48"/>
                                        </p:tgtEl>
                                        <p:attrNameLst>
                                          <p:attrName>style.visibility</p:attrName>
                                        </p:attrNameLst>
                                      </p:cBhvr>
                                      <p:to>
                                        <p:strVal val="visible"/>
                                      </p:to>
                                    </p:set>
                                    <p:animEffect transition="in" filter="slide(fromRight)">
                                      <p:cBhvr>
                                        <p:cTn id="33" dur="500"/>
                                        <p:tgtEl>
                                          <p:spTgt spid="48"/>
                                        </p:tgtEl>
                                      </p:cBhvr>
                                    </p:animEffect>
                                  </p:childTnLst>
                                </p:cTn>
                              </p:par>
                            </p:childTnLst>
                          </p:cTn>
                        </p:par>
                        <p:par>
                          <p:cTn id="34" fill="hold">
                            <p:stCondLst>
                              <p:cond delay="2500"/>
                            </p:stCondLst>
                            <p:childTnLst>
                              <p:par>
                                <p:cTn id="35" presetID="42" presetClass="entr" presetSubtype="0" fill="hold" grpId="0" nodeType="after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1000"/>
                                        <p:tgtEl>
                                          <p:spTgt spid="28"/>
                                        </p:tgtEl>
                                      </p:cBhvr>
                                    </p:animEffect>
                                    <p:anim calcmode="lin" valueType="num">
                                      <p:cBhvr>
                                        <p:cTn id="38" dur="1000" fill="hold"/>
                                        <p:tgtEl>
                                          <p:spTgt spid="28"/>
                                        </p:tgtEl>
                                        <p:attrNameLst>
                                          <p:attrName>ppt_x</p:attrName>
                                        </p:attrNameLst>
                                      </p:cBhvr>
                                      <p:tavLst>
                                        <p:tav tm="0">
                                          <p:val>
                                            <p:strVal val="#ppt_x"/>
                                          </p:val>
                                        </p:tav>
                                        <p:tav tm="100000">
                                          <p:val>
                                            <p:strVal val="#ppt_x"/>
                                          </p:val>
                                        </p:tav>
                                      </p:tavLst>
                                    </p:anim>
                                    <p:anim calcmode="lin" valueType="num">
                                      <p:cBhvr>
                                        <p:cTn id="39" dur="1000" fill="hold"/>
                                        <p:tgtEl>
                                          <p:spTgt spid="2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1000"/>
                                        <p:tgtEl>
                                          <p:spTgt spid="33"/>
                                        </p:tgtEl>
                                      </p:cBhvr>
                                    </p:animEffect>
                                    <p:anim calcmode="lin" valueType="num">
                                      <p:cBhvr>
                                        <p:cTn id="43" dur="1000" fill="hold"/>
                                        <p:tgtEl>
                                          <p:spTgt spid="33"/>
                                        </p:tgtEl>
                                        <p:attrNameLst>
                                          <p:attrName>ppt_x</p:attrName>
                                        </p:attrNameLst>
                                      </p:cBhvr>
                                      <p:tavLst>
                                        <p:tav tm="0">
                                          <p:val>
                                            <p:strVal val="#ppt_x"/>
                                          </p:val>
                                        </p:tav>
                                        <p:tav tm="100000">
                                          <p:val>
                                            <p:strVal val="#ppt_x"/>
                                          </p:val>
                                        </p:tav>
                                      </p:tavLst>
                                    </p:anim>
                                    <p:anim calcmode="lin" valueType="num">
                                      <p:cBhvr>
                                        <p:cTn id="44" dur="1000" fill="hold"/>
                                        <p:tgtEl>
                                          <p:spTgt spid="33"/>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500"/>
                                        <p:tgtEl>
                                          <p:spTgt spid="27"/>
                                        </p:tgtEl>
                                      </p:cBhvr>
                                    </p:animEffect>
                                    <p:anim calcmode="lin" valueType="num">
                                      <p:cBhvr>
                                        <p:cTn id="48" dur="500" fill="hold"/>
                                        <p:tgtEl>
                                          <p:spTgt spid="27"/>
                                        </p:tgtEl>
                                        <p:attrNameLst>
                                          <p:attrName>ppt_x</p:attrName>
                                        </p:attrNameLst>
                                      </p:cBhvr>
                                      <p:tavLst>
                                        <p:tav tm="0">
                                          <p:val>
                                            <p:strVal val="#ppt_x"/>
                                          </p:val>
                                        </p:tav>
                                        <p:tav tm="100000">
                                          <p:val>
                                            <p:strVal val="#ppt_x"/>
                                          </p:val>
                                        </p:tav>
                                      </p:tavLst>
                                    </p:anim>
                                    <p:anim calcmode="lin" valueType="num">
                                      <p:cBhvr>
                                        <p:cTn id="49" dur="500" fill="hold"/>
                                        <p:tgtEl>
                                          <p:spTgt spid="27"/>
                                        </p:tgtEl>
                                        <p:attrNameLst>
                                          <p:attrName>ppt_y</p:attrName>
                                        </p:attrNameLst>
                                      </p:cBhvr>
                                      <p:tavLst>
                                        <p:tav tm="0">
                                          <p:val>
                                            <p:strVal val="#ppt_y+.1"/>
                                          </p:val>
                                        </p:tav>
                                        <p:tav tm="100000">
                                          <p:val>
                                            <p:strVal val="#ppt_y"/>
                                          </p:val>
                                        </p:tav>
                                      </p:tavLst>
                                    </p:anim>
                                  </p:childTnLst>
                                </p:cTn>
                              </p:par>
                            </p:childTnLst>
                          </p:cTn>
                        </p:par>
                        <p:par>
                          <p:cTn id="50" fill="hold">
                            <p:stCondLst>
                              <p:cond delay="3500"/>
                            </p:stCondLst>
                            <p:childTnLst>
                              <p:par>
                                <p:cTn id="51" presetID="12" presetClass="entr" presetSubtype="2" fill="hold" grpId="0" nodeType="afterEffect">
                                  <p:stCondLst>
                                    <p:cond delay="0"/>
                                  </p:stCondLst>
                                  <p:childTnLst>
                                    <p:set>
                                      <p:cBhvr>
                                        <p:cTn id="52" dur="1" fill="hold">
                                          <p:stCondLst>
                                            <p:cond delay="0"/>
                                          </p:stCondLst>
                                        </p:cTn>
                                        <p:tgtEl>
                                          <p:spTgt spid="49"/>
                                        </p:tgtEl>
                                        <p:attrNameLst>
                                          <p:attrName>style.visibility</p:attrName>
                                        </p:attrNameLst>
                                      </p:cBhvr>
                                      <p:to>
                                        <p:strVal val="visible"/>
                                      </p:to>
                                    </p:set>
                                    <p:animEffect transition="in" filter="slide(fromRight)">
                                      <p:cBhvr>
                                        <p:cTn id="53" dur="500"/>
                                        <p:tgtEl>
                                          <p:spTgt spid="49"/>
                                        </p:tgtEl>
                                      </p:cBhvr>
                                    </p:animEffect>
                                  </p:childTnLst>
                                </p:cTn>
                              </p:par>
                            </p:childTnLst>
                          </p:cTn>
                        </p:par>
                        <p:par>
                          <p:cTn id="54" fill="hold">
                            <p:stCondLst>
                              <p:cond delay="4000"/>
                            </p:stCondLst>
                            <p:childTnLst>
                              <p:par>
                                <p:cTn id="55" presetID="42" presetClass="entr" presetSubtype="0" fill="hold" grpId="0" nodeType="after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1000"/>
                                        <p:tgtEl>
                                          <p:spTgt spid="26"/>
                                        </p:tgtEl>
                                      </p:cBhvr>
                                    </p:animEffect>
                                    <p:anim calcmode="lin" valueType="num">
                                      <p:cBhvr>
                                        <p:cTn id="58" dur="1000" fill="hold"/>
                                        <p:tgtEl>
                                          <p:spTgt spid="26"/>
                                        </p:tgtEl>
                                        <p:attrNameLst>
                                          <p:attrName>ppt_x</p:attrName>
                                        </p:attrNameLst>
                                      </p:cBhvr>
                                      <p:tavLst>
                                        <p:tav tm="0">
                                          <p:val>
                                            <p:strVal val="#ppt_x"/>
                                          </p:val>
                                        </p:tav>
                                        <p:tav tm="100000">
                                          <p:val>
                                            <p:strVal val="#ppt_x"/>
                                          </p:val>
                                        </p:tav>
                                      </p:tavLst>
                                    </p:anim>
                                    <p:anim calcmode="lin" valueType="num">
                                      <p:cBhvr>
                                        <p:cTn id="59" dur="1000" fill="hold"/>
                                        <p:tgtEl>
                                          <p:spTgt spid="26"/>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1000"/>
                                        <p:tgtEl>
                                          <p:spTgt spid="32"/>
                                        </p:tgtEl>
                                      </p:cBhvr>
                                    </p:animEffect>
                                    <p:anim calcmode="lin" valueType="num">
                                      <p:cBhvr>
                                        <p:cTn id="63" dur="1000" fill="hold"/>
                                        <p:tgtEl>
                                          <p:spTgt spid="32"/>
                                        </p:tgtEl>
                                        <p:attrNameLst>
                                          <p:attrName>ppt_x</p:attrName>
                                        </p:attrNameLst>
                                      </p:cBhvr>
                                      <p:tavLst>
                                        <p:tav tm="0">
                                          <p:val>
                                            <p:strVal val="#ppt_x"/>
                                          </p:val>
                                        </p:tav>
                                        <p:tav tm="100000">
                                          <p:val>
                                            <p:strVal val="#ppt_x"/>
                                          </p:val>
                                        </p:tav>
                                      </p:tavLst>
                                    </p:anim>
                                    <p:anim calcmode="lin" valueType="num">
                                      <p:cBhvr>
                                        <p:cTn id="64" dur="1000" fill="hold"/>
                                        <p:tgtEl>
                                          <p:spTgt spid="32"/>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anim calcmode="lin" valueType="num">
                                      <p:cBhvr>
                                        <p:cTn id="68" dur="500" fill="hold"/>
                                        <p:tgtEl>
                                          <p:spTgt spid="25"/>
                                        </p:tgtEl>
                                        <p:attrNameLst>
                                          <p:attrName>ppt_x</p:attrName>
                                        </p:attrNameLst>
                                      </p:cBhvr>
                                      <p:tavLst>
                                        <p:tav tm="0">
                                          <p:val>
                                            <p:strVal val="#ppt_x"/>
                                          </p:val>
                                        </p:tav>
                                        <p:tav tm="100000">
                                          <p:val>
                                            <p:strVal val="#ppt_x"/>
                                          </p:val>
                                        </p:tav>
                                      </p:tavLst>
                                    </p:anim>
                                    <p:anim calcmode="lin" valueType="num">
                                      <p:cBhvr>
                                        <p:cTn id="69" dur="500" fill="hold"/>
                                        <p:tgtEl>
                                          <p:spTgt spid="25"/>
                                        </p:tgtEl>
                                        <p:attrNameLst>
                                          <p:attrName>ppt_y</p:attrName>
                                        </p:attrNameLst>
                                      </p:cBhvr>
                                      <p:tavLst>
                                        <p:tav tm="0">
                                          <p:val>
                                            <p:strVal val="#ppt_y+.1"/>
                                          </p:val>
                                        </p:tav>
                                        <p:tav tm="100000">
                                          <p:val>
                                            <p:strVal val="#ppt_y"/>
                                          </p:val>
                                        </p:tav>
                                      </p:tavLst>
                                    </p:anim>
                                  </p:childTnLst>
                                </p:cTn>
                              </p:par>
                            </p:childTnLst>
                          </p:cTn>
                        </p:par>
                        <p:par>
                          <p:cTn id="70" fill="hold">
                            <p:stCondLst>
                              <p:cond delay="5000"/>
                            </p:stCondLst>
                            <p:childTnLst>
                              <p:par>
                                <p:cTn id="71" presetID="12" presetClass="entr" presetSubtype="2" fill="hold" grpId="0" nodeType="afterEffect">
                                  <p:stCondLst>
                                    <p:cond delay="0"/>
                                  </p:stCondLst>
                                  <p:childTnLst>
                                    <p:set>
                                      <p:cBhvr>
                                        <p:cTn id="72" dur="1" fill="hold">
                                          <p:stCondLst>
                                            <p:cond delay="0"/>
                                          </p:stCondLst>
                                        </p:cTn>
                                        <p:tgtEl>
                                          <p:spTgt spid="50"/>
                                        </p:tgtEl>
                                        <p:attrNameLst>
                                          <p:attrName>style.visibility</p:attrName>
                                        </p:attrNameLst>
                                      </p:cBhvr>
                                      <p:to>
                                        <p:strVal val="visible"/>
                                      </p:to>
                                    </p:set>
                                    <p:animEffect transition="in" filter="slide(fromRight)">
                                      <p:cBhvr>
                                        <p:cTn id="73"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17" grpId="2" animBg="1"/>
      <p:bldP spid="17" grpId="3" animBg="1"/>
      <p:bldP spid="17" grpId="4" animBg="1"/>
      <p:bldP spid="17" grpId="5" animBg="1"/>
      <p:bldP spid="17" grpId="6" animBg="1"/>
      <p:bldP spid="17" grpId="7" animBg="1"/>
      <p:bldP spid="17" grpId="8" animBg="1"/>
      <p:bldP spid="17" grpId="9" animBg="1"/>
      <p:bldP spid="17" grpId="10" animBg="1"/>
      <p:bldP spid="17" grpId="11" animBg="1"/>
      <p:bldP spid="17" grpId="12" animBg="1"/>
      <p:bldP spid="17" grpId="13" animBg="1"/>
      <p:bldP spid="26" grpId="0"/>
      <p:bldP spid="28" grpId="0"/>
      <p:bldP spid="30" grpId="0"/>
      <p:bldP spid="32" grpId="0"/>
      <p:bldP spid="33" grpId="0"/>
      <p:bldP spid="34" grpId="0"/>
      <p:bldP spid="45" grpId="0"/>
      <p:bldP spid="45" grpId="1"/>
      <p:bldP spid="48" grpId="0"/>
      <p:bldP spid="49" grpId="0"/>
      <p:bldP spid="5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98475" y="1718310"/>
            <a:ext cx="11194415" cy="48044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grpSp>
        <p:nvGrpSpPr>
          <p:cNvPr id="13" name="组合 12"/>
          <p:cNvGrpSpPr/>
          <p:nvPr/>
        </p:nvGrpSpPr>
        <p:grpSpPr>
          <a:xfrm>
            <a:off x="504190" y="1449705"/>
            <a:ext cx="2401570" cy="553085"/>
            <a:chOff x="6668135" y="2035810"/>
            <a:chExt cx="2401570" cy="553085"/>
          </a:xfrm>
        </p:grpSpPr>
        <p:sp>
          <p:nvSpPr>
            <p:cNvPr id="6" name="圆角矩形 5"/>
            <p:cNvSpPr/>
            <p:nvPr/>
          </p:nvSpPr>
          <p:spPr>
            <a:xfrm>
              <a:off x="6668135" y="2035810"/>
              <a:ext cx="2401570" cy="553085"/>
            </a:xfrm>
            <a:prstGeom prst="roundRect">
              <a:avLst/>
            </a:prstGeom>
            <a:solidFill>
              <a:srgbClr val="00B0F0"/>
            </a:solidFill>
            <a:ln w="9525" cap="flat" cmpd="sng" algn="ctr">
              <a:solidFill>
                <a:srgbClr val="0070C0"/>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sp>
          <p:nvSpPr>
            <p:cNvPr id="40" name="TextBox 1"/>
            <p:cNvSpPr txBox="1">
              <a:spLocks noChangeArrowheads="1"/>
            </p:cNvSpPr>
            <p:nvPr/>
          </p:nvSpPr>
          <p:spPr bwMode="auto">
            <a:xfrm>
              <a:off x="7174230" y="2071370"/>
              <a:ext cx="1630680" cy="483235"/>
            </a:xfrm>
            <a:prstGeom prst="rect">
              <a:avLst/>
            </a:prstGeom>
            <a:noFill/>
            <a:ln w="9525">
              <a:noFill/>
              <a:miter lim="800000"/>
            </a:ln>
          </p:spPr>
          <p:txBody>
            <a:bodyPr wrap="square">
              <a:spAutoFit/>
            </a:bodyPr>
            <a:lstStyle/>
            <a:p>
              <a:pPr>
                <a:buFont typeface="Arial" panose="020B0604020202020204" pitchFamily="34" charset="0"/>
                <a:buNone/>
              </a:pPr>
              <a:r>
                <a:rPr lang="zh-CN" altLang="en-US" sz="2400" dirty="0">
                  <a:latin typeface="微软雅黑" panose="020B0503020204020204" charset="-122"/>
                  <a:ea typeface="微软雅黑" panose="020B0503020204020204" charset="-122"/>
                </a:rPr>
                <a:t>1．保存</a:t>
              </a:r>
            </a:p>
          </p:txBody>
        </p:sp>
        <p:grpSp>
          <p:nvGrpSpPr>
            <p:cNvPr id="7" name="组合 36"/>
            <p:cNvGrpSpPr/>
            <p:nvPr/>
          </p:nvGrpSpPr>
          <p:grpSpPr bwMode="auto">
            <a:xfrm>
              <a:off x="6812280" y="2138680"/>
              <a:ext cx="361950" cy="347663"/>
              <a:chOff x="7070971" y="788848"/>
              <a:chExt cx="1800200" cy="1800200"/>
            </a:xfrm>
          </p:grpSpPr>
          <p:sp>
            <p:nvSpPr>
              <p:cNvPr id="8" name="椭圆 7"/>
              <p:cNvSpPr/>
              <p:nvPr/>
            </p:nvSpPr>
            <p:spPr>
              <a:xfrm>
                <a:off x="7070971" y="788848"/>
                <a:ext cx="1800200" cy="1800200"/>
              </a:xfrm>
              <a:prstGeom prst="ellipse">
                <a:avLst/>
              </a:prstGeom>
              <a:solidFill>
                <a:srgbClr val="FFFFFF">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9" name="燕尾形 8"/>
              <p:cNvSpPr/>
              <p:nvPr/>
            </p:nvSpPr>
            <p:spPr>
              <a:xfrm>
                <a:off x="7576290" y="1166972"/>
                <a:ext cx="789561" cy="1043953"/>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solidFill>
                    <a:schemeClr val="tx1"/>
                  </a:solidFill>
                </a:endParaRPr>
              </a:p>
            </p:txBody>
          </p:sp>
        </p:grpSp>
      </p:grpSp>
      <p:sp>
        <p:nvSpPr>
          <p:cNvPr id="16" name="对角圆角矩形 15"/>
          <p:cNvSpPr/>
          <p:nvPr/>
        </p:nvSpPr>
        <p:spPr>
          <a:xfrm rot="21346829">
            <a:off x="1104900" y="2387600"/>
            <a:ext cx="6433185" cy="3669665"/>
          </a:xfrm>
          <a:prstGeom prst="round2DiagRect">
            <a:avLst>
              <a:gd name="adj1" fmla="val 12682"/>
              <a:gd name="adj2" fmla="val 0"/>
            </a:avLst>
          </a:prstGeom>
          <a:gradFill flip="none" rotWithShape="1">
            <a:gsLst>
              <a:gs pos="0">
                <a:srgbClr val="00B0F0"/>
              </a:gs>
              <a:gs pos="100000">
                <a:srgbClr val="0070C0"/>
              </a:gs>
            </a:gsLst>
            <a:lin ang="2700000" scaled="1"/>
            <a:tileRect/>
          </a:gradFill>
          <a:ln w="19050">
            <a:no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altLang="zh-CN">
                <a:solidFill>
                  <a:prstClr val="white"/>
                </a:solidFill>
              </a:rPr>
              <a:t> </a:t>
            </a:r>
          </a:p>
        </p:txBody>
      </p:sp>
      <p:pic>
        <p:nvPicPr>
          <p:cNvPr id="19" name="Picture 3" descr="C:\TDDOWNLOAD\pencil.png"/>
          <p:cNvPicPr>
            <a:picLocks noChangeAspect="1" noChangeArrowheads="1"/>
          </p:cNvPicPr>
          <p:nvPr/>
        </p:nvPicPr>
        <p:blipFill>
          <a:blip r:embed="rId2" cstate="screen"/>
          <a:srcRect/>
          <a:stretch>
            <a:fillRect/>
          </a:stretch>
        </p:blipFill>
        <p:spPr bwMode="auto">
          <a:xfrm>
            <a:off x="498409" y="2156091"/>
            <a:ext cx="1008000" cy="1008000"/>
          </a:xfrm>
          <a:prstGeom prst="rect">
            <a:avLst/>
          </a:prstGeom>
          <a:noFill/>
          <a:ln w="9525">
            <a:noFill/>
            <a:miter lim="800000"/>
            <a:headEnd/>
            <a:tailEnd/>
          </a:ln>
        </p:spPr>
      </p:pic>
      <p:sp>
        <p:nvSpPr>
          <p:cNvPr id="20" name="内容占位符 2"/>
          <p:cNvSpPr txBox="1"/>
          <p:nvPr/>
        </p:nvSpPr>
        <p:spPr>
          <a:xfrm rot="21302421">
            <a:off x="1353185" y="2138045"/>
            <a:ext cx="5805805" cy="354457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fontAlgn="auto">
              <a:lnSpc>
                <a:spcPct val="140000"/>
              </a:lnSpc>
              <a:spcBef>
                <a:spcPts val="0"/>
              </a:spcBef>
              <a:buNone/>
            </a:pPr>
            <a:endParaRPr lang="en-US" altLang="zh-CN" sz="2000" dirty="0">
              <a:solidFill>
                <a:schemeClr val="bg1"/>
              </a:solidFill>
              <a:latin typeface="微软雅黑" panose="020B0503020204020204" charset="-122"/>
              <a:ea typeface="微软雅黑" panose="020B0503020204020204" charset="-122"/>
            </a:endParaRPr>
          </a:p>
          <a:p>
            <a:pPr marL="0" indent="457200" fontAlgn="auto">
              <a:lnSpc>
                <a:spcPct val="140000"/>
              </a:lnSpc>
              <a:spcBef>
                <a:spcPts val="0"/>
              </a:spcBef>
              <a:buNone/>
            </a:pPr>
            <a:r>
              <a:rPr lang="zh-CN" altLang="en-US" sz="2000" dirty="0">
                <a:solidFill>
                  <a:schemeClr val="bg1"/>
                </a:solidFill>
                <a:latin typeface="微软雅黑" panose="020B0503020204020204" charset="-122"/>
                <a:ea typeface="微软雅黑" panose="020B0503020204020204" charset="-122"/>
                <a:sym typeface="+mn-ea"/>
              </a:rPr>
              <a:t>在一般情况下，用户应该不断地用</a:t>
            </a:r>
            <a:r>
              <a:rPr lang="zh-CN" altLang="en-US" sz="2000" b="1" dirty="0">
                <a:solidFill>
                  <a:schemeClr val="bg1"/>
                </a:solidFill>
                <a:latin typeface="微软雅黑" panose="020B0503020204020204" charset="-122"/>
                <a:ea typeface="微软雅黑" panose="020B0503020204020204" charset="-122"/>
                <a:sym typeface="+mn-ea"/>
              </a:rPr>
              <a:t>“:w”命令</a:t>
            </a:r>
            <a:r>
              <a:rPr lang="zh-CN" altLang="en-US" sz="2000" dirty="0">
                <a:solidFill>
                  <a:schemeClr val="bg1"/>
                </a:solidFill>
                <a:latin typeface="微软雅黑" panose="020B0503020204020204" charset="-122"/>
                <a:ea typeface="微软雅黑" panose="020B0503020204020204" charset="-122"/>
                <a:sym typeface="+mn-ea"/>
              </a:rPr>
              <a:t>来保存文件。在万一断电时，保存的频率越高，用户的损失就越小。不要担心存入了不想要的内容，vi不像Windows下的notepad（记事本）那样，</a:t>
            </a:r>
            <a:r>
              <a:rPr lang="zh-CN" altLang="en-US" sz="2000" b="1" dirty="0">
                <a:solidFill>
                  <a:schemeClr val="bg1"/>
                </a:solidFill>
                <a:latin typeface="微软雅黑" panose="020B0503020204020204" charset="-122"/>
                <a:ea typeface="微软雅黑" panose="020B0503020204020204" charset="-122"/>
                <a:sym typeface="+mn-ea"/>
              </a:rPr>
              <a:t>一次只能撤销一次操作</a:t>
            </a:r>
            <a:r>
              <a:rPr lang="zh-CN" altLang="en-US" sz="2000" dirty="0">
                <a:solidFill>
                  <a:schemeClr val="bg1"/>
                </a:solidFill>
                <a:latin typeface="微软雅黑" panose="020B0503020204020204" charset="-122"/>
                <a:ea typeface="微软雅黑" panose="020B0503020204020204" charset="-122"/>
                <a:sym typeface="+mn-ea"/>
              </a:rPr>
              <a:t>，很可能就得不到以前的内容了，vi可以很多次地撤销，一直到原始的状态。</a:t>
            </a:r>
          </a:p>
        </p:txBody>
      </p:sp>
      <p:pic>
        <p:nvPicPr>
          <p:cNvPr id="2" name="图片 1" descr="图片1_看图王"/>
          <p:cNvPicPr>
            <a:picLocks noChangeAspect="1"/>
          </p:cNvPicPr>
          <p:nvPr/>
        </p:nvPicPr>
        <p:blipFill>
          <a:blip r:embed="rId3" cstate="print"/>
          <a:stretch>
            <a:fillRect/>
          </a:stretch>
        </p:blipFill>
        <p:spPr>
          <a:xfrm>
            <a:off x="7816850" y="2007235"/>
            <a:ext cx="3865880" cy="451548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250" fill="hold"/>
                                        <p:tgtEl>
                                          <p:spTgt spid="19"/>
                                        </p:tgtEl>
                                        <p:attrNameLst>
                                          <p:attrName>ppt_x</p:attrName>
                                        </p:attrNameLst>
                                      </p:cBhvr>
                                      <p:tavLst>
                                        <p:tav tm="0">
                                          <p:val>
                                            <p:strVal val="0-#ppt_w/2"/>
                                          </p:val>
                                        </p:tav>
                                        <p:tav tm="100000">
                                          <p:val>
                                            <p:strVal val="#ppt_x"/>
                                          </p:val>
                                        </p:tav>
                                      </p:tavLst>
                                    </p:anim>
                                    <p:anim calcmode="lin" valueType="num">
                                      <p:cBhvr additive="base">
                                        <p:cTn id="12" dur="250" fill="hold"/>
                                        <p:tgtEl>
                                          <p:spTgt spid="19"/>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16" presetClass="entr" presetSubtype="42"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barn(outHorizontal)">
                                      <p:cBhvr>
                                        <p:cTn id="16" dur="500"/>
                                        <p:tgtEl>
                                          <p:spTgt spid="16"/>
                                        </p:tgtEl>
                                      </p:cBhvr>
                                    </p:animEffect>
                                  </p:childTnLst>
                                </p:cTn>
                              </p:par>
                            </p:childTnLst>
                          </p:cTn>
                        </p:par>
                        <p:par>
                          <p:cTn id="17" fill="hold">
                            <p:stCondLst>
                              <p:cond delay="1000"/>
                            </p:stCondLst>
                            <p:childTnLst>
                              <p:par>
                                <p:cTn id="18" presetID="15" presetClass="entr" presetSubtype="0" fill="hold" grpId="0" nodeType="afterEffect">
                                  <p:stCondLst>
                                    <p:cond delay="0"/>
                                  </p:stCondLst>
                                  <p:childTnLst>
                                    <p:set>
                                      <p:cBhvr>
                                        <p:cTn id="19" dur="1" fill="hold">
                                          <p:stCondLst>
                                            <p:cond delay="0"/>
                                          </p:stCondLst>
                                        </p:cTn>
                                        <p:tgtEl>
                                          <p:spTgt spid="20"/>
                                        </p:tgtEl>
                                        <p:attrNameLst>
                                          <p:attrName>style.visibility</p:attrName>
                                        </p:attrNameLst>
                                      </p:cBhvr>
                                      <p:to>
                                        <p:strVal val="visible"/>
                                      </p:to>
                                    </p:set>
                                    <p:anim calcmode="lin" valueType="num">
                                      <p:cBhvr>
                                        <p:cTn id="20" dur="1000" fill="hold"/>
                                        <p:tgtEl>
                                          <p:spTgt spid="20"/>
                                        </p:tgtEl>
                                        <p:attrNameLst>
                                          <p:attrName>ppt_w</p:attrName>
                                        </p:attrNameLst>
                                      </p:cBhvr>
                                      <p:tavLst>
                                        <p:tav tm="0">
                                          <p:val>
                                            <p:fltVal val="0"/>
                                          </p:val>
                                        </p:tav>
                                        <p:tav tm="100000">
                                          <p:val>
                                            <p:strVal val="#ppt_w"/>
                                          </p:val>
                                        </p:tav>
                                      </p:tavLst>
                                    </p:anim>
                                    <p:anim calcmode="lin" valueType="num">
                                      <p:cBhvr>
                                        <p:cTn id="21" dur="1000" fill="hold"/>
                                        <p:tgtEl>
                                          <p:spTgt spid="20"/>
                                        </p:tgtEl>
                                        <p:attrNameLst>
                                          <p:attrName>ppt_h</p:attrName>
                                        </p:attrNameLst>
                                      </p:cBhvr>
                                      <p:tavLst>
                                        <p:tav tm="0">
                                          <p:val>
                                            <p:fltVal val="0"/>
                                          </p:val>
                                        </p:tav>
                                        <p:tav tm="100000">
                                          <p:val>
                                            <p:strVal val="#ppt_h"/>
                                          </p:val>
                                        </p:tav>
                                      </p:tavLst>
                                    </p:anim>
                                    <p:anim calcmode="lin" valueType="num">
                                      <p:cBhvr>
                                        <p:cTn id="22" dur="1000" fill="hold"/>
                                        <p:tgtEl>
                                          <p:spTgt spid="20"/>
                                        </p:tgtEl>
                                        <p:attrNameLst>
                                          <p:attrName>ppt_x</p:attrName>
                                        </p:attrNameLst>
                                      </p:cBhvr>
                                      <p:tavLst>
                                        <p:tav tm="0" fmla="#ppt_x+(cos(-2*pi*(1-$))*-#ppt_x-sin(-2*pi*(1-$))*(1-#ppt_y))*(1-$)">
                                          <p:val>
                                            <p:fltVal val="0"/>
                                          </p:val>
                                        </p:tav>
                                        <p:tav tm="100000">
                                          <p:val>
                                            <p:fltVal val="1"/>
                                          </p:val>
                                        </p:tav>
                                      </p:tavLst>
                                    </p:anim>
                                    <p:anim calcmode="lin" valueType="num">
                                      <p:cBhvr>
                                        <p:cTn id="23" dur="1000" fill="hold"/>
                                        <p:tgtEl>
                                          <p:spTgt spid="20"/>
                                        </p:tgtEl>
                                        <p:attrNameLst>
                                          <p:attrName>ppt_y</p:attrName>
                                        </p:attrNameLst>
                                      </p:cBhvr>
                                      <p:tavLst>
                                        <p:tav tm="0" fmla="#ppt_y+(sin(-2*pi*(1-$))*-#ppt_x+cos(-2*pi*(1-$))*(1-#ppt_y))*(1-$)">
                                          <p:val>
                                            <p:fltVal val="0"/>
                                          </p:val>
                                        </p:tav>
                                        <p:tav tm="100000">
                                          <p:val>
                                            <p:fltVal val="1"/>
                                          </p:val>
                                        </p:tav>
                                      </p:tavLst>
                                    </p:anim>
                                  </p:childTnLst>
                                </p:cTn>
                              </p:par>
                            </p:childTnLst>
                          </p:cTn>
                        </p:par>
                        <p:par>
                          <p:cTn id="24" fill="hold">
                            <p:stCondLst>
                              <p:cond delay="2000"/>
                            </p:stCondLst>
                            <p:childTnLst>
                              <p:par>
                                <p:cTn id="25" presetID="2" presetClass="entr" presetSubtype="2"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1+#ppt_w/2"/>
                                          </p:val>
                                        </p:tav>
                                        <p:tav tm="100000">
                                          <p:val>
                                            <p:strVal val="#ppt_x"/>
                                          </p:val>
                                        </p:tav>
                                      </p:tavLst>
                                    </p:anim>
                                    <p:anim calcmode="lin" valueType="num">
                                      <p:cBhvr additive="base">
                                        <p:cTn id="2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P spid="2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98475" y="1718310"/>
            <a:ext cx="11194415" cy="48044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grpSp>
        <p:nvGrpSpPr>
          <p:cNvPr id="13" name="组合 12"/>
          <p:cNvGrpSpPr/>
          <p:nvPr/>
        </p:nvGrpSpPr>
        <p:grpSpPr>
          <a:xfrm>
            <a:off x="504190" y="1449705"/>
            <a:ext cx="2401570" cy="553085"/>
            <a:chOff x="6668135" y="2035810"/>
            <a:chExt cx="2401570" cy="553085"/>
          </a:xfrm>
        </p:grpSpPr>
        <p:sp>
          <p:nvSpPr>
            <p:cNvPr id="6" name="圆角矩形 5"/>
            <p:cNvSpPr/>
            <p:nvPr/>
          </p:nvSpPr>
          <p:spPr>
            <a:xfrm>
              <a:off x="6668135" y="2035810"/>
              <a:ext cx="2401570" cy="553085"/>
            </a:xfrm>
            <a:prstGeom prst="roundRect">
              <a:avLst/>
            </a:prstGeom>
            <a:solidFill>
              <a:srgbClr val="00B0F0"/>
            </a:solidFill>
            <a:ln w="9525" cap="flat" cmpd="sng" algn="ctr">
              <a:solidFill>
                <a:srgbClr val="0070C0"/>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sp>
          <p:nvSpPr>
            <p:cNvPr id="40" name="TextBox 1"/>
            <p:cNvSpPr txBox="1">
              <a:spLocks noChangeArrowheads="1"/>
            </p:cNvSpPr>
            <p:nvPr/>
          </p:nvSpPr>
          <p:spPr bwMode="auto">
            <a:xfrm>
              <a:off x="7174230" y="2071370"/>
              <a:ext cx="1630680" cy="483235"/>
            </a:xfrm>
            <a:prstGeom prst="rect">
              <a:avLst/>
            </a:prstGeom>
            <a:noFill/>
            <a:ln w="9525">
              <a:noFill/>
              <a:miter lim="800000"/>
            </a:ln>
          </p:spPr>
          <p:txBody>
            <a:bodyPr wrap="square">
              <a:spAutoFit/>
            </a:bodyPr>
            <a:lstStyle/>
            <a:p>
              <a:pPr>
                <a:buFont typeface="Arial" panose="020B0604020202020204" pitchFamily="34" charset="0"/>
                <a:buNone/>
              </a:pPr>
              <a:r>
                <a:rPr lang="zh-CN" altLang="en-US" sz="2400" dirty="0">
                  <a:latin typeface="微软雅黑" panose="020B0503020204020204" charset="-122"/>
                  <a:ea typeface="微软雅黑" panose="020B0503020204020204" charset="-122"/>
                </a:rPr>
                <a:t>2．另存为</a:t>
              </a:r>
            </a:p>
          </p:txBody>
        </p:sp>
        <p:grpSp>
          <p:nvGrpSpPr>
            <p:cNvPr id="7" name="组合 36"/>
            <p:cNvGrpSpPr/>
            <p:nvPr/>
          </p:nvGrpSpPr>
          <p:grpSpPr bwMode="auto">
            <a:xfrm>
              <a:off x="6812280" y="2138680"/>
              <a:ext cx="361950" cy="347663"/>
              <a:chOff x="7070971" y="788848"/>
              <a:chExt cx="1800200" cy="1800200"/>
            </a:xfrm>
          </p:grpSpPr>
          <p:sp>
            <p:nvSpPr>
              <p:cNvPr id="8" name="椭圆 7"/>
              <p:cNvSpPr/>
              <p:nvPr/>
            </p:nvSpPr>
            <p:spPr>
              <a:xfrm>
                <a:off x="7070971" y="788848"/>
                <a:ext cx="1800200" cy="1800200"/>
              </a:xfrm>
              <a:prstGeom prst="ellipse">
                <a:avLst/>
              </a:prstGeom>
              <a:solidFill>
                <a:srgbClr val="FFFFFF">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9" name="燕尾形 8"/>
              <p:cNvSpPr/>
              <p:nvPr/>
            </p:nvSpPr>
            <p:spPr>
              <a:xfrm>
                <a:off x="7576290" y="1166972"/>
                <a:ext cx="789561" cy="1043953"/>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solidFill>
                    <a:schemeClr val="tx1"/>
                  </a:solidFill>
                </a:endParaRPr>
              </a:p>
            </p:txBody>
          </p:sp>
        </p:grpSp>
      </p:grpSp>
      <p:grpSp>
        <p:nvGrpSpPr>
          <p:cNvPr id="11" name="组合 10"/>
          <p:cNvGrpSpPr/>
          <p:nvPr/>
        </p:nvGrpSpPr>
        <p:grpSpPr>
          <a:xfrm>
            <a:off x="2199005" y="1832610"/>
            <a:ext cx="8509635" cy="4744085"/>
            <a:chOff x="2199005" y="1832610"/>
            <a:chExt cx="8509635" cy="4744085"/>
          </a:xfrm>
        </p:grpSpPr>
        <p:pic>
          <p:nvPicPr>
            <p:cNvPr id="2" name="Picture 7" descr="D:\Teliss_Tong\Copy\定期备份\工作备份\！PPT图片及版面资源\06-PPT精选插图\12-标签\绿叶边框.png"/>
            <p:cNvPicPr>
              <a:picLocks noChangeAspect="1" noChangeArrowheads="1"/>
            </p:cNvPicPr>
            <p:nvPr/>
          </p:nvPicPr>
          <p:blipFill>
            <a:blip r:embed="rId2" cstate="email"/>
            <a:srcRect/>
            <a:stretch>
              <a:fillRect/>
            </a:stretch>
          </p:blipFill>
          <p:spPr bwMode="auto">
            <a:xfrm>
              <a:off x="2199005" y="1832610"/>
              <a:ext cx="8509635" cy="4744085"/>
            </a:xfrm>
            <a:prstGeom prst="rect">
              <a:avLst/>
            </a:prstGeom>
            <a:noFill/>
            <a:extLst>
              <a:ext uri="{909E8E84-426E-40DD-AFC4-6F175D3DCCD1}">
                <a14:hiddenFill xmlns:a14="http://schemas.microsoft.com/office/drawing/2010/main">
                  <a:solidFill>
                    <a:srgbClr val="FFFFFF"/>
                  </a:solidFill>
                </a14:hiddenFill>
              </a:ext>
            </a:extLst>
          </p:spPr>
        </p:pic>
        <p:sp>
          <p:nvSpPr>
            <p:cNvPr id="8193" name="Rectangle 1"/>
            <p:cNvSpPr>
              <a:spLocks noChangeArrowheads="1"/>
            </p:cNvSpPr>
            <p:nvPr/>
          </p:nvSpPr>
          <p:spPr bwMode="auto">
            <a:xfrm>
              <a:off x="3698240" y="2368550"/>
              <a:ext cx="4744720" cy="3291840"/>
            </a:xfrm>
            <a:prstGeom prst="rect">
              <a:avLst/>
            </a:prstGeom>
            <a:noFill/>
            <a:ln w="9525">
              <a:noFill/>
              <a:miter lim="800000"/>
            </a:ln>
            <a:effectLst/>
          </p:spPr>
          <p:txBody>
            <a:bodyPr vert="horz" wrap="square" lIns="91440" tIns="45720" rIns="91440" bIns="45720" numCol="1" anchor="ctr" anchorCtr="0" compatLnSpc="1">
              <a:spAutoFit/>
            </a:bodyPr>
            <a:lstStyle/>
            <a:p>
              <a:pPr indent="457200" fontAlgn="auto">
                <a:lnSpc>
                  <a:spcPct val="150000"/>
                </a:lnSpc>
              </a:pPr>
              <a:r>
                <a:rPr lang="zh-CN" altLang="en-US" sz="2000" dirty="0">
                  <a:solidFill>
                    <a:schemeClr val="tx1">
                      <a:lumMod val="75000"/>
                      <a:lumOff val="25000"/>
                    </a:schemeClr>
                  </a:solidFill>
                  <a:latin typeface="微软雅黑" panose="020B0503020204020204" charset="-122"/>
                  <a:ea typeface="微软雅黑" panose="020B0503020204020204" charset="-122"/>
                  <a:sym typeface="+mn-ea"/>
                </a:rPr>
                <a:t>在用户编辑很重要的文件时，用户就应该常常地</a:t>
              </a:r>
              <a:r>
                <a:rPr lang="zh-CN" altLang="en-US" sz="2000" b="1" dirty="0">
                  <a:solidFill>
                    <a:srgbClr val="0070C0"/>
                  </a:solidFill>
                  <a:latin typeface="微软雅黑" panose="020B0503020204020204" charset="-122"/>
                  <a:ea typeface="微软雅黑" panose="020B0503020204020204" charset="-122"/>
                  <a:sym typeface="+mn-ea"/>
                </a:rPr>
                <a:t>另存文件</a:t>
              </a:r>
              <a:r>
                <a:rPr lang="zh-CN" altLang="en-US" sz="2000" dirty="0">
                  <a:solidFill>
                    <a:schemeClr val="tx1">
                      <a:lumMod val="75000"/>
                      <a:lumOff val="25000"/>
                    </a:schemeClr>
                  </a:solidFill>
                  <a:latin typeface="微软雅黑" panose="020B0503020204020204" charset="-122"/>
                  <a:ea typeface="微软雅黑" panose="020B0503020204020204" charset="-122"/>
                  <a:sym typeface="+mn-ea"/>
                </a:rPr>
                <a:t>。例如，用户在修改一个很复杂的shell脚本，每一次修改，用户都要保存用户的成果。但是，每一次修改都有可能是无用的，不能够执行。因此，用户应该保存原来的文件。用户还应该将每一步修改存成不同的文件。</a:t>
              </a:r>
              <a:endParaRPr lang="zh-CN" altLang="en-US" sz="2000" kern="0" dirty="0">
                <a:solidFill>
                  <a:schemeClr val="tx1">
                    <a:lumMod val="75000"/>
                    <a:lumOff val="25000"/>
                  </a:schemeClr>
                </a:solidFill>
                <a:latin typeface="微软雅黑" panose="020B0503020204020204" charset="-122"/>
                <a:ea typeface="微软雅黑" panose="020B0503020204020204" charset="-122"/>
                <a:sym typeface="+mn-ea"/>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2" presetClass="entr" presetSubtype="0" fill="hold" nodeType="afterEffect">
                                  <p:stCondLst>
                                    <p:cond delay="0"/>
                                  </p:stCondLst>
                                  <p:childTnLst>
                                    <p:set>
                                      <p:cBhvr>
                                        <p:cTn id="11" dur="1" fill="hold">
                                          <p:stCondLst>
                                            <p:cond delay="0"/>
                                          </p:stCondLst>
                                        </p:cTn>
                                        <p:tgtEl>
                                          <p:spTgt spid="11"/>
                                        </p:tgtEl>
                                        <p:attrNameLst>
                                          <p:attrName>style.visibility</p:attrName>
                                        </p:attrNameLst>
                                      </p:cBhvr>
                                      <p:to>
                                        <p:strVal val="visible"/>
                                      </p:to>
                                    </p:set>
                                    <p:animScale>
                                      <p:cBhvr>
                                        <p:cTn id="12" dur="1000" decel="50000" fill="hold">
                                          <p:stCondLst>
                                            <p:cond delay="0"/>
                                          </p:stCondLst>
                                        </p:cTn>
                                        <p:tgtEl>
                                          <p:spTgt spid="1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11"/>
                                        </p:tgtEl>
                                        <p:attrNameLst>
                                          <p:attrName>ppt_x</p:attrName>
                                          <p:attrName>ppt_y</p:attrName>
                                        </p:attrNameLst>
                                      </p:cBhvr>
                                    </p:animMotion>
                                    <p:animEffect transition="in" filter="fade">
                                      <p:cBhvr>
                                        <p:cTn id="1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98475" y="1718310"/>
            <a:ext cx="11194415" cy="48044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5" name="Text Box 44"/>
          <p:cNvSpPr txBox="1">
            <a:spLocks noChangeArrowheads="1"/>
          </p:cNvSpPr>
          <p:nvPr/>
        </p:nvSpPr>
        <p:spPr bwMode="auto">
          <a:xfrm>
            <a:off x="649605" y="2335530"/>
            <a:ext cx="10892790" cy="350520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dirty="0">
                <a:solidFill>
                  <a:schemeClr val="tx1">
                    <a:lumMod val="75000"/>
                    <a:lumOff val="25000"/>
                  </a:schemeClr>
                </a:solidFill>
              </a:rPr>
              <a:t>用</a:t>
            </a:r>
            <a:r>
              <a:rPr lang="zh-CN" altLang="en-US" sz="2000" b="1" dirty="0">
                <a:solidFill>
                  <a:srgbClr val="0070C0"/>
                </a:solidFill>
              </a:rPr>
              <a:t>“:w file”命令</a:t>
            </a:r>
            <a:r>
              <a:rPr lang="zh-CN" altLang="en-US" sz="2000" dirty="0">
                <a:solidFill>
                  <a:schemeClr val="tx1">
                    <a:lumMod val="75000"/>
                    <a:lumOff val="25000"/>
                  </a:schemeClr>
                </a:solidFill>
              </a:rPr>
              <a:t>很容易实现另存为的功能。只需要将file设为与原来的文件不一样的文件名，就另存为指定的文件了。</a:t>
            </a:r>
          </a:p>
          <a:p>
            <a:pPr eaLnBrk="1" latinLnBrk="0" hangingPunct="1">
              <a:lnSpc>
                <a:spcPct val="140000"/>
              </a:lnSpc>
            </a:pPr>
            <a:r>
              <a:rPr lang="zh-CN" altLang="en-US" sz="2000" dirty="0">
                <a:solidFill>
                  <a:schemeClr val="tx1">
                    <a:lumMod val="75000"/>
                    <a:lumOff val="25000"/>
                  </a:schemeClr>
                </a:solidFill>
              </a:rPr>
              <a:t>例如，用户打开的文件叫做play，用户使用</a:t>
            </a:r>
            <a:r>
              <a:rPr lang="zh-CN" altLang="en-US" sz="2000" b="1" dirty="0">
                <a:solidFill>
                  <a:srgbClr val="0070C0"/>
                </a:solidFill>
              </a:rPr>
              <a:t>“:w play1”命令</a:t>
            </a:r>
            <a:r>
              <a:rPr lang="zh-CN" altLang="en-US" sz="2000" dirty="0">
                <a:solidFill>
                  <a:schemeClr val="tx1">
                    <a:lumMod val="75000"/>
                    <a:lumOff val="25000"/>
                  </a:schemeClr>
                </a:solidFill>
              </a:rPr>
              <a:t>就可将缓冲区中的内容另存为了play1文件。</a:t>
            </a:r>
          </a:p>
          <a:p>
            <a:pPr eaLnBrk="1" latinLnBrk="0" hangingPunct="1">
              <a:lnSpc>
                <a:spcPct val="140000"/>
              </a:lnSpc>
            </a:pPr>
            <a:r>
              <a:rPr lang="zh-CN" altLang="en-US" sz="2000" dirty="0">
                <a:solidFill>
                  <a:schemeClr val="tx1">
                    <a:lumMod val="75000"/>
                    <a:lumOff val="25000"/>
                  </a:schemeClr>
                </a:solidFill>
              </a:rPr>
              <a:t>如果用户另存为时指定的文件已经存在，则在vi的状态行会出现</a:t>
            </a:r>
            <a:r>
              <a:rPr lang="zh-CN" altLang="en-US" sz="2000" b="1" dirty="0">
                <a:solidFill>
                  <a:srgbClr val="0070C0"/>
                </a:solidFill>
              </a:rPr>
              <a:t>“file exits(use ！to override)”</a:t>
            </a:r>
            <a:r>
              <a:rPr lang="zh-CN" altLang="en-US" sz="2000" dirty="0">
                <a:solidFill>
                  <a:schemeClr val="tx1">
                    <a:lumMod val="75000"/>
                    <a:lumOff val="25000"/>
                  </a:schemeClr>
                </a:solidFill>
              </a:rPr>
              <a:t>的信息，提示用户文件已存在，请用</a:t>
            </a:r>
            <a:r>
              <a:rPr lang="zh-CN" altLang="en-US" sz="2000" b="1" dirty="0">
                <a:solidFill>
                  <a:srgbClr val="0070C0"/>
                </a:solidFill>
              </a:rPr>
              <a:t>“！”</a:t>
            </a:r>
            <a:r>
              <a:rPr lang="zh-CN" altLang="en-US" sz="2000" dirty="0">
                <a:solidFill>
                  <a:schemeClr val="tx1">
                    <a:lumMod val="75000"/>
                    <a:lumOff val="25000"/>
                  </a:schemeClr>
                </a:solidFill>
              </a:rPr>
              <a:t>覆盖。</a:t>
            </a:r>
          </a:p>
          <a:p>
            <a:pPr eaLnBrk="1" latinLnBrk="0" hangingPunct="1">
              <a:lnSpc>
                <a:spcPct val="140000"/>
              </a:lnSpc>
            </a:pPr>
            <a:r>
              <a:rPr lang="zh-CN" altLang="en-US" sz="2000" dirty="0">
                <a:solidFill>
                  <a:schemeClr val="tx1">
                    <a:lumMod val="75000"/>
                    <a:lumOff val="25000"/>
                  </a:schemeClr>
                </a:solidFill>
              </a:rPr>
              <a:t>处理这种情况的方法是：首先，用户要确定原来的文件确实不想保留；然后，再输入</a:t>
            </a:r>
            <a:r>
              <a:rPr lang="zh-CN" altLang="en-US" sz="2000" b="1" dirty="0">
                <a:solidFill>
                  <a:srgbClr val="0070C0"/>
                </a:solidFill>
              </a:rPr>
              <a:t>“w! file2”命令</a:t>
            </a:r>
            <a:r>
              <a:rPr lang="zh-CN" altLang="en-US" sz="2000" dirty="0">
                <a:solidFill>
                  <a:schemeClr val="tx1">
                    <a:lumMod val="75000"/>
                    <a:lumOff val="25000"/>
                  </a:schemeClr>
                </a:solidFill>
              </a:rPr>
              <a:t>来强制覆盖。</a:t>
            </a:r>
          </a:p>
        </p:txBody>
      </p:sp>
      <p:grpSp>
        <p:nvGrpSpPr>
          <p:cNvPr id="13" name="组合 12"/>
          <p:cNvGrpSpPr/>
          <p:nvPr/>
        </p:nvGrpSpPr>
        <p:grpSpPr>
          <a:xfrm>
            <a:off x="504190" y="1449705"/>
            <a:ext cx="2401570" cy="553085"/>
            <a:chOff x="6668135" y="2035810"/>
            <a:chExt cx="2401570" cy="553085"/>
          </a:xfrm>
        </p:grpSpPr>
        <p:sp>
          <p:nvSpPr>
            <p:cNvPr id="6" name="圆角矩形 5"/>
            <p:cNvSpPr/>
            <p:nvPr/>
          </p:nvSpPr>
          <p:spPr>
            <a:xfrm>
              <a:off x="6668135" y="2035810"/>
              <a:ext cx="2401570" cy="553085"/>
            </a:xfrm>
            <a:prstGeom prst="roundRect">
              <a:avLst/>
            </a:prstGeom>
            <a:solidFill>
              <a:srgbClr val="00B0F0"/>
            </a:solidFill>
            <a:ln w="9525" cap="flat" cmpd="sng" algn="ctr">
              <a:solidFill>
                <a:srgbClr val="0070C0"/>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sp>
          <p:nvSpPr>
            <p:cNvPr id="40" name="TextBox 1"/>
            <p:cNvSpPr txBox="1">
              <a:spLocks noChangeArrowheads="1"/>
            </p:cNvSpPr>
            <p:nvPr/>
          </p:nvSpPr>
          <p:spPr bwMode="auto">
            <a:xfrm>
              <a:off x="7174230" y="2071370"/>
              <a:ext cx="1630680" cy="483235"/>
            </a:xfrm>
            <a:prstGeom prst="rect">
              <a:avLst/>
            </a:prstGeom>
            <a:noFill/>
            <a:ln w="9525">
              <a:noFill/>
              <a:miter lim="800000"/>
            </a:ln>
          </p:spPr>
          <p:txBody>
            <a:bodyPr wrap="square">
              <a:spAutoFit/>
            </a:bodyPr>
            <a:lstStyle/>
            <a:p>
              <a:pPr>
                <a:buFont typeface="Arial" panose="020B0604020202020204" pitchFamily="34" charset="0"/>
                <a:buNone/>
              </a:pPr>
              <a:r>
                <a:rPr lang="zh-CN" altLang="en-US" sz="2400" dirty="0">
                  <a:latin typeface="微软雅黑" panose="020B0503020204020204" charset="-122"/>
                  <a:ea typeface="微软雅黑" panose="020B0503020204020204" charset="-122"/>
                </a:rPr>
                <a:t>2．另存为</a:t>
              </a:r>
            </a:p>
          </p:txBody>
        </p:sp>
        <p:grpSp>
          <p:nvGrpSpPr>
            <p:cNvPr id="7" name="组合 36"/>
            <p:cNvGrpSpPr/>
            <p:nvPr/>
          </p:nvGrpSpPr>
          <p:grpSpPr bwMode="auto">
            <a:xfrm>
              <a:off x="6812280" y="2138680"/>
              <a:ext cx="361950" cy="347663"/>
              <a:chOff x="7070971" y="788848"/>
              <a:chExt cx="1800200" cy="1800200"/>
            </a:xfrm>
          </p:grpSpPr>
          <p:sp>
            <p:nvSpPr>
              <p:cNvPr id="8" name="椭圆 7"/>
              <p:cNvSpPr/>
              <p:nvPr/>
            </p:nvSpPr>
            <p:spPr>
              <a:xfrm>
                <a:off x="7070971" y="788848"/>
                <a:ext cx="1800200" cy="1800200"/>
              </a:xfrm>
              <a:prstGeom prst="ellipse">
                <a:avLst/>
              </a:prstGeom>
              <a:solidFill>
                <a:srgbClr val="FFFFFF">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9" name="燕尾形 8"/>
              <p:cNvSpPr/>
              <p:nvPr/>
            </p:nvSpPr>
            <p:spPr>
              <a:xfrm>
                <a:off x="7576290" y="1166972"/>
                <a:ext cx="789561" cy="1043953"/>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solidFill>
                    <a:schemeClr val="tx1"/>
                  </a:solidFill>
                </a:endParaRPr>
              </a:p>
            </p:txBody>
          </p:sp>
        </p:grpSp>
      </p:grpSp>
      <p:pic>
        <p:nvPicPr>
          <p:cNvPr id="3" name="图片 2" descr="u=30453717,1578936783&amp;fm=21&amp;gp=0"/>
          <p:cNvPicPr>
            <a:picLocks noChangeAspect="1"/>
          </p:cNvPicPr>
          <p:nvPr/>
        </p:nvPicPr>
        <p:blipFill>
          <a:blip r:embed="rId2" cstate="print"/>
          <a:stretch>
            <a:fillRect/>
          </a:stretch>
        </p:blipFill>
        <p:spPr>
          <a:xfrm>
            <a:off x="10323830" y="1117600"/>
            <a:ext cx="1218565" cy="121856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AutoShape 3"/>
          <p:cNvSpPr>
            <a:spLocks noChangeArrowheads="1"/>
          </p:cNvSpPr>
          <p:nvPr/>
        </p:nvSpPr>
        <p:spPr bwMode="auto">
          <a:xfrm>
            <a:off x="1555115" y="1776730"/>
            <a:ext cx="9341485" cy="4612005"/>
          </a:xfrm>
          <a:prstGeom prst="roundRect">
            <a:avLst>
              <a:gd name="adj" fmla="val 2773"/>
            </a:avLst>
          </a:prstGeom>
          <a:noFill/>
          <a:ln w="3175">
            <a:solidFill>
              <a:srgbClr val="333333"/>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6148" name="AutoShape 4"/>
          <p:cNvSpPr>
            <a:spLocks noChangeArrowheads="1"/>
          </p:cNvSpPr>
          <p:nvPr/>
        </p:nvSpPr>
        <p:spPr bwMode="auto">
          <a:xfrm>
            <a:off x="5062855" y="1310005"/>
            <a:ext cx="2147570" cy="869315"/>
          </a:xfrm>
          <a:prstGeom prst="roundRect">
            <a:avLst>
              <a:gd name="adj" fmla="val 15657"/>
            </a:avLst>
          </a:prstGeom>
          <a:solidFill>
            <a:schemeClr val="bg1"/>
          </a:solidFill>
          <a:ln w="3175">
            <a:solidFill>
              <a:srgbClr val="333333">
                <a:alpha val="56862"/>
              </a:srgbClr>
            </a:solidFill>
            <a:round/>
          </a:ln>
        </p:spPr>
        <p:txBody>
          <a:bodyPr wrap="none" anchor="ctr"/>
          <a:lstStyle/>
          <a:p>
            <a:pPr algn="ctr">
              <a:spcBef>
                <a:spcPct val="50000"/>
              </a:spcBef>
              <a:buFont typeface="Arial" panose="020B0604020202020204" pitchFamily="34" charset="0"/>
              <a:buNone/>
            </a:pPr>
            <a:r>
              <a:rPr lang="zh-CN" altLang="en-US" sz="3200" b="1">
                <a:latin typeface="微软雅黑" panose="020B0503020204020204" charset="-122"/>
                <a:ea typeface="微软雅黑" panose="020B0503020204020204" charset="-122"/>
              </a:rPr>
              <a:t>本章要点</a:t>
            </a:r>
          </a:p>
        </p:txBody>
      </p:sp>
      <p:sp>
        <p:nvSpPr>
          <p:cNvPr id="3" name="标题 1"/>
          <p:cNvSpPr>
            <a:spLocks noGrp="1"/>
          </p:cNvSpPr>
          <p:nvPr/>
        </p:nvSpPr>
        <p:spPr>
          <a:xfrm>
            <a:off x="3462655" y="310515"/>
            <a:ext cx="1133475" cy="561975"/>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defRPr>
            </a:lvl1pPr>
          </a:lstStyle>
          <a:p>
            <a:pPr fontAlgn="auto">
              <a:buFont typeface="Arial" panose="020B0604020202020204" pitchFamily="34" charset="0"/>
              <a:buNone/>
              <a:defRPr/>
            </a:pPr>
            <a:r>
              <a:rPr lang="zh-CN" altLang="en-US" noProof="1">
                <a:cs typeface="+mn-cs"/>
              </a:rPr>
              <a:t>目录</a:t>
            </a:r>
            <a:endParaRPr lang="zh-CN" altLang="en-US" noProof="1"/>
          </a:p>
        </p:txBody>
      </p:sp>
      <p:grpSp>
        <p:nvGrpSpPr>
          <p:cNvPr id="10" name="Group 5"/>
          <p:cNvGrpSpPr/>
          <p:nvPr/>
        </p:nvGrpSpPr>
        <p:grpSpPr bwMode="auto">
          <a:xfrm>
            <a:off x="6588125" y="5144770"/>
            <a:ext cx="3764280" cy="481330"/>
            <a:chOff x="3" y="0"/>
            <a:chExt cx="4243" cy="333"/>
          </a:xfrm>
        </p:grpSpPr>
        <p:grpSp>
          <p:nvGrpSpPr>
            <p:cNvPr id="11" name="Group 6"/>
            <p:cNvGrpSpPr/>
            <p:nvPr/>
          </p:nvGrpSpPr>
          <p:grpSpPr bwMode="auto">
            <a:xfrm>
              <a:off x="3" y="0"/>
              <a:ext cx="4243" cy="333"/>
              <a:chOff x="0" y="0"/>
              <a:chExt cx="4243" cy="333"/>
            </a:xfrm>
          </p:grpSpPr>
          <p:sp>
            <p:nvSpPr>
              <p:cNvPr id="1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4.8  ex命令</a:t>
              </a:r>
            </a:p>
          </p:txBody>
        </p:sp>
      </p:grpSp>
      <p:grpSp>
        <p:nvGrpSpPr>
          <p:cNvPr id="15" name="Group 5"/>
          <p:cNvGrpSpPr/>
          <p:nvPr/>
        </p:nvGrpSpPr>
        <p:grpSpPr bwMode="auto">
          <a:xfrm>
            <a:off x="6569075" y="4255135"/>
            <a:ext cx="3794760" cy="481330"/>
            <a:chOff x="3" y="0"/>
            <a:chExt cx="4243" cy="333"/>
          </a:xfrm>
        </p:grpSpPr>
        <p:grpSp>
          <p:nvGrpSpPr>
            <p:cNvPr id="16" name="Group 6"/>
            <p:cNvGrpSpPr/>
            <p:nvPr/>
          </p:nvGrpSpPr>
          <p:grpSpPr bwMode="auto">
            <a:xfrm>
              <a:off x="3" y="0"/>
              <a:ext cx="4243" cy="333"/>
              <a:chOff x="0" y="0"/>
              <a:chExt cx="4243" cy="333"/>
            </a:xfrm>
          </p:grpSpPr>
          <p:sp>
            <p:nvSpPr>
              <p:cNvPr id="1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4.7  文本修改</a:t>
              </a:r>
            </a:p>
          </p:txBody>
        </p:sp>
      </p:grpSp>
      <p:grpSp>
        <p:nvGrpSpPr>
          <p:cNvPr id="20" name="Group 5"/>
          <p:cNvGrpSpPr/>
          <p:nvPr/>
        </p:nvGrpSpPr>
        <p:grpSpPr bwMode="auto">
          <a:xfrm>
            <a:off x="2021205" y="2421255"/>
            <a:ext cx="4041140" cy="481330"/>
            <a:chOff x="3" y="0"/>
            <a:chExt cx="4243" cy="333"/>
          </a:xfrm>
        </p:grpSpPr>
        <p:grpSp>
          <p:nvGrpSpPr>
            <p:cNvPr id="21" name="Group 6"/>
            <p:cNvGrpSpPr/>
            <p:nvPr/>
          </p:nvGrpSpPr>
          <p:grpSpPr bwMode="auto">
            <a:xfrm>
              <a:off x="3" y="0"/>
              <a:ext cx="4243" cy="333"/>
              <a:chOff x="0" y="0"/>
              <a:chExt cx="4243" cy="333"/>
            </a:xfrm>
          </p:grpSpPr>
          <p:sp>
            <p:nvSpPr>
              <p:cNvPr id="2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4.1  vi的工作方式</a:t>
              </a:r>
            </a:p>
          </p:txBody>
        </p:sp>
      </p:grpSp>
      <p:grpSp>
        <p:nvGrpSpPr>
          <p:cNvPr id="25" name="Group 5"/>
          <p:cNvGrpSpPr/>
          <p:nvPr/>
        </p:nvGrpSpPr>
        <p:grpSpPr bwMode="auto">
          <a:xfrm>
            <a:off x="1986280" y="3320415"/>
            <a:ext cx="4091940" cy="481330"/>
            <a:chOff x="3" y="0"/>
            <a:chExt cx="4243" cy="333"/>
          </a:xfrm>
        </p:grpSpPr>
        <p:grpSp>
          <p:nvGrpSpPr>
            <p:cNvPr id="26" name="Group 6"/>
            <p:cNvGrpSpPr/>
            <p:nvPr/>
          </p:nvGrpSpPr>
          <p:grpSpPr bwMode="auto">
            <a:xfrm>
              <a:off x="3" y="0"/>
              <a:ext cx="4243" cy="333"/>
              <a:chOff x="0" y="0"/>
              <a:chExt cx="4243" cy="333"/>
            </a:xfrm>
          </p:grpSpPr>
          <p:sp>
            <p:nvSpPr>
              <p:cNvPr id="2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4.2  vi的启动和退出</a:t>
              </a:r>
            </a:p>
          </p:txBody>
        </p:sp>
      </p:grpSp>
      <p:grpSp>
        <p:nvGrpSpPr>
          <p:cNvPr id="30" name="Group 5"/>
          <p:cNvGrpSpPr/>
          <p:nvPr/>
        </p:nvGrpSpPr>
        <p:grpSpPr bwMode="auto">
          <a:xfrm>
            <a:off x="2034540" y="4241165"/>
            <a:ext cx="4074160" cy="481330"/>
            <a:chOff x="3" y="0"/>
            <a:chExt cx="4243" cy="333"/>
          </a:xfrm>
        </p:grpSpPr>
        <p:grpSp>
          <p:nvGrpSpPr>
            <p:cNvPr id="31" name="Group 6"/>
            <p:cNvGrpSpPr/>
            <p:nvPr/>
          </p:nvGrpSpPr>
          <p:grpSpPr bwMode="auto">
            <a:xfrm>
              <a:off x="3" y="0"/>
              <a:ext cx="4243" cy="333"/>
              <a:chOff x="0" y="0"/>
              <a:chExt cx="4243" cy="333"/>
            </a:xfrm>
          </p:grpSpPr>
          <p:sp>
            <p:nvSpPr>
              <p:cNvPr id="3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4.3  文本输入</a:t>
              </a:r>
            </a:p>
          </p:txBody>
        </p:sp>
      </p:grpSp>
      <p:grpSp>
        <p:nvGrpSpPr>
          <p:cNvPr id="35" name="Group 5"/>
          <p:cNvGrpSpPr/>
          <p:nvPr/>
        </p:nvGrpSpPr>
        <p:grpSpPr bwMode="auto">
          <a:xfrm>
            <a:off x="2046605" y="5113020"/>
            <a:ext cx="4037330" cy="481330"/>
            <a:chOff x="3" y="0"/>
            <a:chExt cx="4243" cy="333"/>
          </a:xfrm>
        </p:grpSpPr>
        <p:grpSp>
          <p:nvGrpSpPr>
            <p:cNvPr id="36" name="Group 6"/>
            <p:cNvGrpSpPr/>
            <p:nvPr/>
          </p:nvGrpSpPr>
          <p:grpSpPr bwMode="auto">
            <a:xfrm>
              <a:off x="3" y="0"/>
              <a:ext cx="4243" cy="333"/>
              <a:chOff x="0" y="0"/>
              <a:chExt cx="4243" cy="333"/>
            </a:xfrm>
          </p:grpSpPr>
          <p:sp>
            <p:nvSpPr>
              <p:cNvPr id="3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9" name="Text Box 9"/>
            <p:cNvSpPr txBox="1">
              <a:spLocks noChangeArrowheads="1"/>
            </p:cNvSpPr>
            <p:nvPr/>
          </p:nvSpPr>
          <p:spPr bwMode="auto">
            <a:xfrm>
              <a:off x="879" y="34"/>
              <a:ext cx="3004"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4.4  打开文件</a:t>
              </a:r>
            </a:p>
          </p:txBody>
        </p:sp>
      </p:grpSp>
      <p:grpSp>
        <p:nvGrpSpPr>
          <p:cNvPr id="40" name="Group 5"/>
          <p:cNvGrpSpPr/>
          <p:nvPr/>
        </p:nvGrpSpPr>
        <p:grpSpPr bwMode="auto">
          <a:xfrm>
            <a:off x="6516370" y="2437130"/>
            <a:ext cx="3808095" cy="481330"/>
            <a:chOff x="3" y="0"/>
            <a:chExt cx="4243" cy="333"/>
          </a:xfrm>
        </p:grpSpPr>
        <p:grpSp>
          <p:nvGrpSpPr>
            <p:cNvPr id="41" name="Group 6"/>
            <p:cNvGrpSpPr/>
            <p:nvPr/>
          </p:nvGrpSpPr>
          <p:grpSpPr bwMode="auto">
            <a:xfrm>
              <a:off x="3" y="0"/>
              <a:ext cx="4243" cy="333"/>
              <a:chOff x="0" y="0"/>
              <a:chExt cx="4243" cy="333"/>
            </a:xfrm>
          </p:grpSpPr>
          <p:sp>
            <p:nvSpPr>
              <p:cNvPr id="4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4.5  保存文件</a:t>
              </a:r>
            </a:p>
          </p:txBody>
        </p:sp>
      </p:grpSp>
      <p:grpSp>
        <p:nvGrpSpPr>
          <p:cNvPr id="45" name="Group 5"/>
          <p:cNvGrpSpPr/>
          <p:nvPr/>
        </p:nvGrpSpPr>
        <p:grpSpPr bwMode="auto">
          <a:xfrm>
            <a:off x="6548120" y="3333750"/>
            <a:ext cx="3775710" cy="481330"/>
            <a:chOff x="3" y="0"/>
            <a:chExt cx="4243" cy="333"/>
          </a:xfrm>
        </p:grpSpPr>
        <p:grpSp>
          <p:nvGrpSpPr>
            <p:cNvPr id="46" name="Group 6"/>
            <p:cNvGrpSpPr/>
            <p:nvPr/>
          </p:nvGrpSpPr>
          <p:grpSpPr bwMode="auto">
            <a:xfrm>
              <a:off x="3" y="0"/>
              <a:ext cx="4243" cy="333"/>
              <a:chOff x="0" y="0"/>
              <a:chExt cx="4243" cy="333"/>
            </a:xfrm>
          </p:grpSpPr>
          <p:sp>
            <p:nvSpPr>
              <p:cNvPr id="47" name="AutoShape 7"/>
              <p:cNvSpPr>
                <a:spLocks noChangeArrowheads="1"/>
              </p:cNvSpPr>
              <p:nvPr/>
            </p:nvSpPr>
            <p:spPr bwMode="auto">
              <a:xfrm>
                <a:off x="0" y="0"/>
                <a:ext cx="4243" cy="333"/>
              </a:xfrm>
              <a:prstGeom prst="roundRect">
                <a:avLst>
                  <a:gd name="adj" fmla="val 15657"/>
                </a:avLst>
              </a:prstGeom>
              <a:solidFill>
                <a:srgbClr val="00B0F0"/>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tx1"/>
                  </a:solidFill>
                  <a:latin typeface="微软雅黑" panose="020B0503020204020204" charset="-122"/>
                  <a:ea typeface="微软雅黑" panose="020B0503020204020204" charset="-122"/>
                  <a:sym typeface="Arial Unicode MS" panose="020B0604020202020204" pitchFamily="34" charset="-122"/>
                </a:rPr>
                <a:t>4.6  移动光标</a:t>
              </a:r>
            </a:p>
          </p:txBody>
        </p:sp>
      </p:grpSp>
    </p:spTree>
  </p:cSld>
  <p:clrMapOvr>
    <a:masterClrMapping/>
  </p:clrMapOvr>
  <p:transition>
    <p:randomBa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569167" y="2323315"/>
            <a:ext cx="11132613" cy="3915877"/>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grpSp>
        <p:nvGrpSpPr>
          <p:cNvPr id="4" name="组合 3"/>
          <p:cNvGrpSpPr/>
          <p:nvPr/>
        </p:nvGrpSpPr>
        <p:grpSpPr>
          <a:xfrm>
            <a:off x="764916" y="1521382"/>
            <a:ext cx="4561205" cy="529590"/>
            <a:chOff x="7185" y="2102"/>
            <a:chExt cx="7183" cy="834"/>
          </a:xfrm>
        </p:grpSpPr>
        <p:sp>
          <p:nvSpPr>
            <p:cNvPr id="22" name="矩形 6"/>
            <p:cNvSpPr>
              <a:spLocks noChangeArrowheads="1"/>
            </p:cNvSpPr>
            <p:nvPr/>
          </p:nvSpPr>
          <p:spPr bwMode="auto">
            <a:xfrm>
              <a:off x="8146" y="2102"/>
              <a:ext cx="6222"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dirty="0">
                  <a:solidFill>
                    <a:srgbClr val="0066FF"/>
                  </a:solidFill>
                  <a:latin typeface="微软雅黑" panose="020B0503020204020204" charset="-122"/>
                  <a:ea typeface="微软雅黑" panose="020B0503020204020204" charset="-122"/>
                </a:rPr>
                <a:t>1．用4个方向键移动光标</a:t>
              </a:r>
            </a:p>
          </p:txBody>
        </p:sp>
        <p:sp>
          <p:nvSpPr>
            <p:cNvPr id="23" name="椭圆 22"/>
            <p:cNvSpPr/>
            <p:nvPr/>
          </p:nvSpPr>
          <p:spPr bwMode="auto">
            <a:xfrm>
              <a:off x="7185" y="2284"/>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sp>
        <p:nvSpPr>
          <p:cNvPr id="46" name="Text Box 44"/>
          <p:cNvSpPr txBox="1">
            <a:spLocks noChangeArrowheads="1"/>
          </p:cNvSpPr>
          <p:nvPr/>
        </p:nvSpPr>
        <p:spPr bwMode="auto">
          <a:xfrm>
            <a:off x="1351423" y="2693637"/>
            <a:ext cx="6771005" cy="307848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b="1" dirty="0">
                <a:solidFill>
                  <a:srgbClr val="0070C0"/>
                </a:solidFill>
              </a:rPr>
              <a:t>方向键</a:t>
            </a:r>
            <a:r>
              <a:rPr lang="zh-CN" altLang="en-US" sz="2000" dirty="0">
                <a:solidFill>
                  <a:schemeClr val="tx1">
                    <a:lumMod val="85000"/>
                    <a:lumOff val="15000"/>
                  </a:schemeClr>
                </a:solidFill>
              </a:rPr>
              <a:t>是基本的移动方法。大多数的系统都是支持方向键的。应该说，方向键就是为了移动光标而诞生的。</a:t>
            </a:r>
          </a:p>
          <a:p>
            <a:pPr eaLnBrk="1" latinLnBrk="0" hangingPunct="1">
              <a:lnSpc>
                <a:spcPct val="140000"/>
              </a:lnSpc>
            </a:pPr>
            <a:r>
              <a:rPr lang="zh-CN" altLang="en-US" sz="2000" dirty="0">
                <a:solidFill>
                  <a:schemeClr val="tx1">
                    <a:lumMod val="85000"/>
                    <a:lumOff val="15000"/>
                  </a:schemeClr>
                </a:solidFill>
              </a:rPr>
              <a:t>方向键箭头的方向就是用户按下此键后光标</a:t>
            </a:r>
            <a:r>
              <a:rPr lang="zh-CN" altLang="en-US" sz="2000" b="1" dirty="0">
                <a:solidFill>
                  <a:srgbClr val="0070C0"/>
                </a:solidFill>
              </a:rPr>
              <a:t>移动的趋势</a:t>
            </a:r>
            <a:r>
              <a:rPr lang="zh-CN" altLang="en-US" sz="2000" dirty="0">
                <a:solidFill>
                  <a:schemeClr val="tx1">
                    <a:lumMod val="85000"/>
                    <a:lumOff val="15000"/>
                  </a:schemeClr>
                </a:solidFill>
              </a:rPr>
              <a:t>。之所以说是“趋势”，是因为用户按了方向键，光标未必就会移动。在光标已经到了尽头时，用户按下光标只会听到“报警”的声音，光标不可能移动到屏幕外去，它就在原地不动。</a:t>
            </a:r>
          </a:p>
        </p:txBody>
      </p:sp>
      <p:pic>
        <p:nvPicPr>
          <p:cNvPr id="3" name="图片 2" descr="184726343"/>
          <p:cNvPicPr>
            <a:picLocks noChangeAspect="1"/>
          </p:cNvPicPr>
          <p:nvPr/>
        </p:nvPicPr>
        <p:blipFill>
          <a:blip r:embed="rId2" cstate="print"/>
          <a:stretch>
            <a:fillRect/>
          </a:stretch>
        </p:blipFill>
        <p:spPr>
          <a:xfrm>
            <a:off x="8382546" y="3058347"/>
            <a:ext cx="2898164" cy="217408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wipe(up)">
                                      <p:cBhvr>
                                        <p:cTn id="11" dur="500"/>
                                        <p:tgtEl>
                                          <p:spTgt spid="46"/>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98475" y="1684020"/>
            <a:ext cx="11194415" cy="48044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416623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2．用命令移动光标</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sp>
        <p:nvSpPr>
          <p:cNvPr id="11" name="Text Box 44"/>
          <p:cNvSpPr txBox="1">
            <a:spLocks noChangeArrowheads="1"/>
          </p:cNvSpPr>
          <p:nvPr/>
        </p:nvSpPr>
        <p:spPr bwMode="auto">
          <a:xfrm>
            <a:off x="691515" y="1844040"/>
            <a:ext cx="10391140" cy="94488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dirty="0">
                <a:solidFill>
                  <a:schemeClr val="tx1">
                    <a:lumMod val="85000"/>
                    <a:lumOff val="15000"/>
                  </a:schemeClr>
                </a:solidFill>
              </a:rPr>
              <a:t>在命令模式里，vi还可以使用命令来</a:t>
            </a:r>
            <a:r>
              <a:rPr lang="zh-CN" altLang="en-US" sz="2000" b="1" dirty="0">
                <a:solidFill>
                  <a:srgbClr val="0070C0"/>
                </a:solidFill>
              </a:rPr>
              <a:t>移动光标</a:t>
            </a:r>
            <a:r>
              <a:rPr lang="zh-CN" altLang="en-US" sz="2000" dirty="0">
                <a:solidFill>
                  <a:schemeClr val="tx1">
                    <a:lumMod val="85000"/>
                    <a:lumOff val="15000"/>
                  </a:schemeClr>
                </a:solidFill>
              </a:rPr>
              <a:t>。这是因为在很早的时候，很多终端没有方向键，因此vi提供了一些命令来移动光标。常用的移动光标命令如表4-1所示。</a:t>
            </a:r>
          </a:p>
        </p:txBody>
      </p:sp>
      <p:graphicFrame>
        <p:nvGraphicFramePr>
          <p:cNvPr id="10" name="表格 9"/>
          <p:cNvGraphicFramePr/>
          <p:nvPr>
            <p:extLst>
              <p:ext uri="{D42A27DB-BD31-4B8C-83A1-F6EECF244321}">
                <p14:modId xmlns:p14="http://schemas.microsoft.com/office/powerpoint/2010/main" val="2846496634"/>
              </p:ext>
            </p:extLst>
          </p:nvPr>
        </p:nvGraphicFramePr>
        <p:xfrm>
          <a:off x="691515" y="3680460"/>
          <a:ext cx="10681970" cy="2484630"/>
        </p:xfrm>
        <a:graphic>
          <a:graphicData uri="http://schemas.openxmlformats.org/drawingml/2006/table">
            <a:tbl>
              <a:tblPr firstRow="1" bandRow="1">
                <a:tableStyleId>{5C22544A-7EE6-4342-B048-85BDC9FD1C3A}</a:tableStyleId>
              </a:tblPr>
              <a:tblGrid>
                <a:gridCol w="3059391">
                  <a:extLst>
                    <a:ext uri="{9D8B030D-6E8A-4147-A177-3AD203B41FA5}">
                      <a16:colId xmlns:a16="http://schemas.microsoft.com/office/drawing/2014/main" val="20000"/>
                    </a:ext>
                  </a:extLst>
                </a:gridCol>
                <a:gridCol w="7622579">
                  <a:extLst>
                    <a:ext uri="{9D8B030D-6E8A-4147-A177-3AD203B41FA5}">
                      <a16:colId xmlns:a16="http://schemas.microsoft.com/office/drawing/2014/main" val="20001"/>
                    </a:ext>
                  </a:extLst>
                </a:gridCol>
              </a:tblGrid>
              <a:tr h="603250">
                <a:tc>
                  <a:txBody>
                    <a:bodyPr/>
                    <a:lstStyle/>
                    <a:p>
                      <a:pPr algn="ctr">
                        <a:lnSpc>
                          <a:spcPct val="140000"/>
                        </a:lnSpc>
                        <a:buNone/>
                      </a:pPr>
                      <a:r>
                        <a:rPr lang="zh-CN" altLang="en-US" sz="2400" dirty="0">
                          <a:solidFill>
                            <a:schemeClr val="tx1"/>
                          </a:solidFill>
                          <a:latin typeface="微软雅黑" panose="020B0503020204020204" charset="-122"/>
                          <a:ea typeface="微软雅黑" panose="020B0503020204020204" charset="-122"/>
                        </a:rPr>
                        <a:t>命令</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lnSpc>
                          <a:spcPct val="130000"/>
                        </a:lnSpc>
                        <a:buNone/>
                      </a:pPr>
                      <a:r>
                        <a:rPr lang="zh-CN" altLang="en-US" sz="2400" dirty="0">
                          <a:solidFill>
                            <a:schemeClr val="tx1"/>
                          </a:solidFill>
                        </a:rPr>
                        <a:t>作用</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0"/>
                  </a:ext>
                </a:extLst>
              </a:tr>
              <a:tr h="474980">
                <a:tc>
                  <a:txBody>
                    <a:bodyPr/>
                    <a:lstStyle/>
                    <a:p>
                      <a:pPr marL="0" indent="0" algn="ctr">
                        <a:lnSpc>
                          <a:spcPct val="130000"/>
                        </a:lnSpc>
                        <a:buNone/>
                      </a:pPr>
                      <a:r>
                        <a:rPr lang="en-US" altLang="zh-CN" sz="2800" b="1" u="none" dirty="0">
                          <a:solidFill>
                            <a:srgbClr val="FF0000"/>
                          </a:solidFill>
                          <a:latin typeface="Times New Roman" panose="02020603050405020304" pitchFamily="18" charset="0"/>
                          <a:ea typeface="Calibri" panose="020F0502020204030204" charset="0"/>
                          <a:cs typeface="Calibri" panose="020F0502020204030204" charset="0"/>
                        </a:rPr>
                        <a:t>h</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lnSpc>
                          <a:spcPct val="170000"/>
                        </a:lnSpc>
                        <a:buNone/>
                      </a:pPr>
                      <a:r>
                        <a:rPr lang="en-US" altLang="zh-CN" sz="2000" b="0" u="none" dirty="0">
                          <a:solidFill>
                            <a:srgbClr val="FF0000"/>
                          </a:solidFill>
                          <a:latin typeface="微软雅黑" panose="020B0503020204020204" charset="-122"/>
                          <a:ea typeface="微软雅黑" panose="020B0503020204020204" charset="-122"/>
                          <a:cs typeface="Calibri" panose="020F0502020204030204" charset="0"/>
                        </a:rPr>
                        <a:t>    </a:t>
                      </a:r>
                      <a:r>
                        <a:rPr lang="zh-CN" altLang="en-US" sz="2000" b="0" u="none" dirty="0">
                          <a:solidFill>
                            <a:srgbClr val="FF0000"/>
                          </a:solidFill>
                          <a:latin typeface="微软雅黑" panose="020B0503020204020204" charset="-122"/>
                          <a:ea typeface="微软雅黑" panose="020B0503020204020204" charset="-122"/>
                          <a:cs typeface="Calibri" panose="020F0502020204030204" charset="0"/>
                        </a:rPr>
                        <a:t>向左移动一个字符</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74980">
                <a:tc>
                  <a:txBody>
                    <a:bodyPr/>
                    <a:lstStyle/>
                    <a:p>
                      <a:pPr marL="0" indent="0" algn="ctr">
                        <a:lnSpc>
                          <a:spcPct val="130000"/>
                        </a:lnSpc>
                        <a:buNone/>
                      </a:pPr>
                      <a:r>
                        <a:rPr lang="en-US" altLang="zh-CN" sz="2800" b="1" u="none" dirty="0">
                          <a:solidFill>
                            <a:srgbClr val="FF0000"/>
                          </a:solidFill>
                          <a:latin typeface="Times New Roman" panose="02020603050405020304" pitchFamily="18" charset="0"/>
                          <a:ea typeface="Calibri" panose="020F0502020204030204" charset="0"/>
                          <a:cs typeface="Calibri" panose="020F0502020204030204" charset="0"/>
                        </a:rPr>
                        <a:t>j</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lnSpc>
                          <a:spcPct val="170000"/>
                        </a:lnSpc>
                        <a:buNone/>
                      </a:pPr>
                      <a:r>
                        <a:rPr lang="en-US" altLang="zh-CN" sz="2000" b="0" u="none" dirty="0">
                          <a:solidFill>
                            <a:srgbClr val="FF0000"/>
                          </a:solidFill>
                          <a:latin typeface="微软雅黑" panose="020B0503020204020204" charset="-122"/>
                          <a:ea typeface="微软雅黑" panose="020B0503020204020204" charset="-122"/>
                          <a:cs typeface="Calibri" panose="020F0502020204030204" charset="0"/>
                        </a:rPr>
                        <a:t>    </a:t>
                      </a:r>
                      <a:r>
                        <a:rPr lang="zh-CN" altLang="en-US" sz="2000" b="0" u="none" dirty="0">
                          <a:solidFill>
                            <a:srgbClr val="FF0000"/>
                          </a:solidFill>
                          <a:latin typeface="微软雅黑" panose="020B0503020204020204" charset="-122"/>
                          <a:ea typeface="微软雅黑" panose="020B0503020204020204" charset="-122"/>
                          <a:cs typeface="Calibri" panose="020F0502020204030204" charset="0"/>
                        </a:rPr>
                        <a:t>向下移动一行</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41325">
                <a:tc>
                  <a:txBody>
                    <a:bodyPr/>
                    <a:lstStyle/>
                    <a:p>
                      <a:pPr marL="0" indent="0" algn="ctr">
                        <a:buNone/>
                      </a:pPr>
                      <a:r>
                        <a:rPr lang="en-US" altLang="zh-CN" sz="2800" b="1" u="none">
                          <a:solidFill>
                            <a:srgbClr val="FF0000"/>
                          </a:solidFill>
                          <a:latin typeface="Times New Roman" panose="02020603050405020304" pitchFamily="18" charset="0"/>
                          <a:ea typeface="Calibri" panose="020F0502020204030204" charset="0"/>
                          <a:cs typeface="Calibri" panose="020F0502020204030204" charset="0"/>
                        </a:rPr>
                        <a:t>k</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lnSpc>
                          <a:spcPct val="130000"/>
                        </a:lnSpc>
                        <a:buNone/>
                      </a:pPr>
                      <a:r>
                        <a:rPr lang="en-US" altLang="zh-CN" sz="2000" b="0" u="none" dirty="0">
                          <a:solidFill>
                            <a:srgbClr val="FF0000"/>
                          </a:solidFill>
                          <a:latin typeface="微软雅黑" panose="020B0503020204020204" charset="-122"/>
                          <a:ea typeface="微软雅黑" panose="020B0503020204020204" charset="-122"/>
                          <a:cs typeface="Calibri" panose="020F0502020204030204" charset="0"/>
                        </a:rPr>
                        <a:t>    </a:t>
                      </a:r>
                      <a:r>
                        <a:rPr lang="zh-CN" altLang="en-US" sz="2000" b="0" u="none" dirty="0">
                          <a:solidFill>
                            <a:srgbClr val="FF0000"/>
                          </a:solidFill>
                          <a:latin typeface="微软雅黑" panose="020B0503020204020204" charset="-122"/>
                          <a:ea typeface="微软雅黑" panose="020B0503020204020204" charset="-122"/>
                          <a:cs typeface="Calibri" panose="020F0502020204030204" charset="0"/>
                        </a:rPr>
                        <a:t>向上移动一行</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41325">
                <a:tc>
                  <a:txBody>
                    <a:bodyPr/>
                    <a:lstStyle/>
                    <a:p>
                      <a:pPr marL="0" indent="0" algn="ctr">
                        <a:buNone/>
                      </a:pPr>
                      <a:r>
                        <a:rPr lang="en-US" altLang="zh-CN" sz="2800" b="1" u="none">
                          <a:solidFill>
                            <a:srgbClr val="FF0000"/>
                          </a:solidFill>
                          <a:latin typeface="Times New Roman" panose="02020603050405020304" pitchFamily="18" charset="0"/>
                          <a:ea typeface="Calibri" panose="020F0502020204030204" charset="0"/>
                          <a:cs typeface="Calibri" panose="020F0502020204030204" charset="0"/>
                        </a:rPr>
                        <a:t>l</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lnSpc>
                          <a:spcPct val="130000"/>
                        </a:lnSpc>
                        <a:buNone/>
                      </a:pPr>
                      <a:r>
                        <a:rPr lang="en-US" altLang="zh-CN" sz="2000" b="0" u="none" dirty="0">
                          <a:solidFill>
                            <a:srgbClr val="FF0000"/>
                          </a:solidFill>
                          <a:latin typeface="微软雅黑" panose="020B0503020204020204" charset="-122"/>
                          <a:ea typeface="微软雅黑" panose="020B0503020204020204" charset="-122"/>
                          <a:cs typeface="Calibri" panose="020F0502020204030204" charset="0"/>
                        </a:rPr>
                        <a:t>    </a:t>
                      </a:r>
                      <a:r>
                        <a:rPr lang="zh-CN" altLang="en-US" sz="2000" b="0" u="none" dirty="0">
                          <a:solidFill>
                            <a:srgbClr val="FF0000"/>
                          </a:solidFill>
                          <a:latin typeface="微软雅黑" panose="020B0503020204020204" charset="-122"/>
                          <a:ea typeface="微软雅黑" panose="020B0503020204020204" charset="-122"/>
                          <a:cs typeface="Calibri" panose="020F0502020204030204" charset="0"/>
                        </a:rPr>
                        <a:t>向右移动一个字符</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pSp>
        <p:nvGrpSpPr>
          <p:cNvPr id="13" name="组合 12"/>
          <p:cNvGrpSpPr/>
          <p:nvPr/>
        </p:nvGrpSpPr>
        <p:grpSpPr>
          <a:xfrm>
            <a:off x="4288790" y="3085465"/>
            <a:ext cx="3614420" cy="426085"/>
            <a:chOff x="6668135" y="2035810"/>
            <a:chExt cx="2401570" cy="553085"/>
          </a:xfrm>
        </p:grpSpPr>
        <p:sp>
          <p:nvSpPr>
            <p:cNvPr id="12" name="圆角矩形 11"/>
            <p:cNvSpPr/>
            <p:nvPr/>
          </p:nvSpPr>
          <p:spPr>
            <a:xfrm>
              <a:off x="6668135" y="2035810"/>
              <a:ext cx="2401570" cy="553085"/>
            </a:xfrm>
            <a:prstGeom prst="roundRect">
              <a:avLst/>
            </a:prstGeom>
            <a:solidFill>
              <a:srgbClr val="00B0F0"/>
            </a:solidFill>
            <a:ln w="9525" cap="flat" cmpd="sng" algn="ctr">
              <a:solidFill>
                <a:srgbClr val="0070C0"/>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sp>
          <p:nvSpPr>
            <p:cNvPr id="40" name="TextBox 1"/>
            <p:cNvSpPr txBox="1">
              <a:spLocks noChangeArrowheads="1"/>
            </p:cNvSpPr>
            <p:nvPr/>
          </p:nvSpPr>
          <p:spPr bwMode="auto">
            <a:xfrm>
              <a:off x="6938314" y="2072005"/>
              <a:ext cx="2001283" cy="499507"/>
            </a:xfrm>
            <a:prstGeom prst="rect">
              <a:avLst/>
            </a:prstGeom>
            <a:noFill/>
            <a:ln w="9525">
              <a:noFill/>
              <a:miter lim="800000"/>
            </a:ln>
          </p:spPr>
          <p:txBody>
            <a:bodyPr wrap="square">
              <a:spAutoFit/>
            </a:bodyPr>
            <a:lstStyle/>
            <a:p>
              <a:pPr>
                <a:buFont typeface="Arial" panose="020B0604020202020204" pitchFamily="34" charset="0"/>
                <a:buNone/>
              </a:pPr>
              <a:r>
                <a:rPr lang="zh-CN" altLang="en-US" dirty="0">
                  <a:latin typeface="微软雅黑" panose="020B0503020204020204" charset="-122"/>
                  <a:ea typeface="微软雅黑" panose="020B0503020204020204" charset="-122"/>
                </a:rPr>
                <a:t>表4-1  移动光标的命令</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left)">
                                      <p:cBhvr>
                                        <p:cTn id="10" dur="500"/>
                                        <p:tgtEl>
                                          <p:spTgt spid="13"/>
                                        </p:tgtEl>
                                      </p:cBhvr>
                                    </p:animEffect>
                                  </p:childTnLst>
                                </p:cTn>
                              </p:par>
                              <p:par>
                                <p:cTn id="11" presetID="22" presetClass="entr" presetSubtype="8"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6"/>
          <p:cNvSpPr>
            <a:spLocks noChangeArrowheads="1"/>
          </p:cNvSpPr>
          <p:nvPr/>
        </p:nvSpPr>
        <p:spPr bwMode="auto">
          <a:xfrm>
            <a:off x="1137285" y="1082040"/>
            <a:ext cx="416623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2．用命令移动光标</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aphicFrame>
        <p:nvGraphicFramePr>
          <p:cNvPr id="10" name="表格 9"/>
          <p:cNvGraphicFramePr/>
          <p:nvPr>
            <p:extLst>
              <p:ext uri="{D42A27DB-BD31-4B8C-83A1-F6EECF244321}">
                <p14:modId xmlns:p14="http://schemas.microsoft.com/office/powerpoint/2010/main" val="4252528492"/>
              </p:ext>
            </p:extLst>
          </p:nvPr>
        </p:nvGraphicFramePr>
        <p:xfrm>
          <a:off x="691515" y="1760220"/>
          <a:ext cx="10681970" cy="4642485"/>
        </p:xfrm>
        <a:graphic>
          <a:graphicData uri="http://schemas.openxmlformats.org/drawingml/2006/table">
            <a:tbl>
              <a:tblPr firstRow="1" bandRow="1">
                <a:tableStyleId>{5C22544A-7EE6-4342-B048-85BDC9FD1C3A}</a:tableStyleId>
              </a:tblPr>
              <a:tblGrid>
                <a:gridCol w="3185795">
                  <a:extLst>
                    <a:ext uri="{9D8B030D-6E8A-4147-A177-3AD203B41FA5}">
                      <a16:colId xmlns:a16="http://schemas.microsoft.com/office/drawing/2014/main" val="20000"/>
                    </a:ext>
                  </a:extLst>
                </a:gridCol>
                <a:gridCol w="7496175">
                  <a:extLst>
                    <a:ext uri="{9D8B030D-6E8A-4147-A177-3AD203B41FA5}">
                      <a16:colId xmlns:a16="http://schemas.microsoft.com/office/drawing/2014/main" val="20001"/>
                    </a:ext>
                  </a:extLst>
                </a:gridCol>
              </a:tblGrid>
              <a:tr h="603250">
                <a:tc>
                  <a:txBody>
                    <a:bodyPr/>
                    <a:lstStyle/>
                    <a:p>
                      <a:pPr algn="ctr">
                        <a:lnSpc>
                          <a:spcPct val="140000"/>
                        </a:lnSpc>
                        <a:buNone/>
                      </a:pPr>
                      <a:r>
                        <a:rPr lang="zh-CN" altLang="en-US" sz="2400" dirty="0">
                          <a:solidFill>
                            <a:schemeClr val="tx1"/>
                          </a:solidFill>
                          <a:latin typeface="微软雅黑" panose="020B0503020204020204" charset="-122"/>
                          <a:ea typeface="微软雅黑" panose="020B0503020204020204" charset="-122"/>
                        </a:rPr>
                        <a:t>命令</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lnSpc>
                          <a:spcPct val="130000"/>
                        </a:lnSpc>
                        <a:buNone/>
                      </a:pPr>
                      <a:r>
                        <a:rPr lang="zh-CN" altLang="en-US" sz="2400" dirty="0">
                          <a:solidFill>
                            <a:schemeClr val="tx1"/>
                          </a:solidFill>
                        </a:rPr>
                        <a:t>作用</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0"/>
                  </a:ext>
                </a:extLst>
              </a:tr>
              <a:tr h="474980">
                <a:tc>
                  <a:txBody>
                    <a:bodyPr/>
                    <a:lstStyle/>
                    <a:p>
                      <a:pPr marL="0" indent="0" algn="ctr">
                        <a:lnSpc>
                          <a:spcPct val="130000"/>
                        </a:lnSpc>
                        <a:buNone/>
                      </a:pPr>
                      <a:r>
                        <a:rPr lang="en-US" altLang="zh-CN" sz="2000" b="1" u="none">
                          <a:solidFill>
                            <a:srgbClr val="0070C0"/>
                          </a:solidFill>
                          <a:latin typeface="Times New Roman" panose="02020603050405020304" pitchFamily="18" charset="0"/>
                          <a:ea typeface="Calibri" panose="020F0502020204030204" charset="0"/>
                          <a:cs typeface="Calibri" panose="020F0502020204030204" charset="0"/>
                        </a:rPr>
                        <a:t>b</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40000"/>
                        </a:lnSpc>
                        <a:buNone/>
                      </a:pPr>
                      <a:r>
                        <a:rPr lang="zh-CN" altLang="en-US" sz="1800" b="0" u="none" dirty="0">
                          <a:latin typeface="微软雅黑" panose="020B0503020204020204" charset="-122"/>
                          <a:ea typeface="微软雅黑" panose="020B0503020204020204" charset="-122"/>
                          <a:cs typeface="Calibri" panose="020F0502020204030204" charset="0"/>
                        </a:rPr>
                        <a:t>将光标移动到当前单词的第一个字母</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74980">
                <a:tc>
                  <a:txBody>
                    <a:bodyPr/>
                    <a:lstStyle/>
                    <a:p>
                      <a:pPr marL="0" indent="0" algn="ctr">
                        <a:lnSpc>
                          <a:spcPct val="130000"/>
                        </a:lnSpc>
                        <a:buNone/>
                      </a:pPr>
                      <a:r>
                        <a:rPr lang="en-US" altLang="zh-CN" sz="2000" b="1" u="none" dirty="0">
                          <a:solidFill>
                            <a:srgbClr val="0070C0"/>
                          </a:solidFill>
                          <a:latin typeface="Times New Roman" panose="02020603050405020304" pitchFamily="18" charset="0"/>
                          <a:ea typeface="Calibri" panose="020F0502020204030204" charset="0"/>
                          <a:cs typeface="Calibri" panose="020F0502020204030204" charset="0"/>
                        </a:rPr>
                        <a:t>e</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40000"/>
                        </a:lnSpc>
                        <a:buNone/>
                      </a:pPr>
                      <a:r>
                        <a:rPr lang="zh-CN" altLang="en-US" sz="1800" b="0" u="none" dirty="0">
                          <a:latin typeface="微软雅黑" panose="020B0503020204020204" charset="-122"/>
                          <a:ea typeface="微软雅黑" panose="020B0503020204020204" charset="-122"/>
                          <a:cs typeface="Calibri" panose="020F0502020204030204" charset="0"/>
                        </a:rPr>
                        <a:t>将光标移动到当前单词的后一个字母</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41325">
                <a:tc>
                  <a:txBody>
                    <a:bodyPr/>
                    <a:lstStyle/>
                    <a:p>
                      <a:pPr marL="0" indent="0" algn="ctr">
                        <a:lnSpc>
                          <a:spcPct val="130000"/>
                        </a:lnSpc>
                        <a:buNone/>
                      </a:pPr>
                      <a:r>
                        <a:rPr lang="zh-CN" altLang="en-US" sz="2000" b="1" u="none" dirty="0">
                          <a:solidFill>
                            <a:srgbClr val="FF0000"/>
                          </a:solidFill>
                          <a:latin typeface="Times New Roman" panose="02020603050405020304" pitchFamily="18" charset="0"/>
                          <a:ea typeface="Calibri" panose="020F0502020204030204" charset="0"/>
                          <a:cs typeface="Calibri" panose="020F0502020204030204" charset="0"/>
                        </a:rPr>
                        <a:t>空格</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40000"/>
                        </a:lnSpc>
                        <a:buNone/>
                      </a:pPr>
                      <a:r>
                        <a:rPr lang="zh-CN" altLang="en-US" sz="1800" b="0" u="none" dirty="0">
                          <a:solidFill>
                            <a:srgbClr val="FF0000"/>
                          </a:solidFill>
                          <a:latin typeface="微软雅黑" panose="020B0503020204020204" charset="-122"/>
                          <a:ea typeface="微软雅黑" panose="020B0503020204020204" charset="-122"/>
                          <a:cs typeface="Calibri" panose="020F0502020204030204" charset="0"/>
                        </a:rPr>
                        <a:t>向右移动一个字符</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41325">
                <a:tc>
                  <a:txBody>
                    <a:bodyPr/>
                    <a:lstStyle/>
                    <a:p>
                      <a:pPr marL="0" indent="0" algn="ctr">
                        <a:lnSpc>
                          <a:spcPct val="130000"/>
                        </a:lnSpc>
                        <a:buNone/>
                      </a:pPr>
                      <a:r>
                        <a:rPr lang="zh-CN" altLang="en-US" sz="2000" b="1" u="none" dirty="0">
                          <a:solidFill>
                            <a:srgbClr val="0070C0"/>
                          </a:solidFill>
                          <a:latin typeface="Times New Roman" panose="02020603050405020304" pitchFamily="18" charset="0"/>
                          <a:ea typeface="Calibri" panose="020F0502020204030204" charset="0"/>
                          <a:cs typeface="Calibri" panose="020F0502020204030204" charset="0"/>
                        </a:rPr>
                        <a:t>回车或</a:t>
                      </a:r>
                      <a:r>
                        <a:rPr lang="en-US" altLang="zh-CN" sz="2000" b="1" u="none" dirty="0">
                          <a:solidFill>
                            <a:srgbClr val="0070C0"/>
                          </a:solidFill>
                          <a:latin typeface="Times New Roman" panose="02020603050405020304" pitchFamily="18" charset="0"/>
                          <a:ea typeface="Calibri" panose="020F0502020204030204" charset="0"/>
                          <a:cs typeface="Calibri" panose="020F0502020204030204" charset="0"/>
                        </a:rPr>
                        <a:t>+</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40000"/>
                        </a:lnSpc>
                        <a:buNone/>
                      </a:pPr>
                      <a:r>
                        <a:rPr lang="zh-CN" altLang="en-US" sz="1800" b="0" u="none" dirty="0">
                          <a:latin typeface="微软雅黑" panose="020B0503020204020204" charset="-122"/>
                          <a:ea typeface="微软雅黑" panose="020B0503020204020204" charset="-122"/>
                          <a:cs typeface="Calibri" panose="020F0502020204030204" charset="0"/>
                        </a:rPr>
                        <a:t>将光标移动到下一行行首</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41325">
                <a:tc>
                  <a:txBody>
                    <a:bodyPr/>
                    <a:lstStyle/>
                    <a:p>
                      <a:pPr marL="0" indent="0" algn="ctr">
                        <a:lnSpc>
                          <a:spcPct val="130000"/>
                        </a:lnSpc>
                        <a:buNone/>
                      </a:pPr>
                      <a:r>
                        <a:rPr lang="en-US" altLang="zh-CN" sz="2000" b="1" u="none">
                          <a:solidFill>
                            <a:srgbClr val="0070C0"/>
                          </a:solidFill>
                          <a:latin typeface="Times New Roman" panose="02020603050405020304" pitchFamily="18" charset="0"/>
                          <a:ea typeface="Calibri" panose="020F0502020204030204" charset="0"/>
                          <a:cs typeface="Calibri" panose="020F0502020204030204" charset="0"/>
                        </a:rPr>
                        <a:t>−</a:t>
                      </a:r>
                      <a:r>
                        <a:rPr lang="zh-CN" altLang="en-US" sz="2000" b="1" u="none">
                          <a:solidFill>
                            <a:srgbClr val="0070C0"/>
                          </a:solidFill>
                          <a:latin typeface="Times New Roman" panose="02020603050405020304" pitchFamily="18" charset="0"/>
                          <a:ea typeface="Calibri" panose="020F0502020204030204" charset="0"/>
                          <a:cs typeface="Calibri" panose="020F0502020204030204" charset="0"/>
                        </a:rPr>
                        <a:t>（减号）</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40000"/>
                        </a:lnSpc>
                        <a:buNone/>
                      </a:pPr>
                      <a:r>
                        <a:rPr lang="zh-CN" altLang="en-US" sz="1800" b="0" u="none" dirty="0">
                          <a:latin typeface="微软雅黑" panose="020B0503020204020204" charset="-122"/>
                          <a:ea typeface="微软雅黑" panose="020B0503020204020204" charset="-122"/>
                          <a:cs typeface="Calibri" panose="020F0502020204030204" charset="0"/>
                        </a:rPr>
                        <a:t>将光标移动到上一行行首</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41325">
                <a:tc>
                  <a:txBody>
                    <a:bodyPr/>
                    <a:lstStyle/>
                    <a:p>
                      <a:pPr marL="0" indent="0" algn="ctr">
                        <a:lnSpc>
                          <a:spcPct val="130000"/>
                        </a:lnSpc>
                        <a:buNone/>
                      </a:pPr>
                      <a:r>
                        <a:rPr lang="en-US" altLang="zh-CN" sz="2000" b="1" u="none" dirty="0">
                          <a:solidFill>
                            <a:srgbClr val="FF0000"/>
                          </a:solidFill>
                          <a:latin typeface="Times New Roman" panose="02020603050405020304" pitchFamily="18" charset="0"/>
                          <a:ea typeface="Calibri" panose="020F0502020204030204" charset="0"/>
                          <a:cs typeface="Calibri" panose="020F0502020204030204" charset="0"/>
                        </a:rPr>
                        <a:t>0</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40000"/>
                        </a:lnSpc>
                        <a:buNone/>
                      </a:pPr>
                      <a:r>
                        <a:rPr lang="zh-CN" altLang="en-US" sz="1800" b="0" u="none" dirty="0">
                          <a:solidFill>
                            <a:srgbClr val="FF0000"/>
                          </a:solidFill>
                          <a:latin typeface="微软雅黑" panose="020B0503020204020204" charset="-122"/>
                          <a:ea typeface="微软雅黑" panose="020B0503020204020204" charset="-122"/>
                          <a:cs typeface="Calibri" panose="020F0502020204030204" charset="0"/>
                        </a:rPr>
                        <a:t>将光标移动到行首</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41325">
                <a:tc>
                  <a:txBody>
                    <a:bodyPr/>
                    <a:lstStyle/>
                    <a:p>
                      <a:pPr marL="0" indent="0" algn="ctr">
                        <a:lnSpc>
                          <a:spcPct val="130000"/>
                        </a:lnSpc>
                        <a:buNone/>
                      </a:pPr>
                      <a:r>
                        <a:rPr lang="en-US" altLang="zh-CN" sz="2000" b="1" u="none">
                          <a:solidFill>
                            <a:srgbClr val="FF0000"/>
                          </a:solidFill>
                          <a:latin typeface="Times New Roman" panose="02020603050405020304" pitchFamily="18" charset="0"/>
                          <a:ea typeface="Calibri" panose="020F0502020204030204" charset="0"/>
                          <a:cs typeface="Calibri" panose="020F0502020204030204" charset="0"/>
                        </a:rPr>
                        <a:t>$</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40000"/>
                        </a:lnSpc>
                        <a:buNone/>
                      </a:pPr>
                      <a:r>
                        <a:rPr lang="zh-CN" altLang="en-US" sz="1800" b="0" u="none" dirty="0">
                          <a:solidFill>
                            <a:srgbClr val="FF0000"/>
                          </a:solidFill>
                          <a:latin typeface="微软雅黑" panose="020B0503020204020204" charset="-122"/>
                          <a:ea typeface="微软雅黑" panose="020B0503020204020204" charset="-122"/>
                          <a:cs typeface="Calibri" panose="020F0502020204030204" charset="0"/>
                        </a:rPr>
                        <a:t>将光标移动到行尾</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41325">
                <a:tc>
                  <a:txBody>
                    <a:bodyPr/>
                    <a:lstStyle/>
                    <a:p>
                      <a:pPr marL="0" indent="0" algn="ctr">
                        <a:lnSpc>
                          <a:spcPct val="130000"/>
                        </a:lnSpc>
                        <a:buNone/>
                      </a:pPr>
                      <a:r>
                        <a:rPr lang="en-US" altLang="zh-CN" sz="2000" b="1" u="none">
                          <a:solidFill>
                            <a:srgbClr val="0070C0"/>
                          </a:solidFill>
                          <a:latin typeface="Times New Roman" panose="02020603050405020304" pitchFamily="18" charset="0"/>
                          <a:ea typeface="Calibri" panose="020F0502020204030204" charset="0"/>
                          <a:cs typeface="Calibri" panose="020F0502020204030204" charset="0"/>
                        </a:rPr>
                        <a:t>w</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40000"/>
                        </a:lnSpc>
                        <a:buNone/>
                      </a:pPr>
                      <a:r>
                        <a:rPr lang="zh-CN" altLang="en-US" sz="1800" b="0" u="none" dirty="0">
                          <a:latin typeface="微软雅黑" panose="020B0503020204020204" charset="-122"/>
                          <a:ea typeface="微软雅黑" panose="020B0503020204020204" charset="-122"/>
                          <a:cs typeface="Calibri" panose="020F0502020204030204" charset="0"/>
                        </a:rPr>
                        <a:t>将光标向前移动一个字符（如果已到行首，就移动到上一行的行尾）</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41325">
                <a:tc>
                  <a:txBody>
                    <a:bodyPr/>
                    <a:lstStyle/>
                    <a:p>
                      <a:pPr marL="0" indent="0" algn="ctr">
                        <a:lnSpc>
                          <a:spcPct val="130000"/>
                        </a:lnSpc>
                        <a:buNone/>
                      </a:pPr>
                      <a:r>
                        <a:rPr lang="en-US" altLang="zh-CN" sz="2000" b="1" u="none" dirty="0">
                          <a:solidFill>
                            <a:srgbClr val="FF0000"/>
                          </a:solidFill>
                          <a:latin typeface="Times New Roman" panose="02020603050405020304" pitchFamily="18" charset="0"/>
                          <a:ea typeface="Calibri" panose="020F0502020204030204" charset="0"/>
                          <a:cs typeface="Calibri" panose="020F0502020204030204" charset="0"/>
                        </a:rPr>
                        <a:t>Backspace</a:t>
                      </a:r>
                      <a:r>
                        <a:rPr lang="zh-CN" altLang="en-US" sz="2000" b="1" u="none" dirty="0">
                          <a:solidFill>
                            <a:srgbClr val="FF0000"/>
                          </a:solidFill>
                          <a:latin typeface="Times New Roman" panose="02020603050405020304" pitchFamily="18" charset="0"/>
                          <a:ea typeface="Calibri" panose="020F0502020204030204" charset="0"/>
                          <a:cs typeface="Calibri" panose="020F0502020204030204" charset="0"/>
                        </a:rPr>
                        <a:t>（退格）键</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40000"/>
                        </a:lnSpc>
                        <a:buNone/>
                      </a:pPr>
                      <a:r>
                        <a:rPr lang="zh-CN" altLang="en-US" sz="1800" b="0" u="none" dirty="0">
                          <a:solidFill>
                            <a:srgbClr val="FF0000"/>
                          </a:solidFill>
                          <a:latin typeface="微软雅黑" panose="020B0503020204020204" charset="-122"/>
                          <a:ea typeface="微软雅黑" panose="020B0503020204020204" charset="-122"/>
                          <a:cs typeface="Calibri" panose="020F0502020204030204" charset="0"/>
                        </a:rPr>
                        <a:t>将光标向左移动一个字符</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6"/>
          <p:cNvSpPr>
            <a:spLocks noChangeArrowheads="1"/>
          </p:cNvSpPr>
          <p:nvPr/>
        </p:nvSpPr>
        <p:spPr bwMode="auto">
          <a:xfrm>
            <a:off x="1137285" y="1082040"/>
            <a:ext cx="416623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2．用命令移动光标</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aphicFrame>
        <p:nvGraphicFramePr>
          <p:cNvPr id="10" name="表格 9"/>
          <p:cNvGraphicFramePr/>
          <p:nvPr>
            <p:extLst>
              <p:ext uri="{D42A27DB-BD31-4B8C-83A1-F6EECF244321}">
                <p14:modId xmlns:p14="http://schemas.microsoft.com/office/powerpoint/2010/main" val="1140191696"/>
              </p:ext>
            </p:extLst>
          </p:nvPr>
        </p:nvGraphicFramePr>
        <p:xfrm>
          <a:off x="691515" y="1760220"/>
          <a:ext cx="10681970" cy="4114165"/>
        </p:xfrm>
        <a:graphic>
          <a:graphicData uri="http://schemas.openxmlformats.org/drawingml/2006/table">
            <a:tbl>
              <a:tblPr firstRow="1" bandRow="1">
                <a:tableStyleId>{5C22544A-7EE6-4342-B048-85BDC9FD1C3A}</a:tableStyleId>
              </a:tblPr>
              <a:tblGrid>
                <a:gridCol w="3185795">
                  <a:extLst>
                    <a:ext uri="{9D8B030D-6E8A-4147-A177-3AD203B41FA5}">
                      <a16:colId xmlns:a16="http://schemas.microsoft.com/office/drawing/2014/main" val="20000"/>
                    </a:ext>
                  </a:extLst>
                </a:gridCol>
                <a:gridCol w="7496175">
                  <a:extLst>
                    <a:ext uri="{9D8B030D-6E8A-4147-A177-3AD203B41FA5}">
                      <a16:colId xmlns:a16="http://schemas.microsoft.com/office/drawing/2014/main" val="20001"/>
                    </a:ext>
                  </a:extLst>
                </a:gridCol>
              </a:tblGrid>
              <a:tr h="862965">
                <a:tc>
                  <a:txBody>
                    <a:bodyPr/>
                    <a:lstStyle/>
                    <a:p>
                      <a:pPr algn="ctr">
                        <a:lnSpc>
                          <a:spcPct val="140000"/>
                        </a:lnSpc>
                        <a:buNone/>
                      </a:pPr>
                      <a:r>
                        <a:rPr lang="zh-CN" altLang="en-US" sz="2400" dirty="0">
                          <a:solidFill>
                            <a:schemeClr val="tx1"/>
                          </a:solidFill>
                          <a:latin typeface="微软雅黑" panose="020B0503020204020204" charset="-122"/>
                          <a:ea typeface="微软雅黑" panose="020B0503020204020204" charset="-122"/>
                        </a:rPr>
                        <a:t>命令</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lnSpc>
                          <a:spcPct val="130000"/>
                        </a:lnSpc>
                        <a:buNone/>
                      </a:pPr>
                      <a:r>
                        <a:rPr lang="zh-CN" altLang="en-US" sz="2400" dirty="0">
                          <a:solidFill>
                            <a:schemeClr val="tx1"/>
                          </a:solidFill>
                        </a:rPr>
                        <a:t>作用</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0"/>
                  </a:ext>
                </a:extLst>
              </a:tr>
              <a:tr h="678815">
                <a:tc>
                  <a:txBody>
                    <a:bodyPr/>
                    <a:lstStyle/>
                    <a:p>
                      <a:pPr marL="0" indent="0" algn="ctr">
                        <a:lnSpc>
                          <a:spcPct val="120000"/>
                        </a:lnSpc>
                        <a:buNone/>
                      </a:pPr>
                      <a:r>
                        <a:rPr lang="en-US" altLang="zh-CN" sz="2800" b="1" u="none" dirty="0" err="1">
                          <a:solidFill>
                            <a:srgbClr val="FF0000"/>
                          </a:solidFill>
                          <a:latin typeface="Times New Roman" panose="02020603050405020304" pitchFamily="18" charset="0"/>
                          <a:ea typeface="Calibri" panose="020F0502020204030204" charset="0"/>
                          <a:cs typeface="Calibri" panose="020F0502020204030204" charset="0"/>
                        </a:rPr>
                        <a:t>Shift+h</a:t>
                      </a:r>
                      <a:endParaRPr lang="en-US" altLang="zh-CN" sz="2800" b="1" u="none" dirty="0">
                        <a:solidFill>
                          <a:srgbClr val="FF0000"/>
                        </a:solidFill>
                        <a:latin typeface="Times New Roman" panose="02020603050405020304" pitchFamily="18" charset="0"/>
                        <a:ea typeface="Calibri" panose="020F0502020204030204" charset="0"/>
                        <a:cs typeface="Calibri" panose="020F0502020204030204" charset="0"/>
                      </a:endParaRP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70000"/>
                        </a:lnSpc>
                        <a:buNone/>
                      </a:pPr>
                      <a:r>
                        <a:rPr lang="zh-CN" altLang="en-US" sz="2000" b="0" u="none" dirty="0">
                          <a:solidFill>
                            <a:srgbClr val="FF0000"/>
                          </a:solidFill>
                          <a:latin typeface="微软雅黑" panose="020B0503020204020204" charset="-122"/>
                          <a:ea typeface="微软雅黑" panose="020B0503020204020204" charset="-122"/>
                          <a:cs typeface="Calibri" panose="020F0502020204030204" charset="0"/>
                        </a:rPr>
                        <a:t>将光标移动到本屏幕的第一行</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79450">
                <a:tc>
                  <a:txBody>
                    <a:bodyPr/>
                    <a:lstStyle/>
                    <a:p>
                      <a:pPr marL="0" indent="0" algn="ctr">
                        <a:lnSpc>
                          <a:spcPct val="120000"/>
                        </a:lnSpc>
                        <a:buNone/>
                      </a:pPr>
                      <a:r>
                        <a:rPr lang="en-US" altLang="zh-CN" sz="2800" b="1" u="none">
                          <a:solidFill>
                            <a:srgbClr val="0070C0"/>
                          </a:solidFill>
                          <a:latin typeface="Times New Roman" panose="02020603050405020304" pitchFamily="18" charset="0"/>
                          <a:ea typeface="Calibri" panose="020F0502020204030204" charset="0"/>
                          <a:cs typeface="Calibri" panose="020F0502020204030204" charset="0"/>
                        </a:rPr>
                        <a:t>Shift+m</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70000"/>
                        </a:lnSpc>
                        <a:buNone/>
                      </a:pPr>
                      <a:r>
                        <a:rPr lang="zh-CN" altLang="en-US" sz="2000" b="0" u="none" dirty="0">
                          <a:latin typeface="微软雅黑" panose="020B0503020204020204" charset="-122"/>
                          <a:ea typeface="微软雅黑" panose="020B0503020204020204" charset="-122"/>
                          <a:cs typeface="Calibri" panose="020F0502020204030204" charset="0"/>
                        </a:rPr>
                        <a:t>将光标移动到本屏幕上中间的一行</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31190">
                <a:tc>
                  <a:txBody>
                    <a:bodyPr/>
                    <a:lstStyle/>
                    <a:p>
                      <a:pPr marL="0" indent="0" algn="ctr">
                        <a:lnSpc>
                          <a:spcPct val="120000"/>
                        </a:lnSpc>
                        <a:buNone/>
                      </a:pPr>
                      <a:r>
                        <a:rPr lang="en-US" altLang="zh-CN" sz="2800" b="1" u="none" dirty="0" err="1">
                          <a:solidFill>
                            <a:srgbClr val="FF0000"/>
                          </a:solidFill>
                          <a:latin typeface="Times New Roman" panose="02020603050405020304" pitchFamily="18" charset="0"/>
                          <a:ea typeface="Calibri" panose="020F0502020204030204" charset="0"/>
                          <a:cs typeface="Calibri" panose="020F0502020204030204" charset="0"/>
                        </a:rPr>
                        <a:t>Shift+l</a:t>
                      </a:r>
                      <a:endParaRPr lang="en-US" altLang="zh-CN" sz="2800" b="1" u="none" dirty="0">
                        <a:solidFill>
                          <a:srgbClr val="FF0000"/>
                        </a:solidFill>
                        <a:latin typeface="Times New Roman" panose="02020603050405020304" pitchFamily="18" charset="0"/>
                        <a:ea typeface="Calibri" panose="020F0502020204030204" charset="0"/>
                        <a:cs typeface="Calibri" panose="020F0502020204030204" charset="0"/>
                      </a:endParaRP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70000"/>
                        </a:lnSpc>
                        <a:buNone/>
                      </a:pPr>
                      <a:r>
                        <a:rPr lang="zh-CN" altLang="en-US" sz="2000" b="0" u="none" dirty="0">
                          <a:solidFill>
                            <a:srgbClr val="FF0000"/>
                          </a:solidFill>
                          <a:latin typeface="微软雅黑" panose="020B0503020204020204" charset="-122"/>
                          <a:ea typeface="微软雅黑" panose="020B0503020204020204" charset="-122"/>
                          <a:cs typeface="Calibri" panose="020F0502020204030204" charset="0"/>
                        </a:rPr>
                        <a:t>将光标移动到本屏幕的后一行</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30555">
                <a:tc>
                  <a:txBody>
                    <a:bodyPr/>
                    <a:lstStyle/>
                    <a:p>
                      <a:pPr marL="0" indent="0" algn="ctr">
                        <a:lnSpc>
                          <a:spcPct val="120000"/>
                        </a:lnSpc>
                        <a:buNone/>
                      </a:pPr>
                      <a:r>
                        <a:rPr lang="en-US" altLang="zh-CN" sz="2800" b="1" u="none" dirty="0" err="1">
                          <a:solidFill>
                            <a:srgbClr val="FF0000"/>
                          </a:solidFill>
                          <a:latin typeface="Times New Roman" panose="02020603050405020304" pitchFamily="18" charset="0"/>
                          <a:ea typeface="Calibri" panose="020F0502020204030204" charset="0"/>
                          <a:cs typeface="Calibri" panose="020F0502020204030204" charset="0"/>
                        </a:rPr>
                        <a:t>Ctrl+b</a:t>
                      </a:r>
                      <a:endParaRPr lang="en-US" altLang="zh-CN" sz="2800" b="1" u="none" dirty="0">
                        <a:solidFill>
                          <a:srgbClr val="FF0000"/>
                        </a:solidFill>
                        <a:latin typeface="Times New Roman" panose="02020603050405020304" pitchFamily="18" charset="0"/>
                        <a:ea typeface="Calibri" panose="020F0502020204030204" charset="0"/>
                        <a:cs typeface="Calibri" panose="020F0502020204030204" charset="0"/>
                      </a:endParaRP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70000"/>
                        </a:lnSpc>
                        <a:buNone/>
                      </a:pPr>
                      <a:r>
                        <a:rPr lang="zh-CN" altLang="en-US" sz="2000" b="0" u="none" dirty="0">
                          <a:solidFill>
                            <a:srgbClr val="FF0000"/>
                          </a:solidFill>
                          <a:latin typeface="微软雅黑" panose="020B0503020204020204" charset="-122"/>
                          <a:ea typeface="微软雅黑" panose="020B0503020204020204" charset="-122"/>
                          <a:cs typeface="Calibri" panose="020F0502020204030204" charset="0"/>
                        </a:rPr>
                        <a:t>向下移动一屏</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31190">
                <a:tc>
                  <a:txBody>
                    <a:bodyPr/>
                    <a:lstStyle/>
                    <a:p>
                      <a:pPr marL="0" indent="0" algn="ctr">
                        <a:lnSpc>
                          <a:spcPct val="120000"/>
                        </a:lnSpc>
                        <a:buNone/>
                      </a:pPr>
                      <a:r>
                        <a:rPr lang="en-US" altLang="zh-CN" sz="2800" b="1" u="none">
                          <a:solidFill>
                            <a:srgbClr val="FF0000"/>
                          </a:solidFill>
                          <a:latin typeface="Times New Roman" panose="02020603050405020304" pitchFamily="18" charset="0"/>
                          <a:ea typeface="Calibri" panose="020F0502020204030204" charset="0"/>
                          <a:cs typeface="Calibri" panose="020F0502020204030204" charset="0"/>
                        </a:rPr>
                        <a:t>Ctrl+f</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70000"/>
                        </a:lnSpc>
                        <a:buNone/>
                      </a:pPr>
                      <a:r>
                        <a:rPr lang="zh-CN" altLang="en-US" sz="2000" b="0" u="none" dirty="0">
                          <a:solidFill>
                            <a:srgbClr val="FF0000"/>
                          </a:solidFill>
                          <a:latin typeface="微软雅黑" panose="020B0503020204020204" charset="-122"/>
                          <a:ea typeface="微软雅黑" panose="020B0503020204020204" charset="-122"/>
                          <a:cs typeface="Calibri" panose="020F0502020204030204" charset="0"/>
                        </a:rPr>
                        <a:t>向上移动一屏</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AutoShape 3"/>
          <p:cNvSpPr>
            <a:spLocks noChangeArrowheads="1"/>
          </p:cNvSpPr>
          <p:nvPr/>
        </p:nvSpPr>
        <p:spPr bwMode="auto">
          <a:xfrm>
            <a:off x="1555115" y="1776730"/>
            <a:ext cx="9341485" cy="4612005"/>
          </a:xfrm>
          <a:prstGeom prst="roundRect">
            <a:avLst>
              <a:gd name="adj" fmla="val 2773"/>
            </a:avLst>
          </a:prstGeom>
          <a:noFill/>
          <a:ln w="3175">
            <a:solidFill>
              <a:srgbClr val="333333"/>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6148" name="AutoShape 4"/>
          <p:cNvSpPr>
            <a:spLocks noChangeArrowheads="1"/>
          </p:cNvSpPr>
          <p:nvPr/>
        </p:nvSpPr>
        <p:spPr bwMode="auto">
          <a:xfrm>
            <a:off x="5062855" y="1310005"/>
            <a:ext cx="2147570" cy="869315"/>
          </a:xfrm>
          <a:prstGeom prst="roundRect">
            <a:avLst>
              <a:gd name="adj" fmla="val 15657"/>
            </a:avLst>
          </a:prstGeom>
          <a:solidFill>
            <a:schemeClr val="bg1"/>
          </a:solidFill>
          <a:ln w="3175">
            <a:solidFill>
              <a:srgbClr val="333333">
                <a:alpha val="56862"/>
              </a:srgbClr>
            </a:solidFill>
            <a:round/>
          </a:ln>
        </p:spPr>
        <p:txBody>
          <a:bodyPr wrap="none" anchor="ctr"/>
          <a:lstStyle/>
          <a:p>
            <a:pPr algn="ctr">
              <a:spcBef>
                <a:spcPct val="50000"/>
              </a:spcBef>
              <a:buFont typeface="Arial" panose="020B0604020202020204" pitchFamily="34" charset="0"/>
              <a:buNone/>
            </a:pPr>
            <a:r>
              <a:rPr lang="zh-CN" altLang="en-US" sz="3200" b="1">
                <a:latin typeface="微软雅黑" panose="020B0503020204020204" charset="-122"/>
                <a:ea typeface="微软雅黑" panose="020B0503020204020204" charset="-122"/>
              </a:rPr>
              <a:t>本章要点</a:t>
            </a:r>
          </a:p>
        </p:txBody>
      </p:sp>
      <p:sp>
        <p:nvSpPr>
          <p:cNvPr id="3" name="标题 1"/>
          <p:cNvSpPr>
            <a:spLocks noGrp="1"/>
          </p:cNvSpPr>
          <p:nvPr/>
        </p:nvSpPr>
        <p:spPr>
          <a:xfrm>
            <a:off x="3462655" y="310515"/>
            <a:ext cx="1133475" cy="561975"/>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defRPr>
            </a:lvl1pPr>
          </a:lstStyle>
          <a:p>
            <a:pPr fontAlgn="auto">
              <a:buFont typeface="Arial" panose="020B0604020202020204" pitchFamily="34" charset="0"/>
              <a:buNone/>
              <a:defRPr/>
            </a:pPr>
            <a:r>
              <a:rPr lang="zh-CN" altLang="en-US" noProof="1">
                <a:cs typeface="+mn-cs"/>
              </a:rPr>
              <a:t>目录</a:t>
            </a:r>
            <a:endParaRPr lang="zh-CN" altLang="en-US" noProof="1"/>
          </a:p>
        </p:txBody>
      </p:sp>
      <p:grpSp>
        <p:nvGrpSpPr>
          <p:cNvPr id="10" name="Group 5"/>
          <p:cNvGrpSpPr/>
          <p:nvPr/>
        </p:nvGrpSpPr>
        <p:grpSpPr bwMode="auto">
          <a:xfrm>
            <a:off x="6588125" y="5144770"/>
            <a:ext cx="3764280" cy="481330"/>
            <a:chOff x="3" y="0"/>
            <a:chExt cx="4243" cy="333"/>
          </a:xfrm>
        </p:grpSpPr>
        <p:grpSp>
          <p:nvGrpSpPr>
            <p:cNvPr id="11" name="Group 6"/>
            <p:cNvGrpSpPr/>
            <p:nvPr/>
          </p:nvGrpSpPr>
          <p:grpSpPr bwMode="auto">
            <a:xfrm>
              <a:off x="3" y="0"/>
              <a:ext cx="4243" cy="333"/>
              <a:chOff x="0" y="0"/>
              <a:chExt cx="4243" cy="333"/>
            </a:xfrm>
          </p:grpSpPr>
          <p:sp>
            <p:nvSpPr>
              <p:cNvPr id="1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4.8  ex命令</a:t>
              </a:r>
            </a:p>
          </p:txBody>
        </p:sp>
      </p:grpSp>
      <p:grpSp>
        <p:nvGrpSpPr>
          <p:cNvPr id="15" name="Group 5"/>
          <p:cNvGrpSpPr/>
          <p:nvPr/>
        </p:nvGrpSpPr>
        <p:grpSpPr bwMode="auto">
          <a:xfrm>
            <a:off x="6569075" y="4255135"/>
            <a:ext cx="3794760" cy="481330"/>
            <a:chOff x="3" y="0"/>
            <a:chExt cx="4243" cy="333"/>
          </a:xfrm>
        </p:grpSpPr>
        <p:grpSp>
          <p:nvGrpSpPr>
            <p:cNvPr id="16" name="Group 6"/>
            <p:cNvGrpSpPr/>
            <p:nvPr/>
          </p:nvGrpSpPr>
          <p:grpSpPr bwMode="auto">
            <a:xfrm>
              <a:off x="3" y="0"/>
              <a:ext cx="4243" cy="333"/>
              <a:chOff x="0" y="0"/>
              <a:chExt cx="4243" cy="333"/>
            </a:xfrm>
          </p:grpSpPr>
          <p:sp>
            <p:nvSpPr>
              <p:cNvPr id="17" name="AutoShape 7"/>
              <p:cNvSpPr>
                <a:spLocks noChangeArrowheads="1"/>
              </p:cNvSpPr>
              <p:nvPr/>
            </p:nvSpPr>
            <p:spPr bwMode="auto">
              <a:xfrm>
                <a:off x="0" y="0"/>
                <a:ext cx="4243" cy="333"/>
              </a:xfrm>
              <a:prstGeom prst="roundRect">
                <a:avLst>
                  <a:gd name="adj" fmla="val 15657"/>
                </a:avLst>
              </a:prstGeom>
              <a:solidFill>
                <a:srgbClr val="00B0F0"/>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tx1"/>
                  </a:solidFill>
                  <a:latin typeface="微软雅黑" panose="020B0503020204020204" charset="-122"/>
                  <a:ea typeface="微软雅黑" panose="020B0503020204020204" charset="-122"/>
                  <a:sym typeface="Arial Unicode MS" panose="020B0604020202020204" pitchFamily="34" charset="-122"/>
                </a:rPr>
                <a:t>4.7  文本修改</a:t>
              </a:r>
            </a:p>
          </p:txBody>
        </p:sp>
      </p:grpSp>
      <p:grpSp>
        <p:nvGrpSpPr>
          <p:cNvPr id="20" name="Group 5"/>
          <p:cNvGrpSpPr/>
          <p:nvPr/>
        </p:nvGrpSpPr>
        <p:grpSpPr bwMode="auto">
          <a:xfrm>
            <a:off x="2021205" y="2421255"/>
            <a:ext cx="4041140" cy="481330"/>
            <a:chOff x="3" y="0"/>
            <a:chExt cx="4243" cy="333"/>
          </a:xfrm>
        </p:grpSpPr>
        <p:grpSp>
          <p:nvGrpSpPr>
            <p:cNvPr id="21" name="Group 6"/>
            <p:cNvGrpSpPr/>
            <p:nvPr/>
          </p:nvGrpSpPr>
          <p:grpSpPr bwMode="auto">
            <a:xfrm>
              <a:off x="3" y="0"/>
              <a:ext cx="4243" cy="333"/>
              <a:chOff x="0" y="0"/>
              <a:chExt cx="4243" cy="333"/>
            </a:xfrm>
          </p:grpSpPr>
          <p:sp>
            <p:nvSpPr>
              <p:cNvPr id="2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4.1  vi的工作方式</a:t>
              </a:r>
            </a:p>
          </p:txBody>
        </p:sp>
      </p:grpSp>
      <p:grpSp>
        <p:nvGrpSpPr>
          <p:cNvPr id="25" name="Group 5"/>
          <p:cNvGrpSpPr/>
          <p:nvPr/>
        </p:nvGrpSpPr>
        <p:grpSpPr bwMode="auto">
          <a:xfrm>
            <a:off x="1986280" y="3320415"/>
            <a:ext cx="4091940" cy="481330"/>
            <a:chOff x="3" y="0"/>
            <a:chExt cx="4243" cy="333"/>
          </a:xfrm>
        </p:grpSpPr>
        <p:grpSp>
          <p:nvGrpSpPr>
            <p:cNvPr id="26" name="Group 6"/>
            <p:cNvGrpSpPr/>
            <p:nvPr/>
          </p:nvGrpSpPr>
          <p:grpSpPr bwMode="auto">
            <a:xfrm>
              <a:off x="3" y="0"/>
              <a:ext cx="4243" cy="333"/>
              <a:chOff x="0" y="0"/>
              <a:chExt cx="4243" cy="333"/>
            </a:xfrm>
          </p:grpSpPr>
          <p:sp>
            <p:nvSpPr>
              <p:cNvPr id="2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4.2  vi的启动和退出</a:t>
              </a:r>
            </a:p>
          </p:txBody>
        </p:sp>
      </p:grpSp>
      <p:grpSp>
        <p:nvGrpSpPr>
          <p:cNvPr id="30" name="Group 5"/>
          <p:cNvGrpSpPr/>
          <p:nvPr/>
        </p:nvGrpSpPr>
        <p:grpSpPr bwMode="auto">
          <a:xfrm>
            <a:off x="2034540" y="4241165"/>
            <a:ext cx="4074160" cy="481330"/>
            <a:chOff x="3" y="0"/>
            <a:chExt cx="4243" cy="333"/>
          </a:xfrm>
        </p:grpSpPr>
        <p:grpSp>
          <p:nvGrpSpPr>
            <p:cNvPr id="31" name="Group 6"/>
            <p:cNvGrpSpPr/>
            <p:nvPr/>
          </p:nvGrpSpPr>
          <p:grpSpPr bwMode="auto">
            <a:xfrm>
              <a:off x="3" y="0"/>
              <a:ext cx="4243" cy="333"/>
              <a:chOff x="0" y="0"/>
              <a:chExt cx="4243" cy="333"/>
            </a:xfrm>
          </p:grpSpPr>
          <p:sp>
            <p:nvSpPr>
              <p:cNvPr id="3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4.3  文本输入</a:t>
              </a:r>
            </a:p>
          </p:txBody>
        </p:sp>
      </p:grpSp>
      <p:grpSp>
        <p:nvGrpSpPr>
          <p:cNvPr id="35" name="Group 5"/>
          <p:cNvGrpSpPr/>
          <p:nvPr/>
        </p:nvGrpSpPr>
        <p:grpSpPr bwMode="auto">
          <a:xfrm>
            <a:off x="2046605" y="5113020"/>
            <a:ext cx="4037330" cy="481330"/>
            <a:chOff x="3" y="0"/>
            <a:chExt cx="4243" cy="333"/>
          </a:xfrm>
        </p:grpSpPr>
        <p:grpSp>
          <p:nvGrpSpPr>
            <p:cNvPr id="36" name="Group 6"/>
            <p:cNvGrpSpPr/>
            <p:nvPr/>
          </p:nvGrpSpPr>
          <p:grpSpPr bwMode="auto">
            <a:xfrm>
              <a:off x="3" y="0"/>
              <a:ext cx="4243" cy="333"/>
              <a:chOff x="0" y="0"/>
              <a:chExt cx="4243" cy="333"/>
            </a:xfrm>
          </p:grpSpPr>
          <p:sp>
            <p:nvSpPr>
              <p:cNvPr id="3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9" name="Text Box 9"/>
            <p:cNvSpPr txBox="1">
              <a:spLocks noChangeArrowheads="1"/>
            </p:cNvSpPr>
            <p:nvPr/>
          </p:nvSpPr>
          <p:spPr bwMode="auto">
            <a:xfrm>
              <a:off x="879" y="34"/>
              <a:ext cx="3004"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4.4  打开文件</a:t>
              </a:r>
            </a:p>
          </p:txBody>
        </p:sp>
      </p:grpSp>
      <p:grpSp>
        <p:nvGrpSpPr>
          <p:cNvPr id="40" name="Group 5"/>
          <p:cNvGrpSpPr/>
          <p:nvPr/>
        </p:nvGrpSpPr>
        <p:grpSpPr bwMode="auto">
          <a:xfrm>
            <a:off x="6516370" y="2437130"/>
            <a:ext cx="3808095" cy="481330"/>
            <a:chOff x="3" y="0"/>
            <a:chExt cx="4243" cy="333"/>
          </a:xfrm>
        </p:grpSpPr>
        <p:grpSp>
          <p:nvGrpSpPr>
            <p:cNvPr id="41" name="Group 6"/>
            <p:cNvGrpSpPr/>
            <p:nvPr/>
          </p:nvGrpSpPr>
          <p:grpSpPr bwMode="auto">
            <a:xfrm>
              <a:off x="3" y="0"/>
              <a:ext cx="4243" cy="333"/>
              <a:chOff x="0" y="0"/>
              <a:chExt cx="4243" cy="333"/>
            </a:xfrm>
          </p:grpSpPr>
          <p:sp>
            <p:nvSpPr>
              <p:cNvPr id="4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4.5  保存文件</a:t>
              </a:r>
            </a:p>
          </p:txBody>
        </p:sp>
      </p:grpSp>
      <p:grpSp>
        <p:nvGrpSpPr>
          <p:cNvPr id="45" name="Group 5"/>
          <p:cNvGrpSpPr/>
          <p:nvPr/>
        </p:nvGrpSpPr>
        <p:grpSpPr bwMode="auto">
          <a:xfrm>
            <a:off x="6548120" y="3333750"/>
            <a:ext cx="3775710" cy="481330"/>
            <a:chOff x="3" y="0"/>
            <a:chExt cx="4243" cy="333"/>
          </a:xfrm>
        </p:grpSpPr>
        <p:grpSp>
          <p:nvGrpSpPr>
            <p:cNvPr id="46" name="Group 6"/>
            <p:cNvGrpSpPr/>
            <p:nvPr/>
          </p:nvGrpSpPr>
          <p:grpSpPr bwMode="auto">
            <a:xfrm>
              <a:off x="3" y="0"/>
              <a:ext cx="4243" cy="333"/>
              <a:chOff x="0" y="0"/>
              <a:chExt cx="4243" cy="333"/>
            </a:xfrm>
          </p:grpSpPr>
          <p:sp>
            <p:nvSpPr>
              <p:cNvPr id="4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4.6  移动光标</a:t>
              </a:r>
            </a:p>
          </p:txBody>
        </p:sp>
      </p:grpSp>
    </p:spTree>
  </p:cSld>
  <p:clrMapOvr>
    <a:masterClrMapping/>
  </p:clrMapOvr>
  <p:transition>
    <p:randomBa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934511" y="1939005"/>
            <a:ext cx="10355529" cy="4340497"/>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grpSp>
        <p:nvGrpSpPr>
          <p:cNvPr id="4" name="组合 3"/>
          <p:cNvGrpSpPr/>
          <p:nvPr/>
        </p:nvGrpSpPr>
        <p:grpSpPr>
          <a:xfrm>
            <a:off x="1017062" y="1177640"/>
            <a:ext cx="4275455" cy="529590"/>
            <a:chOff x="6818" y="1737"/>
            <a:chExt cx="6733" cy="834"/>
          </a:xfrm>
        </p:grpSpPr>
        <p:sp>
          <p:nvSpPr>
            <p:cNvPr id="22" name="矩形 6"/>
            <p:cNvSpPr>
              <a:spLocks noChangeArrowheads="1"/>
            </p:cNvSpPr>
            <p:nvPr/>
          </p:nvSpPr>
          <p:spPr bwMode="auto">
            <a:xfrm>
              <a:off x="7329" y="1737"/>
              <a:ext cx="6222"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dirty="0">
                  <a:solidFill>
                    <a:srgbClr val="0066FF"/>
                  </a:solidFill>
                  <a:latin typeface="微软雅黑" panose="020B0503020204020204" charset="-122"/>
                  <a:ea typeface="微软雅黑" panose="020B0503020204020204" charset="-122"/>
                </a:rPr>
                <a:t>4.7.1  删除与替换</a:t>
              </a:r>
            </a:p>
          </p:txBody>
        </p:sp>
        <p:sp>
          <p:nvSpPr>
            <p:cNvPr id="23" name="椭圆 22"/>
            <p:cNvSpPr/>
            <p:nvPr/>
          </p:nvSpPr>
          <p:spPr bwMode="auto">
            <a:xfrm>
              <a:off x="6818" y="1919"/>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sp>
        <p:nvSpPr>
          <p:cNvPr id="46" name="Text Box 44"/>
          <p:cNvSpPr txBox="1">
            <a:spLocks noChangeArrowheads="1"/>
          </p:cNvSpPr>
          <p:nvPr/>
        </p:nvSpPr>
        <p:spPr bwMode="auto">
          <a:xfrm>
            <a:off x="1492132" y="2915946"/>
            <a:ext cx="8426308" cy="3194721"/>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400" dirty="0">
                <a:solidFill>
                  <a:schemeClr val="tx1">
                    <a:lumMod val="85000"/>
                    <a:lumOff val="15000"/>
                  </a:schemeClr>
                </a:solidFill>
              </a:rPr>
              <a:t>在输入模式下，可以用</a:t>
            </a:r>
            <a:r>
              <a:rPr lang="zh-CN" altLang="en-US" sz="2400" b="1" dirty="0">
                <a:solidFill>
                  <a:srgbClr val="0070C0"/>
                </a:solidFill>
              </a:rPr>
              <a:t>【Backspace】键</a:t>
            </a:r>
            <a:r>
              <a:rPr lang="zh-CN" altLang="en-US" sz="2400" dirty="0">
                <a:solidFill>
                  <a:schemeClr val="tx1">
                    <a:lumMod val="85000"/>
                    <a:lumOff val="15000"/>
                  </a:schemeClr>
                </a:solidFill>
              </a:rPr>
              <a:t>来删除前面的字符，还可以用</a:t>
            </a:r>
            <a:r>
              <a:rPr lang="zh-CN" altLang="en-US" sz="2400" b="1" dirty="0">
                <a:solidFill>
                  <a:srgbClr val="0070C0"/>
                </a:solidFill>
              </a:rPr>
              <a:t>【Delete】键</a:t>
            </a:r>
            <a:r>
              <a:rPr lang="zh-CN" altLang="en-US" sz="2400" dirty="0">
                <a:solidFill>
                  <a:schemeClr val="tx1">
                    <a:lumMod val="85000"/>
                    <a:lumOff val="15000"/>
                  </a:schemeClr>
                </a:solidFill>
              </a:rPr>
              <a:t>来删除当前的字符。</a:t>
            </a:r>
          </a:p>
          <a:p>
            <a:pPr eaLnBrk="1" latinLnBrk="0" hangingPunct="1">
              <a:lnSpc>
                <a:spcPct val="140000"/>
              </a:lnSpc>
            </a:pPr>
            <a:r>
              <a:rPr lang="zh-CN" altLang="en-US" sz="2400" dirty="0">
                <a:solidFill>
                  <a:schemeClr val="tx1">
                    <a:lumMod val="85000"/>
                    <a:lumOff val="15000"/>
                  </a:schemeClr>
                </a:solidFill>
              </a:rPr>
              <a:t>如果要删除一行，则只靠上面说的两个键显然是不够的。按n次</a:t>
            </a:r>
            <a:r>
              <a:rPr lang="zh-CN" altLang="en-US" sz="2400" b="1" dirty="0">
                <a:solidFill>
                  <a:srgbClr val="0070C0"/>
                </a:solidFill>
              </a:rPr>
              <a:t>“退格”键</a:t>
            </a:r>
            <a:r>
              <a:rPr lang="zh-CN" altLang="en-US" sz="2400" dirty="0">
                <a:solidFill>
                  <a:schemeClr val="tx1">
                    <a:lumMod val="85000"/>
                    <a:lumOff val="15000"/>
                  </a:schemeClr>
                </a:solidFill>
              </a:rPr>
              <a:t>来删除一行的文字，显然是太累了。在vi的命令模式下还提供了几个命令来删除一个字符、一个单词或进行整行删除。</a:t>
            </a:r>
          </a:p>
        </p:txBody>
      </p:sp>
      <p:grpSp>
        <p:nvGrpSpPr>
          <p:cNvPr id="13" name="组合 12"/>
          <p:cNvGrpSpPr/>
          <p:nvPr/>
        </p:nvGrpSpPr>
        <p:grpSpPr>
          <a:xfrm>
            <a:off x="1017062" y="1814545"/>
            <a:ext cx="2226945" cy="483235"/>
            <a:chOff x="6668135" y="2011871"/>
            <a:chExt cx="2401570" cy="628205"/>
          </a:xfrm>
        </p:grpSpPr>
        <p:sp>
          <p:nvSpPr>
            <p:cNvPr id="6" name="圆角矩形 5"/>
            <p:cNvSpPr/>
            <p:nvPr/>
          </p:nvSpPr>
          <p:spPr>
            <a:xfrm>
              <a:off x="6668135" y="2035810"/>
              <a:ext cx="2401570" cy="553085"/>
            </a:xfrm>
            <a:prstGeom prst="roundRect">
              <a:avLst/>
            </a:prstGeom>
            <a:solidFill>
              <a:srgbClr val="00B0F0"/>
            </a:solidFill>
            <a:ln w="9525" cap="flat" cmpd="sng" algn="ctr">
              <a:solidFill>
                <a:srgbClr val="0070C0"/>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sp>
          <p:nvSpPr>
            <p:cNvPr id="40" name="TextBox 1"/>
            <p:cNvSpPr txBox="1">
              <a:spLocks noChangeArrowheads="1"/>
            </p:cNvSpPr>
            <p:nvPr/>
          </p:nvSpPr>
          <p:spPr bwMode="auto">
            <a:xfrm>
              <a:off x="7174197" y="2011871"/>
              <a:ext cx="1895508" cy="628205"/>
            </a:xfrm>
            <a:prstGeom prst="rect">
              <a:avLst/>
            </a:prstGeom>
            <a:noFill/>
            <a:ln w="9525">
              <a:noFill/>
              <a:miter lim="800000"/>
            </a:ln>
          </p:spPr>
          <p:txBody>
            <a:bodyPr wrap="square">
              <a:spAutoFit/>
            </a:bodyPr>
            <a:lstStyle/>
            <a:p>
              <a:pPr>
                <a:buFont typeface="Arial" panose="020B0604020202020204" pitchFamily="34" charset="0"/>
                <a:buNone/>
              </a:pPr>
              <a:r>
                <a:rPr lang="zh-CN" altLang="en-US" sz="2400" dirty="0">
                  <a:latin typeface="微软雅黑" panose="020B0503020204020204" charset="-122"/>
                  <a:ea typeface="微软雅黑" panose="020B0503020204020204" charset="-122"/>
                </a:rPr>
                <a:t>1．删除</a:t>
              </a:r>
            </a:p>
          </p:txBody>
        </p:sp>
        <p:grpSp>
          <p:nvGrpSpPr>
            <p:cNvPr id="7" name="组合 36"/>
            <p:cNvGrpSpPr/>
            <p:nvPr/>
          </p:nvGrpSpPr>
          <p:grpSpPr bwMode="auto">
            <a:xfrm>
              <a:off x="6812280" y="2138680"/>
              <a:ext cx="361950" cy="347663"/>
              <a:chOff x="7070971" y="788848"/>
              <a:chExt cx="1800200" cy="1800200"/>
            </a:xfrm>
          </p:grpSpPr>
          <p:sp>
            <p:nvSpPr>
              <p:cNvPr id="8" name="椭圆 7"/>
              <p:cNvSpPr/>
              <p:nvPr/>
            </p:nvSpPr>
            <p:spPr>
              <a:xfrm>
                <a:off x="7070971" y="788848"/>
                <a:ext cx="1800200" cy="1800200"/>
              </a:xfrm>
              <a:prstGeom prst="ellipse">
                <a:avLst/>
              </a:prstGeom>
              <a:solidFill>
                <a:srgbClr val="FFFFFF">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9" name="燕尾形 8"/>
              <p:cNvSpPr/>
              <p:nvPr/>
            </p:nvSpPr>
            <p:spPr>
              <a:xfrm>
                <a:off x="7576290" y="1166972"/>
                <a:ext cx="789561" cy="1043953"/>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solidFill>
                    <a:schemeClr val="tx1"/>
                  </a:solidFill>
                </a:endParaRPr>
              </a:p>
            </p:txBody>
          </p:sp>
        </p:grpSp>
      </p:grpSp>
      <p:pic>
        <p:nvPicPr>
          <p:cNvPr id="3" name="图片 2" descr="timg"/>
          <p:cNvPicPr>
            <a:picLocks noChangeAspect="1"/>
          </p:cNvPicPr>
          <p:nvPr/>
        </p:nvPicPr>
        <p:blipFill>
          <a:blip r:embed="rId2" cstate="print"/>
          <a:stretch>
            <a:fillRect/>
          </a:stretch>
        </p:blipFill>
        <p:spPr>
          <a:xfrm>
            <a:off x="9327787" y="1504211"/>
            <a:ext cx="1720850" cy="142684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1000"/>
                            </p:stCondLst>
                            <p:childTnLst>
                              <p:par>
                                <p:cTn id="13" presetID="2" presetClass="entr" presetSubtype="8"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0-#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wipe(left)">
                                      <p:cBhvr>
                                        <p:cTn id="20"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98475" y="1684020"/>
            <a:ext cx="11194415" cy="48044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416623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4.7.1  删除与替换</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sp>
        <p:nvSpPr>
          <p:cNvPr id="11" name="Text Box 44"/>
          <p:cNvSpPr txBox="1">
            <a:spLocks noChangeArrowheads="1"/>
          </p:cNvSpPr>
          <p:nvPr/>
        </p:nvSpPr>
        <p:spPr bwMode="auto">
          <a:xfrm>
            <a:off x="691515" y="1844040"/>
            <a:ext cx="10391140" cy="51816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b="1" dirty="0">
                <a:solidFill>
                  <a:schemeClr val="tx1">
                    <a:lumMod val="75000"/>
                    <a:lumOff val="25000"/>
                  </a:schemeClr>
                </a:solidFill>
              </a:rPr>
              <a:t>常用的删除命令如表4-2所示。</a:t>
            </a:r>
          </a:p>
        </p:txBody>
      </p:sp>
      <p:graphicFrame>
        <p:nvGraphicFramePr>
          <p:cNvPr id="10" name="表格 9"/>
          <p:cNvGraphicFramePr/>
          <p:nvPr>
            <p:extLst>
              <p:ext uri="{D42A27DB-BD31-4B8C-83A1-F6EECF244321}">
                <p14:modId xmlns:p14="http://schemas.microsoft.com/office/powerpoint/2010/main" val="4174314331"/>
              </p:ext>
            </p:extLst>
          </p:nvPr>
        </p:nvGraphicFramePr>
        <p:xfrm>
          <a:off x="691515" y="3251835"/>
          <a:ext cx="10777220" cy="2990215"/>
        </p:xfrm>
        <a:graphic>
          <a:graphicData uri="http://schemas.openxmlformats.org/drawingml/2006/table">
            <a:tbl>
              <a:tblPr firstRow="1" bandRow="1">
                <a:tableStyleId>{5C22544A-7EE6-4342-B048-85BDC9FD1C3A}</a:tableStyleId>
              </a:tblPr>
              <a:tblGrid>
                <a:gridCol w="2760980">
                  <a:extLst>
                    <a:ext uri="{9D8B030D-6E8A-4147-A177-3AD203B41FA5}">
                      <a16:colId xmlns:a16="http://schemas.microsoft.com/office/drawing/2014/main" val="20000"/>
                    </a:ext>
                  </a:extLst>
                </a:gridCol>
                <a:gridCol w="8016240">
                  <a:extLst>
                    <a:ext uri="{9D8B030D-6E8A-4147-A177-3AD203B41FA5}">
                      <a16:colId xmlns:a16="http://schemas.microsoft.com/office/drawing/2014/main" val="20001"/>
                    </a:ext>
                  </a:extLst>
                </a:gridCol>
              </a:tblGrid>
              <a:tr h="741045">
                <a:tc>
                  <a:txBody>
                    <a:bodyPr/>
                    <a:lstStyle/>
                    <a:p>
                      <a:pPr algn="ctr">
                        <a:lnSpc>
                          <a:spcPct val="140000"/>
                        </a:lnSpc>
                        <a:buNone/>
                      </a:pPr>
                      <a:r>
                        <a:rPr lang="zh-CN" altLang="en-US" sz="2400" dirty="0">
                          <a:solidFill>
                            <a:schemeClr val="tx1"/>
                          </a:solidFill>
                          <a:latin typeface="微软雅黑" panose="020B0503020204020204" charset="-122"/>
                          <a:ea typeface="微软雅黑" panose="020B0503020204020204" charset="-122"/>
                        </a:rPr>
                        <a:t>命令</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lnSpc>
                          <a:spcPct val="130000"/>
                        </a:lnSpc>
                        <a:buNone/>
                      </a:pPr>
                      <a:r>
                        <a:rPr lang="zh-CN" altLang="en-US" sz="2400" dirty="0">
                          <a:solidFill>
                            <a:schemeClr val="tx1"/>
                          </a:solidFill>
                        </a:rPr>
                        <a:t>作用</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0"/>
                  </a:ext>
                </a:extLst>
              </a:tr>
              <a:tr h="582295">
                <a:tc>
                  <a:txBody>
                    <a:bodyPr/>
                    <a:lstStyle/>
                    <a:p>
                      <a:pPr marL="0" indent="0" algn="ctr">
                        <a:lnSpc>
                          <a:spcPct val="120000"/>
                        </a:lnSpc>
                        <a:buNone/>
                      </a:pPr>
                      <a:r>
                        <a:rPr lang="en-US" altLang="zh-CN" sz="2400" b="1" u="none" dirty="0">
                          <a:solidFill>
                            <a:srgbClr val="FF0000"/>
                          </a:solidFill>
                          <a:latin typeface="Times New Roman" panose="02020603050405020304" pitchFamily="18" charset="0"/>
                          <a:ea typeface="Calibri" panose="020F0502020204030204" charset="0"/>
                          <a:cs typeface="Calibri" panose="020F0502020204030204" charset="0"/>
                        </a:rPr>
                        <a:t>x</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40000"/>
                        </a:lnSpc>
                        <a:buNone/>
                      </a:pPr>
                      <a:r>
                        <a:rPr lang="zh-CN" altLang="en-US" sz="2000" b="0" u="none">
                          <a:latin typeface="微软雅黑" panose="020B0503020204020204" charset="-122"/>
                          <a:ea typeface="微软雅黑" panose="020B0503020204020204" charset="-122"/>
                          <a:cs typeface="Calibri" panose="020F0502020204030204" charset="0"/>
                        </a:rPr>
                        <a:t>删除当前光标所在的字符</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83565">
                <a:tc>
                  <a:txBody>
                    <a:bodyPr/>
                    <a:lstStyle/>
                    <a:p>
                      <a:pPr marL="0" indent="0" algn="ctr">
                        <a:lnSpc>
                          <a:spcPct val="120000"/>
                        </a:lnSpc>
                        <a:buNone/>
                      </a:pPr>
                      <a:r>
                        <a:rPr lang="en-US" altLang="zh-CN" sz="2400" b="1" u="none">
                          <a:solidFill>
                            <a:srgbClr val="0070C0"/>
                          </a:solidFill>
                          <a:latin typeface="Times New Roman" panose="02020603050405020304" pitchFamily="18" charset="0"/>
                          <a:ea typeface="Calibri" panose="020F0502020204030204" charset="0"/>
                          <a:cs typeface="Calibri" panose="020F0502020204030204" charset="0"/>
                        </a:rPr>
                        <a:t>d w</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40000"/>
                        </a:lnSpc>
                        <a:buNone/>
                      </a:pPr>
                      <a:r>
                        <a:rPr lang="zh-CN" altLang="en-US" sz="2000" b="0" u="none">
                          <a:latin typeface="微软雅黑" panose="020B0503020204020204" charset="-122"/>
                          <a:ea typeface="微软雅黑" panose="020B0503020204020204" charset="-122"/>
                          <a:cs typeface="Calibri" panose="020F0502020204030204" charset="0"/>
                        </a:rPr>
                        <a:t>删除当前光标所在单词字符至下一个单词开始的几个字符</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41655">
                <a:tc>
                  <a:txBody>
                    <a:bodyPr/>
                    <a:lstStyle/>
                    <a:p>
                      <a:pPr marL="0" indent="0" algn="ctr">
                        <a:lnSpc>
                          <a:spcPct val="120000"/>
                        </a:lnSpc>
                        <a:buNone/>
                      </a:pPr>
                      <a:r>
                        <a:rPr lang="en-US" altLang="zh-CN" sz="2400" b="1" u="none" dirty="0">
                          <a:solidFill>
                            <a:srgbClr val="FF0000"/>
                          </a:solidFill>
                          <a:latin typeface="Times New Roman" panose="02020603050405020304" pitchFamily="18" charset="0"/>
                          <a:ea typeface="Calibri" panose="020F0502020204030204" charset="0"/>
                          <a:cs typeface="Calibri" panose="020F0502020204030204" charset="0"/>
                        </a:rPr>
                        <a:t>d $</a:t>
                      </a:r>
                      <a:r>
                        <a:rPr lang="zh-CN" altLang="en-US" sz="2400" b="1" u="none" dirty="0">
                          <a:solidFill>
                            <a:srgbClr val="0070C0"/>
                          </a:solidFill>
                          <a:latin typeface="Times New Roman" panose="02020603050405020304" pitchFamily="18" charset="0"/>
                          <a:ea typeface="Calibri" panose="020F0502020204030204" charset="0"/>
                          <a:cs typeface="Calibri" panose="020F0502020204030204" charset="0"/>
                        </a:rPr>
                        <a:t>（或 </a:t>
                      </a:r>
                      <a:r>
                        <a:rPr lang="en-US" altLang="zh-CN" sz="2400" b="1" u="none" dirty="0" err="1">
                          <a:solidFill>
                            <a:srgbClr val="0070C0"/>
                          </a:solidFill>
                          <a:latin typeface="Times New Roman" panose="02020603050405020304" pitchFamily="18" charset="0"/>
                          <a:ea typeface="Calibri" panose="020F0502020204030204" charset="0"/>
                          <a:cs typeface="Calibri" panose="020F0502020204030204" charset="0"/>
                        </a:rPr>
                        <a:t>shift+d</a:t>
                      </a:r>
                      <a:r>
                        <a:rPr lang="zh-CN" altLang="en-US" sz="2400" b="1" u="none" dirty="0">
                          <a:solidFill>
                            <a:srgbClr val="0070C0"/>
                          </a:solidFill>
                          <a:latin typeface="Times New Roman" panose="02020603050405020304" pitchFamily="18" charset="0"/>
                          <a:ea typeface="Calibri" panose="020F0502020204030204" charset="0"/>
                          <a:cs typeface="Calibri" panose="020F0502020204030204" charset="0"/>
                        </a:rPr>
                        <a:t>）</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40000"/>
                        </a:lnSpc>
                        <a:buNone/>
                      </a:pPr>
                      <a:r>
                        <a:rPr lang="zh-CN" altLang="en-US" sz="2000" b="0" u="none" dirty="0">
                          <a:latin typeface="微软雅黑" panose="020B0503020204020204" charset="-122"/>
                          <a:ea typeface="微软雅黑" panose="020B0503020204020204" charset="-122"/>
                          <a:cs typeface="Calibri" panose="020F0502020204030204" charset="0"/>
                        </a:rPr>
                        <a:t>删除从当前光标至行尾的所有字符</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41655">
                <a:tc>
                  <a:txBody>
                    <a:bodyPr/>
                    <a:lstStyle/>
                    <a:p>
                      <a:pPr marL="0" indent="0" algn="ctr">
                        <a:lnSpc>
                          <a:spcPct val="120000"/>
                        </a:lnSpc>
                        <a:buNone/>
                      </a:pPr>
                      <a:r>
                        <a:rPr lang="en-US" altLang="zh-CN" sz="2400" b="1" u="none" dirty="0">
                          <a:solidFill>
                            <a:srgbClr val="FF0000"/>
                          </a:solidFill>
                          <a:latin typeface="Times New Roman" panose="02020603050405020304" pitchFamily="18" charset="0"/>
                          <a:ea typeface="Calibri" panose="020F0502020204030204" charset="0"/>
                          <a:cs typeface="Calibri" panose="020F0502020204030204" charset="0"/>
                        </a:rPr>
                        <a:t>d </a:t>
                      </a:r>
                      <a:r>
                        <a:rPr lang="en-US" altLang="zh-CN" sz="2400" b="1" u="none" dirty="0" err="1">
                          <a:solidFill>
                            <a:srgbClr val="FF0000"/>
                          </a:solidFill>
                          <a:latin typeface="Times New Roman" panose="02020603050405020304" pitchFamily="18" charset="0"/>
                          <a:ea typeface="Calibri" panose="020F0502020204030204" charset="0"/>
                          <a:cs typeface="Calibri" panose="020F0502020204030204" charset="0"/>
                        </a:rPr>
                        <a:t>d</a:t>
                      </a:r>
                      <a:endParaRPr lang="en-US" altLang="zh-CN" sz="2400" b="1" u="none" dirty="0">
                        <a:solidFill>
                          <a:srgbClr val="FF0000"/>
                        </a:solidFill>
                        <a:latin typeface="Times New Roman" panose="02020603050405020304" pitchFamily="18" charset="0"/>
                        <a:ea typeface="Calibri" panose="020F0502020204030204" charset="0"/>
                        <a:cs typeface="Calibri" panose="020F0502020204030204" charset="0"/>
                      </a:endParaRP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40000"/>
                        </a:lnSpc>
                        <a:buNone/>
                      </a:pPr>
                      <a:r>
                        <a:rPr lang="zh-CN" altLang="en-US" sz="2000" b="0" u="none" dirty="0">
                          <a:latin typeface="微软雅黑" panose="020B0503020204020204" charset="-122"/>
                          <a:ea typeface="微软雅黑" panose="020B0503020204020204" charset="-122"/>
                          <a:cs typeface="Calibri" panose="020F0502020204030204" charset="0"/>
                        </a:rPr>
                        <a:t>整行删除</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pSp>
        <p:nvGrpSpPr>
          <p:cNvPr id="13" name="组合 12"/>
          <p:cNvGrpSpPr/>
          <p:nvPr/>
        </p:nvGrpSpPr>
        <p:grpSpPr>
          <a:xfrm>
            <a:off x="4079875" y="2529205"/>
            <a:ext cx="3614420" cy="426085"/>
            <a:chOff x="6668135" y="2035810"/>
            <a:chExt cx="2401570" cy="553085"/>
          </a:xfrm>
        </p:grpSpPr>
        <p:sp>
          <p:nvSpPr>
            <p:cNvPr id="12" name="圆角矩形 11"/>
            <p:cNvSpPr/>
            <p:nvPr/>
          </p:nvSpPr>
          <p:spPr>
            <a:xfrm>
              <a:off x="6668135" y="2035810"/>
              <a:ext cx="2401570" cy="553085"/>
            </a:xfrm>
            <a:prstGeom prst="roundRect">
              <a:avLst/>
            </a:prstGeom>
            <a:solidFill>
              <a:srgbClr val="00B0F0"/>
            </a:solidFill>
            <a:ln w="9525" cap="flat" cmpd="sng" algn="ctr">
              <a:solidFill>
                <a:srgbClr val="0070C0"/>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sp>
          <p:nvSpPr>
            <p:cNvPr id="40" name="TextBox 1"/>
            <p:cNvSpPr txBox="1">
              <a:spLocks noChangeArrowheads="1"/>
            </p:cNvSpPr>
            <p:nvPr/>
          </p:nvSpPr>
          <p:spPr bwMode="auto">
            <a:xfrm>
              <a:off x="6938314" y="2072005"/>
              <a:ext cx="2001283" cy="499507"/>
            </a:xfrm>
            <a:prstGeom prst="rect">
              <a:avLst/>
            </a:prstGeom>
            <a:noFill/>
            <a:ln w="9525">
              <a:noFill/>
              <a:miter lim="800000"/>
            </a:ln>
          </p:spPr>
          <p:txBody>
            <a:bodyPr wrap="square">
              <a:spAutoFit/>
            </a:bodyPr>
            <a:lstStyle/>
            <a:p>
              <a:pPr>
                <a:buFont typeface="Arial" panose="020B0604020202020204" pitchFamily="34" charset="0"/>
                <a:buNone/>
              </a:pPr>
              <a:r>
                <a:rPr lang="zh-CN" altLang="en-US" dirty="0">
                  <a:latin typeface="微软雅黑" panose="020B0503020204020204" charset="-122"/>
                  <a:ea typeface="微软雅黑" panose="020B0503020204020204" charset="-122"/>
                </a:rPr>
                <a:t>表4-</a:t>
              </a:r>
              <a:r>
                <a:rPr lang="en-US" altLang="zh-CN" dirty="0">
                  <a:latin typeface="微软雅黑" panose="020B0503020204020204" charset="-122"/>
                  <a:ea typeface="微软雅黑" panose="020B0503020204020204" charset="-122"/>
                </a:rPr>
                <a:t>2</a:t>
              </a:r>
              <a:r>
                <a:rPr lang="zh-CN" altLang="en-US" dirty="0">
                  <a:latin typeface="微软雅黑" panose="020B0503020204020204" charset="-122"/>
                  <a:ea typeface="微软雅黑" panose="020B0503020204020204" charset="-122"/>
                </a:rPr>
                <a:t>  常用删除命令</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left)">
                                      <p:cBhvr>
                                        <p:cTn id="10" dur="500"/>
                                        <p:tgtEl>
                                          <p:spTgt spid="13"/>
                                        </p:tgtEl>
                                      </p:cBhvr>
                                    </p:animEffect>
                                  </p:childTnLst>
                                </p:cTn>
                              </p:par>
                              <p:par>
                                <p:cTn id="11" presetID="22" presetClass="entr" presetSubtype="8"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99110" y="1612265"/>
            <a:ext cx="11194415" cy="48044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360172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4.7.1  删除与替换</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7" name="组合 6"/>
          <p:cNvGrpSpPr/>
          <p:nvPr/>
        </p:nvGrpSpPr>
        <p:grpSpPr>
          <a:xfrm>
            <a:off x="1166495" y="1824355"/>
            <a:ext cx="9976485" cy="4370705"/>
            <a:chOff x="1837" y="2873"/>
            <a:chExt cx="15711" cy="6883"/>
          </a:xfrm>
        </p:grpSpPr>
        <p:grpSp>
          <p:nvGrpSpPr>
            <p:cNvPr id="6" name="组合 5"/>
            <p:cNvGrpSpPr/>
            <p:nvPr/>
          </p:nvGrpSpPr>
          <p:grpSpPr>
            <a:xfrm>
              <a:off x="2085" y="2873"/>
              <a:ext cx="14887" cy="4888"/>
              <a:chOff x="2085" y="2873"/>
              <a:chExt cx="14887" cy="4888"/>
            </a:xfrm>
          </p:grpSpPr>
          <p:grpSp>
            <p:nvGrpSpPr>
              <p:cNvPr id="5" name="组合 4"/>
              <p:cNvGrpSpPr/>
              <p:nvPr/>
            </p:nvGrpSpPr>
            <p:grpSpPr>
              <a:xfrm>
                <a:off x="2085" y="2873"/>
                <a:ext cx="14887" cy="3648"/>
                <a:chOff x="2085" y="2873"/>
                <a:chExt cx="14887" cy="3648"/>
              </a:xfrm>
            </p:grpSpPr>
            <p:sp>
              <p:nvSpPr>
                <p:cNvPr id="10" name="Text Box 44"/>
                <p:cNvSpPr txBox="1">
                  <a:spLocks noChangeArrowheads="1"/>
                </p:cNvSpPr>
                <p:nvPr/>
              </p:nvSpPr>
              <p:spPr bwMode="auto">
                <a:xfrm>
                  <a:off x="2085" y="2873"/>
                  <a:ext cx="14887" cy="216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dirty="0">
                      <a:solidFill>
                        <a:schemeClr val="tx1">
                          <a:lumMod val="75000"/>
                          <a:lumOff val="25000"/>
                        </a:schemeClr>
                      </a:solidFill>
                    </a:rPr>
                    <a:t>两个字符排列时，如</a:t>
                  </a:r>
                  <a:r>
                    <a:rPr lang="zh-CN" altLang="en-US" sz="2000" b="1" dirty="0">
                      <a:solidFill>
                        <a:srgbClr val="0070C0"/>
                      </a:solidFill>
                    </a:rPr>
                    <a:t>dw</a:t>
                  </a:r>
                  <a:r>
                    <a:rPr lang="zh-CN" altLang="en-US" sz="2000" dirty="0">
                      <a:solidFill>
                        <a:schemeClr val="tx1">
                          <a:lumMod val="75000"/>
                          <a:lumOff val="25000"/>
                        </a:schemeClr>
                      </a:solidFill>
                    </a:rPr>
                    <a:t>，表示先按下d键，然后再按下w键，而不需要两个键一起按。当按下某个键之后，vi会记下它，并等待继续输入其他的键。当连续输入的几个键与vi指定的某操作的命令键相符合时，vi就执行这个操作。</a:t>
                  </a:r>
                </a:p>
              </p:txBody>
            </p:sp>
            <p:sp>
              <p:nvSpPr>
                <p:cNvPr id="4" name="Text Box 44"/>
                <p:cNvSpPr txBox="1">
                  <a:spLocks noChangeArrowheads="1"/>
                </p:cNvSpPr>
                <p:nvPr/>
              </p:nvSpPr>
              <p:spPr bwMode="auto">
                <a:xfrm>
                  <a:off x="2085" y="5033"/>
                  <a:ext cx="14887" cy="148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dirty="0">
                      <a:solidFill>
                        <a:schemeClr val="tx1">
                          <a:lumMod val="75000"/>
                          <a:lumOff val="25000"/>
                        </a:schemeClr>
                      </a:solidFill>
                    </a:rPr>
                    <a:t>表4-2中的命令可以删除字符或是整行删除。用户还可以为它们指定要删除的字符或是行的数量。其用法是：</a:t>
                  </a:r>
                </a:p>
              </p:txBody>
            </p:sp>
          </p:grpSp>
          <p:grpSp>
            <p:nvGrpSpPr>
              <p:cNvPr id="8" name="组合 7"/>
              <p:cNvGrpSpPr/>
              <p:nvPr/>
            </p:nvGrpSpPr>
            <p:grpSpPr>
              <a:xfrm>
                <a:off x="2101" y="6825"/>
                <a:ext cx="4539" cy="936"/>
                <a:chOff x="-4209" y="5590"/>
                <a:chExt cx="4822" cy="1083"/>
              </a:xfrm>
            </p:grpSpPr>
            <p:sp>
              <p:nvSpPr>
                <p:cNvPr id="11" name="流程图: 过程 10"/>
                <p:cNvSpPr/>
                <p:nvPr/>
              </p:nvSpPr>
              <p:spPr>
                <a:xfrm>
                  <a:off x="-4209" y="5709"/>
                  <a:ext cx="4822" cy="964"/>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charset="-122"/>
                    <a:ea typeface="微软雅黑" panose="020B0503020204020204" charset="-122"/>
                    <a:cs typeface="+mn-cs"/>
                    <a:sym typeface="+mn-ea"/>
                  </a:endParaRPr>
                </a:p>
              </p:txBody>
            </p:sp>
            <p:sp>
              <p:nvSpPr>
                <p:cNvPr id="13" name="文本框 12"/>
                <p:cNvSpPr txBox="1"/>
                <p:nvPr/>
              </p:nvSpPr>
              <p:spPr>
                <a:xfrm>
                  <a:off x="-3665" y="5590"/>
                  <a:ext cx="3506" cy="999"/>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charset="-122"/>
                      <a:ea typeface="微软雅黑" panose="020B0503020204020204" charset="-122"/>
                      <a:cs typeface="+mn-cs"/>
                      <a:sym typeface="+mn-ea"/>
                    </a:rPr>
                    <a:t>N "键组合" </a:t>
                  </a:r>
                </a:p>
              </p:txBody>
            </p:sp>
          </p:grpSp>
        </p:grpSp>
        <p:grpSp>
          <p:nvGrpSpPr>
            <p:cNvPr id="25" name="组合 24"/>
            <p:cNvGrpSpPr/>
            <p:nvPr/>
          </p:nvGrpSpPr>
          <p:grpSpPr>
            <a:xfrm>
              <a:off x="7941" y="6481"/>
              <a:ext cx="9607" cy="3275"/>
              <a:chOff x="5760" y="6449"/>
              <a:chExt cx="9607" cy="3275"/>
            </a:xfrm>
          </p:grpSpPr>
          <p:grpSp>
            <p:nvGrpSpPr>
              <p:cNvPr id="9" name="组合 8"/>
              <p:cNvGrpSpPr/>
              <p:nvPr/>
            </p:nvGrpSpPr>
            <p:grpSpPr>
              <a:xfrm>
                <a:off x="5760" y="6449"/>
                <a:ext cx="9582" cy="3275"/>
                <a:chOff x="3342" y="2646"/>
                <a:chExt cx="11215" cy="5085"/>
              </a:xfrm>
            </p:grpSpPr>
            <p:grpSp>
              <p:nvGrpSpPr>
                <p:cNvPr id="14" name="组合 14"/>
                <p:cNvGrpSpPr/>
                <p:nvPr/>
              </p:nvGrpSpPr>
              <p:grpSpPr bwMode="auto">
                <a:xfrm>
                  <a:off x="3342" y="2646"/>
                  <a:ext cx="10915" cy="5085"/>
                  <a:chOff x="420958" y="1617135"/>
                  <a:chExt cx="13504999" cy="1713982"/>
                </a:xfrm>
              </p:grpSpPr>
              <p:grpSp>
                <p:nvGrpSpPr>
                  <p:cNvPr id="10249" name="组合 12"/>
                  <p:cNvGrpSpPr/>
                  <p:nvPr/>
                </p:nvGrpSpPr>
                <p:grpSpPr bwMode="auto">
                  <a:xfrm>
                    <a:off x="420958" y="1617135"/>
                    <a:ext cx="13504999" cy="1713982"/>
                    <a:chOff x="420958" y="1617135"/>
                    <a:chExt cx="13504999" cy="1713982"/>
                  </a:xfrm>
                </p:grpSpPr>
                <p:sp>
                  <p:nvSpPr>
                    <p:cNvPr id="2" name="矩形 1"/>
                    <p:cNvSpPr/>
                    <p:nvPr/>
                  </p:nvSpPr>
                  <p:spPr>
                    <a:xfrm>
                      <a:off x="420958" y="1617135"/>
                      <a:ext cx="13504999"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0252" name="矩形 6"/>
                    <p:cNvSpPr>
                      <a:spLocks noChangeArrowheads="1"/>
                    </p:cNvSpPr>
                    <p:nvPr/>
                  </p:nvSpPr>
                  <p:spPr bwMode="auto">
                    <a:xfrm>
                      <a:off x="1256122" y="1794256"/>
                      <a:ext cx="9360492" cy="376814"/>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微软雅黑" panose="020B0503020204020204" charset="-122"/>
                          <a:ea typeface="微软雅黑" panose="020B0503020204020204" charset="-122"/>
                          <a:cs typeface="华康俪金黑W8(P)"/>
                        </a:rPr>
                        <a:t>例如：</a:t>
                      </a:r>
                    </a:p>
                  </p:txBody>
                </p:sp>
              </p:grpSp>
              <p:sp>
                <p:nvSpPr>
                  <p:cNvPr id="10250" name="MH_Text_1"/>
                  <p:cNvSpPr txBox="1">
                    <a:spLocks noChangeArrowheads="1"/>
                  </p:cNvSpPr>
                  <p:nvPr>
                    <p:custDataLst>
                      <p:tags r:id="rId2"/>
                    </p:custDataLst>
                  </p:nvPr>
                </p:nvSpPr>
                <p:spPr bwMode="auto">
                  <a:xfrm>
                    <a:off x="1292758" y="2204615"/>
                    <a:ext cx="2922168" cy="371581"/>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3 x </a:t>
                    </a:r>
                  </a:p>
                </p:txBody>
              </p:sp>
            </p:grpSp>
            <p:sp>
              <p:nvSpPr>
                <p:cNvPr id="3" name="矩形 6"/>
                <p:cNvSpPr>
                  <a:spLocks noChangeArrowheads="1"/>
                </p:cNvSpPr>
                <p:nvPr/>
              </p:nvSpPr>
              <p:spPr bwMode="auto">
                <a:xfrm>
                  <a:off x="6408" y="4389"/>
                  <a:ext cx="8149" cy="1118"/>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rgbClr val="009900"/>
                      </a:solidFill>
                      <a:latin typeface="微软雅黑" panose="020B0503020204020204" charset="-122"/>
                      <a:ea typeface="微软雅黑" panose="020B0503020204020204" charset="-122"/>
                      <a:cs typeface="华康俪金黑W8(P)"/>
                    </a:rPr>
                    <a:t>表示删除从当前光标向后共3个字符；</a:t>
                  </a:r>
                </a:p>
              </p:txBody>
            </p:sp>
          </p:grpSp>
          <p:grpSp>
            <p:nvGrpSpPr>
              <p:cNvPr id="24" name="组合 23"/>
              <p:cNvGrpSpPr/>
              <p:nvPr/>
            </p:nvGrpSpPr>
            <p:grpSpPr>
              <a:xfrm>
                <a:off x="6291" y="8867"/>
                <a:ext cx="9076" cy="720"/>
                <a:chOff x="6291" y="8867"/>
                <a:chExt cx="9076" cy="720"/>
              </a:xfrm>
            </p:grpSpPr>
            <p:sp>
              <p:nvSpPr>
                <p:cNvPr id="15" name="MH_Text_1"/>
                <p:cNvSpPr txBox="1">
                  <a:spLocks noChangeArrowheads="1"/>
                </p:cNvSpPr>
                <p:nvPr>
                  <p:custDataLst>
                    <p:tags r:id="rId1"/>
                  </p:custDataLst>
                </p:nvPr>
              </p:nvSpPr>
              <p:spPr bwMode="auto">
                <a:xfrm>
                  <a:off x="6291" y="8867"/>
                  <a:ext cx="2018" cy="710"/>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sym typeface="+mn-ea"/>
                    </a:rPr>
                    <a:t>4 dd </a:t>
                  </a:r>
                </a:p>
              </p:txBody>
            </p:sp>
            <p:sp>
              <p:nvSpPr>
                <p:cNvPr id="16" name="矩形 6"/>
                <p:cNvSpPr>
                  <a:spLocks noChangeArrowheads="1"/>
                </p:cNvSpPr>
                <p:nvPr/>
              </p:nvSpPr>
              <p:spPr bwMode="auto">
                <a:xfrm>
                  <a:off x="8405" y="8867"/>
                  <a:ext cx="6963" cy="72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微软雅黑" panose="020B0503020204020204" charset="-122"/>
                      <a:ea typeface="微软雅黑" panose="020B0503020204020204" charset="-122"/>
                      <a:cs typeface="华康俪金黑W8(P)"/>
                    </a:rPr>
                    <a:t>表示连着删除4行。</a:t>
                  </a:r>
                </a:p>
              </p:txBody>
            </p:sp>
          </p:grpSp>
        </p:grpSp>
        <p:sp>
          <p:nvSpPr>
            <p:cNvPr id="46" name="Text Box 44"/>
            <p:cNvSpPr txBox="1">
              <a:spLocks noChangeArrowheads="1"/>
            </p:cNvSpPr>
            <p:nvPr/>
          </p:nvSpPr>
          <p:spPr bwMode="auto">
            <a:xfrm>
              <a:off x="1837" y="8287"/>
              <a:ext cx="4604" cy="79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r>
                <a:rPr lang="zh-CN" altLang="en-US" sz="2000" b="1" dirty="0">
                  <a:solidFill>
                    <a:srgbClr val="0070C0"/>
                  </a:solidFill>
                </a:rPr>
                <a:t>其中，N是一个数字。</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downRight)">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99110" y="1612265"/>
            <a:ext cx="11194415" cy="48044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360172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4.7.1  删除与替换</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14" name="组合 13"/>
          <p:cNvGrpSpPr/>
          <p:nvPr/>
        </p:nvGrpSpPr>
        <p:grpSpPr>
          <a:xfrm>
            <a:off x="830580" y="1419225"/>
            <a:ext cx="10704195" cy="4807585"/>
            <a:chOff x="1308" y="2235"/>
            <a:chExt cx="16857" cy="7571"/>
          </a:xfrm>
        </p:grpSpPr>
        <p:grpSp>
          <p:nvGrpSpPr>
            <p:cNvPr id="9" name="组合 8"/>
            <p:cNvGrpSpPr/>
            <p:nvPr/>
          </p:nvGrpSpPr>
          <p:grpSpPr>
            <a:xfrm>
              <a:off x="1308" y="2235"/>
              <a:ext cx="16857" cy="4684"/>
              <a:chOff x="1308" y="2235"/>
              <a:chExt cx="16857" cy="4684"/>
            </a:xfrm>
          </p:grpSpPr>
          <p:grpSp>
            <p:nvGrpSpPr>
              <p:cNvPr id="3" name="组合 2"/>
              <p:cNvGrpSpPr/>
              <p:nvPr/>
            </p:nvGrpSpPr>
            <p:grpSpPr>
              <a:xfrm>
                <a:off x="1308" y="2814"/>
                <a:ext cx="16413" cy="4105"/>
                <a:chOff x="1308" y="2814"/>
                <a:chExt cx="16413" cy="4105"/>
              </a:xfrm>
            </p:grpSpPr>
            <p:sp>
              <p:nvSpPr>
                <p:cNvPr id="4" name="Text Box 44"/>
                <p:cNvSpPr txBox="1">
                  <a:spLocks noChangeArrowheads="1"/>
                </p:cNvSpPr>
                <p:nvPr/>
              </p:nvSpPr>
              <p:spPr bwMode="auto">
                <a:xfrm>
                  <a:off x="1308" y="5431"/>
                  <a:ext cx="16413" cy="148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dirty="0">
                      <a:solidFill>
                        <a:schemeClr val="tx1">
                          <a:lumMod val="75000"/>
                          <a:lumOff val="25000"/>
                        </a:schemeClr>
                      </a:solidFill>
                    </a:rPr>
                    <a:t>N1、N2是两个数字。N1是要删除的块区域的起始行的行号。N2是要删除的块区域的末尾行的行号。</a:t>
                  </a:r>
                  <a:r>
                    <a:rPr lang="zh-CN" altLang="en-US" sz="2000" b="1" dirty="0">
                      <a:solidFill>
                        <a:srgbClr val="0070C0"/>
                      </a:solidFill>
                    </a:rPr>
                    <a:t>d表示删除</a:t>
                  </a:r>
                  <a:r>
                    <a:rPr lang="zh-CN" altLang="en-US" sz="2000" dirty="0">
                      <a:solidFill>
                        <a:schemeClr val="tx1">
                          <a:lumMod val="75000"/>
                          <a:lumOff val="25000"/>
                        </a:schemeClr>
                      </a:solidFill>
                    </a:rPr>
                    <a:t>。</a:t>
                  </a:r>
                </a:p>
              </p:txBody>
            </p:sp>
            <p:grpSp>
              <p:nvGrpSpPr>
                <p:cNvPr id="2" name="组合 1"/>
                <p:cNvGrpSpPr/>
                <p:nvPr/>
              </p:nvGrpSpPr>
              <p:grpSpPr>
                <a:xfrm>
                  <a:off x="1600" y="2814"/>
                  <a:ext cx="9964" cy="2403"/>
                  <a:chOff x="1600" y="2814"/>
                  <a:chExt cx="9964" cy="2403"/>
                </a:xfrm>
              </p:grpSpPr>
              <p:sp>
                <p:nvSpPr>
                  <p:cNvPr id="10" name="Text Box 44"/>
                  <p:cNvSpPr txBox="1">
                    <a:spLocks noChangeArrowheads="1"/>
                  </p:cNvSpPr>
                  <p:nvPr/>
                </p:nvSpPr>
                <p:spPr bwMode="auto">
                  <a:xfrm>
                    <a:off x="1600" y="2814"/>
                    <a:ext cx="9965" cy="216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dirty="0">
                        <a:solidFill>
                          <a:schemeClr val="tx1">
                            <a:lumMod val="75000"/>
                            <a:lumOff val="25000"/>
                          </a:schemeClr>
                        </a:solidFill>
                      </a:rPr>
                      <a:t>为了方便更大范围的删除，vi还提供了一个以冒号开头的命令删除方式，用来删除整个一块区域的内容。其命令如下：</a:t>
                    </a:r>
                  </a:p>
                </p:txBody>
              </p:sp>
              <p:grpSp>
                <p:nvGrpSpPr>
                  <p:cNvPr id="8" name="组合 7"/>
                  <p:cNvGrpSpPr/>
                  <p:nvPr/>
                </p:nvGrpSpPr>
                <p:grpSpPr>
                  <a:xfrm>
                    <a:off x="4308" y="4281"/>
                    <a:ext cx="3642" cy="936"/>
                    <a:chOff x="2488" y="4264"/>
                    <a:chExt cx="4822" cy="1083"/>
                  </a:xfrm>
                </p:grpSpPr>
                <p:sp>
                  <p:nvSpPr>
                    <p:cNvPr id="11" name="流程图: 过程 10"/>
                    <p:cNvSpPr/>
                    <p:nvPr/>
                  </p:nvSpPr>
                  <p:spPr>
                    <a:xfrm>
                      <a:off x="2488" y="4383"/>
                      <a:ext cx="4822" cy="964"/>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charset="-122"/>
                        <a:ea typeface="微软雅黑" panose="020B0503020204020204" charset="-122"/>
                        <a:cs typeface="+mn-cs"/>
                        <a:sym typeface="+mn-ea"/>
                      </a:endParaRPr>
                    </a:p>
                  </p:txBody>
                </p:sp>
                <p:sp>
                  <p:nvSpPr>
                    <p:cNvPr id="13" name="文本框 12"/>
                    <p:cNvSpPr txBox="1"/>
                    <p:nvPr/>
                  </p:nvSpPr>
                  <p:spPr>
                    <a:xfrm>
                      <a:off x="3032" y="4264"/>
                      <a:ext cx="3506" cy="1000"/>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charset="-122"/>
                          <a:ea typeface="微软雅黑" panose="020B0503020204020204" charset="-122"/>
                          <a:cs typeface="+mn-cs"/>
                          <a:sym typeface="+mn-ea"/>
                        </a:rPr>
                        <a:t>N1,N2 d</a:t>
                      </a:r>
                    </a:p>
                  </p:txBody>
                </p:sp>
              </p:grpSp>
            </p:grpSp>
          </p:grpSp>
          <p:grpSp>
            <p:nvGrpSpPr>
              <p:cNvPr id="28" name="组合 27"/>
              <p:cNvGrpSpPr/>
              <p:nvPr/>
            </p:nvGrpSpPr>
            <p:grpSpPr>
              <a:xfrm>
                <a:off x="11832" y="2235"/>
                <a:ext cx="6333" cy="2910"/>
                <a:chOff x="15037" y="7916"/>
                <a:chExt cx="4941" cy="2910"/>
              </a:xfrm>
            </p:grpSpPr>
            <p:grpSp>
              <p:nvGrpSpPr>
                <p:cNvPr id="5" name="组合 14"/>
                <p:cNvGrpSpPr/>
                <p:nvPr/>
              </p:nvGrpSpPr>
              <p:grpSpPr bwMode="auto">
                <a:xfrm>
                  <a:off x="15108" y="8481"/>
                  <a:ext cx="4870" cy="2345"/>
                  <a:chOff x="1166778" y="1723580"/>
                  <a:chExt cx="9858444" cy="1776858"/>
                </a:xfrm>
              </p:grpSpPr>
              <p:grpSp>
                <p:nvGrpSpPr>
                  <p:cNvPr id="6" name="组合 12"/>
                  <p:cNvGrpSpPr/>
                  <p:nvPr/>
                </p:nvGrpSpPr>
                <p:grpSpPr bwMode="auto">
                  <a:xfrm>
                    <a:off x="1166778" y="1723580"/>
                    <a:ext cx="9858444" cy="1776858"/>
                    <a:chOff x="1166778" y="1723580"/>
                    <a:chExt cx="9858444" cy="1776858"/>
                  </a:xfrm>
                </p:grpSpPr>
                <p:sp>
                  <p:nvSpPr>
                    <p:cNvPr id="7" name="矩形 6"/>
                    <p:cNvSpPr/>
                    <p:nvPr/>
                  </p:nvSpPr>
                  <p:spPr>
                    <a:xfrm>
                      <a:off x="1166778"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2" name="矩形 6"/>
                    <p:cNvSpPr>
                      <a:spLocks noChangeArrowheads="1"/>
                    </p:cNvSpPr>
                    <p:nvPr/>
                  </p:nvSpPr>
                  <p:spPr bwMode="auto">
                    <a:xfrm>
                      <a:off x="3338877" y="1723580"/>
                      <a:ext cx="2479793" cy="54556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华康俪金黑W8(P)"/>
                          <a:ea typeface="华康俪金黑W8(P)"/>
                          <a:cs typeface="华康俪金黑W8(P)"/>
                        </a:rPr>
                        <a:t>说明</a:t>
                      </a:r>
                    </a:p>
                  </p:txBody>
                </p:sp>
              </p:grpSp>
              <p:sp>
                <p:nvSpPr>
                  <p:cNvPr id="17" name="MH_Text_1"/>
                  <p:cNvSpPr txBox="1">
                    <a:spLocks noChangeArrowheads="1"/>
                  </p:cNvSpPr>
                  <p:nvPr>
                    <p:custDataLst>
                      <p:tags r:id="rId2"/>
                    </p:custDataLst>
                  </p:nvPr>
                </p:nvSpPr>
                <p:spPr bwMode="auto">
                  <a:xfrm>
                    <a:off x="1166778" y="2214554"/>
                    <a:ext cx="9858444" cy="1214446"/>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sz="2000" b="1">
                        <a:solidFill>
                          <a:srgbClr val="FF0000"/>
                        </a:solidFill>
                        <a:latin typeface="微软雅黑" panose="020B0503020204020204" charset="-122"/>
                        <a:ea typeface="微软雅黑" panose="020B0503020204020204" charset="-122"/>
                      </a:rPr>
                      <a:t>在输入这些键组合时在屏幕上是没有任何显示的。</a:t>
                    </a:r>
                  </a:p>
                </p:txBody>
              </p:sp>
            </p:grpSp>
            <p:pic>
              <p:nvPicPr>
                <p:cNvPr id="18" name="图片 4" descr="www.tuweimei.comComp_9747389_aloyhm04q205BMmtimdiv2o2HN82PIep.jpg"/>
                <p:cNvPicPr>
                  <a:picLocks noGrp="1"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15037" y="7916"/>
                  <a:ext cx="1463" cy="1463"/>
                </a:xfrm>
                <a:prstGeom prst="rect">
                  <a:avLst/>
                </a:prstGeom>
                <a:noFill/>
                <a:ln w="9525">
                  <a:noFill/>
                  <a:miter lim="800000"/>
                  <a:headEnd/>
                  <a:tailEnd/>
                </a:ln>
              </p:spPr>
            </p:pic>
          </p:grpSp>
        </p:grpSp>
        <p:grpSp>
          <p:nvGrpSpPr>
            <p:cNvPr id="20" name="组合 19"/>
            <p:cNvGrpSpPr/>
            <p:nvPr/>
          </p:nvGrpSpPr>
          <p:grpSpPr>
            <a:xfrm>
              <a:off x="3848" y="7280"/>
              <a:ext cx="12075" cy="2526"/>
              <a:chOff x="5684" y="3002"/>
              <a:chExt cx="10915" cy="5085"/>
            </a:xfrm>
          </p:grpSpPr>
          <p:grpSp>
            <p:nvGrpSpPr>
              <p:cNvPr id="21" name="组合 14"/>
              <p:cNvGrpSpPr/>
              <p:nvPr/>
            </p:nvGrpSpPr>
            <p:grpSpPr bwMode="auto">
              <a:xfrm>
                <a:off x="5684" y="3002"/>
                <a:ext cx="10915" cy="5085"/>
                <a:chOff x="3318789" y="1736824"/>
                <a:chExt cx="13504772" cy="1713916"/>
              </a:xfrm>
            </p:grpSpPr>
            <p:grpSp>
              <p:nvGrpSpPr>
                <p:cNvPr id="29" name="组合 12"/>
                <p:cNvGrpSpPr/>
                <p:nvPr/>
              </p:nvGrpSpPr>
              <p:grpSpPr bwMode="auto">
                <a:xfrm>
                  <a:off x="3318789" y="1736824"/>
                  <a:ext cx="13504772" cy="1713916"/>
                  <a:chOff x="3318789" y="1736824"/>
                  <a:chExt cx="13504772" cy="1713916"/>
                </a:xfrm>
              </p:grpSpPr>
              <p:sp>
                <p:nvSpPr>
                  <p:cNvPr id="30" name="矩形 29"/>
                  <p:cNvSpPr/>
                  <p:nvPr/>
                </p:nvSpPr>
                <p:spPr>
                  <a:xfrm>
                    <a:off x="3318789" y="1736824"/>
                    <a:ext cx="13504772" cy="1713916"/>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1" name="矩形 6"/>
                  <p:cNvSpPr>
                    <a:spLocks noChangeArrowheads="1"/>
                  </p:cNvSpPr>
                  <p:nvPr/>
                </p:nvSpPr>
                <p:spPr bwMode="auto">
                  <a:xfrm>
                    <a:off x="3408501" y="1744606"/>
                    <a:ext cx="13078636" cy="488546"/>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微软雅黑" panose="020B0503020204020204" charset="-122"/>
                        <a:ea typeface="微软雅黑" panose="020B0503020204020204" charset="-122"/>
                        <a:cs typeface="华康俪金黑W8(P)"/>
                      </a:rPr>
                      <a:t>例如：要删除从第1行至第12行的内容，输入命令如下所示：</a:t>
                    </a:r>
                  </a:p>
                </p:txBody>
              </p:sp>
            </p:grpSp>
            <p:sp>
              <p:nvSpPr>
                <p:cNvPr id="32" name="MH_Text_1"/>
                <p:cNvSpPr txBox="1">
                  <a:spLocks noChangeArrowheads="1"/>
                </p:cNvSpPr>
                <p:nvPr>
                  <p:custDataLst>
                    <p:tags r:id="rId1"/>
                  </p:custDataLst>
                </p:nvPr>
              </p:nvSpPr>
              <p:spPr bwMode="auto">
                <a:xfrm>
                  <a:off x="3710232" y="2535430"/>
                  <a:ext cx="2485102" cy="588268"/>
                </a:xfrm>
                <a:prstGeom prst="rect">
                  <a:avLst/>
                </a:prstGeom>
                <a:solidFill>
                  <a:srgbClr val="F2F2F2"/>
                </a:solidFill>
                <a:ln w="9525">
                  <a:noFill/>
                  <a:miter lim="800000"/>
                </a:ln>
              </p:spPr>
              <p:txBody>
                <a:bodyPr/>
                <a:lstStyle/>
                <a:p>
                  <a:pPr indent="0" fontAlgn="auto">
                    <a:lnSpc>
                      <a:spcPct val="120000"/>
                    </a:lnSpc>
                    <a:buFont typeface="Arial" panose="020B0604020202020204" pitchFamily="34" charset="0"/>
                    <a:buNone/>
                  </a:pPr>
                  <a:r>
                    <a:rPr lang="zh-CN" altLang="en-US" sz="2400" b="1" dirty="0">
                      <a:solidFill>
                        <a:srgbClr val="FF0000"/>
                      </a:solidFill>
                      <a:latin typeface="微软雅黑" panose="020B0503020204020204" charset="-122"/>
                      <a:ea typeface="微软雅黑" panose="020B0503020204020204" charset="-122"/>
                      <a:cs typeface="+mn-cs"/>
                      <a:sym typeface="+mn-ea"/>
                    </a:rPr>
                    <a:t>:1,12 d </a:t>
                  </a:r>
                </a:p>
              </p:txBody>
            </p:sp>
          </p:grpSp>
          <p:sp>
            <p:nvSpPr>
              <p:cNvPr id="33" name="矩形 6"/>
              <p:cNvSpPr>
                <a:spLocks noChangeArrowheads="1"/>
              </p:cNvSpPr>
              <p:nvPr/>
            </p:nvSpPr>
            <p:spPr bwMode="auto">
              <a:xfrm>
                <a:off x="8203" y="4940"/>
                <a:ext cx="8396" cy="2609"/>
              </a:xfrm>
              <a:prstGeom prst="rect">
                <a:avLst/>
              </a:prstGeom>
              <a:noFill/>
              <a:ln w="9525">
                <a:noFill/>
                <a:miter lim="800000"/>
              </a:ln>
            </p:spPr>
            <p:txBody>
              <a:bodyPr wrap="square">
                <a:spAutoFit/>
              </a:bodyPr>
              <a:lstStyle/>
              <a:p>
                <a:pPr indent="457200" fontAlgn="auto">
                  <a:lnSpc>
                    <a:spcPct val="120000"/>
                  </a:lnSpc>
                  <a:spcAft>
                    <a:spcPts val="500"/>
                  </a:spcAft>
                  <a:buFont typeface="Arial" panose="020B0604020202020204" pitchFamily="34" charset="0"/>
                  <a:buNone/>
                </a:pPr>
                <a:r>
                  <a:rPr lang="zh-CN" altLang="en-US" sz="2000" b="1" dirty="0">
                    <a:solidFill>
                      <a:schemeClr val="tx1">
                        <a:lumMod val="75000"/>
                        <a:lumOff val="25000"/>
                      </a:schemeClr>
                    </a:solidFill>
                    <a:latin typeface="微软雅黑" panose="020B0503020204020204" charset="-122"/>
                    <a:ea typeface="微软雅黑" panose="020B0503020204020204" charset="-122"/>
                    <a:cs typeface="华康俪金黑W8(P)"/>
                  </a:rPr>
                  <a:t>执行此命令后，从第1行至第12行的内容就全部被删除了，状态行上会显示总共删除了多少行。</a:t>
                </a: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trips(downRight)">
                                      <p:cBhvr>
                                        <p:cTn id="7"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98475" y="1684020"/>
            <a:ext cx="11194415" cy="48044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416623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4.7.1  删除与替换</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sp>
        <p:nvSpPr>
          <p:cNvPr id="11" name="Text Box 44"/>
          <p:cNvSpPr txBox="1">
            <a:spLocks noChangeArrowheads="1"/>
          </p:cNvSpPr>
          <p:nvPr/>
        </p:nvSpPr>
        <p:spPr bwMode="auto">
          <a:xfrm>
            <a:off x="691515" y="1826895"/>
            <a:ext cx="10391140" cy="94488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dirty="0">
                <a:solidFill>
                  <a:schemeClr val="tx1">
                    <a:lumMod val="75000"/>
                    <a:lumOff val="25000"/>
                  </a:schemeClr>
                </a:solidFill>
              </a:rPr>
              <a:t>在vi的命令模式下还提供了几个命令来替换一个字符、一个单词或是进行整行替换。常用的替换命令如表4-3所示。</a:t>
            </a:r>
          </a:p>
        </p:txBody>
      </p:sp>
      <p:graphicFrame>
        <p:nvGraphicFramePr>
          <p:cNvPr id="10" name="表格 9"/>
          <p:cNvGraphicFramePr/>
          <p:nvPr>
            <p:extLst>
              <p:ext uri="{D42A27DB-BD31-4B8C-83A1-F6EECF244321}">
                <p14:modId xmlns:p14="http://schemas.microsoft.com/office/powerpoint/2010/main" val="1353356306"/>
              </p:ext>
            </p:extLst>
          </p:nvPr>
        </p:nvGraphicFramePr>
        <p:xfrm>
          <a:off x="1046643" y="2930966"/>
          <a:ext cx="10215401" cy="3334367"/>
        </p:xfrm>
        <a:graphic>
          <a:graphicData uri="http://schemas.openxmlformats.org/drawingml/2006/table">
            <a:tbl>
              <a:tblPr firstRow="1" bandRow="1">
                <a:tableStyleId>{5C22544A-7EE6-4342-B048-85BDC9FD1C3A}</a:tableStyleId>
              </a:tblPr>
              <a:tblGrid>
                <a:gridCol w="2616510">
                  <a:extLst>
                    <a:ext uri="{9D8B030D-6E8A-4147-A177-3AD203B41FA5}">
                      <a16:colId xmlns:a16="http://schemas.microsoft.com/office/drawing/2014/main" val="20000"/>
                    </a:ext>
                  </a:extLst>
                </a:gridCol>
                <a:gridCol w="7598891">
                  <a:extLst>
                    <a:ext uri="{9D8B030D-6E8A-4147-A177-3AD203B41FA5}">
                      <a16:colId xmlns:a16="http://schemas.microsoft.com/office/drawing/2014/main" val="20001"/>
                    </a:ext>
                  </a:extLst>
                </a:gridCol>
              </a:tblGrid>
              <a:tr h="487120">
                <a:tc>
                  <a:txBody>
                    <a:bodyPr/>
                    <a:lstStyle/>
                    <a:p>
                      <a:pPr algn="ctr">
                        <a:lnSpc>
                          <a:spcPct val="140000"/>
                        </a:lnSpc>
                        <a:buNone/>
                      </a:pPr>
                      <a:r>
                        <a:rPr lang="zh-CN" altLang="en-US" sz="1600" dirty="0">
                          <a:solidFill>
                            <a:schemeClr val="tx1"/>
                          </a:solidFill>
                          <a:latin typeface="微软雅黑" panose="020B0503020204020204" charset="-122"/>
                          <a:ea typeface="微软雅黑" panose="020B0503020204020204" charset="-122"/>
                        </a:rPr>
                        <a:t>命令</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lnSpc>
                          <a:spcPct val="130000"/>
                        </a:lnSpc>
                        <a:buNone/>
                      </a:pPr>
                      <a:r>
                        <a:rPr lang="zh-CN" altLang="en-US" sz="1600" dirty="0">
                          <a:solidFill>
                            <a:schemeClr val="tx1"/>
                          </a:solidFill>
                        </a:rPr>
                        <a:t>作用</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0"/>
                  </a:ext>
                </a:extLst>
              </a:tr>
              <a:tr h="397105">
                <a:tc>
                  <a:txBody>
                    <a:bodyPr/>
                    <a:lstStyle/>
                    <a:p>
                      <a:pPr marL="0" indent="0" algn="ctr">
                        <a:lnSpc>
                          <a:spcPct val="130000"/>
                        </a:lnSpc>
                        <a:buNone/>
                      </a:pPr>
                      <a:r>
                        <a:rPr lang="en-US" altLang="zh-CN" sz="1600" b="1" u="none" dirty="0">
                          <a:solidFill>
                            <a:srgbClr val="FF0000"/>
                          </a:solidFill>
                          <a:latin typeface="Times New Roman" panose="02020603050405020304" pitchFamily="18" charset="0"/>
                          <a:ea typeface="Calibri" panose="020F0502020204030204" charset="0"/>
                          <a:cs typeface="Calibri" panose="020F0502020204030204" charset="0"/>
                        </a:rPr>
                        <a:t>r </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50000"/>
                        </a:lnSpc>
                        <a:buNone/>
                      </a:pPr>
                      <a:r>
                        <a:rPr lang="zh-CN" altLang="en-US" sz="1600" b="0" u="none" dirty="0">
                          <a:solidFill>
                            <a:srgbClr val="FF0000"/>
                          </a:solidFill>
                          <a:latin typeface="微软雅黑" panose="020B0503020204020204" charset="-122"/>
                          <a:ea typeface="微软雅黑" panose="020B0503020204020204" charset="-122"/>
                          <a:cs typeface="Calibri" panose="020F0502020204030204" charset="0"/>
                        </a:rPr>
                        <a:t>替换光标所在的字符</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97105">
                <a:tc>
                  <a:txBody>
                    <a:bodyPr/>
                    <a:lstStyle/>
                    <a:p>
                      <a:pPr marL="0" indent="0" algn="ctr">
                        <a:lnSpc>
                          <a:spcPct val="130000"/>
                        </a:lnSpc>
                        <a:buNone/>
                      </a:pPr>
                      <a:r>
                        <a:rPr lang="en-US" altLang="zh-CN" sz="1600" b="1" u="none" dirty="0">
                          <a:solidFill>
                            <a:srgbClr val="0070C0"/>
                          </a:solidFill>
                          <a:latin typeface="Times New Roman" panose="02020603050405020304" pitchFamily="18" charset="0"/>
                          <a:ea typeface="Calibri" panose="020F0502020204030204" charset="0"/>
                          <a:cs typeface="Calibri" panose="020F0502020204030204" charset="0"/>
                        </a:rPr>
                        <a:t>R </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50000"/>
                        </a:lnSpc>
                        <a:buNone/>
                      </a:pPr>
                      <a:r>
                        <a:rPr lang="zh-CN" altLang="en-US" sz="1600" b="0" u="none" dirty="0">
                          <a:latin typeface="微软雅黑" panose="020B0503020204020204" charset="-122"/>
                          <a:ea typeface="微软雅黑" panose="020B0503020204020204" charset="-122"/>
                          <a:cs typeface="Calibri" panose="020F0502020204030204" charset="0"/>
                        </a:rPr>
                        <a:t>替换字符序列</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97105">
                <a:tc>
                  <a:txBody>
                    <a:bodyPr/>
                    <a:lstStyle/>
                    <a:p>
                      <a:pPr marL="0" indent="0" algn="ctr">
                        <a:lnSpc>
                          <a:spcPct val="130000"/>
                        </a:lnSpc>
                        <a:buNone/>
                      </a:pPr>
                      <a:r>
                        <a:rPr lang="en-US" altLang="zh-CN" sz="1600" b="1" u="none" dirty="0" err="1">
                          <a:solidFill>
                            <a:srgbClr val="0070C0"/>
                          </a:solidFill>
                          <a:latin typeface="Times New Roman" panose="02020603050405020304" pitchFamily="18" charset="0"/>
                          <a:ea typeface="Calibri" panose="020F0502020204030204" charset="0"/>
                          <a:cs typeface="Calibri" panose="020F0502020204030204" charset="0"/>
                        </a:rPr>
                        <a:t>cw</a:t>
                      </a:r>
                      <a:r>
                        <a:rPr lang="en-US" altLang="zh-CN" sz="1600" b="1" u="none" dirty="0">
                          <a:solidFill>
                            <a:srgbClr val="0070C0"/>
                          </a:solidFill>
                          <a:latin typeface="Times New Roman" panose="02020603050405020304" pitchFamily="18" charset="0"/>
                          <a:ea typeface="Calibri" panose="020F0502020204030204" charset="0"/>
                          <a:cs typeface="Calibri" panose="020F0502020204030204" charset="0"/>
                        </a:rPr>
                        <a:t> </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50000"/>
                        </a:lnSpc>
                        <a:buNone/>
                      </a:pPr>
                      <a:r>
                        <a:rPr lang="zh-CN" altLang="en-US" sz="1600" b="0" u="none" dirty="0">
                          <a:latin typeface="微软雅黑" panose="020B0503020204020204" charset="-122"/>
                          <a:ea typeface="微软雅黑" panose="020B0503020204020204" charset="-122"/>
                          <a:cs typeface="Calibri" panose="020F0502020204030204" charset="0"/>
                        </a:rPr>
                        <a:t>替换一个单词</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97105">
                <a:tc>
                  <a:txBody>
                    <a:bodyPr/>
                    <a:lstStyle/>
                    <a:p>
                      <a:pPr marL="0" indent="0" algn="ctr">
                        <a:lnSpc>
                          <a:spcPct val="130000"/>
                        </a:lnSpc>
                        <a:buNone/>
                      </a:pPr>
                      <a:r>
                        <a:rPr lang="en-US" altLang="zh-CN" sz="1600" b="1" u="none">
                          <a:solidFill>
                            <a:srgbClr val="0070C0"/>
                          </a:solidFill>
                          <a:latin typeface="Times New Roman" panose="02020603050405020304" pitchFamily="18" charset="0"/>
                          <a:ea typeface="Calibri" panose="020F0502020204030204" charset="0"/>
                          <a:cs typeface="Calibri" panose="020F0502020204030204" charset="0"/>
                        </a:rPr>
                        <a:t>ce </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50000"/>
                        </a:lnSpc>
                        <a:buNone/>
                      </a:pPr>
                      <a:r>
                        <a:rPr lang="zh-CN" altLang="en-US" sz="1600" b="0" u="none" dirty="0">
                          <a:latin typeface="微软雅黑" panose="020B0503020204020204" charset="-122"/>
                          <a:ea typeface="微软雅黑" panose="020B0503020204020204" charset="-122"/>
                          <a:cs typeface="Calibri" panose="020F0502020204030204" charset="0"/>
                        </a:rPr>
                        <a:t>同 </a:t>
                      </a:r>
                      <a:r>
                        <a:rPr lang="en-US" altLang="zh-CN" sz="1600" b="0" u="none" dirty="0" err="1">
                          <a:latin typeface="微软雅黑" panose="020B0503020204020204" charset="-122"/>
                          <a:ea typeface="微软雅黑" panose="020B0503020204020204" charset="-122"/>
                          <a:cs typeface="Calibri" panose="020F0502020204030204" charset="0"/>
                        </a:rPr>
                        <a:t>cw</a:t>
                      </a:r>
                      <a:r>
                        <a:rPr lang="en-US" altLang="zh-CN" sz="1600" b="0" u="none" dirty="0">
                          <a:latin typeface="微软雅黑" panose="020B0503020204020204" charset="-122"/>
                          <a:ea typeface="微软雅黑" panose="020B0503020204020204" charset="-122"/>
                          <a:cs typeface="Calibri" panose="020F0502020204030204" charset="0"/>
                        </a:rPr>
                        <a:t> </a:t>
                      </a:r>
                      <a:endParaRPr lang="zh-CN" altLang="en-US" sz="1600" b="0" u="none" dirty="0">
                        <a:latin typeface="微软雅黑" panose="020B0503020204020204" charset="-122"/>
                        <a:ea typeface="微软雅黑" panose="020B0503020204020204" charset="-122"/>
                        <a:cs typeface="Calibri" panose="020F0502020204030204" charset="0"/>
                      </a:endParaRP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9609">
                <a:tc>
                  <a:txBody>
                    <a:bodyPr/>
                    <a:lstStyle/>
                    <a:p>
                      <a:pPr marL="0" indent="0" algn="ctr">
                        <a:lnSpc>
                          <a:spcPct val="160000"/>
                        </a:lnSpc>
                        <a:buNone/>
                      </a:pPr>
                      <a:r>
                        <a:rPr lang="en-US" altLang="zh-CN" sz="1600" b="1" u="none" dirty="0" err="1">
                          <a:solidFill>
                            <a:srgbClr val="0070C0"/>
                          </a:solidFill>
                          <a:latin typeface="Times New Roman" panose="02020603050405020304" pitchFamily="18" charset="0"/>
                          <a:ea typeface="Calibri" panose="020F0502020204030204" charset="0"/>
                          <a:cs typeface="Calibri" panose="020F0502020204030204" charset="0"/>
                        </a:rPr>
                        <a:t>cb</a:t>
                      </a:r>
                      <a:r>
                        <a:rPr lang="en-US" altLang="zh-CN" sz="1600" b="1" u="none" dirty="0">
                          <a:solidFill>
                            <a:srgbClr val="0070C0"/>
                          </a:solidFill>
                          <a:latin typeface="Times New Roman" panose="02020603050405020304" pitchFamily="18" charset="0"/>
                          <a:ea typeface="Calibri" panose="020F0502020204030204" charset="0"/>
                          <a:cs typeface="Calibri" panose="020F0502020204030204" charset="0"/>
                        </a:rPr>
                        <a:t> </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60000"/>
                        </a:lnSpc>
                        <a:buNone/>
                      </a:pPr>
                      <a:r>
                        <a:rPr lang="zh-CN" altLang="en-US" sz="1600" dirty="0">
                          <a:latin typeface="微软雅黑" panose="020B0503020204020204" charset="-122"/>
                          <a:ea typeface="微软雅黑" panose="020B0503020204020204" charset="-122"/>
                        </a:rPr>
                        <a:t>替换光标所在单词的前面字符</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9609">
                <a:tc>
                  <a:txBody>
                    <a:bodyPr/>
                    <a:lstStyle/>
                    <a:p>
                      <a:pPr marL="0" indent="0" algn="ctr">
                        <a:lnSpc>
                          <a:spcPct val="160000"/>
                        </a:lnSpc>
                        <a:buNone/>
                      </a:pPr>
                      <a:r>
                        <a:rPr lang="en-US" altLang="zh-CN" sz="1600" b="1" u="none" dirty="0">
                          <a:solidFill>
                            <a:srgbClr val="FF0000"/>
                          </a:solidFill>
                          <a:latin typeface="Times New Roman" panose="02020603050405020304" pitchFamily="18" charset="0"/>
                          <a:ea typeface="Calibri" panose="020F0502020204030204" charset="0"/>
                          <a:cs typeface="Calibri" panose="020F0502020204030204" charset="0"/>
                        </a:rPr>
                        <a:t>c$ </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60000"/>
                        </a:lnSpc>
                        <a:buNone/>
                      </a:pPr>
                      <a:r>
                        <a:rPr lang="zh-CN" altLang="en-US" sz="1600" dirty="0">
                          <a:solidFill>
                            <a:srgbClr val="FF0000"/>
                          </a:solidFill>
                          <a:latin typeface="微软雅黑" panose="020B0503020204020204" charset="-122"/>
                          <a:ea typeface="微软雅黑" panose="020B0503020204020204" charset="-122"/>
                        </a:rPr>
                        <a:t>替换自光标位置至行尾的所有字符</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9609">
                <a:tc>
                  <a:txBody>
                    <a:bodyPr/>
                    <a:lstStyle/>
                    <a:p>
                      <a:pPr marL="0" indent="0" algn="ctr">
                        <a:lnSpc>
                          <a:spcPct val="160000"/>
                        </a:lnSpc>
                        <a:buNone/>
                      </a:pPr>
                      <a:r>
                        <a:rPr lang="en-US" altLang="zh-CN" sz="1600" b="1" u="none" dirty="0">
                          <a:solidFill>
                            <a:srgbClr val="FF0000"/>
                          </a:solidFill>
                          <a:latin typeface="Times New Roman" panose="02020603050405020304" pitchFamily="18" charset="0"/>
                          <a:ea typeface="Calibri" panose="020F0502020204030204" charset="0"/>
                          <a:cs typeface="Calibri" panose="020F0502020204030204" charset="0"/>
                        </a:rPr>
                        <a:t>cc </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60000"/>
                        </a:lnSpc>
                        <a:buNone/>
                      </a:pPr>
                      <a:r>
                        <a:rPr lang="zh-CN" altLang="en-US" sz="1600" dirty="0">
                          <a:solidFill>
                            <a:srgbClr val="FF0000"/>
                          </a:solidFill>
                          <a:latin typeface="微软雅黑" panose="020B0503020204020204" charset="-122"/>
                          <a:ea typeface="微软雅黑" panose="020B0503020204020204" charset="-122"/>
                        </a:rPr>
                        <a:t>替换当前行</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grpSp>
        <p:nvGrpSpPr>
          <p:cNvPr id="13" name="组合 12"/>
          <p:cNvGrpSpPr/>
          <p:nvPr/>
        </p:nvGrpSpPr>
        <p:grpSpPr>
          <a:xfrm>
            <a:off x="4368865" y="2510518"/>
            <a:ext cx="2947670" cy="426085"/>
            <a:chOff x="6668135" y="2035810"/>
            <a:chExt cx="2401570" cy="553085"/>
          </a:xfrm>
        </p:grpSpPr>
        <p:sp>
          <p:nvSpPr>
            <p:cNvPr id="12" name="圆角矩形 11"/>
            <p:cNvSpPr/>
            <p:nvPr/>
          </p:nvSpPr>
          <p:spPr>
            <a:xfrm>
              <a:off x="6668135" y="2035810"/>
              <a:ext cx="2401570" cy="553085"/>
            </a:xfrm>
            <a:prstGeom prst="roundRect">
              <a:avLst/>
            </a:prstGeom>
            <a:solidFill>
              <a:srgbClr val="00B0F0"/>
            </a:solidFill>
            <a:ln w="9525" cap="flat" cmpd="sng" algn="ctr">
              <a:solidFill>
                <a:srgbClr val="0070C0"/>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sp>
          <p:nvSpPr>
            <p:cNvPr id="40" name="TextBox 1"/>
            <p:cNvSpPr txBox="1">
              <a:spLocks noChangeArrowheads="1"/>
            </p:cNvSpPr>
            <p:nvPr/>
          </p:nvSpPr>
          <p:spPr bwMode="auto">
            <a:xfrm>
              <a:off x="6938314" y="2072005"/>
              <a:ext cx="2001283" cy="499507"/>
            </a:xfrm>
            <a:prstGeom prst="rect">
              <a:avLst/>
            </a:prstGeom>
            <a:noFill/>
            <a:ln w="9525">
              <a:noFill/>
              <a:miter lim="800000"/>
            </a:ln>
          </p:spPr>
          <p:txBody>
            <a:bodyPr wrap="square">
              <a:spAutoFit/>
            </a:bodyPr>
            <a:lstStyle/>
            <a:p>
              <a:pPr>
                <a:buFont typeface="Arial" panose="020B0604020202020204" pitchFamily="34" charset="0"/>
                <a:buNone/>
              </a:pPr>
              <a:r>
                <a:rPr dirty="0">
                  <a:latin typeface="微软雅黑" panose="020B0503020204020204" charset="-122"/>
                  <a:ea typeface="微软雅黑" panose="020B0503020204020204" charset="-122"/>
                </a:rPr>
                <a:t>表4-3  常用替换命令</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500"/>
                                        <p:tgtEl>
                                          <p:spTgt spid="13"/>
                                        </p:tgtEl>
                                      </p:cBhvr>
                                    </p:animEffect>
                                  </p:childTnLst>
                                </p:cTn>
                              </p:par>
                              <p:par>
                                <p:cTn id="12" presetID="22" presetClass="entr" presetSubtype="1"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up)">
                                      <p:cBhvr>
                                        <p:cTn id="1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5562084" y="1728030"/>
            <a:ext cx="5617210" cy="48044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416623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4.7.1  删除与替换</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9" name="组合 8"/>
          <p:cNvGrpSpPr/>
          <p:nvPr/>
        </p:nvGrpSpPr>
        <p:grpSpPr>
          <a:xfrm>
            <a:off x="6364089" y="2384620"/>
            <a:ext cx="3454400" cy="2070100"/>
            <a:chOff x="3944" y="3148"/>
            <a:chExt cx="10959" cy="5085"/>
          </a:xfrm>
        </p:grpSpPr>
        <p:grpSp>
          <p:nvGrpSpPr>
            <p:cNvPr id="14" name="组合 14"/>
            <p:cNvGrpSpPr/>
            <p:nvPr/>
          </p:nvGrpSpPr>
          <p:grpSpPr bwMode="auto">
            <a:xfrm>
              <a:off x="3944" y="3148"/>
              <a:ext cx="10915" cy="5085"/>
              <a:chOff x="1166778" y="1786456"/>
              <a:chExt cx="13504529" cy="1713982"/>
            </a:xfrm>
          </p:grpSpPr>
          <p:grpSp>
            <p:nvGrpSpPr>
              <p:cNvPr id="10249" name="组合 12"/>
              <p:cNvGrpSpPr/>
              <p:nvPr/>
            </p:nvGrpSpPr>
            <p:grpSpPr bwMode="auto">
              <a:xfrm>
                <a:off x="1166778" y="1786456"/>
                <a:ext cx="13504529" cy="1713982"/>
                <a:chOff x="1166778" y="1786456"/>
                <a:chExt cx="13504529" cy="1713982"/>
              </a:xfrm>
            </p:grpSpPr>
            <p:sp>
              <p:nvSpPr>
                <p:cNvPr id="3" name="矩形 2"/>
                <p:cNvSpPr/>
                <p:nvPr/>
              </p:nvSpPr>
              <p:spPr>
                <a:xfrm>
                  <a:off x="1166778" y="1786456"/>
                  <a:ext cx="13504529"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0252" name="矩形 6"/>
                <p:cNvSpPr>
                  <a:spLocks noChangeArrowheads="1"/>
                </p:cNvSpPr>
                <p:nvPr/>
              </p:nvSpPr>
              <p:spPr bwMode="auto">
                <a:xfrm>
                  <a:off x="1256122" y="1794256"/>
                  <a:ext cx="9360492" cy="378548"/>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FF0000"/>
                      </a:solidFill>
                      <a:latin typeface="微软雅黑" panose="020B0503020204020204" charset="-122"/>
                      <a:ea typeface="微软雅黑" panose="020B0503020204020204" charset="-122"/>
                      <a:cs typeface="华康俪金黑W8(P)"/>
                    </a:rPr>
                    <a:t>例如，</a:t>
                  </a:r>
                  <a:r>
                    <a:rPr lang="zh-CN" altLang="en-US" sz="2000" b="1">
                      <a:solidFill>
                        <a:srgbClr val="009900"/>
                      </a:solidFill>
                      <a:latin typeface="微软雅黑" panose="020B0503020204020204" charset="-122"/>
                      <a:ea typeface="微软雅黑" panose="020B0503020204020204" charset="-122"/>
                      <a:cs typeface="华康俪金黑W8(P)"/>
                    </a:rPr>
                    <a:t>屏幕显示为：</a:t>
                  </a:r>
                </a:p>
              </p:txBody>
            </p:sp>
          </p:grpSp>
          <p:sp>
            <p:nvSpPr>
              <p:cNvPr id="10250" name="MH_Text_1"/>
              <p:cNvSpPr txBox="1">
                <a:spLocks noChangeArrowheads="1"/>
              </p:cNvSpPr>
              <p:nvPr>
                <p:custDataLst>
                  <p:tags r:id="rId2"/>
                </p:custDataLst>
              </p:nvPr>
            </p:nvSpPr>
            <p:spPr bwMode="auto">
              <a:xfrm>
                <a:off x="1234821" y="2191369"/>
                <a:ext cx="13311461" cy="444544"/>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/*this is abcd*/ </a:t>
                </a:r>
              </a:p>
            </p:txBody>
          </p:sp>
        </p:grpSp>
        <p:grpSp>
          <p:nvGrpSpPr>
            <p:cNvPr id="7" name="组合 6"/>
            <p:cNvGrpSpPr/>
            <p:nvPr/>
          </p:nvGrpSpPr>
          <p:grpSpPr>
            <a:xfrm>
              <a:off x="4024" y="5641"/>
              <a:ext cx="10879" cy="2467"/>
              <a:chOff x="4024" y="5641"/>
              <a:chExt cx="10879" cy="2467"/>
            </a:xfrm>
          </p:grpSpPr>
          <p:sp>
            <p:nvSpPr>
              <p:cNvPr id="4" name="矩形 6"/>
              <p:cNvSpPr>
                <a:spLocks noChangeArrowheads="1"/>
              </p:cNvSpPr>
              <p:nvPr/>
            </p:nvSpPr>
            <p:spPr bwMode="auto">
              <a:xfrm>
                <a:off x="4090" y="5641"/>
                <a:ext cx="10813" cy="1123"/>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sz="2000" b="1">
                    <a:solidFill>
                      <a:srgbClr val="009900"/>
                    </a:solidFill>
                    <a:latin typeface="微软雅黑" panose="020B0503020204020204" charset="-122"/>
                    <a:ea typeface="微软雅黑" panose="020B0503020204020204" charset="-122"/>
                    <a:cs typeface="华康俪金黑W8(P)"/>
                  </a:rPr>
                  <a:t>输入rA后，屏幕显示为：</a:t>
                </a:r>
              </a:p>
            </p:txBody>
          </p:sp>
          <p:sp>
            <p:nvSpPr>
              <p:cNvPr id="5" name="MH_Text_1"/>
              <p:cNvSpPr txBox="1">
                <a:spLocks noChangeArrowheads="1"/>
              </p:cNvSpPr>
              <p:nvPr>
                <p:custDataLst>
                  <p:tags r:id="rId1"/>
                </p:custDataLst>
              </p:nvPr>
            </p:nvSpPr>
            <p:spPr bwMode="auto">
              <a:xfrm>
                <a:off x="4024" y="6763"/>
                <a:ext cx="10711" cy="1345"/>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/*this is Abcd*/ </a:t>
                </a:r>
              </a:p>
            </p:txBody>
          </p:sp>
        </p:grpSp>
      </p:grpSp>
      <p:sp>
        <p:nvSpPr>
          <p:cNvPr id="6" name="Text Box 44"/>
          <p:cNvSpPr txBox="1">
            <a:spLocks noChangeArrowheads="1"/>
          </p:cNvSpPr>
          <p:nvPr/>
        </p:nvSpPr>
        <p:spPr bwMode="auto">
          <a:xfrm>
            <a:off x="5784334" y="4896045"/>
            <a:ext cx="4612640" cy="137160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dirty="0">
                <a:solidFill>
                  <a:schemeClr val="tx1">
                    <a:lumMod val="75000"/>
                    <a:lumOff val="25000"/>
                  </a:schemeClr>
                </a:solidFill>
              </a:rPr>
              <a:t>对于表4-3中的命令，可以在vi编辑器中反复练习使用，从而达到熟练掌握的程度。</a:t>
            </a:r>
          </a:p>
        </p:txBody>
      </p:sp>
      <p:pic>
        <p:nvPicPr>
          <p:cNvPr id="11" name="图片 1" descr="合作"/>
          <p:cNvPicPr>
            <a:picLocks noGrp="1" noChangeAspect="1"/>
          </p:cNvPicPr>
          <p:nvPr/>
        </p:nvPicPr>
        <p:blipFill>
          <a:blip r:embed="rId4" cstate="print">
            <a:clrChange>
              <a:clrFrom>
                <a:srgbClr val="FFFFFF"/>
              </a:clrFrom>
              <a:clrTo>
                <a:srgbClr val="FFFFFF">
                  <a:alpha val="0"/>
                </a:srgbClr>
              </a:clrTo>
            </a:clrChange>
          </a:blip>
          <a:stretch>
            <a:fillRect/>
          </a:stretch>
        </p:blipFill>
        <p:spPr>
          <a:xfrm>
            <a:off x="432345" y="1741170"/>
            <a:ext cx="4690110" cy="469011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290">
                                          <p:stCondLst>
                                            <p:cond delay="0"/>
                                          </p:stCondLst>
                                        </p:cTn>
                                        <p:tgtEl>
                                          <p:spTgt spid="11"/>
                                        </p:tgtEl>
                                      </p:cBhvr>
                                    </p:animEffect>
                                    <p:anim calcmode="lin" valueType="num">
                                      <p:cBhvr>
                                        <p:cTn id="8" dur="911"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11"/>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11"/>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11"/>
                                        </p:tgtEl>
                                        <p:attrNameLst>
                                          <p:attrName>ppt_y</p:attrName>
                                        </p:attrNameLst>
                                      </p:cBhvr>
                                      <p:tavLst>
                                        <p:tav tm="0" fmla="#ppt_y-sin(pi*$)/81">
                                          <p:val>
                                            <p:fltVal val="0"/>
                                          </p:val>
                                        </p:tav>
                                        <p:tav tm="100000">
                                          <p:val>
                                            <p:fltVal val="1"/>
                                          </p:val>
                                        </p:tav>
                                      </p:tavLst>
                                    </p:anim>
                                    <p:animScale>
                                      <p:cBhvr>
                                        <p:cTn id="13" dur="13">
                                          <p:stCondLst>
                                            <p:cond delay="325"/>
                                          </p:stCondLst>
                                        </p:cTn>
                                        <p:tgtEl>
                                          <p:spTgt spid="11"/>
                                        </p:tgtEl>
                                      </p:cBhvr>
                                      <p:to x="100000" y="60000"/>
                                    </p:animScale>
                                    <p:animScale>
                                      <p:cBhvr>
                                        <p:cTn id="14" dur="83" decel="50000">
                                          <p:stCondLst>
                                            <p:cond delay="338"/>
                                          </p:stCondLst>
                                        </p:cTn>
                                        <p:tgtEl>
                                          <p:spTgt spid="11"/>
                                        </p:tgtEl>
                                      </p:cBhvr>
                                      <p:to x="100000" y="100000"/>
                                    </p:animScale>
                                    <p:animScale>
                                      <p:cBhvr>
                                        <p:cTn id="15" dur="13">
                                          <p:stCondLst>
                                            <p:cond delay="656"/>
                                          </p:stCondLst>
                                        </p:cTn>
                                        <p:tgtEl>
                                          <p:spTgt spid="11"/>
                                        </p:tgtEl>
                                      </p:cBhvr>
                                      <p:to x="100000" y="80000"/>
                                    </p:animScale>
                                    <p:animScale>
                                      <p:cBhvr>
                                        <p:cTn id="16" dur="83" decel="50000">
                                          <p:stCondLst>
                                            <p:cond delay="669"/>
                                          </p:stCondLst>
                                        </p:cTn>
                                        <p:tgtEl>
                                          <p:spTgt spid="11"/>
                                        </p:tgtEl>
                                      </p:cBhvr>
                                      <p:to x="100000" y="100000"/>
                                    </p:animScale>
                                    <p:animScale>
                                      <p:cBhvr>
                                        <p:cTn id="17" dur="13">
                                          <p:stCondLst>
                                            <p:cond delay="821"/>
                                          </p:stCondLst>
                                        </p:cTn>
                                        <p:tgtEl>
                                          <p:spTgt spid="11"/>
                                        </p:tgtEl>
                                      </p:cBhvr>
                                      <p:to x="100000" y="90000"/>
                                    </p:animScale>
                                    <p:animScale>
                                      <p:cBhvr>
                                        <p:cTn id="18" dur="83" decel="50000">
                                          <p:stCondLst>
                                            <p:cond delay="834"/>
                                          </p:stCondLst>
                                        </p:cTn>
                                        <p:tgtEl>
                                          <p:spTgt spid="11"/>
                                        </p:tgtEl>
                                      </p:cBhvr>
                                      <p:to x="100000" y="100000"/>
                                    </p:animScale>
                                    <p:animScale>
                                      <p:cBhvr>
                                        <p:cTn id="19" dur="13">
                                          <p:stCondLst>
                                            <p:cond delay="904"/>
                                          </p:stCondLst>
                                        </p:cTn>
                                        <p:tgtEl>
                                          <p:spTgt spid="11"/>
                                        </p:tgtEl>
                                      </p:cBhvr>
                                      <p:to x="100000" y="95000"/>
                                    </p:animScale>
                                    <p:animScale>
                                      <p:cBhvr>
                                        <p:cTn id="20" dur="83" decel="50000">
                                          <p:stCondLst>
                                            <p:cond delay="917"/>
                                          </p:stCondLst>
                                        </p:cTn>
                                        <p:tgtEl>
                                          <p:spTgt spid="11"/>
                                        </p:tgtEl>
                                      </p:cBhvr>
                                      <p:to x="100000" y="100000"/>
                                    </p:animScale>
                                  </p:childTnLst>
                                </p:cTn>
                              </p:par>
                            </p:childTnLst>
                          </p:cTn>
                        </p:par>
                        <p:par>
                          <p:cTn id="21" fill="hold">
                            <p:stCondLst>
                              <p:cond delay="1000"/>
                            </p:stCondLst>
                            <p:childTnLst>
                              <p:par>
                                <p:cTn id="22" presetID="18" presetClass="entr" presetSubtype="6"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strips(downRight)">
                                      <p:cBhvr>
                                        <p:cTn id="24" dur="500"/>
                                        <p:tgtEl>
                                          <p:spTgt spid="9"/>
                                        </p:tgtEl>
                                      </p:cBhvr>
                                    </p:animEffect>
                                  </p:childTnLst>
                                </p:cTn>
                              </p:par>
                            </p:childTnLst>
                          </p:cTn>
                        </p:par>
                        <p:par>
                          <p:cTn id="25" fill="hold">
                            <p:stCondLst>
                              <p:cond delay="1500"/>
                            </p:stCondLst>
                            <p:childTnLst>
                              <p:par>
                                <p:cTn id="26" presetID="22" presetClass="entr" presetSubtype="1" fill="hold" grpId="0"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up)">
                                      <p:cBhvr>
                                        <p:cTn id="2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98475" y="1684020"/>
            <a:ext cx="11194415" cy="48044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416623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4.7.2  查找</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aphicFrame>
        <p:nvGraphicFramePr>
          <p:cNvPr id="10" name="表格 9"/>
          <p:cNvGraphicFramePr/>
          <p:nvPr>
            <p:extLst>
              <p:ext uri="{D42A27DB-BD31-4B8C-83A1-F6EECF244321}">
                <p14:modId xmlns:p14="http://schemas.microsoft.com/office/powerpoint/2010/main" val="2343694867"/>
              </p:ext>
            </p:extLst>
          </p:nvPr>
        </p:nvGraphicFramePr>
        <p:xfrm>
          <a:off x="5200249" y="3741575"/>
          <a:ext cx="6149975" cy="2617548"/>
        </p:xfrm>
        <a:graphic>
          <a:graphicData uri="http://schemas.openxmlformats.org/drawingml/2006/table">
            <a:tbl>
              <a:tblPr firstRow="1" bandRow="1">
                <a:tableStyleId>{5C22544A-7EE6-4342-B048-85BDC9FD1C3A}</a:tableStyleId>
              </a:tblPr>
              <a:tblGrid>
                <a:gridCol w="1575435">
                  <a:extLst>
                    <a:ext uri="{9D8B030D-6E8A-4147-A177-3AD203B41FA5}">
                      <a16:colId xmlns:a16="http://schemas.microsoft.com/office/drawing/2014/main" val="20000"/>
                    </a:ext>
                  </a:extLst>
                </a:gridCol>
                <a:gridCol w="4574540">
                  <a:extLst>
                    <a:ext uri="{9D8B030D-6E8A-4147-A177-3AD203B41FA5}">
                      <a16:colId xmlns:a16="http://schemas.microsoft.com/office/drawing/2014/main" val="20001"/>
                    </a:ext>
                  </a:extLst>
                </a:gridCol>
              </a:tblGrid>
              <a:tr h="563105">
                <a:tc>
                  <a:txBody>
                    <a:bodyPr/>
                    <a:lstStyle/>
                    <a:p>
                      <a:pPr algn="ctr">
                        <a:lnSpc>
                          <a:spcPct val="140000"/>
                        </a:lnSpc>
                        <a:buNone/>
                      </a:pPr>
                      <a:r>
                        <a:rPr lang="zh-CN" altLang="en-US" sz="1800" dirty="0">
                          <a:solidFill>
                            <a:schemeClr val="tx1"/>
                          </a:solidFill>
                          <a:latin typeface="微软雅黑" panose="020B0503020204020204" charset="-122"/>
                          <a:ea typeface="微软雅黑" panose="020B0503020204020204" charset="-122"/>
                        </a:rPr>
                        <a:t>命令</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lnSpc>
                          <a:spcPct val="130000"/>
                        </a:lnSpc>
                        <a:buNone/>
                      </a:pPr>
                      <a:r>
                        <a:rPr lang="zh-CN" altLang="en-US" sz="1800" dirty="0">
                          <a:solidFill>
                            <a:schemeClr val="tx1"/>
                          </a:solidFill>
                        </a:rPr>
                        <a:t>作用</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0"/>
                  </a:ext>
                </a:extLst>
              </a:tr>
              <a:tr h="512129">
                <a:tc>
                  <a:txBody>
                    <a:bodyPr/>
                    <a:lstStyle/>
                    <a:p>
                      <a:pPr marL="0" indent="0" algn="ctr">
                        <a:lnSpc>
                          <a:spcPct val="180000"/>
                        </a:lnSpc>
                        <a:buNone/>
                      </a:pPr>
                      <a:r>
                        <a:rPr lang="en-US" altLang="zh-CN" sz="1800" b="1" u="none" dirty="0">
                          <a:solidFill>
                            <a:srgbClr val="FF0000"/>
                          </a:solidFill>
                          <a:latin typeface="Times New Roman" panose="02020603050405020304" pitchFamily="18" charset="0"/>
                          <a:ea typeface="Calibri" panose="020F0502020204030204" charset="0"/>
                          <a:cs typeface="Calibri" panose="020F0502020204030204" charset="0"/>
                        </a:rPr>
                        <a:t>?</a:t>
                      </a:r>
                      <a:r>
                        <a:rPr lang="zh-CN" altLang="en-US" sz="1800" b="1" u="none" dirty="0">
                          <a:solidFill>
                            <a:srgbClr val="FF0000"/>
                          </a:solidFill>
                          <a:latin typeface="Times New Roman" panose="02020603050405020304" pitchFamily="18" charset="0"/>
                          <a:ea typeface="Calibri" panose="020F0502020204030204" charset="0"/>
                          <a:cs typeface="Calibri" panose="020F0502020204030204" charset="0"/>
                        </a:rPr>
                        <a:t>字符串</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40000"/>
                        </a:lnSpc>
                        <a:buNone/>
                      </a:pPr>
                      <a:r>
                        <a:rPr lang="zh-CN" altLang="en-US" sz="1800" b="0" u="none" dirty="0">
                          <a:solidFill>
                            <a:srgbClr val="FF0000"/>
                          </a:solidFill>
                          <a:latin typeface="微软雅黑" panose="020B0503020204020204" charset="-122"/>
                          <a:ea typeface="微软雅黑" panose="020B0503020204020204" charset="-122"/>
                          <a:cs typeface="Calibri" panose="020F0502020204030204" charset="0"/>
                        </a:rPr>
                        <a:t>向后查找字符串</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12129">
                <a:tc>
                  <a:txBody>
                    <a:bodyPr/>
                    <a:lstStyle/>
                    <a:p>
                      <a:pPr marL="0" indent="0" algn="ctr">
                        <a:lnSpc>
                          <a:spcPct val="180000"/>
                        </a:lnSpc>
                        <a:buNone/>
                      </a:pPr>
                      <a:r>
                        <a:rPr lang="en-US" altLang="zh-CN" sz="1800" b="1" u="none" dirty="0">
                          <a:solidFill>
                            <a:srgbClr val="FF0000"/>
                          </a:solidFill>
                          <a:latin typeface="Times New Roman" panose="02020603050405020304" pitchFamily="18" charset="0"/>
                          <a:ea typeface="Calibri" panose="020F0502020204030204" charset="0"/>
                          <a:cs typeface="Calibri" panose="020F0502020204030204" charset="0"/>
                        </a:rPr>
                        <a:t>/</a:t>
                      </a:r>
                      <a:r>
                        <a:rPr lang="zh-CN" altLang="en-US" sz="1800" b="1" u="none" dirty="0">
                          <a:solidFill>
                            <a:srgbClr val="FF0000"/>
                          </a:solidFill>
                          <a:latin typeface="Times New Roman" panose="02020603050405020304" pitchFamily="18" charset="0"/>
                          <a:ea typeface="Calibri" panose="020F0502020204030204" charset="0"/>
                          <a:cs typeface="Calibri" panose="020F0502020204030204" charset="0"/>
                        </a:rPr>
                        <a:t>字符串</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40000"/>
                        </a:lnSpc>
                        <a:buNone/>
                      </a:pPr>
                      <a:r>
                        <a:rPr lang="zh-CN" altLang="en-US" sz="1800" b="0" u="none" dirty="0">
                          <a:solidFill>
                            <a:srgbClr val="FF0000"/>
                          </a:solidFill>
                          <a:latin typeface="微软雅黑" panose="020B0503020204020204" charset="-122"/>
                          <a:ea typeface="微软雅黑" panose="020B0503020204020204" charset="-122"/>
                          <a:cs typeface="Calibri" panose="020F0502020204030204" charset="0"/>
                        </a:rPr>
                        <a:t>向前查找字符串</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18056">
                <a:tc>
                  <a:txBody>
                    <a:bodyPr/>
                    <a:lstStyle/>
                    <a:p>
                      <a:pPr marL="0" indent="0" algn="ctr">
                        <a:lnSpc>
                          <a:spcPct val="180000"/>
                        </a:lnSpc>
                        <a:buNone/>
                      </a:pPr>
                      <a:r>
                        <a:rPr lang="en-US" altLang="zh-CN" sz="1800" b="1" u="none">
                          <a:solidFill>
                            <a:srgbClr val="FF0000"/>
                          </a:solidFill>
                          <a:latin typeface="Times New Roman" panose="02020603050405020304" pitchFamily="18" charset="0"/>
                          <a:ea typeface="Calibri" panose="020F0502020204030204" charset="0"/>
                          <a:cs typeface="Calibri" panose="020F0502020204030204" charset="0"/>
                        </a:rPr>
                        <a:t>n </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40000"/>
                        </a:lnSpc>
                        <a:buNone/>
                      </a:pPr>
                      <a:r>
                        <a:rPr lang="zh-CN" altLang="en-US" sz="1800" b="0" u="none" dirty="0">
                          <a:solidFill>
                            <a:srgbClr val="FF0000"/>
                          </a:solidFill>
                          <a:latin typeface="微软雅黑" panose="020B0503020204020204" charset="-122"/>
                          <a:ea typeface="微软雅黑" panose="020B0503020204020204" charset="-122"/>
                          <a:cs typeface="Calibri" panose="020F0502020204030204" charset="0"/>
                        </a:rPr>
                        <a:t>继续上一次查找</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12129">
                <a:tc>
                  <a:txBody>
                    <a:bodyPr/>
                    <a:lstStyle/>
                    <a:p>
                      <a:pPr marL="0" indent="0" algn="ctr">
                        <a:lnSpc>
                          <a:spcPct val="180000"/>
                        </a:lnSpc>
                        <a:buNone/>
                      </a:pPr>
                      <a:r>
                        <a:rPr lang="en-US" altLang="zh-CN" sz="1800" b="1" u="none">
                          <a:solidFill>
                            <a:srgbClr val="FF0000"/>
                          </a:solidFill>
                          <a:latin typeface="Times New Roman" panose="02020603050405020304" pitchFamily="18" charset="0"/>
                          <a:ea typeface="Calibri" panose="020F0502020204030204" charset="0"/>
                          <a:cs typeface="Calibri" panose="020F0502020204030204" charset="0"/>
                        </a:rPr>
                        <a:t>N </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40000"/>
                        </a:lnSpc>
                        <a:buNone/>
                      </a:pPr>
                      <a:r>
                        <a:rPr lang="zh-CN" altLang="en-US" sz="1800" b="0" u="none" dirty="0">
                          <a:solidFill>
                            <a:srgbClr val="FF0000"/>
                          </a:solidFill>
                          <a:latin typeface="微软雅黑" panose="020B0503020204020204" charset="-122"/>
                          <a:ea typeface="微软雅黑" panose="020B0503020204020204" charset="-122"/>
                          <a:cs typeface="Calibri" panose="020F0502020204030204" charset="0"/>
                        </a:rPr>
                        <a:t>以与上一次相反的方向查找</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pSp>
        <p:nvGrpSpPr>
          <p:cNvPr id="13" name="组合 12"/>
          <p:cNvGrpSpPr/>
          <p:nvPr/>
        </p:nvGrpSpPr>
        <p:grpSpPr>
          <a:xfrm>
            <a:off x="6861810" y="3199130"/>
            <a:ext cx="3027045" cy="426085"/>
            <a:chOff x="6668135" y="2035810"/>
            <a:chExt cx="2401570" cy="553085"/>
          </a:xfrm>
        </p:grpSpPr>
        <p:sp>
          <p:nvSpPr>
            <p:cNvPr id="12" name="圆角矩形 11"/>
            <p:cNvSpPr/>
            <p:nvPr/>
          </p:nvSpPr>
          <p:spPr>
            <a:xfrm>
              <a:off x="6668135" y="2035810"/>
              <a:ext cx="2401570" cy="553085"/>
            </a:xfrm>
            <a:prstGeom prst="roundRect">
              <a:avLst/>
            </a:prstGeom>
            <a:solidFill>
              <a:srgbClr val="00B0F0"/>
            </a:solidFill>
            <a:ln w="9525" cap="flat" cmpd="sng" algn="ctr">
              <a:solidFill>
                <a:srgbClr val="0070C0"/>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sp>
          <p:nvSpPr>
            <p:cNvPr id="40" name="TextBox 1"/>
            <p:cNvSpPr txBox="1">
              <a:spLocks noChangeArrowheads="1"/>
            </p:cNvSpPr>
            <p:nvPr/>
          </p:nvSpPr>
          <p:spPr bwMode="auto">
            <a:xfrm>
              <a:off x="6938314" y="2072005"/>
              <a:ext cx="2001283" cy="499507"/>
            </a:xfrm>
            <a:prstGeom prst="rect">
              <a:avLst/>
            </a:prstGeom>
            <a:noFill/>
            <a:ln w="9525">
              <a:noFill/>
              <a:miter lim="800000"/>
            </a:ln>
          </p:spPr>
          <p:txBody>
            <a:bodyPr wrap="square">
              <a:spAutoFit/>
            </a:bodyPr>
            <a:lstStyle/>
            <a:p>
              <a:pPr>
                <a:buFont typeface="Arial" panose="020B0604020202020204" pitchFamily="34" charset="0"/>
                <a:buNone/>
              </a:pPr>
              <a:r>
                <a:rPr dirty="0">
                  <a:latin typeface="微软雅黑" panose="020B0503020204020204" charset="-122"/>
                  <a:ea typeface="微软雅黑" panose="020B0503020204020204" charset="-122"/>
                </a:rPr>
                <a:t>表4-4  查找命令</a:t>
              </a:r>
            </a:p>
          </p:txBody>
        </p:sp>
      </p:grpSp>
      <p:grpSp>
        <p:nvGrpSpPr>
          <p:cNvPr id="4" name="组合 3"/>
          <p:cNvGrpSpPr/>
          <p:nvPr/>
        </p:nvGrpSpPr>
        <p:grpSpPr>
          <a:xfrm>
            <a:off x="691515" y="1766570"/>
            <a:ext cx="10391140" cy="1798320"/>
            <a:chOff x="1089" y="2782"/>
            <a:chExt cx="16364" cy="2832"/>
          </a:xfrm>
        </p:grpSpPr>
        <p:sp>
          <p:nvSpPr>
            <p:cNvPr id="11" name="Text Box 44"/>
            <p:cNvSpPr txBox="1">
              <a:spLocks noChangeArrowheads="1"/>
            </p:cNvSpPr>
            <p:nvPr/>
          </p:nvSpPr>
          <p:spPr bwMode="auto">
            <a:xfrm>
              <a:off x="1089" y="2782"/>
              <a:ext cx="16364" cy="283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dirty="0">
                  <a:solidFill>
                    <a:schemeClr val="tx1">
                      <a:lumMod val="75000"/>
                      <a:lumOff val="25000"/>
                    </a:schemeClr>
                  </a:solidFill>
                </a:rPr>
                <a:t>查找显然也是一个成功的字处理软件必需提供的功能。vi提供的</a:t>
              </a:r>
              <a:r>
                <a:rPr lang="zh-CN" altLang="en-US" sz="2000" b="1" dirty="0">
                  <a:solidFill>
                    <a:srgbClr val="0070C0"/>
                  </a:solidFill>
                </a:rPr>
                <a:t>字符串查找功能</a:t>
              </a:r>
              <a:r>
                <a:rPr lang="zh-CN" altLang="en-US" sz="2000" dirty="0">
                  <a:solidFill>
                    <a:schemeClr val="tx1">
                      <a:lumMod val="75000"/>
                      <a:lumOff val="25000"/>
                    </a:schemeClr>
                  </a:solidFill>
                </a:rPr>
                <a:t>，可使用户向前或向后查找，还可以继续上一次查找。当vi向后查找，找到文本的最后时，它就从文本开头的地方继续查找；同样，如果向前查找，找到了文本的开头，它就到文本的末尾继续查找。</a:t>
              </a:r>
            </a:p>
          </p:txBody>
        </p:sp>
        <p:sp>
          <p:nvSpPr>
            <p:cNvPr id="3" name="Text Box 44"/>
            <p:cNvSpPr txBox="1">
              <a:spLocks noChangeArrowheads="1"/>
            </p:cNvSpPr>
            <p:nvPr/>
          </p:nvSpPr>
          <p:spPr bwMode="auto">
            <a:xfrm>
              <a:off x="2813" y="4798"/>
              <a:ext cx="6790" cy="816"/>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fontAlgn="auto">
                <a:lnSpc>
                  <a:spcPct val="140000"/>
                </a:lnSpc>
              </a:pPr>
              <a:r>
                <a:rPr lang="zh-CN" altLang="en-US" sz="2000" b="1" dirty="0">
                  <a:solidFill>
                    <a:schemeClr val="tx1">
                      <a:lumMod val="75000"/>
                      <a:lumOff val="25000"/>
                    </a:schemeClr>
                  </a:solidFill>
                </a:rPr>
                <a:t>vi提供的几种查找命令如表4-4所示。</a:t>
              </a:r>
            </a:p>
          </p:txBody>
        </p:sp>
      </p:grpSp>
      <p:grpSp>
        <p:nvGrpSpPr>
          <p:cNvPr id="2" name="组合 1"/>
          <p:cNvGrpSpPr/>
          <p:nvPr/>
        </p:nvGrpSpPr>
        <p:grpSpPr>
          <a:xfrm>
            <a:off x="1080770" y="4321810"/>
            <a:ext cx="3078480" cy="1728470"/>
            <a:chOff x="1702" y="6806"/>
            <a:chExt cx="4848" cy="2722"/>
          </a:xfrm>
        </p:grpSpPr>
        <p:sp>
          <p:nvSpPr>
            <p:cNvPr id="5" name="圆角矩形标注 4"/>
            <p:cNvSpPr/>
            <p:nvPr/>
          </p:nvSpPr>
          <p:spPr>
            <a:xfrm>
              <a:off x="1702" y="6806"/>
              <a:ext cx="4849" cy="2723"/>
            </a:xfrm>
            <a:prstGeom prst="wedgeRoundRectCallout">
              <a:avLst>
                <a:gd name="adj1" fmla="val 78516"/>
                <a:gd name="adj2" fmla="val -19984"/>
                <a:gd name="adj3" fmla="val 16667"/>
              </a:avLst>
            </a:prstGeom>
            <a:solidFill>
              <a:schemeClr val="bg2"/>
            </a:solidFill>
            <a:ln w="12700" cap="flat" cmpd="sng" algn="ctr">
              <a:solidFill>
                <a:schemeClr val="accent1">
                  <a:shade val="50000"/>
                </a:schemeClr>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sp>
          <p:nvSpPr>
            <p:cNvPr id="6" name="文本框 5"/>
            <p:cNvSpPr txBox="1"/>
            <p:nvPr/>
          </p:nvSpPr>
          <p:spPr>
            <a:xfrm>
              <a:off x="2200" y="6930"/>
              <a:ext cx="4000" cy="2448"/>
            </a:xfrm>
            <a:prstGeom prst="rect">
              <a:avLst/>
            </a:prstGeom>
            <a:noFill/>
          </p:spPr>
          <p:txBody>
            <a:bodyPr wrap="square" rtlCol="0">
              <a:spAutoFit/>
            </a:bodyPr>
            <a:lstStyle/>
            <a:p>
              <a:pPr indent="457200" fontAlgn="auto">
                <a:lnSpc>
                  <a:spcPct val="120000"/>
                </a:lnSpc>
              </a:pPr>
              <a:r>
                <a:rPr lang="zh-CN" altLang="en-US" sz="2000">
                  <a:latin typeface="微软雅黑" panose="020B0503020204020204" charset="-122"/>
                  <a:ea typeface="微软雅黑" panose="020B0503020204020204" charset="-122"/>
                </a:rPr>
                <a:t>在用户输入</a:t>
              </a:r>
              <a:r>
                <a:rPr lang="zh-CN" altLang="en-US" sz="2000" b="1">
                  <a:solidFill>
                    <a:srgbClr val="0070C0"/>
                  </a:solidFill>
                  <a:latin typeface="微软雅黑" panose="020B0503020204020204" charset="-122"/>
                  <a:ea typeface="微软雅黑" panose="020B0503020204020204" charset="-122"/>
                </a:rPr>
                <a:t>“?”或“/”</a:t>
              </a:r>
              <a:r>
                <a:rPr lang="zh-CN" altLang="en-US" sz="2000">
                  <a:latin typeface="微软雅黑" panose="020B0503020204020204" charset="-122"/>
                  <a:ea typeface="微软雅黑" panose="020B0503020204020204" charset="-122"/>
                </a:rPr>
                <a:t>之后，字符就会显示在屏幕底部的状态行上。</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par>
                          <p:cTn id="16" fill="hold">
                            <p:stCondLst>
                              <p:cond delay="1500"/>
                            </p:stCondLst>
                            <p:childTnLst>
                              <p:par>
                                <p:cTn id="17" presetID="22" presetClass="entr" presetSubtype="2"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right)">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98475" y="1684020"/>
            <a:ext cx="11194415" cy="48044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416623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4.7.1  删除与替换</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14" name="组合 14"/>
          <p:cNvGrpSpPr/>
          <p:nvPr/>
        </p:nvGrpSpPr>
        <p:grpSpPr bwMode="auto">
          <a:xfrm>
            <a:off x="6063615" y="1860550"/>
            <a:ext cx="5259070" cy="3973830"/>
            <a:chOff x="1220590" y="1794125"/>
            <a:chExt cx="13504529" cy="1713982"/>
          </a:xfrm>
        </p:grpSpPr>
        <p:grpSp>
          <p:nvGrpSpPr>
            <p:cNvPr id="10249" name="组合 12"/>
            <p:cNvGrpSpPr/>
            <p:nvPr/>
          </p:nvGrpSpPr>
          <p:grpSpPr bwMode="auto">
            <a:xfrm>
              <a:off x="1220590" y="1794125"/>
              <a:ext cx="13504529" cy="1713982"/>
              <a:chOff x="1220590" y="1794125"/>
              <a:chExt cx="13504529" cy="1713982"/>
            </a:xfrm>
          </p:grpSpPr>
          <p:sp>
            <p:nvSpPr>
              <p:cNvPr id="3" name="矩形 2"/>
              <p:cNvSpPr/>
              <p:nvPr/>
            </p:nvSpPr>
            <p:spPr>
              <a:xfrm>
                <a:off x="1220590" y="1794125"/>
                <a:ext cx="13504529"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0252" name="矩形 6"/>
              <p:cNvSpPr>
                <a:spLocks noChangeArrowheads="1"/>
              </p:cNvSpPr>
              <p:nvPr/>
            </p:nvSpPr>
            <p:spPr bwMode="auto">
              <a:xfrm>
                <a:off x="1256464" y="1794125"/>
                <a:ext cx="12539803" cy="354957"/>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FF0000"/>
                    </a:solidFill>
                    <a:latin typeface="微软雅黑" panose="020B0503020204020204" charset="-122"/>
                    <a:ea typeface="微软雅黑" panose="020B0503020204020204" charset="-122"/>
                    <a:cs typeface="华康俪金黑W8(P)"/>
                  </a:rPr>
                  <a:t>例如，</a:t>
                </a:r>
                <a:r>
                  <a:rPr lang="zh-CN" altLang="en-US" sz="2000" b="1">
                    <a:solidFill>
                      <a:srgbClr val="009900"/>
                    </a:solidFill>
                    <a:latin typeface="微软雅黑" panose="020B0503020204020204" charset="-122"/>
                    <a:ea typeface="微软雅黑" panose="020B0503020204020204" charset="-122"/>
                    <a:cs typeface="华康俪金黑W8(P)"/>
                  </a:rPr>
                  <a:t>在file1里查找Hello，输入“?Hello”并回车，则屏幕显示如下：</a:t>
                </a:r>
              </a:p>
            </p:txBody>
          </p:sp>
        </p:grpSp>
        <p:sp>
          <p:nvSpPr>
            <p:cNvPr id="10250" name="MH_Text_1"/>
            <p:cNvSpPr txBox="1">
              <a:spLocks noChangeArrowheads="1"/>
            </p:cNvSpPr>
            <p:nvPr>
              <p:custDataLst>
                <p:tags r:id="rId2"/>
              </p:custDataLst>
            </p:nvPr>
          </p:nvSpPr>
          <p:spPr bwMode="auto">
            <a:xfrm>
              <a:off x="1235265" y="2191260"/>
              <a:ext cx="13217546" cy="1224547"/>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#now  I'm  testing  the  multi-file  operation  of  vi. </a:t>
              </a:r>
            </a:p>
            <a:p>
              <a:pPr indent="457200" eaLnBrk="1" latinLnBrk="0" hangingPunct="1">
                <a:lnSpc>
                  <a:spcPct val="120000"/>
                </a:lnSpc>
                <a:buFont typeface="Arial" panose="020B0604020202020204" pitchFamily="34" charset="0"/>
                <a:buNone/>
              </a:pPr>
              <a:endParaRPr lang="zh-CN" altLang="en-US" sz="2000" b="1" dirty="0">
                <a:solidFill>
                  <a:srgbClr val="0070C0"/>
                </a:solidFill>
                <a:latin typeface="微软雅黑" panose="020B0503020204020204" charset="-122"/>
                <a:ea typeface="微软雅黑" panose="020B0503020204020204" charset="-122"/>
                <a:cs typeface="+mn-cs"/>
                <a:sym typeface="+mn-ea"/>
              </a:endParaRPr>
            </a:p>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It's  the  first  file-file1 </a:t>
              </a:r>
            </a:p>
            <a:p>
              <a:pPr indent="457200" eaLnBrk="1" latinLnBrk="0" hangingPunct="1">
                <a:lnSpc>
                  <a:spcPct val="120000"/>
                </a:lnSpc>
                <a:buFont typeface="Arial" panose="020B0604020202020204" pitchFamily="34" charset="0"/>
                <a:buNone/>
              </a:pPr>
              <a:r>
                <a:rPr lang="zh-CN" altLang="en-US" sz="2000" b="1" u="sng" dirty="0">
                  <a:solidFill>
                    <a:srgbClr val="0070C0"/>
                  </a:solidFill>
                  <a:latin typeface="微软雅黑" panose="020B0503020204020204" charset="-122"/>
                  <a:ea typeface="微软雅黑" panose="020B0503020204020204" charset="-122"/>
                  <a:cs typeface="+mn-cs"/>
                  <a:sym typeface="+mn-ea"/>
                </a:rPr>
                <a:t>H</a:t>
              </a:r>
              <a:r>
                <a:rPr lang="zh-CN" altLang="en-US" sz="2000" b="1" dirty="0">
                  <a:solidFill>
                    <a:srgbClr val="0070C0"/>
                  </a:solidFill>
                  <a:latin typeface="微软雅黑" panose="020B0503020204020204" charset="-122"/>
                  <a:ea typeface="微软雅黑" panose="020B0503020204020204" charset="-122"/>
                  <a:cs typeface="+mn-cs"/>
                  <a:sym typeface="+mn-ea"/>
                </a:rPr>
                <a:t>ello! </a:t>
              </a:r>
            </a:p>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 </a:t>
              </a:r>
            </a:p>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  </a:t>
              </a:r>
            </a:p>
          </p:txBody>
        </p:sp>
      </p:grpSp>
      <p:grpSp>
        <p:nvGrpSpPr>
          <p:cNvPr id="28" name="组合 27"/>
          <p:cNvGrpSpPr/>
          <p:nvPr/>
        </p:nvGrpSpPr>
        <p:grpSpPr>
          <a:xfrm>
            <a:off x="1100455" y="3990975"/>
            <a:ext cx="4385945" cy="2101215"/>
            <a:chOff x="15037" y="7916"/>
            <a:chExt cx="4941" cy="2910"/>
          </a:xfrm>
        </p:grpSpPr>
        <p:grpSp>
          <p:nvGrpSpPr>
            <p:cNvPr id="2" name="组合 14"/>
            <p:cNvGrpSpPr/>
            <p:nvPr/>
          </p:nvGrpSpPr>
          <p:grpSpPr bwMode="auto">
            <a:xfrm>
              <a:off x="15108" y="8481"/>
              <a:ext cx="4870" cy="2345"/>
              <a:chOff x="1166778" y="1723580"/>
              <a:chExt cx="9858444" cy="1776858"/>
            </a:xfrm>
          </p:grpSpPr>
          <p:grpSp>
            <p:nvGrpSpPr>
              <p:cNvPr id="8" name="组合 12"/>
              <p:cNvGrpSpPr/>
              <p:nvPr/>
            </p:nvGrpSpPr>
            <p:grpSpPr bwMode="auto">
              <a:xfrm>
                <a:off x="1166778" y="1723580"/>
                <a:ext cx="9858444" cy="1776858"/>
                <a:chOff x="1166778" y="1723580"/>
                <a:chExt cx="9858444" cy="1776858"/>
              </a:xfrm>
            </p:grpSpPr>
            <p:sp>
              <p:nvSpPr>
                <p:cNvPr id="10" name="矩形 9"/>
                <p:cNvSpPr/>
                <p:nvPr/>
              </p:nvSpPr>
              <p:spPr>
                <a:xfrm>
                  <a:off x="1166778"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2" name="矩形 6"/>
                <p:cNvSpPr>
                  <a:spLocks noChangeArrowheads="1"/>
                </p:cNvSpPr>
                <p:nvPr/>
              </p:nvSpPr>
              <p:spPr bwMode="auto">
                <a:xfrm>
                  <a:off x="3338877" y="1723580"/>
                  <a:ext cx="2479793" cy="479776"/>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华康俪金黑W8(P)"/>
                      <a:ea typeface="华康俪金黑W8(P)"/>
                      <a:cs typeface="华康俪金黑W8(P)"/>
                    </a:rPr>
                    <a:t>注意</a:t>
                  </a:r>
                </a:p>
              </p:txBody>
            </p:sp>
          </p:grpSp>
          <p:sp>
            <p:nvSpPr>
              <p:cNvPr id="17" name="MH_Text_1"/>
              <p:cNvSpPr txBox="1">
                <a:spLocks noChangeArrowheads="1"/>
              </p:cNvSpPr>
              <p:nvPr>
                <p:custDataLst>
                  <p:tags r:id="rId1"/>
                </p:custDataLst>
              </p:nvPr>
            </p:nvSpPr>
            <p:spPr bwMode="auto">
              <a:xfrm>
                <a:off x="1166778" y="2214554"/>
                <a:ext cx="9858444" cy="1214446"/>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sz="2000" b="1" dirty="0">
                    <a:solidFill>
                      <a:srgbClr val="FF0000"/>
                    </a:solidFill>
                    <a:latin typeface="微软雅黑" panose="020B0503020204020204" charset="-122"/>
                    <a:ea typeface="微软雅黑" panose="020B0503020204020204" charset="-122"/>
                  </a:rPr>
                  <a:t>在查找时，要注意字母的大小写，因为在vi编辑器中，大写字母与小写字母不是一个字母。</a:t>
                </a:r>
              </a:p>
            </p:txBody>
          </p:sp>
        </p:grpSp>
        <p:pic>
          <p:nvPicPr>
            <p:cNvPr id="18" name="图片 4" descr="www.tuweimei.comComp_9747389_aloyhm04q205BMmtimdiv2o2HN82PIep.jpg"/>
            <p:cNvPicPr>
              <a:picLocks noGrp="1"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15037" y="7916"/>
              <a:ext cx="1463" cy="1463"/>
            </a:xfrm>
            <a:prstGeom prst="rect">
              <a:avLst/>
            </a:prstGeom>
            <a:noFill/>
            <a:ln w="9525">
              <a:noFill/>
              <a:miter lim="800000"/>
              <a:headEnd/>
              <a:tailEnd/>
            </a:ln>
          </p:spPr>
        </p:pic>
      </p:grpSp>
      <p:grpSp>
        <p:nvGrpSpPr>
          <p:cNvPr id="5" name="组合 4"/>
          <p:cNvGrpSpPr/>
          <p:nvPr/>
        </p:nvGrpSpPr>
        <p:grpSpPr>
          <a:xfrm>
            <a:off x="1450975" y="2508250"/>
            <a:ext cx="3176270" cy="1221740"/>
            <a:chOff x="2285" y="3950"/>
            <a:chExt cx="5002" cy="1924"/>
          </a:xfrm>
        </p:grpSpPr>
        <p:sp>
          <p:nvSpPr>
            <p:cNvPr id="13" name="线形标注 2 12"/>
            <p:cNvSpPr/>
            <p:nvPr/>
          </p:nvSpPr>
          <p:spPr>
            <a:xfrm flipH="1">
              <a:off x="2285" y="3950"/>
              <a:ext cx="5002" cy="1925"/>
            </a:xfrm>
            <a:prstGeom prst="borderCallout2">
              <a:avLst>
                <a:gd name="adj1" fmla="val 18745"/>
                <a:gd name="adj2" fmla="val -2339"/>
                <a:gd name="adj3" fmla="val 18750"/>
                <a:gd name="adj4" fmla="val -16667"/>
                <a:gd name="adj5" fmla="val 162181"/>
                <a:gd name="adj6" fmla="val -57217"/>
              </a:avLst>
            </a:prstGeom>
            <a:solidFill>
              <a:schemeClr val="bg2"/>
            </a:solidFill>
            <a:ln w="12700" cap="flat" cmpd="sng" algn="ctr">
              <a:solidFill>
                <a:schemeClr val="accent1">
                  <a:shade val="50000"/>
                </a:schemeClr>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sp>
          <p:nvSpPr>
            <p:cNvPr id="15" name="文本框 14"/>
            <p:cNvSpPr txBox="1"/>
            <p:nvPr/>
          </p:nvSpPr>
          <p:spPr>
            <a:xfrm>
              <a:off x="2574" y="4274"/>
              <a:ext cx="4424" cy="1200"/>
            </a:xfrm>
            <a:prstGeom prst="rect">
              <a:avLst/>
            </a:prstGeom>
            <a:noFill/>
          </p:spPr>
          <p:txBody>
            <a:bodyPr wrap="square" rtlCol="0">
              <a:spAutoFit/>
            </a:bodyPr>
            <a:lstStyle/>
            <a:p>
              <a:pPr indent="457200" fontAlgn="auto">
                <a:lnSpc>
                  <a:spcPct val="110000"/>
                </a:lnSpc>
              </a:pPr>
              <a:r>
                <a:rPr lang="zh-CN" altLang="en-US" sz="2000" b="1">
                  <a:solidFill>
                    <a:srgbClr val="0070C0"/>
                  </a:solidFill>
                  <a:latin typeface="微软雅黑" panose="020B0503020204020204" charset="-122"/>
                  <a:ea typeface="微软雅黑" panose="020B0503020204020204" charset="-122"/>
                </a:rPr>
                <a:t>光标停在Hello单词的第一个字母H上。</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trips(downRight)">
                                      <p:cBhvr>
                                        <p:cTn id="7" dur="500"/>
                                        <p:tgtEl>
                                          <p:spTgt spid="14"/>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right)">
                                      <p:cBhvr>
                                        <p:cTn id="11" dur="500"/>
                                        <p:tgtEl>
                                          <p:spTgt spid="5"/>
                                        </p:tgtEl>
                                      </p:cBhvr>
                                    </p:animEffect>
                                  </p:childTnLst>
                                </p:cTn>
                              </p:par>
                            </p:childTnLst>
                          </p:cTn>
                        </p:par>
                        <p:par>
                          <p:cTn id="12" fill="hold">
                            <p:stCondLst>
                              <p:cond delay="1000"/>
                            </p:stCondLst>
                            <p:childTnLst>
                              <p:par>
                                <p:cTn id="13" presetID="18" presetClass="entr" presetSubtype="6"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strips(downRight)">
                                      <p:cBhvr>
                                        <p:cTn id="1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99110" y="1612265"/>
            <a:ext cx="11194415" cy="48044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360172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4.7.3  复制、粘贴、剪切</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sp>
        <p:nvSpPr>
          <p:cNvPr id="11" name="圆角矩形 10"/>
          <p:cNvSpPr/>
          <p:nvPr/>
        </p:nvSpPr>
        <p:spPr bwMode="auto">
          <a:xfrm>
            <a:off x="952464" y="1728774"/>
            <a:ext cx="4929222" cy="4643470"/>
          </a:xfrm>
          <a:prstGeom prst="roundRect">
            <a:avLst>
              <a:gd name="adj" fmla="val 3473"/>
            </a:avLst>
          </a:prstGeom>
          <a:solidFill>
            <a:schemeClr val="accent6">
              <a:lumMod val="20000"/>
              <a:lumOff val="80000"/>
            </a:schemeClr>
          </a:solidFill>
          <a:ln w="19050" cap="flat" cmpd="sng" algn="ctr">
            <a:noFill/>
            <a:prstDash val="dash"/>
            <a:round/>
            <a:headEnd type="none" w="med" len="med"/>
            <a:tailEnd type="none" w="med" len="med"/>
          </a:ln>
          <a:effectLst/>
        </p:spPr>
        <p:txBody>
          <a:bodyPr/>
          <a:lstStyle/>
          <a:p>
            <a:pPr eaLnBrk="0" hangingPunct="0">
              <a:defRPr/>
            </a:pPr>
            <a:endParaRPr lang="zh-CN" altLang="en-US" kern="0" dirty="0">
              <a:solidFill>
                <a:srgbClr val="000000"/>
              </a:solidFill>
              <a:latin typeface="Mistral" panose="03090702030407020403" pitchFamily="66" charset="0"/>
              <a:cs typeface="Microsoft Sans Serif" panose="020B0604020202020204" pitchFamily="34" charset="0"/>
            </a:endParaRPr>
          </a:p>
        </p:txBody>
      </p:sp>
      <p:sp>
        <p:nvSpPr>
          <p:cNvPr id="12" name="矩形 3"/>
          <p:cNvSpPr>
            <a:spLocks noChangeArrowheads="1"/>
          </p:cNvSpPr>
          <p:nvPr/>
        </p:nvSpPr>
        <p:spPr bwMode="auto">
          <a:xfrm>
            <a:off x="1167385" y="2274848"/>
            <a:ext cx="4365668" cy="1234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457200" eaLnBrk="0" fontAlgn="auto" hangingPunct="0">
              <a:lnSpc>
                <a:spcPct val="125000"/>
              </a:lnSpc>
              <a:spcAft>
                <a:spcPts val="600"/>
              </a:spcAft>
              <a:buClr>
                <a:srgbClr val="000000"/>
              </a:buClr>
            </a:pPr>
            <a:r>
              <a:rPr lang="zh-CN" altLang="en-US" sz="2000" dirty="0">
                <a:solidFill>
                  <a:schemeClr val="tx1">
                    <a:lumMod val="75000"/>
                    <a:lumOff val="25000"/>
                  </a:schemeClr>
                </a:solidFill>
                <a:latin typeface="微软雅黑" panose="020B0503020204020204" charset="-122"/>
                <a:ea typeface="微软雅黑" panose="020B0503020204020204" charset="-122"/>
                <a:sym typeface="+mn-ea"/>
              </a:rPr>
              <a:t>如果要在vi编辑器里移动大块的文字，就不得不借助于复制、粘贴或者剪切功能了。</a:t>
            </a:r>
            <a:endParaRPr lang="zh-CN" altLang="en-US" sz="2000" dirty="0">
              <a:solidFill>
                <a:schemeClr val="tx1">
                  <a:lumMod val="65000"/>
                  <a:lumOff val="35000"/>
                </a:schemeClr>
              </a:solidFill>
              <a:latin typeface="微软雅黑" panose="020B0503020204020204" charset="-122"/>
              <a:ea typeface="微软雅黑" panose="020B0503020204020204" charset="-122"/>
            </a:endParaRPr>
          </a:p>
        </p:txBody>
      </p:sp>
      <p:sp>
        <p:nvSpPr>
          <p:cNvPr id="13" name="圆角矩形 12"/>
          <p:cNvSpPr/>
          <p:nvPr/>
        </p:nvSpPr>
        <p:spPr bwMode="auto">
          <a:xfrm>
            <a:off x="6453505" y="1637030"/>
            <a:ext cx="5036185" cy="4733290"/>
          </a:xfrm>
          <a:prstGeom prst="roundRect">
            <a:avLst>
              <a:gd name="adj" fmla="val 3473"/>
            </a:avLst>
          </a:prstGeom>
          <a:solidFill>
            <a:schemeClr val="accent6">
              <a:lumMod val="20000"/>
              <a:lumOff val="80000"/>
            </a:schemeClr>
          </a:solidFill>
          <a:ln w="19050" cap="flat" cmpd="sng" algn="ctr">
            <a:noFill/>
            <a:prstDash val="dash"/>
            <a:round/>
            <a:headEnd type="none" w="med" len="med"/>
            <a:tailEnd type="none" w="med" len="med"/>
          </a:ln>
          <a:effectLst/>
        </p:spPr>
        <p:txBody>
          <a:bodyPr/>
          <a:lstStyle/>
          <a:p>
            <a:pPr eaLnBrk="0" hangingPunct="0">
              <a:defRPr/>
            </a:pPr>
            <a:endParaRPr lang="zh-CN" altLang="en-US" kern="0" dirty="0">
              <a:solidFill>
                <a:srgbClr val="000000"/>
              </a:solidFill>
              <a:latin typeface="Mistral" panose="03090702030407020403" pitchFamily="66" charset="0"/>
              <a:cs typeface="Microsoft Sans Serif" panose="020B0604020202020204" pitchFamily="34" charset="0"/>
            </a:endParaRPr>
          </a:p>
        </p:txBody>
      </p:sp>
      <p:sp>
        <p:nvSpPr>
          <p:cNvPr id="14" name="矩形 13"/>
          <p:cNvSpPr/>
          <p:nvPr/>
        </p:nvSpPr>
        <p:spPr>
          <a:xfrm>
            <a:off x="6096000" y="2060246"/>
            <a:ext cx="146266" cy="4286280"/>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3"/>
          <p:cNvSpPr>
            <a:spLocks noChangeArrowheads="1"/>
          </p:cNvSpPr>
          <p:nvPr/>
        </p:nvSpPr>
        <p:spPr bwMode="auto">
          <a:xfrm>
            <a:off x="6482309" y="2104486"/>
            <a:ext cx="5072098"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457200" fontAlgn="auto">
              <a:lnSpc>
                <a:spcPct val="150000"/>
              </a:lnSpc>
            </a:pPr>
            <a:r>
              <a:rPr lang="zh-CN" altLang="en-US" sz="1600" dirty="0">
                <a:solidFill>
                  <a:schemeClr val="tx1">
                    <a:lumMod val="75000"/>
                    <a:lumOff val="25000"/>
                  </a:schemeClr>
                </a:solidFill>
                <a:latin typeface="微软雅黑" panose="020B0503020204020204" charset="-122"/>
                <a:ea typeface="微软雅黑" panose="020B0503020204020204" charset="-122"/>
                <a:sym typeface="+mn-ea"/>
              </a:rPr>
              <a:t>有过Windows使用经验的人都知道，Windows为所有的程序均提供了一个剪贴板。复制的动作就是将选定的内容送到了剪贴板；粘贴就是将剪贴板里的内容送到编辑器；剪切就是不仅将选项的内容送到剪贴板，而且将选定的文本在编辑器里删除。</a:t>
            </a:r>
          </a:p>
          <a:p>
            <a:pPr indent="457200" fontAlgn="auto">
              <a:lnSpc>
                <a:spcPct val="150000"/>
              </a:lnSpc>
            </a:pPr>
            <a:r>
              <a:rPr lang="zh-CN" altLang="en-US" sz="1600" dirty="0">
                <a:solidFill>
                  <a:schemeClr val="tx1">
                    <a:lumMod val="75000"/>
                    <a:lumOff val="25000"/>
                  </a:schemeClr>
                </a:solidFill>
                <a:latin typeface="微软雅黑" panose="020B0503020204020204" charset="-122"/>
                <a:ea typeface="微软雅黑" panose="020B0503020204020204" charset="-122"/>
                <a:sym typeface="+mn-ea"/>
              </a:rPr>
              <a:t>在vi编辑器里的这些操作与Windows的</a:t>
            </a:r>
            <a:r>
              <a:rPr lang="zh-CN" altLang="en-US" sz="1600" b="1" dirty="0">
                <a:solidFill>
                  <a:srgbClr val="0070C0"/>
                </a:solidFill>
                <a:latin typeface="微软雅黑" panose="020B0503020204020204" charset="-122"/>
                <a:ea typeface="微软雅黑" panose="020B0503020204020204" charset="-122"/>
                <a:sym typeface="+mn-ea"/>
              </a:rPr>
              <a:t>机理是相同的</a:t>
            </a:r>
            <a:r>
              <a:rPr lang="zh-CN" altLang="en-US" sz="1600" dirty="0">
                <a:solidFill>
                  <a:schemeClr val="tx1">
                    <a:lumMod val="75000"/>
                    <a:lumOff val="25000"/>
                  </a:schemeClr>
                </a:solidFill>
                <a:latin typeface="微软雅黑" panose="020B0503020204020204" charset="-122"/>
                <a:ea typeface="微软雅黑" panose="020B0503020204020204" charset="-122"/>
                <a:sym typeface="+mn-ea"/>
              </a:rPr>
              <a:t>，不同的是，Windows中的剪贴板由系统提供，剪贴板里的内容可以被其他的程序利用；而在vi编辑器中，</a:t>
            </a:r>
            <a:r>
              <a:rPr lang="zh-CN" altLang="en-US" sz="1600" b="1" dirty="0">
                <a:solidFill>
                  <a:srgbClr val="0070C0"/>
                </a:solidFill>
                <a:latin typeface="微软雅黑" panose="020B0503020204020204" charset="-122"/>
                <a:ea typeface="微软雅黑" panose="020B0503020204020204" charset="-122"/>
                <a:sym typeface="+mn-ea"/>
              </a:rPr>
              <a:t>剪贴板是vi自己划出来的一块内存，其内容不能被其他的程序所利用。</a:t>
            </a:r>
            <a:endParaRPr lang="zh-CN" altLang="en-US" sz="1600" dirty="0">
              <a:solidFill>
                <a:schemeClr val="tx1">
                  <a:lumMod val="75000"/>
                  <a:lumOff val="25000"/>
                </a:schemeClr>
              </a:solidFill>
              <a:latin typeface="微软雅黑" panose="020B0503020204020204" charset="-122"/>
              <a:ea typeface="微软雅黑" panose="020B0503020204020204" charset="-122"/>
              <a:sym typeface="+mn-ea"/>
            </a:endParaRPr>
          </a:p>
        </p:txBody>
      </p:sp>
      <p:pic>
        <p:nvPicPr>
          <p:cNvPr id="84994" name="图片 1" descr="锤子3.jpg"/>
          <p:cNvPicPr>
            <a:picLocks noGrp="1" noChangeAspect="1"/>
          </p:cNvPicPr>
          <p:nvPr/>
        </p:nvPicPr>
        <p:blipFill>
          <a:blip r:embed="rId2" cstate="print">
            <a:clrChange>
              <a:clrFrom>
                <a:srgbClr val="FFFFFF"/>
              </a:clrFrom>
              <a:clrTo>
                <a:srgbClr val="FFFFFF">
                  <a:alpha val="0"/>
                </a:srgbClr>
              </a:clrTo>
            </a:clrChange>
          </a:blip>
          <a:stretch>
            <a:fillRect/>
          </a:stretch>
        </p:blipFill>
        <p:spPr>
          <a:xfrm>
            <a:off x="1593849" y="3448936"/>
            <a:ext cx="3631293" cy="2723899"/>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4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60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40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60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par>
                          <p:cTn id="21" fill="hold">
                            <p:stCondLst>
                              <p:cond delay="900"/>
                            </p:stCondLst>
                            <p:childTnLst>
                              <p:par>
                                <p:cTn id="22" presetID="22" presetClass="entr" presetSubtype="1" fill="hold" nodeType="afterEffect">
                                  <p:stCondLst>
                                    <p:cond delay="0"/>
                                  </p:stCondLst>
                                  <p:childTnLst>
                                    <p:set>
                                      <p:cBhvr>
                                        <p:cTn id="23" dur="1" fill="hold">
                                          <p:stCondLst>
                                            <p:cond delay="0"/>
                                          </p:stCondLst>
                                        </p:cTn>
                                        <p:tgtEl>
                                          <p:spTgt spid="84994"/>
                                        </p:tgtEl>
                                        <p:attrNameLst>
                                          <p:attrName>style.visibility</p:attrName>
                                        </p:attrNameLst>
                                      </p:cBhvr>
                                      <p:to>
                                        <p:strVal val="visible"/>
                                      </p:to>
                                    </p:set>
                                    <p:animEffect transition="in" filter="wipe(up)">
                                      <p:cBhvr>
                                        <p:cTn id="24" dur="500"/>
                                        <p:tgtEl>
                                          <p:spTgt spid="849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p:bldP spid="13" grpId="0" bldLvl="0" animBg="1"/>
      <p:bldP spid="1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99110" y="1826895"/>
            <a:ext cx="11083925" cy="458978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360172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4.7.3  复制、粘贴、剪切</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sp>
        <p:nvSpPr>
          <p:cNvPr id="10" name="Text Box 44"/>
          <p:cNvSpPr txBox="1">
            <a:spLocks noChangeArrowheads="1"/>
          </p:cNvSpPr>
          <p:nvPr/>
        </p:nvSpPr>
        <p:spPr bwMode="auto">
          <a:xfrm>
            <a:off x="913130" y="2070100"/>
            <a:ext cx="10026650" cy="283464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pPr>
            <a:r>
              <a:rPr lang="zh-CN" altLang="en-US" sz="2000" dirty="0">
                <a:solidFill>
                  <a:schemeClr val="tx1">
                    <a:lumMod val="75000"/>
                    <a:lumOff val="25000"/>
                  </a:schemeClr>
                </a:solidFill>
              </a:rPr>
              <a:t>在vi编辑器中，复制的方式有两种：</a:t>
            </a:r>
            <a:r>
              <a:rPr lang="zh-CN" altLang="en-US" sz="2000" b="1" dirty="0">
                <a:solidFill>
                  <a:srgbClr val="0070C0"/>
                </a:solidFill>
              </a:rPr>
              <a:t>鼠标方式和命令方式</a:t>
            </a:r>
            <a:r>
              <a:rPr lang="zh-CN" altLang="en-US" sz="2000" dirty="0">
                <a:solidFill>
                  <a:schemeClr val="tx1">
                    <a:lumMod val="75000"/>
                    <a:lumOff val="25000"/>
                  </a:schemeClr>
                </a:solidFill>
              </a:rPr>
              <a:t>。</a:t>
            </a:r>
          </a:p>
          <a:p>
            <a:pPr fontAlgn="auto">
              <a:lnSpc>
                <a:spcPct val="150000"/>
              </a:lnSpc>
            </a:pPr>
            <a:r>
              <a:rPr lang="zh-CN" altLang="en-US" sz="2000" dirty="0">
                <a:solidFill>
                  <a:schemeClr val="tx1">
                    <a:lumMod val="75000"/>
                    <a:lumOff val="25000"/>
                  </a:schemeClr>
                </a:solidFill>
              </a:rPr>
              <a:t>如果用户安装了鼠标，并且安装了鼠标驱动程序gpm，那么在vi编辑器里，用户可以</a:t>
            </a:r>
            <a:r>
              <a:rPr lang="zh-CN" altLang="en-US" sz="2000" b="1" dirty="0">
                <a:solidFill>
                  <a:srgbClr val="0070C0"/>
                </a:solidFill>
              </a:rPr>
              <a:t>用鼠标来复制和粘贴文件</a:t>
            </a:r>
            <a:r>
              <a:rPr lang="zh-CN" altLang="en-US" sz="2000" dirty="0">
                <a:solidFill>
                  <a:schemeClr val="tx1">
                    <a:lumMod val="75000"/>
                    <a:lumOff val="25000"/>
                  </a:schemeClr>
                </a:solidFill>
              </a:rPr>
              <a:t>。在用户要复制的文本开始处按下鼠标的左键并拖动它，用户将看到被鼠标扫过的文字都由原来的黑底白字变成了白底黑字。亮条标志了用户选定的文本。在用户要复制文本的最后一个字上放开鼠标左键，就完成了对选定文本的复制。选定的文本就被送到了缓冲区。在用户松开鼠标的时候，白色亮条并不消失。</a:t>
            </a:r>
          </a:p>
        </p:txBody>
      </p:sp>
      <p:grpSp>
        <p:nvGrpSpPr>
          <p:cNvPr id="13" name="组合 12"/>
          <p:cNvGrpSpPr/>
          <p:nvPr/>
        </p:nvGrpSpPr>
        <p:grpSpPr>
          <a:xfrm>
            <a:off x="691515" y="1612265"/>
            <a:ext cx="2164080" cy="512671"/>
            <a:chOff x="6668135" y="2035810"/>
            <a:chExt cx="2401570" cy="619329"/>
          </a:xfrm>
        </p:grpSpPr>
        <p:sp>
          <p:nvSpPr>
            <p:cNvPr id="6" name="圆角矩形 5"/>
            <p:cNvSpPr/>
            <p:nvPr/>
          </p:nvSpPr>
          <p:spPr>
            <a:xfrm>
              <a:off x="6668135" y="2035810"/>
              <a:ext cx="2401570" cy="553085"/>
            </a:xfrm>
            <a:prstGeom prst="roundRect">
              <a:avLst/>
            </a:prstGeom>
            <a:solidFill>
              <a:srgbClr val="00B0F0"/>
            </a:solidFill>
            <a:ln w="9525" cap="flat" cmpd="sng" algn="ctr">
              <a:solidFill>
                <a:srgbClr val="0070C0"/>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sp>
          <p:nvSpPr>
            <p:cNvPr id="40" name="TextBox 1"/>
            <p:cNvSpPr txBox="1">
              <a:spLocks noChangeArrowheads="1"/>
            </p:cNvSpPr>
            <p:nvPr/>
          </p:nvSpPr>
          <p:spPr bwMode="auto">
            <a:xfrm>
              <a:off x="7174230" y="2071370"/>
              <a:ext cx="1630680" cy="583769"/>
            </a:xfrm>
            <a:prstGeom prst="rect">
              <a:avLst/>
            </a:prstGeom>
            <a:noFill/>
            <a:ln w="9525">
              <a:noFill/>
              <a:miter lim="800000"/>
            </a:ln>
          </p:spPr>
          <p:txBody>
            <a:bodyPr wrap="square">
              <a:spAutoFit/>
            </a:bodyPr>
            <a:lstStyle/>
            <a:p>
              <a:pPr>
                <a:buFont typeface="Arial" panose="020B0604020202020204" pitchFamily="34" charset="0"/>
                <a:buNone/>
              </a:pPr>
              <a:r>
                <a:rPr lang="zh-CN" altLang="en-US" sz="2400" dirty="0">
                  <a:latin typeface="微软雅黑" panose="020B0503020204020204" charset="-122"/>
                  <a:ea typeface="微软雅黑" panose="020B0503020204020204" charset="-122"/>
                </a:rPr>
                <a:t>1．复制</a:t>
              </a:r>
            </a:p>
          </p:txBody>
        </p:sp>
        <p:grpSp>
          <p:nvGrpSpPr>
            <p:cNvPr id="7" name="组合 36"/>
            <p:cNvGrpSpPr/>
            <p:nvPr/>
          </p:nvGrpSpPr>
          <p:grpSpPr bwMode="auto">
            <a:xfrm>
              <a:off x="6812280" y="2138680"/>
              <a:ext cx="361950" cy="347663"/>
              <a:chOff x="7070971" y="788848"/>
              <a:chExt cx="1800200" cy="1800200"/>
            </a:xfrm>
          </p:grpSpPr>
          <p:sp>
            <p:nvSpPr>
              <p:cNvPr id="8" name="椭圆 7"/>
              <p:cNvSpPr/>
              <p:nvPr/>
            </p:nvSpPr>
            <p:spPr>
              <a:xfrm>
                <a:off x="7070971" y="788848"/>
                <a:ext cx="1800200" cy="1800200"/>
              </a:xfrm>
              <a:prstGeom prst="ellipse">
                <a:avLst/>
              </a:prstGeom>
              <a:solidFill>
                <a:srgbClr val="FFFFFF">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9" name="燕尾形 8"/>
              <p:cNvSpPr/>
              <p:nvPr/>
            </p:nvSpPr>
            <p:spPr>
              <a:xfrm>
                <a:off x="7576290" y="1166972"/>
                <a:ext cx="789561" cy="1043953"/>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solidFill>
                    <a:schemeClr val="tx1"/>
                  </a:solidFill>
                </a:endParaRPr>
              </a:p>
            </p:txBody>
          </p:sp>
        </p:grpSp>
      </p:grpSp>
      <p:grpSp>
        <p:nvGrpSpPr>
          <p:cNvPr id="28" name="组合 27"/>
          <p:cNvGrpSpPr/>
          <p:nvPr/>
        </p:nvGrpSpPr>
        <p:grpSpPr>
          <a:xfrm>
            <a:off x="1025525" y="4745990"/>
            <a:ext cx="9883775" cy="1610481"/>
            <a:chOff x="15037" y="7916"/>
            <a:chExt cx="4941" cy="2911"/>
          </a:xfrm>
        </p:grpSpPr>
        <p:grpSp>
          <p:nvGrpSpPr>
            <p:cNvPr id="3" name="组合 14"/>
            <p:cNvGrpSpPr/>
            <p:nvPr/>
          </p:nvGrpSpPr>
          <p:grpSpPr bwMode="auto">
            <a:xfrm>
              <a:off x="15108" y="8553"/>
              <a:ext cx="4870" cy="2274"/>
              <a:chOff x="1166778" y="1778378"/>
              <a:chExt cx="9858444" cy="1723095"/>
            </a:xfrm>
          </p:grpSpPr>
          <p:grpSp>
            <p:nvGrpSpPr>
              <p:cNvPr id="4" name="组合 12"/>
              <p:cNvGrpSpPr/>
              <p:nvPr/>
            </p:nvGrpSpPr>
            <p:grpSpPr bwMode="auto">
              <a:xfrm>
                <a:off x="1166778" y="1778378"/>
                <a:ext cx="9858444" cy="1722060"/>
                <a:chOff x="1166778" y="1778378"/>
                <a:chExt cx="9858444" cy="1722060"/>
              </a:xfrm>
            </p:grpSpPr>
            <p:sp>
              <p:nvSpPr>
                <p:cNvPr id="5" name="矩形 4"/>
                <p:cNvSpPr/>
                <p:nvPr/>
              </p:nvSpPr>
              <p:spPr>
                <a:xfrm>
                  <a:off x="1166778"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2" name="矩形 6"/>
                <p:cNvSpPr>
                  <a:spLocks noChangeArrowheads="1"/>
                </p:cNvSpPr>
                <p:nvPr/>
              </p:nvSpPr>
              <p:spPr bwMode="auto">
                <a:xfrm>
                  <a:off x="2146749" y="1778378"/>
                  <a:ext cx="1163118" cy="626264"/>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FF0000"/>
                      </a:solidFill>
                      <a:latin typeface="华康俪金黑W8(P)"/>
                      <a:ea typeface="华康俪金黑W8(P)"/>
                      <a:cs typeface="华康俪金黑W8(P)"/>
                    </a:rPr>
                    <a:t>注意</a:t>
                  </a:r>
                </a:p>
              </p:txBody>
            </p:sp>
          </p:grpSp>
          <p:sp>
            <p:nvSpPr>
              <p:cNvPr id="17" name="MH_Text_1"/>
              <p:cNvSpPr txBox="1">
                <a:spLocks noChangeArrowheads="1"/>
              </p:cNvSpPr>
              <p:nvPr>
                <p:custDataLst>
                  <p:tags r:id="rId1"/>
                </p:custDataLst>
              </p:nvPr>
            </p:nvSpPr>
            <p:spPr bwMode="auto">
              <a:xfrm>
                <a:off x="1166778" y="2403772"/>
                <a:ext cx="9858227" cy="1097701"/>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b="1" dirty="0">
                    <a:solidFill>
                      <a:srgbClr val="0070C0"/>
                    </a:solidFill>
                    <a:latin typeface="微软雅黑" panose="020B0503020204020204" charset="-122"/>
                    <a:ea typeface="微软雅黑" panose="020B0503020204020204" charset="-122"/>
                  </a:rPr>
                  <a:t>但是要注意的是，用鼠标复制的功能是由系统提供的，与vi无关。所以，复制的内容并不是送到了vi的剪贴板上，而是在鼠标驱动程序gpm的剪贴板上，这种复制必须用鼠标来粘贴。</a:t>
                </a:r>
              </a:p>
            </p:txBody>
          </p:sp>
        </p:grpSp>
        <p:pic>
          <p:nvPicPr>
            <p:cNvPr id="18" name="图片 4" descr="www.tuweimei.comComp_9747389_aloyhm04q205BMmtimdiv2o2HN82PIep.jpg"/>
            <p:cNvPicPr>
              <a:picLocks noGrp="1"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5037" y="7916"/>
              <a:ext cx="559" cy="1464"/>
            </a:xfrm>
            <a:prstGeom prst="rect">
              <a:avLst/>
            </a:prstGeom>
            <a:noFill/>
            <a:ln w="9525">
              <a:noFill/>
              <a:miter lim="800000"/>
              <a:headEnd/>
              <a:tailEnd/>
            </a:ln>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8" presetClass="entr" presetSubtype="6" fill="hold" grpId="0" nodeType="after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strips(downRight)">
                                      <p:cBhvr>
                                        <p:cTn id="12" dur="500"/>
                                        <p:tgtEl>
                                          <p:spTgt spid="10"/>
                                        </p:tgtEl>
                                      </p:cBhvr>
                                    </p:animEffect>
                                  </p:childTnLst>
                                </p:cTn>
                              </p:par>
                            </p:childTnLst>
                          </p:cTn>
                        </p:par>
                        <p:par>
                          <p:cTn id="13" fill="hold">
                            <p:stCondLst>
                              <p:cond delay="1000"/>
                            </p:stCondLst>
                            <p:childTnLst>
                              <p:par>
                                <p:cTn id="14" presetID="18" presetClass="entr" presetSubtype="6" fill="hold" nodeType="after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strips(downRight)">
                                      <p:cBhvr>
                                        <p:cTn id="1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99110" y="1826895"/>
            <a:ext cx="11083925" cy="458978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360172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4.7.3  复制、粘贴、剪切</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aphicFrame>
        <p:nvGraphicFramePr>
          <p:cNvPr id="2" name="表格 1"/>
          <p:cNvGraphicFramePr/>
          <p:nvPr>
            <p:extLst>
              <p:ext uri="{D42A27DB-BD31-4B8C-83A1-F6EECF244321}">
                <p14:modId xmlns:p14="http://schemas.microsoft.com/office/powerpoint/2010/main" val="3803539078"/>
              </p:ext>
            </p:extLst>
          </p:nvPr>
        </p:nvGraphicFramePr>
        <p:xfrm>
          <a:off x="692150" y="3430270"/>
          <a:ext cx="6149340" cy="2774950"/>
        </p:xfrm>
        <a:graphic>
          <a:graphicData uri="http://schemas.openxmlformats.org/drawingml/2006/table">
            <a:tbl>
              <a:tblPr firstRow="1" bandRow="1">
                <a:tableStyleId>{5C22544A-7EE6-4342-B048-85BDC9FD1C3A}</a:tableStyleId>
              </a:tblPr>
              <a:tblGrid>
                <a:gridCol w="1575435">
                  <a:extLst>
                    <a:ext uri="{9D8B030D-6E8A-4147-A177-3AD203B41FA5}">
                      <a16:colId xmlns:a16="http://schemas.microsoft.com/office/drawing/2014/main" val="20000"/>
                    </a:ext>
                  </a:extLst>
                </a:gridCol>
                <a:gridCol w="4573905">
                  <a:extLst>
                    <a:ext uri="{9D8B030D-6E8A-4147-A177-3AD203B41FA5}">
                      <a16:colId xmlns:a16="http://schemas.microsoft.com/office/drawing/2014/main" val="20001"/>
                    </a:ext>
                  </a:extLst>
                </a:gridCol>
              </a:tblGrid>
              <a:tr h="742315">
                <a:tc>
                  <a:txBody>
                    <a:bodyPr/>
                    <a:lstStyle/>
                    <a:p>
                      <a:pPr algn="ctr">
                        <a:lnSpc>
                          <a:spcPct val="140000"/>
                        </a:lnSpc>
                        <a:buNone/>
                      </a:pPr>
                      <a:r>
                        <a:rPr lang="zh-CN" altLang="en-US" sz="2400" dirty="0">
                          <a:solidFill>
                            <a:schemeClr val="tx1"/>
                          </a:solidFill>
                          <a:latin typeface="微软雅黑" panose="020B0503020204020204" charset="-122"/>
                          <a:ea typeface="微软雅黑" panose="020B0503020204020204" charset="-122"/>
                        </a:rPr>
                        <a:t>命令</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lnSpc>
                          <a:spcPct val="130000"/>
                        </a:lnSpc>
                        <a:buNone/>
                      </a:pPr>
                      <a:r>
                        <a:rPr lang="zh-CN" altLang="en-US" sz="2400" dirty="0">
                          <a:solidFill>
                            <a:schemeClr val="tx1"/>
                          </a:solidFill>
                        </a:rPr>
                        <a:t>作用</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0"/>
                  </a:ext>
                </a:extLst>
              </a:tr>
              <a:tr h="675005">
                <a:tc>
                  <a:txBody>
                    <a:bodyPr/>
                    <a:lstStyle/>
                    <a:p>
                      <a:pPr marL="0" indent="0" algn="ctr">
                        <a:lnSpc>
                          <a:spcPct val="110000"/>
                        </a:lnSpc>
                        <a:buNone/>
                      </a:pPr>
                      <a:r>
                        <a:rPr lang="en-US" altLang="zh-CN" sz="2400" b="1" u="none" dirty="0" err="1">
                          <a:solidFill>
                            <a:srgbClr val="0070C0"/>
                          </a:solidFill>
                          <a:latin typeface="Times New Roman" panose="02020603050405020304" pitchFamily="18" charset="0"/>
                          <a:ea typeface="Calibri" panose="020F0502020204030204" charset="0"/>
                          <a:cs typeface="Calibri" panose="020F0502020204030204" charset="0"/>
                        </a:rPr>
                        <a:t>yw</a:t>
                      </a:r>
                      <a:r>
                        <a:rPr lang="en-US" altLang="zh-CN" sz="2400" b="1" u="none" dirty="0">
                          <a:solidFill>
                            <a:srgbClr val="0070C0"/>
                          </a:solidFill>
                          <a:latin typeface="Times New Roman" panose="02020603050405020304" pitchFamily="18" charset="0"/>
                          <a:ea typeface="Calibri" panose="020F0502020204030204" charset="0"/>
                          <a:cs typeface="Calibri" panose="020F0502020204030204" charset="0"/>
                        </a:rPr>
                        <a:t> </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60000"/>
                        </a:lnSpc>
                        <a:buNone/>
                      </a:pPr>
                      <a:r>
                        <a:rPr lang="zh-CN" altLang="en-US" sz="1800" b="0" u="none" dirty="0">
                          <a:latin typeface="微软雅黑" panose="020B0503020204020204" charset="-122"/>
                          <a:ea typeface="微软雅黑" panose="020B0503020204020204" charset="-122"/>
                          <a:cs typeface="Calibri" panose="020F0502020204030204" charset="0"/>
                        </a:rPr>
                        <a:t>复制当前光标至下一个单词开始的内容</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75005">
                <a:tc>
                  <a:txBody>
                    <a:bodyPr/>
                    <a:lstStyle/>
                    <a:p>
                      <a:pPr marL="0" indent="0" algn="ctr">
                        <a:lnSpc>
                          <a:spcPct val="110000"/>
                        </a:lnSpc>
                        <a:buNone/>
                      </a:pPr>
                      <a:r>
                        <a:rPr lang="en-US" altLang="zh-CN" sz="2400" b="1" u="none" dirty="0">
                          <a:solidFill>
                            <a:srgbClr val="FF0000"/>
                          </a:solidFill>
                          <a:latin typeface="Times New Roman" panose="02020603050405020304" pitchFamily="18" charset="0"/>
                          <a:ea typeface="Calibri" panose="020F0502020204030204" charset="0"/>
                          <a:cs typeface="Calibri" panose="020F0502020204030204" charset="0"/>
                        </a:rPr>
                        <a:t>y$ </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60000"/>
                        </a:lnSpc>
                        <a:buNone/>
                      </a:pPr>
                      <a:r>
                        <a:rPr lang="zh-CN" altLang="en-US" sz="1800" b="0" u="none" dirty="0">
                          <a:solidFill>
                            <a:srgbClr val="FF0000"/>
                          </a:solidFill>
                          <a:latin typeface="微软雅黑" panose="020B0503020204020204" charset="-122"/>
                          <a:ea typeface="微软雅黑" panose="020B0503020204020204" charset="-122"/>
                          <a:cs typeface="Calibri" panose="020F0502020204030204" charset="0"/>
                        </a:rPr>
                        <a:t>复制当前光标至行尾的内容</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82625">
                <a:tc>
                  <a:txBody>
                    <a:bodyPr/>
                    <a:lstStyle/>
                    <a:p>
                      <a:pPr marL="0" indent="0" algn="ctr">
                        <a:lnSpc>
                          <a:spcPct val="110000"/>
                        </a:lnSpc>
                        <a:buNone/>
                      </a:pPr>
                      <a:r>
                        <a:rPr lang="en-US" altLang="zh-CN" sz="2400" b="1" u="none" dirty="0" err="1">
                          <a:solidFill>
                            <a:srgbClr val="FF0000"/>
                          </a:solidFill>
                          <a:latin typeface="Times New Roman" panose="02020603050405020304" pitchFamily="18" charset="0"/>
                          <a:ea typeface="Calibri" panose="020F0502020204030204" charset="0"/>
                          <a:cs typeface="Calibri" panose="020F0502020204030204" charset="0"/>
                        </a:rPr>
                        <a:t>yy</a:t>
                      </a:r>
                      <a:r>
                        <a:rPr lang="en-US" altLang="zh-CN" sz="2400" b="1" u="none" dirty="0">
                          <a:solidFill>
                            <a:srgbClr val="FF0000"/>
                          </a:solidFill>
                          <a:latin typeface="Times New Roman" panose="02020603050405020304" pitchFamily="18" charset="0"/>
                          <a:ea typeface="Calibri" panose="020F0502020204030204" charset="0"/>
                          <a:cs typeface="Calibri" panose="020F0502020204030204" charset="0"/>
                        </a:rPr>
                        <a:t> </a:t>
                      </a:r>
                      <a:r>
                        <a:rPr lang="zh-CN" altLang="en-US" sz="2400" b="1" u="none" dirty="0">
                          <a:solidFill>
                            <a:srgbClr val="FF0000"/>
                          </a:solidFill>
                          <a:latin typeface="Times New Roman" panose="02020603050405020304" pitchFamily="18" charset="0"/>
                          <a:ea typeface="Calibri" panose="020F0502020204030204" charset="0"/>
                          <a:cs typeface="Calibri" panose="020F0502020204030204" charset="0"/>
                        </a:rPr>
                        <a:t>或 </a:t>
                      </a:r>
                      <a:r>
                        <a:rPr lang="en-US" altLang="zh-CN" sz="2400" b="1" u="none" dirty="0">
                          <a:solidFill>
                            <a:srgbClr val="FF0000"/>
                          </a:solidFill>
                          <a:latin typeface="Times New Roman" panose="02020603050405020304" pitchFamily="18" charset="0"/>
                          <a:ea typeface="Calibri" panose="020F0502020204030204" charset="0"/>
                          <a:cs typeface="Calibri" panose="020F0502020204030204" charset="0"/>
                        </a:rPr>
                        <a:t>Y </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60000"/>
                        </a:lnSpc>
                        <a:buNone/>
                      </a:pPr>
                      <a:r>
                        <a:rPr lang="zh-CN" altLang="en-US" sz="1800" b="0" u="none" dirty="0">
                          <a:solidFill>
                            <a:srgbClr val="FF0000"/>
                          </a:solidFill>
                          <a:latin typeface="微软雅黑" panose="020B0503020204020204" charset="-122"/>
                          <a:ea typeface="微软雅黑" panose="020B0503020204020204" charset="-122"/>
                          <a:cs typeface="Calibri" panose="020F0502020204030204" charset="0"/>
                        </a:rPr>
                        <a:t>复制整行</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11" name="Text Box 44"/>
          <p:cNvSpPr txBox="1">
            <a:spLocks noChangeArrowheads="1"/>
          </p:cNvSpPr>
          <p:nvPr/>
        </p:nvSpPr>
        <p:spPr bwMode="auto">
          <a:xfrm>
            <a:off x="390525" y="1972945"/>
            <a:ext cx="11061700" cy="51816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dirty="0">
                <a:solidFill>
                  <a:schemeClr val="tx1">
                    <a:lumMod val="75000"/>
                    <a:lumOff val="25000"/>
                  </a:schemeClr>
                </a:solidFill>
              </a:rPr>
              <a:t>vi也提供了命令方式来复制文字，而且复制的对象也分为</a:t>
            </a:r>
            <a:r>
              <a:rPr lang="zh-CN" altLang="en-US" sz="2000" b="1" dirty="0">
                <a:solidFill>
                  <a:srgbClr val="0070C0"/>
                </a:solidFill>
              </a:rPr>
              <a:t>单词和行</a:t>
            </a:r>
            <a:r>
              <a:rPr lang="zh-CN" altLang="en-US" sz="2000" dirty="0">
                <a:solidFill>
                  <a:schemeClr val="tx1">
                    <a:lumMod val="75000"/>
                    <a:lumOff val="25000"/>
                  </a:schemeClr>
                </a:solidFill>
              </a:rPr>
              <a:t>，其复制命令如表4-5所示。</a:t>
            </a:r>
          </a:p>
        </p:txBody>
      </p:sp>
      <p:grpSp>
        <p:nvGrpSpPr>
          <p:cNvPr id="3" name="组合 2"/>
          <p:cNvGrpSpPr/>
          <p:nvPr/>
        </p:nvGrpSpPr>
        <p:grpSpPr>
          <a:xfrm>
            <a:off x="1954556" y="2728245"/>
            <a:ext cx="3027045" cy="426085"/>
            <a:chOff x="6668135" y="2035810"/>
            <a:chExt cx="2401570" cy="553085"/>
          </a:xfrm>
        </p:grpSpPr>
        <p:sp>
          <p:nvSpPr>
            <p:cNvPr id="12" name="圆角矩形 11"/>
            <p:cNvSpPr/>
            <p:nvPr/>
          </p:nvSpPr>
          <p:spPr>
            <a:xfrm>
              <a:off x="6668135" y="2035810"/>
              <a:ext cx="2401570" cy="553085"/>
            </a:xfrm>
            <a:prstGeom prst="roundRect">
              <a:avLst/>
            </a:prstGeom>
            <a:solidFill>
              <a:srgbClr val="00B0F0"/>
            </a:solidFill>
            <a:ln w="9525" cap="flat" cmpd="sng" algn="ctr">
              <a:solidFill>
                <a:srgbClr val="0070C0"/>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sp>
          <p:nvSpPr>
            <p:cNvPr id="4" name="TextBox 1"/>
            <p:cNvSpPr txBox="1">
              <a:spLocks noChangeArrowheads="1"/>
            </p:cNvSpPr>
            <p:nvPr/>
          </p:nvSpPr>
          <p:spPr bwMode="auto">
            <a:xfrm>
              <a:off x="6998769" y="2072005"/>
              <a:ext cx="2001283" cy="499507"/>
            </a:xfrm>
            <a:prstGeom prst="rect">
              <a:avLst/>
            </a:prstGeom>
            <a:noFill/>
            <a:ln w="9525">
              <a:noFill/>
              <a:miter lim="800000"/>
            </a:ln>
          </p:spPr>
          <p:txBody>
            <a:bodyPr wrap="square">
              <a:spAutoFit/>
            </a:bodyPr>
            <a:lstStyle/>
            <a:p>
              <a:pPr>
                <a:buFont typeface="Arial" panose="020B0604020202020204" pitchFamily="34" charset="0"/>
                <a:buNone/>
              </a:pPr>
              <a:r>
                <a:rPr dirty="0">
                  <a:latin typeface="微软雅黑" panose="020B0503020204020204" charset="-122"/>
                  <a:ea typeface="微软雅黑" panose="020B0503020204020204" charset="-122"/>
                </a:rPr>
                <a:t>表4-5  复制命令</a:t>
              </a:r>
            </a:p>
          </p:txBody>
        </p:sp>
      </p:grpSp>
      <p:grpSp>
        <p:nvGrpSpPr>
          <p:cNvPr id="28" name="组合 27"/>
          <p:cNvGrpSpPr/>
          <p:nvPr/>
        </p:nvGrpSpPr>
        <p:grpSpPr>
          <a:xfrm>
            <a:off x="6958965" y="3430905"/>
            <a:ext cx="4385945" cy="2774315"/>
            <a:chOff x="15037" y="7916"/>
            <a:chExt cx="4941" cy="2910"/>
          </a:xfrm>
        </p:grpSpPr>
        <p:grpSp>
          <p:nvGrpSpPr>
            <p:cNvPr id="5" name="组合 14"/>
            <p:cNvGrpSpPr/>
            <p:nvPr/>
          </p:nvGrpSpPr>
          <p:grpSpPr bwMode="auto">
            <a:xfrm>
              <a:off x="15108" y="8481"/>
              <a:ext cx="4870" cy="2345"/>
              <a:chOff x="1166778" y="1723580"/>
              <a:chExt cx="9858444" cy="1776858"/>
            </a:xfrm>
          </p:grpSpPr>
          <p:grpSp>
            <p:nvGrpSpPr>
              <p:cNvPr id="14" name="组合 12"/>
              <p:cNvGrpSpPr/>
              <p:nvPr/>
            </p:nvGrpSpPr>
            <p:grpSpPr bwMode="auto">
              <a:xfrm>
                <a:off x="1166778" y="1723580"/>
                <a:ext cx="9858444" cy="1776858"/>
                <a:chOff x="1166778" y="1723580"/>
                <a:chExt cx="9858444" cy="1776858"/>
              </a:xfrm>
            </p:grpSpPr>
            <p:sp>
              <p:nvSpPr>
                <p:cNvPr id="15" name="矩形 14"/>
                <p:cNvSpPr/>
                <p:nvPr/>
              </p:nvSpPr>
              <p:spPr>
                <a:xfrm>
                  <a:off x="1166778"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6" name="矩形 6"/>
                <p:cNvSpPr>
                  <a:spLocks noChangeArrowheads="1"/>
                </p:cNvSpPr>
                <p:nvPr/>
              </p:nvSpPr>
              <p:spPr bwMode="auto">
                <a:xfrm>
                  <a:off x="3338877" y="1723580"/>
                  <a:ext cx="2479793" cy="363374"/>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华康俪金黑W8(P)"/>
                      <a:ea typeface="华康俪金黑W8(P)"/>
                      <a:cs typeface="华康俪金黑W8(P)"/>
                    </a:rPr>
                    <a:t>注意</a:t>
                  </a:r>
                </a:p>
              </p:txBody>
            </p:sp>
          </p:grpSp>
          <p:sp>
            <p:nvSpPr>
              <p:cNvPr id="17" name="MH_Text_1"/>
              <p:cNvSpPr txBox="1">
                <a:spLocks noChangeArrowheads="1"/>
              </p:cNvSpPr>
              <p:nvPr>
                <p:custDataLst>
                  <p:tags r:id="rId1"/>
                </p:custDataLst>
              </p:nvPr>
            </p:nvSpPr>
            <p:spPr bwMode="auto">
              <a:xfrm>
                <a:off x="1320278" y="2214684"/>
                <a:ext cx="9496777" cy="1214766"/>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rPr>
                  <a:t>在用组合键进行复制的时候，屏幕上不会有用鼠标复制时的白色亮条来提示用户究竟复制了哪些内容。</a:t>
                </a:r>
              </a:p>
            </p:txBody>
          </p:sp>
        </p:grpSp>
        <p:pic>
          <p:nvPicPr>
            <p:cNvPr id="18" name="图片 4" descr="www.tuweimei.comComp_9747389_aloyhm04q205BMmtimdiv2o2HN82PIep.jpg"/>
            <p:cNvPicPr>
              <a:picLocks noGrp="1"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5037" y="7916"/>
              <a:ext cx="1463" cy="1463"/>
            </a:xfrm>
            <a:prstGeom prst="rect">
              <a:avLst/>
            </a:prstGeom>
            <a:noFill/>
            <a:ln w="9525">
              <a:noFill/>
              <a:miter lim="800000"/>
              <a:headEnd/>
              <a:tailEnd/>
            </a:ln>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wipe(left)">
                                      <p:cBhvr>
                                        <p:cTn id="1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99110" y="1826895"/>
            <a:ext cx="11083925" cy="458978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360172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4.7.3  复制、粘贴、剪切</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13" name="组合 12"/>
          <p:cNvGrpSpPr/>
          <p:nvPr/>
        </p:nvGrpSpPr>
        <p:grpSpPr>
          <a:xfrm>
            <a:off x="691515" y="1612265"/>
            <a:ext cx="2164080" cy="512671"/>
            <a:chOff x="6668135" y="2035810"/>
            <a:chExt cx="2401570" cy="619329"/>
          </a:xfrm>
        </p:grpSpPr>
        <p:sp>
          <p:nvSpPr>
            <p:cNvPr id="6" name="圆角矩形 5"/>
            <p:cNvSpPr/>
            <p:nvPr/>
          </p:nvSpPr>
          <p:spPr>
            <a:xfrm>
              <a:off x="6668135" y="2035810"/>
              <a:ext cx="2401570" cy="553085"/>
            </a:xfrm>
            <a:prstGeom prst="roundRect">
              <a:avLst/>
            </a:prstGeom>
            <a:solidFill>
              <a:srgbClr val="00B0F0"/>
            </a:solidFill>
            <a:ln w="9525" cap="flat" cmpd="sng" algn="ctr">
              <a:solidFill>
                <a:srgbClr val="0070C0"/>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sp>
          <p:nvSpPr>
            <p:cNvPr id="40" name="TextBox 1"/>
            <p:cNvSpPr txBox="1">
              <a:spLocks noChangeArrowheads="1"/>
            </p:cNvSpPr>
            <p:nvPr/>
          </p:nvSpPr>
          <p:spPr bwMode="auto">
            <a:xfrm>
              <a:off x="7174230" y="2071370"/>
              <a:ext cx="1630680" cy="583769"/>
            </a:xfrm>
            <a:prstGeom prst="rect">
              <a:avLst/>
            </a:prstGeom>
            <a:noFill/>
            <a:ln w="9525">
              <a:noFill/>
              <a:miter lim="800000"/>
            </a:ln>
          </p:spPr>
          <p:txBody>
            <a:bodyPr wrap="square">
              <a:spAutoFit/>
            </a:bodyPr>
            <a:lstStyle/>
            <a:p>
              <a:pPr>
                <a:buFont typeface="Arial" panose="020B0604020202020204" pitchFamily="34" charset="0"/>
                <a:buNone/>
              </a:pPr>
              <a:r>
                <a:rPr lang="zh-CN" altLang="en-US" sz="2400" dirty="0">
                  <a:latin typeface="微软雅黑" panose="020B0503020204020204" charset="-122"/>
                  <a:ea typeface="微软雅黑" panose="020B0503020204020204" charset="-122"/>
                </a:rPr>
                <a:t>2．粘贴</a:t>
              </a:r>
            </a:p>
          </p:txBody>
        </p:sp>
        <p:grpSp>
          <p:nvGrpSpPr>
            <p:cNvPr id="7" name="组合 36"/>
            <p:cNvGrpSpPr/>
            <p:nvPr/>
          </p:nvGrpSpPr>
          <p:grpSpPr bwMode="auto">
            <a:xfrm>
              <a:off x="6812280" y="2138680"/>
              <a:ext cx="361950" cy="347663"/>
              <a:chOff x="7070971" y="788848"/>
              <a:chExt cx="1800200" cy="1800200"/>
            </a:xfrm>
          </p:grpSpPr>
          <p:sp>
            <p:nvSpPr>
              <p:cNvPr id="8" name="椭圆 7"/>
              <p:cNvSpPr/>
              <p:nvPr/>
            </p:nvSpPr>
            <p:spPr>
              <a:xfrm>
                <a:off x="7070971" y="788848"/>
                <a:ext cx="1800200" cy="1800200"/>
              </a:xfrm>
              <a:prstGeom prst="ellipse">
                <a:avLst/>
              </a:prstGeom>
              <a:solidFill>
                <a:srgbClr val="FFFFFF">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9" name="燕尾形 8"/>
              <p:cNvSpPr/>
              <p:nvPr/>
            </p:nvSpPr>
            <p:spPr>
              <a:xfrm>
                <a:off x="7576290" y="1166972"/>
                <a:ext cx="789561" cy="1043953"/>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solidFill>
                    <a:schemeClr val="tx1"/>
                  </a:solidFill>
                </a:endParaRPr>
              </a:p>
            </p:txBody>
          </p:sp>
        </p:grpSp>
      </p:grpSp>
      <p:grpSp>
        <p:nvGrpSpPr>
          <p:cNvPr id="28" name="组合 27"/>
          <p:cNvGrpSpPr/>
          <p:nvPr/>
        </p:nvGrpSpPr>
        <p:grpSpPr>
          <a:xfrm>
            <a:off x="7752080" y="3238500"/>
            <a:ext cx="3713480" cy="2005229"/>
            <a:chOff x="15037" y="7916"/>
            <a:chExt cx="4941" cy="2910"/>
          </a:xfrm>
        </p:grpSpPr>
        <p:grpSp>
          <p:nvGrpSpPr>
            <p:cNvPr id="3" name="组合 14"/>
            <p:cNvGrpSpPr/>
            <p:nvPr/>
          </p:nvGrpSpPr>
          <p:grpSpPr bwMode="auto">
            <a:xfrm>
              <a:off x="15108" y="8553"/>
              <a:ext cx="4870" cy="2273"/>
              <a:chOff x="1166778" y="1778378"/>
              <a:chExt cx="9858501" cy="1722060"/>
            </a:xfrm>
          </p:grpSpPr>
          <p:grpSp>
            <p:nvGrpSpPr>
              <p:cNvPr id="4" name="组合 12"/>
              <p:cNvGrpSpPr/>
              <p:nvPr/>
            </p:nvGrpSpPr>
            <p:grpSpPr bwMode="auto">
              <a:xfrm>
                <a:off x="1166778" y="1778378"/>
                <a:ext cx="9858444" cy="1722060"/>
                <a:chOff x="1166778" y="1778378"/>
                <a:chExt cx="9858444" cy="1722060"/>
              </a:xfrm>
            </p:grpSpPr>
            <p:sp>
              <p:nvSpPr>
                <p:cNvPr id="5" name="矩形 4"/>
                <p:cNvSpPr/>
                <p:nvPr/>
              </p:nvSpPr>
              <p:spPr>
                <a:xfrm>
                  <a:off x="1166778"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2" name="矩形 6"/>
                <p:cNvSpPr>
                  <a:spLocks noChangeArrowheads="1"/>
                </p:cNvSpPr>
                <p:nvPr/>
              </p:nvSpPr>
              <p:spPr bwMode="auto">
                <a:xfrm>
                  <a:off x="3217497" y="1778378"/>
                  <a:ext cx="3160741" cy="502689"/>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FF0000"/>
                      </a:solidFill>
                      <a:latin typeface="华康俪金黑W8(P)"/>
                      <a:ea typeface="华康俪金黑W8(P)"/>
                      <a:cs typeface="华康俪金黑W8(P)"/>
                    </a:rPr>
                    <a:t>注意</a:t>
                  </a:r>
                </a:p>
              </p:txBody>
            </p:sp>
          </p:grpSp>
          <p:sp>
            <p:nvSpPr>
              <p:cNvPr id="17" name="MH_Text_1"/>
              <p:cNvSpPr txBox="1">
                <a:spLocks noChangeArrowheads="1"/>
              </p:cNvSpPr>
              <p:nvPr>
                <p:custDataLst>
                  <p:tags r:id="rId1"/>
                </p:custDataLst>
              </p:nvPr>
            </p:nvSpPr>
            <p:spPr bwMode="auto">
              <a:xfrm>
                <a:off x="1166778" y="2223243"/>
                <a:ext cx="9858501" cy="1260550"/>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b="1">
                    <a:solidFill>
                      <a:srgbClr val="0070C0"/>
                    </a:solidFill>
                    <a:latin typeface="微软雅黑" panose="020B0503020204020204" charset="-122"/>
                    <a:ea typeface="微软雅黑" panose="020B0503020204020204" charset="-122"/>
                  </a:rPr>
                  <a:t>记住，一定要将光标放在那个位置的后面，因为鼠标操作会粘贴到光标所在位置的前面。</a:t>
                </a:r>
              </a:p>
            </p:txBody>
          </p:sp>
        </p:grpSp>
        <p:pic>
          <p:nvPicPr>
            <p:cNvPr id="18" name="图片 4" descr="www.tuweimei.comComp_9747389_aloyhm04q205BMmtimdiv2o2HN82PIep.jpg"/>
            <p:cNvPicPr>
              <a:picLocks noGrp="1"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5037" y="7916"/>
              <a:ext cx="1085" cy="1464"/>
            </a:xfrm>
            <a:prstGeom prst="rect">
              <a:avLst/>
            </a:prstGeom>
            <a:noFill/>
            <a:ln w="9525">
              <a:noFill/>
              <a:miter lim="800000"/>
              <a:headEnd/>
              <a:tailEnd/>
            </a:ln>
          </p:spPr>
        </p:pic>
      </p:grpSp>
      <p:grpSp>
        <p:nvGrpSpPr>
          <p:cNvPr id="14" name="组合 13"/>
          <p:cNvGrpSpPr/>
          <p:nvPr/>
        </p:nvGrpSpPr>
        <p:grpSpPr>
          <a:xfrm>
            <a:off x="438785" y="2070100"/>
            <a:ext cx="10982325" cy="4239895"/>
            <a:chOff x="691" y="3260"/>
            <a:chExt cx="17295" cy="6677"/>
          </a:xfrm>
        </p:grpSpPr>
        <p:sp>
          <p:nvSpPr>
            <p:cNvPr id="10" name="Text Box 44"/>
            <p:cNvSpPr txBox="1">
              <a:spLocks noChangeArrowheads="1"/>
            </p:cNvSpPr>
            <p:nvPr/>
          </p:nvSpPr>
          <p:spPr bwMode="auto">
            <a:xfrm>
              <a:off x="1438" y="3260"/>
              <a:ext cx="15790" cy="2304"/>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pPr>
              <a:r>
                <a:rPr lang="zh-CN" altLang="en-US" sz="2000" dirty="0">
                  <a:solidFill>
                    <a:schemeClr val="tx1">
                      <a:lumMod val="75000"/>
                      <a:lumOff val="25000"/>
                    </a:schemeClr>
                  </a:solidFill>
                </a:rPr>
                <a:t>不同的复制方法对应不同的粘贴方法。</a:t>
              </a:r>
            </a:p>
            <a:p>
              <a:pPr fontAlgn="auto">
                <a:lnSpc>
                  <a:spcPct val="150000"/>
                </a:lnSpc>
              </a:pPr>
              <a:r>
                <a:rPr lang="zh-CN" altLang="en-US" sz="2000" dirty="0">
                  <a:solidFill>
                    <a:schemeClr val="tx1">
                      <a:lumMod val="75000"/>
                      <a:lumOff val="25000"/>
                    </a:schemeClr>
                  </a:solidFill>
                </a:rPr>
                <a:t>如果用户是用鼠标复制的，那么在粘贴的时候，首先应该</a:t>
              </a:r>
              <a:r>
                <a:rPr lang="zh-CN" altLang="en-US" sz="2000" b="1" dirty="0">
                  <a:solidFill>
                    <a:srgbClr val="0070C0"/>
                  </a:solidFill>
                </a:rPr>
                <a:t>用键盘</a:t>
              </a:r>
              <a:r>
                <a:rPr lang="zh-CN" altLang="en-US" sz="2000" dirty="0">
                  <a:solidFill>
                    <a:schemeClr val="tx1">
                      <a:lumMod val="75000"/>
                      <a:lumOff val="25000"/>
                    </a:schemeClr>
                  </a:solidFill>
                </a:rPr>
                <a:t>来移动光标，将光标移动至用户要粘贴的</a:t>
              </a:r>
              <a:r>
                <a:rPr lang="zh-CN" altLang="en-US" sz="2000" b="1" dirty="0">
                  <a:solidFill>
                    <a:srgbClr val="0070C0"/>
                  </a:solidFill>
                </a:rPr>
                <a:t>位置后面</a:t>
              </a:r>
              <a:r>
                <a:rPr lang="zh-CN" altLang="en-US" sz="2000" dirty="0">
                  <a:solidFill>
                    <a:schemeClr val="tx1">
                      <a:lumMod val="75000"/>
                      <a:lumOff val="25000"/>
                    </a:schemeClr>
                  </a:solidFill>
                </a:rPr>
                <a:t>。</a:t>
              </a:r>
            </a:p>
          </p:txBody>
        </p:sp>
        <p:sp>
          <p:nvSpPr>
            <p:cNvPr id="2" name="Text Box 44"/>
            <p:cNvSpPr txBox="1">
              <a:spLocks noChangeArrowheads="1"/>
            </p:cNvSpPr>
            <p:nvPr/>
          </p:nvSpPr>
          <p:spPr bwMode="auto">
            <a:xfrm>
              <a:off x="691" y="5731"/>
              <a:ext cx="11492" cy="1584"/>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pPr>
              <a:r>
                <a:rPr lang="zh-CN" altLang="en-US" sz="2000" dirty="0">
                  <a:solidFill>
                    <a:schemeClr val="tx1">
                      <a:lumMod val="75000"/>
                      <a:lumOff val="25000"/>
                    </a:schemeClr>
                  </a:solidFill>
                </a:rPr>
                <a:t>用命令方式的复制就应该用vi提供的粘贴命令</a:t>
              </a:r>
              <a:r>
                <a:rPr lang="zh-CN" altLang="en-US" sz="2000" b="1" dirty="0">
                  <a:solidFill>
                    <a:srgbClr val="0070C0"/>
                  </a:solidFill>
                </a:rPr>
                <a:t>组合键来粘贴</a:t>
              </a:r>
              <a:r>
                <a:rPr lang="zh-CN" altLang="en-US" sz="2000" dirty="0">
                  <a:solidFill>
                    <a:schemeClr val="tx1">
                      <a:lumMod val="75000"/>
                      <a:lumOff val="25000"/>
                    </a:schemeClr>
                  </a:solidFill>
                </a:rPr>
                <a:t>。</a:t>
              </a:r>
            </a:p>
            <a:p>
              <a:pPr fontAlgn="auto">
                <a:lnSpc>
                  <a:spcPct val="150000"/>
                </a:lnSpc>
              </a:pPr>
              <a:r>
                <a:rPr lang="zh-CN" altLang="en-US" sz="2000" dirty="0">
                  <a:solidFill>
                    <a:schemeClr val="tx1">
                      <a:lumMod val="75000"/>
                      <a:lumOff val="25000"/>
                    </a:schemeClr>
                  </a:solidFill>
                </a:rPr>
                <a:t>vi的粘贴命令很简单，只有以下两个：</a:t>
              </a:r>
            </a:p>
          </p:txBody>
        </p:sp>
        <p:sp>
          <p:nvSpPr>
            <p:cNvPr id="50" name="矩形 49"/>
            <p:cNvSpPr/>
            <p:nvPr/>
          </p:nvSpPr>
          <p:spPr>
            <a:xfrm>
              <a:off x="1438" y="7411"/>
              <a:ext cx="9462" cy="1536"/>
            </a:xfrm>
            <a:prstGeom prst="rect">
              <a:avLst/>
            </a:prstGeom>
          </p:spPr>
          <p:txBody>
            <a:bodyPr wrap="square">
              <a:spAutoFit/>
            </a:bodyPr>
            <a:lstStyle/>
            <a:p>
              <a:pPr marL="285750" indent="-285750">
                <a:lnSpc>
                  <a:spcPct val="120000"/>
                </a:lnSpc>
                <a:spcBef>
                  <a:spcPts val="600"/>
                </a:spcBef>
                <a:spcAft>
                  <a:spcPts val="600"/>
                </a:spcAft>
                <a:buFont typeface="Wingdings" panose="05000000000000000000" pitchFamily="2" charset="2"/>
                <a:buChar char="q"/>
              </a:pPr>
              <a:r>
                <a:rPr sz="2000" b="1" dirty="0">
                  <a:solidFill>
                    <a:srgbClr val="FF0000"/>
                  </a:solidFill>
                  <a:latin typeface="微软雅黑" panose="020B0503020204020204" charset="-122"/>
                  <a:ea typeface="微软雅黑" panose="020B0503020204020204" charset="-122"/>
                </a:rPr>
                <a:t>p：</a:t>
              </a:r>
              <a:r>
                <a:rPr sz="2000" dirty="0">
                  <a:solidFill>
                    <a:srgbClr val="FF0000"/>
                  </a:solidFill>
                  <a:latin typeface="微软雅黑" panose="020B0503020204020204" charset="-122"/>
                  <a:ea typeface="微软雅黑" panose="020B0503020204020204" charset="-122"/>
                </a:rPr>
                <a:t>在当前光标后面粘贴。</a:t>
              </a:r>
            </a:p>
            <a:p>
              <a:pPr marL="285750" indent="-285750">
                <a:lnSpc>
                  <a:spcPct val="120000"/>
                </a:lnSpc>
                <a:spcBef>
                  <a:spcPts val="600"/>
                </a:spcBef>
                <a:spcAft>
                  <a:spcPts val="600"/>
                </a:spcAft>
                <a:buFont typeface="Wingdings" panose="05000000000000000000" pitchFamily="2" charset="2"/>
                <a:buChar char="q"/>
              </a:pPr>
              <a:r>
                <a:rPr sz="2000" b="1" dirty="0">
                  <a:solidFill>
                    <a:schemeClr val="tx1">
                      <a:lumMod val="75000"/>
                      <a:lumOff val="25000"/>
                    </a:schemeClr>
                  </a:solidFill>
                  <a:latin typeface="微软雅黑" panose="020B0503020204020204" charset="-122"/>
                  <a:ea typeface="微软雅黑" panose="020B0503020204020204" charset="-122"/>
                </a:rPr>
                <a:t>shift+h：</a:t>
              </a:r>
              <a:r>
                <a:rPr sz="2000" dirty="0">
                  <a:solidFill>
                    <a:schemeClr val="tx1">
                      <a:lumMod val="75000"/>
                      <a:lumOff val="25000"/>
                    </a:schemeClr>
                  </a:solidFill>
                  <a:latin typeface="微软雅黑" panose="020B0503020204020204" charset="-122"/>
                  <a:ea typeface="微软雅黑" panose="020B0503020204020204" charset="-122"/>
                </a:rPr>
                <a:t>在当前光标前面粘贴。</a:t>
              </a:r>
            </a:p>
          </p:txBody>
        </p:sp>
        <p:sp>
          <p:nvSpPr>
            <p:cNvPr id="11" name="Text Box 44"/>
            <p:cNvSpPr txBox="1">
              <a:spLocks noChangeArrowheads="1"/>
            </p:cNvSpPr>
            <p:nvPr/>
          </p:nvSpPr>
          <p:spPr bwMode="auto">
            <a:xfrm>
              <a:off x="1454" y="9073"/>
              <a:ext cx="16532" cy="864"/>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fontAlgn="auto">
                <a:lnSpc>
                  <a:spcPct val="150000"/>
                </a:lnSpc>
              </a:pPr>
              <a:r>
                <a:rPr lang="zh-CN" altLang="en-US" sz="2000" dirty="0">
                  <a:solidFill>
                    <a:schemeClr val="tx1">
                      <a:lumMod val="75000"/>
                      <a:lumOff val="25000"/>
                    </a:schemeClr>
                  </a:solidFill>
                </a:rPr>
                <a:t>使用命令方式粘贴时，先将光标移至粘贴目标的位置，然后再按下相应的命令键就可以完成。</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500"/>
                                        <p:tgtEl>
                                          <p:spTgt spid="14"/>
                                        </p:tgtEl>
                                      </p:cBhvr>
                                    </p:animEffect>
                                  </p:childTnLst>
                                </p:cTn>
                              </p:par>
                            </p:childTnLst>
                          </p:cTn>
                        </p:par>
                        <p:par>
                          <p:cTn id="13" fill="hold">
                            <p:stCondLst>
                              <p:cond delay="1000"/>
                            </p:stCondLst>
                            <p:childTnLst>
                              <p:par>
                                <p:cTn id="14" presetID="18" presetClass="entr" presetSubtype="6" fill="hold" nodeType="after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strips(downRight)">
                                      <p:cBhvr>
                                        <p:cTn id="1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80449" y="2145380"/>
            <a:ext cx="10744278" cy="434594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360172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4.7.3  复制、粘贴、剪切</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sp>
        <p:nvSpPr>
          <p:cNvPr id="10" name="Text Box 44"/>
          <p:cNvSpPr txBox="1">
            <a:spLocks noChangeArrowheads="1"/>
          </p:cNvSpPr>
          <p:nvPr/>
        </p:nvSpPr>
        <p:spPr bwMode="auto">
          <a:xfrm>
            <a:off x="1099742" y="3102572"/>
            <a:ext cx="6047507" cy="286232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pPr>
            <a:r>
              <a:rPr lang="zh-CN" altLang="en-US" sz="2400" dirty="0">
                <a:solidFill>
                  <a:schemeClr val="tx1">
                    <a:lumMod val="75000"/>
                    <a:lumOff val="25000"/>
                  </a:schemeClr>
                </a:solidFill>
              </a:rPr>
              <a:t>在vi编辑器中，所有的删除动作都是剪切。因为删除的内容都被送到了剪贴板。如果用户是用</a:t>
            </a:r>
            <a:r>
              <a:rPr lang="zh-CN" altLang="en-US" sz="2400" b="1" dirty="0">
                <a:solidFill>
                  <a:srgbClr val="0070C0"/>
                </a:solidFill>
              </a:rPr>
              <a:t>组合键删除</a:t>
            </a:r>
            <a:r>
              <a:rPr lang="zh-CN" altLang="en-US" sz="2400" dirty="0">
                <a:solidFill>
                  <a:schemeClr val="tx1">
                    <a:lumMod val="75000"/>
                    <a:lumOff val="25000"/>
                  </a:schemeClr>
                </a:solidFill>
              </a:rPr>
              <a:t>，那么被删除的内容就能够被完整地粘贴。参见4.7.1节的删除内容，这里不再赘述。</a:t>
            </a:r>
          </a:p>
        </p:txBody>
      </p:sp>
      <p:grpSp>
        <p:nvGrpSpPr>
          <p:cNvPr id="13" name="组合 12"/>
          <p:cNvGrpSpPr/>
          <p:nvPr/>
        </p:nvGrpSpPr>
        <p:grpSpPr>
          <a:xfrm>
            <a:off x="691515" y="1795145"/>
            <a:ext cx="2164080" cy="512671"/>
            <a:chOff x="6668135" y="2035810"/>
            <a:chExt cx="2401570" cy="619329"/>
          </a:xfrm>
        </p:grpSpPr>
        <p:sp>
          <p:nvSpPr>
            <p:cNvPr id="6" name="圆角矩形 5"/>
            <p:cNvSpPr/>
            <p:nvPr/>
          </p:nvSpPr>
          <p:spPr>
            <a:xfrm>
              <a:off x="6668135" y="2035810"/>
              <a:ext cx="2401570" cy="553085"/>
            </a:xfrm>
            <a:prstGeom prst="roundRect">
              <a:avLst/>
            </a:prstGeom>
            <a:solidFill>
              <a:srgbClr val="00B0F0"/>
            </a:solidFill>
            <a:ln w="9525" cap="flat" cmpd="sng" algn="ctr">
              <a:solidFill>
                <a:srgbClr val="0070C0"/>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sp>
          <p:nvSpPr>
            <p:cNvPr id="40" name="TextBox 1"/>
            <p:cNvSpPr txBox="1">
              <a:spLocks noChangeArrowheads="1"/>
            </p:cNvSpPr>
            <p:nvPr/>
          </p:nvSpPr>
          <p:spPr bwMode="auto">
            <a:xfrm>
              <a:off x="7174230" y="2071370"/>
              <a:ext cx="1630680" cy="583769"/>
            </a:xfrm>
            <a:prstGeom prst="rect">
              <a:avLst/>
            </a:prstGeom>
            <a:noFill/>
            <a:ln w="9525">
              <a:noFill/>
              <a:miter lim="800000"/>
            </a:ln>
          </p:spPr>
          <p:txBody>
            <a:bodyPr wrap="square">
              <a:spAutoFit/>
            </a:bodyPr>
            <a:lstStyle/>
            <a:p>
              <a:pPr>
                <a:buFont typeface="Arial" panose="020B0604020202020204" pitchFamily="34" charset="0"/>
                <a:buNone/>
              </a:pPr>
              <a:r>
                <a:rPr lang="zh-CN" altLang="en-US" sz="2400" dirty="0">
                  <a:latin typeface="微软雅黑" panose="020B0503020204020204" charset="-122"/>
                  <a:ea typeface="微软雅黑" panose="020B0503020204020204" charset="-122"/>
                </a:rPr>
                <a:t>3．剪切</a:t>
              </a:r>
            </a:p>
          </p:txBody>
        </p:sp>
        <p:grpSp>
          <p:nvGrpSpPr>
            <p:cNvPr id="7" name="组合 36"/>
            <p:cNvGrpSpPr/>
            <p:nvPr/>
          </p:nvGrpSpPr>
          <p:grpSpPr bwMode="auto">
            <a:xfrm>
              <a:off x="6812280" y="2138680"/>
              <a:ext cx="361950" cy="347663"/>
              <a:chOff x="7070971" y="788848"/>
              <a:chExt cx="1800200" cy="1800200"/>
            </a:xfrm>
          </p:grpSpPr>
          <p:sp>
            <p:nvSpPr>
              <p:cNvPr id="8" name="椭圆 7"/>
              <p:cNvSpPr/>
              <p:nvPr/>
            </p:nvSpPr>
            <p:spPr>
              <a:xfrm>
                <a:off x="7070971" y="788848"/>
                <a:ext cx="1800200" cy="1800200"/>
              </a:xfrm>
              <a:prstGeom prst="ellipse">
                <a:avLst/>
              </a:prstGeom>
              <a:solidFill>
                <a:srgbClr val="FFFFFF">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9" name="燕尾形 8"/>
              <p:cNvSpPr/>
              <p:nvPr/>
            </p:nvSpPr>
            <p:spPr>
              <a:xfrm>
                <a:off x="7576290" y="1166972"/>
                <a:ext cx="789561" cy="1043953"/>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solidFill>
                    <a:schemeClr val="tx1"/>
                  </a:solidFill>
                </a:endParaRPr>
              </a:p>
            </p:txBody>
          </p:sp>
        </p:grpSp>
      </p:grpSp>
      <p:pic>
        <p:nvPicPr>
          <p:cNvPr id="2" name="图片 1" descr="851091_20160501091847354500_1_看图王"/>
          <p:cNvPicPr>
            <a:picLocks noChangeAspect="1"/>
          </p:cNvPicPr>
          <p:nvPr/>
        </p:nvPicPr>
        <p:blipFill>
          <a:blip r:embed="rId2" cstate="print">
            <a:clrChange>
              <a:clrFrom>
                <a:srgbClr val="FFFFFF"/>
              </a:clrFrom>
              <a:clrTo>
                <a:srgbClr val="FFFFFF">
                  <a:alpha val="0"/>
                </a:srgbClr>
              </a:clrTo>
            </a:clrChange>
          </a:blip>
          <a:stretch>
            <a:fillRect/>
          </a:stretch>
        </p:blipFill>
        <p:spPr>
          <a:xfrm>
            <a:off x="6903384" y="1734833"/>
            <a:ext cx="4667885" cy="457263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500"/>
                                        <p:tgtEl>
                                          <p:spTgt spid="10"/>
                                        </p:tgtEl>
                                      </p:cBhvr>
                                    </p:animEffect>
                                  </p:childTnLst>
                                </p:cTn>
                              </p:par>
                            </p:childTnLst>
                          </p:cTn>
                        </p:par>
                        <p:par>
                          <p:cTn id="13" fill="hold">
                            <p:stCondLst>
                              <p:cond delay="1000"/>
                            </p:stCondLst>
                            <p:childTnLst>
                              <p:par>
                                <p:cTn id="14" presetID="2" presetClass="entr" presetSubtype="2"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fill="hold"/>
                                        <p:tgtEl>
                                          <p:spTgt spid="2"/>
                                        </p:tgtEl>
                                        <p:attrNameLst>
                                          <p:attrName>ppt_x</p:attrName>
                                        </p:attrNameLst>
                                      </p:cBhvr>
                                      <p:tavLst>
                                        <p:tav tm="0">
                                          <p:val>
                                            <p:strVal val="1+#ppt_w/2"/>
                                          </p:val>
                                        </p:tav>
                                        <p:tav tm="100000">
                                          <p:val>
                                            <p:strVal val="#ppt_x"/>
                                          </p:val>
                                        </p:tav>
                                      </p:tavLst>
                                    </p:anim>
                                    <p:anim calcmode="lin" valueType="num">
                                      <p:cBhvr additive="base">
                                        <p:cTn id="17"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98475" y="1632585"/>
            <a:ext cx="11194415" cy="48044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360172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4.7.4  重复</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sp>
        <p:nvSpPr>
          <p:cNvPr id="6" name="Text Box 44"/>
          <p:cNvSpPr txBox="1">
            <a:spLocks noChangeArrowheads="1"/>
          </p:cNvSpPr>
          <p:nvPr/>
        </p:nvSpPr>
        <p:spPr bwMode="auto">
          <a:xfrm>
            <a:off x="784860" y="1632585"/>
            <a:ext cx="10026650" cy="961289"/>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pPr>
            <a:r>
              <a:rPr lang="zh-CN" altLang="en-US" sz="2000" dirty="0">
                <a:solidFill>
                  <a:schemeClr val="tx1">
                    <a:lumMod val="75000"/>
                    <a:lumOff val="25000"/>
                  </a:schemeClr>
                </a:solidFill>
              </a:rPr>
              <a:t>vi</a:t>
            </a:r>
            <a:r>
              <a:rPr lang="zh-CN" altLang="en-US" sz="2000" dirty="0">
                <a:solidFill>
                  <a:srgbClr val="FF0000"/>
                </a:solidFill>
              </a:rPr>
              <a:t>编辑器会记录上一次的操作，在用户需要重复这样的操作的时候，只需在命令模式下按一下</a:t>
            </a:r>
            <a:r>
              <a:rPr lang="zh-CN" altLang="en-US" sz="2000" b="1" dirty="0">
                <a:solidFill>
                  <a:srgbClr val="FF0000"/>
                </a:solidFill>
              </a:rPr>
              <a:t>【．】键</a:t>
            </a:r>
            <a:r>
              <a:rPr lang="zh-CN" altLang="en-US" sz="2000" dirty="0">
                <a:solidFill>
                  <a:srgbClr val="FF0000"/>
                </a:solidFill>
              </a:rPr>
              <a:t>就可以了。</a:t>
            </a:r>
          </a:p>
        </p:txBody>
      </p:sp>
      <p:grpSp>
        <p:nvGrpSpPr>
          <p:cNvPr id="31" name="组合 30"/>
          <p:cNvGrpSpPr/>
          <p:nvPr/>
        </p:nvGrpSpPr>
        <p:grpSpPr>
          <a:xfrm>
            <a:off x="983615" y="5461635"/>
            <a:ext cx="5080000" cy="869315"/>
            <a:chOff x="1549" y="8601"/>
            <a:chExt cx="8000" cy="1369"/>
          </a:xfrm>
        </p:grpSpPr>
        <p:sp>
          <p:nvSpPr>
            <p:cNvPr id="28" name="矩形标注 27"/>
            <p:cNvSpPr/>
            <p:nvPr/>
          </p:nvSpPr>
          <p:spPr>
            <a:xfrm>
              <a:off x="1549" y="8601"/>
              <a:ext cx="8000" cy="1369"/>
            </a:xfrm>
            <a:prstGeom prst="wedgeRectCallout">
              <a:avLst>
                <a:gd name="adj1" fmla="val 58122"/>
                <a:gd name="adj2" fmla="val -30195"/>
              </a:avLst>
            </a:prstGeom>
            <a:solidFill>
              <a:schemeClr val="bg2"/>
            </a:solidFill>
            <a:ln w="12700" cap="flat" cmpd="sng" algn="ctr">
              <a:solidFill>
                <a:schemeClr val="accent1">
                  <a:shade val="50000"/>
                </a:schemeClr>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sp>
          <p:nvSpPr>
            <p:cNvPr id="29" name="文本框 28"/>
            <p:cNvSpPr txBox="1"/>
            <p:nvPr/>
          </p:nvSpPr>
          <p:spPr>
            <a:xfrm>
              <a:off x="1725" y="8751"/>
              <a:ext cx="7375" cy="1038"/>
            </a:xfrm>
            <a:prstGeom prst="rect">
              <a:avLst/>
            </a:prstGeom>
            <a:noFill/>
          </p:spPr>
          <p:txBody>
            <a:bodyPr wrap="square" rtlCol="0">
              <a:spAutoFit/>
            </a:bodyPr>
            <a:lstStyle/>
            <a:p>
              <a:pPr indent="457200" fontAlgn="auto"/>
              <a:r>
                <a:rPr lang="zh-CN" altLang="en-US" b="1">
                  <a:solidFill>
                    <a:srgbClr val="0070C0"/>
                  </a:solidFill>
                  <a:latin typeface="微软雅黑" panose="020B0503020204020204" charset="-122"/>
                  <a:ea typeface="微软雅黑" panose="020B0503020204020204" charset="-122"/>
                </a:rPr>
                <a:t>这一个功能对于要通篇地进行某一重复操作的人来说，是非常有用的。</a:t>
              </a:r>
            </a:p>
          </p:txBody>
        </p:sp>
      </p:grpSp>
      <p:grpSp>
        <p:nvGrpSpPr>
          <p:cNvPr id="3" name="组合 14"/>
          <p:cNvGrpSpPr/>
          <p:nvPr/>
        </p:nvGrpSpPr>
        <p:grpSpPr bwMode="auto">
          <a:xfrm>
            <a:off x="1618692" y="2966772"/>
            <a:ext cx="3390900" cy="2191385"/>
            <a:chOff x="1166778" y="1786420"/>
            <a:chExt cx="13535500" cy="1714018"/>
          </a:xfrm>
        </p:grpSpPr>
        <p:grpSp>
          <p:nvGrpSpPr>
            <p:cNvPr id="4" name="组合 12"/>
            <p:cNvGrpSpPr/>
            <p:nvPr/>
          </p:nvGrpSpPr>
          <p:grpSpPr bwMode="auto">
            <a:xfrm>
              <a:off x="1166778" y="1786420"/>
              <a:ext cx="13504529" cy="1714018"/>
              <a:chOff x="1166778" y="1786420"/>
              <a:chExt cx="13504529" cy="1714018"/>
            </a:xfrm>
          </p:grpSpPr>
          <p:sp>
            <p:nvSpPr>
              <p:cNvPr id="5" name="矩形 4"/>
              <p:cNvSpPr/>
              <p:nvPr/>
            </p:nvSpPr>
            <p:spPr>
              <a:xfrm>
                <a:off x="1166778" y="1786456"/>
                <a:ext cx="13504529"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7" name="矩形 6"/>
              <p:cNvSpPr>
                <a:spLocks noChangeArrowheads="1"/>
              </p:cNvSpPr>
              <p:nvPr/>
            </p:nvSpPr>
            <p:spPr bwMode="auto">
              <a:xfrm>
                <a:off x="1391055" y="1786420"/>
                <a:ext cx="9360492" cy="357604"/>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微软雅黑" panose="020B0503020204020204" charset="-122"/>
                    <a:ea typeface="微软雅黑" panose="020B0503020204020204" charset="-122"/>
                    <a:cs typeface="华康俪金黑W8(P)"/>
                  </a:rPr>
                  <a:t>例如，屏幕显示为：</a:t>
                </a:r>
              </a:p>
            </p:txBody>
          </p:sp>
        </p:grpSp>
        <p:sp>
          <p:nvSpPr>
            <p:cNvPr id="8" name="MH_Text_1"/>
            <p:cNvSpPr txBox="1">
              <a:spLocks noChangeArrowheads="1"/>
            </p:cNvSpPr>
            <p:nvPr>
              <p:custDataLst>
                <p:tags r:id="rId3"/>
              </p:custDataLst>
            </p:nvPr>
          </p:nvSpPr>
          <p:spPr bwMode="auto">
            <a:xfrm>
              <a:off x="1390619" y="2143528"/>
              <a:ext cx="13311659" cy="1268999"/>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#include  &lt;stdio.h&gt; </a:t>
              </a:r>
            </a:p>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main() </a:t>
              </a:r>
            </a:p>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a:t>
              </a:r>
            </a:p>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 </a:t>
              </a:r>
            </a:p>
          </p:txBody>
        </p:sp>
      </p:grpSp>
      <p:grpSp>
        <p:nvGrpSpPr>
          <p:cNvPr id="10" name="组合 9"/>
          <p:cNvGrpSpPr/>
          <p:nvPr/>
        </p:nvGrpSpPr>
        <p:grpSpPr>
          <a:xfrm>
            <a:off x="6451768" y="2300501"/>
            <a:ext cx="4893945" cy="4080510"/>
            <a:chOff x="2161" y="3075"/>
            <a:chExt cx="14706" cy="6824"/>
          </a:xfrm>
        </p:grpSpPr>
        <p:grpSp>
          <p:nvGrpSpPr>
            <p:cNvPr id="11" name="组合 14"/>
            <p:cNvGrpSpPr/>
            <p:nvPr/>
          </p:nvGrpSpPr>
          <p:grpSpPr bwMode="auto">
            <a:xfrm>
              <a:off x="2161" y="3075"/>
              <a:ext cx="14706" cy="6824"/>
              <a:chOff x="1166778" y="1786420"/>
              <a:chExt cx="13504529" cy="1714018"/>
            </a:xfrm>
          </p:grpSpPr>
          <p:grpSp>
            <p:nvGrpSpPr>
              <p:cNvPr id="12" name="组合 12"/>
              <p:cNvGrpSpPr/>
              <p:nvPr/>
            </p:nvGrpSpPr>
            <p:grpSpPr bwMode="auto">
              <a:xfrm>
                <a:off x="1166778" y="1786420"/>
                <a:ext cx="13504529" cy="1714018"/>
                <a:chOff x="1166778" y="1786420"/>
                <a:chExt cx="13504529" cy="1714018"/>
              </a:xfrm>
            </p:grpSpPr>
            <p:sp>
              <p:nvSpPr>
                <p:cNvPr id="13" name="矩形 12"/>
                <p:cNvSpPr/>
                <p:nvPr/>
              </p:nvSpPr>
              <p:spPr>
                <a:xfrm>
                  <a:off x="1166778" y="1786456"/>
                  <a:ext cx="13504529"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5" name="矩形 6"/>
                <p:cNvSpPr>
                  <a:spLocks noChangeArrowheads="1"/>
                </p:cNvSpPr>
                <p:nvPr/>
              </p:nvSpPr>
              <p:spPr bwMode="auto">
                <a:xfrm>
                  <a:off x="1391065" y="1786420"/>
                  <a:ext cx="12666957" cy="314743"/>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b="1">
                      <a:solidFill>
                        <a:srgbClr val="009900"/>
                      </a:solidFill>
                      <a:latin typeface="微软雅黑" panose="020B0503020204020204" charset="-122"/>
                      <a:ea typeface="微软雅黑" panose="020B0503020204020204" charset="-122"/>
                      <a:cs typeface="华康俪金黑W8(P)"/>
                    </a:rPr>
                    <a:t>输入o命令，并插入一行正文printf()，按【Esc】键后，屏幕显示为：</a:t>
                  </a:r>
                </a:p>
              </p:txBody>
            </p:sp>
          </p:grpSp>
          <p:sp>
            <p:nvSpPr>
              <p:cNvPr id="26" name="MH_Text_1"/>
              <p:cNvSpPr txBox="1">
                <a:spLocks noChangeArrowheads="1"/>
              </p:cNvSpPr>
              <p:nvPr>
                <p:custDataLst>
                  <p:tags r:id="rId2"/>
                </p:custDataLst>
              </p:nvPr>
            </p:nvSpPr>
            <p:spPr bwMode="auto">
              <a:xfrm>
                <a:off x="1263151" y="2078224"/>
                <a:ext cx="13311782" cy="600947"/>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b="1" dirty="0">
                    <a:solidFill>
                      <a:srgbClr val="0070C0"/>
                    </a:solidFill>
                    <a:latin typeface="微软雅黑" panose="020B0503020204020204" charset="-122"/>
                    <a:ea typeface="微软雅黑" panose="020B0503020204020204" charset="-122"/>
                    <a:cs typeface="+mn-cs"/>
                    <a:sym typeface="+mn-ea"/>
                  </a:rPr>
                  <a:t>#include  &lt;stdio.h&gt; </a:t>
                </a:r>
              </a:p>
              <a:p>
                <a:pPr indent="457200" eaLnBrk="1" latinLnBrk="0" hangingPunct="1">
                  <a:lnSpc>
                    <a:spcPct val="120000"/>
                  </a:lnSpc>
                  <a:buFont typeface="Arial" panose="020B0604020202020204" pitchFamily="34" charset="0"/>
                  <a:buNone/>
                </a:pPr>
                <a:r>
                  <a:rPr lang="zh-CN" altLang="en-US" b="1" dirty="0">
                    <a:solidFill>
                      <a:srgbClr val="0070C0"/>
                    </a:solidFill>
                    <a:latin typeface="微软雅黑" panose="020B0503020204020204" charset="-122"/>
                    <a:ea typeface="微软雅黑" panose="020B0503020204020204" charset="-122"/>
                    <a:cs typeface="+mn-cs"/>
                    <a:sym typeface="+mn-ea"/>
                  </a:rPr>
                  <a:t>main() </a:t>
                </a:r>
              </a:p>
              <a:p>
                <a:pPr indent="457200" eaLnBrk="1" latinLnBrk="0" hangingPunct="1">
                  <a:lnSpc>
                    <a:spcPct val="120000"/>
                  </a:lnSpc>
                  <a:buFont typeface="Arial" panose="020B0604020202020204" pitchFamily="34" charset="0"/>
                  <a:buNone/>
                </a:pPr>
                <a:r>
                  <a:rPr lang="zh-CN" altLang="en-US" b="1" dirty="0">
                    <a:solidFill>
                      <a:srgbClr val="0070C0"/>
                    </a:solidFill>
                    <a:latin typeface="微软雅黑" panose="020B0503020204020204" charset="-122"/>
                    <a:ea typeface="微软雅黑" panose="020B0503020204020204" charset="-122"/>
                    <a:cs typeface="+mn-cs"/>
                    <a:sym typeface="+mn-ea"/>
                  </a:rPr>
                  <a:t>{   printf()</a:t>
                </a:r>
                <a:r>
                  <a:rPr lang="zh-CN" altLang="en-US" b="1" u="sng" dirty="0">
                    <a:solidFill>
                      <a:srgbClr val="0070C0"/>
                    </a:solidFill>
                    <a:latin typeface="微软雅黑" panose="020B0503020204020204" charset="-122"/>
                    <a:ea typeface="微软雅黑" panose="020B0503020204020204" charset="-122"/>
                    <a:cs typeface="+mn-cs"/>
                    <a:sym typeface="+mn-ea"/>
                  </a:rPr>
                  <a:t>;</a:t>
                </a:r>
              </a:p>
              <a:p>
                <a:pPr indent="457200" eaLnBrk="1" latinLnBrk="0" hangingPunct="1">
                  <a:lnSpc>
                    <a:spcPct val="120000"/>
                  </a:lnSpc>
                  <a:buFont typeface="Arial" panose="020B0604020202020204" pitchFamily="34" charset="0"/>
                  <a:buNone/>
                </a:pPr>
                <a:r>
                  <a:rPr lang="zh-CN" altLang="en-US" b="1" dirty="0">
                    <a:solidFill>
                      <a:srgbClr val="0070C0"/>
                    </a:solidFill>
                    <a:latin typeface="微软雅黑" panose="020B0503020204020204" charset="-122"/>
                    <a:ea typeface="微软雅黑" panose="020B0503020204020204" charset="-122"/>
                    <a:cs typeface="+mn-cs"/>
                    <a:sym typeface="+mn-ea"/>
                  </a:rPr>
                  <a:t>} </a:t>
                </a:r>
              </a:p>
            </p:txBody>
          </p:sp>
        </p:grpSp>
        <p:sp>
          <p:nvSpPr>
            <p:cNvPr id="27" name="矩形 6"/>
            <p:cNvSpPr>
              <a:spLocks noChangeArrowheads="1"/>
            </p:cNvSpPr>
            <p:nvPr/>
          </p:nvSpPr>
          <p:spPr bwMode="auto">
            <a:xfrm>
              <a:off x="2482" y="6522"/>
              <a:ext cx="14293" cy="703"/>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b="1">
                  <a:solidFill>
                    <a:srgbClr val="009900"/>
                  </a:solidFill>
                  <a:latin typeface="微软雅黑" panose="020B0503020204020204" charset="-122"/>
                  <a:ea typeface="微软雅黑" panose="020B0503020204020204" charset="-122"/>
                  <a:cs typeface="华康俪金黑W8(P)"/>
                </a:rPr>
                <a:t>连续输入两个“．”命令，屏幕显示为：</a:t>
              </a:r>
            </a:p>
          </p:txBody>
        </p:sp>
        <p:sp>
          <p:nvSpPr>
            <p:cNvPr id="30" name="MH_Text_1"/>
            <p:cNvSpPr txBox="1">
              <a:spLocks noChangeArrowheads="1"/>
            </p:cNvSpPr>
            <p:nvPr>
              <p:custDataLst>
                <p:tags r:id="rId1"/>
              </p:custDataLst>
            </p:nvPr>
          </p:nvSpPr>
          <p:spPr bwMode="auto">
            <a:xfrm>
              <a:off x="2266" y="7320"/>
              <a:ext cx="14496" cy="2402"/>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b="1" dirty="0">
                  <a:solidFill>
                    <a:srgbClr val="0070C0"/>
                  </a:solidFill>
                  <a:latin typeface="微软雅黑" panose="020B0503020204020204" charset="-122"/>
                  <a:ea typeface="微软雅黑" panose="020B0503020204020204" charset="-122"/>
                  <a:cs typeface="+mn-cs"/>
                  <a:sym typeface="+mn-ea"/>
                </a:rPr>
                <a:t>#include  &lt;stdio.h&gt; </a:t>
              </a:r>
            </a:p>
            <a:p>
              <a:pPr indent="457200" eaLnBrk="1" latinLnBrk="0" hangingPunct="1">
                <a:lnSpc>
                  <a:spcPct val="120000"/>
                </a:lnSpc>
                <a:buFont typeface="Arial" panose="020B0604020202020204" pitchFamily="34" charset="0"/>
                <a:buNone/>
              </a:pPr>
              <a:r>
                <a:rPr lang="zh-CN" altLang="en-US" b="1" dirty="0">
                  <a:solidFill>
                    <a:srgbClr val="0070C0"/>
                  </a:solidFill>
                  <a:latin typeface="微软雅黑" panose="020B0503020204020204" charset="-122"/>
                  <a:ea typeface="微软雅黑" panose="020B0503020204020204" charset="-122"/>
                  <a:cs typeface="+mn-cs"/>
                  <a:sym typeface="+mn-ea"/>
                </a:rPr>
                <a:t>main() </a:t>
              </a:r>
            </a:p>
            <a:p>
              <a:pPr indent="457200" eaLnBrk="1" latinLnBrk="0" hangingPunct="1">
                <a:lnSpc>
                  <a:spcPct val="120000"/>
                </a:lnSpc>
                <a:buFont typeface="Arial" panose="020B0604020202020204" pitchFamily="34" charset="0"/>
                <a:buNone/>
              </a:pPr>
              <a:r>
                <a:rPr lang="zh-CN" altLang="en-US" b="1" dirty="0">
                  <a:solidFill>
                    <a:srgbClr val="0070C0"/>
                  </a:solidFill>
                  <a:latin typeface="微软雅黑" panose="020B0503020204020204" charset="-122"/>
                  <a:ea typeface="微软雅黑" panose="020B0503020204020204" charset="-122"/>
                  <a:cs typeface="+mn-cs"/>
                  <a:sym typeface="+mn-ea"/>
                </a:rPr>
                <a:t>{   printf();   printf();   printf()</a:t>
              </a:r>
              <a:r>
                <a:rPr lang="zh-CN" altLang="en-US" b="1" u="sng" dirty="0">
                  <a:solidFill>
                    <a:srgbClr val="0070C0"/>
                  </a:solidFill>
                  <a:latin typeface="微软雅黑" panose="020B0503020204020204" charset="-122"/>
                  <a:ea typeface="微软雅黑" panose="020B0503020204020204" charset="-122"/>
                  <a:cs typeface="+mn-cs"/>
                  <a:sym typeface="+mn-ea"/>
                </a:rPr>
                <a:t>;</a:t>
              </a:r>
            </a:p>
            <a:p>
              <a:pPr indent="457200" eaLnBrk="1" latinLnBrk="0" hangingPunct="1">
                <a:lnSpc>
                  <a:spcPct val="120000"/>
                </a:lnSpc>
                <a:buFont typeface="Arial" panose="020B0604020202020204" pitchFamily="34" charset="0"/>
                <a:buNone/>
              </a:pPr>
              <a:r>
                <a:rPr lang="zh-CN" altLang="en-US" b="1" dirty="0">
                  <a:solidFill>
                    <a:srgbClr val="0070C0"/>
                  </a:solidFill>
                  <a:latin typeface="微软雅黑" panose="020B0503020204020204" charset="-122"/>
                  <a:ea typeface="微软雅黑" panose="020B0503020204020204" charset="-122"/>
                  <a:cs typeface="+mn-cs"/>
                  <a:sym typeface="+mn-ea"/>
                </a:rPr>
                <a:t>} </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strips(downRight)">
                                      <p:cBhvr>
                                        <p:cTn id="11" dur="500"/>
                                        <p:tgtEl>
                                          <p:spTgt spid="3"/>
                                        </p:tgtEl>
                                      </p:cBhvr>
                                    </p:animEffect>
                                  </p:childTnLst>
                                </p:cTn>
                              </p:par>
                              <p:par>
                                <p:cTn id="12" presetID="18" presetClass="entr" presetSubtype="6"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strips(downRight)">
                                      <p:cBhvr>
                                        <p:cTn id="14" dur="500"/>
                                        <p:tgtEl>
                                          <p:spTgt spid="10"/>
                                        </p:tgtEl>
                                      </p:cBhvr>
                                    </p:animEffect>
                                  </p:childTnLst>
                                </p:cTn>
                              </p:par>
                            </p:childTnLst>
                          </p:cTn>
                        </p:par>
                        <p:par>
                          <p:cTn id="15" fill="hold">
                            <p:stCondLst>
                              <p:cond delay="1000"/>
                            </p:stCondLst>
                            <p:childTnLst>
                              <p:par>
                                <p:cTn id="16" presetID="22" presetClass="entr" presetSubtype="2" fill="hold" nodeType="after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wipe(right)">
                                      <p:cBhvr>
                                        <p:cTn id="1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6"/>
          <p:cNvSpPr>
            <a:spLocks noChangeArrowheads="1"/>
          </p:cNvSpPr>
          <p:nvPr/>
        </p:nvSpPr>
        <p:spPr bwMode="auto">
          <a:xfrm>
            <a:off x="1137285" y="1082040"/>
            <a:ext cx="360172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4.7.</a:t>
            </a:r>
            <a:r>
              <a:rPr lang="en-US" altLang="zh-CN" sz="2400" b="1">
                <a:solidFill>
                  <a:srgbClr val="0066FF"/>
                </a:solidFill>
                <a:latin typeface="微软雅黑" panose="020B0503020204020204" charset="-122"/>
                <a:ea typeface="微软雅黑" panose="020B0503020204020204" charset="-122"/>
                <a:sym typeface="+mn-ea"/>
              </a:rPr>
              <a:t>5  </a:t>
            </a:r>
            <a:r>
              <a:rPr lang="zh-CN" altLang="en-US" sz="2400" b="1">
                <a:solidFill>
                  <a:srgbClr val="0066FF"/>
                </a:solidFill>
                <a:latin typeface="微软雅黑" panose="020B0503020204020204" charset="-122"/>
                <a:ea typeface="微软雅黑" panose="020B0503020204020204" charset="-122"/>
                <a:sym typeface="+mn-ea"/>
              </a:rPr>
              <a:t>撤销</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sp>
        <p:nvSpPr>
          <p:cNvPr id="13" name="矩形 12"/>
          <p:cNvSpPr/>
          <p:nvPr/>
        </p:nvSpPr>
        <p:spPr>
          <a:xfrm>
            <a:off x="1487104" y="3465258"/>
            <a:ext cx="4559132" cy="2400657"/>
          </a:xfrm>
          <a:prstGeom prst="rect">
            <a:avLst/>
          </a:prstGeom>
          <a:solidFill>
            <a:srgbClr val="B9CDE5">
              <a:alpha val="40000"/>
            </a:srgbClr>
          </a:solidFill>
        </p:spPr>
        <p:txBody>
          <a:bodyPr wrap="square">
            <a:spAutoFit/>
          </a:bodyPr>
          <a:lstStyle/>
          <a:p>
            <a:pPr indent="457200" fontAlgn="auto">
              <a:lnSpc>
                <a:spcPct val="150000"/>
              </a:lnSpc>
            </a:pPr>
            <a:r>
              <a:rPr lang="zh-CN" altLang="en-US" sz="2000" dirty="0">
                <a:solidFill>
                  <a:schemeClr val="tx1">
                    <a:lumMod val="75000"/>
                    <a:lumOff val="25000"/>
                  </a:schemeClr>
                </a:solidFill>
                <a:latin typeface="微软雅黑" panose="020B0503020204020204" charset="-122"/>
                <a:ea typeface="微软雅黑" panose="020B0503020204020204" charset="-122"/>
                <a:sym typeface="+mn-ea"/>
              </a:rPr>
              <a:t>在vi编辑器中，可以取消后一次的操作。这对于一个编辑器来说是必需的。用户很可能不小心删除掉了不想删除的内容或者输入了一些错误的内容。如果没有撤销功能，将使用户非常被动。</a:t>
            </a:r>
          </a:p>
        </p:txBody>
      </p:sp>
      <p:pic>
        <p:nvPicPr>
          <p:cNvPr id="5" name="图片 4" descr="3d8aa38d4cd838df6b65a071f761bf68"/>
          <p:cNvPicPr>
            <a:picLocks noChangeAspect="1"/>
          </p:cNvPicPr>
          <p:nvPr/>
        </p:nvPicPr>
        <p:blipFill>
          <a:blip r:embed="rId2" cstate="print"/>
          <a:stretch>
            <a:fillRect/>
          </a:stretch>
        </p:blipFill>
        <p:spPr>
          <a:xfrm>
            <a:off x="4879910" y="1977818"/>
            <a:ext cx="1979334" cy="1446517"/>
          </a:xfrm>
          <a:prstGeom prst="rect">
            <a:avLst/>
          </a:prstGeom>
        </p:spPr>
      </p:pic>
      <p:pic>
        <p:nvPicPr>
          <p:cNvPr id="7" name="图片 6" descr="3d8aa38d4cd838df6b65a071f761bf68"/>
          <p:cNvPicPr>
            <a:picLocks noChangeAspect="1"/>
          </p:cNvPicPr>
          <p:nvPr/>
        </p:nvPicPr>
        <p:blipFill>
          <a:blip r:embed="rId2" cstate="print"/>
          <a:stretch>
            <a:fillRect/>
          </a:stretch>
        </p:blipFill>
        <p:spPr>
          <a:xfrm flipH="1">
            <a:off x="6421740" y="1994820"/>
            <a:ext cx="1863843" cy="1443355"/>
          </a:xfrm>
          <a:prstGeom prst="rect">
            <a:avLst/>
          </a:prstGeom>
        </p:spPr>
      </p:pic>
      <p:sp>
        <p:nvSpPr>
          <p:cNvPr id="8" name="矩形 7"/>
          <p:cNvSpPr/>
          <p:nvPr/>
        </p:nvSpPr>
        <p:spPr>
          <a:xfrm>
            <a:off x="7113130" y="3608432"/>
            <a:ext cx="3915653" cy="2243691"/>
          </a:xfrm>
          <a:prstGeom prst="rect">
            <a:avLst/>
          </a:prstGeom>
          <a:solidFill>
            <a:srgbClr val="B9CDE5">
              <a:alpha val="40000"/>
            </a:srgbClr>
          </a:solidFill>
        </p:spPr>
        <p:txBody>
          <a:bodyPr wrap="square">
            <a:spAutoFit/>
          </a:bodyPr>
          <a:lstStyle/>
          <a:p>
            <a:pPr indent="0"/>
            <a:r>
              <a:rPr lang="zh-CN" altLang="en-US" sz="2400" b="1" dirty="0">
                <a:solidFill>
                  <a:srgbClr val="D24726"/>
                </a:solidFill>
                <a:latin typeface="微软雅黑" panose="020B0503020204020204" charset="-122"/>
                <a:ea typeface="微软雅黑" panose="020B0503020204020204" charset="-122"/>
                <a:sym typeface="+mn-ea"/>
              </a:rPr>
              <a:t>撤销命令很简单，有以下两种形式：</a:t>
            </a:r>
          </a:p>
          <a:p>
            <a:pPr marL="285750" indent="-285750">
              <a:lnSpc>
                <a:spcPct val="120000"/>
              </a:lnSpc>
              <a:spcBef>
                <a:spcPts val="600"/>
              </a:spcBef>
              <a:spcAft>
                <a:spcPts val="600"/>
              </a:spcAft>
              <a:buFont typeface="Wingdings" panose="05000000000000000000" pitchFamily="2" charset="2"/>
              <a:buChar char="q"/>
            </a:pPr>
            <a:r>
              <a:rPr sz="2000" b="1" dirty="0">
                <a:solidFill>
                  <a:srgbClr val="FF0000"/>
                </a:solidFill>
                <a:latin typeface="微软雅黑" panose="020B0503020204020204" charset="-122"/>
                <a:ea typeface="微软雅黑" panose="020B0503020204020204" charset="-122"/>
                <a:sym typeface="+mn-ea"/>
              </a:rPr>
              <a:t>u命令：</a:t>
            </a:r>
            <a:r>
              <a:rPr sz="2400" dirty="0">
                <a:solidFill>
                  <a:srgbClr val="FF0000"/>
                </a:solidFill>
                <a:latin typeface="微软雅黑" panose="020B0503020204020204" charset="-122"/>
                <a:ea typeface="微软雅黑" panose="020B0503020204020204" charset="-122"/>
                <a:sym typeface="+mn-ea"/>
              </a:rPr>
              <a:t>取消上次的操作。</a:t>
            </a:r>
          </a:p>
          <a:p>
            <a:pPr marL="285750" indent="-285750">
              <a:lnSpc>
                <a:spcPct val="120000"/>
              </a:lnSpc>
              <a:spcBef>
                <a:spcPts val="600"/>
              </a:spcBef>
              <a:spcAft>
                <a:spcPts val="600"/>
              </a:spcAft>
              <a:buFont typeface="Wingdings" panose="05000000000000000000" pitchFamily="2" charset="2"/>
              <a:buChar char="q"/>
            </a:pPr>
            <a:r>
              <a:rPr sz="2000" b="1" dirty="0">
                <a:solidFill>
                  <a:srgbClr val="FF0000"/>
                </a:solidFill>
                <a:latin typeface="微软雅黑" panose="020B0503020204020204" charset="-122"/>
                <a:ea typeface="微软雅黑" panose="020B0503020204020204" charset="-122"/>
                <a:sym typeface="+mn-ea"/>
              </a:rPr>
              <a:t>U命令：</a:t>
            </a:r>
            <a:r>
              <a:rPr sz="2000" dirty="0">
                <a:solidFill>
                  <a:srgbClr val="FF0000"/>
                </a:solidFill>
                <a:latin typeface="微软雅黑" panose="020B0503020204020204" charset="-122"/>
                <a:ea typeface="微软雅黑" panose="020B0503020204020204" charset="-122"/>
                <a:sym typeface="+mn-ea"/>
              </a:rPr>
              <a:t>可以恢复对光标所在行的所有改变。</a:t>
            </a:r>
            <a:endParaRPr lang="zh-CN" altLang="en-US" sz="2000" dirty="0">
              <a:solidFill>
                <a:srgbClr val="FF0000"/>
              </a:solidFill>
              <a:latin typeface="微软雅黑" panose="020B0503020204020204" charset="-122"/>
              <a:ea typeface="微软雅黑" panose="020B0503020204020204" charset="-122"/>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checkerboard(across)">
                                      <p:cBhvr>
                                        <p:cTn id="11" dur="500"/>
                                        <p:tgtEl>
                                          <p:spTgt spid="13"/>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par>
                          <p:cTn id="16" fill="hold">
                            <p:stCondLst>
                              <p:cond delay="1500"/>
                            </p:stCondLst>
                            <p:childTnLst>
                              <p:par>
                                <p:cTn id="17" presetID="5" presetClass="entr" presetSubtype="1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checkerboard(across)">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8"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98475" y="1632585"/>
            <a:ext cx="11194415" cy="4804410"/>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360172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charset="-122"/>
                <a:ea typeface="微软雅黑" panose="020B0503020204020204" charset="-122"/>
                <a:sym typeface="+mn-ea"/>
              </a:rPr>
              <a:t>4.7.</a:t>
            </a:r>
            <a:r>
              <a:rPr lang="en-US" altLang="zh-CN" sz="2400" b="1">
                <a:solidFill>
                  <a:srgbClr val="0066FF"/>
                </a:solidFill>
                <a:latin typeface="微软雅黑" panose="020B0503020204020204" charset="-122"/>
                <a:ea typeface="微软雅黑" panose="020B0503020204020204" charset="-122"/>
                <a:sym typeface="+mn-ea"/>
              </a:rPr>
              <a:t>5  </a:t>
            </a:r>
            <a:r>
              <a:rPr lang="zh-CN" altLang="en-US" sz="2400" b="1">
                <a:solidFill>
                  <a:srgbClr val="0066FF"/>
                </a:solidFill>
                <a:latin typeface="微软雅黑" panose="020B0503020204020204" charset="-122"/>
                <a:ea typeface="微软雅黑" panose="020B0503020204020204" charset="-122"/>
                <a:sym typeface="+mn-ea"/>
              </a:rPr>
              <a:t>撤销</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14" name="组合 14"/>
          <p:cNvGrpSpPr/>
          <p:nvPr/>
        </p:nvGrpSpPr>
        <p:grpSpPr bwMode="auto">
          <a:xfrm>
            <a:off x="1468755" y="3458845"/>
            <a:ext cx="3390900" cy="2191385"/>
            <a:chOff x="1166778" y="1786420"/>
            <a:chExt cx="13535500" cy="1714018"/>
          </a:xfrm>
        </p:grpSpPr>
        <p:grpSp>
          <p:nvGrpSpPr>
            <p:cNvPr id="10249" name="组合 12"/>
            <p:cNvGrpSpPr/>
            <p:nvPr/>
          </p:nvGrpSpPr>
          <p:grpSpPr bwMode="auto">
            <a:xfrm>
              <a:off x="1166778" y="1786420"/>
              <a:ext cx="13504529" cy="1714018"/>
              <a:chOff x="1166778" y="1786420"/>
              <a:chExt cx="13504529" cy="1714018"/>
            </a:xfrm>
          </p:grpSpPr>
          <p:sp>
            <p:nvSpPr>
              <p:cNvPr id="2" name="矩形 1"/>
              <p:cNvSpPr/>
              <p:nvPr/>
            </p:nvSpPr>
            <p:spPr>
              <a:xfrm>
                <a:off x="1166778" y="1786456"/>
                <a:ext cx="13504529"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0252" name="矩形 6"/>
              <p:cNvSpPr>
                <a:spLocks noChangeArrowheads="1"/>
              </p:cNvSpPr>
              <p:nvPr/>
            </p:nvSpPr>
            <p:spPr bwMode="auto">
              <a:xfrm>
                <a:off x="1391055" y="1786420"/>
                <a:ext cx="9360492" cy="357604"/>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微软雅黑" panose="020B0503020204020204" charset="-122"/>
                    <a:ea typeface="微软雅黑" panose="020B0503020204020204" charset="-122"/>
                    <a:cs typeface="华康俪金黑W8(P)"/>
                  </a:rPr>
                  <a:t>例如，屏幕显示为：</a:t>
                </a:r>
              </a:p>
            </p:txBody>
          </p:sp>
        </p:grpSp>
        <p:sp>
          <p:nvSpPr>
            <p:cNvPr id="10250" name="MH_Text_1"/>
            <p:cNvSpPr txBox="1">
              <a:spLocks noChangeArrowheads="1"/>
            </p:cNvSpPr>
            <p:nvPr>
              <p:custDataLst>
                <p:tags r:id="rId3"/>
              </p:custDataLst>
            </p:nvPr>
          </p:nvSpPr>
          <p:spPr bwMode="auto">
            <a:xfrm>
              <a:off x="1390619" y="2143528"/>
              <a:ext cx="13311659" cy="1268999"/>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#include  &lt;stdio.h&gt; </a:t>
              </a:r>
            </a:p>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mai</a:t>
              </a:r>
              <a:r>
                <a:rPr lang="zh-CN" altLang="en-US" sz="2000" b="1" u="sng" dirty="0">
                  <a:solidFill>
                    <a:srgbClr val="0070C0"/>
                  </a:solidFill>
                  <a:latin typeface="微软雅黑" panose="020B0503020204020204" charset="-122"/>
                  <a:ea typeface="微软雅黑" panose="020B0503020204020204" charset="-122"/>
                  <a:cs typeface="+mn-cs"/>
                  <a:sym typeface="+mn-ea"/>
                </a:rPr>
                <a:t>n</a:t>
              </a:r>
              <a:r>
                <a:rPr lang="zh-CN" altLang="en-US" sz="2000" b="1" dirty="0">
                  <a:solidFill>
                    <a:srgbClr val="0070C0"/>
                  </a:solidFill>
                  <a:latin typeface="微软雅黑" panose="020B0503020204020204" charset="-122"/>
                  <a:ea typeface="微软雅黑" panose="020B0503020204020204" charset="-122"/>
                  <a:cs typeface="+mn-cs"/>
                  <a:sym typeface="+mn-ea"/>
                </a:rPr>
                <a:t>() </a:t>
              </a:r>
            </a:p>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   printf("OK!");</a:t>
              </a:r>
            </a:p>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 </a:t>
              </a:r>
            </a:p>
          </p:txBody>
        </p:sp>
      </p:grpSp>
      <p:grpSp>
        <p:nvGrpSpPr>
          <p:cNvPr id="16" name="组合 15"/>
          <p:cNvGrpSpPr/>
          <p:nvPr/>
        </p:nvGrpSpPr>
        <p:grpSpPr>
          <a:xfrm>
            <a:off x="6565265" y="1826895"/>
            <a:ext cx="3942080" cy="4302760"/>
            <a:chOff x="2161" y="3075"/>
            <a:chExt cx="14706" cy="6824"/>
          </a:xfrm>
        </p:grpSpPr>
        <p:grpSp>
          <p:nvGrpSpPr>
            <p:cNvPr id="17" name="组合 14"/>
            <p:cNvGrpSpPr/>
            <p:nvPr/>
          </p:nvGrpSpPr>
          <p:grpSpPr bwMode="auto">
            <a:xfrm>
              <a:off x="2161" y="3075"/>
              <a:ext cx="14706" cy="6824"/>
              <a:chOff x="1166778" y="1786420"/>
              <a:chExt cx="13504529" cy="1714018"/>
            </a:xfrm>
          </p:grpSpPr>
          <p:grpSp>
            <p:nvGrpSpPr>
              <p:cNvPr id="18" name="组合 12"/>
              <p:cNvGrpSpPr/>
              <p:nvPr/>
            </p:nvGrpSpPr>
            <p:grpSpPr bwMode="auto">
              <a:xfrm>
                <a:off x="1166778" y="1786420"/>
                <a:ext cx="13504529" cy="1714018"/>
                <a:chOff x="1166778" y="1786420"/>
                <a:chExt cx="13504529" cy="1714018"/>
              </a:xfrm>
            </p:grpSpPr>
            <p:sp>
              <p:nvSpPr>
                <p:cNvPr id="19" name="矩形 18"/>
                <p:cNvSpPr/>
                <p:nvPr/>
              </p:nvSpPr>
              <p:spPr>
                <a:xfrm>
                  <a:off x="1166778" y="1786456"/>
                  <a:ext cx="13504529"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20" name="矩形 6"/>
                <p:cNvSpPr>
                  <a:spLocks noChangeArrowheads="1"/>
                </p:cNvSpPr>
                <p:nvPr/>
              </p:nvSpPr>
              <p:spPr bwMode="auto">
                <a:xfrm>
                  <a:off x="1391065" y="1786420"/>
                  <a:ext cx="12666957" cy="182127"/>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微软雅黑" panose="020B0503020204020204" charset="-122"/>
                      <a:ea typeface="微软雅黑" panose="020B0503020204020204" charset="-122"/>
                      <a:cs typeface="华康俪金黑W8(P)"/>
                    </a:rPr>
                    <a:t>输入</a:t>
                  </a:r>
                  <a:r>
                    <a:rPr lang="zh-CN" altLang="en-US" sz="2000" b="1">
                      <a:solidFill>
                        <a:srgbClr val="FF0000"/>
                      </a:solidFill>
                      <a:latin typeface="微软雅黑" panose="020B0503020204020204" charset="-122"/>
                      <a:ea typeface="微软雅黑" panose="020B0503020204020204" charset="-122"/>
                      <a:cs typeface="华康俪金黑W8(P)"/>
                    </a:rPr>
                    <a:t>dd命令</a:t>
                  </a:r>
                  <a:r>
                    <a:rPr lang="zh-CN" altLang="en-US" sz="2000" b="1">
                      <a:solidFill>
                        <a:srgbClr val="009900"/>
                      </a:solidFill>
                      <a:latin typeface="微软雅黑" panose="020B0503020204020204" charset="-122"/>
                      <a:ea typeface="微软雅黑" panose="020B0503020204020204" charset="-122"/>
                      <a:cs typeface="华康俪金黑W8(P)"/>
                    </a:rPr>
                    <a:t>后，屏幕显示为：</a:t>
                  </a:r>
                </a:p>
              </p:txBody>
            </p:sp>
          </p:grpSp>
          <p:sp>
            <p:nvSpPr>
              <p:cNvPr id="21" name="MH_Text_1"/>
              <p:cNvSpPr txBox="1">
                <a:spLocks noChangeArrowheads="1"/>
              </p:cNvSpPr>
              <p:nvPr>
                <p:custDataLst>
                  <p:tags r:id="rId2"/>
                </p:custDataLst>
              </p:nvPr>
            </p:nvSpPr>
            <p:spPr bwMode="auto">
              <a:xfrm>
                <a:off x="1391065" y="1978412"/>
                <a:ext cx="13048946" cy="515268"/>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#include  &lt;stdio.h&gt;</a:t>
                </a:r>
              </a:p>
              <a:p>
                <a:pPr indent="457200" eaLnBrk="1" latinLnBrk="0" hangingPunct="1">
                  <a:lnSpc>
                    <a:spcPct val="120000"/>
                  </a:lnSpc>
                  <a:buFont typeface="Arial" panose="020B0604020202020204" pitchFamily="34" charset="0"/>
                  <a:buNone/>
                </a:pPr>
                <a:r>
                  <a:rPr lang="zh-CN" altLang="en-US" sz="2000" b="1" u="sng" dirty="0">
                    <a:solidFill>
                      <a:srgbClr val="0070C0"/>
                    </a:solidFill>
                    <a:latin typeface="微软雅黑" panose="020B0503020204020204" charset="-122"/>
                    <a:ea typeface="微软雅黑" panose="020B0503020204020204" charset="-122"/>
                    <a:cs typeface="+mn-cs"/>
                    <a:sym typeface="+mn-ea"/>
                  </a:rPr>
                  <a:t>{</a:t>
                </a:r>
              </a:p>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 </a:t>
                </a:r>
              </a:p>
            </p:txBody>
          </p:sp>
        </p:grpSp>
        <p:sp>
          <p:nvSpPr>
            <p:cNvPr id="24" name="矩形 6"/>
            <p:cNvSpPr>
              <a:spLocks noChangeArrowheads="1"/>
            </p:cNvSpPr>
            <p:nvPr/>
          </p:nvSpPr>
          <p:spPr bwMode="auto">
            <a:xfrm>
              <a:off x="2574" y="5948"/>
              <a:ext cx="14293" cy="7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微软雅黑" panose="020B0503020204020204" charset="-122"/>
                  <a:ea typeface="微软雅黑" panose="020B0503020204020204" charset="-122"/>
                  <a:cs typeface="华康俪金黑W8(P)"/>
                </a:rPr>
                <a:t>接着输入</a:t>
              </a:r>
              <a:r>
                <a:rPr lang="zh-CN" altLang="en-US" sz="2000" b="1">
                  <a:solidFill>
                    <a:srgbClr val="FF0000"/>
                  </a:solidFill>
                  <a:latin typeface="微软雅黑" panose="020B0503020204020204" charset="-122"/>
                  <a:ea typeface="微软雅黑" panose="020B0503020204020204" charset="-122"/>
                  <a:cs typeface="华康俪金黑W8(P)"/>
                </a:rPr>
                <a:t>u</a:t>
              </a:r>
              <a:r>
                <a:rPr lang="zh-CN" altLang="en-US" sz="2000" b="1">
                  <a:solidFill>
                    <a:srgbClr val="009900"/>
                  </a:solidFill>
                  <a:latin typeface="微软雅黑" panose="020B0503020204020204" charset="-122"/>
                  <a:ea typeface="微软雅黑" panose="020B0503020204020204" charset="-122"/>
                  <a:cs typeface="华康俪金黑W8(P)"/>
                </a:rPr>
                <a:t>，屏幕显示为：</a:t>
              </a:r>
            </a:p>
          </p:txBody>
        </p:sp>
        <p:sp>
          <p:nvSpPr>
            <p:cNvPr id="25" name="MH_Text_1"/>
            <p:cNvSpPr txBox="1">
              <a:spLocks noChangeArrowheads="1"/>
            </p:cNvSpPr>
            <p:nvPr>
              <p:custDataLst>
                <p:tags r:id="rId1"/>
              </p:custDataLst>
            </p:nvPr>
          </p:nvSpPr>
          <p:spPr bwMode="auto">
            <a:xfrm>
              <a:off x="2266" y="6674"/>
              <a:ext cx="14496" cy="3047"/>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#include  &lt;stdio.h&gt;</a:t>
              </a:r>
            </a:p>
            <a:p>
              <a:pPr indent="457200" eaLnBrk="1" latinLnBrk="0" hangingPunct="1">
                <a:lnSpc>
                  <a:spcPct val="120000"/>
                </a:lnSpc>
                <a:buFont typeface="Arial" panose="020B0604020202020204" pitchFamily="34" charset="0"/>
                <a:buNone/>
              </a:pPr>
              <a:r>
                <a:rPr lang="zh-CN" altLang="en-US" sz="2000" b="1" u="sng" dirty="0">
                  <a:solidFill>
                    <a:srgbClr val="0070C0"/>
                  </a:solidFill>
                  <a:latin typeface="微软雅黑" panose="020B0503020204020204" charset="-122"/>
                  <a:ea typeface="微软雅黑" panose="020B0503020204020204" charset="-122"/>
                  <a:cs typeface="+mn-cs"/>
                  <a:sym typeface="+mn-ea"/>
                </a:rPr>
                <a:t>m</a:t>
              </a:r>
              <a:r>
                <a:rPr lang="zh-CN" altLang="en-US" sz="2000" b="1" dirty="0">
                  <a:solidFill>
                    <a:srgbClr val="0070C0"/>
                  </a:solidFill>
                  <a:latin typeface="微软雅黑" panose="020B0503020204020204" charset="-122"/>
                  <a:ea typeface="微软雅黑" panose="020B0503020204020204" charset="-122"/>
                  <a:cs typeface="+mn-cs"/>
                  <a:sym typeface="+mn-ea"/>
                </a:rPr>
                <a:t>ain() </a:t>
              </a:r>
            </a:p>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 </a:t>
              </a:r>
            </a:p>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  printf("OK!");</a:t>
              </a:r>
            </a:p>
            <a:p>
              <a:pPr indent="457200" eaLnBrk="1" latinLnBrk="0" hangingPunct="1">
                <a:lnSpc>
                  <a:spcPct val="120000"/>
                </a:lnSpc>
                <a:buFont typeface="Arial" panose="020B0604020202020204" pitchFamily="34" charset="0"/>
                <a:buNone/>
              </a:pPr>
              <a:r>
                <a:rPr lang="zh-CN" altLang="en-US" sz="2000" b="1" dirty="0">
                  <a:solidFill>
                    <a:srgbClr val="0070C0"/>
                  </a:solidFill>
                  <a:latin typeface="微软雅黑" panose="020B0503020204020204" charset="-122"/>
                  <a:ea typeface="微软雅黑" panose="020B0503020204020204" charset="-122"/>
                  <a:cs typeface="+mn-cs"/>
                  <a:sym typeface="+mn-ea"/>
                </a:rPr>
                <a:t>} </a:t>
              </a:r>
            </a:p>
          </p:txBody>
        </p:sp>
      </p:grpSp>
      <p:sp>
        <p:nvSpPr>
          <p:cNvPr id="3" name="Text Box 44"/>
          <p:cNvSpPr txBox="1">
            <a:spLocks noChangeArrowheads="1"/>
          </p:cNvSpPr>
          <p:nvPr/>
        </p:nvSpPr>
        <p:spPr bwMode="auto">
          <a:xfrm>
            <a:off x="1016000" y="1826895"/>
            <a:ext cx="4296410" cy="118872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pPr>
            <a:r>
              <a:rPr lang="zh-CN" altLang="en-US" sz="2400" dirty="0">
                <a:solidFill>
                  <a:schemeClr val="tx1">
                    <a:lumMod val="75000"/>
                    <a:lumOff val="25000"/>
                  </a:schemeClr>
                </a:solidFill>
              </a:rPr>
              <a:t>可以这样来记住这个命令：u就是undo的第一个字母。</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strips(downRight)">
                                      <p:cBhvr>
                                        <p:cTn id="11" dur="500"/>
                                        <p:tgtEl>
                                          <p:spTgt spid="14"/>
                                        </p:tgtEl>
                                      </p:cBhvr>
                                    </p:animEffect>
                                  </p:childTnLst>
                                </p:cTn>
                              </p:par>
                              <p:par>
                                <p:cTn id="12" presetID="18" presetClass="entr" presetSubtype="6" fill="hold"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strips(downRight)">
                                      <p:cBhvr>
                                        <p:cTn id="1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AutoShape 3"/>
          <p:cNvSpPr>
            <a:spLocks noChangeArrowheads="1"/>
          </p:cNvSpPr>
          <p:nvPr/>
        </p:nvSpPr>
        <p:spPr bwMode="auto">
          <a:xfrm>
            <a:off x="1555115" y="1776731"/>
            <a:ext cx="9341485" cy="4344152"/>
          </a:xfrm>
          <a:prstGeom prst="roundRect">
            <a:avLst>
              <a:gd name="adj" fmla="val 2773"/>
            </a:avLst>
          </a:prstGeom>
          <a:noFill/>
          <a:ln w="3175">
            <a:solidFill>
              <a:srgbClr val="333333"/>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6148" name="AutoShape 4"/>
          <p:cNvSpPr>
            <a:spLocks noChangeArrowheads="1"/>
          </p:cNvSpPr>
          <p:nvPr/>
        </p:nvSpPr>
        <p:spPr bwMode="auto">
          <a:xfrm>
            <a:off x="5062855" y="1310005"/>
            <a:ext cx="2147570" cy="869315"/>
          </a:xfrm>
          <a:prstGeom prst="roundRect">
            <a:avLst>
              <a:gd name="adj" fmla="val 15657"/>
            </a:avLst>
          </a:prstGeom>
          <a:solidFill>
            <a:schemeClr val="bg1"/>
          </a:solidFill>
          <a:ln w="3175">
            <a:solidFill>
              <a:srgbClr val="333333">
                <a:alpha val="56862"/>
              </a:srgbClr>
            </a:solidFill>
            <a:round/>
          </a:ln>
        </p:spPr>
        <p:txBody>
          <a:bodyPr wrap="none" anchor="ctr"/>
          <a:lstStyle/>
          <a:p>
            <a:pPr algn="ctr">
              <a:spcBef>
                <a:spcPct val="50000"/>
              </a:spcBef>
              <a:buFont typeface="Arial" panose="020B0604020202020204" pitchFamily="34" charset="0"/>
              <a:buNone/>
            </a:pPr>
            <a:r>
              <a:rPr lang="zh-CN" altLang="en-US" sz="3200" b="1">
                <a:latin typeface="微软雅黑" panose="020B0503020204020204" charset="-122"/>
                <a:ea typeface="微软雅黑" panose="020B0503020204020204" charset="-122"/>
              </a:rPr>
              <a:t>本章要点</a:t>
            </a:r>
          </a:p>
        </p:txBody>
      </p:sp>
      <p:sp>
        <p:nvSpPr>
          <p:cNvPr id="3" name="标题 1"/>
          <p:cNvSpPr>
            <a:spLocks noGrp="1"/>
          </p:cNvSpPr>
          <p:nvPr/>
        </p:nvSpPr>
        <p:spPr>
          <a:xfrm>
            <a:off x="3462655" y="310515"/>
            <a:ext cx="1133475" cy="561975"/>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defRPr>
            </a:lvl1pPr>
          </a:lstStyle>
          <a:p>
            <a:pPr fontAlgn="auto">
              <a:buFont typeface="Arial" panose="020B0604020202020204" pitchFamily="34" charset="0"/>
              <a:buNone/>
              <a:defRPr/>
            </a:pPr>
            <a:r>
              <a:rPr lang="zh-CN" altLang="en-US" noProof="1">
                <a:cs typeface="+mn-cs"/>
              </a:rPr>
              <a:t>目录</a:t>
            </a:r>
            <a:endParaRPr lang="zh-CN" altLang="en-US" noProof="1"/>
          </a:p>
        </p:txBody>
      </p:sp>
      <p:grpSp>
        <p:nvGrpSpPr>
          <p:cNvPr id="10" name="Group 5"/>
          <p:cNvGrpSpPr/>
          <p:nvPr/>
        </p:nvGrpSpPr>
        <p:grpSpPr bwMode="auto">
          <a:xfrm>
            <a:off x="6588125" y="5144770"/>
            <a:ext cx="3764280" cy="481330"/>
            <a:chOff x="3" y="0"/>
            <a:chExt cx="4243" cy="333"/>
          </a:xfrm>
        </p:grpSpPr>
        <p:grpSp>
          <p:nvGrpSpPr>
            <p:cNvPr id="11" name="Group 6"/>
            <p:cNvGrpSpPr/>
            <p:nvPr/>
          </p:nvGrpSpPr>
          <p:grpSpPr bwMode="auto">
            <a:xfrm>
              <a:off x="3" y="0"/>
              <a:ext cx="4243" cy="333"/>
              <a:chOff x="0" y="0"/>
              <a:chExt cx="4243" cy="333"/>
            </a:xfrm>
          </p:grpSpPr>
          <p:sp>
            <p:nvSpPr>
              <p:cNvPr id="12" name="AutoShape 7"/>
              <p:cNvSpPr>
                <a:spLocks noChangeArrowheads="1"/>
              </p:cNvSpPr>
              <p:nvPr/>
            </p:nvSpPr>
            <p:spPr bwMode="auto">
              <a:xfrm>
                <a:off x="0" y="0"/>
                <a:ext cx="4243" cy="333"/>
              </a:xfrm>
              <a:prstGeom prst="roundRect">
                <a:avLst>
                  <a:gd name="adj" fmla="val 15657"/>
                </a:avLst>
              </a:prstGeom>
              <a:solidFill>
                <a:srgbClr val="00B0F0"/>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tx1"/>
                  </a:solidFill>
                  <a:latin typeface="微软雅黑" panose="020B0503020204020204" charset="-122"/>
                  <a:ea typeface="微软雅黑" panose="020B0503020204020204" charset="-122"/>
                  <a:sym typeface="Arial Unicode MS" panose="020B0604020202020204" pitchFamily="34" charset="-122"/>
                </a:rPr>
                <a:t>4.8  ex命令</a:t>
              </a:r>
            </a:p>
          </p:txBody>
        </p:sp>
      </p:grpSp>
      <p:grpSp>
        <p:nvGrpSpPr>
          <p:cNvPr id="15" name="Group 5"/>
          <p:cNvGrpSpPr/>
          <p:nvPr/>
        </p:nvGrpSpPr>
        <p:grpSpPr bwMode="auto">
          <a:xfrm>
            <a:off x="6569075" y="4255135"/>
            <a:ext cx="3794760" cy="481330"/>
            <a:chOff x="3" y="0"/>
            <a:chExt cx="4243" cy="333"/>
          </a:xfrm>
        </p:grpSpPr>
        <p:grpSp>
          <p:nvGrpSpPr>
            <p:cNvPr id="16" name="Group 6"/>
            <p:cNvGrpSpPr/>
            <p:nvPr/>
          </p:nvGrpSpPr>
          <p:grpSpPr bwMode="auto">
            <a:xfrm>
              <a:off x="3" y="0"/>
              <a:ext cx="4243" cy="333"/>
              <a:chOff x="0" y="0"/>
              <a:chExt cx="4243" cy="333"/>
            </a:xfrm>
          </p:grpSpPr>
          <p:sp>
            <p:nvSpPr>
              <p:cNvPr id="1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4.7  文本修改</a:t>
              </a:r>
            </a:p>
          </p:txBody>
        </p:sp>
      </p:grpSp>
      <p:grpSp>
        <p:nvGrpSpPr>
          <p:cNvPr id="20" name="Group 5"/>
          <p:cNvGrpSpPr/>
          <p:nvPr/>
        </p:nvGrpSpPr>
        <p:grpSpPr bwMode="auto">
          <a:xfrm>
            <a:off x="2021205" y="2421255"/>
            <a:ext cx="4041140" cy="481330"/>
            <a:chOff x="3" y="0"/>
            <a:chExt cx="4243" cy="333"/>
          </a:xfrm>
        </p:grpSpPr>
        <p:grpSp>
          <p:nvGrpSpPr>
            <p:cNvPr id="21" name="Group 6"/>
            <p:cNvGrpSpPr/>
            <p:nvPr/>
          </p:nvGrpSpPr>
          <p:grpSpPr bwMode="auto">
            <a:xfrm>
              <a:off x="3" y="0"/>
              <a:ext cx="4243" cy="333"/>
              <a:chOff x="0" y="0"/>
              <a:chExt cx="4243" cy="333"/>
            </a:xfrm>
          </p:grpSpPr>
          <p:sp>
            <p:nvSpPr>
              <p:cNvPr id="2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4.1  vi的工作方式</a:t>
              </a:r>
            </a:p>
          </p:txBody>
        </p:sp>
      </p:grpSp>
      <p:grpSp>
        <p:nvGrpSpPr>
          <p:cNvPr id="25" name="Group 5"/>
          <p:cNvGrpSpPr/>
          <p:nvPr/>
        </p:nvGrpSpPr>
        <p:grpSpPr bwMode="auto">
          <a:xfrm>
            <a:off x="1986280" y="3320415"/>
            <a:ext cx="4091940" cy="481330"/>
            <a:chOff x="3" y="0"/>
            <a:chExt cx="4243" cy="333"/>
          </a:xfrm>
        </p:grpSpPr>
        <p:grpSp>
          <p:nvGrpSpPr>
            <p:cNvPr id="26" name="Group 6"/>
            <p:cNvGrpSpPr/>
            <p:nvPr/>
          </p:nvGrpSpPr>
          <p:grpSpPr bwMode="auto">
            <a:xfrm>
              <a:off x="3" y="0"/>
              <a:ext cx="4243" cy="333"/>
              <a:chOff x="0" y="0"/>
              <a:chExt cx="4243" cy="333"/>
            </a:xfrm>
          </p:grpSpPr>
          <p:sp>
            <p:nvSpPr>
              <p:cNvPr id="2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4.2  vi的启动和退出</a:t>
              </a:r>
            </a:p>
          </p:txBody>
        </p:sp>
      </p:grpSp>
      <p:grpSp>
        <p:nvGrpSpPr>
          <p:cNvPr id="30" name="Group 5"/>
          <p:cNvGrpSpPr/>
          <p:nvPr/>
        </p:nvGrpSpPr>
        <p:grpSpPr bwMode="auto">
          <a:xfrm>
            <a:off x="2034540" y="4241165"/>
            <a:ext cx="4074160" cy="481330"/>
            <a:chOff x="3" y="0"/>
            <a:chExt cx="4243" cy="333"/>
          </a:xfrm>
        </p:grpSpPr>
        <p:grpSp>
          <p:nvGrpSpPr>
            <p:cNvPr id="31" name="Group 6"/>
            <p:cNvGrpSpPr/>
            <p:nvPr/>
          </p:nvGrpSpPr>
          <p:grpSpPr bwMode="auto">
            <a:xfrm>
              <a:off x="3" y="0"/>
              <a:ext cx="4243" cy="333"/>
              <a:chOff x="0" y="0"/>
              <a:chExt cx="4243" cy="333"/>
            </a:xfrm>
          </p:grpSpPr>
          <p:sp>
            <p:nvSpPr>
              <p:cNvPr id="3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4.3  文本输入</a:t>
              </a:r>
            </a:p>
          </p:txBody>
        </p:sp>
      </p:grpSp>
      <p:grpSp>
        <p:nvGrpSpPr>
          <p:cNvPr id="35" name="Group 5"/>
          <p:cNvGrpSpPr/>
          <p:nvPr/>
        </p:nvGrpSpPr>
        <p:grpSpPr bwMode="auto">
          <a:xfrm>
            <a:off x="2046605" y="5113020"/>
            <a:ext cx="4037330" cy="481330"/>
            <a:chOff x="3" y="0"/>
            <a:chExt cx="4243" cy="333"/>
          </a:xfrm>
        </p:grpSpPr>
        <p:grpSp>
          <p:nvGrpSpPr>
            <p:cNvPr id="36" name="Group 6"/>
            <p:cNvGrpSpPr/>
            <p:nvPr/>
          </p:nvGrpSpPr>
          <p:grpSpPr bwMode="auto">
            <a:xfrm>
              <a:off x="3" y="0"/>
              <a:ext cx="4243" cy="333"/>
              <a:chOff x="0" y="0"/>
              <a:chExt cx="4243" cy="333"/>
            </a:xfrm>
          </p:grpSpPr>
          <p:sp>
            <p:nvSpPr>
              <p:cNvPr id="3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9" name="Text Box 9"/>
            <p:cNvSpPr txBox="1">
              <a:spLocks noChangeArrowheads="1"/>
            </p:cNvSpPr>
            <p:nvPr/>
          </p:nvSpPr>
          <p:spPr bwMode="auto">
            <a:xfrm>
              <a:off x="879" y="34"/>
              <a:ext cx="3004"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4.4  打开文件</a:t>
              </a:r>
            </a:p>
          </p:txBody>
        </p:sp>
      </p:grpSp>
      <p:grpSp>
        <p:nvGrpSpPr>
          <p:cNvPr id="40" name="Group 5"/>
          <p:cNvGrpSpPr/>
          <p:nvPr/>
        </p:nvGrpSpPr>
        <p:grpSpPr bwMode="auto">
          <a:xfrm>
            <a:off x="6516370" y="2437130"/>
            <a:ext cx="3808095" cy="481330"/>
            <a:chOff x="3" y="0"/>
            <a:chExt cx="4243" cy="333"/>
          </a:xfrm>
        </p:grpSpPr>
        <p:grpSp>
          <p:nvGrpSpPr>
            <p:cNvPr id="41" name="Group 6"/>
            <p:cNvGrpSpPr/>
            <p:nvPr/>
          </p:nvGrpSpPr>
          <p:grpSpPr bwMode="auto">
            <a:xfrm>
              <a:off x="3" y="0"/>
              <a:ext cx="4243" cy="333"/>
              <a:chOff x="0" y="0"/>
              <a:chExt cx="4243" cy="333"/>
            </a:xfrm>
          </p:grpSpPr>
          <p:sp>
            <p:nvSpPr>
              <p:cNvPr id="4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4.5  保存文件</a:t>
              </a:r>
            </a:p>
          </p:txBody>
        </p:sp>
      </p:grpSp>
      <p:grpSp>
        <p:nvGrpSpPr>
          <p:cNvPr id="45" name="Group 5"/>
          <p:cNvGrpSpPr/>
          <p:nvPr/>
        </p:nvGrpSpPr>
        <p:grpSpPr bwMode="auto">
          <a:xfrm>
            <a:off x="6548120" y="3333750"/>
            <a:ext cx="3775710" cy="481330"/>
            <a:chOff x="3" y="0"/>
            <a:chExt cx="4243" cy="333"/>
          </a:xfrm>
        </p:grpSpPr>
        <p:grpSp>
          <p:nvGrpSpPr>
            <p:cNvPr id="46" name="Group 6"/>
            <p:cNvGrpSpPr/>
            <p:nvPr/>
          </p:nvGrpSpPr>
          <p:grpSpPr bwMode="auto">
            <a:xfrm>
              <a:off x="3" y="0"/>
              <a:ext cx="4243" cy="333"/>
              <a:chOff x="0" y="0"/>
              <a:chExt cx="4243" cy="333"/>
            </a:xfrm>
          </p:grpSpPr>
          <p:sp>
            <p:nvSpPr>
              <p:cNvPr id="4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charset="-122"/>
                  <a:ea typeface="微软雅黑" panose="020B0503020204020204" charset="-122"/>
                  <a:sym typeface="Arial Unicode MS" panose="020B0604020202020204" pitchFamily="34" charset="-122"/>
                </a:rPr>
                <a:t>4.6  移动光标</a:t>
              </a:r>
            </a:p>
          </p:txBody>
        </p:sp>
      </p:grpSp>
    </p:spTree>
  </p:cSld>
  <p:clrMapOvr>
    <a:masterClrMapping/>
  </p:clrMapOvr>
  <p:transition>
    <p:randomBa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47675" y="1327150"/>
            <a:ext cx="11296015" cy="5121275"/>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31" name="矩形 30"/>
          <p:cNvSpPr/>
          <p:nvPr/>
        </p:nvSpPr>
        <p:spPr>
          <a:xfrm>
            <a:off x="648931" y="2244556"/>
            <a:ext cx="4063365" cy="3831818"/>
          </a:xfrm>
          <a:prstGeom prst="rect">
            <a:avLst/>
          </a:prstGeom>
        </p:spPr>
        <p:txBody>
          <a:bodyPr wrap="square">
            <a:spAutoFit/>
          </a:bodyPr>
          <a:lstStyle/>
          <a:p>
            <a:pPr indent="457200" fontAlgn="auto">
              <a:lnSpc>
                <a:spcPct val="150000"/>
              </a:lnSpc>
            </a:pPr>
            <a:r>
              <a:rPr lang="zh-CN" altLang="en-US" dirty="0">
                <a:solidFill>
                  <a:schemeClr val="tx1">
                    <a:lumMod val="75000"/>
                    <a:lumOff val="25000"/>
                  </a:schemeClr>
                </a:solidFill>
                <a:latin typeface="微软雅黑" panose="020B0503020204020204" charset="-122"/>
                <a:ea typeface="微软雅黑" panose="020B0503020204020204" charset="-122"/>
                <a:sym typeface="+mn-ea"/>
              </a:rPr>
              <a:t>vi编辑器有三种工作方式，除命令方式、输入方式外，还有ex命令方式。进入ex命令方式后，就可以使用ex命令执行编辑处理了。进入ex命令的方法是，在命令方式下输入</a:t>
            </a:r>
            <a:r>
              <a:rPr lang="zh-CN" altLang="en-US" b="1" dirty="0">
                <a:solidFill>
                  <a:srgbClr val="0070C0"/>
                </a:solidFill>
                <a:latin typeface="微软雅黑" panose="020B0503020204020204" charset="-122"/>
                <a:ea typeface="微软雅黑" panose="020B0503020204020204" charset="-122"/>
                <a:sym typeface="+mn-ea"/>
              </a:rPr>
              <a:t>冒号“：”</a:t>
            </a:r>
            <a:r>
              <a:rPr lang="zh-CN" altLang="en-US" dirty="0">
                <a:solidFill>
                  <a:schemeClr val="tx1">
                    <a:lumMod val="75000"/>
                    <a:lumOff val="25000"/>
                  </a:schemeClr>
                </a:solidFill>
                <a:latin typeface="微软雅黑" panose="020B0503020204020204" charset="-122"/>
                <a:ea typeface="微软雅黑" panose="020B0503020204020204" charset="-122"/>
                <a:sym typeface="+mn-ea"/>
              </a:rPr>
              <a:t>，即在状态行上出现冒号提示符，随后就输入</a:t>
            </a:r>
            <a:r>
              <a:rPr lang="zh-CN" altLang="en-US" b="1" dirty="0">
                <a:solidFill>
                  <a:srgbClr val="0070C0"/>
                </a:solidFill>
                <a:latin typeface="微软雅黑" panose="020B0503020204020204" charset="-122"/>
                <a:ea typeface="微软雅黑" panose="020B0503020204020204" charset="-122"/>
                <a:sym typeface="+mn-ea"/>
              </a:rPr>
              <a:t>ex命令</a:t>
            </a:r>
            <a:r>
              <a:rPr lang="zh-CN" altLang="en-US" dirty="0">
                <a:solidFill>
                  <a:schemeClr val="tx1">
                    <a:lumMod val="75000"/>
                    <a:lumOff val="25000"/>
                  </a:schemeClr>
                </a:solidFill>
                <a:latin typeface="微软雅黑" panose="020B0503020204020204" charset="-122"/>
                <a:ea typeface="微软雅黑" panose="020B0503020204020204" charset="-122"/>
                <a:sym typeface="+mn-ea"/>
              </a:rPr>
              <a:t>。通常，ex命令用来写文件、读文件、跳到shell状态或者切换正在编辑的文件。</a:t>
            </a:r>
          </a:p>
        </p:txBody>
      </p:sp>
      <p:sp>
        <p:nvSpPr>
          <p:cNvPr id="32" name="矩形 31"/>
          <p:cNvSpPr/>
          <p:nvPr/>
        </p:nvSpPr>
        <p:spPr>
          <a:xfrm>
            <a:off x="7974525" y="2144201"/>
            <a:ext cx="3329940" cy="3749040"/>
          </a:xfrm>
          <a:prstGeom prst="rect">
            <a:avLst/>
          </a:prstGeom>
        </p:spPr>
        <p:txBody>
          <a:bodyPr wrap="square">
            <a:spAutoFit/>
          </a:bodyPr>
          <a:lstStyle/>
          <a:p>
            <a:pPr indent="457200" fontAlgn="auto">
              <a:lnSpc>
                <a:spcPct val="150000"/>
              </a:lnSpc>
            </a:pPr>
            <a:r>
              <a:rPr lang="zh-CN" altLang="en-US" sz="2000" dirty="0">
                <a:solidFill>
                  <a:schemeClr val="tx1">
                    <a:lumMod val="75000"/>
                    <a:lumOff val="25000"/>
                  </a:schemeClr>
                </a:solidFill>
                <a:latin typeface="微软雅黑" panose="020B0503020204020204" charset="-122"/>
                <a:ea typeface="微软雅黑" panose="020B0503020204020204" charset="-122"/>
                <a:sym typeface="+mn-ea"/>
              </a:rPr>
              <a:t>在默认情况下，很多ex命令完成的动作可影响到当前的文件，即影响vi命令之后输入的文件名。可以用</a:t>
            </a:r>
            <a:r>
              <a:rPr lang="zh-CN" altLang="en-US" sz="2000" b="1" dirty="0">
                <a:solidFill>
                  <a:srgbClr val="0070C0"/>
                </a:solidFill>
                <a:latin typeface="微软雅黑" panose="020B0503020204020204" charset="-122"/>
                <a:ea typeface="微软雅黑" panose="020B0503020204020204" charset="-122"/>
                <a:sym typeface="+mn-ea"/>
              </a:rPr>
              <a:t>f命令</a:t>
            </a:r>
            <a:r>
              <a:rPr lang="zh-CN" altLang="en-US" sz="2000" dirty="0">
                <a:solidFill>
                  <a:schemeClr val="tx1">
                    <a:lumMod val="75000"/>
                    <a:lumOff val="25000"/>
                  </a:schemeClr>
                </a:solidFill>
                <a:latin typeface="微软雅黑" panose="020B0503020204020204" charset="-122"/>
                <a:ea typeface="微软雅黑" panose="020B0503020204020204" charset="-122"/>
                <a:sym typeface="+mn-ea"/>
              </a:rPr>
              <a:t>或者</a:t>
            </a:r>
            <a:r>
              <a:rPr lang="zh-CN" altLang="en-US" sz="2000" b="1" dirty="0">
                <a:solidFill>
                  <a:srgbClr val="0070C0"/>
                </a:solidFill>
                <a:latin typeface="微软雅黑" panose="020B0503020204020204" charset="-122"/>
                <a:ea typeface="微软雅黑" panose="020B0503020204020204" charset="-122"/>
                <a:sym typeface="+mn-ea"/>
              </a:rPr>
              <a:t>n命令</a:t>
            </a:r>
            <a:r>
              <a:rPr lang="zh-CN" altLang="en-US" sz="2000" dirty="0">
                <a:solidFill>
                  <a:schemeClr val="tx1">
                    <a:lumMod val="75000"/>
                    <a:lumOff val="25000"/>
                  </a:schemeClr>
                </a:solidFill>
                <a:latin typeface="微软雅黑" panose="020B0503020204020204" charset="-122"/>
                <a:ea typeface="微软雅黑" panose="020B0503020204020204" charset="-122"/>
                <a:sym typeface="+mn-ea"/>
              </a:rPr>
              <a:t>更改当前的文件。所有的ex命令都可以用</a:t>
            </a:r>
            <a:r>
              <a:rPr lang="zh-CN" altLang="en-US" sz="2000" b="1" dirty="0">
                <a:solidFill>
                  <a:srgbClr val="0070C0"/>
                </a:solidFill>
                <a:latin typeface="微软雅黑" panose="020B0503020204020204" charset="-122"/>
                <a:ea typeface="微软雅黑" panose="020B0503020204020204" charset="-122"/>
                <a:sym typeface="+mn-ea"/>
              </a:rPr>
              <a:t>【Enter】键</a:t>
            </a:r>
            <a:r>
              <a:rPr lang="zh-CN" altLang="en-US" sz="2000" dirty="0">
                <a:solidFill>
                  <a:schemeClr val="tx1">
                    <a:lumMod val="75000"/>
                    <a:lumOff val="25000"/>
                  </a:schemeClr>
                </a:solidFill>
                <a:latin typeface="微软雅黑" panose="020B0503020204020204" charset="-122"/>
                <a:ea typeface="微软雅黑" panose="020B0503020204020204" charset="-122"/>
                <a:sym typeface="+mn-ea"/>
              </a:rPr>
              <a:t>或者“</a:t>
            </a:r>
            <a:r>
              <a:rPr lang="zh-CN" altLang="en-US" sz="2000" b="1" dirty="0">
                <a:solidFill>
                  <a:srgbClr val="0070C0"/>
                </a:solidFill>
                <a:latin typeface="微软雅黑" panose="020B0503020204020204" charset="-122"/>
                <a:ea typeface="微软雅黑" panose="020B0503020204020204" charset="-122"/>
                <a:sym typeface="+mn-ea"/>
              </a:rPr>
              <a:t>中断”键</a:t>
            </a:r>
            <a:r>
              <a:rPr lang="zh-CN" altLang="en-US" sz="2000" dirty="0">
                <a:solidFill>
                  <a:schemeClr val="tx1">
                    <a:lumMod val="75000"/>
                    <a:lumOff val="25000"/>
                  </a:schemeClr>
                </a:solidFill>
                <a:latin typeface="微软雅黑" panose="020B0503020204020204" charset="-122"/>
                <a:ea typeface="微软雅黑" panose="020B0503020204020204" charset="-122"/>
                <a:sym typeface="+mn-ea"/>
              </a:rPr>
              <a:t>予以中止。</a:t>
            </a:r>
            <a:endParaRPr lang="zh-CN" altLang="en-US" sz="2000" dirty="0">
              <a:solidFill>
                <a:schemeClr val="tx1">
                  <a:lumMod val="65000"/>
                  <a:lumOff val="35000"/>
                </a:schemeClr>
              </a:solidFill>
              <a:latin typeface="微软雅黑" panose="020B0503020204020204" charset="-122"/>
              <a:ea typeface="微软雅黑" panose="020B0503020204020204" charset="-122"/>
            </a:endParaRPr>
          </a:p>
        </p:txBody>
      </p:sp>
      <p:pic>
        <p:nvPicPr>
          <p:cNvPr id="25" name="图片 24"/>
          <p:cNvPicPr>
            <a:picLocks noChangeAspect="1"/>
          </p:cNvPicPr>
          <p:nvPr/>
        </p:nvPicPr>
        <p:blipFill>
          <a:blip r:embed="rId2" cstate="print"/>
          <a:stretch>
            <a:fillRect/>
          </a:stretch>
        </p:blipFill>
        <p:spPr>
          <a:xfrm>
            <a:off x="4895176" y="1810579"/>
            <a:ext cx="2830830" cy="462851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2" presetClass="entr" presetSubtype="8" fill="hold" grpId="0" nodeType="after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slide(fromLeft)">
                                      <p:cBhvr>
                                        <p:cTn id="12" dur="500"/>
                                        <p:tgtEl>
                                          <p:spTgt spid="31"/>
                                        </p:tgtEl>
                                      </p:cBhvr>
                                    </p:animEffect>
                                  </p:childTnLst>
                                </p:cTn>
                              </p:par>
                            </p:childTnLst>
                          </p:cTn>
                        </p:par>
                        <p:par>
                          <p:cTn id="13" fill="hold">
                            <p:stCondLst>
                              <p:cond delay="1000"/>
                            </p:stCondLst>
                            <p:childTnLst>
                              <p:par>
                                <p:cTn id="14" presetID="12" presetClass="entr" presetSubtype="2" fill="hold" grpId="0" nodeType="after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slide(fromRight)">
                                      <p:cBhvr>
                                        <p:cTn id="1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47675" y="1662430"/>
            <a:ext cx="11296015" cy="4785995"/>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31" name="矩形 30"/>
          <p:cNvSpPr/>
          <p:nvPr/>
        </p:nvSpPr>
        <p:spPr>
          <a:xfrm>
            <a:off x="938187" y="2202957"/>
            <a:ext cx="7953893" cy="1477328"/>
          </a:xfrm>
          <a:prstGeom prst="rect">
            <a:avLst/>
          </a:prstGeom>
        </p:spPr>
        <p:txBody>
          <a:bodyPr wrap="square">
            <a:spAutoFit/>
          </a:bodyPr>
          <a:lstStyle/>
          <a:p>
            <a:pPr indent="457200" fontAlgn="auto">
              <a:lnSpc>
                <a:spcPct val="150000"/>
              </a:lnSpc>
            </a:pPr>
            <a:r>
              <a:rPr lang="zh-CN" altLang="en-US" sz="2000" dirty="0">
                <a:solidFill>
                  <a:schemeClr val="tx1">
                    <a:lumMod val="75000"/>
                    <a:lumOff val="25000"/>
                  </a:schemeClr>
                </a:solidFill>
                <a:latin typeface="微软雅黑" panose="020B0503020204020204" charset="-122"/>
                <a:ea typeface="微软雅黑" panose="020B0503020204020204" charset="-122"/>
                <a:sym typeface="+mn-ea"/>
              </a:rPr>
              <a:t>ex是面向行的编辑器，经常要将光标移到指定行。</a:t>
            </a:r>
            <a:endParaRPr lang="zh-CN" altLang="en-US" sz="2000" dirty="0">
              <a:solidFill>
                <a:schemeClr val="tx1">
                  <a:lumMod val="75000"/>
                  <a:lumOff val="25000"/>
                </a:schemeClr>
              </a:solidFill>
              <a:latin typeface="微软雅黑" panose="020B0503020204020204" charset="-122"/>
              <a:ea typeface="微软雅黑" panose="020B0503020204020204" charset="-122"/>
            </a:endParaRPr>
          </a:p>
          <a:p>
            <a:pPr indent="457200" fontAlgn="auto">
              <a:lnSpc>
                <a:spcPct val="150000"/>
              </a:lnSpc>
            </a:pPr>
            <a:r>
              <a:rPr lang="zh-CN" altLang="en-US" sz="2000" dirty="0">
                <a:solidFill>
                  <a:schemeClr val="tx1">
                    <a:lumMod val="75000"/>
                    <a:lumOff val="25000"/>
                  </a:schemeClr>
                </a:solidFill>
                <a:latin typeface="微软雅黑" panose="020B0503020204020204" charset="-122"/>
                <a:ea typeface="微软雅黑" panose="020B0503020204020204" charset="-122"/>
                <a:sym typeface="+mn-ea"/>
              </a:rPr>
              <a:t>其中的一种办法是</a:t>
            </a:r>
            <a:r>
              <a:rPr lang="zh-CN" altLang="en-US" sz="2000" b="1" dirty="0">
                <a:solidFill>
                  <a:srgbClr val="0070C0"/>
                </a:solidFill>
                <a:latin typeface="微软雅黑" panose="020B0503020204020204" charset="-122"/>
                <a:ea typeface="微软雅黑" panose="020B0503020204020204" charset="-122"/>
                <a:sym typeface="+mn-ea"/>
              </a:rPr>
              <a:t>指定行号</a:t>
            </a:r>
            <a:r>
              <a:rPr lang="zh-CN" altLang="en-US" sz="2000" dirty="0">
                <a:solidFill>
                  <a:schemeClr val="tx1">
                    <a:lumMod val="75000"/>
                    <a:lumOff val="25000"/>
                  </a:schemeClr>
                </a:solidFill>
                <a:latin typeface="微软雅黑" panose="020B0503020204020204" charset="-122"/>
                <a:ea typeface="微软雅黑" panose="020B0503020204020204" charset="-122"/>
                <a:sym typeface="+mn-ea"/>
              </a:rPr>
              <a:t>，如输入</a:t>
            </a:r>
            <a:r>
              <a:rPr lang="zh-CN" altLang="en-US" sz="2000" b="1" dirty="0">
                <a:solidFill>
                  <a:srgbClr val="0070C0"/>
                </a:solidFill>
                <a:latin typeface="微软雅黑" panose="020B0503020204020204" charset="-122"/>
                <a:ea typeface="微软雅黑" panose="020B0503020204020204" charset="-122"/>
                <a:sym typeface="+mn-ea"/>
              </a:rPr>
              <a:t>“:20+Enter键”</a:t>
            </a:r>
            <a:r>
              <a:rPr lang="zh-CN" altLang="en-US" sz="2000" dirty="0">
                <a:solidFill>
                  <a:schemeClr val="tx1">
                    <a:lumMod val="75000"/>
                    <a:lumOff val="25000"/>
                  </a:schemeClr>
                </a:solidFill>
                <a:latin typeface="微软雅黑" panose="020B0503020204020204" charset="-122"/>
                <a:ea typeface="微软雅黑" panose="020B0503020204020204" charset="-122"/>
                <a:sym typeface="+mn-ea"/>
              </a:rPr>
              <a:t>，即可将光标移到第20行的行首。</a:t>
            </a:r>
          </a:p>
        </p:txBody>
      </p:sp>
      <p:sp>
        <p:nvSpPr>
          <p:cNvPr id="32" name="矩形 31"/>
          <p:cNvSpPr/>
          <p:nvPr/>
        </p:nvSpPr>
        <p:spPr>
          <a:xfrm>
            <a:off x="998384" y="3789809"/>
            <a:ext cx="7725746" cy="2400657"/>
          </a:xfrm>
          <a:prstGeom prst="rect">
            <a:avLst/>
          </a:prstGeom>
        </p:spPr>
        <p:txBody>
          <a:bodyPr wrap="square">
            <a:spAutoFit/>
          </a:bodyPr>
          <a:lstStyle/>
          <a:p>
            <a:pPr indent="457200" fontAlgn="auto">
              <a:lnSpc>
                <a:spcPct val="150000"/>
              </a:lnSpc>
            </a:pPr>
            <a:r>
              <a:rPr lang="zh-CN" altLang="en-US" sz="2000" dirty="0">
                <a:latin typeface="微软雅黑" panose="020B0503020204020204" charset="-122"/>
                <a:ea typeface="微软雅黑" panose="020B0503020204020204" charset="-122"/>
                <a:sym typeface="+mn-ea"/>
              </a:rPr>
              <a:t>另一种办法是</a:t>
            </a:r>
            <a:r>
              <a:rPr lang="zh-CN" altLang="en-US" sz="2000" b="1" dirty="0">
                <a:solidFill>
                  <a:srgbClr val="0070C0"/>
                </a:solidFill>
                <a:latin typeface="微软雅黑" panose="020B0503020204020204" charset="-122"/>
                <a:ea typeface="微软雅黑" panose="020B0503020204020204" charset="-122"/>
                <a:sym typeface="+mn-ea"/>
              </a:rPr>
              <a:t>给定模式</a:t>
            </a:r>
            <a:r>
              <a:rPr lang="zh-CN" altLang="en-US" sz="2000" dirty="0">
                <a:latin typeface="微软雅黑" panose="020B0503020204020204" charset="-122"/>
                <a:ea typeface="微软雅黑" panose="020B0503020204020204" charset="-122"/>
                <a:sym typeface="+mn-ea"/>
              </a:rPr>
              <a:t>，向前或向后查找。例如，输入</a:t>
            </a:r>
            <a:r>
              <a:rPr lang="zh-CN" altLang="en-US" sz="2000" b="1" dirty="0">
                <a:solidFill>
                  <a:srgbClr val="0070C0"/>
                </a:solidFill>
                <a:latin typeface="微软雅黑" panose="020B0503020204020204" charset="-122"/>
                <a:ea typeface="微软雅黑" panose="020B0503020204020204" charset="-122"/>
                <a:sym typeface="+mn-ea"/>
              </a:rPr>
              <a:t>“:/this?”</a:t>
            </a:r>
            <a:r>
              <a:rPr lang="zh-CN" altLang="en-US" sz="2000" dirty="0">
                <a:latin typeface="微软雅黑" panose="020B0503020204020204" charset="-122"/>
                <a:ea typeface="微软雅黑" panose="020B0503020204020204" charset="-122"/>
                <a:sym typeface="+mn-ea"/>
              </a:rPr>
              <a:t>再按</a:t>
            </a:r>
            <a:r>
              <a:rPr lang="zh-CN" altLang="en-US" sz="2000" b="1" dirty="0">
                <a:solidFill>
                  <a:srgbClr val="0070C0"/>
                </a:solidFill>
                <a:latin typeface="微软雅黑" panose="020B0503020204020204" charset="-122"/>
                <a:ea typeface="微软雅黑" panose="020B0503020204020204" charset="-122"/>
                <a:sym typeface="+mn-ea"/>
              </a:rPr>
              <a:t>【Enter】键</a:t>
            </a:r>
            <a:r>
              <a:rPr lang="zh-CN" altLang="en-US" sz="2000" dirty="0">
                <a:latin typeface="微软雅黑" panose="020B0503020204020204" charset="-122"/>
                <a:ea typeface="微软雅黑" panose="020B0503020204020204" charset="-122"/>
                <a:sym typeface="+mn-ea"/>
              </a:rPr>
              <a:t>，从光标所在的行向前查找给定模式this，光标停在第一个与this匹配的行的行首。</a:t>
            </a:r>
          </a:p>
          <a:p>
            <a:pPr indent="457200" fontAlgn="auto">
              <a:lnSpc>
                <a:spcPct val="150000"/>
              </a:lnSpc>
            </a:pPr>
            <a:r>
              <a:rPr lang="zh-CN" altLang="en-US" sz="2000" dirty="0">
                <a:latin typeface="微软雅黑" panose="020B0503020204020204" charset="-122"/>
                <a:ea typeface="微软雅黑" panose="020B0503020204020204" charset="-122"/>
                <a:sym typeface="+mn-ea"/>
              </a:rPr>
              <a:t>输入“:?/this?”再按</a:t>
            </a:r>
            <a:r>
              <a:rPr lang="zh-CN" altLang="en-US" sz="2000" b="1" dirty="0">
                <a:solidFill>
                  <a:srgbClr val="0070C0"/>
                </a:solidFill>
                <a:latin typeface="微软雅黑" panose="020B0503020204020204" charset="-122"/>
                <a:ea typeface="微软雅黑" panose="020B0503020204020204" charset="-122"/>
                <a:sym typeface="+mn-ea"/>
              </a:rPr>
              <a:t>【Enter】键</a:t>
            </a:r>
            <a:r>
              <a:rPr lang="zh-CN" altLang="en-US" sz="2000" dirty="0">
                <a:latin typeface="微软雅黑" panose="020B0503020204020204" charset="-122"/>
                <a:ea typeface="微软雅黑" panose="020B0503020204020204" charset="-122"/>
                <a:sym typeface="+mn-ea"/>
              </a:rPr>
              <a:t>，则从光标所在的行向后查找给定模式this，光标停在首先找到的匹配行的行首。</a:t>
            </a:r>
          </a:p>
        </p:txBody>
      </p:sp>
      <p:grpSp>
        <p:nvGrpSpPr>
          <p:cNvPr id="2" name="组合 1"/>
          <p:cNvGrpSpPr/>
          <p:nvPr/>
        </p:nvGrpSpPr>
        <p:grpSpPr>
          <a:xfrm>
            <a:off x="691515" y="1082040"/>
            <a:ext cx="4047490" cy="529590"/>
            <a:chOff x="1089" y="1704"/>
            <a:chExt cx="6374" cy="834"/>
          </a:xfrm>
        </p:grpSpPr>
        <p:sp>
          <p:nvSpPr>
            <p:cNvPr id="22" name="矩形 6"/>
            <p:cNvSpPr>
              <a:spLocks noChangeArrowheads="1"/>
            </p:cNvSpPr>
            <p:nvPr/>
          </p:nvSpPr>
          <p:spPr bwMode="auto">
            <a:xfrm>
              <a:off x="1791" y="1704"/>
              <a:ext cx="5672"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sz="2400" b="1">
                  <a:solidFill>
                    <a:srgbClr val="0066FF"/>
                  </a:solidFill>
                  <a:latin typeface="微软雅黑" panose="020B0503020204020204" charset="-122"/>
                  <a:ea typeface="微软雅黑" panose="020B0503020204020204" charset="-122"/>
                  <a:sym typeface="+mn-ea"/>
                </a:rPr>
                <a:t>4.8.1  命令定位</a:t>
              </a:r>
            </a:p>
          </p:txBody>
        </p:sp>
        <p:sp>
          <p:nvSpPr>
            <p:cNvPr id="23" name="椭圆 22"/>
            <p:cNvSpPr/>
            <p:nvPr/>
          </p:nvSpPr>
          <p:spPr bwMode="auto">
            <a:xfrm>
              <a:off x="1089" y="1887"/>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pic>
        <p:nvPicPr>
          <p:cNvPr id="10" name="图片 9" descr="A000220151119A12PPIC.png"/>
          <p:cNvPicPr>
            <a:picLocks noChangeAspect="1"/>
          </p:cNvPicPr>
          <p:nvPr/>
        </p:nvPicPr>
        <p:blipFill>
          <a:blip r:embed="rId2" cstate="print"/>
          <a:stretch>
            <a:fillRect/>
          </a:stretch>
        </p:blipFill>
        <p:spPr>
          <a:xfrm flipH="1">
            <a:off x="8490848" y="1483112"/>
            <a:ext cx="2855410" cy="5374888"/>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slide(fromLeft)">
                                      <p:cBhvr>
                                        <p:cTn id="7" dur="500"/>
                                        <p:tgtEl>
                                          <p:spTgt spid="31"/>
                                        </p:tgtEl>
                                      </p:cBhvr>
                                    </p:animEffect>
                                  </p:childTnLst>
                                </p:cTn>
                              </p:par>
                            </p:childTnLst>
                          </p:cTn>
                        </p:par>
                        <p:par>
                          <p:cTn id="8" fill="hold">
                            <p:stCondLst>
                              <p:cond delay="500"/>
                            </p:stCondLst>
                            <p:childTnLst>
                              <p:par>
                                <p:cTn id="9" presetID="12" presetClass="entr" presetSubtype="2" fill="hold" grpId="0"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slide(fromRight)">
                                      <p:cBhvr>
                                        <p:cTn id="1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98475" y="2006081"/>
            <a:ext cx="11090145" cy="4430913"/>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360172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sz="2400" b="1">
                <a:solidFill>
                  <a:srgbClr val="0066FF"/>
                </a:solidFill>
                <a:latin typeface="微软雅黑" panose="020B0503020204020204" charset="-122"/>
                <a:ea typeface="微软雅黑" panose="020B0503020204020204" charset="-122"/>
                <a:sym typeface="+mn-ea"/>
              </a:rPr>
              <a:t>4.8.1  命令定位</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2" name="组合 1"/>
          <p:cNvGrpSpPr/>
          <p:nvPr/>
        </p:nvGrpSpPr>
        <p:grpSpPr>
          <a:xfrm>
            <a:off x="958072" y="2280181"/>
            <a:ext cx="7118350" cy="3764280"/>
            <a:chOff x="1450" y="2959"/>
            <a:chExt cx="11210" cy="5928"/>
          </a:xfrm>
        </p:grpSpPr>
        <p:sp>
          <p:nvSpPr>
            <p:cNvPr id="30" name="Text Box 44"/>
            <p:cNvSpPr txBox="1">
              <a:spLocks noChangeArrowheads="1"/>
            </p:cNvSpPr>
            <p:nvPr/>
          </p:nvSpPr>
          <p:spPr bwMode="auto">
            <a:xfrm>
              <a:off x="1450" y="2959"/>
              <a:ext cx="9461" cy="79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2000" b="1" dirty="0">
                  <a:solidFill>
                    <a:srgbClr val="D24726"/>
                  </a:solidFill>
                </a:rPr>
                <a:t>此外，ex命令还用下述字符指定行的地址：</a:t>
              </a:r>
            </a:p>
          </p:txBody>
        </p:sp>
        <p:sp>
          <p:nvSpPr>
            <p:cNvPr id="50" name="矩形 49"/>
            <p:cNvSpPr/>
            <p:nvPr/>
          </p:nvSpPr>
          <p:spPr>
            <a:xfrm>
              <a:off x="1450" y="3751"/>
              <a:ext cx="11211" cy="5136"/>
            </a:xfrm>
            <a:prstGeom prst="rect">
              <a:avLst/>
            </a:prstGeom>
          </p:spPr>
          <p:txBody>
            <a:bodyPr wrap="square">
              <a:spAutoFit/>
            </a:bodyPr>
            <a:lstStyle/>
            <a:p>
              <a:pPr marL="285750" indent="-285750">
                <a:lnSpc>
                  <a:spcPct val="120000"/>
                </a:lnSpc>
                <a:spcBef>
                  <a:spcPts val="600"/>
                </a:spcBef>
                <a:spcAft>
                  <a:spcPts val="600"/>
                </a:spcAft>
                <a:buFont typeface="Wingdings" panose="05000000000000000000" pitchFamily="2" charset="2"/>
                <a:buChar char="q"/>
              </a:pPr>
              <a:r>
                <a:rPr sz="2000" b="1" dirty="0">
                  <a:solidFill>
                    <a:schemeClr val="tx1">
                      <a:lumMod val="75000"/>
                      <a:lumOff val="25000"/>
                    </a:schemeClr>
                  </a:solidFill>
                  <a:latin typeface="微软雅黑" panose="020B0503020204020204" charset="-122"/>
                  <a:ea typeface="微软雅黑" panose="020B0503020204020204" charset="-122"/>
                </a:rPr>
                <a:t>.：</a:t>
              </a:r>
              <a:r>
                <a:rPr sz="2000" dirty="0">
                  <a:solidFill>
                    <a:schemeClr val="tx1">
                      <a:lumMod val="75000"/>
                      <a:lumOff val="25000"/>
                    </a:schemeClr>
                  </a:solidFill>
                  <a:latin typeface="微软雅黑" panose="020B0503020204020204" charset="-122"/>
                  <a:ea typeface="微软雅黑" panose="020B0503020204020204" charset="-122"/>
                </a:rPr>
                <a:t>当前行，多数命令的默认地址是当前行。</a:t>
              </a:r>
            </a:p>
            <a:p>
              <a:pPr marL="285750" indent="-285750">
                <a:lnSpc>
                  <a:spcPct val="120000"/>
                </a:lnSpc>
                <a:spcBef>
                  <a:spcPts val="600"/>
                </a:spcBef>
                <a:spcAft>
                  <a:spcPts val="600"/>
                </a:spcAft>
                <a:buFont typeface="Wingdings" panose="05000000000000000000" pitchFamily="2" charset="2"/>
                <a:buChar char="q"/>
              </a:pPr>
              <a:r>
                <a:rPr sz="2000" b="1" dirty="0">
                  <a:solidFill>
                    <a:srgbClr val="FF0000"/>
                  </a:solidFill>
                  <a:latin typeface="微软雅黑" panose="020B0503020204020204" charset="-122"/>
                  <a:ea typeface="微软雅黑" panose="020B0503020204020204" charset="-122"/>
                </a:rPr>
                <a:t>N：</a:t>
              </a:r>
              <a:r>
                <a:rPr sz="2000" dirty="0">
                  <a:solidFill>
                    <a:srgbClr val="FF0000"/>
                  </a:solidFill>
                  <a:latin typeface="微软雅黑" panose="020B0503020204020204" charset="-122"/>
                  <a:ea typeface="微软雅黑" panose="020B0503020204020204" charset="-122"/>
                </a:rPr>
                <a:t>编辑器缓冲区中的第n行，行号从1开始顺序编排</a:t>
              </a:r>
              <a:r>
                <a:rPr sz="2000" dirty="0">
                  <a:solidFill>
                    <a:schemeClr val="tx1">
                      <a:lumMod val="75000"/>
                      <a:lumOff val="25000"/>
                    </a:schemeClr>
                  </a:solidFill>
                  <a:latin typeface="微软雅黑" panose="020B0503020204020204" charset="-122"/>
                  <a:ea typeface="微软雅黑" panose="020B0503020204020204" charset="-122"/>
                </a:rPr>
                <a:t>。</a:t>
              </a:r>
            </a:p>
            <a:p>
              <a:pPr marL="285750" indent="-285750">
                <a:lnSpc>
                  <a:spcPct val="120000"/>
                </a:lnSpc>
                <a:spcBef>
                  <a:spcPts val="600"/>
                </a:spcBef>
                <a:spcAft>
                  <a:spcPts val="600"/>
                </a:spcAft>
                <a:buFont typeface="Wingdings" panose="05000000000000000000" pitchFamily="2" charset="2"/>
                <a:buChar char="q"/>
              </a:pPr>
              <a:r>
                <a:rPr sz="2000" b="1" dirty="0">
                  <a:solidFill>
                    <a:srgbClr val="FF0000"/>
                  </a:solidFill>
                  <a:latin typeface="微软雅黑" panose="020B0503020204020204" charset="-122"/>
                  <a:ea typeface="微软雅黑" panose="020B0503020204020204" charset="-122"/>
                </a:rPr>
                <a:t>$：</a:t>
              </a:r>
              <a:r>
                <a:rPr sz="2000" dirty="0">
                  <a:solidFill>
                    <a:srgbClr val="FF0000"/>
                  </a:solidFill>
                  <a:latin typeface="微软雅黑" panose="020B0503020204020204" charset="-122"/>
                  <a:ea typeface="微软雅黑" panose="020B0503020204020204" charset="-122"/>
                </a:rPr>
                <a:t>缓冲区中的后一行</a:t>
              </a:r>
              <a:r>
                <a:rPr sz="2000" dirty="0">
                  <a:solidFill>
                    <a:schemeClr val="tx1">
                      <a:lumMod val="75000"/>
                      <a:lumOff val="25000"/>
                    </a:schemeClr>
                  </a:solidFill>
                  <a:latin typeface="微软雅黑" panose="020B0503020204020204" charset="-122"/>
                  <a:ea typeface="微软雅黑" panose="020B0503020204020204" charset="-122"/>
                </a:rPr>
                <a:t>。</a:t>
              </a:r>
            </a:p>
            <a:p>
              <a:pPr marL="285750" indent="-285750">
                <a:lnSpc>
                  <a:spcPct val="120000"/>
                </a:lnSpc>
                <a:spcBef>
                  <a:spcPts val="600"/>
                </a:spcBef>
                <a:spcAft>
                  <a:spcPts val="600"/>
                </a:spcAft>
                <a:buFont typeface="Wingdings" panose="05000000000000000000" pitchFamily="2" charset="2"/>
                <a:buChar char="q"/>
              </a:pPr>
              <a:r>
                <a:rPr sz="2000" b="1" dirty="0">
                  <a:solidFill>
                    <a:srgbClr val="FF0000"/>
                  </a:solidFill>
                  <a:latin typeface="微软雅黑" panose="020B0503020204020204" charset="-122"/>
                  <a:ea typeface="微软雅黑" panose="020B0503020204020204" charset="-122"/>
                </a:rPr>
                <a:t>% 1,$：</a:t>
              </a:r>
              <a:r>
                <a:rPr sz="2000" dirty="0">
                  <a:solidFill>
                    <a:srgbClr val="FF0000"/>
                  </a:solidFill>
                  <a:latin typeface="微软雅黑" panose="020B0503020204020204" charset="-122"/>
                  <a:ea typeface="微软雅黑" panose="020B0503020204020204" charset="-122"/>
                </a:rPr>
                <a:t>从第1行到后一行的缩写</a:t>
              </a:r>
              <a:r>
                <a:rPr sz="2000" dirty="0">
                  <a:solidFill>
                    <a:schemeClr val="tx1">
                      <a:lumMod val="75000"/>
                      <a:lumOff val="25000"/>
                    </a:schemeClr>
                  </a:solidFill>
                  <a:latin typeface="微软雅黑" panose="020B0503020204020204" charset="-122"/>
                  <a:ea typeface="微软雅黑" panose="020B0503020204020204" charset="-122"/>
                </a:rPr>
                <a:t>。</a:t>
              </a:r>
            </a:p>
            <a:p>
              <a:pPr marL="285750" indent="-285750">
                <a:lnSpc>
                  <a:spcPct val="120000"/>
                </a:lnSpc>
                <a:spcBef>
                  <a:spcPts val="600"/>
                </a:spcBef>
                <a:spcAft>
                  <a:spcPts val="600"/>
                </a:spcAft>
                <a:buFont typeface="Wingdings" panose="05000000000000000000" pitchFamily="2" charset="2"/>
                <a:buChar char="q"/>
              </a:pPr>
              <a:r>
                <a:rPr sz="2000" b="1" dirty="0">
                  <a:solidFill>
                    <a:srgbClr val="FF0000"/>
                  </a:solidFill>
                  <a:latin typeface="微软雅黑" panose="020B0503020204020204" charset="-122"/>
                  <a:ea typeface="微软雅黑" panose="020B0503020204020204" charset="-122"/>
                </a:rPr>
                <a:t>+n或者-n：</a:t>
              </a:r>
              <a:r>
                <a:rPr sz="2000" dirty="0">
                  <a:solidFill>
                    <a:srgbClr val="FF0000"/>
                  </a:solidFill>
                  <a:latin typeface="微软雅黑" panose="020B0503020204020204" charset="-122"/>
                  <a:ea typeface="微软雅黑" panose="020B0503020204020204" charset="-122"/>
                </a:rPr>
                <a:t>n表示相对当前行的位移。“.+3”，“+3”与“+++”三种形式等价。如果当前行是第100行，那么这三种形式都是定位在第103行。而-5定位在第95行。</a:t>
              </a:r>
            </a:p>
          </p:txBody>
        </p:sp>
      </p:grpSp>
      <p:pic>
        <p:nvPicPr>
          <p:cNvPr id="82949" name="图片 4" descr="半兽0.jpg"/>
          <p:cNvPicPr>
            <a:picLocks noGrp="1" noChangeAspect="1"/>
          </p:cNvPicPr>
          <p:nvPr/>
        </p:nvPicPr>
        <p:blipFill>
          <a:blip r:embed="rId2" cstate="print">
            <a:clrChange>
              <a:clrFrom>
                <a:srgbClr val="FFFFFF"/>
              </a:clrFrom>
              <a:clrTo>
                <a:srgbClr val="FFFFFF">
                  <a:alpha val="0"/>
                </a:srgbClr>
              </a:clrTo>
            </a:clrChange>
          </a:blip>
          <a:stretch>
            <a:fillRect/>
          </a:stretch>
        </p:blipFill>
        <p:spPr>
          <a:xfrm>
            <a:off x="8301770" y="2238142"/>
            <a:ext cx="3054985" cy="381698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2949"/>
                                        </p:tgtEl>
                                        <p:attrNameLst>
                                          <p:attrName>style.visibility</p:attrName>
                                        </p:attrNameLst>
                                      </p:cBhvr>
                                      <p:to>
                                        <p:strVal val="visible"/>
                                      </p:to>
                                    </p:set>
                                    <p:animEffect transition="in" filter="wipe(left)">
                                      <p:cBhvr>
                                        <p:cTn id="11" dur="500"/>
                                        <p:tgtEl>
                                          <p:spTgt spid="829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p:nvPr/>
        </p:nvSpPr>
        <p:spPr>
          <a:xfrm>
            <a:off x="498475" y="1716564"/>
            <a:ext cx="11194415" cy="4562942"/>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charset="-122"/>
              <a:ea typeface="微软雅黑" panose="020B0503020204020204" charset="-122"/>
              <a:sym typeface="+mn-ea"/>
            </a:endParaRPr>
          </a:p>
          <a:p>
            <a:pPr indent="457200" fontAlgn="auto">
              <a:lnSpc>
                <a:spcPct val="150000"/>
              </a:lnSpc>
              <a:spcAft>
                <a:spcPts val="600"/>
              </a:spcAft>
            </a:pPr>
            <a:endParaRPr lang="en-US" altLang="zh-CN" sz="1800" dirty="0">
              <a:latin typeface="微软雅黑" panose="020B0503020204020204" charset="-122"/>
              <a:ea typeface="微软雅黑" panose="020B0503020204020204" charset="-122"/>
              <a:sym typeface="+mn-ea"/>
            </a:endParaRPr>
          </a:p>
        </p:txBody>
      </p:sp>
      <p:sp>
        <p:nvSpPr>
          <p:cNvPr id="22" name="矩形 6"/>
          <p:cNvSpPr>
            <a:spLocks noChangeArrowheads="1"/>
          </p:cNvSpPr>
          <p:nvPr/>
        </p:nvSpPr>
        <p:spPr bwMode="auto">
          <a:xfrm>
            <a:off x="1137285" y="1082040"/>
            <a:ext cx="360172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sz="2400" b="1">
                <a:solidFill>
                  <a:srgbClr val="0066FF"/>
                </a:solidFill>
                <a:latin typeface="微软雅黑" panose="020B0503020204020204" charset="-122"/>
                <a:ea typeface="微软雅黑" panose="020B0503020204020204" charset="-122"/>
                <a:sym typeface="+mn-ea"/>
              </a:rPr>
              <a:t>4.8.1  命令定位</a:t>
            </a:r>
          </a:p>
        </p:txBody>
      </p:sp>
      <p:sp>
        <p:nvSpPr>
          <p:cNvPr id="23" name="椭圆 22"/>
          <p:cNvSpPr/>
          <p:nvPr/>
        </p:nvSpPr>
        <p:spPr bwMode="auto">
          <a:xfrm>
            <a:off x="691515" y="1198245"/>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sp>
        <p:nvSpPr>
          <p:cNvPr id="6" name="Text Box 44"/>
          <p:cNvSpPr txBox="1">
            <a:spLocks noChangeArrowheads="1"/>
          </p:cNvSpPr>
          <p:nvPr/>
        </p:nvSpPr>
        <p:spPr bwMode="auto">
          <a:xfrm>
            <a:off x="784860" y="1716564"/>
            <a:ext cx="10788015" cy="100584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pPr>
            <a:r>
              <a:rPr lang="zh-CN" altLang="en-US" sz="2000" dirty="0">
                <a:solidFill>
                  <a:schemeClr val="tx1">
                    <a:lumMod val="75000"/>
                    <a:lumOff val="25000"/>
                  </a:schemeClr>
                </a:solidFill>
              </a:rPr>
              <a:t>如果命令地址由一系列地址组成，如表示某个范围的正文行，那么各地址间就用</a:t>
            </a:r>
            <a:r>
              <a:rPr lang="zh-CN" altLang="en-US" sz="2000" b="1" dirty="0">
                <a:solidFill>
                  <a:srgbClr val="0070C0"/>
                </a:solidFill>
              </a:rPr>
              <a:t>逗号“,”</a:t>
            </a:r>
            <a:r>
              <a:rPr lang="zh-CN" altLang="en-US" sz="2000" dirty="0">
                <a:solidFill>
                  <a:schemeClr val="tx1">
                    <a:lumMod val="75000"/>
                    <a:lumOff val="25000"/>
                  </a:schemeClr>
                </a:solidFill>
              </a:rPr>
              <a:t>或者</a:t>
            </a:r>
            <a:r>
              <a:rPr lang="zh-CN" altLang="en-US" sz="2000" b="1" dirty="0">
                <a:solidFill>
                  <a:srgbClr val="0070C0"/>
                </a:solidFill>
              </a:rPr>
              <a:t>分号“;”</a:t>
            </a:r>
            <a:r>
              <a:rPr lang="zh-CN" altLang="en-US" sz="2000" dirty="0">
                <a:solidFill>
                  <a:schemeClr val="tx1">
                    <a:lumMod val="75000"/>
                    <a:lumOff val="25000"/>
                  </a:schemeClr>
                </a:solidFill>
              </a:rPr>
              <a:t>隔开。这种地址表是从左至右计算的。</a:t>
            </a:r>
          </a:p>
        </p:txBody>
      </p:sp>
      <p:grpSp>
        <p:nvGrpSpPr>
          <p:cNvPr id="5" name="组合 4"/>
          <p:cNvGrpSpPr/>
          <p:nvPr/>
        </p:nvGrpSpPr>
        <p:grpSpPr>
          <a:xfrm>
            <a:off x="2620864" y="2937008"/>
            <a:ext cx="7164070" cy="1954530"/>
            <a:chOff x="1600" y="4155"/>
            <a:chExt cx="12582" cy="6776"/>
          </a:xfrm>
        </p:grpSpPr>
        <p:grpSp>
          <p:nvGrpSpPr>
            <p:cNvPr id="16" name="组合 15"/>
            <p:cNvGrpSpPr/>
            <p:nvPr/>
          </p:nvGrpSpPr>
          <p:grpSpPr>
            <a:xfrm>
              <a:off x="1600" y="4155"/>
              <a:ext cx="12582" cy="6776"/>
              <a:chOff x="2161" y="3075"/>
              <a:chExt cx="14706" cy="6824"/>
            </a:xfrm>
          </p:grpSpPr>
          <p:grpSp>
            <p:nvGrpSpPr>
              <p:cNvPr id="17" name="组合 14"/>
              <p:cNvGrpSpPr/>
              <p:nvPr/>
            </p:nvGrpSpPr>
            <p:grpSpPr bwMode="auto">
              <a:xfrm>
                <a:off x="2161" y="3075"/>
                <a:ext cx="14706" cy="6824"/>
                <a:chOff x="1166778" y="1786420"/>
                <a:chExt cx="13504529" cy="1714018"/>
              </a:xfrm>
            </p:grpSpPr>
            <p:grpSp>
              <p:nvGrpSpPr>
                <p:cNvPr id="18" name="组合 12"/>
                <p:cNvGrpSpPr/>
                <p:nvPr/>
              </p:nvGrpSpPr>
              <p:grpSpPr bwMode="auto">
                <a:xfrm>
                  <a:off x="1166778" y="1786420"/>
                  <a:ext cx="13504529" cy="1714018"/>
                  <a:chOff x="1166778" y="1786420"/>
                  <a:chExt cx="13504529" cy="1714018"/>
                </a:xfrm>
              </p:grpSpPr>
              <p:sp>
                <p:nvSpPr>
                  <p:cNvPr id="19" name="矩形 18"/>
                  <p:cNvSpPr/>
                  <p:nvPr/>
                </p:nvSpPr>
                <p:spPr>
                  <a:xfrm>
                    <a:off x="1166778" y="1786456"/>
                    <a:ext cx="13504529"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20" name="矩形 6"/>
                  <p:cNvSpPr>
                    <a:spLocks noChangeArrowheads="1"/>
                  </p:cNvSpPr>
                  <p:nvPr/>
                </p:nvSpPr>
                <p:spPr bwMode="auto">
                  <a:xfrm>
                    <a:off x="1391065" y="1786420"/>
                    <a:ext cx="12666957" cy="40094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微软雅黑" panose="020B0503020204020204" charset="-122"/>
                        <a:ea typeface="微软雅黑" panose="020B0503020204020204" charset="-122"/>
                        <a:cs typeface="华康俪金黑W8(P)"/>
                      </a:rPr>
                      <a:t>例如：</a:t>
                    </a:r>
                  </a:p>
                </p:txBody>
              </p:sp>
            </p:grpSp>
            <p:sp>
              <p:nvSpPr>
                <p:cNvPr id="21" name="MH_Text_1"/>
                <p:cNvSpPr txBox="1">
                  <a:spLocks noChangeArrowheads="1"/>
                </p:cNvSpPr>
                <p:nvPr>
                  <p:custDataLst>
                    <p:tags r:id="rId2"/>
                  </p:custDataLst>
                </p:nvPr>
              </p:nvSpPr>
              <p:spPr bwMode="auto">
                <a:xfrm>
                  <a:off x="1478041" y="2892346"/>
                  <a:ext cx="3336956" cy="466093"/>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sz="2000" b="1" dirty="0">
                      <a:solidFill>
                        <a:srgbClr val="FF0000"/>
                      </a:solidFill>
                      <a:latin typeface="微软雅黑" panose="020B0503020204020204" charset="-122"/>
                      <a:ea typeface="微软雅黑" panose="020B0503020204020204" charset="-122"/>
                      <a:cs typeface="+mn-cs"/>
                      <a:sym typeface="+mn-ea"/>
                    </a:rPr>
                    <a:t>:.,+5d</a:t>
                  </a:r>
                </a:p>
              </p:txBody>
            </p:sp>
          </p:grpSp>
          <p:sp>
            <p:nvSpPr>
              <p:cNvPr id="24" name="矩形 6"/>
              <p:cNvSpPr>
                <a:spLocks noChangeArrowheads="1"/>
              </p:cNvSpPr>
              <p:nvPr/>
            </p:nvSpPr>
            <p:spPr bwMode="auto">
              <a:xfrm>
                <a:off x="6611" y="5061"/>
                <a:ext cx="9589" cy="1596"/>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70C0"/>
                    </a:solidFill>
                    <a:latin typeface="微软雅黑" panose="020B0503020204020204" charset="-122"/>
                    <a:ea typeface="微软雅黑" panose="020B0503020204020204" charset="-122"/>
                    <a:cs typeface="华康俪金黑W8(P)"/>
                  </a:rPr>
                  <a:t>表示将删除第15行至第100行的正文。</a:t>
                </a:r>
              </a:p>
            </p:txBody>
          </p:sp>
        </p:grpSp>
        <p:grpSp>
          <p:nvGrpSpPr>
            <p:cNvPr id="4" name="组合 3"/>
            <p:cNvGrpSpPr/>
            <p:nvPr/>
          </p:nvGrpSpPr>
          <p:grpSpPr>
            <a:xfrm>
              <a:off x="1890" y="6032"/>
              <a:ext cx="11696" cy="4207"/>
              <a:chOff x="1890" y="6032"/>
              <a:chExt cx="11696" cy="4207"/>
            </a:xfrm>
          </p:grpSpPr>
          <p:sp>
            <p:nvSpPr>
              <p:cNvPr id="2" name="MH_Text_1"/>
              <p:cNvSpPr txBox="1">
                <a:spLocks noChangeArrowheads="1"/>
              </p:cNvSpPr>
              <p:nvPr>
                <p:custDataLst>
                  <p:tags r:id="rId1"/>
                </p:custDataLst>
              </p:nvPr>
            </p:nvSpPr>
            <p:spPr bwMode="auto">
              <a:xfrm>
                <a:off x="1890" y="6032"/>
                <a:ext cx="3109" cy="1889"/>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sz="2000" b="1" dirty="0">
                    <a:solidFill>
                      <a:srgbClr val="FF0000"/>
                    </a:solidFill>
                    <a:latin typeface="微软雅黑" panose="020B0503020204020204" charset="-122"/>
                    <a:ea typeface="微软雅黑" panose="020B0503020204020204" charset="-122"/>
                    <a:cs typeface="+mn-cs"/>
                    <a:sym typeface="+mn-ea"/>
                  </a:rPr>
                  <a:t>:15,100d</a:t>
                </a:r>
              </a:p>
            </p:txBody>
          </p:sp>
          <p:sp>
            <p:nvSpPr>
              <p:cNvPr id="3" name="矩形 6"/>
              <p:cNvSpPr>
                <a:spLocks noChangeArrowheads="1"/>
              </p:cNvSpPr>
              <p:nvPr/>
            </p:nvSpPr>
            <p:spPr bwMode="auto">
              <a:xfrm>
                <a:off x="5382" y="8654"/>
                <a:ext cx="8204" cy="158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70C0"/>
                    </a:solidFill>
                    <a:latin typeface="微软雅黑" panose="020B0503020204020204" charset="-122"/>
                    <a:ea typeface="微软雅黑" panose="020B0503020204020204" charset="-122"/>
                    <a:cs typeface="华康俪金黑W8(P)"/>
                  </a:rPr>
                  <a:t>表示将删除当前行和它后面的5行。</a:t>
                </a:r>
              </a:p>
            </p:txBody>
          </p:sp>
        </p:grpSp>
      </p:grpSp>
      <p:sp>
        <p:nvSpPr>
          <p:cNvPr id="7" name="Text Box 44"/>
          <p:cNvSpPr txBox="1">
            <a:spLocks noChangeArrowheads="1"/>
          </p:cNvSpPr>
          <p:nvPr/>
        </p:nvSpPr>
        <p:spPr bwMode="auto">
          <a:xfrm>
            <a:off x="960859" y="5083645"/>
            <a:ext cx="10002611" cy="961289"/>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pPr>
            <a:r>
              <a:rPr lang="zh-CN" altLang="en-US" sz="2000" dirty="0">
                <a:solidFill>
                  <a:schemeClr val="tx1">
                    <a:lumMod val="75000"/>
                    <a:lumOff val="25000"/>
                  </a:schemeClr>
                </a:solidFill>
              </a:rPr>
              <a:t>如果给出的地址多于命令所需的地址，那么除后一个或两个地址以外，其余的地址将全部被忽略。空地址通常以当前行代替，如“,100”等价于“.,100”。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DE31B33C-1CDB-47BE-99FB-E54C9C210113}"/>
              </a:ext>
            </a:extLst>
          </p:cNvPr>
          <p:cNvGraphicFramePr>
            <a:graphicFrameLocks noGrp="1"/>
          </p:cNvGraphicFramePr>
          <p:nvPr>
            <p:extLst>
              <p:ext uri="{D42A27DB-BD31-4B8C-83A1-F6EECF244321}">
                <p14:modId xmlns:p14="http://schemas.microsoft.com/office/powerpoint/2010/main" val="3074082767"/>
              </p:ext>
            </p:extLst>
          </p:nvPr>
        </p:nvGraphicFramePr>
        <p:xfrm>
          <a:off x="560702" y="1727909"/>
          <a:ext cx="5800282" cy="6891705"/>
        </p:xfrm>
        <a:graphic>
          <a:graphicData uri="http://schemas.openxmlformats.org/drawingml/2006/table">
            <a:tbl>
              <a:tblPr/>
              <a:tblGrid>
                <a:gridCol w="2816966">
                  <a:extLst>
                    <a:ext uri="{9D8B030D-6E8A-4147-A177-3AD203B41FA5}">
                      <a16:colId xmlns:a16="http://schemas.microsoft.com/office/drawing/2014/main" val="1165115856"/>
                    </a:ext>
                  </a:extLst>
                </a:gridCol>
                <a:gridCol w="2983316">
                  <a:extLst>
                    <a:ext uri="{9D8B030D-6E8A-4147-A177-3AD203B41FA5}">
                      <a16:colId xmlns:a16="http://schemas.microsoft.com/office/drawing/2014/main" val="443697303"/>
                    </a:ext>
                  </a:extLst>
                </a:gridCol>
              </a:tblGrid>
              <a:tr h="360950">
                <a:tc>
                  <a:txBody>
                    <a:bodyPr/>
                    <a:lstStyle/>
                    <a:p>
                      <a:pPr algn="l" fontAlgn="t"/>
                      <a:r>
                        <a:rPr lang="zh-CN" altLang="en-US" sz="1200" dirty="0">
                          <a:effectLst/>
                        </a:rPr>
                        <a:t>命令</a:t>
                      </a:r>
                    </a:p>
                  </a:txBody>
                  <a:tcPr marL="67150" marR="67150" marT="67150" marB="6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fontAlgn="t"/>
                      <a:r>
                        <a:rPr lang="zh-CN" altLang="en-US" sz="1200">
                          <a:effectLst/>
                        </a:rPr>
                        <a:t>作用</a:t>
                      </a:r>
                    </a:p>
                  </a:txBody>
                  <a:tcPr marL="67150" marR="67150" marT="67150" marB="6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a16="http://schemas.microsoft.com/office/drawing/2014/main" val="1453425198"/>
                  </a:ext>
                </a:extLst>
              </a:tr>
              <a:tr h="593705">
                <a:tc>
                  <a:txBody>
                    <a:bodyPr/>
                    <a:lstStyle/>
                    <a:p>
                      <a:pPr algn="l" fontAlgn="t"/>
                      <a:r>
                        <a:rPr lang="en-US" sz="1200" dirty="0">
                          <a:effectLst/>
                        </a:rPr>
                        <a:t>dd</a:t>
                      </a:r>
                    </a:p>
                  </a:txBody>
                  <a:tcPr marL="67150" marR="67150" marT="67150" marB="6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r>
                        <a:rPr lang="zh-CN" altLang="en-US" sz="1200">
                          <a:effectLst/>
                        </a:rPr>
                        <a:t>删除（剪切）光标所在整行</a:t>
                      </a:r>
                    </a:p>
                  </a:txBody>
                  <a:tcPr marL="67150" marR="67150" marT="67150" marB="6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201266"/>
                  </a:ext>
                </a:extLst>
              </a:tr>
              <a:tr h="593705">
                <a:tc>
                  <a:txBody>
                    <a:bodyPr/>
                    <a:lstStyle/>
                    <a:p>
                      <a:pPr algn="l" fontAlgn="t"/>
                      <a:r>
                        <a:rPr lang="en-US" sz="1200" dirty="0">
                          <a:effectLst/>
                        </a:rPr>
                        <a:t>5dd</a:t>
                      </a:r>
                    </a:p>
                  </a:txBody>
                  <a:tcPr marL="67150" marR="67150" marT="67150" marB="6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fontAlgn="t"/>
                      <a:r>
                        <a:rPr lang="zh-CN" altLang="en-US" sz="1200" dirty="0">
                          <a:effectLst/>
                        </a:rPr>
                        <a:t>删除（剪切）从光标处开始的</a:t>
                      </a:r>
                      <a:r>
                        <a:rPr lang="en-US" altLang="zh-CN" sz="1200" dirty="0">
                          <a:effectLst/>
                        </a:rPr>
                        <a:t>5</a:t>
                      </a:r>
                      <a:r>
                        <a:rPr lang="zh-CN" altLang="en-US" sz="1200" dirty="0">
                          <a:effectLst/>
                        </a:rPr>
                        <a:t>行</a:t>
                      </a:r>
                    </a:p>
                  </a:txBody>
                  <a:tcPr marL="67150" marR="67150" marT="67150" marB="6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a16="http://schemas.microsoft.com/office/drawing/2014/main" val="1490249807"/>
                  </a:ext>
                </a:extLst>
              </a:tr>
              <a:tr h="360950">
                <a:tc>
                  <a:txBody>
                    <a:bodyPr/>
                    <a:lstStyle/>
                    <a:p>
                      <a:pPr algn="l" fontAlgn="t"/>
                      <a:r>
                        <a:rPr lang="en-US" sz="1200" dirty="0" err="1">
                          <a:effectLst/>
                        </a:rPr>
                        <a:t>yy</a:t>
                      </a:r>
                      <a:endParaRPr lang="en-US" sz="1200" dirty="0">
                        <a:effectLst/>
                      </a:endParaRPr>
                    </a:p>
                  </a:txBody>
                  <a:tcPr marL="67150" marR="67150" marT="67150" marB="6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r>
                        <a:rPr lang="zh-CN" altLang="en-US" sz="1200" dirty="0">
                          <a:effectLst/>
                        </a:rPr>
                        <a:t>复制光标所在整行</a:t>
                      </a:r>
                    </a:p>
                  </a:txBody>
                  <a:tcPr marL="67150" marR="67150" marT="67150" marB="6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974700797"/>
                  </a:ext>
                </a:extLst>
              </a:tr>
              <a:tr h="593705">
                <a:tc>
                  <a:txBody>
                    <a:bodyPr/>
                    <a:lstStyle/>
                    <a:p>
                      <a:pPr algn="l" fontAlgn="t"/>
                      <a:r>
                        <a:rPr lang="en-US" sz="1200" dirty="0">
                          <a:effectLst/>
                        </a:rPr>
                        <a:t>5yy</a:t>
                      </a:r>
                    </a:p>
                  </a:txBody>
                  <a:tcPr marL="67150" marR="67150" marT="67150" marB="6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fontAlgn="t"/>
                      <a:r>
                        <a:rPr lang="zh-CN" altLang="en-US" sz="1200" dirty="0">
                          <a:effectLst/>
                        </a:rPr>
                        <a:t>复制从光标处开始的</a:t>
                      </a:r>
                      <a:r>
                        <a:rPr lang="en-US" altLang="zh-CN" sz="1200" dirty="0">
                          <a:effectLst/>
                        </a:rPr>
                        <a:t>5</a:t>
                      </a:r>
                      <a:r>
                        <a:rPr lang="zh-CN" altLang="en-US" sz="1200" dirty="0">
                          <a:effectLst/>
                        </a:rPr>
                        <a:t>行</a:t>
                      </a:r>
                    </a:p>
                  </a:txBody>
                  <a:tcPr marL="67150" marR="67150" marT="67150" marB="6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a16="http://schemas.microsoft.com/office/drawing/2014/main" val="1283731421"/>
                  </a:ext>
                </a:extLst>
              </a:tr>
              <a:tr h="593705">
                <a:tc>
                  <a:txBody>
                    <a:bodyPr/>
                    <a:lstStyle/>
                    <a:p>
                      <a:pPr algn="l" fontAlgn="t"/>
                      <a:r>
                        <a:rPr lang="en-US" sz="1200" dirty="0">
                          <a:effectLst/>
                        </a:rPr>
                        <a:t>n</a:t>
                      </a:r>
                    </a:p>
                  </a:txBody>
                  <a:tcPr marL="67150" marR="67150" marT="67150" marB="6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r>
                        <a:rPr lang="zh-CN" altLang="en-US" sz="1200" dirty="0">
                          <a:effectLst/>
                        </a:rPr>
                        <a:t>显示搜索命令定位到的下一个字符串</a:t>
                      </a:r>
                    </a:p>
                  </a:txBody>
                  <a:tcPr marL="67150" marR="67150" marT="67150" marB="6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784852438"/>
                  </a:ext>
                </a:extLst>
              </a:tr>
              <a:tr h="593705">
                <a:tc>
                  <a:txBody>
                    <a:bodyPr/>
                    <a:lstStyle/>
                    <a:p>
                      <a:pPr algn="l" fontAlgn="t"/>
                      <a:r>
                        <a:rPr lang="en-US" sz="1200" dirty="0">
                          <a:effectLst/>
                        </a:rPr>
                        <a:t>N</a:t>
                      </a:r>
                    </a:p>
                  </a:txBody>
                  <a:tcPr marL="67150" marR="67150" marT="67150" marB="6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fontAlgn="t"/>
                      <a:r>
                        <a:rPr lang="zh-CN" altLang="en-US" sz="1200" dirty="0">
                          <a:effectLst/>
                        </a:rPr>
                        <a:t>显示搜索命令定位到的上一个字符串</a:t>
                      </a:r>
                    </a:p>
                  </a:txBody>
                  <a:tcPr marL="67150" marR="67150" marT="67150" marB="6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a16="http://schemas.microsoft.com/office/drawing/2014/main" val="3289029940"/>
                  </a:ext>
                </a:extLst>
              </a:tr>
              <a:tr h="360950">
                <a:tc>
                  <a:txBody>
                    <a:bodyPr/>
                    <a:lstStyle/>
                    <a:p>
                      <a:pPr algn="l" fontAlgn="t"/>
                      <a:r>
                        <a:rPr lang="en-US" sz="1200" dirty="0">
                          <a:effectLst/>
                        </a:rPr>
                        <a:t>.</a:t>
                      </a:r>
                    </a:p>
                  </a:txBody>
                  <a:tcPr marL="67150" marR="67150" marT="67150" marB="6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r>
                        <a:rPr lang="zh-CN" altLang="en-US" sz="1200" dirty="0">
                          <a:effectLst/>
                        </a:rPr>
                        <a:t>重复上一步操作</a:t>
                      </a:r>
                    </a:p>
                  </a:txBody>
                  <a:tcPr marL="67150" marR="67150" marT="67150" marB="6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0950">
                <a:tc>
                  <a:txBody>
                    <a:bodyPr/>
                    <a:lstStyle/>
                    <a:p>
                      <a:pPr algn="l" fontAlgn="t"/>
                      <a:r>
                        <a:rPr lang="en-US" sz="1200" dirty="0">
                          <a:effectLst/>
                        </a:rPr>
                        <a:t>u</a:t>
                      </a:r>
                    </a:p>
                  </a:txBody>
                  <a:tcPr marL="67150" marR="67150" marT="67150" marB="6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r>
                        <a:rPr lang="zh-CN" altLang="en-US" sz="1200" dirty="0">
                          <a:effectLst/>
                        </a:rPr>
                        <a:t>撤销上一步的操作</a:t>
                      </a:r>
                    </a:p>
                  </a:txBody>
                  <a:tcPr marL="67150" marR="67150" marT="67150" marB="6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996854089"/>
                  </a:ext>
                </a:extLst>
              </a:tr>
              <a:tr h="826460">
                <a:tc>
                  <a:txBody>
                    <a:bodyPr/>
                    <a:lstStyle/>
                    <a:p>
                      <a:pPr algn="l" fontAlgn="t"/>
                      <a:r>
                        <a:rPr lang="en-US" sz="1200" dirty="0">
                          <a:effectLst/>
                        </a:rPr>
                        <a:t>p</a:t>
                      </a:r>
                    </a:p>
                  </a:txBody>
                  <a:tcPr marL="67150" marR="67150" marT="67150" marB="6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3F3F3"/>
                    </a:solidFill>
                  </a:tcPr>
                </a:tc>
                <a:tc>
                  <a:txBody>
                    <a:bodyPr/>
                    <a:lstStyle/>
                    <a:p>
                      <a:pPr algn="l" fontAlgn="t"/>
                      <a:r>
                        <a:rPr lang="zh-CN" altLang="en-US" sz="1200" dirty="0">
                          <a:effectLst/>
                        </a:rPr>
                        <a:t>将之前删除（</a:t>
                      </a:r>
                      <a:r>
                        <a:rPr lang="en-US" altLang="zh-CN" sz="1200" dirty="0">
                          <a:effectLst/>
                        </a:rPr>
                        <a:t>dd</a:t>
                      </a:r>
                      <a:r>
                        <a:rPr lang="zh-CN" altLang="en-US" sz="1200" dirty="0">
                          <a:effectLst/>
                        </a:rPr>
                        <a:t>）或复制（</a:t>
                      </a:r>
                      <a:r>
                        <a:rPr lang="en-US" altLang="zh-CN" sz="1200" dirty="0" err="1">
                          <a:effectLst/>
                        </a:rPr>
                        <a:t>yy</a:t>
                      </a:r>
                      <a:r>
                        <a:rPr lang="zh-CN" altLang="en-US" sz="1200" dirty="0">
                          <a:effectLst/>
                        </a:rPr>
                        <a:t>）过的数据粘贴到光标后面</a:t>
                      </a:r>
                    </a:p>
                  </a:txBody>
                  <a:tcPr marL="67150" marR="67150" marT="67150" marB="6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3F3F3"/>
                    </a:solidFill>
                  </a:tcPr>
                </a:tc>
                <a:extLst>
                  <a:ext uri="{0D108BD9-81ED-4DB2-BD59-A6C34878D82A}">
                    <a16:rowId xmlns:a16="http://schemas.microsoft.com/office/drawing/2014/main" val="3881377557"/>
                  </a:ext>
                </a:extLst>
              </a:tr>
              <a:tr h="826460">
                <a:tc>
                  <a:txBody>
                    <a:bodyPr/>
                    <a:lstStyle/>
                    <a:p>
                      <a:pPr algn="l" fontAlgn="t"/>
                      <a:r>
                        <a:rPr lang="en-US" altLang="zh-CN" sz="1200" dirty="0">
                          <a:effectLst/>
                        </a:rPr>
                        <a:t>?</a:t>
                      </a:r>
                      <a:r>
                        <a:rPr lang="zh-CN" altLang="en-US" sz="1200" dirty="0">
                          <a:effectLst/>
                        </a:rPr>
                        <a:t>字符串</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3F3F3"/>
                    </a:solidFill>
                  </a:tcPr>
                </a:tc>
                <a:tc>
                  <a:txBody>
                    <a:bodyPr/>
                    <a:lstStyle/>
                    <a:p>
                      <a:pPr algn="l" fontAlgn="t"/>
                      <a:r>
                        <a:rPr lang="zh-CN" altLang="en-US" sz="1200" dirty="0">
                          <a:effectLst/>
                        </a:rPr>
                        <a:t>在文本中从下至上搜索该字符串</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3F3F3"/>
                    </a:solidFill>
                  </a:tcPr>
                </a:tc>
                <a:extLst>
                  <a:ext uri="{0D108BD9-81ED-4DB2-BD59-A6C34878D82A}">
                    <a16:rowId xmlns:a16="http://schemas.microsoft.com/office/drawing/2014/main" val="10010"/>
                  </a:ext>
                </a:extLst>
              </a:tr>
              <a:tr h="826460">
                <a:tc>
                  <a:txBody>
                    <a:bodyPr/>
                    <a:lstStyle/>
                    <a:p>
                      <a:pPr algn="l" fontAlgn="t"/>
                      <a:r>
                        <a:rPr lang="en-US" altLang="zh-CN" sz="1200" dirty="0">
                          <a:effectLst/>
                        </a:rPr>
                        <a:t>/</a:t>
                      </a:r>
                      <a:r>
                        <a:rPr lang="zh-CN" altLang="en-US" sz="1200" dirty="0">
                          <a:effectLst/>
                        </a:rPr>
                        <a:t>字符串</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3F3F3"/>
                    </a:solidFill>
                  </a:tcPr>
                </a:tc>
                <a:tc>
                  <a:txBody>
                    <a:bodyPr/>
                    <a:lstStyle/>
                    <a:p>
                      <a:pPr algn="l" fontAlgn="t"/>
                      <a:r>
                        <a:rPr lang="zh-CN" altLang="en-US" sz="1200" dirty="0">
                          <a:effectLst/>
                        </a:rPr>
                        <a:t>在文本中从上至下搜索该字符串</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3F3F3"/>
                    </a:solidFill>
                  </a:tcPr>
                </a:tc>
                <a:extLst>
                  <a:ext uri="{0D108BD9-81ED-4DB2-BD59-A6C34878D82A}">
                    <a16:rowId xmlns:a16="http://schemas.microsoft.com/office/drawing/2014/main" val="10011"/>
                  </a:ext>
                </a:extLst>
              </a:tr>
            </a:tbl>
          </a:graphicData>
        </a:graphic>
      </p:graphicFrame>
      <p:sp>
        <p:nvSpPr>
          <p:cNvPr id="3" name="Rectangle 1">
            <a:extLst>
              <a:ext uri="{FF2B5EF4-FFF2-40B4-BE49-F238E27FC236}">
                <a16:creationId xmlns:a16="http://schemas.microsoft.com/office/drawing/2014/main" id="{FDEF77FE-F907-4831-9D83-8356CABA607F}"/>
              </a:ext>
            </a:extLst>
          </p:cNvPr>
          <p:cNvSpPr>
            <a:spLocks noChangeArrowheads="1"/>
          </p:cNvSpPr>
          <p:nvPr/>
        </p:nvSpPr>
        <p:spPr bwMode="auto">
          <a:xfrm>
            <a:off x="6221625" y="1497076"/>
            <a:ext cx="580608"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158750" algn="just" defTabSz="914400" rtl="0" eaLnBrk="0" fontAlgn="base" latinLnBrk="0" hangingPunct="0">
              <a:lnSpc>
                <a:spcPct val="100000"/>
              </a:lnSpc>
              <a:spcBef>
                <a:spcPct val="0"/>
              </a:spcBef>
              <a:spcAft>
                <a:spcPct val="0"/>
              </a:spcAft>
              <a:buClrTx/>
              <a:buSzTx/>
              <a:buFontTx/>
              <a:buNone/>
              <a:tabLst/>
            </a:pPr>
            <a:r>
              <a:rPr kumimoji="0" lang="zh-CN" altLang="zh-CN" sz="900" b="0" i="0" u="none" strike="noStrike" cap="none" normalizeH="0" baseline="0" dirty="0">
                <a:ln>
                  <a:noFill/>
                </a:ln>
                <a:solidFill>
                  <a:srgbClr val="3D4450"/>
                </a:solidFill>
                <a:effectLst/>
                <a:latin typeface="微软雅黑" panose="020B0503020204020204" pitchFamily="34" charset="-122"/>
                <a:ea typeface="微软雅黑" panose="020B0503020204020204" pitchFamily="34" charset="-122"/>
              </a:rPr>
              <a:t>       </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5" name="文本框 4">
            <a:extLst>
              <a:ext uri="{FF2B5EF4-FFF2-40B4-BE49-F238E27FC236}">
                <a16:creationId xmlns:a16="http://schemas.microsoft.com/office/drawing/2014/main" id="{0B23DA1D-BD83-4990-9BB1-3ABE2422497F}"/>
              </a:ext>
            </a:extLst>
          </p:cNvPr>
          <p:cNvSpPr txBox="1"/>
          <p:nvPr/>
        </p:nvSpPr>
        <p:spPr>
          <a:xfrm>
            <a:off x="421932" y="1274355"/>
            <a:ext cx="6195268" cy="369332"/>
          </a:xfrm>
          <a:prstGeom prst="rect">
            <a:avLst/>
          </a:prstGeom>
          <a:noFill/>
        </p:spPr>
        <p:txBody>
          <a:bodyPr wrap="square">
            <a:spAutoFit/>
          </a:bodyPr>
          <a:lstStyle/>
          <a:p>
            <a:r>
              <a:rPr kumimoji="0" lang="zh-CN" altLang="zh-CN" sz="18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Vim中常用的命令</a:t>
            </a:r>
            <a:endParaRPr lang="zh-CN" altLang="en-US" b="1" dirty="0">
              <a:solidFill>
                <a:srgbClr val="FF0000"/>
              </a:solidFill>
            </a:endParaRPr>
          </a:p>
        </p:txBody>
      </p:sp>
      <p:graphicFrame>
        <p:nvGraphicFramePr>
          <p:cNvPr id="6" name="表格 5">
            <a:extLst>
              <a:ext uri="{FF2B5EF4-FFF2-40B4-BE49-F238E27FC236}">
                <a16:creationId xmlns:a16="http://schemas.microsoft.com/office/drawing/2014/main" id="{3282F466-74A8-496C-8F49-F7A9F2F211A1}"/>
              </a:ext>
            </a:extLst>
          </p:cNvPr>
          <p:cNvGraphicFramePr>
            <a:graphicFrameLocks noGrp="1"/>
          </p:cNvGraphicFramePr>
          <p:nvPr>
            <p:extLst>
              <p:ext uri="{D42A27DB-BD31-4B8C-83A1-F6EECF244321}">
                <p14:modId xmlns:p14="http://schemas.microsoft.com/office/powerpoint/2010/main" val="1075819071"/>
              </p:ext>
            </p:extLst>
          </p:nvPr>
        </p:nvGraphicFramePr>
        <p:xfrm>
          <a:off x="6434356" y="1727908"/>
          <a:ext cx="5247276" cy="4573815"/>
        </p:xfrm>
        <a:graphic>
          <a:graphicData uri="http://schemas.openxmlformats.org/drawingml/2006/table">
            <a:tbl>
              <a:tblPr/>
              <a:tblGrid>
                <a:gridCol w="2623638">
                  <a:extLst>
                    <a:ext uri="{9D8B030D-6E8A-4147-A177-3AD203B41FA5}">
                      <a16:colId xmlns:a16="http://schemas.microsoft.com/office/drawing/2014/main" val="2032619147"/>
                    </a:ext>
                  </a:extLst>
                </a:gridCol>
                <a:gridCol w="2623638">
                  <a:extLst>
                    <a:ext uri="{9D8B030D-6E8A-4147-A177-3AD203B41FA5}">
                      <a16:colId xmlns:a16="http://schemas.microsoft.com/office/drawing/2014/main" val="1017981157"/>
                    </a:ext>
                  </a:extLst>
                </a:gridCol>
              </a:tblGrid>
              <a:tr h="304018">
                <a:tc>
                  <a:txBody>
                    <a:bodyPr/>
                    <a:lstStyle/>
                    <a:p>
                      <a:pPr algn="l" fontAlgn="t"/>
                      <a:r>
                        <a:rPr lang="zh-CN" altLang="en-US" sz="1200" dirty="0">
                          <a:effectLst/>
                        </a:rPr>
                        <a:t>命令</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fontAlgn="t"/>
                      <a:r>
                        <a:rPr lang="zh-CN" altLang="en-US" sz="1200">
                          <a:effectLst/>
                        </a:rPr>
                        <a:t>作用</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a16="http://schemas.microsoft.com/office/drawing/2014/main" val="4185188181"/>
                  </a:ext>
                </a:extLst>
              </a:tr>
              <a:tr h="304018">
                <a:tc>
                  <a:txBody>
                    <a:bodyPr/>
                    <a:lstStyle/>
                    <a:p>
                      <a:pPr algn="l" fontAlgn="t"/>
                      <a:r>
                        <a:rPr lang="en-US" sz="1200" dirty="0">
                          <a:effectLst/>
                        </a:rPr>
                        <a:t>:w</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r>
                        <a:rPr lang="zh-CN" altLang="en-US" sz="1200">
                          <a:effectLst/>
                        </a:rPr>
                        <a:t>保存</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17028191"/>
                  </a:ext>
                </a:extLst>
              </a:tr>
              <a:tr h="304018">
                <a:tc>
                  <a:txBody>
                    <a:bodyPr/>
                    <a:lstStyle/>
                    <a:p>
                      <a:pPr algn="l" fontAlgn="t"/>
                      <a:r>
                        <a:rPr lang="en-US" sz="1200" dirty="0">
                          <a:effectLst/>
                        </a:rPr>
                        <a:t>:q</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fontAlgn="t"/>
                      <a:r>
                        <a:rPr lang="zh-CN" altLang="en-US" sz="1200">
                          <a:effectLst/>
                        </a:rPr>
                        <a:t>退出</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a16="http://schemas.microsoft.com/office/drawing/2014/main" val="992357604"/>
                  </a:ext>
                </a:extLst>
              </a:tr>
              <a:tr h="486519">
                <a:tc>
                  <a:txBody>
                    <a:bodyPr/>
                    <a:lstStyle/>
                    <a:p>
                      <a:pPr algn="l" fontAlgn="t"/>
                      <a:r>
                        <a:rPr lang="en-US" sz="1200" dirty="0">
                          <a:effectLst/>
                        </a:rPr>
                        <a:t>:q!</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r>
                        <a:rPr lang="zh-CN" altLang="en-US" sz="1200">
                          <a:effectLst/>
                        </a:rPr>
                        <a:t>强制退出（放弃对文档的修改内容）</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24103140"/>
                  </a:ext>
                </a:extLst>
              </a:tr>
              <a:tr h="304018">
                <a:tc>
                  <a:txBody>
                    <a:bodyPr/>
                    <a:lstStyle/>
                    <a:p>
                      <a:pPr algn="l" fontAlgn="t"/>
                      <a:r>
                        <a:rPr lang="en-US" sz="1200">
                          <a:effectLst/>
                        </a:rPr>
                        <a:t>:wq!</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fontAlgn="t"/>
                      <a:r>
                        <a:rPr lang="zh-CN" altLang="en-US" sz="1200">
                          <a:effectLst/>
                        </a:rPr>
                        <a:t>强制保存退出</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a16="http://schemas.microsoft.com/office/drawing/2014/main" val="557364459"/>
                  </a:ext>
                </a:extLst>
              </a:tr>
              <a:tr h="304018">
                <a:tc>
                  <a:txBody>
                    <a:bodyPr/>
                    <a:lstStyle/>
                    <a:p>
                      <a:pPr algn="l" fontAlgn="t"/>
                      <a:r>
                        <a:rPr lang="en-US" sz="1200">
                          <a:effectLst/>
                        </a:rPr>
                        <a:t>:set nu</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r>
                        <a:rPr lang="zh-CN" altLang="en-US" sz="1200">
                          <a:effectLst/>
                        </a:rPr>
                        <a:t>显示行号</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010982918"/>
                  </a:ext>
                </a:extLst>
              </a:tr>
              <a:tr h="362344">
                <a:tc>
                  <a:txBody>
                    <a:bodyPr/>
                    <a:lstStyle/>
                    <a:p>
                      <a:pPr algn="l" fontAlgn="t"/>
                      <a:r>
                        <a:rPr lang="en-US" sz="1200" dirty="0">
                          <a:effectLst/>
                        </a:rPr>
                        <a:t>:set </a:t>
                      </a:r>
                      <a:r>
                        <a:rPr lang="en-US" sz="1200" dirty="0" err="1">
                          <a:effectLst/>
                        </a:rPr>
                        <a:t>nonu</a:t>
                      </a:r>
                      <a:endParaRPr lang="en-US" sz="1200" dirty="0">
                        <a:effectLst/>
                      </a:endParaRP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fontAlgn="t"/>
                      <a:r>
                        <a:rPr lang="zh-CN" altLang="en-US" sz="1200">
                          <a:effectLst/>
                        </a:rPr>
                        <a:t>不显示行号</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a16="http://schemas.microsoft.com/office/drawing/2014/main" val="1303281118"/>
                  </a:ext>
                </a:extLst>
              </a:tr>
              <a:tr h="304018">
                <a:tc>
                  <a:txBody>
                    <a:bodyPr/>
                    <a:lstStyle/>
                    <a:p>
                      <a:pPr algn="l" fontAlgn="t"/>
                      <a:r>
                        <a:rPr lang="en-US" altLang="zh-CN" sz="1200" dirty="0">
                          <a:effectLst/>
                        </a:rPr>
                        <a:t>:</a:t>
                      </a:r>
                      <a:r>
                        <a:rPr lang="zh-CN" altLang="en-US" sz="1200" dirty="0">
                          <a:effectLst/>
                        </a:rPr>
                        <a:t>命令</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r>
                        <a:rPr lang="zh-CN" altLang="en-US" sz="1200">
                          <a:effectLst/>
                        </a:rPr>
                        <a:t>执行该命令</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651734077"/>
                  </a:ext>
                </a:extLst>
              </a:tr>
              <a:tr h="304018">
                <a:tc>
                  <a:txBody>
                    <a:bodyPr/>
                    <a:lstStyle/>
                    <a:p>
                      <a:pPr algn="l" fontAlgn="t"/>
                      <a:r>
                        <a:rPr lang="en-US" altLang="zh-CN" sz="1200" dirty="0">
                          <a:effectLst/>
                        </a:rPr>
                        <a:t>:</a:t>
                      </a:r>
                      <a:r>
                        <a:rPr lang="zh-CN" altLang="en-US" sz="1200" dirty="0">
                          <a:effectLst/>
                        </a:rPr>
                        <a:t>整数</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fontAlgn="t"/>
                      <a:r>
                        <a:rPr lang="zh-CN" altLang="en-US" sz="1200">
                          <a:effectLst/>
                        </a:rPr>
                        <a:t>跳转到该行</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a16="http://schemas.microsoft.com/office/drawing/2014/main" val="2508348214"/>
                  </a:ext>
                </a:extLst>
              </a:tr>
              <a:tr h="502271">
                <a:tc>
                  <a:txBody>
                    <a:bodyPr/>
                    <a:lstStyle/>
                    <a:p>
                      <a:pPr algn="l" fontAlgn="t"/>
                      <a:r>
                        <a:rPr lang="en-US" sz="1200" dirty="0">
                          <a:effectLst/>
                        </a:rPr>
                        <a:t>:s/one/two</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r>
                        <a:rPr lang="zh-CN" altLang="en-US" sz="1200">
                          <a:effectLst/>
                        </a:rPr>
                        <a:t>将当前光标所在行的第一个</a:t>
                      </a:r>
                      <a:r>
                        <a:rPr lang="en-US" altLang="zh-CN" sz="1200">
                          <a:effectLst/>
                        </a:rPr>
                        <a:t>one</a:t>
                      </a:r>
                      <a:r>
                        <a:rPr lang="zh-CN" altLang="en-US" sz="1200">
                          <a:effectLst/>
                        </a:rPr>
                        <a:t>替换成</a:t>
                      </a:r>
                      <a:r>
                        <a:rPr lang="en-US" altLang="zh-CN" sz="1200">
                          <a:effectLst/>
                        </a:rPr>
                        <a:t>two</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73183777"/>
                  </a:ext>
                </a:extLst>
              </a:tr>
              <a:tr h="486519">
                <a:tc>
                  <a:txBody>
                    <a:bodyPr/>
                    <a:lstStyle/>
                    <a:p>
                      <a:pPr algn="l" fontAlgn="t"/>
                      <a:r>
                        <a:rPr lang="en-US" sz="1200">
                          <a:effectLst/>
                        </a:rPr>
                        <a:t>:s/one/two/g</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fontAlgn="t"/>
                      <a:r>
                        <a:rPr lang="zh-CN" altLang="en-US" sz="1200">
                          <a:effectLst/>
                        </a:rPr>
                        <a:t>将当前光标所在行的所有</a:t>
                      </a:r>
                      <a:r>
                        <a:rPr lang="en-US" altLang="zh-CN" sz="1200">
                          <a:effectLst/>
                        </a:rPr>
                        <a:t>one</a:t>
                      </a:r>
                      <a:r>
                        <a:rPr lang="zh-CN" altLang="en-US" sz="1200">
                          <a:effectLst/>
                        </a:rPr>
                        <a:t>替换成</a:t>
                      </a:r>
                      <a:r>
                        <a:rPr lang="en-US" altLang="zh-CN" sz="1200">
                          <a:effectLst/>
                        </a:rPr>
                        <a:t>two</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a16="http://schemas.microsoft.com/office/drawing/2014/main" val="3284350558"/>
                  </a:ext>
                </a:extLst>
              </a:tr>
              <a:tr h="304018">
                <a:tc>
                  <a:txBody>
                    <a:bodyPr/>
                    <a:lstStyle/>
                    <a:p>
                      <a:pPr algn="l" fontAlgn="t"/>
                      <a:r>
                        <a:rPr lang="en-US" sz="1200" dirty="0">
                          <a:effectLst/>
                        </a:rPr>
                        <a:t>:%s/one/two/g</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r>
                        <a:rPr lang="zh-CN" altLang="en-US" sz="1200" dirty="0">
                          <a:effectLst/>
                        </a:rPr>
                        <a:t>将全文中的所有</a:t>
                      </a:r>
                      <a:r>
                        <a:rPr lang="en-US" altLang="zh-CN" sz="1200" dirty="0">
                          <a:effectLst/>
                        </a:rPr>
                        <a:t>one</a:t>
                      </a:r>
                      <a:r>
                        <a:rPr lang="zh-CN" altLang="en-US" sz="1200" dirty="0">
                          <a:effectLst/>
                        </a:rPr>
                        <a:t>替换成</a:t>
                      </a:r>
                      <a:r>
                        <a:rPr lang="en-US" altLang="zh-CN" sz="1200" dirty="0">
                          <a:effectLst/>
                        </a:rPr>
                        <a:t>two</a:t>
                      </a: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290898614"/>
                  </a:ext>
                </a:extLst>
              </a:tr>
              <a:tr h="304018">
                <a:tc>
                  <a:txBody>
                    <a:bodyPr/>
                    <a:lstStyle/>
                    <a:p>
                      <a:pPr algn="l" fontAlgn="t"/>
                      <a:r>
                        <a:rPr lang="en-US" sz="1200" dirty="0">
                          <a:effectLst/>
                        </a:rPr>
                        <a:t>:</a:t>
                      </a:r>
                      <a:r>
                        <a:rPr lang="en-US" sz="1200" dirty="0" err="1">
                          <a:effectLst/>
                        </a:rPr>
                        <a:t>n,md</a:t>
                      </a:r>
                      <a:endParaRPr lang="en-US" sz="1200" dirty="0">
                        <a:effectLst/>
                      </a:endParaRP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r>
                        <a:rPr lang="zh-CN" altLang="en-US" sz="1200" dirty="0">
                          <a:effectLst/>
                        </a:rPr>
                        <a:t>从第</a:t>
                      </a:r>
                      <a:r>
                        <a:rPr lang="en-US" altLang="zh-CN" sz="1200" dirty="0">
                          <a:effectLst/>
                        </a:rPr>
                        <a:t>n</a:t>
                      </a:r>
                      <a:r>
                        <a:rPr lang="zh-CN" altLang="en-US" sz="1200" dirty="0">
                          <a:effectLst/>
                        </a:rPr>
                        <a:t>行到第</a:t>
                      </a:r>
                      <a:r>
                        <a:rPr lang="en-US" altLang="zh-CN" sz="1200" dirty="0">
                          <a:effectLst/>
                        </a:rPr>
                        <a:t>m</a:t>
                      </a:r>
                      <a:r>
                        <a:rPr lang="zh-CN" altLang="en-US" sz="1200">
                          <a:effectLst/>
                        </a:rPr>
                        <a:t>行删除</a:t>
                      </a:r>
                      <a:endParaRPr lang="en-US" altLang="zh-CN" sz="1200" dirty="0">
                        <a:effectLst/>
                      </a:endParaRPr>
                    </a:p>
                  </a:txBody>
                  <a:tcPr marL="48782" marR="48782" marT="48782" marB="487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7" name="Rectangle 2">
            <a:extLst>
              <a:ext uri="{FF2B5EF4-FFF2-40B4-BE49-F238E27FC236}">
                <a16:creationId xmlns:a16="http://schemas.microsoft.com/office/drawing/2014/main" id="{C8E9FBFF-5F2A-4EE5-A1B0-79172EF40808}"/>
              </a:ext>
            </a:extLst>
          </p:cNvPr>
          <p:cNvSpPr>
            <a:spLocks noChangeArrowheads="1"/>
          </p:cNvSpPr>
          <p:nvPr/>
        </p:nvSpPr>
        <p:spPr bwMode="auto">
          <a:xfrm>
            <a:off x="5886014" y="1289327"/>
            <a:ext cx="352643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158750" algn="just" defTabSz="914400" rtl="0" eaLnBrk="0" fontAlgn="base" latinLnBrk="0" hangingPunct="0">
              <a:lnSpc>
                <a:spcPct val="100000"/>
              </a:lnSpc>
              <a:spcBef>
                <a:spcPct val="0"/>
              </a:spcBef>
              <a:spcAft>
                <a:spcPct val="0"/>
              </a:spcAft>
              <a:buClrTx/>
              <a:buSzTx/>
              <a:buFontTx/>
              <a:buNone/>
              <a:tabLst/>
            </a:pPr>
            <a:r>
              <a:rPr kumimoji="0" lang="zh-CN" altLang="zh-CN" sz="9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 </a:t>
            </a:r>
            <a:r>
              <a:rPr lang="zh-CN" altLang="zh-CN" b="1" dirty="0">
                <a:solidFill>
                  <a:srgbClr val="FF0000"/>
                </a:solidFill>
                <a:latin typeface="微软雅黑" panose="020B0503020204020204" pitchFamily="34" charset="-122"/>
                <a:ea typeface="微软雅黑" panose="020B0503020204020204" pitchFamily="34" charset="-122"/>
              </a:rPr>
              <a:t>   </a:t>
            </a:r>
            <a:r>
              <a:rPr lang="zh-CN" altLang="en-US" b="1" dirty="0">
                <a:solidFill>
                  <a:srgbClr val="FF0000"/>
                </a:solidFill>
                <a:latin typeface="微软雅黑" panose="020B0503020204020204" pitchFamily="34" charset="-122"/>
                <a:ea typeface="微软雅黑" panose="020B0503020204020204" pitchFamily="34" charset="-122"/>
              </a:rPr>
              <a:t>转义</a:t>
            </a:r>
            <a:r>
              <a:rPr lang="zh-CN" altLang="zh-CN" b="1" dirty="0">
                <a:solidFill>
                  <a:srgbClr val="FF0000"/>
                </a:solidFill>
                <a:latin typeface="微软雅黑" panose="020B0503020204020204" pitchFamily="34" charset="-122"/>
                <a:ea typeface="微软雅黑" panose="020B0503020204020204" pitchFamily="34" charset="-122"/>
              </a:rPr>
              <a:t>模式中可用的命令</a:t>
            </a:r>
          </a:p>
        </p:txBody>
      </p:sp>
    </p:spTree>
    <p:extLst>
      <p:ext uri="{BB962C8B-B14F-4D97-AF65-F5344CB8AC3E}">
        <p14:creationId xmlns:p14="http://schemas.microsoft.com/office/powerpoint/2010/main" val="465077175"/>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utoShape 13"/>
          <p:cNvSpPr>
            <a:spLocks noChangeArrowheads="1"/>
          </p:cNvSpPr>
          <p:nvPr/>
        </p:nvSpPr>
        <p:spPr bwMode="gray">
          <a:xfrm>
            <a:off x="473710" y="1043305"/>
            <a:ext cx="11231880" cy="5460365"/>
          </a:xfrm>
          <a:prstGeom prst="roundRect">
            <a:avLst>
              <a:gd name="adj" fmla="val 4639"/>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algn="ctr" fontAlgn="base">
              <a:lnSpc>
                <a:spcPct val="120000"/>
              </a:lnSpc>
              <a:spcBef>
                <a:spcPct val="0"/>
              </a:spcBef>
              <a:spcAft>
                <a:spcPct val="0"/>
              </a:spcAft>
              <a:defRPr/>
            </a:pPr>
            <a:endParaRPr lang="zh-CN" altLang="en-US" sz="2000" kern="0">
              <a:solidFill>
                <a:srgbClr val="4D4D4D"/>
              </a:solidFill>
              <a:latin typeface="微软雅黑" panose="020B0503020204020204" charset="-122"/>
              <a:ea typeface="微软雅黑" panose="020B0503020204020204" charset="-122"/>
            </a:endParaRPr>
          </a:p>
        </p:txBody>
      </p:sp>
      <p:sp>
        <p:nvSpPr>
          <p:cNvPr id="2" name="文本框 10"/>
          <p:cNvSpPr txBox="1"/>
          <p:nvPr/>
        </p:nvSpPr>
        <p:spPr>
          <a:xfrm>
            <a:off x="4775938" y="504323"/>
            <a:ext cx="4463334" cy="338554"/>
          </a:xfrm>
          <a:prstGeom prst="rect">
            <a:avLst/>
          </a:prstGeom>
          <a:noFill/>
        </p:spPr>
        <p:txBody>
          <a:bodyPr wrap="square" rtlCol="0">
            <a:spAutoFit/>
          </a:bodyPr>
          <a:lstStyle/>
          <a:p>
            <a:r>
              <a:rPr lang="en-US" altLang="zh-CN" sz="1600" baseline="0" dirty="0">
                <a:solidFill>
                  <a:srgbClr val="3D8ECD"/>
                </a:solidFill>
                <a:latin typeface="微软雅黑" panose="020B0503020204020204" charset="-122"/>
                <a:ea typeface="微软雅黑" panose="020B0503020204020204" charset="-122"/>
              </a:rPr>
              <a:t>2.2  </a:t>
            </a:r>
            <a:r>
              <a:rPr lang="zh-CN" altLang="en-US" sz="1600" dirty="0">
                <a:solidFill>
                  <a:srgbClr val="3D8ECD"/>
                </a:solidFill>
                <a:latin typeface="微软雅黑" panose="020B0503020204020204" charset="-122"/>
                <a:ea typeface="微软雅黑" panose="020B0503020204020204" charset="-122"/>
              </a:rPr>
              <a:t>职业生涯规划的时间管理</a:t>
            </a:r>
          </a:p>
        </p:txBody>
      </p:sp>
      <p:sp>
        <p:nvSpPr>
          <p:cNvPr id="4" name="燕尾形 3"/>
          <p:cNvSpPr/>
          <p:nvPr/>
        </p:nvSpPr>
        <p:spPr>
          <a:xfrm>
            <a:off x="953034" y="1252615"/>
            <a:ext cx="108000" cy="252000"/>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燕尾形 4"/>
          <p:cNvSpPr/>
          <p:nvPr/>
        </p:nvSpPr>
        <p:spPr>
          <a:xfrm>
            <a:off x="1025042" y="1252531"/>
            <a:ext cx="108000" cy="252000"/>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6" name="直接连接符 5"/>
          <p:cNvCxnSpPr/>
          <p:nvPr/>
        </p:nvCxnSpPr>
        <p:spPr>
          <a:xfrm>
            <a:off x="881026" y="1571612"/>
            <a:ext cx="2643206" cy="1588"/>
          </a:xfrm>
          <a:prstGeom prst="line">
            <a:avLst/>
          </a:prstGeom>
        </p:spPr>
        <p:style>
          <a:lnRef idx="1">
            <a:schemeClr val="accent6"/>
          </a:lnRef>
          <a:fillRef idx="0">
            <a:schemeClr val="accent6"/>
          </a:fillRef>
          <a:effectRef idx="0">
            <a:schemeClr val="accent6"/>
          </a:effectRef>
          <a:fontRef idx="minor">
            <a:schemeClr val="tx1"/>
          </a:fontRef>
        </p:style>
      </p:cxnSp>
      <p:sp>
        <p:nvSpPr>
          <p:cNvPr id="7" name="TextBox 29"/>
          <p:cNvSpPr txBox="1"/>
          <p:nvPr/>
        </p:nvSpPr>
        <p:spPr>
          <a:xfrm>
            <a:off x="1317716" y="1097264"/>
            <a:ext cx="3492400" cy="493395"/>
          </a:xfrm>
          <a:prstGeom prst="rect">
            <a:avLst/>
          </a:prstGeom>
          <a:noFill/>
        </p:spPr>
        <p:txBody>
          <a:bodyPr wrap="square" rtlCol="0">
            <a:spAutoFit/>
          </a:bodyPr>
          <a:lstStyle/>
          <a:p>
            <a:pPr>
              <a:lnSpc>
                <a:spcPct val="110000"/>
              </a:lnSpc>
            </a:pPr>
            <a:r>
              <a:rPr lang="zh-CN" sz="2400" b="1" dirty="0">
                <a:solidFill>
                  <a:srgbClr val="0070C0"/>
                </a:solidFill>
                <a:latin typeface="微软雅黑" panose="020B0503020204020204" charset="-122"/>
                <a:ea typeface="微软雅黑" panose="020B0503020204020204" charset="-122"/>
              </a:rPr>
              <a:t>问题</a:t>
            </a:r>
          </a:p>
        </p:txBody>
      </p:sp>
      <p:grpSp>
        <p:nvGrpSpPr>
          <p:cNvPr id="54" name="组合 53"/>
          <p:cNvGrpSpPr/>
          <p:nvPr/>
        </p:nvGrpSpPr>
        <p:grpSpPr>
          <a:xfrm>
            <a:off x="484153" y="3714752"/>
            <a:ext cx="3071834" cy="2847056"/>
            <a:chOff x="-91303" y="3174230"/>
            <a:chExt cx="3071834" cy="2847056"/>
          </a:xfrm>
        </p:grpSpPr>
        <p:grpSp>
          <p:nvGrpSpPr>
            <p:cNvPr id="55" name="组合 16"/>
            <p:cNvGrpSpPr/>
            <p:nvPr/>
          </p:nvGrpSpPr>
          <p:grpSpPr>
            <a:xfrm>
              <a:off x="-91303" y="3174230"/>
              <a:ext cx="3071834" cy="2847056"/>
              <a:chOff x="-91303" y="3174230"/>
              <a:chExt cx="3071834" cy="2847056"/>
            </a:xfrm>
          </p:grpSpPr>
          <p:grpSp>
            <p:nvGrpSpPr>
              <p:cNvPr id="57" name="Group 19"/>
              <p:cNvGrpSpPr/>
              <p:nvPr/>
            </p:nvGrpSpPr>
            <p:grpSpPr bwMode="auto">
              <a:xfrm>
                <a:off x="2202656" y="3174230"/>
                <a:ext cx="777875" cy="758826"/>
                <a:chOff x="2341" y="1703"/>
                <a:chExt cx="1242" cy="1216"/>
              </a:xfrm>
              <a:solidFill>
                <a:schemeClr val="accent6">
                  <a:lumMod val="75000"/>
                </a:schemeClr>
              </a:solidFill>
            </p:grpSpPr>
            <p:grpSp>
              <p:nvGrpSpPr>
                <p:cNvPr id="61" name="Group 20"/>
                <p:cNvGrpSpPr/>
                <p:nvPr/>
              </p:nvGrpSpPr>
              <p:grpSpPr bwMode="auto">
                <a:xfrm>
                  <a:off x="2341" y="1703"/>
                  <a:ext cx="1242" cy="1216"/>
                  <a:chOff x="2341" y="1703"/>
                  <a:chExt cx="1242" cy="1216"/>
                </a:xfrm>
                <a:grpFill/>
              </p:grpSpPr>
              <p:sp>
                <p:nvSpPr>
                  <p:cNvPr id="63" name="Oval 21"/>
                  <p:cNvSpPr>
                    <a:spLocks noChangeArrowheads="1"/>
                  </p:cNvSpPr>
                  <p:nvPr/>
                </p:nvSpPr>
                <p:spPr bwMode="gray">
                  <a:xfrm>
                    <a:off x="2341" y="1703"/>
                    <a:ext cx="1242" cy="1216"/>
                  </a:xfrm>
                  <a:prstGeom prst="ellipse">
                    <a:avLst/>
                  </a:prstGeom>
                  <a:grpFill/>
                  <a:ln w="28575" algn="ctr">
                    <a:solidFill>
                      <a:srgbClr val="C0C0C0"/>
                    </a:solidFill>
                    <a:round/>
                  </a:ln>
                  <a:effectLst/>
                </p:spPr>
                <p:txBody>
                  <a:bodyPr vert="eaVert" wrap="none" anchor="ctr"/>
                  <a:lstStyle/>
                  <a:p>
                    <a:pPr>
                      <a:defRPr/>
                    </a:pPr>
                    <a:endParaRPr lang="zh-CN" altLang="en-US">
                      <a:solidFill>
                        <a:prstClr val="black"/>
                      </a:solidFill>
                    </a:endParaRPr>
                  </a:p>
                </p:txBody>
              </p:sp>
              <p:sp>
                <p:nvSpPr>
                  <p:cNvPr id="64" name="Freeform 22"/>
                  <p:cNvSpPr/>
                  <p:nvPr/>
                </p:nvSpPr>
                <p:spPr bwMode="auto">
                  <a:xfrm rot="5400000">
                    <a:off x="2741" y="1375"/>
                    <a:ext cx="458" cy="1136"/>
                  </a:xfrm>
                  <a:custGeom>
                    <a:avLst/>
                    <a:gdLst/>
                    <a:ahLst/>
                    <a:cxnLst>
                      <a:cxn ang="0">
                        <a:pos x="173" y="0"/>
                      </a:cxn>
                      <a:cxn ang="0">
                        <a:pos x="0" y="173"/>
                      </a:cxn>
                      <a:cxn ang="0">
                        <a:pos x="174" y="348"/>
                      </a:cxn>
                      <a:cxn ang="0">
                        <a:pos x="174" y="174"/>
                      </a:cxn>
                      <a:cxn ang="0">
                        <a:pos x="173" y="0"/>
                      </a:cxn>
                    </a:cxnLst>
                    <a:rect l="0" t="0" r="r" b="b"/>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prstDash val="solid"/>
                    <a:round/>
                  </a:ln>
                </p:spPr>
                <p:txBody>
                  <a:bodyPr/>
                  <a:lstStyle/>
                  <a:p>
                    <a:pPr>
                      <a:defRPr/>
                    </a:pPr>
                    <a:endParaRPr lang="zh-CN" altLang="en-US">
                      <a:solidFill>
                        <a:prstClr val="black"/>
                      </a:solidFill>
                    </a:endParaRPr>
                  </a:p>
                </p:txBody>
              </p:sp>
            </p:grpSp>
            <p:sp>
              <p:nvSpPr>
                <p:cNvPr id="62" name="Freeform 23"/>
                <p:cNvSpPr/>
                <p:nvPr/>
              </p:nvSpPr>
              <p:spPr bwMode="auto">
                <a:xfrm rot="-18000000">
                  <a:off x="3064" y="2263"/>
                  <a:ext cx="194" cy="758"/>
                </a:xfrm>
                <a:custGeom>
                  <a:avLst/>
                  <a:gdLst/>
                  <a:ahLst/>
                  <a:cxnLst>
                    <a:cxn ang="0">
                      <a:pos x="173" y="0"/>
                    </a:cxn>
                    <a:cxn ang="0">
                      <a:pos x="0" y="173"/>
                    </a:cxn>
                    <a:cxn ang="0">
                      <a:pos x="174" y="348"/>
                    </a:cxn>
                    <a:cxn ang="0">
                      <a:pos x="174" y="174"/>
                    </a:cxn>
                    <a:cxn ang="0">
                      <a:pos x="173" y="0"/>
                    </a:cxn>
                  </a:cxnLst>
                  <a:rect l="0" t="0" r="r" b="b"/>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prstDash val="solid"/>
                  <a:round/>
                </a:ln>
              </p:spPr>
              <p:txBody>
                <a:bodyPr/>
                <a:lstStyle/>
                <a:p>
                  <a:pPr>
                    <a:defRPr/>
                  </a:pPr>
                  <a:endParaRPr lang="zh-CN" altLang="en-US">
                    <a:solidFill>
                      <a:prstClr val="black"/>
                    </a:solidFill>
                  </a:endParaRPr>
                </a:p>
              </p:txBody>
            </p:sp>
          </p:grpSp>
          <p:sp>
            <p:nvSpPr>
              <p:cNvPr id="58" name="Line 2"/>
              <p:cNvSpPr>
                <a:spLocks noChangeShapeType="1"/>
              </p:cNvSpPr>
              <p:nvPr/>
            </p:nvSpPr>
            <p:spPr bwMode="auto">
              <a:xfrm rot="5400000" flipH="1">
                <a:off x="1568585" y="4977171"/>
                <a:ext cx="2088231" cy="0"/>
              </a:xfrm>
              <a:prstGeom prst="line">
                <a:avLst/>
              </a:prstGeom>
              <a:noFill/>
              <a:ln w="19050">
                <a:solidFill>
                  <a:srgbClr val="808080"/>
                </a:solidFill>
                <a:round/>
              </a:ln>
            </p:spPr>
            <p:txBody>
              <a:bodyPr/>
              <a:lstStyle/>
              <a:p>
                <a:endParaRPr lang="zh-CN" altLang="en-US">
                  <a:solidFill>
                    <a:prstClr val="black"/>
                  </a:solidFill>
                </a:endParaRPr>
              </a:p>
            </p:txBody>
          </p:sp>
          <p:sp>
            <p:nvSpPr>
              <p:cNvPr id="59" name="Rectangle 41"/>
              <p:cNvSpPr>
                <a:spLocks noChangeArrowheads="1"/>
              </p:cNvSpPr>
              <p:nvPr/>
            </p:nvSpPr>
            <p:spPr bwMode="auto">
              <a:xfrm>
                <a:off x="-91303" y="4031486"/>
                <a:ext cx="2712601" cy="1253677"/>
              </a:xfrm>
              <a:prstGeom prst="rect">
                <a:avLst/>
              </a:prstGeom>
              <a:noFill/>
              <a:ln w="9525" algn="ctr">
                <a:noFill/>
                <a:miter lim="800000"/>
              </a:ln>
            </p:spPr>
            <p:txBody>
              <a:bodyPr wrap="square">
                <a:spAutoFit/>
              </a:bodyPr>
              <a:lstStyle/>
              <a:p>
                <a:pPr indent="457200" fontAlgn="auto">
                  <a:lnSpc>
                    <a:spcPct val="130000"/>
                  </a:lnSpc>
                </a:pPr>
                <a:r>
                  <a:rPr lang="zh-CN" altLang="en-US" sz="2000" dirty="0">
                    <a:solidFill>
                      <a:schemeClr val="tx1">
                        <a:lumMod val="85000"/>
                        <a:lumOff val="15000"/>
                      </a:schemeClr>
                    </a:solidFill>
                    <a:latin typeface="微软雅黑" panose="020B0503020204020204" charset="-122"/>
                    <a:ea typeface="微软雅黑" panose="020B0503020204020204" charset="-122"/>
                    <a:sym typeface="+mn-ea"/>
                  </a:rPr>
                  <a:t>2．vi编辑器的工作方式有哪些？相互间如何转换？</a:t>
                </a:r>
              </a:p>
            </p:txBody>
          </p:sp>
          <p:sp>
            <p:nvSpPr>
              <p:cNvPr id="60" name="Line 30"/>
              <p:cNvSpPr>
                <a:spLocks noChangeShapeType="1"/>
              </p:cNvSpPr>
              <p:nvPr/>
            </p:nvSpPr>
            <p:spPr bwMode="auto">
              <a:xfrm flipH="1">
                <a:off x="1408895" y="3573016"/>
                <a:ext cx="614362" cy="0"/>
              </a:xfrm>
              <a:prstGeom prst="line">
                <a:avLst/>
              </a:prstGeom>
              <a:noFill/>
              <a:ln w="9525">
                <a:solidFill>
                  <a:srgbClr val="808080"/>
                </a:solidFill>
                <a:round/>
                <a:headEnd type="oval" w="med" len="med"/>
              </a:ln>
            </p:spPr>
            <p:txBody>
              <a:bodyPr/>
              <a:lstStyle/>
              <a:p>
                <a:endParaRPr lang="zh-CN" altLang="en-US">
                  <a:solidFill>
                    <a:prstClr val="black"/>
                  </a:solidFill>
                </a:endParaRPr>
              </a:p>
            </p:txBody>
          </p:sp>
        </p:grpSp>
        <p:sp>
          <p:nvSpPr>
            <p:cNvPr id="56" name="WordArt 36"/>
            <p:cNvSpPr>
              <a:spLocks noChangeArrowheads="1" noChangeShapeType="1" noTextEdit="1"/>
            </p:cNvSpPr>
            <p:nvPr/>
          </p:nvSpPr>
          <p:spPr bwMode="auto">
            <a:xfrm>
              <a:off x="2470154" y="3363590"/>
              <a:ext cx="244475" cy="425450"/>
            </a:xfrm>
            <a:prstGeom prst="rect">
              <a:avLst/>
            </a:prstGeom>
          </p:spPr>
          <p:txBody>
            <a:bodyPr wrap="none" fromWordArt="1">
              <a:prstTxWarp prst="textPlain">
                <a:avLst>
                  <a:gd name="adj" fmla="val 50000"/>
                </a:avLst>
              </a:prstTxWarp>
            </a:bodyPr>
            <a:lstStyle/>
            <a:p>
              <a:pPr algn="ctr"/>
              <a:r>
                <a:rPr lang="en-US" altLang="zh-CN"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rPr>
                <a:t>2</a:t>
              </a:r>
              <a:endParaRPr lang="zh-CN" altLang="en-US"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endParaRPr>
            </a:p>
          </p:txBody>
        </p:sp>
      </p:grpSp>
      <p:grpSp>
        <p:nvGrpSpPr>
          <p:cNvPr id="8" name="组合 7"/>
          <p:cNvGrpSpPr/>
          <p:nvPr/>
        </p:nvGrpSpPr>
        <p:grpSpPr>
          <a:xfrm>
            <a:off x="3698863" y="1714488"/>
            <a:ext cx="4286280" cy="2730058"/>
            <a:chOff x="2618231" y="1202998"/>
            <a:chExt cx="4286280" cy="2730058"/>
          </a:xfrm>
        </p:grpSpPr>
        <p:grpSp>
          <p:nvGrpSpPr>
            <p:cNvPr id="9" name="Group 14"/>
            <p:cNvGrpSpPr/>
            <p:nvPr/>
          </p:nvGrpSpPr>
          <p:grpSpPr bwMode="auto">
            <a:xfrm>
              <a:off x="3514729" y="3174231"/>
              <a:ext cx="777875" cy="758825"/>
              <a:chOff x="2341" y="1703"/>
              <a:chExt cx="1242" cy="1216"/>
            </a:xfrm>
            <a:solidFill>
              <a:srgbClr val="00B0F0"/>
            </a:solidFill>
          </p:grpSpPr>
          <p:grpSp>
            <p:nvGrpSpPr>
              <p:cNvPr id="14" name="Group 15"/>
              <p:cNvGrpSpPr/>
              <p:nvPr/>
            </p:nvGrpSpPr>
            <p:grpSpPr bwMode="auto">
              <a:xfrm>
                <a:off x="2341" y="1703"/>
                <a:ext cx="1242" cy="1216"/>
                <a:chOff x="2341" y="1703"/>
                <a:chExt cx="1242" cy="1216"/>
              </a:xfrm>
              <a:grpFill/>
            </p:grpSpPr>
            <p:sp>
              <p:nvSpPr>
                <p:cNvPr id="15" name="Oval 16"/>
                <p:cNvSpPr>
                  <a:spLocks noChangeArrowheads="1"/>
                </p:cNvSpPr>
                <p:nvPr/>
              </p:nvSpPr>
              <p:spPr bwMode="gray">
                <a:xfrm>
                  <a:off x="2341" y="1703"/>
                  <a:ext cx="1242" cy="1216"/>
                </a:xfrm>
                <a:prstGeom prst="ellipse">
                  <a:avLst/>
                </a:prstGeom>
                <a:grpFill/>
                <a:ln w="28575" algn="ctr">
                  <a:solidFill>
                    <a:srgbClr val="C0C0C0"/>
                  </a:solidFill>
                  <a:round/>
                </a:ln>
              </p:spPr>
              <p:txBody>
                <a:bodyPr vert="eaVert" wrap="none" anchor="ctr"/>
                <a:lstStyle/>
                <a:p>
                  <a:endParaRPr lang="zh-CN" altLang="en-US">
                    <a:solidFill>
                      <a:prstClr val="black"/>
                    </a:solidFill>
                  </a:endParaRPr>
                </a:p>
              </p:txBody>
            </p:sp>
            <p:sp>
              <p:nvSpPr>
                <p:cNvPr id="17" name="Freeform 17"/>
                <p:cNvSpPr/>
                <p:nvPr/>
              </p:nvSpPr>
              <p:spPr bwMode="auto">
                <a:xfrm rot="5400000">
                  <a:off x="2741" y="1375"/>
                  <a:ext cx="458" cy="1136"/>
                </a:xfrm>
                <a:custGeom>
                  <a:avLst/>
                  <a:gdLst>
                    <a:gd name="T0" fmla="*/ 8299 w 174"/>
                    <a:gd name="T1" fmla="*/ 0 h 348"/>
                    <a:gd name="T2" fmla="*/ 0 w 174"/>
                    <a:gd name="T3" fmla="*/ 19648 h 348"/>
                    <a:gd name="T4" fmla="*/ 8355 w 174"/>
                    <a:gd name="T5" fmla="*/ 39512 h 348"/>
                    <a:gd name="T6" fmla="*/ 8355 w 174"/>
                    <a:gd name="T7" fmla="*/ 19756 h 348"/>
                    <a:gd name="T8" fmla="*/ 8299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18" name="Freeform 18"/>
              <p:cNvSpPr/>
              <p:nvPr/>
            </p:nvSpPr>
            <p:spPr bwMode="auto">
              <a:xfrm rot="3600000">
                <a:off x="3064" y="2263"/>
                <a:ext cx="194" cy="758"/>
              </a:xfrm>
              <a:custGeom>
                <a:avLst/>
                <a:gdLst>
                  <a:gd name="T0" fmla="*/ 268 w 174"/>
                  <a:gd name="T1" fmla="*/ 0 h 348"/>
                  <a:gd name="T2" fmla="*/ 0 w 174"/>
                  <a:gd name="T3" fmla="*/ 3895 h 348"/>
                  <a:gd name="T4" fmla="*/ 269 w 174"/>
                  <a:gd name="T5" fmla="*/ 7833 h 348"/>
                  <a:gd name="T6" fmla="*/ 269 w 174"/>
                  <a:gd name="T7" fmla="*/ 3919 h 348"/>
                  <a:gd name="T8" fmla="*/ 268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19" name="Line 30"/>
            <p:cNvSpPr>
              <a:spLocks noChangeShapeType="1"/>
            </p:cNvSpPr>
            <p:nvPr/>
          </p:nvSpPr>
          <p:spPr bwMode="auto">
            <a:xfrm flipH="1">
              <a:off x="2618231" y="3573016"/>
              <a:ext cx="614362" cy="0"/>
            </a:xfrm>
            <a:prstGeom prst="line">
              <a:avLst/>
            </a:prstGeom>
            <a:noFill/>
            <a:ln w="9525">
              <a:solidFill>
                <a:srgbClr val="808080"/>
              </a:solidFill>
              <a:round/>
              <a:headEnd type="oval" w="med" len="med"/>
            </a:ln>
          </p:spPr>
          <p:txBody>
            <a:bodyPr/>
            <a:lstStyle/>
            <a:p>
              <a:endParaRPr lang="zh-CN" altLang="en-US">
                <a:solidFill>
                  <a:prstClr val="black"/>
                </a:solidFill>
              </a:endParaRPr>
            </a:p>
          </p:txBody>
        </p:sp>
        <p:sp>
          <p:nvSpPr>
            <p:cNvPr id="20" name="WordArt 33"/>
            <p:cNvSpPr>
              <a:spLocks noChangeArrowheads="1" noChangeShapeType="1" noTextEdit="1"/>
            </p:cNvSpPr>
            <p:nvPr/>
          </p:nvSpPr>
          <p:spPr bwMode="auto">
            <a:xfrm>
              <a:off x="3711575" y="3363590"/>
              <a:ext cx="381000" cy="425450"/>
            </a:xfrm>
            <a:prstGeom prst="rect">
              <a:avLst/>
            </a:prstGeom>
          </p:spPr>
          <p:txBody>
            <a:bodyPr wrap="none" fromWordArt="1">
              <a:prstTxWarp prst="textPlain">
                <a:avLst>
                  <a:gd name="adj" fmla="val 50000"/>
                </a:avLst>
              </a:prstTxWarp>
            </a:bodyPr>
            <a:lstStyle/>
            <a:p>
              <a:pPr algn="ctr"/>
              <a:r>
                <a:rPr lang="en-US" altLang="zh-CN"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rPr>
                <a:t>3</a:t>
              </a:r>
              <a:endParaRPr lang="zh-CN" altLang="en-US"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endParaRPr>
            </a:p>
          </p:txBody>
        </p:sp>
        <p:sp>
          <p:nvSpPr>
            <p:cNvPr id="21" name="Line 39"/>
            <p:cNvSpPr>
              <a:spLocks noChangeShapeType="1"/>
            </p:cNvSpPr>
            <p:nvPr/>
          </p:nvSpPr>
          <p:spPr bwMode="auto">
            <a:xfrm rot="5400000" flipH="1">
              <a:off x="2930424" y="2212456"/>
              <a:ext cx="1933779" cy="0"/>
            </a:xfrm>
            <a:prstGeom prst="line">
              <a:avLst/>
            </a:prstGeom>
            <a:noFill/>
            <a:ln w="19050">
              <a:solidFill>
                <a:srgbClr val="808080"/>
              </a:solidFill>
              <a:round/>
            </a:ln>
          </p:spPr>
          <p:txBody>
            <a:bodyPr/>
            <a:lstStyle/>
            <a:p>
              <a:endParaRPr lang="zh-CN" altLang="en-US">
                <a:solidFill>
                  <a:prstClr val="black"/>
                </a:solidFill>
              </a:endParaRPr>
            </a:p>
          </p:txBody>
        </p:sp>
        <p:sp>
          <p:nvSpPr>
            <p:cNvPr id="22" name="Rectangle 40"/>
            <p:cNvSpPr>
              <a:spLocks noChangeArrowheads="1"/>
            </p:cNvSpPr>
            <p:nvPr/>
          </p:nvSpPr>
          <p:spPr bwMode="auto">
            <a:xfrm>
              <a:off x="3904115" y="1202998"/>
              <a:ext cx="3000396" cy="1798320"/>
            </a:xfrm>
            <a:prstGeom prst="rect">
              <a:avLst/>
            </a:prstGeom>
            <a:noFill/>
            <a:ln w="9525" algn="ctr">
              <a:noFill/>
              <a:miter lim="800000"/>
            </a:ln>
          </p:spPr>
          <p:txBody>
            <a:bodyPr wrap="square">
              <a:spAutoFit/>
            </a:bodyPr>
            <a:lstStyle/>
            <a:p>
              <a:pPr>
                <a:lnSpc>
                  <a:spcPct val="140000"/>
                </a:lnSpc>
                <a:spcBef>
                  <a:spcPts val="1200"/>
                </a:spcBef>
                <a:spcAft>
                  <a:spcPts val="1200"/>
                </a:spcAft>
              </a:pPr>
              <a:r>
                <a:rPr lang="zh-CN" altLang="en-US" sz="2000" dirty="0">
                  <a:solidFill>
                    <a:schemeClr val="tx1">
                      <a:lumMod val="85000"/>
                      <a:lumOff val="15000"/>
                    </a:schemeClr>
                  </a:solidFill>
                  <a:latin typeface="微软雅黑" panose="020B0503020204020204" charset="-122"/>
                  <a:ea typeface="微软雅黑" panose="020B0503020204020204" charset="-122"/>
                  <a:sym typeface="+mn-ea"/>
                </a:rPr>
                <a:t>3．建立一个文本文件，将光标移至第5行。分别用c、C和cc命令进行修改。</a:t>
              </a:r>
            </a:p>
          </p:txBody>
        </p:sp>
      </p:grpSp>
      <p:grpSp>
        <p:nvGrpSpPr>
          <p:cNvPr id="75" name="组合 74"/>
          <p:cNvGrpSpPr/>
          <p:nvPr/>
        </p:nvGrpSpPr>
        <p:grpSpPr>
          <a:xfrm>
            <a:off x="4071845" y="3685722"/>
            <a:ext cx="3127480" cy="2847057"/>
            <a:chOff x="2524024" y="3174231"/>
            <a:chExt cx="3127480" cy="2847057"/>
          </a:xfrm>
        </p:grpSpPr>
        <p:grpSp>
          <p:nvGrpSpPr>
            <p:cNvPr id="76" name="Group 9"/>
            <p:cNvGrpSpPr/>
            <p:nvPr/>
          </p:nvGrpSpPr>
          <p:grpSpPr bwMode="auto">
            <a:xfrm>
              <a:off x="4873629" y="3174231"/>
              <a:ext cx="777875" cy="758825"/>
              <a:chOff x="2341" y="1703"/>
              <a:chExt cx="1242" cy="1216"/>
            </a:xfrm>
            <a:solidFill>
              <a:srgbClr val="FFC000"/>
            </a:solidFill>
          </p:grpSpPr>
          <p:grpSp>
            <p:nvGrpSpPr>
              <p:cNvPr id="81" name="Group 10"/>
              <p:cNvGrpSpPr/>
              <p:nvPr/>
            </p:nvGrpSpPr>
            <p:grpSpPr bwMode="auto">
              <a:xfrm>
                <a:off x="2341" y="1703"/>
                <a:ext cx="1242" cy="1216"/>
                <a:chOff x="2341" y="1703"/>
                <a:chExt cx="1242" cy="1216"/>
              </a:xfrm>
              <a:grpFill/>
            </p:grpSpPr>
            <p:sp>
              <p:nvSpPr>
                <p:cNvPr id="83" name="Oval 11"/>
                <p:cNvSpPr>
                  <a:spLocks noChangeArrowheads="1"/>
                </p:cNvSpPr>
                <p:nvPr/>
              </p:nvSpPr>
              <p:spPr bwMode="gray">
                <a:xfrm>
                  <a:off x="2341" y="1703"/>
                  <a:ext cx="1242" cy="1216"/>
                </a:xfrm>
                <a:prstGeom prst="ellipse">
                  <a:avLst/>
                </a:prstGeom>
                <a:grpFill/>
                <a:ln w="28575" algn="ctr">
                  <a:solidFill>
                    <a:srgbClr val="C0C0C0"/>
                  </a:solidFill>
                  <a:round/>
                </a:ln>
              </p:spPr>
              <p:txBody>
                <a:bodyPr vert="eaVert" wrap="none" anchor="ctr"/>
                <a:lstStyle/>
                <a:p>
                  <a:endParaRPr lang="zh-CN" altLang="en-US">
                    <a:solidFill>
                      <a:prstClr val="black"/>
                    </a:solidFill>
                  </a:endParaRPr>
                </a:p>
              </p:txBody>
            </p:sp>
            <p:sp>
              <p:nvSpPr>
                <p:cNvPr id="84" name="Freeform 12"/>
                <p:cNvSpPr/>
                <p:nvPr/>
              </p:nvSpPr>
              <p:spPr bwMode="auto">
                <a:xfrm rot="5400000">
                  <a:off x="2741" y="1375"/>
                  <a:ext cx="458" cy="1136"/>
                </a:xfrm>
                <a:custGeom>
                  <a:avLst/>
                  <a:gdLst>
                    <a:gd name="T0" fmla="*/ 8299 w 174"/>
                    <a:gd name="T1" fmla="*/ 0 h 348"/>
                    <a:gd name="T2" fmla="*/ 0 w 174"/>
                    <a:gd name="T3" fmla="*/ 19648 h 348"/>
                    <a:gd name="T4" fmla="*/ 8355 w 174"/>
                    <a:gd name="T5" fmla="*/ 39512 h 348"/>
                    <a:gd name="T6" fmla="*/ 8355 w 174"/>
                    <a:gd name="T7" fmla="*/ 19756 h 348"/>
                    <a:gd name="T8" fmla="*/ 8299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82" name="Freeform 13"/>
              <p:cNvSpPr/>
              <p:nvPr/>
            </p:nvSpPr>
            <p:spPr bwMode="auto">
              <a:xfrm rot="3600000">
                <a:off x="3064" y="2263"/>
                <a:ext cx="194" cy="758"/>
              </a:xfrm>
              <a:custGeom>
                <a:avLst/>
                <a:gdLst>
                  <a:gd name="T0" fmla="*/ 268 w 174"/>
                  <a:gd name="T1" fmla="*/ 0 h 348"/>
                  <a:gd name="T2" fmla="*/ 0 w 174"/>
                  <a:gd name="T3" fmla="*/ 3895 h 348"/>
                  <a:gd name="T4" fmla="*/ 269 w 174"/>
                  <a:gd name="T5" fmla="*/ 7833 h 348"/>
                  <a:gd name="T6" fmla="*/ 269 w 174"/>
                  <a:gd name="T7" fmla="*/ 3919 h 348"/>
                  <a:gd name="T8" fmla="*/ 268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77" name="Line 31"/>
            <p:cNvSpPr>
              <a:spLocks noChangeShapeType="1"/>
            </p:cNvSpPr>
            <p:nvPr/>
          </p:nvSpPr>
          <p:spPr bwMode="auto">
            <a:xfrm flipH="1">
              <a:off x="3952784" y="3573016"/>
              <a:ext cx="652463" cy="0"/>
            </a:xfrm>
            <a:prstGeom prst="line">
              <a:avLst/>
            </a:prstGeom>
            <a:noFill/>
            <a:ln w="9525">
              <a:solidFill>
                <a:srgbClr val="808080"/>
              </a:solidFill>
              <a:round/>
              <a:headEnd type="oval" w="med" len="med"/>
            </a:ln>
          </p:spPr>
          <p:txBody>
            <a:bodyPr/>
            <a:lstStyle/>
            <a:p>
              <a:endParaRPr lang="zh-CN" altLang="en-US">
                <a:solidFill>
                  <a:prstClr val="black"/>
                </a:solidFill>
              </a:endParaRPr>
            </a:p>
          </p:txBody>
        </p:sp>
        <p:sp>
          <p:nvSpPr>
            <p:cNvPr id="78" name="WordArt 34"/>
            <p:cNvSpPr>
              <a:spLocks noChangeArrowheads="1" noChangeShapeType="1" noTextEdit="1"/>
            </p:cNvSpPr>
            <p:nvPr/>
          </p:nvSpPr>
          <p:spPr bwMode="auto">
            <a:xfrm>
              <a:off x="5055096" y="3363590"/>
              <a:ext cx="381000" cy="425450"/>
            </a:xfrm>
            <a:prstGeom prst="rect">
              <a:avLst/>
            </a:prstGeom>
          </p:spPr>
          <p:txBody>
            <a:bodyPr wrap="none" fromWordArt="1">
              <a:prstTxWarp prst="textPlain">
                <a:avLst>
                  <a:gd name="adj" fmla="val 50000"/>
                </a:avLst>
              </a:prstTxWarp>
            </a:bodyPr>
            <a:lstStyle/>
            <a:p>
              <a:pPr algn="ctr"/>
              <a:r>
                <a:rPr lang="en-US" altLang="zh-CN"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rPr>
                <a:t>4</a:t>
              </a:r>
              <a:endParaRPr lang="zh-CN" altLang="en-US"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endParaRPr>
            </a:p>
          </p:txBody>
        </p:sp>
        <p:sp>
          <p:nvSpPr>
            <p:cNvPr id="79" name="Rectangle 43"/>
            <p:cNvSpPr>
              <a:spLocks noChangeArrowheads="1"/>
            </p:cNvSpPr>
            <p:nvPr/>
          </p:nvSpPr>
          <p:spPr bwMode="auto">
            <a:xfrm>
              <a:off x="2524024" y="4099021"/>
              <a:ext cx="2696618" cy="1798320"/>
            </a:xfrm>
            <a:prstGeom prst="rect">
              <a:avLst/>
            </a:prstGeom>
            <a:noFill/>
            <a:ln w="9525" algn="ctr">
              <a:noFill/>
              <a:miter lim="800000"/>
            </a:ln>
          </p:spPr>
          <p:txBody>
            <a:bodyPr wrap="square">
              <a:spAutoFit/>
            </a:bodyPr>
            <a:lstStyle/>
            <a:p>
              <a:pPr>
                <a:lnSpc>
                  <a:spcPct val="140000"/>
                </a:lnSpc>
              </a:pPr>
              <a:r>
                <a:rPr lang="zh-CN" altLang="en-US" sz="2000" dirty="0">
                  <a:solidFill>
                    <a:schemeClr val="tx1">
                      <a:lumMod val="85000"/>
                      <a:lumOff val="15000"/>
                    </a:schemeClr>
                  </a:solidFill>
                  <a:latin typeface="微软雅黑" panose="020B0503020204020204" charset="-122"/>
                  <a:ea typeface="微软雅黑" panose="020B0503020204020204" charset="-122"/>
                  <a:sym typeface="+mn-ea"/>
                </a:rPr>
                <a:t>4．在vi编辑器之下，将光标上、下、左、右移动的方式有哪些？</a:t>
              </a:r>
              <a:endParaRPr lang="zh-CN" altLang="en-US" sz="2000" dirty="0">
                <a:solidFill>
                  <a:schemeClr val="tx1">
                    <a:lumMod val="65000"/>
                    <a:lumOff val="35000"/>
                  </a:schemeClr>
                </a:solidFill>
                <a:latin typeface="微软雅黑" panose="020B0503020204020204" charset="-122"/>
                <a:ea typeface="微软雅黑" panose="020B0503020204020204" charset="-122"/>
              </a:endParaRPr>
            </a:p>
          </p:txBody>
        </p:sp>
        <p:sp>
          <p:nvSpPr>
            <p:cNvPr id="80" name="Line 2"/>
            <p:cNvSpPr>
              <a:spLocks noChangeShapeType="1"/>
            </p:cNvSpPr>
            <p:nvPr/>
          </p:nvSpPr>
          <p:spPr bwMode="auto">
            <a:xfrm rot="5400000" flipH="1">
              <a:off x="4179927" y="4973201"/>
              <a:ext cx="2088232" cy="7941"/>
            </a:xfrm>
            <a:prstGeom prst="line">
              <a:avLst/>
            </a:prstGeom>
            <a:noFill/>
            <a:ln w="19050">
              <a:solidFill>
                <a:srgbClr val="808080"/>
              </a:solidFill>
              <a:round/>
            </a:ln>
          </p:spPr>
          <p:txBody>
            <a:bodyPr/>
            <a:lstStyle/>
            <a:p>
              <a:endParaRPr lang="zh-CN" altLang="en-US">
                <a:solidFill>
                  <a:prstClr val="black"/>
                </a:solidFill>
              </a:endParaRPr>
            </a:p>
          </p:txBody>
        </p:sp>
      </p:grpSp>
      <p:grpSp>
        <p:nvGrpSpPr>
          <p:cNvPr id="85" name="组合 84"/>
          <p:cNvGrpSpPr/>
          <p:nvPr/>
        </p:nvGrpSpPr>
        <p:grpSpPr>
          <a:xfrm>
            <a:off x="7413639" y="3685722"/>
            <a:ext cx="3571900" cy="2847056"/>
            <a:chOff x="5032548" y="3174231"/>
            <a:chExt cx="3571900" cy="2847056"/>
          </a:xfrm>
        </p:grpSpPr>
        <p:sp>
          <p:nvSpPr>
            <p:cNvPr id="86" name="Rectangle 45"/>
            <p:cNvSpPr>
              <a:spLocks noChangeArrowheads="1"/>
            </p:cNvSpPr>
            <p:nvPr/>
          </p:nvSpPr>
          <p:spPr bwMode="auto">
            <a:xfrm>
              <a:off x="5032548" y="3925271"/>
              <a:ext cx="3283868" cy="1920240"/>
            </a:xfrm>
            <a:prstGeom prst="rect">
              <a:avLst/>
            </a:prstGeom>
            <a:noFill/>
            <a:ln w="9525" algn="ctr">
              <a:noFill/>
              <a:miter lim="800000"/>
            </a:ln>
          </p:spPr>
          <p:txBody>
            <a:bodyPr wrap="square">
              <a:spAutoFit/>
            </a:bodyPr>
            <a:lstStyle/>
            <a:p>
              <a:pPr eaLnBrk="1" latinLnBrk="0" hangingPunct="1">
                <a:lnSpc>
                  <a:spcPct val="150000"/>
                </a:lnSpc>
              </a:pPr>
              <a:r>
                <a:rPr lang="zh-CN" altLang="en-US" sz="2000" dirty="0">
                  <a:solidFill>
                    <a:schemeClr val="tx1">
                      <a:lumMod val="85000"/>
                      <a:lumOff val="15000"/>
                    </a:schemeClr>
                  </a:solidFill>
                  <a:latin typeface="微软雅黑" panose="020B0503020204020204" charset="-122"/>
                  <a:ea typeface="微软雅黑" panose="020B0503020204020204" charset="-122"/>
                  <a:sym typeface="+mn-ea"/>
                </a:rPr>
                <a:t>6．进入vi编辑器时，如果希望进入后光标位于文件中的第9行上，应该输入什么命令？</a:t>
              </a:r>
            </a:p>
          </p:txBody>
        </p:sp>
        <p:grpSp>
          <p:nvGrpSpPr>
            <p:cNvPr id="87" name="Group 46"/>
            <p:cNvGrpSpPr/>
            <p:nvPr/>
          </p:nvGrpSpPr>
          <p:grpSpPr bwMode="auto">
            <a:xfrm>
              <a:off x="7826573" y="3174231"/>
              <a:ext cx="777875" cy="758825"/>
              <a:chOff x="2341" y="1703"/>
              <a:chExt cx="1242" cy="1216"/>
            </a:xfrm>
            <a:solidFill>
              <a:srgbClr val="033C8F"/>
            </a:solidFill>
          </p:grpSpPr>
          <p:grpSp>
            <p:nvGrpSpPr>
              <p:cNvPr id="91" name="Group 47"/>
              <p:cNvGrpSpPr/>
              <p:nvPr/>
            </p:nvGrpSpPr>
            <p:grpSpPr bwMode="auto">
              <a:xfrm>
                <a:off x="2341" y="1703"/>
                <a:ext cx="1242" cy="1216"/>
                <a:chOff x="2341" y="1703"/>
                <a:chExt cx="1242" cy="1216"/>
              </a:xfrm>
              <a:grpFill/>
            </p:grpSpPr>
            <p:sp>
              <p:nvSpPr>
                <p:cNvPr id="93" name="Oval 48"/>
                <p:cNvSpPr>
                  <a:spLocks noChangeArrowheads="1"/>
                </p:cNvSpPr>
                <p:nvPr/>
              </p:nvSpPr>
              <p:spPr bwMode="gray">
                <a:xfrm>
                  <a:off x="2341" y="1703"/>
                  <a:ext cx="1242" cy="1216"/>
                </a:xfrm>
                <a:prstGeom prst="ellipse">
                  <a:avLst/>
                </a:prstGeom>
                <a:grpFill/>
                <a:ln w="28575" algn="ctr">
                  <a:solidFill>
                    <a:srgbClr val="C0C0C0"/>
                  </a:solidFill>
                  <a:round/>
                </a:ln>
              </p:spPr>
              <p:txBody>
                <a:bodyPr vert="eaVert" wrap="none" anchor="ctr"/>
                <a:lstStyle/>
                <a:p>
                  <a:endParaRPr lang="zh-CN" altLang="en-US">
                    <a:solidFill>
                      <a:prstClr val="black"/>
                    </a:solidFill>
                  </a:endParaRPr>
                </a:p>
              </p:txBody>
            </p:sp>
            <p:sp>
              <p:nvSpPr>
                <p:cNvPr id="94" name="Freeform 49"/>
                <p:cNvSpPr/>
                <p:nvPr/>
              </p:nvSpPr>
              <p:spPr bwMode="auto">
                <a:xfrm rot="5400000">
                  <a:off x="2741" y="1375"/>
                  <a:ext cx="458" cy="1136"/>
                </a:xfrm>
                <a:custGeom>
                  <a:avLst/>
                  <a:gdLst>
                    <a:gd name="T0" fmla="*/ 8299 w 174"/>
                    <a:gd name="T1" fmla="*/ 0 h 348"/>
                    <a:gd name="T2" fmla="*/ 0 w 174"/>
                    <a:gd name="T3" fmla="*/ 19648 h 348"/>
                    <a:gd name="T4" fmla="*/ 8355 w 174"/>
                    <a:gd name="T5" fmla="*/ 39512 h 348"/>
                    <a:gd name="T6" fmla="*/ 8355 w 174"/>
                    <a:gd name="T7" fmla="*/ 19756 h 348"/>
                    <a:gd name="T8" fmla="*/ 8299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92" name="Freeform 50"/>
              <p:cNvSpPr/>
              <p:nvPr/>
            </p:nvSpPr>
            <p:spPr bwMode="auto">
              <a:xfrm rot="3600000">
                <a:off x="3064" y="2263"/>
                <a:ext cx="194" cy="758"/>
              </a:xfrm>
              <a:custGeom>
                <a:avLst/>
                <a:gdLst>
                  <a:gd name="T0" fmla="*/ 268 w 174"/>
                  <a:gd name="T1" fmla="*/ 0 h 348"/>
                  <a:gd name="T2" fmla="*/ 0 w 174"/>
                  <a:gd name="T3" fmla="*/ 3895 h 348"/>
                  <a:gd name="T4" fmla="*/ 269 w 174"/>
                  <a:gd name="T5" fmla="*/ 7833 h 348"/>
                  <a:gd name="T6" fmla="*/ 269 w 174"/>
                  <a:gd name="T7" fmla="*/ 3919 h 348"/>
                  <a:gd name="T8" fmla="*/ 268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88" name="Line 51"/>
            <p:cNvSpPr>
              <a:spLocks noChangeShapeType="1"/>
            </p:cNvSpPr>
            <p:nvPr/>
          </p:nvSpPr>
          <p:spPr bwMode="auto">
            <a:xfrm flipH="1">
              <a:off x="6889936" y="3553644"/>
              <a:ext cx="748498" cy="1560"/>
            </a:xfrm>
            <a:prstGeom prst="line">
              <a:avLst/>
            </a:prstGeom>
            <a:noFill/>
            <a:ln w="9525">
              <a:solidFill>
                <a:srgbClr val="808080"/>
              </a:solidFill>
              <a:round/>
              <a:headEnd type="oval" w="med" len="med"/>
            </a:ln>
          </p:spPr>
          <p:txBody>
            <a:bodyPr/>
            <a:lstStyle/>
            <a:p>
              <a:endParaRPr lang="zh-CN" altLang="en-US">
                <a:solidFill>
                  <a:prstClr val="black"/>
                </a:solidFill>
              </a:endParaRPr>
            </a:p>
          </p:txBody>
        </p:sp>
        <p:sp>
          <p:nvSpPr>
            <p:cNvPr id="89" name="WordArt 52"/>
            <p:cNvSpPr>
              <a:spLocks noChangeArrowheads="1" noChangeShapeType="1" noTextEdit="1"/>
            </p:cNvSpPr>
            <p:nvPr/>
          </p:nvSpPr>
          <p:spPr bwMode="auto">
            <a:xfrm>
              <a:off x="8007424" y="3363590"/>
              <a:ext cx="381000" cy="425450"/>
            </a:xfrm>
            <a:prstGeom prst="rect">
              <a:avLst/>
            </a:prstGeom>
          </p:spPr>
          <p:txBody>
            <a:bodyPr wrap="none" fromWordArt="1">
              <a:prstTxWarp prst="textPlain">
                <a:avLst>
                  <a:gd name="adj" fmla="val 50000"/>
                </a:avLst>
              </a:prstTxWarp>
            </a:bodyPr>
            <a:lstStyle/>
            <a:p>
              <a:pPr algn="ctr"/>
              <a:r>
                <a:rPr lang="en-US" altLang="zh-CN"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rPr>
                <a:t>6</a:t>
              </a:r>
              <a:endParaRPr lang="zh-CN" altLang="en-US"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endParaRPr>
            </a:p>
          </p:txBody>
        </p:sp>
        <p:sp>
          <p:nvSpPr>
            <p:cNvPr id="90" name="Line 2"/>
            <p:cNvSpPr>
              <a:spLocks noChangeShapeType="1"/>
            </p:cNvSpPr>
            <p:nvPr/>
          </p:nvSpPr>
          <p:spPr bwMode="auto">
            <a:xfrm rot="5400000" flipH="1" flipV="1">
              <a:off x="7271424" y="4976296"/>
              <a:ext cx="2089981" cy="1"/>
            </a:xfrm>
            <a:prstGeom prst="line">
              <a:avLst/>
            </a:prstGeom>
            <a:noFill/>
            <a:ln w="19050">
              <a:solidFill>
                <a:srgbClr val="808080"/>
              </a:solidFill>
              <a:round/>
            </a:ln>
          </p:spPr>
          <p:txBody>
            <a:bodyPr/>
            <a:lstStyle/>
            <a:p>
              <a:endParaRPr lang="zh-CN" altLang="en-US">
                <a:solidFill>
                  <a:prstClr val="black"/>
                </a:solidFill>
              </a:endParaRPr>
            </a:p>
          </p:txBody>
        </p:sp>
      </p:grpSp>
      <p:grpSp>
        <p:nvGrpSpPr>
          <p:cNvPr id="23" name="组合 22"/>
          <p:cNvGrpSpPr/>
          <p:nvPr/>
        </p:nvGrpSpPr>
        <p:grpSpPr>
          <a:xfrm>
            <a:off x="7342201" y="1714488"/>
            <a:ext cx="4161155" cy="2730058"/>
            <a:chOff x="5284317" y="1202998"/>
            <a:chExt cx="4161155" cy="2730058"/>
          </a:xfrm>
        </p:grpSpPr>
        <p:grpSp>
          <p:nvGrpSpPr>
            <p:cNvPr id="24" name="Group 4"/>
            <p:cNvGrpSpPr/>
            <p:nvPr/>
          </p:nvGrpSpPr>
          <p:grpSpPr bwMode="auto">
            <a:xfrm>
              <a:off x="6300192" y="3174231"/>
              <a:ext cx="777875" cy="758825"/>
              <a:chOff x="2341" y="1703"/>
              <a:chExt cx="1242" cy="1216"/>
            </a:xfrm>
            <a:solidFill>
              <a:srgbClr val="7030A0"/>
            </a:solidFill>
          </p:grpSpPr>
          <p:grpSp>
            <p:nvGrpSpPr>
              <p:cNvPr id="25" name="Group 5"/>
              <p:cNvGrpSpPr/>
              <p:nvPr/>
            </p:nvGrpSpPr>
            <p:grpSpPr bwMode="auto">
              <a:xfrm>
                <a:off x="2341" y="1703"/>
                <a:ext cx="1242" cy="1216"/>
                <a:chOff x="2341" y="1703"/>
                <a:chExt cx="1242" cy="1216"/>
              </a:xfrm>
              <a:grpFill/>
            </p:grpSpPr>
            <p:sp>
              <p:nvSpPr>
                <p:cNvPr id="26" name="Oval 6"/>
                <p:cNvSpPr>
                  <a:spLocks noChangeArrowheads="1"/>
                </p:cNvSpPr>
                <p:nvPr/>
              </p:nvSpPr>
              <p:spPr bwMode="gray">
                <a:xfrm>
                  <a:off x="2341" y="1703"/>
                  <a:ext cx="1242" cy="1216"/>
                </a:xfrm>
                <a:prstGeom prst="ellipse">
                  <a:avLst/>
                </a:prstGeom>
                <a:grpFill/>
                <a:ln w="28575" algn="ctr">
                  <a:solidFill>
                    <a:srgbClr val="C0C0C0"/>
                  </a:solidFill>
                  <a:round/>
                </a:ln>
              </p:spPr>
              <p:txBody>
                <a:bodyPr vert="eaVert" wrap="none" anchor="ctr"/>
                <a:lstStyle/>
                <a:p>
                  <a:endParaRPr lang="zh-CN" altLang="en-US">
                    <a:solidFill>
                      <a:prstClr val="black"/>
                    </a:solidFill>
                  </a:endParaRPr>
                </a:p>
              </p:txBody>
            </p:sp>
            <p:sp>
              <p:nvSpPr>
                <p:cNvPr id="27" name="Freeform 7"/>
                <p:cNvSpPr/>
                <p:nvPr/>
              </p:nvSpPr>
              <p:spPr bwMode="auto">
                <a:xfrm rot="5400000">
                  <a:off x="2741" y="1375"/>
                  <a:ext cx="458" cy="1136"/>
                </a:xfrm>
                <a:custGeom>
                  <a:avLst/>
                  <a:gdLst>
                    <a:gd name="T0" fmla="*/ 8299 w 174"/>
                    <a:gd name="T1" fmla="*/ 0 h 348"/>
                    <a:gd name="T2" fmla="*/ 0 w 174"/>
                    <a:gd name="T3" fmla="*/ 19648 h 348"/>
                    <a:gd name="T4" fmla="*/ 8355 w 174"/>
                    <a:gd name="T5" fmla="*/ 39512 h 348"/>
                    <a:gd name="T6" fmla="*/ 8355 w 174"/>
                    <a:gd name="T7" fmla="*/ 19756 h 348"/>
                    <a:gd name="T8" fmla="*/ 8299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28" name="Freeform 8"/>
              <p:cNvSpPr/>
              <p:nvPr/>
            </p:nvSpPr>
            <p:spPr bwMode="auto">
              <a:xfrm rot="3600000">
                <a:off x="3064" y="2263"/>
                <a:ext cx="194" cy="758"/>
              </a:xfrm>
              <a:custGeom>
                <a:avLst/>
                <a:gdLst>
                  <a:gd name="T0" fmla="*/ 268 w 174"/>
                  <a:gd name="T1" fmla="*/ 0 h 348"/>
                  <a:gd name="T2" fmla="*/ 0 w 174"/>
                  <a:gd name="T3" fmla="*/ 3895 h 348"/>
                  <a:gd name="T4" fmla="*/ 269 w 174"/>
                  <a:gd name="T5" fmla="*/ 7833 h 348"/>
                  <a:gd name="T6" fmla="*/ 269 w 174"/>
                  <a:gd name="T7" fmla="*/ 3919 h 348"/>
                  <a:gd name="T8" fmla="*/ 268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29" name="Line 32"/>
            <p:cNvSpPr>
              <a:spLocks noChangeShapeType="1"/>
            </p:cNvSpPr>
            <p:nvPr/>
          </p:nvSpPr>
          <p:spPr bwMode="auto">
            <a:xfrm flipH="1">
              <a:off x="5284317" y="3573016"/>
              <a:ext cx="682625" cy="0"/>
            </a:xfrm>
            <a:prstGeom prst="line">
              <a:avLst/>
            </a:prstGeom>
            <a:noFill/>
            <a:ln w="9525">
              <a:solidFill>
                <a:srgbClr val="808080"/>
              </a:solidFill>
              <a:round/>
              <a:headEnd type="oval" w="med" len="med"/>
            </a:ln>
          </p:spPr>
          <p:txBody>
            <a:bodyPr/>
            <a:lstStyle/>
            <a:p>
              <a:endParaRPr lang="zh-CN" altLang="en-US">
                <a:solidFill>
                  <a:prstClr val="black"/>
                </a:solidFill>
              </a:endParaRPr>
            </a:p>
          </p:txBody>
        </p:sp>
        <p:sp>
          <p:nvSpPr>
            <p:cNvPr id="30" name="WordArt 35"/>
            <p:cNvSpPr>
              <a:spLocks noChangeArrowheads="1" noChangeShapeType="1" noTextEdit="1"/>
            </p:cNvSpPr>
            <p:nvPr/>
          </p:nvSpPr>
          <p:spPr bwMode="auto">
            <a:xfrm>
              <a:off x="6495256" y="3356992"/>
              <a:ext cx="381000" cy="425450"/>
            </a:xfrm>
            <a:prstGeom prst="rect">
              <a:avLst/>
            </a:prstGeom>
          </p:spPr>
          <p:txBody>
            <a:bodyPr wrap="none" fromWordArt="1">
              <a:prstTxWarp prst="textPlain">
                <a:avLst>
                  <a:gd name="adj" fmla="val 50000"/>
                </a:avLst>
              </a:prstTxWarp>
            </a:bodyPr>
            <a:lstStyle/>
            <a:p>
              <a:pPr algn="ctr"/>
              <a:r>
                <a:rPr lang="en-US" altLang="zh-CN"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rPr>
                <a:t>5</a:t>
              </a:r>
              <a:endParaRPr lang="zh-CN" altLang="en-US"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endParaRPr>
            </a:p>
          </p:txBody>
        </p:sp>
        <p:sp>
          <p:nvSpPr>
            <p:cNvPr id="31" name="Rectangle 54"/>
            <p:cNvSpPr>
              <a:spLocks noChangeArrowheads="1"/>
            </p:cNvSpPr>
            <p:nvPr/>
          </p:nvSpPr>
          <p:spPr bwMode="auto">
            <a:xfrm>
              <a:off x="6735927" y="1202998"/>
              <a:ext cx="2709545" cy="1280160"/>
            </a:xfrm>
            <a:prstGeom prst="rect">
              <a:avLst/>
            </a:prstGeom>
            <a:noFill/>
            <a:ln w="9525" algn="ctr">
              <a:noFill/>
              <a:miter lim="800000"/>
            </a:ln>
          </p:spPr>
          <p:txBody>
            <a:bodyPr wrap="square">
              <a:spAutoFit/>
            </a:bodyPr>
            <a:lstStyle/>
            <a:p>
              <a:pPr>
                <a:lnSpc>
                  <a:spcPct val="130000"/>
                </a:lnSpc>
                <a:spcBef>
                  <a:spcPts val="1200"/>
                </a:spcBef>
                <a:spcAft>
                  <a:spcPts val="1200"/>
                </a:spcAft>
              </a:pPr>
              <a:r>
                <a:rPr lang="zh-CN" altLang="en-US" sz="2000" dirty="0">
                  <a:solidFill>
                    <a:schemeClr val="tx1">
                      <a:lumMod val="85000"/>
                      <a:lumOff val="15000"/>
                    </a:schemeClr>
                  </a:solidFill>
                  <a:latin typeface="微软雅黑" panose="020B0503020204020204" charset="-122"/>
                  <a:ea typeface="微软雅黑" panose="020B0503020204020204" charset="-122"/>
                  <a:sym typeface="+mn-ea"/>
                </a:rPr>
                <a:t>5．vi编辑器中复制一行文字并粘贴到另一位置用什么命令？</a:t>
              </a:r>
            </a:p>
          </p:txBody>
        </p:sp>
        <p:sp>
          <p:nvSpPr>
            <p:cNvPr id="32" name="Line 39"/>
            <p:cNvSpPr>
              <a:spLocks noChangeShapeType="1"/>
            </p:cNvSpPr>
            <p:nvPr/>
          </p:nvSpPr>
          <p:spPr bwMode="auto">
            <a:xfrm rot="5400000" flipH="1">
              <a:off x="5738724" y="2197414"/>
              <a:ext cx="1963864" cy="0"/>
            </a:xfrm>
            <a:prstGeom prst="line">
              <a:avLst/>
            </a:prstGeom>
            <a:noFill/>
            <a:ln w="19050">
              <a:solidFill>
                <a:srgbClr val="808080"/>
              </a:solidFill>
              <a:round/>
            </a:ln>
          </p:spPr>
          <p:txBody>
            <a:bodyPr/>
            <a:lstStyle/>
            <a:p>
              <a:endParaRPr lang="zh-CN" altLang="en-US">
                <a:solidFill>
                  <a:prstClr val="black"/>
                </a:solidFill>
              </a:endParaRPr>
            </a:p>
          </p:txBody>
        </p:sp>
      </p:grpSp>
      <p:grpSp>
        <p:nvGrpSpPr>
          <p:cNvPr id="33" name="组合 32"/>
          <p:cNvGrpSpPr/>
          <p:nvPr/>
        </p:nvGrpSpPr>
        <p:grpSpPr>
          <a:xfrm>
            <a:off x="1065481" y="1733056"/>
            <a:ext cx="3133448" cy="2711490"/>
            <a:chOff x="974829" y="1221566"/>
            <a:chExt cx="3133448" cy="2711490"/>
          </a:xfrm>
        </p:grpSpPr>
        <p:grpSp>
          <p:nvGrpSpPr>
            <p:cNvPr id="34" name="组合 78"/>
            <p:cNvGrpSpPr/>
            <p:nvPr/>
          </p:nvGrpSpPr>
          <p:grpSpPr>
            <a:xfrm>
              <a:off x="974829" y="1221566"/>
              <a:ext cx="3133448" cy="2711490"/>
              <a:chOff x="974829" y="1221566"/>
              <a:chExt cx="3133448" cy="2711490"/>
            </a:xfrm>
          </p:grpSpPr>
          <p:grpSp>
            <p:nvGrpSpPr>
              <p:cNvPr id="35" name="Group 19"/>
              <p:cNvGrpSpPr/>
              <p:nvPr/>
            </p:nvGrpSpPr>
            <p:grpSpPr bwMode="auto">
              <a:xfrm>
                <a:off x="974829" y="3174231"/>
                <a:ext cx="777875" cy="758825"/>
                <a:chOff x="2341" y="1703"/>
                <a:chExt cx="1242" cy="1216"/>
              </a:xfrm>
              <a:solidFill>
                <a:srgbClr val="99CC00"/>
              </a:solidFill>
            </p:grpSpPr>
            <p:grpSp>
              <p:nvGrpSpPr>
                <p:cNvPr id="36" name="Group 20"/>
                <p:cNvGrpSpPr/>
                <p:nvPr/>
              </p:nvGrpSpPr>
              <p:grpSpPr bwMode="auto">
                <a:xfrm>
                  <a:off x="2341" y="1703"/>
                  <a:ext cx="1242" cy="1216"/>
                  <a:chOff x="2341" y="1703"/>
                  <a:chExt cx="1242" cy="1216"/>
                </a:xfrm>
                <a:grpFill/>
              </p:grpSpPr>
              <p:sp>
                <p:nvSpPr>
                  <p:cNvPr id="37" name="Oval 21"/>
                  <p:cNvSpPr>
                    <a:spLocks noChangeArrowheads="1"/>
                  </p:cNvSpPr>
                  <p:nvPr/>
                </p:nvSpPr>
                <p:spPr bwMode="gray">
                  <a:xfrm>
                    <a:off x="2341" y="1703"/>
                    <a:ext cx="1242" cy="1216"/>
                  </a:xfrm>
                  <a:prstGeom prst="ellipse">
                    <a:avLst/>
                  </a:prstGeom>
                  <a:grpFill/>
                  <a:ln w="28575" algn="ctr">
                    <a:solidFill>
                      <a:srgbClr val="C0C0C0"/>
                    </a:solidFill>
                    <a:round/>
                  </a:ln>
                </p:spPr>
                <p:txBody>
                  <a:bodyPr vert="eaVert" wrap="none" anchor="ctr"/>
                  <a:lstStyle/>
                  <a:p>
                    <a:endParaRPr lang="zh-CN" altLang="en-US">
                      <a:solidFill>
                        <a:prstClr val="black"/>
                      </a:solidFill>
                    </a:endParaRPr>
                  </a:p>
                </p:txBody>
              </p:sp>
              <p:sp>
                <p:nvSpPr>
                  <p:cNvPr id="38" name="Freeform 22"/>
                  <p:cNvSpPr/>
                  <p:nvPr/>
                </p:nvSpPr>
                <p:spPr bwMode="auto">
                  <a:xfrm rot="5400000">
                    <a:off x="2741" y="1375"/>
                    <a:ext cx="458" cy="1136"/>
                  </a:xfrm>
                  <a:custGeom>
                    <a:avLst/>
                    <a:gdLst>
                      <a:gd name="T0" fmla="*/ 8299 w 174"/>
                      <a:gd name="T1" fmla="*/ 0 h 348"/>
                      <a:gd name="T2" fmla="*/ 0 w 174"/>
                      <a:gd name="T3" fmla="*/ 19648 h 348"/>
                      <a:gd name="T4" fmla="*/ 8355 w 174"/>
                      <a:gd name="T5" fmla="*/ 39512 h 348"/>
                      <a:gd name="T6" fmla="*/ 8355 w 174"/>
                      <a:gd name="T7" fmla="*/ 19756 h 348"/>
                      <a:gd name="T8" fmla="*/ 8299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39" name="Freeform 23"/>
                <p:cNvSpPr/>
                <p:nvPr/>
              </p:nvSpPr>
              <p:spPr bwMode="auto">
                <a:xfrm rot="3600000">
                  <a:off x="3064" y="2263"/>
                  <a:ext cx="194" cy="758"/>
                </a:xfrm>
                <a:custGeom>
                  <a:avLst/>
                  <a:gdLst>
                    <a:gd name="T0" fmla="*/ 268 w 174"/>
                    <a:gd name="T1" fmla="*/ 0 h 348"/>
                    <a:gd name="T2" fmla="*/ 0 w 174"/>
                    <a:gd name="T3" fmla="*/ 3895 h 348"/>
                    <a:gd name="T4" fmla="*/ 269 w 174"/>
                    <a:gd name="T5" fmla="*/ 7833 h 348"/>
                    <a:gd name="T6" fmla="*/ 269 w 174"/>
                    <a:gd name="T7" fmla="*/ 3919 h 348"/>
                    <a:gd name="T8" fmla="*/ 268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40" name="Rectangle 38"/>
              <p:cNvSpPr>
                <a:spLocks noChangeArrowheads="1"/>
              </p:cNvSpPr>
              <p:nvPr/>
            </p:nvSpPr>
            <p:spPr bwMode="auto">
              <a:xfrm>
                <a:off x="1391866" y="1221566"/>
                <a:ext cx="2716411" cy="1253677"/>
              </a:xfrm>
              <a:prstGeom prst="rect">
                <a:avLst/>
              </a:prstGeom>
              <a:noFill/>
              <a:ln w="9525" algn="ctr">
                <a:noFill/>
                <a:miter lim="800000"/>
              </a:ln>
            </p:spPr>
            <p:txBody>
              <a:bodyPr wrap="square">
                <a:spAutoFit/>
              </a:bodyPr>
              <a:lstStyle/>
              <a:p>
                <a:pPr>
                  <a:lnSpc>
                    <a:spcPct val="130000"/>
                  </a:lnSpc>
                </a:pPr>
                <a:r>
                  <a:rPr lang="en-US" altLang="zh-CN" sz="2000" dirty="0">
                    <a:solidFill>
                      <a:schemeClr val="tx1">
                        <a:lumMod val="85000"/>
                        <a:lumOff val="15000"/>
                      </a:schemeClr>
                    </a:solidFill>
                    <a:latin typeface="微软雅黑" panose="020B0503020204020204" charset="-122"/>
                    <a:ea typeface="微软雅黑" panose="020B0503020204020204" charset="-122"/>
                    <a:sym typeface="+mn-ea"/>
                  </a:rPr>
                  <a:t>1.</a:t>
                </a:r>
                <a:r>
                  <a:rPr lang="zh-CN" altLang="en-US" sz="2000" dirty="0">
                    <a:solidFill>
                      <a:schemeClr val="tx1">
                        <a:lumMod val="85000"/>
                        <a:lumOff val="15000"/>
                      </a:schemeClr>
                    </a:solidFill>
                    <a:latin typeface="微软雅黑" panose="020B0503020204020204" charset="-122"/>
                    <a:ea typeface="微软雅黑" panose="020B0503020204020204" charset="-122"/>
                    <a:sym typeface="+mn-ea"/>
                  </a:rPr>
                  <a:t>进入和退出vi编辑器的方法有哪些？</a:t>
                </a:r>
              </a:p>
              <a:p>
                <a:pPr>
                  <a:lnSpc>
                    <a:spcPct val="130000"/>
                  </a:lnSpc>
                </a:pPr>
                <a:endParaRPr lang="zh-CN" altLang="en-US" sz="2000"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41" name="Line 39"/>
              <p:cNvSpPr>
                <a:spLocks noChangeShapeType="1"/>
              </p:cNvSpPr>
              <p:nvPr/>
            </p:nvSpPr>
            <p:spPr bwMode="auto">
              <a:xfrm rot="5400000" flipH="1">
                <a:off x="339869" y="2225554"/>
                <a:ext cx="1959976" cy="0"/>
              </a:xfrm>
              <a:prstGeom prst="line">
                <a:avLst/>
              </a:prstGeom>
              <a:noFill/>
              <a:ln w="19050">
                <a:solidFill>
                  <a:srgbClr val="808080"/>
                </a:solidFill>
                <a:round/>
              </a:ln>
            </p:spPr>
            <p:txBody>
              <a:bodyPr/>
              <a:lstStyle/>
              <a:p>
                <a:endParaRPr lang="zh-CN" altLang="en-US">
                  <a:solidFill>
                    <a:prstClr val="black"/>
                  </a:solidFill>
                </a:endParaRPr>
              </a:p>
            </p:txBody>
          </p:sp>
        </p:grpSp>
        <p:sp>
          <p:nvSpPr>
            <p:cNvPr id="42" name="WordArt 36"/>
            <p:cNvSpPr>
              <a:spLocks noChangeArrowheads="1" noChangeShapeType="1" noTextEdit="1"/>
            </p:cNvSpPr>
            <p:nvPr/>
          </p:nvSpPr>
          <p:spPr bwMode="auto">
            <a:xfrm>
              <a:off x="1192217" y="3291582"/>
              <a:ext cx="244475" cy="425450"/>
            </a:xfrm>
            <a:prstGeom prst="rect">
              <a:avLst/>
            </a:prstGeom>
          </p:spPr>
          <p:txBody>
            <a:bodyPr wrap="none" fromWordArt="1">
              <a:prstTxWarp prst="textPlain">
                <a:avLst>
                  <a:gd name="adj" fmla="val 50000"/>
                </a:avLst>
              </a:prstTxWarp>
            </a:bodyPr>
            <a:lstStyle/>
            <a:p>
              <a:pPr algn="ctr"/>
              <a:r>
                <a:rPr lang="en-US" altLang="zh-CN"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rPr>
                <a:t>1</a:t>
              </a:r>
              <a:endParaRPr lang="zh-CN" altLang="en-US"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50"/>
                                        <p:tgtEl>
                                          <p:spTgt spid="5"/>
                                        </p:tgtEl>
                                      </p:cBhvr>
                                    </p:animEffect>
                                  </p:childTnLst>
                                </p:cTn>
                              </p:par>
                              <p:par>
                                <p:cTn id="11" presetID="22" presetClass="entr" presetSubtype="8" fill="hold" grpId="0" nodeType="withEffect">
                                  <p:stCondLst>
                                    <p:cond delay="25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 presetClass="entr" presetSubtype="2" fill="hold" nodeType="withEffect">
                                  <p:stCondLst>
                                    <p:cond delay="0"/>
                                  </p:stCondLst>
                                  <p:childTnLst>
                                    <p:set>
                                      <p:cBhvr>
                                        <p:cTn id="15" dur="1" fill="hold">
                                          <p:stCondLst>
                                            <p:cond delay="0"/>
                                          </p:stCondLst>
                                        </p:cTn>
                                        <p:tgtEl>
                                          <p:spTgt spid="33"/>
                                        </p:tgtEl>
                                        <p:attrNameLst>
                                          <p:attrName>style.visibility</p:attrName>
                                        </p:attrNameLst>
                                      </p:cBhvr>
                                      <p:to>
                                        <p:strVal val="visible"/>
                                      </p:to>
                                    </p:set>
                                    <p:anim calcmode="lin" valueType="num">
                                      <p:cBhvr additive="base">
                                        <p:cTn id="16" dur="500" fill="hold"/>
                                        <p:tgtEl>
                                          <p:spTgt spid="33"/>
                                        </p:tgtEl>
                                        <p:attrNameLst>
                                          <p:attrName>ppt_x</p:attrName>
                                        </p:attrNameLst>
                                      </p:cBhvr>
                                      <p:tavLst>
                                        <p:tav tm="0">
                                          <p:val>
                                            <p:strVal val="1+#ppt_w/2"/>
                                          </p:val>
                                        </p:tav>
                                        <p:tav tm="100000">
                                          <p:val>
                                            <p:strVal val="#ppt_x"/>
                                          </p:val>
                                        </p:tav>
                                      </p:tavLst>
                                    </p:anim>
                                    <p:anim calcmode="lin" valueType="num">
                                      <p:cBhvr additive="base">
                                        <p:cTn id="17" dur="500" fill="hold"/>
                                        <p:tgtEl>
                                          <p:spTgt spid="33"/>
                                        </p:tgtEl>
                                        <p:attrNameLst>
                                          <p:attrName>ppt_y</p:attrName>
                                        </p:attrNameLst>
                                      </p:cBhvr>
                                      <p:tavLst>
                                        <p:tav tm="0">
                                          <p:val>
                                            <p:strVal val="#ppt_y"/>
                                          </p:val>
                                        </p:tav>
                                        <p:tav tm="100000">
                                          <p:val>
                                            <p:strVal val="#ppt_y"/>
                                          </p:val>
                                        </p:tav>
                                      </p:tavLst>
                                    </p:anim>
                                  </p:childTnLst>
                                </p:cTn>
                              </p:par>
                              <p:par>
                                <p:cTn id="18" presetID="2" presetClass="entr" presetSubtype="2" fill="hold" nodeType="withEffect">
                                  <p:stCondLst>
                                    <p:cond delay="150"/>
                                  </p:stCondLst>
                                  <p:childTnLst>
                                    <p:set>
                                      <p:cBhvr>
                                        <p:cTn id="19" dur="1" fill="hold">
                                          <p:stCondLst>
                                            <p:cond delay="0"/>
                                          </p:stCondLst>
                                        </p:cTn>
                                        <p:tgtEl>
                                          <p:spTgt spid="54"/>
                                        </p:tgtEl>
                                        <p:attrNameLst>
                                          <p:attrName>style.visibility</p:attrName>
                                        </p:attrNameLst>
                                      </p:cBhvr>
                                      <p:to>
                                        <p:strVal val="visible"/>
                                      </p:to>
                                    </p:set>
                                    <p:anim calcmode="lin" valueType="num">
                                      <p:cBhvr additive="base">
                                        <p:cTn id="20" dur="500" fill="hold"/>
                                        <p:tgtEl>
                                          <p:spTgt spid="54"/>
                                        </p:tgtEl>
                                        <p:attrNameLst>
                                          <p:attrName>ppt_x</p:attrName>
                                        </p:attrNameLst>
                                      </p:cBhvr>
                                      <p:tavLst>
                                        <p:tav tm="0">
                                          <p:val>
                                            <p:strVal val="1+#ppt_w/2"/>
                                          </p:val>
                                        </p:tav>
                                        <p:tav tm="100000">
                                          <p:val>
                                            <p:strVal val="#ppt_x"/>
                                          </p:val>
                                        </p:tav>
                                      </p:tavLst>
                                    </p:anim>
                                    <p:anim calcmode="lin" valueType="num">
                                      <p:cBhvr additive="base">
                                        <p:cTn id="21" dur="500" fill="hold"/>
                                        <p:tgtEl>
                                          <p:spTgt spid="54"/>
                                        </p:tgtEl>
                                        <p:attrNameLst>
                                          <p:attrName>ppt_y</p:attrName>
                                        </p:attrNameLst>
                                      </p:cBhvr>
                                      <p:tavLst>
                                        <p:tav tm="0">
                                          <p:val>
                                            <p:strVal val="#ppt_y"/>
                                          </p:val>
                                        </p:tav>
                                        <p:tav tm="100000">
                                          <p:val>
                                            <p:strVal val="#ppt_y"/>
                                          </p:val>
                                        </p:tav>
                                      </p:tavLst>
                                    </p:anim>
                                  </p:childTnLst>
                                </p:cTn>
                              </p:par>
                              <p:par>
                                <p:cTn id="22" presetID="2" presetClass="entr" presetSubtype="2" fill="hold" nodeType="withEffect">
                                  <p:stCondLst>
                                    <p:cond delay="30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1+#ppt_w/2"/>
                                          </p:val>
                                        </p:tav>
                                        <p:tav tm="100000">
                                          <p:val>
                                            <p:strVal val="#ppt_x"/>
                                          </p:val>
                                        </p:tav>
                                      </p:tavLst>
                                    </p:anim>
                                    <p:anim calcmode="lin" valueType="num">
                                      <p:cBhvr additive="base">
                                        <p:cTn id="25" dur="500" fill="hold"/>
                                        <p:tgtEl>
                                          <p:spTgt spid="8"/>
                                        </p:tgtEl>
                                        <p:attrNameLst>
                                          <p:attrName>ppt_y</p:attrName>
                                        </p:attrNameLst>
                                      </p:cBhvr>
                                      <p:tavLst>
                                        <p:tav tm="0">
                                          <p:val>
                                            <p:strVal val="#ppt_y"/>
                                          </p:val>
                                        </p:tav>
                                        <p:tav tm="100000">
                                          <p:val>
                                            <p:strVal val="#ppt_y"/>
                                          </p:val>
                                        </p:tav>
                                      </p:tavLst>
                                    </p:anim>
                                  </p:childTnLst>
                                </p:cTn>
                              </p:par>
                              <p:par>
                                <p:cTn id="26" presetID="2" presetClass="entr" presetSubtype="2" fill="hold" nodeType="withEffect">
                                  <p:stCondLst>
                                    <p:cond delay="450"/>
                                  </p:stCondLst>
                                  <p:childTnLst>
                                    <p:set>
                                      <p:cBhvr>
                                        <p:cTn id="27" dur="1" fill="hold">
                                          <p:stCondLst>
                                            <p:cond delay="0"/>
                                          </p:stCondLst>
                                        </p:cTn>
                                        <p:tgtEl>
                                          <p:spTgt spid="75"/>
                                        </p:tgtEl>
                                        <p:attrNameLst>
                                          <p:attrName>style.visibility</p:attrName>
                                        </p:attrNameLst>
                                      </p:cBhvr>
                                      <p:to>
                                        <p:strVal val="visible"/>
                                      </p:to>
                                    </p:set>
                                    <p:anim calcmode="lin" valueType="num">
                                      <p:cBhvr additive="base">
                                        <p:cTn id="28" dur="500" fill="hold"/>
                                        <p:tgtEl>
                                          <p:spTgt spid="75"/>
                                        </p:tgtEl>
                                        <p:attrNameLst>
                                          <p:attrName>ppt_x</p:attrName>
                                        </p:attrNameLst>
                                      </p:cBhvr>
                                      <p:tavLst>
                                        <p:tav tm="0">
                                          <p:val>
                                            <p:strVal val="1+#ppt_w/2"/>
                                          </p:val>
                                        </p:tav>
                                        <p:tav tm="100000">
                                          <p:val>
                                            <p:strVal val="#ppt_x"/>
                                          </p:val>
                                        </p:tav>
                                      </p:tavLst>
                                    </p:anim>
                                    <p:anim calcmode="lin" valueType="num">
                                      <p:cBhvr additive="base">
                                        <p:cTn id="29" dur="500" fill="hold"/>
                                        <p:tgtEl>
                                          <p:spTgt spid="75"/>
                                        </p:tgtEl>
                                        <p:attrNameLst>
                                          <p:attrName>ppt_y</p:attrName>
                                        </p:attrNameLst>
                                      </p:cBhvr>
                                      <p:tavLst>
                                        <p:tav tm="0">
                                          <p:val>
                                            <p:strVal val="#ppt_y"/>
                                          </p:val>
                                        </p:tav>
                                        <p:tav tm="100000">
                                          <p:val>
                                            <p:strVal val="#ppt_y"/>
                                          </p:val>
                                        </p:tav>
                                      </p:tavLst>
                                    </p:anim>
                                  </p:childTnLst>
                                </p:cTn>
                              </p:par>
                              <p:par>
                                <p:cTn id="30" presetID="2" presetClass="entr" presetSubtype="2" fill="hold" nodeType="withEffect">
                                  <p:stCondLst>
                                    <p:cond delay="600"/>
                                  </p:st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fill="hold"/>
                                        <p:tgtEl>
                                          <p:spTgt spid="23"/>
                                        </p:tgtEl>
                                        <p:attrNameLst>
                                          <p:attrName>ppt_x</p:attrName>
                                        </p:attrNameLst>
                                      </p:cBhvr>
                                      <p:tavLst>
                                        <p:tav tm="0">
                                          <p:val>
                                            <p:strVal val="1+#ppt_w/2"/>
                                          </p:val>
                                        </p:tav>
                                        <p:tav tm="100000">
                                          <p:val>
                                            <p:strVal val="#ppt_x"/>
                                          </p:val>
                                        </p:tav>
                                      </p:tavLst>
                                    </p:anim>
                                    <p:anim calcmode="lin" valueType="num">
                                      <p:cBhvr additive="base">
                                        <p:cTn id="33" dur="500" fill="hold"/>
                                        <p:tgtEl>
                                          <p:spTgt spid="23"/>
                                        </p:tgtEl>
                                        <p:attrNameLst>
                                          <p:attrName>ppt_y</p:attrName>
                                        </p:attrNameLst>
                                      </p:cBhvr>
                                      <p:tavLst>
                                        <p:tav tm="0">
                                          <p:val>
                                            <p:strVal val="#ppt_y"/>
                                          </p:val>
                                        </p:tav>
                                        <p:tav tm="100000">
                                          <p:val>
                                            <p:strVal val="#ppt_y"/>
                                          </p:val>
                                        </p:tav>
                                      </p:tavLst>
                                    </p:anim>
                                  </p:childTnLst>
                                </p:cTn>
                              </p:par>
                              <p:par>
                                <p:cTn id="34" presetID="2" presetClass="entr" presetSubtype="2" fill="hold" nodeType="withEffect">
                                  <p:stCondLst>
                                    <p:cond delay="750"/>
                                  </p:stCondLst>
                                  <p:childTnLst>
                                    <p:set>
                                      <p:cBhvr>
                                        <p:cTn id="35" dur="1" fill="hold">
                                          <p:stCondLst>
                                            <p:cond delay="0"/>
                                          </p:stCondLst>
                                        </p:cTn>
                                        <p:tgtEl>
                                          <p:spTgt spid="85"/>
                                        </p:tgtEl>
                                        <p:attrNameLst>
                                          <p:attrName>style.visibility</p:attrName>
                                        </p:attrNameLst>
                                      </p:cBhvr>
                                      <p:to>
                                        <p:strVal val="visible"/>
                                      </p:to>
                                    </p:set>
                                    <p:anim calcmode="lin" valueType="num">
                                      <p:cBhvr additive="base">
                                        <p:cTn id="36" dur="500" fill="hold"/>
                                        <p:tgtEl>
                                          <p:spTgt spid="85"/>
                                        </p:tgtEl>
                                        <p:attrNameLst>
                                          <p:attrName>ppt_x</p:attrName>
                                        </p:attrNameLst>
                                      </p:cBhvr>
                                      <p:tavLst>
                                        <p:tav tm="0">
                                          <p:val>
                                            <p:strVal val="1+#ppt_w/2"/>
                                          </p:val>
                                        </p:tav>
                                        <p:tav tm="100000">
                                          <p:val>
                                            <p:strVal val="#ppt_x"/>
                                          </p:val>
                                        </p:tav>
                                      </p:tavLst>
                                    </p:anim>
                                    <p:anim calcmode="lin" valueType="num">
                                      <p:cBhvr additive="base">
                                        <p:cTn id="37" dur="500" fill="hold"/>
                                        <p:tgtEl>
                                          <p:spTgt spid="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utoShape 13"/>
          <p:cNvSpPr>
            <a:spLocks noChangeArrowheads="1"/>
          </p:cNvSpPr>
          <p:nvPr/>
        </p:nvSpPr>
        <p:spPr bwMode="gray">
          <a:xfrm>
            <a:off x="473710" y="1043305"/>
            <a:ext cx="11231880" cy="5460365"/>
          </a:xfrm>
          <a:prstGeom prst="roundRect">
            <a:avLst>
              <a:gd name="adj" fmla="val 4639"/>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algn="ctr" fontAlgn="base">
              <a:lnSpc>
                <a:spcPct val="120000"/>
              </a:lnSpc>
              <a:spcBef>
                <a:spcPct val="0"/>
              </a:spcBef>
              <a:spcAft>
                <a:spcPct val="0"/>
              </a:spcAft>
              <a:defRPr/>
            </a:pPr>
            <a:endParaRPr lang="zh-CN" altLang="en-US" sz="2000" kern="0">
              <a:solidFill>
                <a:srgbClr val="4D4D4D"/>
              </a:solidFill>
              <a:latin typeface="微软雅黑" panose="020B0503020204020204" charset="-122"/>
              <a:ea typeface="微软雅黑" panose="020B0503020204020204" charset="-122"/>
            </a:endParaRPr>
          </a:p>
        </p:txBody>
      </p:sp>
      <p:sp>
        <p:nvSpPr>
          <p:cNvPr id="2" name="文本框 10"/>
          <p:cNvSpPr txBox="1"/>
          <p:nvPr/>
        </p:nvSpPr>
        <p:spPr>
          <a:xfrm>
            <a:off x="4775938" y="504323"/>
            <a:ext cx="4463334" cy="338554"/>
          </a:xfrm>
          <a:prstGeom prst="rect">
            <a:avLst/>
          </a:prstGeom>
          <a:noFill/>
        </p:spPr>
        <p:txBody>
          <a:bodyPr wrap="square" rtlCol="0">
            <a:spAutoFit/>
          </a:bodyPr>
          <a:lstStyle/>
          <a:p>
            <a:r>
              <a:rPr lang="en-US" altLang="zh-CN" sz="1600" baseline="0" dirty="0">
                <a:solidFill>
                  <a:srgbClr val="3D8ECD"/>
                </a:solidFill>
                <a:latin typeface="微软雅黑" panose="020B0503020204020204" charset="-122"/>
                <a:ea typeface="微软雅黑" panose="020B0503020204020204" charset="-122"/>
              </a:rPr>
              <a:t>2.2  </a:t>
            </a:r>
            <a:r>
              <a:rPr lang="zh-CN" altLang="en-US" sz="1600" dirty="0">
                <a:solidFill>
                  <a:srgbClr val="3D8ECD"/>
                </a:solidFill>
                <a:latin typeface="微软雅黑" panose="020B0503020204020204" charset="-122"/>
                <a:ea typeface="微软雅黑" panose="020B0503020204020204" charset="-122"/>
              </a:rPr>
              <a:t>职业生涯规划的时间管理</a:t>
            </a:r>
          </a:p>
        </p:txBody>
      </p:sp>
      <p:sp>
        <p:nvSpPr>
          <p:cNvPr id="4" name="燕尾形 3"/>
          <p:cNvSpPr/>
          <p:nvPr/>
        </p:nvSpPr>
        <p:spPr>
          <a:xfrm>
            <a:off x="953034" y="1252615"/>
            <a:ext cx="108000" cy="252000"/>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燕尾形 4"/>
          <p:cNvSpPr/>
          <p:nvPr/>
        </p:nvSpPr>
        <p:spPr>
          <a:xfrm>
            <a:off x="1025042" y="1252531"/>
            <a:ext cx="108000" cy="252000"/>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6" name="直接连接符 5"/>
          <p:cNvCxnSpPr/>
          <p:nvPr/>
        </p:nvCxnSpPr>
        <p:spPr>
          <a:xfrm>
            <a:off x="881026" y="1571612"/>
            <a:ext cx="2643206" cy="1588"/>
          </a:xfrm>
          <a:prstGeom prst="line">
            <a:avLst/>
          </a:prstGeom>
        </p:spPr>
        <p:style>
          <a:lnRef idx="1">
            <a:schemeClr val="accent6"/>
          </a:lnRef>
          <a:fillRef idx="0">
            <a:schemeClr val="accent6"/>
          </a:fillRef>
          <a:effectRef idx="0">
            <a:schemeClr val="accent6"/>
          </a:effectRef>
          <a:fontRef idx="minor">
            <a:schemeClr val="tx1"/>
          </a:fontRef>
        </p:style>
      </p:cxnSp>
      <p:sp>
        <p:nvSpPr>
          <p:cNvPr id="7" name="TextBox 29"/>
          <p:cNvSpPr txBox="1"/>
          <p:nvPr/>
        </p:nvSpPr>
        <p:spPr>
          <a:xfrm>
            <a:off x="1317716" y="1097264"/>
            <a:ext cx="3492400" cy="493395"/>
          </a:xfrm>
          <a:prstGeom prst="rect">
            <a:avLst/>
          </a:prstGeom>
          <a:noFill/>
        </p:spPr>
        <p:txBody>
          <a:bodyPr wrap="square" rtlCol="0">
            <a:spAutoFit/>
          </a:bodyPr>
          <a:lstStyle/>
          <a:p>
            <a:pPr>
              <a:lnSpc>
                <a:spcPct val="110000"/>
              </a:lnSpc>
            </a:pPr>
            <a:r>
              <a:rPr lang="zh-CN" sz="2400" b="1" dirty="0">
                <a:solidFill>
                  <a:srgbClr val="0070C0"/>
                </a:solidFill>
                <a:latin typeface="微软雅黑" panose="020B0503020204020204" charset="-122"/>
                <a:ea typeface="微软雅黑" panose="020B0503020204020204" charset="-122"/>
              </a:rPr>
              <a:t>问题</a:t>
            </a:r>
          </a:p>
        </p:txBody>
      </p:sp>
      <p:grpSp>
        <p:nvGrpSpPr>
          <p:cNvPr id="54" name="组合 53"/>
          <p:cNvGrpSpPr/>
          <p:nvPr/>
        </p:nvGrpSpPr>
        <p:grpSpPr>
          <a:xfrm>
            <a:off x="649253" y="3714752"/>
            <a:ext cx="4293574" cy="2847057"/>
            <a:chOff x="-1313043" y="3174230"/>
            <a:chExt cx="4293574" cy="2847057"/>
          </a:xfrm>
        </p:grpSpPr>
        <p:grpSp>
          <p:nvGrpSpPr>
            <p:cNvPr id="55" name="组合 16"/>
            <p:cNvGrpSpPr/>
            <p:nvPr/>
          </p:nvGrpSpPr>
          <p:grpSpPr>
            <a:xfrm>
              <a:off x="-1313043" y="3174230"/>
              <a:ext cx="4293574" cy="2847057"/>
              <a:chOff x="-1313043" y="3174230"/>
              <a:chExt cx="4293574" cy="2847057"/>
            </a:xfrm>
          </p:grpSpPr>
          <p:grpSp>
            <p:nvGrpSpPr>
              <p:cNvPr id="57" name="Group 19"/>
              <p:cNvGrpSpPr/>
              <p:nvPr/>
            </p:nvGrpSpPr>
            <p:grpSpPr bwMode="auto">
              <a:xfrm>
                <a:off x="2202656" y="3174230"/>
                <a:ext cx="777875" cy="758826"/>
                <a:chOff x="2341" y="1703"/>
                <a:chExt cx="1242" cy="1216"/>
              </a:xfrm>
              <a:solidFill>
                <a:schemeClr val="accent6">
                  <a:lumMod val="75000"/>
                </a:schemeClr>
              </a:solidFill>
            </p:grpSpPr>
            <p:grpSp>
              <p:nvGrpSpPr>
                <p:cNvPr id="61" name="Group 20"/>
                <p:cNvGrpSpPr/>
                <p:nvPr/>
              </p:nvGrpSpPr>
              <p:grpSpPr bwMode="auto">
                <a:xfrm>
                  <a:off x="2341" y="1703"/>
                  <a:ext cx="1242" cy="1216"/>
                  <a:chOff x="2341" y="1703"/>
                  <a:chExt cx="1242" cy="1216"/>
                </a:xfrm>
                <a:grpFill/>
              </p:grpSpPr>
              <p:sp>
                <p:nvSpPr>
                  <p:cNvPr id="63" name="Oval 21"/>
                  <p:cNvSpPr>
                    <a:spLocks noChangeArrowheads="1"/>
                  </p:cNvSpPr>
                  <p:nvPr/>
                </p:nvSpPr>
                <p:spPr bwMode="gray">
                  <a:xfrm>
                    <a:off x="2341" y="1703"/>
                    <a:ext cx="1242" cy="1216"/>
                  </a:xfrm>
                  <a:prstGeom prst="ellipse">
                    <a:avLst/>
                  </a:prstGeom>
                  <a:grpFill/>
                  <a:ln w="28575" algn="ctr">
                    <a:solidFill>
                      <a:srgbClr val="C0C0C0"/>
                    </a:solidFill>
                    <a:round/>
                  </a:ln>
                  <a:effectLst/>
                </p:spPr>
                <p:txBody>
                  <a:bodyPr vert="eaVert" wrap="none" anchor="ctr"/>
                  <a:lstStyle/>
                  <a:p>
                    <a:pPr>
                      <a:defRPr/>
                    </a:pPr>
                    <a:endParaRPr lang="zh-CN" altLang="en-US">
                      <a:solidFill>
                        <a:prstClr val="black"/>
                      </a:solidFill>
                    </a:endParaRPr>
                  </a:p>
                </p:txBody>
              </p:sp>
              <p:sp>
                <p:nvSpPr>
                  <p:cNvPr id="64" name="Freeform 22"/>
                  <p:cNvSpPr/>
                  <p:nvPr/>
                </p:nvSpPr>
                <p:spPr bwMode="auto">
                  <a:xfrm rot="5400000">
                    <a:off x="2741" y="1375"/>
                    <a:ext cx="458" cy="1136"/>
                  </a:xfrm>
                  <a:custGeom>
                    <a:avLst/>
                    <a:gdLst/>
                    <a:ahLst/>
                    <a:cxnLst>
                      <a:cxn ang="0">
                        <a:pos x="173" y="0"/>
                      </a:cxn>
                      <a:cxn ang="0">
                        <a:pos x="0" y="173"/>
                      </a:cxn>
                      <a:cxn ang="0">
                        <a:pos x="174" y="348"/>
                      </a:cxn>
                      <a:cxn ang="0">
                        <a:pos x="174" y="174"/>
                      </a:cxn>
                      <a:cxn ang="0">
                        <a:pos x="173" y="0"/>
                      </a:cxn>
                    </a:cxnLst>
                    <a:rect l="0" t="0" r="r" b="b"/>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prstDash val="solid"/>
                    <a:round/>
                  </a:ln>
                </p:spPr>
                <p:txBody>
                  <a:bodyPr/>
                  <a:lstStyle/>
                  <a:p>
                    <a:pPr>
                      <a:defRPr/>
                    </a:pPr>
                    <a:endParaRPr lang="zh-CN" altLang="en-US">
                      <a:solidFill>
                        <a:prstClr val="black"/>
                      </a:solidFill>
                    </a:endParaRPr>
                  </a:p>
                </p:txBody>
              </p:sp>
            </p:grpSp>
            <p:sp>
              <p:nvSpPr>
                <p:cNvPr id="62" name="Freeform 23"/>
                <p:cNvSpPr/>
                <p:nvPr/>
              </p:nvSpPr>
              <p:spPr bwMode="auto">
                <a:xfrm rot="-18000000">
                  <a:off x="3064" y="2263"/>
                  <a:ext cx="194" cy="758"/>
                </a:xfrm>
                <a:custGeom>
                  <a:avLst/>
                  <a:gdLst/>
                  <a:ahLst/>
                  <a:cxnLst>
                    <a:cxn ang="0">
                      <a:pos x="173" y="0"/>
                    </a:cxn>
                    <a:cxn ang="0">
                      <a:pos x="0" y="173"/>
                    </a:cxn>
                    <a:cxn ang="0">
                      <a:pos x="174" y="348"/>
                    </a:cxn>
                    <a:cxn ang="0">
                      <a:pos x="174" y="174"/>
                    </a:cxn>
                    <a:cxn ang="0">
                      <a:pos x="173" y="0"/>
                    </a:cxn>
                  </a:cxnLst>
                  <a:rect l="0" t="0" r="r" b="b"/>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prstDash val="solid"/>
                  <a:round/>
                </a:ln>
              </p:spPr>
              <p:txBody>
                <a:bodyPr/>
                <a:lstStyle/>
                <a:p>
                  <a:pPr>
                    <a:defRPr/>
                  </a:pPr>
                  <a:endParaRPr lang="zh-CN" altLang="en-US">
                    <a:solidFill>
                      <a:prstClr val="black"/>
                    </a:solidFill>
                  </a:endParaRPr>
                </a:p>
              </p:txBody>
            </p:sp>
          </p:grpSp>
          <p:sp>
            <p:nvSpPr>
              <p:cNvPr id="58" name="Line 2"/>
              <p:cNvSpPr>
                <a:spLocks noChangeShapeType="1"/>
              </p:cNvSpPr>
              <p:nvPr/>
            </p:nvSpPr>
            <p:spPr bwMode="auto">
              <a:xfrm rot="5400000" flipH="1">
                <a:off x="1568585" y="4977171"/>
                <a:ext cx="2088231" cy="0"/>
              </a:xfrm>
              <a:prstGeom prst="line">
                <a:avLst/>
              </a:prstGeom>
              <a:noFill/>
              <a:ln w="19050">
                <a:solidFill>
                  <a:srgbClr val="808080"/>
                </a:solidFill>
                <a:round/>
              </a:ln>
            </p:spPr>
            <p:txBody>
              <a:bodyPr/>
              <a:lstStyle/>
              <a:p>
                <a:endParaRPr lang="zh-CN" altLang="en-US">
                  <a:solidFill>
                    <a:prstClr val="black"/>
                  </a:solidFill>
                </a:endParaRPr>
              </a:p>
            </p:txBody>
          </p:sp>
          <p:sp>
            <p:nvSpPr>
              <p:cNvPr id="59" name="Rectangle 41"/>
              <p:cNvSpPr>
                <a:spLocks noChangeArrowheads="1"/>
              </p:cNvSpPr>
              <p:nvPr/>
            </p:nvSpPr>
            <p:spPr bwMode="auto">
              <a:xfrm>
                <a:off x="-1313043" y="4031480"/>
                <a:ext cx="3934460" cy="1676400"/>
              </a:xfrm>
              <a:prstGeom prst="rect">
                <a:avLst/>
              </a:prstGeom>
              <a:noFill/>
              <a:ln w="9525" algn="ctr">
                <a:noFill/>
                <a:miter lim="800000"/>
              </a:ln>
            </p:spPr>
            <p:txBody>
              <a:bodyPr wrap="square">
                <a:spAutoFit/>
              </a:bodyPr>
              <a:lstStyle/>
              <a:p>
                <a:pPr indent="457200" fontAlgn="auto">
                  <a:lnSpc>
                    <a:spcPct val="130000"/>
                  </a:lnSpc>
                </a:pPr>
                <a:r>
                  <a:rPr lang="zh-CN" altLang="en-US" sz="2000" dirty="0">
                    <a:solidFill>
                      <a:schemeClr val="tx1">
                        <a:lumMod val="85000"/>
                        <a:lumOff val="15000"/>
                      </a:schemeClr>
                    </a:solidFill>
                    <a:latin typeface="微软雅黑" panose="020B0503020204020204" charset="-122"/>
                    <a:ea typeface="微软雅黑" panose="020B0503020204020204" charset="-122"/>
                    <a:sym typeface="+mn-ea"/>
                  </a:rPr>
                  <a:t>8．要将编辑文件中的所有的字符串s1全部用字符串s2替换，包括在一行多次出现的字符串，应使用的命令格式是什么？</a:t>
                </a:r>
              </a:p>
            </p:txBody>
          </p:sp>
          <p:sp>
            <p:nvSpPr>
              <p:cNvPr id="60" name="Line 30"/>
              <p:cNvSpPr>
                <a:spLocks noChangeShapeType="1"/>
              </p:cNvSpPr>
              <p:nvPr/>
            </p:nvSpPr>
            <p:spPr bwMode="auto">
              <a:xfrm flipH="1" flipV="1">
                <a:off x="776742" y="3573645"/>
                <a:ext cx="1246505" cy="15240"/>
              </a:xfrm>
              <a:prstGeom prst="line">
                <a:avLst/>
              </a:prstGeom>
              <a:noFill/>
              <a:ln w="9525">
                <a:solidFill>
                  <a:srgbClr val="808080"/>
                </a:solidFill>
                <a:round/>
                <a:headEnd type="oval" w="med" len="med"/>
              </a:ln>
            </p:spPr>
            <p:txBody>
              <a:bodyPr/>
              <a:lstStyle/>
              <a:p>
                <a:endParaRPr lang="zh-CN" altLang="en-US">
                  <a:solidFill>
                    <a:prstClr val="black"/>
                  </a:solidFill>
                </a:endParaRPr>
              </a:p>
            </p:txBody>
          </p:sp>
        </p:grpSp>
        <p:sp>
          <p:nvSpPr>
            <p:cNvPr id="56" name="WordArt 36"/>
            <p:cNvSpPr>
              <a:spLocks noChangeArrowheads="1" noChangeShapeType="1" noTextEdit="1"/>
            </p:cNvSpPr>
            <p:nvPr/>
          </p:nvSpPr>
          <p:spPr bwMode="auto">
            <a:xfrm>
              <a:off x="2470154" y="3363590"/>
              <a:ext cx="244475" cy="425450"/>
            </a:xfrm>
            <a:prstGeom prst="rect">
              <a:avLst/>
            </a:prstGeom>
          </p:spPr>
          <p:txBody>
            <a:bodyPr wrap="none" fromWordArt="1">
              <a:prstTxWarp prst="textPlain">
                <a:avLst>
                  <a:gd name="adj" fmla="val 50000"/>
                </a:avLst>
              </a:prstTxWarp>
            </a:bodyPr>
            <a:lstStyle/>
            <a:p>
              <a:pPr algn="ctr"/>
              <a:r>
                <a:rPr lang="en-US" altLang="zh-CN"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rPr>
                <a:t>8</a:t>
              </a:r>
              <a:endParaRPr lang="zh-CN" altLang="en-US"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endParaRPr>
            </a:p>
          </p:txBody>
        </p:sp>
      </p:grpSp>
      <p:grpSp>
        <p:nvGrpSpPr>
          <p:cNvPr id="8" name="组合 7"/>
          <p:cNvGrpSpPr/>
          <p:nvPr/>
        </p:nvGrpSpPr>
        <p:grpSpPr>
          <a:xfrm>
            <a:off x="4942828" y="1714488"/>
            <a:ext cx="5785485" cy="2730058"/>
            <a:chOff x="2170556" y="1202998"/>
            <a:chExt cx="5785485" cy="2730058"/>
          </a:xfrm>
        </p:grpSpPr>
        <p:grpSp>
          <p:nvGrpSpPr>
            <p:cNvPr id="9" name="Group 14"/>
            <p:cNvGrpSpPr/>
            <p:nvPr/>
          </p:nvGrpSpPr>
          <p:grpSpPr bwMode="auto">
            <a:xfrm>
              <a:off x="3514729" y="3174231"/>
              <a:ext cx="777875" cy="758825"/>
              <a:chOff x="2341" y="1703"/>
              <a:chExt cx="1242" cy="1216"/>
            </a:xfrm>
            <a:solidFill>
              <a:srgbClr val="00B0F0"/>
            </a:solidFill>
          </p:grpSpPr>
          <p:grpSp>
            <p:nvGrpSpPr>
              <p:cNvPr id="14" name="Group 15"/>
              <p:cNvGrpSpPr/>
              <p:nvPr/>
            </p:nvGrpSpPr>
            <p:grpSpPr bwMode="auto">
              <a:xfrm>
                <a:off x="2341" y="1703"/>
                <a:ext cx="1242" cy="1216"/>
                <a:chOff x="2341" y="1703"/>
                <a:chExt cx="1242" cy="1216"/>
              </a:xfrm>
              <a:grpFill/>
            </p:grpSpPr>
            <p:sp>
              <p:nvSpPr>
                <p:cNvPr id="15" name="Oval 16"/>
                <p:cNvSpPr>
                  <a:spLocks noChangeArrowheads="1"/>
                </p:cNvSpPr>
                <p:nvPr/>
              </p:nvSpPr>
              <p:spPr bwMode="gray">
                <a:xfrm>
                  <a:off x="2341" y="1703"/>
                  <a:ext cx="1242" cy="1216"/>
                </a:xfrm>
                <a:prstGeom prst="ellipse">
                  <a:avLst/>
                </a:prstGeom>
                <a:grpFill/>
                <a:ln w="28575" algn="ctr">
                  <a:solidFill>
                    <a:srgbClr val="C0C0C0"/>
                  </a:solidFill>
                  <a:round/>
                </a:ln>
              </p:spPr>
              <p:txBody>
                <a:bodyPr vert="eaVert" wrap="none" anchor="ctr"/>
                <a:lstStyle/>
                <a:p>
                  <a:endParaRPr lang="zh-CN" altLang="en-US">
                    <a:solidFill>
                      <a:prstClr val="black"/>
                    </a:solidFill>
                  </a:endParaRPr>
                </a:p>
              </p:txBody>
            </p:sp>
            <p:sp>
              <p:nvSpPr>
                <p:cNvPr id="17" name="Freeform 17"/>
                <p:cNvSpPr/>
                <p:nvPr/>
              </p:nvSpPr>
              <p:spPr bwMode="auto">
                <a:xfrm rot="5400000">
                  <a:off x="2741" y="1375"/>
                  <a:ext cx="458" cy="1136"/>
                </a:xfrm>
                <a:custGeom>
                  <a:avLst/>
                  <a:gdLst>
                    <a:gd name="T0" fmla="*/ 8299 w 174"/>
                    <a:gd name="T1" fmla="*/ 0 h 348"/>
                    <a:gd name="T2" fmla="*/ 0 w 174"/>
                    <a:gd name="T3" fmla="*/ 19648 h 348"/>
                    <a:gd name="T4" fmla="*/ 8355 w 174"/>
                    <a:gd name="T5" fmla="*/ 39512 h 348"/>
                    <a:gd name="T6" fmla="*/ 8355 w 174"/>
                    <a:gd name="T7" fmla="*/ 19756 h 348"/>
                    <a:gd name="T8" fmla="*/ 8299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18" name="Freeform 18"/>
              <p:cNvSpPr/>
              <p:nvPr/>
            </p:nvSpPr>
            <p:spPr bwMode="auto">
              <a:xfrm rot="3600000">
                <a:off x="3064" y="2263"/>
                <a:ext cx="194" cy="758"/>
              </a:xfrm>
              <a:custGeom>
                <a:avLst/>
                <a:gdLst>
                  <a:gd name="T0" fmla="*/ 268 w 174"/>
                  <a:gd name="T1" fmla="*/ 0 h 348"/>
                  <a:gd name="T2" fmla="*/ 0 w 174"/>
                  <a:gd name="T3" fmla="*/ 3895 h 348"/>
                  <a:gd name="T4" fmla="*/ 269 w 174"/>
                  <a:gd name="T5" fmla="*/ 7833 h 348"/>
                  <a:gd name="T6" fmla="*/ 269 w 174"/>
                  <a:gd name="T7" fmla="*/ 3919 h 348"/>
                  <a:gd name="T8" fmla="*/ 268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19" name="Line 30"/>
            <p:cNvSpPr>
              <a:spLocks noChangeShapeType="1"/>
            </p:cNvSpPr>
            <p:nvPr/>
          </p:nvSpPr>
          <p:spPr bwMode="auto">
            <a:xfrm flipH="1" flipV="1">
              <a:off x="2170556" y="3617903"/>
              <a:ext cx="1137920" cy="635"/>
            </a:xfrm>
            <a:prstGeom prst="line">
              <a:avLst/>
            </a:prstGeom>
            <a:noFill/>
            <a:ln w="9525">
              <a:solidFill>
                <a:srgbClr val="808080"/>
              </a:solidFill>
              <a:round/>
              <a:headEnd type="oval" w="med" len="med"/>
            </a:ln>
          </p:spPr>
          <p:txBody>
            <a:bodyPr/>
            <a:lstStyle/>
            <a:p>
              <a:endParaRPr lang="zh-CN" altLang="en-US">
                <a:solidFill>
                  <a:prstClr val="black"/>
                </a:solidFill>
              </a:endParaRPr>
            </a:p>
          </p:txBody>
        </p:sp>
        <p:sp>
          <p:nvSpPr>
            <p:cNvPr id="20" name="WordArt 33"/>
            <p:cNvSpPr>
              <a:spLocks noChangeArrowheads="1" noChangeShapeType="1" noTextEdit="1"/>
            </p:cNvSpPr>
            <p:nvPr/>
          </p:nvSpPr>
          <p:spPr bwMode="auto">
            <a:xfrm>
              <a:off x="3711575" y="3363590"/>
              <a:ext cx="381000" cy="425450"/>
            </a:xfrm>
            <a:prstGeom prst="rect">
              <a:avLst/>
            </a:prstGeom>
          </p:spPr>
          <p:txBody>
            <a:bodyPr wrap="none" fromWordArt="1">
              <a:prstTxWarp prst="textPlain">
                <a:avLst>
                  <a:gd name="adj" fmla="val 50000"/>
                </a:avLst>
              </a:prstTxWarp>
            </a:bodyPr>
            <a:lstStyle/>
            <a:p>
              <a:pPr algn="ctr"/>
              <a:r>
                <a:rPr lang="en-US"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rPr>
                <a:t>9</a:t>
              </a:r>
            </a:p>
          </p:txBody>
        </p:sp>
        <p:sp>
          <p:nvSpPr>
            <p:cNvPr id="21" name="Line 39"/>
            <p:cNvSpPr>
              <a:spLocks noChangeShapeType="1"/>
            </p:cNvSpPr>
            <p:nvPr/>
          </p:nvSpPr>
          <p:spPr bwMode="auto">
            <a:xfrm rot="5400000" flipH="1">
              <a:off x="2930424" y="2212456"/>
              <a:ext cx="1933779" cy="0"/>
            </a:xfrm>
            <a:prstGeom prst="line">
              <a:avLst/>
            </a:prstGeom>
            <a:noFill/>
            <a:ln w="19050">
              <a:solidFill>
                <a:srgbClr val="808080"/>
              </a:solidFill>
              <a:round/>
            </a:ln>
          </p:spPr>
          <p:txBody>
            <a:bodyPr/>
            <a:lstStyle/>
            <a:p>
              <a:endParaRPr lang="zh-CN" altLang="en-US">
                <a:solidFill>
                  <a:prstClr val="black"/>
                </a:solidFill>
              </a:endParaRPr>
            </a:p>
          </p:txBody>
        </p:sp>
        <p:sp>
          <p:nvSpPr>
            <p:cNvPr id="22" name="Rectangle 40"/>
            <p:cNvSpPr>
              <a:spLocks noChangeArrowheads="1"/>
            </p:cNvSpPr>
            <p:nvPr/>
          </p:nvSpPr>
          <p:spPr bwMode="auto">
            <a:xfrm>
              <a:off x="3904106" y="1202998"/>
              <a:ext cx="4051935" cy="1463040"/>
            </a:xfrm>
            <a:prstGeom prst="rect">
              <a:avLst/>
            </a:prstGeom>
            <a:noFill/>
            <a:ln w="9525" algn="ctr">
              <a:noFill/>
              <a:miter lim="800000"/>
            </a:ln>
          </p:spPr>
          <p:txBody>
            <a:bodyPr wrap="square">
              <a:spAutoFit/>
            </a:bodyPr>
            <a:lstStyle/>
            <a:p>
              <a:pPr eaLnBrk="1" latinLnBrk="0" hangingPunct="1">
                <a:lnSpc>
                  <a:spcPct val="150000"/>
                </a:lnSpc>
              </a:pPr>
              <a:r>
                <a:rPr lang="zh-CN" altLang="en-US" sz="2000" dirty="0">
                  <a:solidFill>
                    <a:schemeClr val="tx1">
                      <a:lumMod val="85000"/>
                      <a:lumOff val="15000"/>
                    </a:schemeClr>
                  </a:solidFill>
                  <a:latin typeface="微软雅黑" panose="020B0503020204020204" charset="-122"/>
                  <a:ea typeface="微软雅黑" panose="020B0503020204020204" charset="-122"/>
                  <a:sym typeface="+mn-ea"/>
                </a:rPr>
                <a:t>9．使用vi编辑器在目录里创建一个文本文件，然后输入一篇英文文章，并练习使用各种编辑命令。</a:t>
              </a:r>
            </a:p>
          </p:txBody>
        </p:sp>
      </p:grpSp>
      <p:grpSp>
        <p:nvGrpSpPr>
          <p:cNvPr id="33" name="组合 32"/>
          <p:cNvGrpSpPr/>
          <p:nvPr/>
        </p:nvGrpSpPr>
        <p:grpSpPr>
          <a:xfrm>
            <a:off x="1781761" y="1733056"/>
            <a:ext cx="4504690" cy="2711490"/>
            <a:chOff x="974829" y="1221566"/>
            <a:chExt cx="4504690" cy="2711490"/>
          </a:xfrm>
        </p:grpSpPr>
        <p:grpSp>
          <p:nvGrpSpPr>
            <p:cNvPr id="34" name="组合 78"/>
            <p:cNvGrpSpPr/>
            <p:nvPr/>
          </p:nvGrpSpPr>
          <p:grpSpPr>
            <a:xfrm>
              <a:off x="974829" y="1221566"/>
              <a:ext cx="4504690" cy="2711490"/>
              <a:chOff x="974829" y="1221566"/>
              <a:chExt cx="4504690" cy="2711490"/>
            </a:xfrm>
          </p:grpSpPr>
          <p:grpSp>
            <p:nvGrpSpPr>
              <p:cNvPr id="35" name="Group 19"/>
              <p:cNvGrpSpPr/>
              <p:nvPr/>
            </p:nvGrpSpPr>
            <p:grpSpPr bwMode="auto">
              <a:xfrm>
                <a:off x="974829" y="3174231"/>
                <a:ext cx="777875" cy="758825"/>
                <a:chOff x="2341" y="1703"/>
                <a:chExt cx="1242" cy="1216"/>
              </a:xfrm>
              <a:solidFill>
                <a:srgbClr val="99CC00"/>
              </a:solidFill>
            </p:grpSpPr>
            <p:grpSp>
              <p:nvGrpSpPr>
                <p:cNvPr id="36" name="Group 20"/>
                <p:cNvGrpSpPr/>
                <p:nvPr/>
              </p:nvGrpSpPr>
              <p:grpSpPr bwMode="auto">
                <a:xfrm>
                  <a:off x="2341" y="1703"/>
                  <a:ext cx="1242" cy="1216"/>
                  <a:chOff x="2341" y="1703"/>
                  <a:chExt cx="1242" cy="1216"/>
                </a:xfrm>
                <a:grpFill/>
              </p:grpSpPr>
              <p:sp>
                <p:nvSpPr>
                  <p:cNvPr id="37" name="Oval 21"/>
                  <p:cNvSpPr>
                    <a:spLocks noChangeArrowheads="1"/>
                  </p:cNvSpPr>
                  <p:nvPr/>
                </p:nvSpPr>
                <p:spPr bwMode="gray">
                  <a:xfrm>
                    <a:off x="2341" y="1703"/>
                    <a:ext cx="1242" cy="1216"/>
                  </a:xfrm>
                  <a:prstGeom prst="ellipse">
                    <a:avLst/>
                  </a:prstGeom>
                  <a:grpFill/>
                  <a:ln w="28575" algn="ctr">
                    <a:solidFill>
                      <a:srgbClr val="C0C0C0"/>
                    </a:solidFill>
                    <a:round/>
                  </a:ln>
                </p:spPr>
                <p:txBody>
                  <a:bodyPr vert="eaVert" wrap="none" anchor="ctr"/>
                  <a:lstStyle/>
                  <a:p>
                    <a:endParaRPr lang="zh-CN" altLang="en-US">
                      <a:solidFill>
                        <a:prstClr val="black"/>
                      </a:solidFill>
                    </a:endParaRPr>
                  </a:p>
                </p:txBody>
              </p:sp>
              <p:sp>
                <p:nvSpPr>
                  <p:cNvPr id="38" name="Freeform 22"/>
                  <p:cNvSpPr/>
                  <p:nvPr/>
                </p:nvSpPr>
                <p:spPr bwMode="auto">
                  <a:xfrm rot="5400000">
                    <a:off x="2741" y="1375"/>
                    <a:ext cx="458" cy="1136"/>
                  </a:xfrm>
                  <a:custGeom>
                    <a:avLst/>
                    <a:gdLst>
                      <a:gd name="T0" fmla="*/ 8299 w 174"/>
                      <a:gd name="T1" fmla="*/ 0 h 348"/>
                      <a:gd name="T2" fmla="*/ 0 w 174"/>
                      <a:gd name="T3" fmla="*/ 19648 h 348"/>
                      <a:gd name="T4" fmla="*/ 8355 w 174"/>
                      <a:gd name="T5" fmla="*/ 39512 h 348"/>
                      <a:gd name="T6" fmla="*/ 8355 w 174"/>
                      <a:gd name="T7" fmla="*/ 19756 h 348"/>
                      <a:gd name="T8" fmla="*/ 8299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39" name="Freeform 23"/>
                <p:cNvSpPr/>
                <p:nvPr/>
              </p:nvSpPr>
              <p:spPr bwMode="auto">
                <a:xfrm rot="3600000">
                  <a:off x="3064" y="2263"/>
                  <a:ext cx="194" cy="758"/>
                </a:xfrm>
                <a:custGeom>
                  <a:avLst/>
                  <a:gdLst>
                    <a:gd name="T0" fmla="*/ 268 w 174"/>
                    <a:gd name="T1" fmla="*/ 0 h 348"/>
                    <a:gd name="T2" fmla="*/ 0 w 174"/>
                    <a:gd name="T3" fmla="*/ 3895 h 348"/>
                    <a:gd name="T4" fmla="*/ 269 w 174"/>
                    <a:gd name="T5" fmla="*/ 7833 h 348"/>
                    <a:gd name="T6" fmla="*/ 269 w 174"/>
                    <a:gd name="T7" fmla="*/ 3919 h 348"/>
                    <a:gd name="T8" fmla="*/ 268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40" name="Rectangle 38"/>
              <p:cNvSpPr>
                <a:spLocks noChangeArrowheads="1"/>
              </p:cNvSpPr>
              <p:nvPr/>
            </p:nvSpPr>
            <p:spPr bwMode="auto">
              <a:xfrm>
                <a:off x="1392024" y="1221566"/>
                <a:ext cx="4087495" cy="1463040"/>
              </a:xfrm>
              <a:prstGeom prst="rect">
                <a:avLst/>
              </a:prstGeom>
              <a:noFill/>
              <a:ln w="9525" algn="ctr">
                <a:noFill/>
                <a:miter lim="800000"/>
              </a:ln>
            </p:spPr>
            <p:txBody>
              <a:bodyPr wrap="square">
                <a:spAutoFit/>
              </a:bodyPr>
              <a:lstStyle/>
              <a:p>
                <a:pPr eaLnBrk="1" latinLnBrk="0" hangingPunct="1">
                  <a:lnSpc>
                    <a:spcPct val="150000"/>
                  </a:lnSpc>
                </a:pPr>
                <a:r>
                  <a:rPr lang="zh-CN" altLang="en-US" sz="2000" dirty="0">
                    <a:solidFill>
                      <a:schemeClr val="tx1">
                        <a:lumMod val="85000"/>
                        <a:lumOff val="15000"/>
                      </a:schemeClr>
                    </a:solidFill>
                    <a:latin typeface="微软雅黑" panose="020B0503020204020204" charset="-122"/>
                    <a:ea typeface="微软雅黑" panose="020B0503020204020204" charset="-122"/>
                    <a:sym typeface="+mn-ea"/>
                  </a:rPr>
                  <a:t>7．不管文件中的某一行被编辑了多少次，总能将它恢复成被编辑之前的样子，应使用什么命令？</a:t>
                </a:r>
              </a:p>
            </p:txBody>
          </p:sp>
          <p:sp>
            <p:nvSpPr>
              <p:cNvPr id="41" name="Line 39"/>
              <p:cNvSpPr>
                <a:spLocks noChangeShapeType="1"/>
              </p:cNvSpPr>
              <p:nvPr/>
            </p:nvSpPr>
            <p:spPr bwMode="auto">
              <a:xfrm rot="5400000" flipH="1">
                <a:off x="339869" y="2225554"/>
                <a:ext cx="1959976" cy="0"/>
              </a:xfrm>
              <a:prstGeom prst="line">
                <a:avLst/>
              </a:prstGeom>
              <a:noFill/>
              <a:ln w="19050">
                <a:solidFill>
                  <a:srgbClr val="808080"/>
                </a:solidFill>
                <a:round/>
              </a:ln>
            </p:spPr>
            <p:txBody>
              <a:bodyPr/>
              <a:lstStyle/>
              <a:p>
                <a:endParaRPr lang="zh-CN" altLang="en-US">
                  <a:solidFill>
                    <a:prstClr val="black"/>
                  </a:solidFill>
                </a:endParaRPr>
              </a:p>
            </p:txBody>
          </p:sp>
        </p:grpSp>
        <p:sp>
          <p:nvSpPr>
            <p:cNvPr id="42" name="WordArt 36"/>
            <p:cNvSpPr>
              <a:spLocks noChangeArrowheads="1" noChangeShapeType="1" noTextEdit="1"/>
            </p:cNvSpPr>
            <p:nvPr/>
          </p:nvSpPr>
          <p:spPr bwMode="auto">
            <a:xfrm>
              <a:off x="1192217" y="3291582"/>
              <a:ext cx="244475" cy="425450"/>
            </a:xfrm>
            <a:prstGeom prst="rect">
              <a:avLst/>
            </a:prstGeom>
          </p:spPr>
          <p:txBody>
            <a:bodyPr wrap="none" fromWordArt="1">
              <a:prstTxWarp prst="textPlain">
                <a:avLst>
                  <a:gd name="adj" fmla="val 50000"/>
                </a:avLst>
              </a:prstTxWarp>
            </a:bodyPr>
            <a:lstStyle/>
            <a:p>
              <a:pPr algn="ctr"/>
              <a:r>
                <a:rPr lang="en-US"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rPr>
                <a:t>7</a:t>
              </a:r>
            </a:p>
          </p:txBody>
        </p:sp>
      </p:grpSp>
      <p:pic>
        <p:nvPicPr>
          <p:cNvPr id="43" name="图片 1" descr="问号13.jpg"/>
          <p:cNvPicPr>
            <a:picLocks noGrp="1" noChangeAspect="1"/>
          </p:cNvPicPr>
          <p:nvPr/>
        </p:nvPicPr>
        <p:blipFill>
          <a:blip r:embed="rId2" cstate="print">
            <a:clrChange>
              <a:clrFrom>
                <a:srgbClr val="FFFFFF"/>
              </a:clrFrom>
              <a:clrTo>
                <a:srgbClr val="FFFFFF">
                  <a:alpha val="0"/>
                </a:srgbClr>
              </a:clrTo>
            </a:clrChange>
          </a:blip>
          <a:stretch>
            <a:fillRect/>
          </a:stretch>
        </p:blipFill>
        <p:spPr>
          <a:xfrm>
            <a:off x="8457565" y="3314065"/>
            <a:ext cx="3248025" cy="32480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50"/>
                                        <p:tgtEl>
                                          <p:spTgt spid="5"/>
                                        </p:tgtEl>
                                      </p:cBhvr>
                                    </p:animEffect>
                                  </p:childTnLst>
                                </p:cTn>
                              </p:par>
                              <p:par>
                                <p:cTn id="11" presetID="22" presetClass="entr" presetSubtype="8" fill="hold" grpId="0" nodeType="withEffect">
                                  <p:stCondLst>
                                    <p:cond delay="25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 presetClass="entr" presetSubtype="2" fill="hold" nodeType="withEffect">
                                  <p:stCondLst>
                                    <p:cond delay="0"/>
                                  </p:stCondLst>
                                  <p:childTnLst>
                                    <p:set>
                                      <p:cBhvr>
                                        <p:cTn id="15" dur="1" fill="hold">
                                          <p:stCondLst>
                                            <p:cond delay="0"/>
                                          </p:stCondLst>
                                        </p:cTn>
                                        <p:tgtEl>
                                          <p:spTgt spid="33"/>
                                        </p:tgtEl>
                                        <p:attrNameLst>
                                          <p:attrName>style.visibility</p:attrName>
                                        </p:attrNameLst>
                                      </p:cBhvr>
                                      <p:to>
                                        <p:strVal val="visible"/>
                                      </p:to>
                                    </p:set>
                                    <p:anim calcmode="lin" valueType="num">
                                      <p:cBhvr additive="base">
                                        <p:cTn id="16" dur="500" fill="hold"/>
                                        <p:tgtEl>
                                          <p:spTgt spid="33"/>
                                        </p:tgtEl>
                                        <p:attrNameLst>
                                          <p:attrName>ppt_x</p:attrName>
                                        </p:attrNameLst>
                                      </p:cBhvr>
                                      <p:tavLst>
                                        <p:tav tm="0">
                                          <p:val>
                                            <p:strVal val="1+#ppt_w/2"/>
                                          </p:val>
                                        </p:tav>
                                        <p:tav tm="100000">
                                          <p:val>
                                            <p:strVal val="#ppt_x"/>
                                          </p:val>
                                        </p:tav>
                                      </p:tavLst>
                                    </p:anim>
                                    <p:anim calcmode="lin" valueType="num">
                                      <p:cBhvr additive="base">
                                        <p:cTn id="17" dur="500" fill="hold"/>
                                        <p:tgtEl>
                                          <p:spTgt spid="33"/>
                                        </p:tgtEl>
                                        <p:attrNameLst>
                                          <p:attrName>ppt_y</p:attrName>
                                        </p:attrNameLst>
                                      </p:cBhvr>
                                      <p:tavLst>
                                        <p:tav tm="0">
                                          <p:val>
                                            <p:strVal val="#ppt_y"/>
                                          </p:val>
                                        </p:tav>
                                        <p:tav tm="100000">
                                          <p:val>
                                            <p:strVal val="#ppt_y"/>
                                          </p:val>
                                        </p:tav>
                                      </p:tavLst>
                                    </p:anim>
                                  </p:childTnLst>
                                </p:cTn>
                              </p:par>
                              <p:par>
                                <p:cTn id="18" presetID="2" presetClass="entr" presetSubtype="2" fill="hold" nodeType="withEffect">
                                  <p:stCondLst>
                                    <p:cond delay="150"/>
                                  </p:stCondLst>
                                  <p:childTnLst>
                                    <p:set>
                                      <p:cBhvr>
                                        <p:cTn id="19" dur="1" fill="hold">
                                          <p:stCondLst>
                                            <p:cond delay="0"/>
                                          </p:stCondLst>
                                        </p:cTn>
                                        <p:tgtEl>
                                          <p:spTgt spid="54"/>
                                        </p:tgtEl>
                                        <p:attrNameLst>
                                          <p:attrName>style.visibility</p:attrName>
                                        </p:attrNameLst>
                                      </p:cBhvr>
                                      <p:to>
                                        <p:strVal val="visible"/>
                                      </p:to>
                                    </p:set>
                                    <p:anim calcmode="lin" valueType="num">
                                      <p:cBhvr additive="base">
                                        <p:cTn id="20" dur="500" fill="hold"/>
                                        <p:tgtEl>
                                          <p:spTgt spid="54"/>
                                        </p:tgtEl>
                                        <p:attrNameLst>
                                          <p:attrName>ppt_x</p:attrName>
                                        </p:attrNameLst>
                                      </p:cBhvr>
                                      <p:tavLst>
                                        <p:tav tm="0">
                                          <p:val>
                                            <p:strVal val="1+#ppt_w/2"/>
                                          </p:val>
                                        </p:tav>
                                        <p:tav tm="100000">
                                          <p:val>
                                            <p:strVal val="#ppt_x"/>
                                          </p:val>
                                        </p:tav>
                                      </p:tavLst>
                                    </p:anim>
                                    <p:anim calcmode="lin" valueType="num">
                                      <p:cBhvr additive="base">
                                        <p:cTn id="21" dur="500" fill="hold"/>
                                        <p:tgtEl>
                                          <p:spTgt spid="54"/>
                                        </p:tgtEl>
                                        <p:attrNameLst>
                                          <p:attrName>ppt_y</p:attrName>
                                        </p:attrNameLst>
                                      </p:cBhvr>
                                      <p:tavLst>
                                        <p:tav tm="0">
                                          <p:val>
                                            <p:strVal val="#ppt_y"/>
                                          </p:val>
                                        </p:tav>
                                        <p:tav tm="100000">
                                          <p:val>
                                            <p:strVal val="#ppt_y"/>
                                          </p:val>
                                        </p:tav>
                                      </p:tavLst>
                                    </p:anim>
                                  </p:childTnLst>
                                </p:cTn>
                              </p:par>
                              <p:par>
                                <p:cTn id="22" presetID="2" presetClass="entr" presetSubtype="2" fill="hold" nodeType="withEffect">
                                  <p:stCondLst>
                                    <p:cond delay="30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1+#ppt_w/2"/>
                                          </p:val>
                                        </p:tav>
                                        <p:tav tm="100000">
                                          <p:val>
                                            <p:strVal val="#ppt_x"/>
                                          </p:val>
                                        </p:tav>
                                      </p:tavLst>
                                    </p:anim>
                                    <p:anim calcmode="lin" valueType="num">
                                      <p:cBhvr additive="base">
                                        <p:cTn id="25"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7"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图片 2"/>
          <p:cNvPicPr>
            <a:picLocks noChangeAspect="1" noChangeArrowheads="1"/>
          </p:cNvPicPr>
          <p:nvPr/>
        </p:nvPicPr>
        <p:blipFill>
          <a:blip r:embed="rId3" cstate="print"/>
          <a:srcRect/>
          <a:stretch>
            <a:fillRect/>
          </a:stretch>
        </p:blipFill>
        <p:spPr bwMode="auto">
          <a:xfrm>
            <a:off x="-163513" y="-25400"/>
            <a:ext cx="12584113" cy="5757863"/>
          </a:xfrm>
          <a:prstGeom prst="rect">
            <a:avLst/>
          </a:prstGeom>
          <a:noFill/>
          <a:ln w="9525">
            <a:noFill/>
            <a:miter lim="800000"/>
            <a:headEnd/>
            <a:tailEnd/>
          </a:ln>
        </p:spPr>
      </p:pic>
      <p:sp>
        <p:nvSpPr>
          <p:cNvPr id="4" name="矩形 3"/>
          <p:cNvSpPr/>
          <p:nvPr/>
        </p:nvSpPr>
        <p:spPr>
          <a:xfrm>
            <a:off x="-161925" y="-25400"/>
            <a:ext cx="12582525" cy="7369175"/>
          </a:xfrm>
          <a:prstGeom prst="rect">
            <a:avLst/>
          </a:prstGeom>
          <a:solidFill>
            <a:srgbClr val="000E2A">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9" name="任意多边形 8"/>
          <p:cNvSpPr/>
          <p:nvPr/>
        </p:nvSpPr>
        <p:spPr>
          <a:xfrm>
            <a:off x="-161925" y="4921250"/>
            <a:ext cx="12580938" cy="2422525"/>
          </a:xfrm>
          <a:custGeom>
            <a:avLst/>
            <a:gdLst>
              <a:gd name="connsiteX0" fmla="*/ 0 w 12192000"/>
              <a:gd name="connsiteY0" fmla="*/ 0 h 2070437"/>
              <a:gd name="connsiteX1" fmla="*/ 5436625 w 12192000"/>
              <a:gd name="connsiteY1" fmla="*/ 0 h 2070437"/>
              <a:gd name="connsiteX2" fmla="*/ 5525440 w 12192000"/>
              <a:gd name="connsiteY2" fmla="*/ 7837 h 2070437"/>
              <a:gd name="connsiteX3" fmla="*/ 6091201 w 12192000"/>
              <a:gd name="connsiteY3" fmla="*/ 559628 h 2070437"/>
              <a:gd name="connsiteX4" fmla="*/ 6096239 w 12192000"/>
              <a:gd name="connsiteY4" fmla="*/ 609600 h 2070437"/>
              <a:gd name="connsiteX5" fmla="*/ 6114805 w 12192000"/>
              <a:gd name="connsiteY5" fmla="*/ 609600 h 2070437"/>
              <a:gd name="connsiteX6" fmla="*/ 6119842 w 12192000"/>
              <a:gd name="connsiteY6" fmla="*/ 559628 h 2070437"/>
              <a:gd name="connsiteX7" fmla="*/ 6685604 w 12192000"/>
              <a:gd name="connsiteY7" fmla="*/ 7837 h 2070437"/>
              <a:gd name="connsiteX8" fmla="*/ 6774419 w 12192000"/>
              <a:gd name="connsiteY8" fmla="*/ 0 h 2070437"/>
              <a:gd name="connsiteX9" fmla="*/ 12192000 w 12192000"/>
              <a:gd name="connsiteY9" fmla="*/ 0 h 2070437"/>
              <a:gd name="connsiteX10" fmla="*/ 12192000 w 12192000"/>
              <a:gd name="connsiteY10" fmla="*/ 2070437 h 2070437"/>
              <a:gd name="connsiteX11" fmla="*/ 0 w 12192000"/>
              <a:gd name="connsiteY11" fmla="*/ 2070437 h 207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70437">
                <a:moveTo>
                  <a:pt x="0" y="0"/>
                </a:moveTo>
                <a:lnTo>
                  <a:pt x="5436625" y="0"/>
                </a:lnTo>
                <a:lnTo>
                  <a:pt x="5525440" y="7837"/>
                </a:lnTo>
                <a:cubicBezTo>
                  <a:pt x="5808922" y="58474"/>
                  <a:pt x="6033693" y="278587"/>
                  <a:pt x="6091201" y="559628"/>
                </a:cubicBezTo>
                <a:lnTo>
                  <a:pt x="6096239" y="609600"/>
                </a:lnTo>
                <a:lnTo>
                  <a:pt x="6114805" y="609600"/>
                </a:lnTo>
                <a:lnTo>
                  <a:pt x="6119842" y="559628"/>
                </a:lnTo>
                <a:cubicBezTo>
                  <a:pt x="6177351" y="278587"/>
                  <a:pt x="6402121" y="58474"/>
                  <a:pt x="6685604" y="7837"/>
                </a:cubicBezTo>
                <a:lnTo>
                  <a:pt x="6774419" y="0"/>
                </a:lnTo>
                <a:lnTo>
                  <a:pt x="12192000" y="0"/>
                </a:lnTo>
                <a:lnTo>
                  <a:pt x="12192000" y="2070437"/>
                </a:lnTo>
                <a:lnTo>
                  <a:pt x="0" y="2070437"/>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文本框 1"/>
          <p:cNvSpPr txBox="1"/>
          <p:nvPr/>
        </p:nvSpPr>
        <p:spPr>
          <a:xfrm>
            <a:off x="3270885" y="2715894"/>
            <a:ext cx="6063615" cy="1446550"/>
          </a:xfrm>
          <a:prstGeom prst="rect">
            <a:avLst/>
          </a:prstGeom>
          <a:noFill/>
        </p:spPr>
        <p:txBody>
          <a:bodyPr wrap="square">
            <a:spAutoFit/>
          </a:bodyPr>
          <a:lstStyle/>
          <a:p>
            <a:pPr fontAlgn="auto">
              <a:buFont typeface="Arial" panose="020B0604020202020204" pitchFamily="34" charset="0"/>
              <a:buNone/>
              <a:defRPr/>
            </a:pPr>
            <a:r>
              <a:rPr lang="zh-CN" altLang="en-US" sz="8800" b="1"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rPr>
              <a:t>谢 谢 观 看</a:t>
            </a:r>
            <a:endParaRPr lang="zh-CN" altLang="en-US" sz="8800" b="1"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2.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4.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5.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6.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7.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8.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9.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0.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1.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2.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3.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4.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5.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6.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7.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8.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9.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20.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21.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22.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23.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24.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25.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26.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27.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28.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29.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30.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31.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32.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33.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34.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35.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36.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37.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38.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heme/theme1.xml><?xml version="1.0" encoding="utf-8"?>
<a:theme xmlns:a="http://schemas.openxmlformats.org/drawingml/2006/main" name="1_SAP_PartnerEdge2009_1[1].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rtnerEdge2008_1.0">
      <a:majorFont>
        <a:latin typeface="Arial Black"/>
        <a:ea typeface="Arial Unicode MS"/>
        <a:cs typeface="Arial Unicode MS"/>
      </a:majorFont>
      <a:minorFont>
        <a:latin typeface="Arial"/>
        <a:ea typeface="Arial Unicode MS"/>
        <a:cs typeface="Arial Unicode M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2"/>
        </a:solidFill>
        <a:ln w="9525" cap="flat" cmpd="sng" algn="ctr">
          <a:solidFill>
            <a:schemeClr val="accent2"/>
          </a:solidFill>
          <a:prstDash val="solid"/>
          <a:round/>
          <a:headEnd type="none" w="med" len="med"/>
          <a:tailEnd type="none" w="med" len="med"/>
        </a:ln>
      </a:spPr>
      <a:bodyPr vert="horz" wrap="none" lIns="90000" tIns="46800" rIns="90000" bIns="46800" numCol="1" anchor="ctr" anchorCtr="0" compatLnSpc="1"/>
      <a:lstStyle>
        <a:def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defRPr kumimoji="0" lang="de-DE" sz="1600" b="0" i="0" u="none" strike="noStrike" cap="none" normalizeH="0" baseline="0" smtClean="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defRPr>
        </a:defPPr>
      </a:lstStyle>
    </a:spDef>
    <a:lnDef>
      <a:spPr bwMode="auto">
        <a:xfrm>
          <a:off x="0" y="0"/>
          <a:ext cx="1" cy="1"/>
        </a:xfrm>
        <a:custGeom>
          <a:avLst/>
          <a:gdLst/>
          <a:ahLst/>
          <a:cxnLst/>
          <a:rect l="0" t="0" r="0" b="0"/>
          <a:pathLst/>
        </a:custGeom>
        <a:solidFill>
          <a:schemeClr val="bg2"/>
        </a:solidFill>
        <a:ln w="9525" cap="flat" cmpd="sng" algn="ctr">
          <a:solidFill>
            <a:schemeClr val="accent2"/>
          </a:solidFill>
          <a:prstDash val="solid"/>
          <a:round/>
          <a:headEnd type="none" w="med" len="med"/>
          <a:tailEnd type="none" w="med" len="med"/>
        </a:ln>
      </a:spPr>
      <a:bodyPr vert="horz" wrap="none" lIns="90000" tIns="46800" rIns="90000" bIns="46800" numCol="1" anchor="ctr" anchorCtr="0" compatLnSpc="1"/>
      <a:lstStyle>
        <a:def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defRPr kumimoji="0" lang="de-DE" sz="1600" b="0" i="0" u="none" strike="noStrike" cap="none" normalizeH="0" baseline="0" smtClean="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defRPr>
        </a:defPPr>
      </a:lstStyle>
    </a:lnDef>
  </a:objectDefaults>
  <a:extraClrSchemeLst>
    <a:extraClrScheme>
      <a:clrScheme name="PartnerEdge2008_1.0 1">
        <a:dk1>
          <a:srgbClr val="000000"/>
        </a:dk1>
        <a:lt1>
          <a:srgbClr val="FFFFFF"/>
        </a:lt1>
        <a:dk2>
          <a:srgbClr val="44697D"/>
        </a:dk2>
        <a:lt2>
          <a:srgbClr val="CCCCCC"/>
        </a:lt2>
        <a:accent1>
          <a:srgbClr val="F0AB00"/>
        </a:accent1>
        <a:accent2>
          <a:srgbClr val="666666"/>
        </a:accent2>
        <a:accent3>
          <a:srgbClr val="FFFFFF"/>
        </a:accent3>
        <a:accent4>
          <a:srgbClr val="000000"/>
        </a:accent4>
        <a:accent5>
          <a:srgbClr val="F6D2AA"/>
        </a:accent5>
        <a:accent6>
          <a:srgbClr val="5C5C5C"/>
        </a:accent6>
        <a:hlink>
          <a:srgbClr val="04357B"/>
        </a:hlink>
        <a:folHlink>
          <a:srgbClr val="999999"/>
        </a:folHlink>
      </a:clrScheme>
      <a:clrMap bg1="lt1" tx1="dk1" bg2="lt2" tx2="dk2" accent1="accent1" accent2="accent2" accent3="accent3" accent4="accent4" accent5="accent5" accent6="accent6" hlink="hlink" folHlink="folHlink"/>
    </a:extraClrScheme>
    <a:extraClrScheme>
      <a:clrScheme name="PartnerEdge2008_1.0 2">
        <a:dk1>
          <a:srgbClr val="000000"/>
        </a:dk1>
        <a:lt1>
          <a:srgbClr val="FFFFFF"/>
        </a:lt1>
        <a:dk2>
          <a:srgbClr val="6996BE"/>
        </a:dk2>
        <a:lt2>
          <a:srgbClr val="CCCCCC"/>
        </a:lt2>
        <a:accent1>
          <a:srgbClr val="F0AB00"/>
        </a:accent1>
        <a:accent2>
          <a:srgbClr val="666666"/>
        </a:accent2>
        <a:accent3>
          <a:srgbClr val="FFFFFF"/>
        </a:accent3>
        <a:accent4>
          <a:srgbClr val="000000"/>
        </a:accent4>
        <a:accent5>
          <a:srgbClr val="F6D2AA"/>
        </a:accent5>
        <a:accent6>
          <a:srgbClr val="5C5C5C"/>
        </a:accent6>
        <a:hlink>
          <a:srgbClr val="04357B"/>
        </a:hlink>
        <a:folHlink>
          <a:srgbClr val="999999"/>
        </a:folHlink>
      </a:clrScheme>
      <a:clrMap bg1="lt1" tx1="dk1" bg2="lt2" tx2="dk2" accent1="accent1" accent2="accent2" accent3="accent3" accent4="accent4" accent5="accent5" accent6="accent6" hlink="hlink" folHlink="folHlink"/>
    </a:extraClrScheme>
    <a:extraClrScheme>
      <a:clrScheme name="PartnerEdge2008_1.0 3">
        <a:dk1>
          <a:srgbClr val="000000"/>
        </a:dk1>
        <a:lt1>
          <a:srgbClr val="FFFFFF"/>
        </a:lt1>
        <a:dk2>
          <a:srgbClr val="F0AB00"/>
        </a:dk2>
        <a:lt2>
          <a:srgbClr val="CCCCCC"/>
        </a:lt2>
        <a:accent1>
          <a:srgbClr val="6996BE"/>
        </a:accent1>
        <a:accent2>
          <a:srgbClr val="666666"/>
        </a:accent2>
        <a:accent3>
          <a:srgbClr val="FFFFFF"/>
        </a:accent3>
        <a:accent4>
          <a:srgbClr val="000000"/>
        </a:accent4>
        <a:accent5>
          <a:srgbClr val="B9C9DB"/>
        </a:accent5>
        <a:accent6>
          <a:srgbClr val="5C5C5C"/>
        </a:accent6>
        <a:hlink>
          <a:srgbClr val="04357B"/>
        </a:hlink>
        <a:folHlink>
          <a:srgbClr val="9999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3285</TotalTime>
  <Words>6280</Words>
  <Application>Microsoft Office PowerPoint</Application>
  <PresentationFormat>宽屏</PresentationFormat>
  <Paragraphs>618</Paragraphs>
  <Slides>62</Slides>
  <Notes>13</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62</vt:i4>
      </vt:variant>
    </vt:vector>
  </HeadingPairs>
  <TitlesOfParts>
    <vt:vector size="79" baseType="lpstr">
      <vt:lpstr>Arial Unicode MS</vt:lpstr>
      <vt:lpstr>黑体</vt:lpstr>
      <vt:lpstr>华康俪金黑W8(P)</vt:lpstr>
      <vt:lpstr>华文细黑</vt:lpstr>
      <vt:lpstr>楷体</vt:lpstr>
      <vt:lpstr>宋体</vt:lpstr>
      <vt:lpstr>微软雅黑</vt:lpstr>
      <vt:lpstr>Algerian</vt:lpstr>
      <vt:lpstr>Arial</vt:lpstr>
      <vt:lpstr>Arial Black</vt:lpstr>
      <vt:lpstr>Calibri</vt:lpstr>
      <vt:lpstr>Impact</vt:lpstr>
      <vt:lpstr>Microsoft Sans Serif</vt:lpstr>
      <vt:lpstr>Mistral</vt:lpstr>
      <vt:lpstr>Times New Roman</vt:lpstr>
      <vt:lpstr>Wingdings</vt:lpstr>
      <vt:lpstr>1_SAP_PartnerEdge2009_1[1].0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WangBo-Two</cp:lastModifiedBy>
  <cp:revision>77</cp:revision>
  <dcterms:created xsi:type="dcterms:W3CDTF">2017-01-11T14:03:00Z</dcterms:created>
  <dcterms:modified xsi:type="dcterms:W3CDTF">2024-06-14T02:03:45Z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2052-10.1.0.6205</vt:lpwstr>
  </property>
</Properties>
</file>