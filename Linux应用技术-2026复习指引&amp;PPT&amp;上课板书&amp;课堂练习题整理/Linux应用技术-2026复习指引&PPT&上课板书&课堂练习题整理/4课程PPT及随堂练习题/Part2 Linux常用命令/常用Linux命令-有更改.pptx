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8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9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0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6.xml" ContentType="application/vnd.openxmlformats-officedocument.presentationml.notesSlide+xml"/>
  <Override PartName="/ppt/tags/tag8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1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4"/>
  </p:notesMasterIdLst>
  <p:handoutMasterIdLst>
    <p:handoutMasterId r:id="rId135"/>
  </p:handoutMasterIdLst>
  <p:sldIdLst>
    <p:sldId id="328" r:id="rId2"/>
    <p:sldId id="260" r:id="rId3"/>
    <p:sldId id="766" r:id="rId4"/>
    <p:sldId id="1313" r:id="rId5"/>
    <p:sldId id="808" r:id="rId6"/>
    <p:sldId id="809" r:id="rId7"/>
    <p:sldId id="849" r:id="rId8"/>
    <p:sldId id="1427" r:id="rId9"/>
    <p:sldId id="1428" r:id="rId10"/>
    <p:sldId id="1429" r:id="rId11"/>
    <p:sldId id="1430" r:id="rId12"/>
    <p:sldId id="1433" r:id="rId13"/>
    <p:sldId id="1434" r:id="rId14"/>
    <p:sldId id="810" r:id="rId15"/>
    <p:sldId id="898" r:id="rId16"/>
    <p:sldId id="895" r:id="rId17"/>
    <p:sldId id="896" r:id="rId18"/>
    <p:sldId id="811" r:id="rId19"/>
    <p:sldId id="899" r:id="rId20"/>
    <p:sldId id="900" r:id="rId21"/>
    <p:sldId id="1314" r:id="rId22"/>
    <p:sldId id="902" r:id="rId23"/>
    <p:sldId id="903" r:id="rId24"/>
    <p:sldId id="1544" r:id="rId25"/>
    <p:sldId id="904" r:id="rId26"/>
    <p:sldId id="906" r:id="rId27"/>
    <p:sldId id="1545" r:id="rId28"/>
    <p:sldId id="907" r:id="rId29"/>
    <p:sldId id="908" r:id="rId30"/>
    <p:sldId id="909" r:id="rId31"/>
    <p:sldId id="910" r:id="rId32"/>
    <p:sldId id="1315" r:id="rId33"/>
    <p:sldId id="949" r:id="rId34"/>
    <p:sldId id="950" r:id="rId35"/>
    <p:sldId id="954" r:id="rId36"/>
    <p:sldId id="957" r:id="rId37"/>
    <p:sldId id="955" r:id="rId38"/>
    <p:sldId id="953" r:id="rId39"/>
    <p:sldId id="961" r:id="rId40"/>
    <p:sldId id="960" r:id="rId41"/>
    <p:sldId id="962" r:id="rId42"/>
    <p:sldId id="1649" r:id="rId43"/>
    <p:sldId id="1008" r:id="rId44"/>
    <p:sldId id="1009" r:id="rId45"/>
    <p:sldId id="1547" r:id="rId46"/>
    <p:sldId id="1010" r:id="rId47"/>
    <p:sldId id="1011" r:id="rId48"/>
    <p:sldId id="1012" r:id="rId49"/>
    <p:sldId id="1003" r:id="rId50"/>
    <p:sldId id="1548" r:id="rId51"/>
    <p:sldId id="1017" r:id="rId52"/>
    <p:sldId id="1549" r:id="rId53"/>
    <p:sldId id="1065" r:id="rId54"/>
    <p:sldId id="1019" r:id="rId55"/>
    <p:sldId id="1550" r:id="rId56"/>
    <p:sldId id="1066" r:id="rId57"/>
    <p:sldId id="1067" r:id="rId58"/>
    <p:sldId id="1068" r:id="rId59"/>
    <p:sldId id="1069" r:id="rId60"/>
    <p:sldId id="1650" r:id="rId61"/>
    <p:sldId id="1070" r:id="rId62"/>
    <p:sldId id="1013" r:id="rId63"/>
    <p:sldId id="1014" r:id="rId64"/>
    <p:sldId id="1015" r:id="rId65"/>
    <p:sldId id="1016" r:id="rId66"/>
    <p:sldId id="1071" r:id="rId67"/>
    <p:sldId id="1072" r:id="rId68"/>
    <p:sldId id="1073" r:id="rId69"/>
    <p:sldId id="1074" r:id="rId70"/>
    <p:sldId id="1076" r:id="rId71"/>
    <p:sldId id="1077" r:id="rId72"/>
    <p:sldId id="1078" r:id="rId73"/>
    <p:sldId id="1316" r:id="rId74"/>
    <p:sldId id="1175" r:id="rId75"/>
    <p:sldId id="1177" r:id="rId76"/>
    <p:sldId id="1651" r:id="rId77"/>
    <p:sldId id="1552" r:id="rId78"/>
    <p:sldId id="1174" r:id="rId79"/>
    <p:sldId id="1178" r:id="rId80"/>
    <p:sldId id="1179" r:id="rId81"/>
    <p:sldId id="1229" r:id="rId82"/>
    <p:sldId id="1230" r:id="rId83"/>
    <p:sldId id="1231" r:id="rId84"/>
    <p:sldId id="1553" r:id="rId85"/>
    <p:sldId id="1123" r:id="rId86"/>
    <p:sldId id="1233" r:id="rId87"/>
    <p:sldId id="1279" r:id="rId88"/>
    <p:sldId id="1652" r:id="rId89"/>
    <p:sldId id="1124" r:id="rId90"/>
    <p:sldId id="1281" r:id="rId91"/>
    <p:sldId id="1740" r:id="rId92"/>
    <p:sldId id="1282" r:id="rId93"/>
    <p:sldId id="1283" r:id="rId94"/>
    <p:sldId id="1653" r:id="rId95"/>
    <p:sldId id="1284" r:id="rId96"/>
    <p:sldId id="1285" r:id="rId97"/>
    <p:sldId id="1317" r:id="rId98"/>
    <p:sldId id="1286" r:id="rId99"/>
    <p:sldId id="1287" r:id="rId100"/>
    <p:sldId id="1288" r:id="rId101"/>
    <p:sldId id="1289" r:id="rId102"/>
    <p:sldId id="1741" r:id="rId103"/>
    <p:sldId id="1318" r:id="rId104"/>
    <p:sldId id="1127" r:id="rId105"/>
    <p:sldId id="1291" r:id="rId106"/>
    <p:sldId id="1292" r:id="rId107"/>
    <p:sldId id="1132" r:id="rId108"/>
    <p:sldId id="1294" r:id="rId109"/>
    <p:sldId id="1319" r:id="rId110"/>
    <p:sldId id="1128" r:id="rId111"/>
    <p:sldId id="1295" r:id="rId112"/>
    <p:sldId id="1296" r:id="rId113"/>
    <p:sldId id="1129" r:id="rId114"/>
    <p:sldId id="1298" r:id="rId115"/>
    <p:sldId id="1299" r:id="rId116"/>
    <p:sldId id="1301" r:id="rId117"/>
    <p:sldId id="1302" r:id="rId118"/>
    <p:sldId id="1303" r:id="rId119"/>
    <p:sldId id="1304" r:id="rId120"/>
    <p:sldId id="1305" r:id="rId121"/>
    <p:sldId id="1306" r:id="rId122"/>
    <p:sldId id="1320" r:id="rId123"/>
    <p:sldId id="1130" r:id="rId124"/>
    <p:sldId id="1311" r:id="rId125"/>
    <p:sldId id="1310" r:id="rId126"/>
    <p:sldId id="1654" r:id="rId127"/>
    <p:sldId id="1308" r:id="rId128"/>
    <p:sldId id="1321" r:id="rId129"/>
    <p:sldId id="1312" r:id="rId130"/>
    <p:sldId id="1646" r:id="rId131"/>
    <p:sldId id="1645" r:id="rId132"/>
    <p:sldId id="1435" r:id="rId133"/>
  </p:sldIdLst>
  <p:sldSz cx="12192000" cy="6858000"/>
  <p:notesSz cx="7104063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Arial Unicode MS" panose="020B0604020202020204" pitchFamily="34" charset="-122"/>
        <a:cs typeface="Arial Unicode MS" panose="020B0604020202020204" pitchFamily="3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9ACF"/>
    <a:srgbClr val="DE2126"/>
    <a:srgbClr val="CC0000"/>
    <a:srgbClr val="D92227"/>
    <a:srgbClr val="FFC000"/>
    <a:srgbClr val="0B9BD0"/>
    <a:srgbClr val="0D9CD0"/>
    <a:srgbClr val="009900"/>
    <a:srgbClr val="E8A500"/>
    <a:srgbClr val="F6C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0" autoAdjust="0"/>
    <p:restoredTop sz="90141" autoAdjust="0"/>
  </p:normalViewPr>
  <p:slideViewPr>
    <p:cSldViewPr snapToGrid="0">
      <p:cViewPr varScale="1">
        <p:scale>
          <a:sx n="60" d="100"/>
          <a:sy n="60" d="100"/>
        </p:scale>
        <p:origin x="-1138" y="-86"/>
      </p:cViewPr>
      <p:guideLst>
        <p:guide orient="horz" pos="1920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buFont typeface="Arial" panose="020B0604020202090204" pitchFamily="34" charset="0"/>
              <a:buNone/>
              <a:defRPr sz="1245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buFont typeface="Arial" panose="020B0604020202090204" pitchFamily="34" charset="0"/>
              <a:buNone/>
              <a:defRPr sz="1245" noProof="1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C5A39C2-DCDB-4A91-B843-CEA163FE8BB4}" type="datetimeFigureOut">
              <a:rPr lang="zh-CN" altLang="en-US"/>
              <a:t>2021/9/27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buFont typeface="Arial" panose="020B0604020202090204" pitchFamily="34" charset="0"/>
              <a:buNone/>
              <a:defRPr sz="1245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90204" pitchFamily="34" charset="0"/>
              <a:buNone/>
              <a:defRPr sz="1200"/>
            </a:lvl1pPr>
          </a:lstStyle>
          <a:p>
            <a:pPr>
              <a:defRPr/>
            </a:pPr>
            <a:fld id="{6BAC33A3-47FB-4082-826B-926D997FCDB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036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buFont typeface="Arial" panose="020B060402020209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buFont typeface="Arial" panose="020B0604020202090204" pitchFamily="34" charset="0"/>
              <a:buNone/>
              <a:defRPr sz="1200" noProof="1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2D12AD9-1B21-46F8-893C-601AAB1B8675}" type="datetimeFigureOut">
              <a:rPr lang="zh-CN" altLang="en-US"/>
              <a:t>2021/9/27</a:t>
            </a:fld>
            <a:endParaRPr lang="zh-CN" altLang="en-US"/>
          </a:p>
        </p:txBody>
      </p:sp>
      <p:sp>
        <p:nvSpPr>
          <p:cNvPr id="47108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buFont typeface="Arial" panose="020B060402020209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9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FDB1411-5CFF-45D5-9989-BCF80D1790E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014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EAFF227-7F20-4DA8-8FDA-44BEEE95411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915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1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CEDD406-8F44-4401-9932-B6C8EF0C44B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3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4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21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32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DB1411-5CFF-45D5-9989-BCF80D1790E1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73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rPr lang="en-US" altLang="zh-CN" dirty="0"/>
              <a:t>eg1:</a:t>
            </a:r>
            <a:r>
              <a:rPr lang="zh-CN" altLang="en-US" dirty="0"/>
              <a:t>将文件 file1.txt 的拥有者设为 runoob，群组的使用者 runoobgroup :   </a:t>
            </a:r>
            <a:r>
              <a:rPr lang="en-US" altLang="zh-CN" dirty="0"/>
              <a:t>c</a:t>
            </a:r>
            <a:r>
              <a:rPr lang="zh-CN" altLang="en-US" dirty="0"/>
              <a:t>hown runoob:runoobgroup file1.txt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eg2:通过在组前面加一个冒号，可以只更改组.</a:t>
            </a:r>
          </a:p>
          <a:p>
            <a:r>
              <a:rPr lang="en-US" altLang="zh-CN" dirty="0"/>
              <a:t>$ </a:t>
            </a:r>
            <a:r>
              <a:rPr lang="en-US" altLang="zh-CN" dirty="0" err="1"/>
              <a:t>ls</a:t>
            </a:r>
            <a:r>
              <a:rPr lang="en-US" altLang="zh-CN" dirty="0"/>
              <a:t> -l </a:t>
            </a:r>
            <a:r>
              <a:rPr lang="en-US" altLang="zh-CN" dirty="0" err="1"/>
              <a:t>mynotes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-r--. 1 </a:t>
            </a:r>
            <a:r>
              <a:rPr lang="en-US" altLang="zh-CN" dirty="0" err="1"/>
              <a:t>alan</a:t>
            </a:r>
            <a:r>
              <a:rPr lang="en-US" altLang="zh-CN" dirty="0"/>
              <a:t> </a:t>
            </a:r>
            <a:r>
              <a:rPr lang="en-US" altLang="zh-CN" dirty="0" err="1"/>
              <a:t>alan</a:t>
            </a:r>
            <a:r>
              <a:rPr lang="en-US" altLang="zh-CN" dirty="0"/>
              <a:t> 0 Aug  1 12:04 </a:t>
            </a:r>
            <a:r>
              <a:rPr lang="en-US" altLang="zh-CN" dirty="0" err="1"/>
              <a:t>mynotes</a:t>
            </a:r>
            <a:endParaRPr lang="en-US" altLang="zh-CN" dirty="0"/>
          </a:p>
          <a:p>
            <a:r>
              <a:rPr lang="en-US" altLang="zh-CN" dirty="0"/>
              <a:t>$ </a:t>
            </a:r>
            <a:r>
              <a:rPr lang="en-US" altLang="zh-CN" dirty="0" err="1"/>
              <a:t>chown</a:t>
            </a:r>
            <a:r>
              <a:rPr lang="en-US" altLang="zh-CN" dirty="0"/>
              <a:t> :gamma </a:t>
            </a:r>
            <a:r>
              <a:rPr lang="en-US" altLang="zh-CN" dirty="0" err="1"/>
              <a:t>mynotes</a:t>
            </a:r>
            <a:endParaRPr lang="en-US" altLang="zh-CN" dirty="0"/>
          </a:p>
          <a:p>
            <a:r>
              <a:rPr lang="en-US" altLang="zh-CN" dirty="0"/>
              <a:t>$ </a:t>
            </a:r>
            <a:r>
              <a:rPr lang="en-US" altLang="zh-CN" dirty="0" err="1"/>
              <a:t>ls</a:t>
            </a:r>
            <a:r>
              <a:rPr lang="en-US" altLang="zh-CN" dirty="0"/>
              <a:t> -l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-r--. 1 </a:t>
            </a:r>
            <a:r>
              <a:rPr lang="en-US" altLang="zh-CN" dirty="0" err="1"/>
              <a:t>alan</a:t>
            </a:r>
            <a:r>
              <a:rPr lang="en-US" altLang="zh-CN" dirty="0"/>
              <a:t> gamma 0 Aug  1 12:04 </a:t>
            </a:r>
            <a:r>
              <a:rPr lang="en-US" altLang="zh-CN" dirty="0" err="1"/>
              <a:t>mynotes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97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rPr lang="zh-CN" altLang="en-US"/>
              <a:t>.zip</a:t>
            </a:r>
          </a:p>
          <a:p>
            <a:r>
              <a:rPr lang="zh-CN" altLang="en-US"/>
              <a:t>解压：unzip FileName.zip</a:t>
            </a:r>
          </a:p>
          <a:p>
            <a:r>
              <a:rPr lang="zh-CN" altLang="en-US"/>
              <a:t>压缩：zip FileName.zip DirName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rPr lang="zh-CN" altLang="en-US" dirty="0"/>
              <a:t>tar </a:t>
            </a:r>
          </a:p>
          <a:p>
            <a:r>
              <a:rPr lang="zh-CN" altLang="en-US" dirty="0"/>
              <a:t>解包：tar xvf FileName.tar</a:t>
            </a:r>
          </a:p>
          <a:p>
            <a:r>
              <a:rPr lang="zh-CN" altLang="en-US" dirty="0"/>
              <a:t>打包：tar cvf FileName.tar DirName</a:t>
            </a:r>
          </a:p>
          <a:p>
            <a:r>
              <a:rPr lang="zh-CN" altLang="en-US" dirty="0"/>
              <a:t>（注：tar是打包，不是压缩！）</a:t>
            </a:r>
          </a:p>
          <a:p>
            <a:r>
              <a:rPr lang="en-US" altLang="zh-CN" dirty="0"/>
              <a:t>---------</a:t>
            </a:r>
          </a:p>
          <a:p>
            <a:r>
              <a:rPr lang="en-US" altLang="zh-CN" dirty="0"/>
              <a:t>.tar.gz 和 .</a:t>
            </a:r>
            <a:r>
              <a:rPr lang="en-US" altLang="zh-CN" dirty="0" err="1"/>
              <a:t>tgz</a:t>
            </a:r>
            <a:endParaRPr lang="en-US" altLang="zh-CN" dirty="0"/>
          </a:p>
          <a:p>
            <a:r>
              <a:rPr lang="en-US" altLang="zh-CN" dirty="0" err="1"/>
              <a:t>解压：tar</a:t>
            </a:r>
            <a:r>
              <a:rPr lang="en-US" altLang="zh-CN" dirty="0"/>
              <a:t> </a:t>
            </a:r>
            <a:r>
              <a:rPr lang="en-US" altLang="zh-CN" dirty="0" err="1"/>
              <a:t>zxvf</a:t>
            </a:r>
            <a:r>
              <a:rPr lang="en-US" altLang="zh-CN" dirty="0"/>
              <a:t> FileName.tar.gz</a:t>
            </a:r>
          </a:p>
          <a:p>
            <a:r>
              <a:rPr lang="en-US" altLang="zh-CN" dirty="0" err="1"/>
              <a:t>压缩：tar</a:t>
            </a:r>
            <a:r>
              <a:rPr lang="en-US" altLang="zh-CN" dirty="0"/>
              <a:t> </a:t>
            </a:r>
            <a:r>
              <a:rPr lang="en-US" altLang="zh-CN" dirty="0" err="1"/>
              <a:t>zcvf</a:t>
            </a:r>
            <a:r>
              <a:rPr lang="en-US" altLang="zh-CN" dirty="0"/>
              <a:t> FileName.tar.gz </a:t>
            </a:r>
            <a:r>
              <a:rPr lang="en-US" altLang="zh-CN" dirty="0" err="1"/>
              <a:t>DirName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rPr lang="zh-CN" altLang="en-US"/>
              <a:t>tar </a:t>
            </a:r>
          </a:p>
          <a:p>
            <a:r>
              <a:rPr lang="zh-CN" altLang="en-US"/>
              <a:t>解包：tar xvf FileName.tar</a:t>
            </a:r>
          </a:p>
          <a:p>
            <a:r>
              <a:rPr lang="zh-CN" altLang="en-US"/>
              <a:t>打包：tar cvf FileName.tar DirName</a:t>
            </a:r>
          </a:p>
          <a:p>
            <a:r>
              <a:rPr lang="zh-CN" altLang="en-US"/>
              <a:t>（注：tar是打包，不是压缩！）</a:t>
            </a:r>
          </a:p>
          <a:p>
            <a:r>
              <a:rPr lang="en-US" altLang="zh-CN"/>
              <a:t>---------</a:t>
            </a:r>
          </a:p>
          <a:p>
            <a:r>
              <a:rPr lang="en-US" altLang="zh-CN"/>
              <a:t>.tar.gz 和 .tgz</a:t>
            </a:r>
          </a:p>
          <a:p>
            <a:r>
              <a:rPr lang="en-US" altLang="zh-CN"/>
              <a:t>解压：tar zxvf FileName.tar.gz</a:t>
            </a:r>
          </a:p>
          <a:p>
            <a:r>
              <a:rPr lang="en-US" altLang="zh-CN"/>
              <a:t>压缩：tar zcvf FileName.tar.gz DirName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103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109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122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noFill/>
          <a:ln>
            <a:miter lim="800000"/>
          </a:ln>
        </p:spPr>
        <p:txBody>
          <a:bodyPr/>
          <a:lstStyle/>
          <a:p>
            <a:fld id="{6F92B71E-25F2-4AA4-91FD-9D4A7105099D}" type="slidenum">
              <a:rPr lang="en-US" altLang="zh-CN" smtClean="0">
                <a:latin typeface="Arial" panose="020B0604020202090204" pitchFamily="34" charset="0"/>
              </a:rPr>
              <a:t>128</a:t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475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47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B7EC01-864E-40D4-8ACF-B22006FE1010}" type="slidenum">
              <a:rPr lang="zh-CN" altLang="en-US" smtClean="0"/>
              <a:t>132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 userDrawn="1"/>
        </p:nvSpPr>
        <p:spPr bwMode="auto">
          <a:xfrm>
            <a:off x="379413" y="1557338"/>
            <a:ext cx="277812" cy="4086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lIns="0" tIns="0" rIns="0" bIns="0" anchor="ctr">
            <a:spAutoFit/>
          </a:bodyPr>
          <a:lstStyle/>
          <a:p>
            <a:pPr>
              <a:buFont typeface="Arial" panose="020B0604020202090204" pitchFamily="34" charset="0"/>
              <a:buNone/>
              <a:defRPr/>
            </a:pPr>
            <a:r>
              <a:rPr lang="zh-CN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从零起步</a:t>
            </a:r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—— </a:t>
            </a:r>
            <a:r>
              <a:rPr lang="en-US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Premiere Pro CS6 </a:t>
            </a:r>
            <a:r>
              <a:rPr lang="zh-CN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快速上手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 userDrawn="1"/>
        </p:nvSpPr>
        <p:spPr>
          <a:xfrm>
            <a:off x="3944938" y="334010"/>
            <a:ext cx="204787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章前导读</a:t>
            </a:r>
            <a:endParaRPr lang="zh-CN" altLang="en-US" noProof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903980" y="294005"/>
            <a:ext cx="3367405" cy="554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3.1  系统安全性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323723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3.2  命令的使用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4046855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3.3  文件操作命令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4661535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3.4  目录及其操作命令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413639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3.5  文件压缩命令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385191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3.6  进程控制命令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323723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3.7  网络命令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323723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3.8  其他命令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3790315" y="294640"/>
            <a:ext cx="365633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3.9  联机帮助命令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与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9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62AF1DA-47BD-40E3-817E-BD52F294368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99" name="Rectangle 23"/>
          <p:cNvSpPr>
            <a:spLocks noChangeArrowheads="1"/>
          </p:cNvSpPr>
          <p:nvPr/>
        </p:nvSpPr>
        <p:spPr bwMode="gray">
          <a:xfrm>
            <a:off x="438150" y="163830"/>
            <a:ext cx="3054985" cy="81407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buFont typeface="Arial" panose="020B060402020209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1027" name="图片 3" descr="tim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7685" y="313373"/>
            <a:ext cx="5413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TextBox 4"/>
          <p:cNvSpPr txBox="1">
            <a:spLocks noChangeArrowheads="1"/>
          </p:cNvSpPr>
          <p:nvPr/>
        </p:nvSpPr>
        <p:spPr bwMode="auto">
          <a:xfrm>
            <a:off x="923290" y="313690"/>
            <a:ext cx="2418715" cy="483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Arial" panose="020B0604020202090204" pitchFamily="34" charset="0"/>
              <a:buNone/>
              <a:defRPr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sz="2400" b="1">
                <a:latin typeface="Times New Roman" panose="02020503050405090304" pitchFamily="18" charset="0"/>
                <a:ea typeface="微软雅黑" panose="020B0503020204020204" pitchFamily="34" charset="-122"/>
              </a:rPr>
              <a:t>Linux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36" name="矩形 35"/>
          <p:cNvSpPr/>
          <p:nvPr/>
        </p:nvSpPr>
        <p:spPr>
          <a:xfrm>
            <a:off x="41275" y="152400"/>
            <a:ext cx="396875" cy="82708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buFont typeface="Arial" panose="020B0604020202090204" pitchFamily="34" charset="0"/>
              <a:buNone/>
              <a:defRPr/>
            </a:pP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109221" y="98425"/>
            <a:ext cx="260985" cy="95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lIns="0" tIns="0" rIns="0" bIns="0" anchor="ctr">
            <a:spAutoFit/>
          </a:bodyPr>
          <a:lstStyle/>
          <a:p>
            <a:pPr algn="ctr">
              <a:buFont typeface="Arial" panose="020B0604020202090204" pitchFamily="34" charset="0"/>
              <a:buNone/>
              <a:defRPr/>
            </a:pPr>
            <a:r>
              <a:rPr lang="zh-CN" altLang="en-US" sz="16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</a:p>
        </p:txBody>
      </p:sp>
      <p:sp>
        <p:nvSpPr>
          <p:cNvPr id="1031" name="饼形 9"/>
          <p:cNvSpPr>
            <a:spLocks noChangeArrowheads="1"/>
          </p:cNvSpPr>
          <p:nvPr/>
        </p:nvSpPr>
        <p:spPr bwMode="auto">
          <a:xfrm rot="-10440000">
            <a:off x="11614150" y="6323013"/>
            <a:ext cx="1189038" cy="1089025"/>
          </a:xfrm>
          <a:custGeom>
            <a:avLst/>
            <a:gdLst/>
            <a:ahLst/>
            <a:cxnLst>
              <a:cxn ang="0">
                <a:pos x="1184933" y="482865"/>
              </a:cxn>
              <a:cxn ang="0">
                <a:pos x="1188720" y="544195"/>
              </a:cxn>
              <a:cxn ang="0">
                <a:pos x="650440" y="1085999"/>
              </a:cxn>
              <a:cxn ang="0">
                <a:pos x="594360" y="544195"/>
              </a:cxn>
            </a:cxnLst>
            <a:rect l="0" t="0" r="r" b="b"/>
            <a:pathLst>
              <a:path w="1188720" h="1088390">
                <a:moveTo>
                  <a:pt x="1184933" y="482865"/>
                </a:moveTo>
                <a:cubicBezTo>
                  <a:pt x="1187451" y="502959"/>
                  <a:pt x="1188720" y="523442"/>
                  <a:pt x="1188720" y="544195"/>
                </a:cubicBezTo>
                <a:cubicBezTo>
                  <a:pt x="1188720" y="827482"/>
                  <a:pt x="952307" y="1060213"/>
                  <a:pt x="650440" y="1085999"/>
                </a:cubicBezTo>
                <a:lnTo>
                  <a:pt x="594360" y="544195"/>
                </a:lnTo>
                <a:close/>
              </a:path>
            </a:pathLst>
          </a:custGeom>
          <a:solidFill>
            <a:srgbClr val="00B0F0"/>
          </a:solidFill>
          <a:ln w="9525">
            <a:noFill/>
            <a:round/>
          </a:ln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48440" y="6453505"/>
            <a:ext cx="65976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buFont typeface="Arial" panose="020B0604020202090204" pitchFamily="34" charset="0"/>
              <a:buNone/>
              <a:defRPr/>
            </a:pPr>
            <a:fld id="{814D200E-B95F-4368-AFE5-0261574EA689}" type="slidenum">
              <a:rPr lang="zh-CN" altLang="en-US" b="1" noProof="1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503050405090304" pitchFamily="18" charset="0"/>
                <a:ea typeface="楷体" panose="02010609060101010101" pitchFamily="49" charset="-122"/>
                <a:cs typeface="Arial Unicode MS" panose="020B0604020202020204" pitchFamily="34" charset="-122"/>
              </a:rPr>
              <a:t>‹#›</a:t>
            </a:fld>
            <a:endParaRPr lang="zh-CN" altLang="en-US" b="1" noProof="1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503050405090304" pitchFamily="18" charset="0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1033" name="矩形 5"/>
          <p:cNvSpPr>
            <a:spLocks noChangeArrowheads="1"/>
          </p:cNvSpPr>
          <p:nvPr/>
        </p:nvSpPr>
        <p:spPr bwMode="auto">
          <a:xfrm>
            <a:off x="3649345" y="170180"/>
            <a:ext cx="8074660" cy="820420"/>
          </a:xfrm>
          <a:prstGeom prst="rect">
            <a:avLst/>
          </a:prstGeom>
          <a:gradFill rotWithShape="1">
            <a:gsLst>
              <a:gs pos="0">
                <a:srgbClr val="00B0F0"/>
              </a:gs>
              <a:gs pos="50000">
                <a:srgbClr val="0070C0"/>
              </a:gs>
              <a:gs pos="100000">
                <a:srgbClr val="00B0F0"/>
              </a:gs>
            </a:gsLst>
            <a:lin ang="15720000"/>
          </a:gradFill>
          <a:ln w="9525">
            <a:noFill/>
            <a:miter lim="800000"/>
          </a:ln>
        </p:spPr>
        <p:txBody>
          <a:bodyPr wrap="none" lIns="90000" tIns="46800" rIns="90000" bIns="46800" anchor="ctr"/>
          <a:lstStyle/>
          <a:p>
            <a:pPr algn="ctr"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/>
            </a:pPr>
            <a:endParaRPr lang="de-DE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宋体" panose="02010600030101010101" pitchFamily="2" charset="-122"/>
          <a:ea typeface="宋体" panose="0201060003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2900" indent="-342900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•"/>
        <a:defRPr sz="3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184150" indent="-182880" algn="l" rtl="0" eaLnBrk="0" fontAlgn="base" hangingPunct="0">
        <a:spcBef>
          <a:spcPct val="25000"/>
        </a:spcBef>
        <a:spcAft>
          <a:spcPct val="0"/>
        </a:spcAft>
        <a:buClr>
          <a:srgbClr val="F0AB00"/>
        </a:buClr>
        <a:buSzPct val="8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541655" indent="-195580" algn="l" rtl="0" eaLnBrk="0" fontAlgn="base" hangingPunct="0">
        <a:spcBef>
          <a:spcPct val="25000"/>
        </a:spcBef>
        <a:spcAft>
          <a:spcPct val="0"/>
        </a:spcAft>
        <a:buClr>
          <a:srgbClr val="666666"/>
        </a:buClr>
        <a:buSzPct val="8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708025" indent="-165100" algn="l" rtl="0" eaLnBrk="0" fontAlgn="base" hangingPunct="0">
        <a:spcBef>
          <a:spcPct val="2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904875" indent="-195580" algn="l" rtl="0" eaLnBrk="0" fontAlgn="base" hangingPunct="0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3620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8192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2764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7336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9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8.xml"/><Relationship Id="rId7" Type="http://schemas.openxmlformats.org/officeDocument/2006/relationships/image" Target="../media/image2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2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30.jpe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31.jpe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7" Type="http://schemas.openxmlformats.org/officeDocument/2006/relationships/image" Target="../media/image31.jpe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image" Target="../media/image2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image" Target="../media/image22.png"/><Relationship Id="rId4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8.xml"/><Relationship Id="rId4" Type="http://schemas.openxmlformats.org/officeDocument/2006/relationships/image" Target="../media/image3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image" Target="../media/image2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image" Target="../media/image35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22.png"/><Relationship Id="rId4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3.xml"/><Relationship Id="rId4" Type="http://schemas.openxmlformats.org/officeDocument/2006/relationships/image" Target="../media/image22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image" Target="../media/image2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6.xml"/><Relationship Id="rId4" Type="http://schemas.openxmlformats.org/officeDocument/2006/relationships/image" Target="../media/image2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7.xml"/><Relationship Id="rId4" Type="http://schemas.openxmlformats.org/officeDocument/2006/relationships/image" Target="../media/image2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Relationship Id="rId4" Type="http://schemas.openxmlformats.org/officeDocument/2006/relationships/image" Target="../media/image41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image" Target="../media/image2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9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0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image" Target="../media/image2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5.jpe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5.xml"/><Relationship Id="rId4" Type="http://schemas.openxmlformats.org/officeDocument/2006/relationships/image" Target="../media/image46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63513" y="-25400"/>
            <a:ext cx="12584113" cy="575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-161925" y="-25400"/>
            <a:ext cx="12582525" cy="7369175"/>
          </a:xfrm>
          <a:prstGeom prst="rect">
            <a:avLst/>
          </a:prstGeom>
          <a:solidFill>
            <a:srgbClr val="000E2A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24" name="文本框 4"/>
          <p:cNvSpPr txBox="1">
            <a:spLocks noChangeArrowheads="1"/>
          </p:cNvSpPr>
          <p:nvPr/>
        </p:nvSpPr>
        <p:spPr bwMode="auto">
          <a:xfrm>
            <a:off x="1400175" y="2384425"/>
            <a:ext cx="9967913" cy="1108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66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操作系统及应用技术</a:t>
            </a:r>
          </a:p>
        </p:txBody>
      </p:sp>
      <p:sp>
        <p:nvSpPr>
          <p:cNvPr id="6" name="矩形 5"/>
          <p:cNvSpPr/>
          <p:nvPr/>
        </p:nvSpPr>
        <p:spPr>
          <a:xfrm>
            <a:off x="3712210" y="3968750"/>
            <a:ext cx="5147945" cy="5778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6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sz="2600" dirty="0">
                <a:solidFill>
                  <a:schemeClr val="bg1">
                    <a:lumMod val="75000"/>
                  </a:schemeClr>
                </a:solidFill>
                <a:ea typeface="微软雅黑" panose="020B0503020204020204" pitchFamily="34" charset="-122"/>
              </a:rPr>
              <a:t>常用Linux命令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-161925" y="4921250"/>
            <a:ext cx="12580938" cy="2422525"/>
          </a:xfrm>
          <a:custGeom>
            <a:avLst/>
            <a:gdLst>
              <a:gd name="connsiteX0" fmla="*/ 0 w 12192000"/>
              <a:gd name="connsiteY0" fmla="*/ 0 h 2070437"/>
              <a:gd name="connsiteX1" fmla="*/ 5436625 w 12192000"/>
              <a:gd name="connsiteY1" fmla="*/ 0 h 2070437"/>
              <a:gd name="connsiteX2" fmla="*/ 5525440 w 12192000"/>
              <a:gd name="connsiteY2" fmla="*/ 7837 h 2070437"/>
              <a:gd name="connsiteX3" fmla="*/ 6091201 w 12192000"/>
              <a:gd name="connsiteY3" fmla="*/ 559628 h 2070437"/>
              <a:gd name="connsiteX4" fmla="*/ 6096239 w 12192000"/>
              <a:gd name="connsiteY4" fmla="*/ 609600 h 2070437"/>
              <a:gd name="connsiteX5" fmla="*/ 6114805 w 12192000"/>
              <a:gd name="connsiteY5" fmla="*/ 609600 h 2070437"/>
              <a:gd name="connsiteX6" fmla="*/ 6119842 w 12192000"/>
              <a:gd name="connsiteY6" fmla="*/ 559628 h 2070437"/>
              <a:gd name="connsiteX7" fmla="*/ 6685604 w 12192000"/>
              <a:gd name="connsiteY7" fmla="*/ 7837 h 2070437"/>
              <a:gd name="connsiteX8" fmla="*/ 6774419 w 12192000"/>
              <a:gd name="connsiteY8" fmla="*/ 0 h 2070437"/>
              <a:gd name="connsiteX9" fmla="*/ 12192000 w 12192000"/>
              <a:gd name="connsiteY9" fmla="*/ 0 h 2070437"/>
              <a:gd name="connsiteX10" fmla="*/ 12192000 w 12192000"/>
              <a:gd name="connsiteY10" fmla="*/ 2070437 h 2070437"/>
              <a:gd name="connsiteX11" fmla="*/ 0 w 12192000"/>
              <a:gd name="connsiteY11" fmla="*/ 2070437 h 207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70437">
                <a:moveTo>
                  <a:pt x="0" y="0"/>
                </a:moveTo>
                <a:lnTo>
                  <a:pt x="5436625" y="0"/>
                </a:lnTo>
                <a:lnTo>
                  <a:pt x="5525440" y="7837"/>
                </a:lnTo>
                <a:cubicBezTo>
                  <a:pt x="5808922" y="58474"/>
                  <a:pt x="6033693" y="278587"/>
                  <a:pt x="6091201" y="559628"/>
                </a:cubicBezTo>
                <a:lnTo>
                  <a:pt x="6096239" y="609600"/>
                </a:lnTo>
                <a:lnTo>
                  <a:pt x="6114805" y="609600"/>
                </a:lnTo>
                <a:lnTo>
                  <a:pt x="6119842" y="559628"/>
                </a:lnTo>
                <a:cubicBezTo>
                  <a:pt x="6177351" y="278587"/>
                  <a:pt x="6402121" y="58474"/>
                  <a:pt x="6685604" y="7837"/>
                </a:cubicBezTo>
                <a:lnTo>
                  <a:pt x="6774419" y="0"/>
                </a:lnTo>
                <a:lnTo>
                  <a:pt x="12192000" y="0"/>
                </a:lnTo>
                <a:lnTo>
                  <a:pt x="12192000" y="2070437"/>
                </a:lnTo>
                <a:lnTo>
                  <a:pt x="0" y="2070437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98830" y="1503680"/>
            <a:ext cx="5543550" cy="4206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Linux提供了大量的命令，利用它可以有效地完成大量的工作，如磁盘操作、文件存取、目录操作、进程管理、文件权限设定等。所以，在Linux系统上工作离不开使用系统提供的命令。要想真正理解Linux系统，就必须从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Linux命令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学起。初学者通过学习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基础的命令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，可以进一步理解Linux系统。经验丰富的运维人员可以恰当地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组合命令与参数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，使Linux字符命令更加灵活且减少系统资源消耗。</a:t>
            </a:r>
          </a:p>
        </p:txBody>
      </p:sp>
      <p:sp>
        <p:nvSpPr>
          <p:cNvPr id="19" name="矩形 18"/>
          <p:cNvSpPr/>
          <p:nvPr/>
        </p:nvSpPr>
        <p:spPr>
          <a:xfrm flipV="1">
            <a:off x="37147" y="6096000"/>
            <a:ext cx="12117388" cy="93663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 typeface="Arial" panose="020B060402020209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4099" name="Picture 3" descr="C:\Users\Administrator\桌面\b6762199-ee66-4a22-9d9c-f0d761a45996.jpgb6762199-ee66-4a22-9d9c-f0d761a459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1666875"/>
            <a:ext cx="5066665" cy="3798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0" name="Group 5"/>
          <p:cNvGrpSpPr/>
          <p:nvPr/>
        </p:nvGrpSpPr>
        <p:grpSpPr bwMode="auto">
          <a:xfrm>
            <a:off x="2021205" y="2375535"/>
            <a:ext cx="4041140" cy="481330"/>
            <a:chOff x="3" y="0"/>
            <a:chExt cx="4243" cy="333"/>
          </a:xfrm>
        </p:grpSpPr>
        <p:grpSp>
          <p:nvGrpSpPr>
            <p:cNvPr id="2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3.1  系统安全性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01520" y="3188335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3.2  命令的使用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31365" y="396557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3.3  文件操作命令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87245" y="469074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3.4  目录及其操作命令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ldLvl="0" animBg="1"/>
      <p:bldP spid="6148" grpId="0" bldLvl="0"/>
      <p:bldP spid="6148" grpId="1" bldLvl="0"/>
      <p:bldP spid="6148" grpId="2" bldLvl="0"/>
      <p:bldP spid="6148" grpId="3" bldLvl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0" name="Group 5"/>
          <p:cNvGrpSpPr/>
          <p:nvPr/>
        </p:nvGrpSpPr>
        <p:grpSpPr bwMode="auto">
          <a:xfrm>
            <a:off x="2021205" y="2375535"/>
            <a:ext cx="4041140" cy="481330"/>
            <a:chOff x="3" y="0"/>
            <a:chExt cx="4243" cy="333"/>
          </a:xfrm>
        </p:grpSpPr>
        <p:grpSp>
          <p:nvGrpSpPr>
            <p:cNvPr id="2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3.1  系统安全性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01520" y="3188335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3.2  命令的使用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31365" y="396557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3.3  文件操作命令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87245" y="469074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3.4  目录及其操作命令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839470" y="1586865"/>
            <a:ext cx="10658475" cy="4526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83432" y="2065984"/>
            <a:ext cx="4608512" cy="3749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作为一个多用户、多任务的操作系统，Linux不仅需要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共享硬件资源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，而且需要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共享软件资源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。由于信息本身往往具有保密的性质，而且用户对系统的需求和使用方式也不同，所以进入Linux系统有一个过程，即它对想访问系统的用户要进行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识别和验证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。该处理过程就被称为注册，也称为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登录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0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91810" y="1762125"/>
            <a:ext cx="144145" cy="4168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79976" y="2166874"/>
            <a:ext cx="5616624" cy="237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用户完成了自己的工作，想要离开计算机之前，应该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退出系统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。输入退出系统的命令之后，系统进行相应的处理，关闭该用户的账户，回收该用户占用的资源等。这样，既节省了系统资源，提高运行效率，又保护了用户的信息。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79465" y="4528820"/>
            <a:ext cx="5617845" cy="1463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作为一种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安全机制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，每个用户都应该有自己的口令。恰当地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选择或修改口令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是至关重要的一项工作。</a:t>
            </a:r>
            <a:endParaRPr lang="zh-CN" altLang="en-US" sz="20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59552" y="2180982"/>
            <a:ext cx="525658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6"/>
          <p:cNvSpPr txBox="1"/>
          <p:nvPr/>
        </p:nvSpPr>
        <p:spPr>
          <a:xfrm>
            <a:off x="7440930" y="1541145"/>
            <a:ext cx="202374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安全性介绍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sp>
        <p:nvSpPr>
          <p:cNvPr id="23" name="矩形 22"/>
          <p:cNvSpPr/>
          <p:nvPr/>
        </p:nvSpPr>
        <p:spPr>
          <a:xfrm>
            <a:off x="715010" y="1395095"/>
            <a:ext cx="444500" cy="36703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54990" y="122650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3.1.1  注册和退出系统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sp>
        <p:nvSpPr>
          <p:cNvPr id="30" name="TextBox 2"/>
          <p:cNvSpPr txBox="1"/>
          <p:nvPr/>
        </p:nvSpPr>
        <p:spPr>
          <a:xfrm>
            <a:off x="904875" y="2435860"/>
            <a:ext cx="5847715" cy="3154680"/>
          </a:xfrm>
          <a:prstGeom prst="rect">
            <a:avLst/>
          </a:prstGeom>
          <a:noFill/>
          <a:ln w="28575">
            <a:solidFill>
              <a:srgbClr val="00A7E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只有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被授权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的用户才能够注册进入Linux系统。如果是一个新用户，那么在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第一次注册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进入系统之前，应由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系统管理员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为新用户建立一个账户。该账户包括用户名、用户口令及用户主目录等信息。在系统中建立账户以后，新用户就是一个被授权使用系统的用户了。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73150" y="2188210"/>
            <a:ext cx="2401570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1．注册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812280" y="2138680"/>
              <a:ext cx="361950" cy="347663"/>
              <a:chOff x="7070971" y="788848"/>
              <a:chExt cx="1800200" cy="180020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070971" y="788848"/>
                <a:ext cx="1800200" cy="1800200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576290" y="1166972"/>
                <a:ext cx="789561" cy="104395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989445" y="1353185"/>
            <a:ext cx="4834890" cy="4834890"/>
            <a:chOff x="11007" y="2131"/>
            <a:chExt cx="7614" cy="7614"/>
          </a:xfrm>
        </p:grpSpPr>
        <p:pic>
          <p:nvPicPr>
            <p:cNvPr id="20482" name="图片 1" descr="白板10"/>
            <p:cNvPicPr>
              <a:picLocks noGrp="1"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7" y="2131"/>
              <a:ext cx="7615" cy="76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矩形 2"/>
            <p:cNvSpPr/>
            <p:nvPr/>
          </p:nvSpPr>
          <p:spPr>
            <a:xfrm>
              <a:off x="11400" y="2841"/>
              <a:ext cx="3222" cy="11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40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04190" y="1449705"/>
            <a:ext cx="2401570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1．注册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812280" y="2138680"/>
              <a:ext cx="361950" cy="347663"/>
              <a:chOff x="7070971" y="788848"/>
              <a:chExt cx="1800200" cy="180020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070971" y="788848"/>
                <a:ext cx="1800200" cy="1800200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576290" y="1166972"/>
                <a:ext cx="789561" cy="104395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2936240" y="1435100"/>
            <a:ext cx="7342505" cy="603250"/>
            <a:chOff x="4173" y="1988"/>
            <a:chExt cx="13774" cy="1032"/>
          </a:xfrm>
        </p:grpSpPr>
        <p:sp>
          <p:nvSpPr>
            <p:cNvPr id="6" name="剪去单角的矩形 5"/>
            <p:cNvSpPr/>
            <p:nvPr/>
          </p:nvSpPr>
          <p:spPr>
            <a:xfrm flipH="1">
              <a:off x="4173" y="1988"/>
              <a:ext cx="13774" cy="1032"/>
            </a:xfrm>
            <a:prstGeom prst="snip1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5297" y="2013"/>
              <a:ext cx="12501" cy="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注册进入系统时，用户需要向系统提供下述信息。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93115" y="2124075"/>
            <a:ext cx="10251440" cy="3564890"/>
            <a:chOff x="1249" y="3345"/>
            <a:chExt cx="16144" cy="5614"/>
          </a:xfrm>
        </p:grpSpPr>
        <p:grpSp>
          <p:nvGrpSpPr>
            <p:cNvPr id="27" name="组合 26"/>
            <p:cNvGrpSpPr/>
            <p:nvPr/>
          </p:nvGrpSpPr>
          <p:grpSpPr>
            <a:xfrm>
              <a:off x="1333" y="3345"/>
              <a:ext cx="16061" cy="5614"/>
              <a:chOff x="1333" y="3345"/>
              <a:chExt cx="16061" cy="5614"/>
            </a:xfrm>
          </p:grpSpPr>
          <p:sp>
            <p:nvSpPr>
              <p:cNvPr id="11" name="流程图: 过程 10"/>
              <p:cNvSpPr/>
              <p:nvPr/>
            </p:nvSpPr>
            <p:spPr>
              <a:xfrm>
                <a:off x="2299" y="7520"/>
                <a:ext cx="11490" cy="1439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457200" algn="l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endPara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8"/>
                  <a:sym typeface="Arial Unicode MS" panose="020B0604020202020204" pitchFamily="34" charset="-122"/>
                </a:endParaRPr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1333" y="3345"/>
                <a:ext cx="16061" cy="5543"/>
                <a:chOff x="1333" y="3345"/>
                <a:chExt cx="16061" cy="5543"/>
              </a:xfrm>
            </p:grpSpPr>
            <p:sp>
              <p:nvSpPr>
                <p:cNvPr id="9" name="流程图: 过程 8"/>
                <p:cNvSpPr/>
                <p:nvPr/>
              </p:nvSpPr>
              <p:spPr>
                <a:xfrm>
                  <a:off x="2347" y="5076"/>
                  <a:ext cx="4223" cy="649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#localhost login: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1555" y="7304"/>
                  <a:ext cx="11998" cy="15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#localhost login:studentL（studentL是用户输入的注册名）</a:t>
                  </a:r>
                </a:p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#Password:</a:t>
                  </a:r>
                </a:p>
              </p:txBody>
            </p:sp>
            <p:sp>
              <p:nvSpPr>
                <p:cNvPr id="4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333" y="3345"/>
                  <a:ext cx="15803" cy="15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sym typeface="Arial Unicode MS" panose="020B0604020202020204" pitchFamily="34" charset="-122"/>
                    </a:rPr>
                    <a:t>（1）注册名</a:t>
                  </a:r>
                  <a:endPara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Arial Unicode MS" panose="020B0604020202020204" pitchFamily="34" charset="-122"/>
                    </a:rPr>
                    <a:t>当用户在计算机屏幕上看到如下提示时，就表示计算机已准备接受用户的注册：</a:t>
                  </a:r>
                </a:p>
              </p:txBody>
            </p:sp>
            <p:sp>
              <p:nvSpPr>
                <p:cNvPr id="2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591" y="5878"/>
                  <a:ext cx="15803" cy="15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Arial Unicode MS" panose="020B0604020202020204" pitchFamily="34" charset="-122"/>
                    </a:rPr>
                    <a:t>这时，输入用户的注册名（有时也称其为用户名），然后按下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  <a:sym typeface="Arial Unicode MS" panose="020B0604020202020204" pitchFamily="34" charset="-122"/>
                    </a:rPr>
                    <a:t>【Enter】键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Arial Unicode MS" panose="020B0604020202020204" pitchFamily="34" charset="-122"/>
                    </a:rPr>
                    <a:t>。</a:t>
                  </a: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Arial Unicode MS" panose="020B0604020202020204" pitchFamily="34" charset="-122"/>
                    </a:rPr>
                    <a:t>此时，在屏幕上会看到自己的用户名和要求输入口令的提示：</a:t>
                  </a:r>
                </a:p>
              </p:txBody>
            </p:sp>
          </p:grpSp>
        </p:grpSp>
        <p:sp>
          <p:nvSpPr>
            <p:cNvPr id="4" name="任意多边形 3"/>
            <p:cNvSpPr/>
            <p:nvPr/>
          </p:nvSpPr>
          <p:spPr>
            <a:xfrm rot="2474620">
              <a:off x="1249" y="3431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619490" y="4592320"/>
            <a:ext cx="3137535" cy="1847850"/>
            <a:chOff x="15037" y="7916"/>
            <a:chExt cx="4941" cy="2910"/>
          </a:xfrm>
        </p:grpSpPr>
        <p:grpSp>
          <p:nvGrpSpPr>
            <p:cNvPr id="14" name="组合 14"/>
            <p:cNvGrpSpPr/>
            <p:nvPr/>
          </p:nvGrpSpPr>
          <p:grpSpPr bwMode="auto">
            <a:xfrm>
              <a:off x="15108" y="8481"/>
              <a:ext cx="4870" cy="2345"/>
              <a:chOff x="1166778" y="1723580"/>
              <a:chExt cx="9858444" cy="1776858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23580"/>
                <a:ext cx="9858444" cy="1776858"/>
                <a:chOff x="1166778" y="1723580"/>
                <a:chExt cx="9858444" cy="1776858"/>
              </a:xfrm>
            </p:grpSpPr>
            <p:sp>
              <p:nvSpPr>
                <p:cNvPr id="15" name="矩形 14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3338877" y="1723580"/>
                  <a:ext cx="2479793" cy="5455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66778" y="2214554"/>
                <a:ext cx="9858444" cy="121444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2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系统管理员可以根据需要设置不同的提示词。</a:t>
                </a:r>
              </a:p>
            </p:txBody>
          </p:sp>
        </p:grpSp>
        <p:pic>
          <p:nvPicPr>
            <p:cNvPr id="16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037" y="7916"/>
              <a:ext cx="1463" cy="1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04190" y="1449705"/>
            <a:ext cx="2401570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1．注册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812280" y="2138680"/>
              <a:ext cx="361950" cy="347663"/>
              <a:chOff x="7070971" y="788848"/>
              <a:chExt cx="1800200" cy="180020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070971" y="788848"/>
                <a:ext cx="1800200" cy="1800200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576290" y="1166972"/>
                <a:ext cx="789561" cy="104395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2936240" y="1435100"/>
            <a:ext cx="7342505" cy="603250"/>
            <a:chOff x="4173" y="1988"/>
            <a:chExt cx="13774" cy="1032"/>
          </a:xfrm>
        </p:grpSpPr>
        <p:sp>
          <p:nvSpPr>
            <p:cNvPr id="6" name="剪去单角的矩形 5"/>
            <p:cNvSpPr/>
            <p:nvPr/>
          </p:nvSpPr>
          <p:spPr>
            <a:xfrm flipH="1">
              <a:off x="4173" y="1988"/>
              <a:ext cx="13774" cy="1032"/>
            </a:xfrm>
            <a:prstGeom prst="snip1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5297" y="2013"/>
              <a:ext cx="12501" cy="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注册进入系统时，用户需要向系统提供下述信息。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7715" y="1972310"/>
            <a:ext cx="11010900" cy="4253230"/>
            <a:chOff x="1209" y="3106"/>
            <a:chExt cx="17340" cy="6698"/>
          </a:xfrm>
        </p:grpSpPr>
        <p:grpSp>
          <p:nvGrpSpPr>
            <p:cNvPr id="23" name="组合 22"/>
            <p:cNvGrpSpPr/>
            <p:nvPr/>
          </p:nvGrpSpPr>
          <p:grpSpPr>
            <a:xfrm>
              <a:off x="1431" y="3106"/>
              <a:ext cx="17119" cy="6698"/>
              <a:chOff x="1431" y="3106"/>
              <a:chExt cx="16142" cy="6698"/>
            </a:xfrm>
          </p:grpSpPr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1431" y="3106"/>
                <a:ext cx="9612" cy="15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  <a:sym typeface="Arial Unicode MS" panose="020B0604020202020204" pitchFamily="34" charset="-122"/>
                  </a:rPr>
                  <a:t>（2）口令</a:t>
                </a:r>
                <a:endPara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18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当屏幕上出现如下提示时，可输入用户的账户口令：</a:t>
                </a:r>
              </a:p>
            </p:txBody>
          </p:sp>
          <p:sp>
            <p:nvSpPr>
              <p:cNvPr id="20" name="Text Box 44"/>
              <p:cNvSpPr txBox="1">
                <a:spLocks noChangeArrowheads="1"/>
              </p:cNvSpPr>
              <p:nvPr/>
            </p:nvSpPr>
            <p:spPr bwMode="auto">
              <a:xfrm>
                <a:off x="1770" y="5474"/>
                <a:ext cx="15803" cy="2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输入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Arial Unicode MS" panose="020B0604020202020204" pitchFamily="34" charset="-122"/>
                  </a:rPr>
                  <a:t>口令</a:t>
                </a:r>
                <a:r>
                  <a:rPr lang="zh-CN" altLang="en-US" sz="20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后，再按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Arial Unicode MS" panose="020B0604020202020204" pitchFamily="34" charset="-122"/>
                  </a:rPr>
                  <a:t>【Enter】键</a:t>
                </a:r>
                <a:r>
                  <a:rPr lang="zh-CN" altLang="en-US" sz="20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，如果用户输入的注册名和口令都正确，那么系统会在屏幕上显示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Arial Unicode MS" panose="020B0604020202020204" pitchFamily="34" charset="-122"/>
                  </a:rPr>
                  <a:t>shell提示符</a:t>
                </a:r>
                <a:r>
                  <a:rPr lang="zh-CN" altLang="en-US" sz="20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，表示注册成功。接着，用户就可以输入命令完成自己要做的工作了。</a:t>
                </a:r>
                <a:endPara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如果用户输入的注册名或者口令不正确，那么系统将发出注册有错的信息：</a:t>
                </a:r>
              </a:p>
            </p:txBody>
          </p:sp>
          <p:sp>
            <p:nvSpPr>
              <p:cNvPr id="4" name="流程图: 过程 3"/>
              <p:cNvSpPr/>
              <p:nvPr/>
            </p:nvSpPr>
            <p:spPr>
              <a:xfrm>
                <a:off x="2394" y="4618"/>
                <a:ext cx="3535" cy="792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rPr>
                  <a:t>#Password:</a:t>
                </a: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2394" y="7859"/>
                <a:ext cx="3883" cy="937"/>
                <a:chOff x="2250" y="8258"/>
                <a:chExt cx="3883" cy="937"/>
              </a:xfrm>
            </p:grpSpPr>
            <p:sp>
              <p:nvSpPr>
                <p:cNvPr id="19" name="流程图: 过程 18"/>
                <p:cNvSpPr/>
                <p:nvPr/>
              </p:nvSpPr>
              <p:spPr>
                <a:xfrm>
                  <a:off x="2250" y="8403"/>
                  <a:ext cx="3883" cy="792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endPara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2516" y="8258"/>
                  <a:ext cx="3270" cy="8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indent="0" algn="l" eaLnBrk="1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Login  incorrect</a:t>
                  </a:r>
                </a:p>
              </p:txBody>
            </p:sp>
          </p:grpSp>
          <p:sp>
            <p:nvSpPr>
              <p:cNvPr id="22" name="Text Box 44"/>
              <p:cNvSpPr txBox="1">
                <a:spLocks noChangeArrowheads="1"/>
              </p:cNvSpPr>
              <p:nvPr/>
            </p:nvSpPr>
            <p:spPr bwMode="auto">
              <a:xfrm>
                <a:off x="1795" y="8451"/>
                <a:ext cx="10523" cy="1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>
                  <a:lnSpc>
                    <a:spcPct val="210000"/>
                  </a:lnSpc>
                  <a:buFont typeface="Arial" panose="020B0604020202090204" pitchFamily="34" charset="0"/>
                  <a:buNone/>
                </a:pPr>
                <a:r>
                  <a:rPr lang="zh-CN" altLang="en-US" sz="2400" dirty="0">
                    <a:solidFill>
                      <a:schemeClr val="bg2">
                        <a:lumMod val="25000"/>
                      </a:schemeClr>
                    </a:solidFill>
                    <a:sym typeface="Arial Unicode MS" panose="020B0604020202020204" pitchFamily="34" charset="-122"/>
                  </a:rPr>
                  <a:t>然后，系统重新发出注册提示信息，让用户重试。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 rot="2474620">
              <a:off x="1209" y="3217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3"/>
          <p:cNvSpPr>
            <a:spLocks noChangeArrowheads="1"/>
          </p:cNvSpPr>
          <p:nvPr/>
        </p:nvSpPr>
        <p:spPr bwMode="gray">
          <a:xfrm>
            <a:off x="504190" y="1513205"/>
            <a:ext cx="11274425" cy="496697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8320" y="1243330"/>
            <a:ext cx="3070860" cy="553085"/>
            <a:chOff x="6668135" y="2035810"/>
            <a:chExt cx="2401570" cy="553085"/>
          </a:xfrm>
        </p:grpSpPr>
        <p:sp>
          <p:nvSpPr>
            <p:cNvPr id="12" name="圆角矩形 1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4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．退出系统</a:t>
              </a:r>
            </a:p>
          </p:txBody>
        </p:sp>
        <p:grpSp>
          <p:nvGrpSpPr>
            <p:cNvPr id="15" name="组合 36"/>
            <p:cNvGrpSpPr/>
            <p:nvPr/>
          </p:nvGrpSpPr>
          <p:grpSpPr bwMode="auto">
            <a:xfrm>
              <a:off x="6812280" y="2071370"/>
              <a:ext cx="362023" cy="415290"/>
              <a:chOff x="7070971" y="440317"/>
              <a:chExt cx="1800564" cy="2150373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7070971" y="440317"/>
                <a:ext cx="1800564" cy="2150373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7" name="燕尾形 16"/>
              <p:cNvSpPr/>
              <p:nvPr/>
            </p:nvSpPr>
            <p:spPr>
              <a:xfrm>
                <a:off x="7555073" y="874337"/>
                <a:ext cx="832360" cy="1282332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289560" y="2078990"/>
            <a:ext cx="7920355" cy="3432810"/>
            <a:chOff x="456" y="3274"/>
            <a:chExt cx="12473" cy="5406"/>
          </a:xfrm>
        </p:grpSpPr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191" y="3274"/>
              <a:ext cx="11738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 eaLnBrk="1" latinLnBrk="0" hangingPunct="1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 Unicode MS" panose="020B0604020202020204" pitchFamily="34" charset="-122"/>
                </a:rPr>
                <a:t>当完成任务想要退出系统时，可以在提示符后面输入以下命令：</a:t>
              </a: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456" y="5324"/>
              <a:ext cx="6396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 Unicode MS" panose="020B0604020202020204" pitchFamily="34" charset="-122"/>
                </a:rPr>
                <a:t>然后按【Enter】键，例如：</a:t>
              </a: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706" y="8062"/>
              <a:ext cx="11511" cy="6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50000"/>
                </a:lnSpc>
                <a:buFont typeface="Arial" panose="020B060402020209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 Unicode MS" panose="020B0604020202020204" pitchFamily="34" charset="-122"/>
                </a:rPr>
                <a:t>系统进行相应的处理后，会重新在屏幕上显示注册提示信息。</a:t>
              </a:r>
            </a:p>
          </p:txBody>
        </p:sp>
        <p:sp>
          <p:nvSpPr>
            <p:cNvPr id="10" name="流程图: 过程 9"/>
            <p:cNvSpPr/>
            <p:nvPr/>
          </p:nvSpPr>
          <p:spPr>
            <a:xfrm>
              <a:off x="1318" y="4446"/>
              <a:ext cx="2885" cy="720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8"/>
                  <a:sym typeface="Arial Unicode MS" panose="020B0604020202020204" pitchFamily="34" charset="-122"/>
                </a:rPr>
                <a:t>logout</a:t>
              </a: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919" y="6370"/>
              <a:ext cx="12010" cy="1438"/>
              <a:chOff x="1851" y="6285"/>
              <a:chExt cx="12010" cy="1438"/>
            </a:xfrm>
          </p:grpSpPr>
          <p:sp>
            <p:nvSpPr>
              <p:cNvPr id="24" name="流程图: 过程 23"/>
              <p:cNvSpPr/>
              <p:nvPr/>
            </p:nvSpPr>
            <p:spPr>
              <a:xfrm>
                <a:off x="2371" y="6285"/>
                <a:ext cx="11490" cy="1439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457200" algn="l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endPara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8"/>
                  <a:sym typeface="Arial Unicode MS" panose="020B0604020202020204" pitchFamily="3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851" y="6370"/>
                <a:ext cx="11086" cy="1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indent="457200" algn="l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rPr>
                  <a:t>[studentL @localhost studentL]$logout 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475345" y="4625340"/>
            <a:ext cx="3262630" cy="1854835"/>
            <a:chOff x="13357" y="6957"/>
            <a:chExt cx="5138" cy="2921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522"/>
              <a:ext cx="5138" cy="2357"/>
              <a:chOff x="1166778" y="1714488"/>
              <a:chExt cx="9858444" cy="1785950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14488"/>
                <a:ext cx="9858444" cy="1785950"/>
                <a:chOff x="1166778" y="1714488"/>
                <a:chExt cx="9858444" cy="178595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2755870" y="1714488"/>
                  <a:ext cx="2479793" cy="5455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66778" y="2214554"/>
                <a:ext cx="9858444" cy="121444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2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有些Linux系统退出系统的命令为：exit 。</a:t>
                </a: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6957"/>
              <a:ext cx="1463" cy="1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" name="图片 1" descr="退出系统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31835" y="1513205"/>
            <a:ext cx="3549650" cy="22758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6575" y="1243330"/>
            <a:ext cx="4565015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42618" y="2071370"/>
              <a:ext cx="1852038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．重新启动和关闭系统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775726" y="2117090"/>
              <a:ext cx="254961" cy="415290"/>
              <a:chOff x="6889166" y="677056"/>
              <a:chExt cx="1268080" cy="2150373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889166" y="677056"/>
                <a:ext cx="1268080" cy="2150373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301254" y="1032163"/>
                <a:ext cx="542380" cy="128233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组合 14"/>
          <p:cNvGrpSpPr/>
          <p:nvPr/>
        </p:nvGrpSpPr>
        <p:grpSpPr bwMode="auto">
          <a:xfrm>
            <a:off x="6817995" y="5355590"/>
            <a:ext cx="4166870" cy="1085850"/>
            <a:chOff x="1166778" y="1714488"/>
            <a:chExt cx="9858444" cy="1785950"/>
          </a:xfrm>
        </p:grpSpPr>
        <p:grpSp>
          <p:nvGrpSpPr>
            <p:cNvPr id="6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8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7519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华康俪金黑W8(P)"/>
                    <a:ea typeface="华康俪金黑W8(P)"/>
                    <a:cs typeface="华康俪金黑W8(P)"/>
                  </a:rPr>
                  <a:t>【例3-1】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华康俪金黑W8(P)"/>
                    <a:ea typeface="华康俪金黑W8(P)"/>
                    <a:cs typeface="华康俪金黑W8(P)"/>
                  </a:rPr>
                  <a:t>重新启动系统。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466467"/>
              <a:ext cx="9858444" cy="96295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eaLnBrk="1" latinLnBrk="0" hangingPunct="1">
                <a:lnSpc>
                  <a:spcPct val="120000"/>
                </a:lnSpc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[root@localhost root]#reboot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14045" y="1930400"/>
            <a:ext cx="10431780" cy="4281805"/>
            <a:chOff x="967" y="3040"/>
            <a:chExt cx="16428" cy="6743"/>
          </a:xfrm>
        </p:grpSpPr>
        <p:grpSp>
          <p:nvGrpSpPr>
            <p:cNvPr id="15" name="组合 14"/>
            <p:cNvGrpSpPr/>
            <p:nvPr/>
          </p:nvGrpSpPr>
          <p:grpSpPr>
            <a:xfrm>
              <a:off x="1167" y="3040"/>
              <a:ext cx="16228" cy="6743"/>
              <a:chOff x="1167" y="3040"/>
              <a:chExt cx="16228" cy="6743"/>
            </a:xfrm>
          </p:grpSpPr>
          <p:sp>
            <p:nvSpPr>
              <p:cNvPr id="9" name="流程图: 过程 8"/>
              <p:cNvSpPr/>
              <p:nvPr/>
            </p:nvSpPr>
            <p:spPr>
              <a:xfrm>
                <a:off x="6715" y="3976"/>
                <a:ext cx="3941" cy="720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rPr>
                  <a:t>reboot [选项]</a:t>
                </a: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1167" y="3040"/>
                <a:ext cx="16228" cy="6743"/>
                <a:chOff x="1167" y="3040"/>
                <a:chExt cx="16228" cy="6743"/>
              </a:xfrm>
            </p:grpSpPr>
            <p:sp>
              <p:nvSpPr>
                <p:cNvPr id="4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167" y="3040"/>
                  <a:ext cx="14123" cy="24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400" b="1" dirty="0">
                      <a:solidFill>
                        <a:srgbClr val="0070C0"/>
                      </a:solidFill>
                      <a:sym typeface="Arial Unicode MS" panose="020B0604020202020204" pitchFamily="34" charset="-122"/>
                    </a:rPr>
                    <a:t>（1）reboot命令</a:t>
                  </a:r>
                  <a:endPara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sym typeface="Arial Unicode MS" panose="020B0604020202020204" pitchFamily="34" charset="-122"/>
                    </a:rPr>
                    <a:t>reboot命令的一般格式：</a:t>
                  </a:r>
                  <a:endPara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sym typeface="Arial Unicode MS" panose="020B0604020202020204" pitchFamily="34" charset="-122"/>
                    </a:rPr>
                    <a:t>该命令用于重新启动系统，即实际上是指向halt命令一个符号连接。</a:t>
                  </a:r>
                </a:p>
              </p:txBody>
            </p:sp>
            <p:sp>
              <p:nvSpPr>
                <p:cNvPr id="49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822" y="5391"/>
                  <a:ext cx="4730" cy="9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0"/>
                  <a:r>
                    <a:rPr lang="zh-CN" altLang="en-US" sz="2400" b="1" dirty="0">
                      <a:solidFill>
                        <a:srgbClr val="D24726"/>
                      </a:solidFill>
                    </a:rPr>
                    <a:t>选项及其含义如下：</a:t>
                  </a: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1823" y="6279"/>
                  <a:ext cx="15572" cy="350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 eaLnBrk="1" latinLnBrk="0" hangingPunct="1">
                    <a:lnSpc>
                      <a:spcPct val="15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-d：</a:t>
                  </a: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重新启动以后，系统不向/var/tmp/wtmp文件中写入记录。</a:t>
                  </a:r>
                </a:p>
                <a:p>
                  <a:pPr marL="285750" indent="-285750" eaLnBrk="1" latinLnBrk="0" hangingPunct="1">
                    <a:lnSpc>
                      <a:spcPct val="15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-w：</a:t>
                  </a: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仅做测试，并不实际执行重新启动操作，但是命令将重新启动信息写入/var/tmp/wtmp文件中。</a:t>
                  </a:r>
                </a:p>
                <a:p>
                  <a:pPr marL="285750" indent="-285750" eaLnBrk="1" latinLnBrk="0" hangingPunct="1">
                    <a:lnSpc>
                      <a:spcPct val="15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-f：</a:t>
                  </a: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强制系统重新启动。</a:t>
                  </a:r>
                  <a:endParaRPr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任意多边形 10"/>
            <p:cNvSpPr/>
            <p:nvPr/>
          </p:nvSpPr>
          <p:spPr>
            <a:xfrm rot="2474620">
              <a:off x="967" y="3213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6575" y="1243330"/>
            <a:ext cx="4565015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42618" y="2071370"/>
              <a:ext cx="1852038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．重新启动和关闭系统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775726" y="2117090"/>
              <a:ext cx="254961" cy="415290"/>
              <a:chOff x="6889166" y="677056"/>
              <a:chExt cx="1268080" cy="2150373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889166" y="677056"/>
                <a:ext cx="1268080" cy="2150373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301254" y="1032163"/>
                <a:ext cx="542380" cy="128233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组合 14"/>
          <p:cNvGrpSpPr/>
          <p:nvPr/>
        </p:nvGrpSpPr>
        <p:grpSpPr bwMode="auto">
          <a:xfrm>
            <a:off x="1014095" y="5450840"/>
            <a:ext cx="8322310" cy="1024890"/>
            <a:chOff x="1166778" y="1714488"/>
            <a:chExt cx="9858444" cy="1785950"/>
          </a:xfrm>
        </p:grpSpPr>
        <p:grpSp>
          <p:nvGrpSpPr>
            <p:cNvPr id="6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8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79670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华康俪金黑W8(P)"/>
                    <a:ea typeface="华康俪金黑W8(P)"/>
                    <a:cs typeface="华康俪金黑W8(P)"/>
                  </a:rPr>
                  <a:t>【例3-2】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华康俪金黑W8(P)"/>
                    <a:ea typeface="华康俪金黑W8(P)"/>
                    <a:cs typeface="华康俪金黑W8(P)"/>
                  </a:rPr>
                  <a:t>用halt命令关闭系统，并不在/var/log/wtm文件进行记录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20937" y="2466933"/>
              <a:ext cx="9720790" cy="96268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457200" eaLnBrk="1" latinLnBrk="0" hangingPunct="1">
                <a:lnSpc>
                  <a:spcPct val="120000"/>
                </a:lnSpc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[root@localhost root]#halt –d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22655" y="1804670"/>
            <a:ext cx="9424670" cy="3613785"/>
            <a:chOff x="1453" y="2842"/>
            <a:chExt cx="14842" cy="5691"/>
          </a:xfrm>
        </p:grpSpPr>
        <p:grpSp>
          <p:nvGrpSpPr>
            <p:cNvPr id="16" name="组合 15"/>
            <p:cNvGrpSpPr/>
            <p:nvPr/>
          </p:nvGrpSpPr>
          <p:grpSpPr>
            <a:xfrm>
              <a:off x="1453" y="2842"/>
              <a:ext cx="14842" cy="5691"/>
              <a:chOff x="1453" y="2842"/>
              <a:chExt cx="14842" cy="5691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1453" y="6034"/>
                <a:ext cx="12145" cy="2499"/>
                <a:chOff x="1453" y="6082"/>
                <a:chExt cx="12145" cy="2499"/>
              </a:xfrm>
            </p:grpSpPr>
            <p:sp>
              <p:nvSpPr>
                <p:cNvPr id="11" name="流程图: 过程 10"/>
                <p:cNvSpPr/>
                <p:nvPr/>
              </p:nvSpPr>
              <p:spPr>
                <a:xfrm>
                  <a:off x="2127" y="6082"/>
                  <a:ext cx="11122" cy="2499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endPara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1453" y="6082"/>
                  <a:ext cx="12145" cy="24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indent="457200" algn="l" eaLnBrk="1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-d：不在/var/log/wtm文件中记录相应的信息。</a:t>
                  </a:r>
                </a:p>
                <a:p>
                  <a:pPr indent="457200" algn="l" eaLnBrk="1" latinLnBrk="0" hangingPunct="1">
                    <a:lnSpc>
                      <a:spcPct val="14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-f：不调用shutdown命令，强行关机。</a:t>
                  </a:r>
                </a:p>
                <a:p>
                  <a:pPr indent="457200" algn="l" eaLnBrk="1" latinLnBrk="0" hangingPunct="1">
                    <a:lnSpc>
                      <a:spcPct val="11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-p：在执行该命令关闭系统以后，执行poweroff命令，关闭电源。</a:t>
                  </a:r>
                </a:p>
                <a:p>
                  <a:pPr indent="457200" algn="l" eaLnBrk="1" latinLnBrk="0" hangingPunct="1">
                    <a:lnSpc>
                      <a:spcPct val="10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-w：在/var/log/wtm文件中记录相应的信息，但不关闭系统。</a:t>
                  </a:r>
                  <a:r>
                    <a:rPr lang="zh-CN" altLang="en-US" sz="2400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rPr>
                    <a:t> </a:t>
                  </a: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1597" y="2842"/>
                <a:ext cx="14698" cy="3168"/>
                <a:chOff x="1597" y="2842"/>
                <a:chExt cx="14698" cy="3168"/>
              </a:xfrm>
            </p:grpSpPr>
            <p:sp>
              <p:nvSpPr>
                <p:cNvPr id="4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597" y="2842"/>
                  <a:ext cx="14698" cy="31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400" b="1" dirty="0">
                      <a:solidFill>
                        <a:srgbClr val="0070C0"/>
                      </a:solidFill>
                      <a:sym typeface="Arial Unicode MS" panose="020B0604020202020204" pitchFamily="34" charset="-122"/>
                    </a:rPr>
                    <a:t>（2）halt命令</a:t>
                  </a:r>
                  <a:endPara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sym typeface="Arial Unicode MS" panose="020B0604020202020204" pitchFamily="34" charset="-122"/>
                    </a:rPr>
                    <a:t>halt命令的一般格式：</a:t>
                  </a:r>
                  <a:endPara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indent="457200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sym typeface="Arial Unicode MS" panose="020B0604020202020204" pitchFamily="34" charset="-122"/>
                    </a:rPr>
                    <a:t>该命令用于关闭系统，并且在/var/log/wtm记录系统关闭的信息。如果系统的运行级别不是0或者6，则系统调用shutdown来代替该命令关闭系统。</a:t>
                  </a:r>
                </a:p>
              </p:txBody>
            </p:sp>
            <p:sp>
              <p:nvSpPr>
                <p:cNvPr id="9" name="流程图: 过程 8"/>
                <p:cNvSpPr/>
                <p:nvPr/>
              </p:nvSpPr>
              <p:spPr>
                <a:xfrm>
                  <a:off x="6568" y="3820"/>
                  <a:ext cx="3941" cy="720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kumimoji="0" lang="zh-CN" altLang="en-US" sz="2400" b="1" i="0" u="none" strike="noStrike" cap="none" normalizeH="0" baseline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 Unicode MS" panose="020B0604020202020204" pitchFamily="34" charset="-128"/>
                      <a:sym typeface="Arial Unicode MS" panose="020B0604020202020204" pitchFamily="34" charset="-122"/>
                    </a:rPr>
                    <a:t>halt [选项]</a:t>
                  </a:r>
                </a:p>
              </p:txBody>
            </p:sp>
          </p:grpSp>
        </p:grpSp>
        <p:sp>
          <p:nvSpPr>
            <p:cNvPr id="4" name="任意多边形 3"/>
            <p:cNvSpPr/>
            <p:nvPr/>
          </p:nvSpPr>
          <p:spPr>
            <a:xfrm rot="2474620">
              <a:off x="1463" y="3087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6575" y="1243330"/>
            <a:ext cx="4565015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42618" y="2071370"/>
              <a:ext cx="1852038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．重新启动和关闭系统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775726" y="2117090"/>
              <a:ext cx="254961" cy="415290"/>
              <a:chOff x="6889166" y="677056"/>
              <a:chExt cx="1268080" cy="2150373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889166" y="677056"/>
                <a:ext cx="1268080" cy="2150373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301254" y="1032163"/>
                <a:ext cx="542380" cy="128233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94335" y="1808480"/>
            <a:ext cx="11014710" cy="4478655"/>
            <a:chOff x="621" y="2848"/>
            <a:chExt cx="17346" cy="7053"/>
          </a:xfrm>
        </p:grpSpPr>
        <p:grpSp>
          <p:nvGrpSpPr>
            <p:cNvPr id="22" name="组合 21"/>
            <p:cNvGrpSpPr/>
            <p:nvPr/>
          </p:nvGrpSpPr>
          <p:grpSpPr>
            <a:xfrm>
              <a:off x="621" y="2848"/>
              <a:ext cx="17346" cy="7053"/>
              <a:chOff x="621" y="2848"/>
              <a:chExt cx="17346" cy="7379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621" y="2848"/>
                <a:ext cx="17346" cy="7379"/>
                <a:chOff x="621" y="2848"/>
                <a:chExt cx="17346" cy="7379"/>
              </a:xfrm>
            </p:grpSpPr>
            <p:sp>
              <p:nvSpPr>
                <p:cNvPr id="11" name="流程图: 过程 10"/>
                <p:cNvSpPr/>
                <p:nvPr/>
              </p:nvSpPr>
              <p:spPr>
                <a:xfrm>
                  <a:off x="1233" y="6261"/>
                  <a:ext cx="16734" cy="3966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endPara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endParaRPr>
                </a:p>
              </p:txBody>
            </p:sp>
            <p:grpSp>
              <p:nvGrpSpPr>
                <p:cNvPr id="19" name="组合 18"/>
                <p:cNvGrpSpPr/>
                <p:nvPr/>
              </p:nvGrpSpPr>
              <p:grpSpPr>
                <a:xfrm>
                  <a:off x="621" y="2848"/>
                  <a:ext cx="17059" cy="7098"/>
                  <a:chOff x="621" y="2848"/>
                  <a:chExt cx="17059" cy="7819"/>
                </a:xfrm>
              </p:grpSpPr>
              <p:grpSp>
                <p:nvGrpSpPr>
                  <p:cNvPr id="18" name="组合 17"/>
                  <p:cNvGrpSpPr/>
                  <p:nvPr/>
                </p:nvGrpSpPr>
                <p:grpSpPr>
                  <a:xfrm>
                    <a:off x="621" y="2848"/>
                    <a:ext cx="17059" cy="7819"/>
                    <a:chOff x="621" y="2848"/>
                    <a:chExt cx="17059" cy="7819"/>
                  </a:xfrm>
                </p:grpSpPr>
                <p:sp>
                  <p:nvSpPr>
                    <p:cNvPr id="12" name="文本框 11"/>
                    <p:cNvSpPr txBox="1"/>
                    <p:nvPr/>
                  </p:nvSpPr>
                  <p:spPr>
                    <a:xfrm>
                      <a:off x="621" y="6845"/>
                      <a:ext cx="10310" cy="2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time：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设置在什么时间关机。</a:t>
                      </a:r>
                    </a:p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0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warning-message：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设置发送给所有用户的警告信息。</a:t>
                      </a:r>
                    </a:p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-a：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使用/etc/shtdown.allown文件关闭系统。</a:t>
                      </a:r>
                    </a:p>
                  </p:txBody>
                </p:sp>
                <p:sp>
                  <p:nvSpPr>
                    <p:cNvPr id="15" name="文本框 14"/>
                    <p:cNvSpPr txBox="1"/>
                    <p:nvPr/>
                  </p:nvSpPr>
                  <p:spPr>
                    <a:xfrm>
                      <a:off x="10519" y="6766"/>
                      <a:ext cx="7161" cy="39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-c：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取消正在运行的shutdown命令。</a:t>
                      </a:r>
                    </a:p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-f：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在重新启动时不执行fsck命令。</a:t>
                      </a:r>
                    </a:p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-F：</a:t>
                      </a: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rPr>
                        <a:t>在重新启动时执行fsck检查。</a:t>
                      </a:r>
                    </a:p>
                    <a:p>
                      <a:pPr indent="457200" algn="l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endParaRPr lang="zh-CN" altLang="en-US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 Unicode MS" panose="020B0604020202020204" pitchFamily="34" charset="-122"/>
                      </a:endParaRPr>
                    </a:p>
                  </p:txBody>
                </p:sp>
                <p:sp>
                  <p:nvSpPr>
                    <p:cNvPr id="46" name="Text Box 4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33" y="2848"/>
                      <a:ext cx="16447" cy="36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>
                              <a:alpha val="30000"/>
                            </a:srgbClr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defPPr>
                        <a:defRPr lang="en-US"/>
                      </a:defPPr>
                      <a:lvl1pPr indent="457200" defTabSz="720725">
                        <a:lnSpc>
                          <a:spcPct val="135000"/>
                        </a:lnSpc>
                        <a:defRPr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defTabSz="720725" eaLnBrk="0" hangingPunct="0"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2pPr>
                      <a:lvl3pPr defTabSz="720725" eaLnBrk="0" hangingPunct="0"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3pPr>
                      <a:lvl4pPr defTabSz="720725" eaLnBrk="0" hangingPunct="0"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4pPr>
                      <a:lvl5pPr defTabSz="720725" eaLnBrk="0" hangingPunct="0"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5pPr>
                      <a:lvl6pPr defTabSz="72072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6pPr>
                      <a:lvl7pPr defTabSz="72072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7pPr>
                      <a:lvl8pPr defTabSz="72072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8pPr>
                      <a:lvl9pPr defTabSz="72072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457200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sym typeface="Arial Unicode MS" panose="020B0604020202020204" pitchFamily="34" charset="-122"/>
                        </a:rPr>
                        <a:t>（3）shutdown命令</a:t>
                      </a:r>
                      <a:endParaRPr lang="zh-CN" altLang="en-US" sz="24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 Unicode MS" panose="020B0604020202020204" pitchFamily="34" charset="-122"/>
                      </a:endParaRPr>
                    </a:p>
                    <a:p>
                      <a:pPr indent="457200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Arial Unicode MS" panose="020B0604020202020204" pitchFamily="34" charset="-122"/>
                        </a:rPr>
                        <a:t>shutdown命令的一般格式：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 Unicode MS" panose="020B0604020202020204" pitchFamily="34" charset="-122"/>
                      </a:endParaRPr>
                    </a:p>
                    <a:p>
                      <a:pPr indent="457200">
                        <a:lnSpc>
                          <a:spcPct val="150000"/>
                        </a:lnSpc>
                        <a:buFont typeface="Arial" panose="020B0604020202090204" pitchFamily="34" charset="0"/>
                        <a:buNone/>
                      </a:pPr>
                      <a:r>
                        <a:rPr lang="zh-CN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Arial Unicode MS" panose="020B0604020202020204" pitchFamily="34" charset="-122"/>
                        </a:rPr>
                        <a:t>该命令用于</a:t>
                      </a:r>
                      <a:r>
                        <a:rPr lang="zh-CN" altLang="en-US" sz="2000" b="1" dirty="0">
                          <a:solidFill>
                            <a:srgbClr val="0070C0"/>
                          </a:solidFill>
                          <a:sym typeface="Arial Unicode MS" panose="020B0604020202020204" pitchFamily="34" charset="-122"/>
                        </a:rPr>
                        <a:t>关闭系统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Arial Unicode MS" panose="020B0604020202020204" pitchFamily="34" charset="-122"/>
                        </a:rPr>
                        <a:t>，向所有已登录的用户发送信息，并向所有进程发送SIGTERM信号，通知进程关闭。   选项的含义如下：</a:t>
                      </a:r>
                    </a:p>
                  </p:txBody>
                </p:sp>
              </p:grpSp>
              <p:sp>
                <p:nvSpPr>
                  <p:cNvPr id="9" name="流程图: 过程 8"/>
                  <p:cNvSpPr/>
                  <p:nvPr/>
                </p:nvSpPr>
                <p:spPr>
                  <a:xfrm>
                    <a:off x="7262" y="3856"/>
                    <a:ext cx="4252" cy="720"/>
                  </a:xfrm>
                  <a:prstGeom prst="flowChartProcess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0000" tIns="46800" rIns="90000" bIns="46800" numCol="1" anchor="ctr" anchorCtr="0" compatLnSpc="1"/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 Unicode MS" panose="020B0604020202020204" pitchFamily="34" charset="-128"/>
                        <a:sym typeface="Arial Unicode MS" panose="020B0604020202020204" pitchFamily="34" charset="-122"/>
                      </a:rPr>
                      <a:t>shutdown [选项]</a:t>
                    </a:r>
                  </a:p>
                </p:txBody>
              </p:sp>
            </p:grpSp>
          </p:grpSp>
          <p:cxnSp>
            <p:nvCxnSpPr>
              <p:cNvPr id="21" name="直接连接符 20"/>
              <p:cNvCxnSpPr/>
              <p:nvPr/>
            </p:nvCxnSpPr>
            <p:spPr>
              <a:xfrm>
                <a:off x="10930" y="6301"/>
                <a:ext cx="0" cy="3921"/>
              </a:xfrm>
              <a:prstGeom prst="line">
                <a:avLst/>
              </a:prstGeom>
              <a:solidFill>
                <a:schemeClr val="bg2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" name="任意多边形 2"/>
            <p:cNvSpPr/>
            <p:nvPr/>
          </p:nvSpPr>
          <p:spPr>
            <a:xfrm rot="2474620">
              <a:off x="1077" y="3002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3"/>
          <p:cNvSpPr>
            <a:spLocks noChangeArrowheads="1"/>
          </p:cNvSpPr>
          <p:nvPr/>
        </p:nvSpPr>
        <p:spPr bwMode="gray">
          <a:xfrm>
            <a:off x="504190" y="172656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6575" y="1243330"/>
            <a:ext cx="4565015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42618" y="2071370"/>
              <a:ext cx="1852038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．重新启动和关闭系统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775726" y="2117090"/>
              <a:ext cx="254961" cy="415290"/>
              <a:chOff x="6889166" y="677056"/>
              <a:chExt cx="1268080" cy="2150373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889166" y="677056"/>
                <a:ext cx="1268080" cy="2150373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301254" y="1032163"/>
                <a:ext cx="542380" cy="128233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536575" y="1746885"/>
            <a:ext cx="11148060" cy="4919345"/>
            <a:chOff x="845" y="2751"/>
            <a:chExt cx="17556" cy="7747"/>
          </a:xfrm>
        </p:grpSpPr>
        <p:grpSp>
          <p:nvGrpSpPr>
            <p:cNvPr id="15" name="组合 14"/>
            <p:cNvGrpSpPr/>
            <p:nvPr/>
          </p:nvGrpSpPr>
          <p:grpSpPr>
            <a:xfrm>
              <a:off x="845" y="2751"/>
              <a:ext cx="17556" cy="7747"/>
              <a:chOff x="845" y="2751"/>
              <a:chExt cx="17556" cy="7747"/>
            </a:xfrm>
          </p:grpSpPr>
          <p:sp>
            <p:nvSpPr>
              <p:cNvPr id="9" name="流程图: 过程 8"/>
              <p:cNvSpPr/>
              <p:nvPr/>
            </p:nvSpPr>
            <p:spPr>
              <a:xfrm>
                <a:off x="7214" y="3784"/>
                <a:ext cx="4252" cy="720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rPr>
                  <a:t>shutdown [选项]</a:t>
                </a: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845" y="2751"/>
                <a:ext cx="17556" cy="7747"/>
                <a:chOff x="845" y="2751"/>
                <a:chExt cx="17556" cy="7747"/>
              </a:xfrm>
            </p:grpSpPr>
            <p:sp>
              <p:nvSpPr>
                <p:cNvPr id="11" name="流程图: 过程 10"/>
                <p:cNvSpPr/>
                <p:nvPr/>
              </p:nvSpPr>
              <p:spPr>
                <a:xfrm>
                  <a:off x="1233" y="6106"/>
                  <a:ext cx="16734" cy="3966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457200" algn="l">
                    <a:lnSpc>
                      <a:spcPct val="150000"/>
                    </a:lnSpc>
                    <a:buFont typeface="Arial" panose="020B0604020202090204" pitchFamily="34" charset="0"/>
                    <a:buNone/>
                  </a:pPr>
                  <a:endPara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 Unicode MS" panose="020B0604020202020204" pitchFamily="34" charset="-122"/>
                  </a:endParaRP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  <a:sym typeface="Arial Unicode MS" panose="020B0604020202020204" pitchFamily="34" charset="-122"/>
                  </a:endParaRPr>
                </a:p>
              </p:txBody>
            </p:sp>
            <p:grpSp>
              <p:nvGrpSpPr>
                <p:cNvPr id="10" name="组合 9"/>
                <p:cNvGrpSpPr/>
                <p:nvPr/>
              </p:nvGrpSpPr>
              <p:grpSpPr>
                <a:xfrm>
                  <a:off x="845" y="2751"/>
                  <a:ext cx="17556" cy="7747"/>
                  <a:chOff x="845" y="2751"/>
                  <a:chExt cx="17556" cy="7747"/>
                </a:xfrm>
              </p:grpSpPr>
              <p:sp>
                <p:nvSpPr>
                  <p:cNvPr id="46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6" y="2751"/>
                    <a:ext cx="16447" cy="3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>
                            <a:alpha val="30000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indent="457200" defTabSz="720725">
                      <a:lnSpc>
                        <a:spcPct val="135000"/>
                      </a:lnSpc>
                      <a:defRPr sz="160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  <a:lvl2pPr defTabSz="720725" eaLnBrk="0" hangingPunct="0"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2pPr>
                    <a:lvl3pPr defTabSz="720725" eaLnBrk="0" hangingPunct="0"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3pPr>
                    <a:lvl4pPr defTabSz="720725" eaLnBrk="0" hangingPunct="0"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4pPr>
                    <a:lvl5pPr defTabSz="720725" eaLnBrk="0" hangingPunct="0"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5pPr>
                    <a:lvl6pPr defTabSz="72072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6pPr>
                    <a:lvl7pPr defTabSz="72072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7pPr>
                    <a:lvl8pPr defTabSz="72072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8pPr>
                    <a:lvl9pPr defTabSz="72072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latin typeface="Arial" panose="020B060402020209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indent="457200">
                      <a:lnSpc>
                        <a:spcPct val="150000"/>
                      </a:lnSpc>
                      <a:buFont typeface="Arial" panose="020B0604020202090204" pitchFamily="34" charset="0"/>
                      <a:buNone/>
                    </a:pPr>
                    <a:r>
                      <a:rPr lang="zh-CN" altLang="en-US" sz="2400" b="1" dirty="0">
                        <a:solidFill>
                          <a:srgbClr val="0070C0"/>
                        </a:solidFill>
                        <a:sym typeface="Arial Unicode MS" panose="020B0604020202020204" pitchFamily="34" charset="-122"/>
                      </a:rPr>
                      <a:t>（3）shutdown命令</a:t>
                    </a:r>
                    <a:endParaRPr lang="zh-CN" altLang="en-US" sz="24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endParaRPr>
                  </a:p>
                  <a:p>
                    <a:pPr indent="457200">
                      <a:lnSpc>
                        <a:spcPct val="150000"/>
                      </a:lnSpc>
                      <a:buFont typeface="Arial" panose="020B0604020202090204" pitchFamily="34" charset="0"/>
                      <a:buNone/>
                    </a:pPr>
                    <a:r>
                      <a: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sym typeface="Arial Unicode MS" panose="020B0604020202020204" pitchFamily="34" charset="-122"/>
                      </a:rPr>
                      <a:t>shutdown命令的一般格式：</a:t>
                    </a:r>
                    <a:endPara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 Unicode MS" panose="020B0604020202020204" pitchFamily="34" charset="-122"/>
                    </a:endParaRPr>
                  </a:p>
                  <a:p>
                    <a:pPr indent="457200">
                      <a:lnSpc>
                        <a:spcPct val="150000"/>
                      </a:lnSpc>
                      <a:buFont typeface="Arial" panose="020B0604020202090204" pitchFamily="34" charset="0"/>
                      <a:buNone/>
                    </a:pPr>
                    <a:r>
                      <a: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sym typeface="Arial Unicode MS" panose="020B0604020202020204" pitchFamily="34" charset="-122"/>
                      </a:rPr>
                      <a:t>该命令用于</a:t>
                    </a:r>
                    <a:r>
                      <a:rPr lang="zh-CN" altLang="en-US" sz="2000" b="1" dirty="0">
                        <a:solidFill>
                          <a:srgbClr val="0070C0"/>
                        </a:solidFill>
                        <a:sym typeface="Arial Unicode MS" panose="020B0604020202020204" pitchFamily="34" charset="-122"/>
                      </a:rPr>
                      <a:t>关闭系统</a:t>
                    </a:r>
                    <a:r>
                      <a: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sym typeface="Arial Unicode MS" panose="020B0604020202020204" pitchFamily="34" charset="-122"/>
                      </a:rPr>
                      <a:t>，向所有已登录的用户发送信息，并向所有进程发送SIGTERM信号，通知进程关闭。   选项的含义如下：</a:t>
                    </a:r>
                  </a:p>
                </p:txBody>
              </p:sp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845" y="5776"/>
                    <a:ext cx="17556" cy="4722"/>
                    <a:chOff x="845" y="5776"/>
                    <a:chExt cx="17556" cy="4722"/>
                  </a:xfrm>
                </p:grpSpPr>
                <p:grpSp>
                  <p:nvGrpSpPr>
                    <p:cNvPr id="7" name="组合 6"/>
                    <p:cNvGrpSpPr/>
                    <p:nvPr/>
                  </p:nvGrpSpPr>
                  <p:grpSpPr>
                    <a:xfrm>
                      <a:off x="845" y="5776"/>
                      <a:ext cx="17556" cy="4722"/>
                      <a:chOff x="845" y="5776"/>
                      <a:chExt cx="17556" cy="4722"/>
                    </a:xfrm>
                  </p:grpSpPr>
                  <p:sp>
                    <p:nvSpPr>
                      <p:cNvPr id="3" name="文本框 2"/>
                      <p:cNvSpPr txBox="1"/>
                      <p:nvPr/>
                    </p:nvSpPr>
                    <p:spPr>
                      <a:xfrm>
                        <a:off x="845" y="6106"/>
                        <a:ext cx="9005" cy="4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-h：在关闭系统以后关机。</a:t>
                        </a: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-k：向所有已登录用户发送警告信息，</a:t>
                        </a: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       但不真正关闭系统。</a:t>
                        </a: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-n：不调用init而直接关闭系统，</a:t>
                        </a: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     一般情况下最好不要用这个选项关闭系统。</a:t>
                        </a: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endPara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endParaRPr>
                      </a:p>
                    </p:txBody>
                  </p:sp>
                  <p:sp>
                    <p:nvSpPr>
                      <p:cNvPr id="4" name="文本框 3"/>
                      <p:cNvSpPr txBox="1"/>
                      <p:nvPr/>
                    </p:nvSpPr>
                    <p:spPr>
                      <a:xfrm>
                        <a:off x="9275" y="5776"/>
                        <a:ext cx="9126" cy="2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endPara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 Unicode MS" panose="020B0604020202020204" pitchFamily="34" charset="-122"/>
                        </a:endParaRPr>
                      </a:p>
                      <a:p>
                        <a:pPr indent="457200" algn="l">
                          <a:lnSpc>
                            <a:spcPct val="15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-r：在关闭系统以后重新启动系统。</a:t>
                        </a:r>
                      </a:p>
                      <a:p>
                        <a:pPr indent="457200" algn="l">
                          <a:lnSpc>
                            <a:spcPct val="200000"/>
                          </a:lnSpc>
                          <a:buFont typeface="Arial" panose="020B0604020202090204" pitchFamily="34" charset="0"/>
                          <a:buNone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sym typeface="Arial Unicode MS" panose="020B0604020202020204" pitchFamily="34" charset="-122"/>
                          </a:rPr>
                          <a:t>-t sec：init在发送警告以后sec秒删除进程。</a:t>
                        </a:r>
                      </a:p>
                    </p:txBody>
                  </p:sp>
                </p:grpSp>
                <p:cxnSp>
                  <p:nvCxnSpPr>
                    <p:cNvPr id="6" name="直接连接符 5"/>
                    <p:cNvCxnSpPr/>
                    <p:nvPr/>
                  </p:nvCxnSpPr>
                  <p:spPr>
                    <a:xfrm>
                      <a:off x="9850" y="6151"/>
                      <a:ext cx="0" cy="3921"/>
                    </a:xfrm>
                    <a:prstGeom prst="line">
                      <a:avLst/>
                    </a:prstGeom>
                    <a:solidFill>
                      <a:schemeClr val="bg2"/>
                    </a:solidFill>
                    <a:ln w="28575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</p:grpSp>
          </p:grpSp>
        </p:grpSp>
        <p:sp>
          <p:nvSpPr>
            <p:cNvPr id="16" name="任意多边形 15"/>
            <p:cNvSpPr/>
            <p:nvPr/>
          </p:nvSpPr>
          <p:spPr>
            <a:xfrm rot="2474620">
              <a:off x="973" y="2962"/>
              <a:ext cx="862" cy="894"/>
            </a:xfrm>
            <a:custGeom>
              <a:avLst/>
              <a:gdLst>
                <a:gd name="connsiteX0" fmla="*/ 851193 w 1702386"/>
                <a:gd name="connsiteY0" fmla="*/ 582034 h 1702386"/>
                <a:gd name="connsiteX1" fmla="*/ 1120351 w 1702386"/>
                <a:gd name="connsiteY1" fmla="*/ 851192 h 1702386"/>
                <a:gd name="connsiteX2" fmla="*/ 851193 w 1702386"/>
                <a:gd name="connsiteY2" fmla="*/ 1120350 h 1702386"/>
                <a:gd name="connsiteX3" fmla="*/ 582035 w 1702386"/>
                <a:gd name="connsiteY3" fmla="*/ 851192 h 1702386"/>
                <a:gd name="connsiteX4" fmla="*/ 851193 w 1702386"/>
                <a:gd name="connsiteY4" fmla="*/ 582034 h 1702386"/>
                <a:gd name="connsiteX5" fmla="*/ 851193 w 1702386"/>
                <a:gd name="connsiteY5" fmla="*/ 312876 h 1702386"/>
                <a:gd name="connsiteX6" fmla="*/ 312877 w 1702386"/>
                <a:gd name="connsiteY6" fmla="*/ 851192 h 1702386"/>
                <a:gd name="connsiteX7" fmla="*/ 851193 w 1702386"/>
                <a:gd name="connsiteY7" fmla="*/ 1389508 h 1702386"/>
                <a:gd name="connsiteX8" fmla="*/ 1389509 w 1702386"/>
                <a:gd name="connsiteY8" fmla="*/ 851192 h 1702386"/>
                <a:gd name="connsiteX9" fmla="*/ 851193 w 1702386"/>
                <a:gd name="connsiteY9" fmla="*/ 312876 h 1702386"/>
                <a:gd name="connsiteX10" fmla="*/ 851194 w 1702386"/>
                <a:gd name="connsiteY10" fmla="*/ 0 h 1702386"/>
                <a:gd name="connsiteX11" fmla="*/ 1702386 w 1702386"/>
                <a:gd name="connsiteY11" fmla="*/ 0 h 1702386"/>
                <a:gd name="connsiteX12" fmla="*/ 1702386 w 1702386"/>
                <a:gd name="connsiteY12" fmla="*/ 851193 h 1702386"/>
                <a:gd name="connsiteX13" fmla="*/ 851193 w 1702386"/>
                <a:gd name="connsiteY13" fmla="*/ 1702386 h 1702386"/>
                <a:gd name="connsiteX14" fmla="*/ 0 w 1702386"/>
                <a:gd name="connsiteY14" fmla="*/ 851193 h 1702386"/>
                <a:gd name="connsiteX15" fmla="*/ 1 w 1702386"/>
                <a:gd name="connsiteY15" fmla="*/ 851193 h 1702386"/>
                <a:gd name="connsiteX16" fmla="*/ 851194 w 1702386"/>
                <a:gd name="connsiteY16" fmla="*/ 0 h 170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2386" h="1702386">
                  <a:moveTo>
                    <a:pt x="851193" y="582034"/>
                  </a:moveTo>
                  <a:cubicBezTo>
                    <a:pt x="999845" y="582034"/>
                    <a:pt x="1120351" y="702540"/>
                    <a:pt x="1120351" y="851192"/>
                  </a:cubicBezTo>
                  <a:cubicBezTo>
                    <a:pt x="1120351" y="999844"/>
                    <a:pt x="999845" y="1120350"/>
                    <a:pt x="851193" y="1120350"/>
                  </a:cubicBezTo>
                  <a:cubicBezTo>
                    <a:pt x="702541" y="1120350"/>
                    <a:pt x="582035" y="999844"/>
                    <a:pt x="582035" y="851192"/>
                  </a:cubicBezTo>
                  <a:cubicBezTo>
                    <a:pt x="582035" y="702540"/>
                    <a:pt x="702541" y="582034"/>
                    <a:pt x="851193" y="582034"/>
                  </a:cubicBezTo>
                  <a:close/>
                  <a:moveTo>
                    <a:pt x="851193" y="312876"/>
                  </a:moveTo>
                  <a:cubicBezTo>
                    <a:pt x="553889" y="312876"/>
                    <a:pt x="312877" y="553888"/>
                    <a:pt x="312877" y="851192"/>
                  </a:cubicBezTo>
                  <a:cubicBezTo>
                    <a:pt x="312877" y="1148496"/>
                    <a:pt x="553889" y="1389508"/>
                    <a:pt x="851193" y="1389508"/>
                  </a:cubicBezTo>
                  <a:cubicBezTo>
                    <a:pt x="1148497" y="1389508"/>
                    <a:pt x="1389509" y="1148496"/>
                    <a:pt x="1389509" y="851192"/>
                  </a:cubicBezTo>
                  <a:cubicBezTo>
                    <a:pt x="1389509" y="553888"/>
                    <a:pt x="1148497" y="312876"/>
                    <a:pt x="851193" y="312876"/>
                  </a:cubicBezTo>
                  <a:close/>
                  <a:moveTo>
                    <a:pt x="851194" y="0"/>
                  </a:moveTo>
                  <a:lnTo>
                    <a:pt x="1702386" y="0"/>
                  </a:lnTo>
                  <a:lnTo>
                    <a:pt x="1702386" y="851193"/>
                  </a:lnTo>
                  <a:cubicBezTo>
                    <a:pt x="1702386" y="1321294"/>
                    <a:pt x="1321294" y="1702386"/>
                    <a:pt x="851193" y="1702386"/>
                  </a:cubicBezTo>
                  <a:cubicBezTo>
                    <a:pt x="381092" y="1702386"/>
                    <a:pt x="0" y="1321294"/>
                    <a:pt x="0" y="851193"/>
                  </a:cubicBezTo>
                  <a:lnTo>
                    <a:pt x="1" y="851193"/>
                  </a:lnTo>
                  <a:cubicBezTo>
                    <a:pt x="1" y="381092"/>
                    <a:pt x="381093" y="0"/>
                    <a:pt x="85119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39750" y="11350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3.1.2  修改口令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pic>
        <p:nvPicPr>
          <p:cNvPr id="2" name="图片 1" descr="C:\Users\Administrator\桌面\u=2722250852,2090008069&amp;fm=214&amp;gp=0.jpgu=2722250852,2090008069&amp;fm=214&amp;gp=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527800" y="1238250"/>
            <a:ext cx="4649470" cy="5036820"/>
          </a:xfrm>
          <a:prstGeom prst="rect">
            <a:avLst/>
          </a:prstGeom>
        </p:spPr>
      </p:pic>
      <p:sp>
        <p:nvSpPr>
          <p:cNvPr id="6" name="AutoShape 13"/>
          <p:cNvSpPr>
            <a:spLocks noChangeArrowheads="1"/>
          </p:cNvSpPr>
          <p:nvPr/>
        </p:nvSpPr>
        <p:spPr bwMode="gray">
          <a:xfrm>
            <a:off x="756920" y="2213610"/>
            <a:ext cx="5250815" cy="3798570"/>
          </a:xfrm>
          <a:prstGeom prst="roundRect">
            <a:avLst>
              <a:gd name="adj" fmla="val 6232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indent="457200" algn="l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Linux的安全特性可以允许用户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控制自己的口令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，决定用户是否可以修改自己的口令，用户必须多长时间更改一下自己的口令，以及在用户的口令中可以使用什么样的字符串。</a:t>
            </a:r>
            <a:endParaRPr lang="zh-CN" altLang="en-US" sz="24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39750" y="11350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3.1.2  修改口令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sp>
        <p:nvSpPr>
          <p:cNvPr id="30" name="TextBox 2"/>
          <p:cNvSpPr txBox="1"/>
          <p:nvPr/>
        </p:nvSpPr>
        <p:spPr>
          <a:xfrm>
            <a:off x="539750" y="1882775"/>
            <a:ext cx="11209655" cy="4580890"/>
          </a:xfrm>
          <a:prstGeom prst="rect">
            <a:avLst/>
          </a:prstGeom>
          <a:noFill/>
          <a:ln w="28575">
            <a:solidFill>
              <a:srgbClr val="00A7E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选择用户口令时，应遵守以下基本规则：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（1）一个口令至少应有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8个字符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，包括字母、数字及符号，如ily&amp;%wxy；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（2）不建议使用姓名、别名、短语及字典中可以找到的词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从前向后或者从后向前拼写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的形式等作为口令；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（3）不同的计算机上要使用不同的口令，但是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不要用计算机名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作为口令；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（4）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不要重复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使用老口令，或许已将一个口令告诉过其他用户；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（5）如果认为其他用户已经知道了口令，就要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及时修改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口令；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（6）口令应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注意保密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，不要将口令写在自己桌面的纸上或者通过电子邮件发送出去，也不要与其他用户共用一个口令；</a:t>
            </a:r>
          </a:p>
          <a:p>
            <a:pPr indent="0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（7）要选择一个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能够记住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的口令。如果忘记了口令，就无法恢复它，但是系统管理员可以为用户重新设置一个口令。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646430" y="1665605"/>
            <a:ext cx="3163570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1．选择口令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846988" y="2138680"/>
              <a:ext cx="259825" cy="347980"/>
              <a:chOff x="7243594" y="788848"/>
              <a:chExt cx="1292268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243594" y="788848"/>
                <a:ext cx="1292268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576290" y="1166972"/>
                <a:ext cx="789561" cy="104395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39750" y="11350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3.1.2  修改口令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4990" y="2031365"/>
            <a:ext cx="10934700" cy="4382770"/>
            <a:chOff x="874" y="3199"/>
            <a:chExt cx="17220" cy="6902"/>
          </a:xfrm>
        </p:grpSpPr>
        <p:sp>
          <p:nvSpPr>
            <p:cNvPr id="30" name="TextBox 2"/>
            <p:cNvSpPr txBox="1"/>
            <p:nvPr/>
          </p:nvSpPr>
          <p:spPr>
            <a:xfrm>
              <a:off x="874" y="3199"/>
              <a:ext cx="17221" cy="6902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可以利用passwd命令更改用户的口令，其具体过程如下：</a:t>
              </a: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（1）登录系统，在提示符下，   输入passwd命令：</a:t>
              </a: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</a:t>
              </a: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（2）在屏幕上马上出现如下提示信息：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此时，输入老口令（即用户注册进入系统时使用的口令）。</a:t>
              </a: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系统验证无误后，给出如下提示：</a:t>
              </a:r>
            </a:p>
            <a:p>
              <a:pPr indent="0" eaLnBrk="1" fontAlgn="auto" latinLnBrk="0" hangingPunct="1">
                <a:lnSpc>
                  <a:spcPct val="16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此时输入新口令。</a:t>
              </a:r>
            </a:p>
          </p:txBody>
        </p:sp>
        <p:sp>
          <p:nvSpPr>
            <p:cNvPr id="9" name="流程图: 过程 8"/>
            <p:cNvSpPr/>
            <p:nvPr/>
          </p:nvSpPr>
          <p:spPr>
            <a:xfrm>
              <a:off x="1876" y="5172"/>
              <a:ext cx="8911" cy="720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[studentL @localhost studentL]$passwd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" name="流程图: 过程 2"/>
            <p:cNvSpPr/>
            <p:nvPr/>
          </p:nvSpPr>
          <p:spPr>
            <a:xfrm>
              <a:off x="8159" y="5988"/>
              <a:ext cx="8039" cy="1987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Changing password for user studentL.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Changing password for studentL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（current）UNIX password: 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4" name="流程图: 过程 3"/>
            <p:cNvSpPr/>
            <p:nvPr/>
          </p:nvSpPr>
          <p:spPr>
            <a:xfrm>
              <a:off x="7375" y="8613"/>
              <a:ext cx="3580" cy="744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New password: 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1190" y="1737360"/>
            <a:ext cx="3163570" cy="553085"/>
            <a:chOff x="6668135" y="2035810"/>
            <a:chExt cx="2401570" cy="553085"/>
          </a:xfrm>
        </p:grpSpPr>
        <p:sp>
          <p:nvSpPr>
            <p:cNvPr id="2" name="圆角矩形 1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174230" y="2071370"/>
              <a:ext cx="1630680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2．更改口令</a:t>
              </a:r>
            </a:p>
          </p:txBody>
        </p:sp>
        <p:grpSp>
          <p:nvGrpSpPr>
            <p:cNvPr id="5" name="组合 36"/>
            <p:cNvGrpSpPr/>
            <p:nvPr/>
          </p:nvGrpSpPr>
          <p:grpSpPr bwMode="auto">
            <a:xfrm>
              <a:off x="6858557" y="2138680"/>
              <a:ext cx="281517" cy="347980"/>
              <a:chOff x="7301135" y="788848"/>
              <a:chExt cx="1400156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301135" y="788848"/>
                <a:ext cx="1400156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7576290" y="1166972"/>
                <a:ext cx="789561" cy="1043953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39750" y="11350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3.1.2  修改口令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008630" y="1996440"/>
            <a:ext cx="8359140" cy="4088765"/>
            <a:chOff x="4738" y="3144"/>
            <a:chExt cx="13164" cy="6439"/>
          </a:xfrm>
        </p:grpSpPr>
        <p:grpSp>
          <p:nvGrpSpPr>
            <p:cNvPr id="3" name="组合 2"/>
            <p:cNvGrpSpPr/>
            <p:nvPr/>
          </p:nvGrpSpPr>
          <p:grpSpPr>
            <a:xfrm>
              <a:off x="4738" y="3607"/>
              <a:ext cx="13164" cy="5976"/>
              <a:chOff x="4738" y="3607"/>
              <a:chExt cx="13164" cy="5976"/>
            </a:xfrm>
          </p:grpSpPr>
          <p:sp>
            <p:nvSpPr>
              <p:cNvPr id="30" name="TextBox 2"/>
              <p:cNvSpPr txBox="1"/>
              <p:nvPr/>
            </p:nvSpPr>
            <p:spPr>
              <a:xfrm>
                <a:off x="4738" y="3607"/>
                <a:ext cx="13165" cy="5976"/>
              </a:xfrm>
              <a:prstGeom prst="rect">
                <a:avLst/>
              </a:prstGeom>
              <a:noFill/>
              <a:ln w="28575">
                <a:solidFill>
                  <a:srgbClr val="00A7E2"/>
                </a:solidFill>
              </a:ln>
            </p:spPr>
            <p:txBody>
              <a:bodyPr wrap="square">
                <a:spAutoFit/>
              </a:bodyPr>
              <a:lstStyle/>
              <a:p>
                <a:pPr indent="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  <a:p>
                <a:pPr indent="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（3）输入一个合法的新口令后，系统会要求再输入一遍新口令，以便加以确认：</a:t>
                </a:r>
              </a:p>
              <a:p>
                <a:pPr indent="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  <a:p>
                <a:pPr indent="45720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如果用户两次输入的口令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完全一样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，那么系统就接受这个口令作为用户下次注册时的口令。出于安全考虑，用户输入的所有口令都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不在屏幕上以明文显示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。</a:t>
                </a:r>
              </a:p>
              <a:p>
                <a:pPr indent="45720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如果用户输入的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口令不对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，那么系统会发出提示，要求用户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重新输入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。</a:t>
                </a:r>
              </a:p>
            </p:txBody>
          </p:sp>
          <p:sp>
            <p:nvSpPr>
              <p:cNvPr id="9" name="流程图: 过程 8"/>
              <p:cNvSpPr/>
              <p:nvPr/>
            </p:nvSpPr>
            <p:spPr>
              <a:xfrm>
                <a:off x="6666" y="5376"/>
                <a:ext cx="6871" cy="105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2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Retry New Password:</a:t>
                </a:r>
                <a:endPara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858" y="3144"/>
              <a:ext cx="4982" cy="871"/>
              <a:chOff x="6668135" y="2035810"/>
              <a:chExt cx="2401570" cy="553085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6668135" y="2035810"/>
                <a:ext cx="2401570" cy="553085"/>
              </a:xfrm>
              <a:prstGeom prst="roundRect">
                <a:avLst/>
              </a:prstGeom>
              <a:solidFill>
                <a:srgbClr val="00B0F0"/>
              </a:solidFill>
              <a:ln w="952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de-DE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40" name="TextBox 1"/>
              <p:cNvSpPr txBox="1">
                <a:spLocks noChangeArrowheads="1"/>
              </p:cNvSpPr>
              <p:nvPr/>
            </p:nvSpPr>
            <p:spPr bwMode="auto">
              <a:xfrm>
                <a:off x="7174230" y="2071370"/>
                <a:ext cx="1630680" cy="4832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90204" pitchFamily="34" charset="0"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2．更改口令</a:t>
                </a:r>
              </a:p>
            </p:txBody>
          </p:sp>
          <p:grpSp>
            <p:nvGrpSpPr>
              <p:cNvPr id="5" name="组合 36"/>
              <p:cNvGrpSpPr/>
              <p:nvPr/>
            </p:nvGrpSpPr>
            <p:grpSpPr bwMode="auto">
              <a:xfrm>
                <a:off x="6858557" y="2138680"/>
                <a:ext cx="260789" cy="347980"/>
                <a:chOff x="7301135" y="788848"/>
                <a:chExt cx="1297063" cy="1801841"/>
              </a:xfrm>
            </p:grpSpPr>
            <p:sp>
              <p:nvSpPr>
                <p:cNvPr id="38" name="椭圆 37"/>
                <p:cNvSpPr/>
                <p:nvPr/>
              </p:nvSpPr>
              <p:spPr>
                <a:xfrm>
                  <a:off x="7301135" y="788848"/>
                  <a:ext cx="1297063" cy="1801841"/>
                </a:xfrm>
                <a:prstGeom prst="ellipse">
                  <a:avLst/>
                </a:prstGeom>
                <a:solidFill>
                  <a:srgbClr val="FFFFFF">
                    <a:alpha val="3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9" name="燕尾形 38"/>
                <p:cNvSpPr/>
                <p:nvPr/>
              </p:nvSpPr>
              <p:spPr>
                <a:xfrm>
                  <a:off x="7576290" y="1166972"/>
                  <a:ext cx="789561" cy="1043953"/>
                </a:xfrm>
                <a:prstGeom prst="chevron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flipH="1">
            <a:off x="169370" y="1665874"/>
            <a:ext cx="3104953" cy="477429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54990" y="122650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3.1.3  良好的保密习惯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pic>
        <p:nvPicPr>
          <p:cNvPr id="39938" name="Picture 2" descr="C:\Users\user\Desktop\35.png"/>
          <p:cNvPicPr>
            <a:picLocks noChangeAspect="1" noChangeArrowheads="1"/>
          </p:cNvPicPr>
          <p:nvPr/>
        </p:nvPicPr>
        <p:blipFill rotWithShape="1">
          <a:blip r:embed="rId2" cstate="email"/>
          <a:srcRect b="2574"/>
          <a:stretch>
            <a:fillRect/>
          </a:stretch>
        </p:blipFill>
        <p:spPr bwMode="auto">
          <a:xfrm>
            <a:off x="654050" y="2046605"/>
            <a:ext cx="4399915" cy="38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3"/>
          <p:cNvSpPr>
            <a:spLocks noChangeArrowheads="1"/>
          </p:cNvSpPr>
          <p:nvPr/>
        </p:nvSpPr>
        <p:spPr bwMode="gray">
          <a:xfrm>
            <a:off x="5466080" y="1878330"/>
            <a:ext cx="5996940" cy="4209415"/>
          </a:xfrm>
          <a:prstGeom prst="roundRect">
            <a:avLst>
              <a:gd name="adj" fmla="val 9488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indent="457200" eaLnBrk="1" latinLnBrk="0" hangingPunct="1"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在日常使用过程中，我们应该养成良好的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保密习惯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。一般来说，在离开计算机之前应退出系统，哪怕只离开一会儿。当然，操作系统也会测量出计算机的空转时间，即有多长时间没有处理任何输入或输出，如果计算机空转时间超出规定的时间限制，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系统会自动退出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。</a:t>
            </a:r>
            <a:endParaRPr lang="zh-CN" altLang="en-US" sz="24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54990" y="122650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3.1.3  良好的保密习惯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45465" y="1844040"/>
            <a:ext cx="11101070" cy="4153535"/>
            <a:chOff x="859" y="2904"/>
            <a:chExt cx="17482" cy="6541"/>
          </a:xfrm>
        </p:grpSpPr>
        <p:sp>
          <p:nvSpPr>
            <p:cNvPr id="2" name="TextBox 2"/>
            <p:cNvSpPr txBox="1"/>
            <p:nvPr/>
          </p:nvSpPr>
          <p:spPr>
            <a:xfrm>
              <a:off x="859" y="3325"/>
              <a:ext cx="17482" cy="6120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45720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45720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该锁将一直锁住这个显示器，直到输入这个用户的登录口令才能解锁。</a:t>
              </a:r>
            </a:p>
            <a:p>
              <a:pPr indent="45720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如果使用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图形界面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，单击【主菜单】→【锁住屏幕】命令，将锁住屏幕，禁止对系统进行任何访问。当需要重新进入系统时，应输入这个用户的口令。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994" y="2904"/>
              <a:ext cx="17241" cy="4160"/>
              <a:chOff x="994" y="2904"/>
              <a:chExt cx="17241" cy="4160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994" y="2904"/>
                <a:ext cx="5749" cy="871"/>
                <a:chOff x="6668135" y="2035810"/>
                <a:chExt cx="2401570" cy="553085"/>
              </a:xfrm>
            </p:grpSpPr>
            <p:sp>
              <p:nvSpPr>
                <p:cNvPr id="3" name="圆角矩形 2"/>
                <p:cNvSpPr/>
                <p:nvPr/>
              </p:nvSpPr>
              <p:spPr>
                <a:xfrm>
                  <a:off x="6668135" y="2035810"/>
                  <a:ext cx="2401570" cy="553085"/>
                </a:xfrm>
                <a:prstGeom prst="roundRect">
                  <a:avLst/>
                </a:prstGeom>
                <a:solidFill>
                  <a:srgbClr val="00B0F0"/>
                </a:solidFill>
                <a:ln w="9525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de-DE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90204" pitchFamily="34" charset="0"/>
                    <a:ea typeface="Arial Unicode MS" panose="020B0604020202020204" pitchFamily="34" charset="-128"/>
                    <a:cs typeface="Arial Unicode MS" panose="020B0604020202020204" pitchFamily="34" charset="-128"/>
                  </a:endParaRPr>
                </a:p>
              </p:txBody>
            </p:sp>
            <p:sp>
              <p:nvSpPr>
                <p:cNvPr id="40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7174432" y="2071370"/>
                  <a:ext cx="1751153" cy="483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Font typeface="Arial" panose="020B0604020202090204" pitchFamily="34" charset="0"/>
                    <a:buNone/>
                  </a:pPr>
                  <a:r>
                    <a:rPr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1．锁住终端会话</a:t>
                  </a:r>
                </a:p>
              </p:txBody>
            </p:sp>
            <p:grpSp>
              <p:nvGrpSpPr>
                <p:cNvPr id="5" name="组合 36"/>
                <p:cNvGrpSpPr/>
                <p:nvPr/>
              </p:nvGrpSpPr>
              <p:grpSpPr bwMode="auto">
                <a:xfrm>
                  <a:off x="6812280" y="2138680"/>
                  <a:ext cx="260668" cy="347980"/>
                  <a:chOff x="7070971" y="788848"/>
                  <a:chExt cx="1296462" cy="1801841"/>
                </a:xfrm>
              </p:grpSpPr>
              <p:sp>
                <p:nvSpPr>
                  <p:cNvPr id="38" name="椭圆 37"/>
                  <p:cNvSpPr/>
                  <p:nvPr/>
                </p:nvSpPr>
                <p:spPr>
                  <a:xfrm>
                    <a:off x="7070971" y="788848"/>
                    <a:ext cx="1296462" cy="1801841"/>
                  </a:xfrm>
                  <a:prstGeom prst="ellipse">
                    <a:avLst/>
                  </a:prstGeom>
                  <a:solidFill>
                    <a:srgbClr val="FFFFFF">
                      <a:alpha val="3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buFont typeface="Arial" panose="020B0604020202090204" pitchFamily="34" charset="0"/>
                      <a:buNone/>
                      <a:defRPr/>
                    </a:pPr>
                    <a:endParaRPr lang="zh-CN" altLang="en-US" noProof="1"/>
                  </a:p>
                </p:txBody>
              </p:sp>
              <p:sp>
                <p:nvSpPr>
                  <p:cNvPr id="39" name="燕尾形 38"/>
                  <p:cNvSpPr/>
                  <p:nvPr/>
                </p:nvSpPr>
                <p:spPr>
                  <a:xfrm>
                    <a:off x="7324893" y="1166972"/>
                    <a:ext cx="789561" cy="1043953"/>
                  </a:xfrm>
                  <a:prstGeom prst="chevron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buFont typeface="Arial" panose="020B0604020202090204" pitchFamily="34" charset="0"/>
                      <a:buNone/>
                      <a:defRPr/>
                    </a:pPr>
                    <a:endParaRPr lang="zh-CN" altLang="en-US" noProof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" name="流程图: 过程 3"/>
              <p:cNvSpPr/>
              <p:nvPr/>
            </p:nvSpPr>
            <p:spPr>
              <a:xfrm>
                <a:off x="7461" y="3734"/>
                <a:ext cx="10774" cy="3331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[studentL @localhost/root]#vlock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This TTY is now locked.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Use Alt-function keys to switch to other virtual consoles. 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Please enter the password to unlock. 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root's password: 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994" y="4051"/>
                <a:ext cx="6360" cy="2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如果必须离开终端一会儿，可以使用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【vlock】命令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来锁住终端，使当前的会话不被他人看到。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554990" y="122650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3.1.3  良好的保密习惯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4990" y="1844040"/>
            <a:ext cx="10674350" cy="4172585"/>
            <a:chOff x="874" y="2904"/>
            <a:chExt cx="16810" cy="6571"/>
          </a:xfrm>
        </p:grpSpPr>
        <p:sp>
          <p:nvSpPr>
            <p:cNvPr id="2" name="TextBox 2"/>
            <p:cNvSpPr txBox="1"/>
            <p:nvPr/>
          </p:nvSpPr>
          <p:spPr>
            <a:xfrm>
              <a:off x="874" y="3499"/>
              <a:ext cx="16811" cy="5976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45720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该命令终止你的shell进程，然后会提示开始新的注册。</a:t>
              </a:r>
            </a:p>
            <a:p>
              <a:pPr indent="457200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要从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图形环境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中退出，单击【主菜单】→【注销“studentL”】命令，在弹出的窗口中，单击【注销】按钮。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994" y="2904"/>
              <a:ext cx="14952" cy="3894"/>
              <a:chOff x="994" y="2904"/>
              <a:chExt cx="14952" cy="3894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994" y="2904"/>
                <a:ext cx="5749" cy="871"/>
                <a:chOff x="6668135" y="2035810"/>
                <a:chExt cx="2401570" cy="553085"/>
              </a:xfrm>
            </p:grpSpPr>
            <p:sp>
              <p:nvSpPr>
                <p:cNvPr id="3" name="圆角矩形 2"/>
                <p:cNvSpPr/>
                <p:nvPr/>
              </p:nvSpPr>
              <p:spPr>
                <a:xfrm>
                  <a:off x="6668135" y="2035810"/>
                  <a:ext cx="2401570" cy="553085"/>
                </a:xfrm>
                <a:prstGeom prst="roundRect">
                  <a:avLst/>
                </a:prstGeom>
                <a:solidFill>
                  <a:srgbClr val="00B0F0"/>
                </a:solidFill>
                <a:ln w="9525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0000"/>
                    <a:buFont typeface="Wingdings" panose="05000000000000000000" pitchFamily="2" charset="2"/>
                    <a:buNone/>
                  </a:pPr>
                  <a:endParaRPr kumimoji="0" lang="de-DE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90204" pitchFamily="34" charset="0"/>
                    <a:ea typeface="Arial Unicode MS" panose="020B0604020202020204" pitchFamily="34" charset="-128"/>
                    <a:cs typeface="Arial Unicode MS" panose="020B0604020202020204" pitchFamily="34" charset="-128"/>
                  </a:endParaRPr>
                </a:p>
              </p:txBody>
            </p:sp>
            <p:sp>
              <p:nvSpPr>
                <p:cNvPr id="40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7174432" y="2071370"/>
                  <a:ext cx="1751153" cy="483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Font typeface="Arial" panose="020B0604020202090204" pitchFamily="34" charset="0"/>
                    <a:buNone/>
                  </a:pPr>
                  <a:r>
                    <a:rPr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2．退出系统</a:t>
                  </a:r>
                </a:p>
              </p:txBody>
            </p:sp>
            <p:grpSp>
              <p:nvGrpSpPr>
                <p:cNvPr id="5" name="组合 36"/>
                <p:cNvGrpSpPr/>
                <p:nvPr/>
              </p:nvGrpSpPr>
              <p:grpSpPr bwMode="auto">
                <a:xfrm>
                  <a:off x="6812280" y="2138680"/>
                  <a:ext cx="260668" cy="347980"/>
                  <a:chOff x="7070971" y="788848"/>
                  <a:chExt cx="1296462" cy="1801841"/>
                </a:xfrm>
              </p:grpSpPr>
              <p:sp>
                <p:nvSpPr>
                  <p:cNvPr id="38" name="椭圆 37"/>
                  <p:cNvSpPr/>
                  <p:nvPr/>
                </p:nvSpPr>
                <p:spPr>
                  <a:xfrm>
                    <a:off x="7070971" y="788848"/>
                    <a:ext cx="1296462" cy="1801841"/>
                  </a:xfrm>
                  <a:prstGeom prst="ellipse">
                    <a:avLst/>
                  </a:prstGeom>
                  <a:solidFill>
                    <a:srgbClr val="FFFFFF">
                      <a:alpha val="3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buFont typeface="Arial" panose="020B0604020202090204" pitchFamily="34" charset="0"/>
                      <a:buNone/>
                      <a:defRPr/>
                    </a:pPr>
                    <a:endParaRPr lang="zh-CN" altLang="en-US" noProof="1"/>
                  </a:p>
                </p:txBody>
              </p:sp>
              <p:sp>
                <p:nvSpPr>
                  <p:cNvPr id="39" name="燕尾形 38"/>
                  <p:cNvSpPr/>
                  <p:nvPr/>
                </p:nvSpPr>
                <p:spPr>
                  <a:xfrm>
                    <a:off x="7324893" y="1166972"/>
                    <a:ext cx="789561" cy="1043953"/>
                  </a:xfrm>
                  <a:prstGeom prst="chevron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buFont typeface="Arial" panose="020B0604020202090204" pitchFamily="34" charset="0"/>
                      <a:buNone/>
                      <a:defRPr/>
                    </a:pPr>
                    <a:endParaRPr lang="zh-CN" altLang="en-US" noProof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" name="流程图: 过程 3"/>
              <p:cNvSpPr/>
              <p:nvPr/>
            </p:nvSpPr>
            <p:spPr>
              <a:xfrm>
                <a:off x="4691" y="5538"/>
                <a:ext cx="8637" cy="1261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[studentL @localhost/root]#exit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042" y="4075"/>
                <a:ext cx="14904" cy="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如果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较长时间离开终端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，就应该退出系统，终止对系统的使用。要退出系统，应使用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exit命令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：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0" name="Group 5"/>
          <p:cNvGrpSpPr/>
          <p:nvPr/>
        </p:nvGrpSpPr>
        <p:grpSpPr bwMode="auto">
          <a:xfrm>
            <a:off x="2082800" y="3188335"/>
            <a:ext cx="4041140" cy="481330"/>
            <a:chOff x="3" y="0"/>
            <a:chExt cx="4243" cy="333"/>
          </a:xfrm>
        </p:grpSpPr>
        <p:grpSp>
          <p:nvGrpSpPr>
            <p:cNvPr id="2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31365" y="396557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3.3  文件操作命令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87245" y="469074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3.4  目录及其操作命令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638675" y="403860"/>
            <a:ext cx="7171690" cy="5071110"/>
            <a:chOff x="7305" y="636"/>
            <a:chExt cx="11294" cy="7986"/>
          </a:xfrm>
        </p:grpSpPr>
        <p:grpSp>
          <p:nvGrpSpPr>
            <p:cNvPr id="5" name="组合 4"/>
            <p:cNvGrpSpPr/>
            <p:nvPr/>
          </p:nvGrpSpPr>
          <p:grpSpPr>
            <a:xfrm>
              <a:off x="7305" y="636"/>
              <a:ext cx="11295" cy="7986"/>
              <a:chOff x="7305" y="636"/>
              <a:chExt cx="11295" cy="7986"/>
            </a:xfrm>
          </p:grpSpPr>
          <p:sp>
            <p:nvSpPr>
              <p:cNvPr id="10242" name="AutoShape 2"/>
              <p:cNvSpPr/>
              <p:nvPr/>
            </p:nvSpPr>
            <p:spPr>
              <a:xfrm>
                <a:off x="7305" y="3018"/>
                <a:ext cx="10575" cy="5605"/>
              </a:xfrm>
              <a:prstGeom prst="roundRect">
                <a:avLst>
                  <a:gd name="adj" fmla="val 2644"/>
                </a:avLst>
              </a:prstGeom>
              <a:gradFill rotWithShape="1">
                <a:gsLst>
                  <a:gs pos="0">
                    <a:srgbClr val="F3F3F3"/>
                  </a:gs>
                  <a:gs pos="100000">
                    <a:srgbClr val="DDDDDD"/>
                  </a:gs>
                </a:gsLst>
                <a:lin ang="5400000" scaled="1"/>
                <a:tileRect/>
              </a:gra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en-US" sz="1600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当进入Linux环境时，系统将自动启动相应的shell。shell是一种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命令行解释程序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，负责用户和操作系统之间的沟通。在提示符下输入的每个命令都先由shell解释，然后传给Linux内核执行。通过shell，可以启动、挂起、停止甚至编写程序。</a:t>
                </a: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8248" y="636"/>
                <a:ext cx="10352" cy="4178"/>
                <a:chOff x="8248" y="636"/>
                <a:chExt cx="10352" cy="4178"/>
              </a:xfrm>
            </p:grpSpPr>
            <p:pic>
              <p:nvPicPr>
                <p:cNvPr id="4" name="图片 3" descr="bash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13028" y="636"/>
                  <a:ext cx="5572" cy="4179"/>
                </a:xfrm>
                <a:prstGeom prst="rect">
                  <a:avLst/>
                </a:prstGeom>
              </p:spPr>
            </p:pic>
            <p:sp>
              <p:nvSpPr>
                <p:cNvPr id="22" name="矩形 6"/>
                <p:cNvSpPr>
                  <a:spLocks noChangeArrowheads="1"/>
                </p:cNvSpPr>
                <p:nvPr/>
              </p:nvSpPr>
              <p:spPr bwMode="auto">
                <a:xfrm>
                  <a:off x="8248" y="3018"/>
                  <a:ext cx="4634" cy="9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800" b="1">
                      <a:solidFill>
                        <a:srgbClr val="00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3.2.1  bash简介</a:t>
                  </a:r>
                </a:p>
              </p:txBody>
            </p:sp>
          </p:grpSp>
        </p:grpSp>
        <p:sp>
          <p:nvSpPr>
            <p:cNvPr id="23" name="椭圆 22"/>
            <p:cNvSpPr/>
            <p:nvPr/>
          </p:nvSpPr>
          <p:spPr bwMode="auto">
            <a:xfrm>
              <a:off x="7594" y="3349"/>
              <a:ext cx="510" cy="51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sp>
        <p:nvSpPr>
          <p:cNvPr id="3" name="AutoShape 2"/>
          <p:cNvSpPr/>
          <p:nvPr/>
        </p:nvSpPr>
        <p:spPr>
          <a:xfrm>
            <a:off x="727710" y="1969770"/>
            <a:ext cx="3346450" cy="3452495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457200" eaLnBrk="1" latinLnBrk="0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使用系统命令是与Linux操作系统交流的直接的方式。bash提供了数百个系统命令，尽管这些命令的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功能不同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，但它们的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使用方式和规则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都是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统一的。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1670" y="419100"/>
            <a:ext cx="11012170" cy="5758180"/>
            <a:chOff x="1042" y="660"/>
            <a:chExt cx="17342" cy="9068"/>
          </a:xfrm>
        </p:grpSpPr>
        <p:sp>
          <p:nvSpPr>
            <p:cNvPr id="10242" name="AutoShape 2"/>
            <p:cNvSpPr/>
            <p:nvPr/>
          </p:nvSpPr>
          <p:spPr>
            <a:xfrm>
              <a:off x="1042" y="2580"/>
              <a:ext cx="16888" cy="7148"/>
            </a:xfrm>
            <a:prstGeom prst="roundRect">
              <a:avLst>
                <a:gd name="adj" fmla="val 2644"/>
              </a:avLst>
            </a:prstGeom>
            <a:gradFill rotWithShape="1">
              <a:gsLst>
                <a:gs pos="0">
                  <a:srgbClr val="F3F3F3"/>
                </a:gs>
                <a:gs pos="100000">
                  <a:srgbClr val="DDDDDD"/>
                </a:gs>
              </a:gsLst>
              <a:lin ang="5400000" scaled="1"/>
              <a:tileRect/>
            </a:gradFill>
            <a:ln w="3175" cap="flat" cmpd="sng">
              <a:solidFill>
                <a:srgbClr val="969696">
                  <a:alpha val="56862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160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endPara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各种Linux环境下安装了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多种shell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，这是由历史原因造成的。这些shell都是由不同的人编写并都得到一部分用户的青睐。常用的是Bourne shell（sh）、C shell（chs）、Bourne Again shell（bash）和Korn shell。而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Red Hat Linux的默认shell是bash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</a:p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bash是Bourne Again shell的缩写，其作者是Brain Fox和Chet Ramey。它是向下兼容的，并且吸收了其他shell的许多优点，是一种功能全面的shell。另外，bash还有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很多自己的特色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。例如，可以使用方向键查阅以往的命令，对命令进行编辑；在忘记命令名时，还可以向系统求助，使用命令补齐功能等。bash在shell编程方面也相当优秀。</a:t>
              </a:r>
            </a:p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354" y="660"/>
              <a:ext cx="17030" cy="4178"/>
              <a:chOff x="1354" y="660"/>
              <a:chExt cx="17030" cy="4178"/>
            </a:xfrm>
          </p:grpSpPr>
          <p:pic>
            <p:nvPicPr>
              <p:cNvPr id="4" name="图片 3" descr="bash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812" y="660"/>
                <a:ext cx="5572" cy="4179"/>
              </a:xfrm>
              <a:prstGeom prst="rect">
                <a:avLst/>
              </a:prstGeom>
            </p:spPr>
          </p:pic>
          <p:sp>
            <p:nvSpPr>
              <p:cNvPr id="22" name="矩形 6"/>
              <p:cNvSpPr>
                <a:spLocks noChangeArrowheads="1"/>
              </p:cNvSpPr>
              <p:nvPr/>
            </p:nvSpPr>
            <p:spPr bwMode="auto">
              <a:xfrm>
                <a:off x="2008" y="2616"/>
                <a:ext cx="7634" cy="9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80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3.2.1  bash简介</a:t>
                </a:r>
              </a:p>
            </p:txBody>
          </p:sp>
          <p:sp>
            <p:nvSpPr>
              <p:cNvPr id="23" name="椭圆 22"/>
              <p:cNvSpPr/>
              <p:nvPr/>
            </p:nvSpPr>
            <p:spPr bwMode="auto">
              <a:xfrm>
                <a:off x="1354" y="2836"/>
                <a:ext cx="510" cy="510"/>
              </a:xfrm>
              <a:prstGeom prst="ellipse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defTabSz="1104900" fontAlgn="auto">
                  <a:buFont typeface="Arial" panose="020B0604020202090204" pitchFamily="34" charset="0"/>
                  <a:buNone/>
                  <a:defRPr/>
                </a:pPr>
                <a:endParaRPr lang="zh-CN" altLang="en-US" sz="1600" noProof="1">
                  <a:solidFill>
                    <a:srgbClr val="0066FF"/>
                  </a:solidFill>
                  <a:latin typeface="Arial Unicode MS" panose="020B0604020202020204" pitchFamily="34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08635" y="772160"/>
            <a:ext cx="11315065" cy="5683888"/>
            <a:chOff x="508635" y="772160"/>
            <a:chExt cx="11315065" cy="5683888"/>
          </a:xfrm>
        </p:grpSpPr>
        <p:grpSp>
          <p:nvGrpSpPr>
            <p:cNvPr id="5" name="组合 4"/>
            <p:cNvGrpSpPr/>
            <p:nvPr/>
          </p:nvGrpSpPr>
          <p:grpSpPr>
            <a:xfrm>
              <a:off x="508635" y="772160"/>
              <a:ext cx="11315065" cy="5654040"/>
              <a:chOff x="801" y="1216"/>
              <a:chExt cx="17819" cy="8904"/>
            </a:xfrm>
          </p:grpSpPr>
          <p:sp>
            <p:nvSpPr>
              <p:cNvPr id="10242" name="AutoShape 2"/>
              <p:cNvSpPr/>
              <p:nvPr/>
            </p:nvSpPr>
            <p:spPr>
              <a:xfrm>
                <a:off x="801" y="2743"/>
                <a:ext cx="17819" cy="7377"/>
              </a:xfrm>
              <a:prstGeom prst="roundRect">
                <a:avLst>
                  <a:gd name="adj" fmla="val 2644"/>
                </a:avLst>
              </a:prstGeom>
              <a:gradFill rotWithShape="1">
                <a:gsLst>
                  <a:gs pos="0">
                    <a:srgbClr val="F3F3F3"/>
                  </a:gs>
                  <a:gs pos="100000">
                    <a:srgbClr val="DDDDDD"/>
                  </a:gs>
                </a:gsLst>
                <a:lin ang="5400000" scaled="1"/>
                <a:tileRect/>
              </a:gra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en-US" sz="1600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1013" y="1216"/>
                <a:ext cx="9355" cy="3168"/>
                <a:chOff x="1354" y="566"/>
                <a:chExt cx="13776" cy="4179"/>
              </a:xfrm>
            </p:grpSpPr>
            <p:pic>
              <p:nvPicPr>
                <p:cNvPr id="4" name="图片 3" descr="bash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9558" y="566"/>
                  <a:ext cx="5572" cy="4179"/>
                </a:xfrm>
                <a:prstGeom prst="rect">
                  <a:avLst/>
                </a:prstGeom>
              </p:spPr>
            </p:pic>
            <p:sp>
              <p:nvSpPr>
                <p:cNvPr id="22" name="矩形 6"/>
                <p:cNvSpPr>
                  <a:spLocks noChangeArrowheads="1"/>
                </p:cNvSpPr>
                <p:nvPr/>
              </p:nvSpPr>
              <p:spPr bwMode="auto">
                <a:xfrm>
                  <a:off x="2008" y="2488"/>
                  <a:ext cx="7634" cy="12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800" b="1">
                      <a:solidFill>
                        <a:srgbClr val="00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3.2.1  bash简介</a:t>
                  </a:r>
                </a:p>
              </p:txBody>
            </p:sp>
            <p:sp>
              <p:nvSpPr>
                <p:cNvPr id="23" name="椭圆 22"/>
                <p:cNvSpPr/>
                <p:nvPr/>
              </p:nvSpPr>
              <p:spPr bwMode="auto">
                <a:xfrm>
                  <a:off x="1354" y="2836"/>
                  <a:ext cx="510" cy="510"/>
                </a:xfrm>
                <a:prstGeom prst="ellipse">
                  <a:avLst/>
                </a:prstGeom>
                <a:solidFill>
                  <a:srgbClr val="0066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defTabSz="1104900" fontAlgn="auto">
                    <a:buFont typeface="Arial" panose="020B0604020202090204" pitchFamily="34" charset="0"/>
                    <a:buNone/>
                    <a:defRPr/>
                  </a:pPr>
                  <a:endParaRPr lang="zh-CN" altLang="en-US" sz="1600" noProof="1">
                    <a:solidFill>
                      <a:srgbClr val="0066FF"/>
                    </a:solidFill>
                    <a:latin typeface="Arial Unicode MS" panose="020B0604020202020204" pitchFamily="34" charset="-122"/>
                  </a:endParaRPr>
                </a:p>
              </p:txBody>
            </p:sp>
          </p:grpSp>
        </p:grpSp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 cstate="print"/>
            <a:srcRect/>
            <a:stretch>
              <a:fillRect/>
            </a:stretch>
          </p:blipFill>
          <p:spPr>
            <a:xfrm>
              <a:off x="6346051" y="2180715"/>
              <a:ext cx="5256584" cy="4275333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787400" y="3258488"/>
              <a:ext cx="5511800" cy="2169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各种Linux环境下安装了</a:t>
              </a:r>
              <a:r>
                <a:rPr lang="en-US" altLang="zh-CN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多种shell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，这是由历史原因造成的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这些shell都是由不同的人编写并都得到一部分用户的青睐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常用的是Bourne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shell（sh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）、C 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shell（chs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）、Bourne Again 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shell（bash）和Korn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shell。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而</a:t>
              </a:r>
              <a:r>
                <a:rPr lang="en-US" altLang="zh-CN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Red</a:t>
              </a:r>
              <a:r>
                <a:rPr lang="en-US" altLang="zh-CN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Hat </a:t>
              </a:r>
              <a:r>
                <a:rPr lang="en-US" altLang="zh-CN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Linux的默认shell是bash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37845" y="1272540"/>
            <a:ext cx="11090910" cy="5180330"/>
            <a:chOff x="1111" y="2433"/>
            <a:chExt cx="16888" cy="7148"/>
          </a:xfrm>
        </p:grpSpPr>
        <p:grpSp>
          <p:nvGrpSpPr>
            <p:cNvPr id="3" name="组合 2"/>
            <p:cNvGrpSpPr/>
            <p:nvPr/>
          </p:nvGrpSpPr>
          <p:grpSpPr>
            <a:xfrm>
              <a:off x="1111" y="2433"/>
              <a:ext cx="16888" cy="7148"/>
              <a:chOff x="1111" y="2433"/>
              <a:chExt cx="16888" cy="7148"/>
            </a:xfrm>
          </p:grpSpPr>
          <p:sp>
            <p:nvSpPr>
              <p:cNvPr id="10242" name="AutoShape 2"/>
              <p:cNvSpPr/>
              <p:nvPr/>
            </p:nvSpPr>
            <p:spPr>
              <a:xfrm>
                <a:off x="1111" y="2433"/>
                <a:ext cx="16888" cy="7148"/>
              </a:xfrm>
              <a:prstGeom prst="roundRect">
                <a:avLst>
                  <a:gd name="adj" fmla="val 2644"/>
                </a:avLst>
              </a:prstGeom>
              <a:gradFill rotWithShape="1">
                <a:gsLst>
                  <a:gs pos="0">
                    <a:srgbClr val="F3F3F3"/>
                  </a:gs>
                  <a:gs pos="100000">
                    <a:srgbClr val="DDDDDD"/>
                  </a:gs>
                </a:gsLst>
                <a:lin ang="5400000" scaled="1"/>
                <a:tileRect/>
              </a:gra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en-US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0" indent="0"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en-US" altLang="zh-CN" sz="14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0" indent="0"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en-US" altLang="zh-CN" sz="14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bash命令都具有相同的命令格式：</a:t>
                </a: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命令名由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小写的英文字母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构成，往往是表示相应功能的英文单词或单词的缩写。例如：date表示日期；who表示谁在系统中；cp是copy的缩写，复制命令，用于复制文件。</a:t>
                </a: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其中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方括号括起的部分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，表明该项对命令行来说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不是必须的，是可选的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。既可以直接在提示符后面输入命令date，显示当前的日期和时间，也可以在date命令名后面带有选项和参数。</a:t>
                </a: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" name="流程图: 过程 1"/>
              <p:cNvSpPr/>
              <p:nvPr/>
            </p:nvSpPr>
            <p:spPr>
              <a:xfrm>
                <a:off x="8058" y="3512"/>
                <a:ext cx="6498" cy="759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命令名  [选项]  [参数1] [参数2]…</a:t>
                </a:r>
              </a:p>
            </p:txBody>
          </p:sp>
        </p:grpSp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2008" y="2616"/>
              <a:ext cx="7634" cy="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8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3.2.2  命令格式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354" y="2836"/>
              <a:ext cx="510" cy="47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14" name="组合 14"/>
          <p:cNvGrpSpPr/>
          <p:nvPr/>
        </p:nvGrpSpPr>
        <p:grpSpPr bwMode="auto">
          <a:xfrm>
            <a:off x="3909695" y="4791076"/>
            <a:ext cx="7452995" cy="1466849"/>
            <a:chOff x="1166778" y="1750102"/>
            <a:chExt cx="9858444" cy="1750336"/>
          </a:xfrm>
        </p:grpSpPr>
        <p:grpSp>
          <p:nvGrpSpPr>
            <p:cNvPr id="10249" name="组合 12"/>
            <p:cNvGrpSpPr/>
            <p:nvPr/>
          </p:nvGrpSpPr>
          <p:grpSpPr bwMode="auto">
            <a:xfrm>
              <a:off x="1166778" y="1750102"/>
              <a:ext cx="9858444" cy="1750336"/>
              <a:chOff x="1166778" y="1750102"/>
              <a:chExt cx="9858444" cy="17503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0252" name="矩形 6"/>
              <p:cNvSpPr>
                <a:spLocks noChangeArrowheads="1"/>
              </p:cNvSpPr>
              <p:nvPr/>
            </p:nvSpPr>
            <p:spPr bwMode="auto">
              <a:xfrm>
                <a:off x="2506405" y="1750102"/>
                <a:ext cx="2479793" cy="5455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009900"/>
                    </a:solidFill>
                    <a:latin typeface="华康俪金黑W8(P)"/>
                    <a:ea typeface="华康俪金黑W8(P)"/>
                    <a:cs typeface="华康俪金黑W8(P)"/>
                  </a:rPr>
                  <a:t>说明</a:t>
                </a:r>
              </a:p>
            </p:txBody>
          </p:sp>
        </p:grpSp>
        <p:sp>
          <p:nvSpPr>
            <p:cNvPr id="10250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27255" y="2214585"/>
              <a:ext cx="9757651" cy="121462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457200" eaLnBrk="1" latinLnBrk="0" hangingPunct="1">
                <a:lnSpc>
                  <a:spcPct val="120000"/>
                </a:lnSpc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选项是对命令的特别定义，以“-”开始，多个选项可用一个“-”连起来，例如“ls  -l -a”与“ls  -la”相同。</a:t>
              </a:r>
            </a:p>
          </p:txBody>
        </p:sp>
      </p:grpSp>
      <p:pic>
        <p:nvPicPr>
          <p:cNvPr id="16" name="图片 4" descr="www.tuweimei.comComp_9747389_aloyhm04q205BMmtimdiv2o2HN82PIep.jpg"/>
          <p:cNvPicPr>
            <a:picLocks noGrp="1"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09695" y="4441190"/>
            <a:ext cx="9286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/>
          <p:nvPr/>
        </p:nvSpPr>
        <p:spPr>
          <a:xfrm>
            <a:off x="661670" y="2082165"/>
            <a:ext cx="5095240" cy="3834765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命令行的参数提供命令运行的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或者是命令执行过程中所使用的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。通常参数是一些文件名，告诉命令从哪里可以得到输入及将输出送到什么地方。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如果命令行中没有提供参数，命令将从标准输入文件（即键盘）接收数据，输出结果显示在标准输出文件（即显示器）上。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083945" y="1113790"/>
            <a:ext cx="2813050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 命令格式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576580" y="129921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9" name="图片 8" descr="A000220150821B53PPI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29400" y="2038908"/>
            <a:ext cx="4756681" cy="403954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/>
          <p:nvPr/>
        </p:nvSpPr>
        <p:spPr>
          <a:xfrm>
            <a:off x="1093470" y="2246630"/>
            <a:ext cx="6120130" cy="3785870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457200" eaLnBrk="1" latinLnBrk="0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457200" eaLnBrk="1" latinLnBrk="0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可以使用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重定向功能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对这些文件进行重定向。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命令在正常执行后返回一个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，表示执行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；如果命令执行过程中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，没有完成全部工作，则返回一个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非零值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。在shell脚本中可用此返回值作为控制逻辑流程的一部分。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Linux操作系统的联机帮助对每个命令的准确语法都做了说明，使用时可以查阅。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122680" y="1019810"/>
            <a:ext cx="295084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 命令格式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707390" y="117475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6" name="图片 5" descr="A000220150821B09PPI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62900" y="1622748"/>
            <a:ext cx="2874775" cy="464546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/>
          <p:nvPr/>
        </p:nvSpPr>
        <p:spPr>
          <a:xfrm>
            <a:off x="596900" y="1645920"/>
            <a:ext cx="11273790" cy="4752340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092200" y="1012190"/>
            <a:ext cx="319595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3.2.3  键入命令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661670" y="116713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2" name="图片 1" descr="键入命令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6065" y="3019425"/>
            <a:ext cx="5071110" cy="337883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33120" y="1799590"/>
            <a:ext cx="10233660" cy="4389120"/>
            <a:chOff x="833120" y="1799590"/>
            <a:chExt cx="10233660" cy="4389120"/>
          </a:xfrm>
        </p:grpSpPr>
        <p:sp>
          <p:nvSpPr>
            <p:cNvPr id="4" name="文本框 3"/>
            <p:cNvSpPr txBox="1"/>
            <p:nvPr/>
          </p:nvSpPr>
          <p:spPr>
            <a:xfrm>
              <a:off x="1107440" y="1799590"/>
              <a:ext cx="9959340" cy="1005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在【shell】提示符下，可以输入相应的命令。输入后，必须按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【Enter】键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予以确认。shell会读取该命令并予以执行。命令完成后，屏幕将显示新的提示符。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33120" y="2820670"/>
              <a:ext cx="5491480" cy="3368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shell命令可以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识别大小写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。例如，DATE、date和Date是不同的，其中只有一个是真正的Linux命令。</a:t>
              </a:r>
            </a:p>
            <a:p>
              <a:pPr indent="457200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如果系统找不到输入的命令，会显示反馈信息：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“-bash:命令：command not found”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。这时，就要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检查键入命令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的拼写及大小写是否正确。</a:t>
              </a:r>
              <a:endParaRPr lang="zh-CN" altLang="en-US" sz="20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79780" y="1661160"/>
            <a:ext cx="10723880" cy="4752340"/>
            <a:chOff x="1228" y="2616"/>
            <a:chExt cx="16888" cy="7484"/>
          </a:xfrm>
        </p:grpSpPr>
        <p:grpSp>
          <p:nvGrpSpPr>
            <p:cNvPr id="3" name="组合 2"/>
            <p:cNvGrpSpPr/>
            <p:nvPr/>
          </p:nvGrpSpPr>
          <p:grpSpPr>
            <a:xfrm>
              <a:off x="1228" y="2616"/>
              <a:ext cx="16888" cy="7484"/>
              <a:chOff x="1228" y="2616"/>
              <a:chExt cx="16888" cy="7484"/>
            </a:xfrm>
          </p:grpSpPr>
          <p:sp>
            <p:nvSpPr>
              <p:cNvPr id="10242" name="AutoShape 2"/>
              <p:cNvSpPr/>
              <p:nvPr/>
            </p:nvSpPr>
            <p:spPr>
              <a:xfrm>
                <a:off x="1228" y="2616"/>
                <a:ext cx="16888" cy="7484"/>
              </a:xfrm>
              <a:prstGeom prst="roundRect">
                <a:avLst>
                  <a:gd name="adj" fmla="val 2644"/>
                </a:avLst>
              </a:prstGeom>
              <a:gradFill rotWithShape="1">
                <a:gsLst>
                  <a:gs pos="0">
                    <a:srgbClr val="F3F3F3"/>
                  </a:gs>
                  <a:gs pos="100000">
                    <a:srgbClr val="DDDDDD"/>
                  </a:gs>
                </a:gsLst>
                <a:lin ang="5400000" scaled="1"/>
                <a:tileRect/>
              </a:gra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457200" eaLnBrk="1" latinLnBrk="0" hangingPunct="1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如果一个命令太长，一行放不下时，要在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第一行行尾键入“\”字符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并按【Enter】键。这时shell会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返回一个大于号（&gt;）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作为提示符，表示允许命令延续到下一行。然后，可以接着输入命令。例如：</a:t>
                </a: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indent="457200" fontAlgn="auto">
                  <a:lnSpc>
                    <a:spcPct val="150000"/>
                  </a:lnSpc>
                  <a:spcAft>
                    <a:spcPts val="600"/>
                  </a:spcAft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" name="流程图: 过程 1"/>
              <p:cNvSpPr/>
              <p:nvPr/>
            </p:nvSpPr>
            <p:spPr>
              <a:xfrm>
                <a:off x="4243" y="4543"/>
                <a:ext cx="13222" cy="2751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[studentL @localhost studentL]$echo this line is too long to fit\ 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&gt;on one line. </a:t>
                </a:r>
              </a:p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this line is too long to fit on one line. </a:t>
                </a: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1354" y="8003"/>
              <a:ext cx="8913" cy="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在命令与选项、参数之间要用空格或制表符隔开。</a:t>
              </a:r>
              <a:endParaRPr lang="zh-CN" altLang="en-US" sz="2000"/>
            </a:p>
          </p:txBody>
        </p:sp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265961" y="1057593"/>
            <a:ext cx="4847819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3.2.3  键入命令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942340" y="119761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4" name="组合 14"/>
          <p:cNvGrpSpPr/>
          <p:nvPr/>
        </p:nvGrpSpPr>
        <p:grpSpPr bwMode="auto">
          <a:xfrm>
            <a:off x="6519545" y="5046980"/>
            <a:ext cx="4787265" cy="1169035"/>
            <a:chOff x="1166778" y="1750102"/>
            <a:chExt cx="9858444" cy="1750336"/>
          </a:xfrm>
        </p:grpSpPr>
        <p:grpSp>
          <p:nvGrpSpPr>
            <p:cNvPr id="10249" name="组合 12"/>
            <p:cNvGrpSpPr/>
            <p:nvPr/>
          </p:nvGrpSpPr>
          <p:grpSpPr bwMode="auto">
            <a:xfrm>
              <a:off x="1166778" y="1750102"/>
              <a:ext cx="9858444" cy="1750336"/>
              <a:chOff x="1166778" y="1750102"/>
              <a:chExt cx="9858444" cy="17503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0252" name="矩形 6"/>
              <p:cNvSpPr>
                <a:spLocks noChangeArrowheads="1"/>
              </p:cNvSpPr>
              <p:nvPr/>
            </p:nvSpPr>
            <p:spPr bwMode="auto">
              <a:xfrm>
                <a:off x="2506405" y="1750102"/>
                <a:ext cx="2479793" cy="6845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009900"/>
                    </a:solidFill>
                    <a:latin typeface="华康俪金黑W8(P)"/>
                    <a:ea typeface="华康俪金黑W8(P)"/>
                    <a:cs typeface="华康俪金黑W8(P)"/>
                  </a:rPr>
                  <a:t>说明</a:t>
                </a:r>
              </a:p>
            </p:txBody>
          </p:sp>
        </p:grpSp>
        <p:sp>
          <p:nvSpPr>
            <p:cNvPr id="10250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434644"/>
              <a:ext cx="9708063" cy="99448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eaLnBrk="1" latinLnBrk="0" hangingPunct="1">
                <a:lnSpc>
                  <a:spcPct val="120000"/>
                </a:lnSpc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连续的空格会被shell解释为单个空格。</a:t>
              </a:r>
            </a:p>
          </p:txBody>
        </p:sp>
      </p:grpSp>
      <p:pic>
        <p:nvPicPr>
          <p:cNvPr id="16" name="图片 4" descr="www.tuweimei.comComp_9747389_aloyhm04q205BMmtimdiv2o2HN82PIep.jpg"/>
          <p:cNvPicPr>
            <a:picLocks noGrp="1"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19545" y="4646930"/>
            <a:ext cx="9286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/>
          <p:nvPr/>
        </p:nvSpPr>
        <p:spPr>
          <a:xfrm>
            <a:off x="615950" y="2052320"/>
            <a:ext cx="11019790" cy="3980180"/>
          </a:xfrm>
          <a:prstGeom prst="roundRect">
            <a:avLst>
              <a:gd name="adj" fmla="val 4868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457200" eaLnBrk="1" latinLnBrk="0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351051" y="1027113"/>
            <a:ext cx="4847819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3.2.4  修改命令行输入错误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890270" y="119761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2" name="图片 1" descr="退格键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76160" y="3157220"/>
            <a:ext cx="4259580" cy="28232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9820" y="2178685"/>
            <a:ext cx="101142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eaLnBrk="1" latinLnBrk="0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输入命令时，可以使用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多个空格符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，但是拼写和语法必须是准确的。如果在命令行中出现拼写错误，在按【Enter】键之前，可以通过下列两种方式修改。</a:t>
            </a:r>
          </a:p>
          <a:p>
            <a:pPr lvl="0" indent="457200" eaLnBrk="1" fontAlgn="auto" latinLnBrk="0" hangingPunct="1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“退格”键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（即【Backspace】键）从后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向前删除有错误的字符，再键入正确的命令字符串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lvl="0" indent="457200" eaLnBrk="1" fontAlgn="auto" latinLnBrk="0" hangingPunct="1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（2）用【Crtrl+U】键可以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删除光标所在的命令行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如果命令多于一行，首行末尾有反斜线，则只删除当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/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/>
          <p:nvPr/>
        </p:nvSpPr>
        <p:spPr>
          <a:xfrm>
            <a:off x="535940" y="1689100"/>
            <a:ext cx="10938510" cy="4752340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shell提供了许多控制符及特殊字符，用于简化命令的输入。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【Ctrl+H】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键为默认的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删除符号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，它的功能与【Backspace】键相同。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【Ctrl+U】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键可以删除光标所在的命令行。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（3）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【Ctrl+J】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键相当于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（4）如果在命令行中使用一对单引号，shell将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不解释被单引号括起的内容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，包括其中的空格和回车字符。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（5）分号可以将两个命令隔开，这样可以实现在一行中输入多个命令。命令的执行顺序与输入的顺序相同。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1275715" y="1027430"/>
            <a:ext cx="316547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3.2.5  特殊控制符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779780" y="119761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2" name="图片 1" descr="CTRL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57080" y="1689100"/>
            <a:ext cx="1817370" cy="18173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0" name="Group 5"/>
          <p:cNvGrpSpPr/>
          <p:nvPr/>
        </p:nvGrpSpPr>
        <p:grpSpPr bwMode="auto">
          <a:xfrm>
            <a:off x="2112645" y="3982720"/>
            <a:ext cx="4041140" cy="481330"/>
            <a:chOff x="3" y="0"/>
            <a:chExt cx="4243" cy="333"/>
          </a:xfrm>
        </p:grpSpPr>
        <p:grpSp>
          <p:nvGrpSpPr>
            <p:cNvPr id="2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3.3  文件操作命令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87245" y="469074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3.4  目录及其操作命令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51890"/>
            <a:ext cx="429958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 文件系统概念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48310" y="13220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473710" y="3743960"/>
          <a:ext cx="10745470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945"/>
                <a:gridCol w="9153525"/>
              </a:tblGrid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定义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文件系统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它是磁盘上有特定格式的一片区域，操作系统通过文件系统可以方便地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查寻和访问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其中所包含的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磁盘块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147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b="1" kern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  <a:sym typeface="+mn-ea"/>
                        </a:rPr>
                        <a:t>文件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文件系统中存储数据的一个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命名对象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。一个文件可以是空文件，但仍可为操作系统提供其他信息。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utoShape 2"/>
          <p:cNvSpPr/>
          <p:nvPr/>
        </p:nvSpPr>
        <p:spPr>
          <a:xfrm>
            <a:off x="448310" y="1755140"/>
            <a:ext cx="11256010" cy="1122045"/>
          </a:xfrm>
          <a:prstGeom prst="roundRect">
            <a:avLst>
              <a:gd name="adj" fmla="val 2644"/>
            </a:avLst>
          </a:prstGeom>
          <a:gradFill rotWithShape="1">
            <a:gsLst>
              <a:gs pos="0">
                <a:srgbClr val="F3F3F3"/>
              </a:gs>
              <a:gs pos="100000">
                <a:srgbClr val="DDDDDD"/>
              </a:gs>
            </a:gsLst>
            <a:lin ang="5400000" scaled="1"/>
            <a:tileRect/>
          </a:gradFill>
          <a:ln w="3175" cap="flat" cmpd="sng">
            <a:solidFill>
              <a:srgbClr val="969696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457200" eaLnBrk="1" latinLnBrk="0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磁盘上的文件系统是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分层次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的，由若干目录及其子目录组成，上层的目录称为根目录，用“/”表示。</a:t>
            </a: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62915" y="3011805"/>
            <a:ext cx="4362450" cy="553085"/>
            <a:chOff x="6666906" y="2035810"/>
            <a:chExt cx="2402799" cy="553085"/>
          </a:xfrm>
        </p:grpSpPr>
        <p:sp>
          <p:nvSpPr>
            <p:cNvPr id="5" name="圆角矩形 4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6938314" y="2072005"/>
              <a:ext cx="2001283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1．文件与目录的定义</a:t>
              </a:r>
            </a:p>
          </p:txBody>
        </p:sp>
        <p:grpSp>
          <p:nvGrpSpPr>
            <p:cNvPr id="6" name="组合 36"/>
            <p:cNvGrpSpPr/>
            <p:nvPr/>
          </p:nvGrpSpPr>
          <p:grpSpPr bwMode="auto">
            <a:xfrm>
              <a:off x="6666906" y="2138680"/>
              <a:ext cx="214049" cy="347980"/>
              <a:chOff x="6347939" y="788847"/>
              <a:chExt cx="1064595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347939" y="788847"/>
                <a:ext cx="1064595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6734565" y="1071618"/>
                <a:ext cx="677367" cy="1236300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24560" y="1167130"/>
            <a:ext cx="364172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 文件系统概念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524510" y="13220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16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509270" y="1925955"/>
          <a:ext cx="10759440" cy="4190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485"/>
                <a:gridCol w="9164955"/>
              </a:tblGrid>
              <a:tr h="69151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定义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包含许多文件项目的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一类特殊文件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。目录支持文件系统的层次结构。文件系统中的每个文件都登记在一个（或多个）目录中。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1" kern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  <a:sym typeface="+mn-ea"/>
                        </a:rPr>
                        <a:t>子目录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包含在另一个目录中的目录。包含子目录的目录称为父目录。除了根目录以外，所有的目录都是子目录，并且有它们的父目录。根目录就作为自己的父目录。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  <a:sym typeface="+mn-ea"/>
                        </a:rPr>
                        <a:t>文件名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8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用来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标识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文件的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字符串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，它保存在一个目录文件项中。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buNone/>
                      </a:pPr>
                      <a:r>
                        <a:rPr lang="en-US" sz="2400" b="1" kern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  <a:sym typeface="+mn-ea"/>
                        </a:rPr>
                        <a:t>路径名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由斜线字符“/”结合在一起的一个或多个文件名的集合。路径名指定一个文件在分层的树形结构（即文件系统）中的位置。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03375" y="1255395"/>
            <a:ext cx="2725295" cy="553085"/>
            <a:chOff x="6668135" y="2035810"/>
            <a:chExt cx="2401570" cy="553085"/>
          </a:xfrm>
        </p:grpSpPr>
        <p:sp>
          <p:nvSpPr>
            <p:cNvPr id="5" name="圆角矩形 4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16451" y="2072005"/>
              <a:ext cx="2017373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2．文件结构</a:t>
              </a:r>
            </a:p>
          </p:txBody>
        </p:sp>
        <p:grpSp>
          <p:nvGrpSpPr>
            <p:cNvPr id="6" name="组合 36"/>
            <p:cNvGrpSpPr/>
            <p:nvPr/>
          </p:nvGrpSpPr>
          <p:grpSpPr bwMode="auto">
            <a:xfrm>
              <a:off x="6734055" y="2138680"/>
              <a:ext cx="271952" cy="347980"/>
              <a:chOff x="6681909" y="788847"/>
              <a:chExt cx="1352580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681909" y="788847"/>
                <a:ext cx="1352580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6937953" y="1209715"/>
                <a:ext cx="960165" cy="95352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666115" y="1899285"/>
            <a:ext cx="10283825" cy="4049395"/>
            <a:chOff x="1049" y="2991"/>
            <a:chExt cx="16195" cy="6377"/>
          </a:xfrm>
        </p:grpSpPr>
        <p:sp>
          <p:nvSpPr>
            <p:cNvPr id="17" name="TextBox 6"/>
            <p:cNvSpPr txBox="1"/>
            <p:nvPr/>
          </p:nvSpPr>
          <p:spPr>
            <a:xfrm>
              <a:off x="1340" y="4704"/>
              <a:ext cx="15007" cy="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无论文件是一个程序、一个文档、一个数据库，或者是一个目录，操作系统都会赋予文件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相同的结构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，具体信息如下：</a:t>
              </a:r>
            </a:p>
          </p:txBody>
        </p:sp>
        <p:sp>
          <p:nvSpPr>
            <p:cNvPr id="22" name="TextBox 6"/>
            <p:cNvSpPr txBox="1"/>
            <p:nvPr/>
          </p:nvSpPr>
          <p:spPr>
            <a:xfrm>
              <a:off x="1049" y="3692"/>
              <a:ext cx="4203" cy="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sz="2400" dirty="0">
                  <a:solidFill>
                    <a:srgbClr val="0070C0"/>
                  </a:solidFill>
                </a:rPr>
                <a:t>（1）文件的成分</a:t>
              </a:r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4646" y="6161"/>
              <a:ext cx="12599" cy="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又称I节点。在文件系统结构中，包含有关相应文件信息的一个记录，这些信息包括文件权限、文件主（文件拥有者）、文件大小等。</a:t>
              </a:r>
            </a:p>
          </p:txBody>
        </p:sp>
        <p:sp>
          <p:nvSpPr>
            <p:cNvPr id="25" name="TextBox 6"/>
            <p:cNvSpPr txBox="1"/>
            <p:nvPr/>
          </p:nvSpPr>
          <p:spPr>
            <a:xfrm>
              <a:off x="1282" y="6387"/>
              <a:ext cx="3159" cy="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800" dirty="0">
                  <a:solidFill>
                    <a:srgbClr val="0070C0"/>
                  </a:solidFill>
                  <a:sym typeface="+mn-ea"/>
                </a:rPr>
                <a:t>①</a:t>
              </a:r>
              <a:r>
                <a:rPr lang="zh-CN" altLang="en-US" sz="2400" dirty="0">
                  <a:solidFill>
                    <a:srgbClr val="0070C0"/>
                  </a:solidFill>
                  <a:sym typeface="+mn-ea"/>
                </a:rPr>
                <a:t> 索引节点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：</a:t>
              </a:r>
            </a:p>
          </p:txBody>
        </p:sp>
        <p:sp>
          <p:nvSpPr>
            <p:cNvPr id="26" name="TextBox 6"/>
            <p:cNvSpPr txBox="1"/>
            <p:nvPr/>
          </p:nvSpPr>
          <p:spPr>
            <a:xfrm>
              <a:off x="4646" y="7976"/>
              <a:ext cx="12598" cy="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兰德公司的研究结论表明，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85%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倒闭的大企业是由管理者的重大决策失误造成的。</a:t>
              </a:r>
            </a:p>
          </p:txBody>
        </p:sp>
        <p:sp>
          <p:nvSpPr>
            <p:cNvPr id="27" name="TextBox 6"/>
            <p:cNvSpPr txBox="1"/>
            <p:nvPr/>
          </p:nvSpPr>
          <p:spPr>
            <a:xfrm>
              <a:off x="1340" y="7976"/>
              <a:ext cx="3126" cy="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sz="2800" dirty="0">
                  <a:solidFill>
                    <a:srgbClr val="0070C0"/>
                  </a:solidFill>
                </a:rPr>
                <a:t>②</a:t>
              </a:r>
              <a:r>
                <a:rPr sz="2400" dirty="0">
                  <a:solidFill>
                    <a:srgbClr val="0070C0"/>
                  </a:solidFill>
                </a:rPr>
                <a:t> 数据：</a:t>
              </a:r>
            </a:p>
          </p:txBody>
        </p:sp>
        <p:sp>
          <p:nvSpPr>
            <p:cNvPr id="2" name="TextBox 6"/>
            <p:cNvSpPr txBox="1"/>
            <p:nvPr/>
          </p:nvSpPr>
          <p:spPr>
            <a:xfrm>
              <a:off x="1258" y="2991"/>
              <a:ext cx="13537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文件是Linux操作系统处理信息的基本单位。所有软件都组织成文件形式。</a:t>
              </a:r>
            </a:p>
          </p:txBody>
        </p:sp>
      </p:grpSp>
      <p:pic>
        <p:nvPicPr>
          <p:cNvPr id="7" name="图片 6" descr="文件夹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272270" y="987425"/>
            <a:ext cx="2277745" cy="22250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695450"/>
            <a:ext cx="1114552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413385" y="1050290"/>
            <a:ext cx="266890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sz="2400" dirty="0">
                <a:solidFill>
                  <a:srgbClr val="0070C0"/>
                </a:solidFill>
              </a:rPr>
              <a:t>（2）命名文件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804545" y="1753870"/>
            <a:ext cx="10478135" cy="4664075"/>
            <a:chOff x="1267" y="2762"/>
            <a:chExt cx="16501" cy="7345"/>
          </a:xfrm>
        </p:grpSpPr>
        <p:sp>
          <p:nvSpPr>
            <p:cNvPr id="3" name="TextBox 6"/>
            <p:cNvSpPr txBox="1"/>
            <p:nvPr/>
          </p:nvSpPr>
          <p:spPr>
            <a:xfrm>
              <a:off x="1421" y="5643"/>
              <a:ext cx="15470" cy="1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②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除斜杠“/”和空字符以外，文件名可以包含</a:t>
              </a:r>
              <a:r>
                <a:rPr lang="zh-CN" altLang="en-US" dirty="0">
                  <a:solidFill>
                    <a:srgbClr val="0070C0"/>
                  </a:solidFill>
                  <a:sym typeface="+mn-ea"/>
                </a:rPr>
                <a:t>任意的ASCII字符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，因为这两个字符被核心当做表示路径名的特殊字符来解释。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267" y="2762"/>
              <a:ext cx="14442" cy="2913"/>
              <a:chOff x="1267" y="2762"/>
              <a:chExt cx="14442" cy="2913"/>
            </a:xfrm>
          </p:grpSpPr>
          <p:sp>
            <p:nvSpPr>
              <p:cNvPr id="17" name="TextBox 6"/>
              <p:cNvSpPr txBox="1"/>
              <p:nvPr/>
            </p:nvSpPr>
            <p:spPr>
              <a:xfrm>
                <a:off x="1301" y="3998"/>
                <a:ext cx="8123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为方便管理文件，文件名应遵循以下规则：</a:t>
                </a:r>
              </a:p>
            </p:txBody>
          </p:sp>
          <p:sp>
            <p:nvSpPr>
              <p:cNvPr id="25" name="TextBox 6"/>
              <p:cNvSpPr txBox="1"/>
              <p:nvPr/>
            </p:nvSpPr>
            <p:spPr>
              <a:xfrm>
                <a:off x="1421" y="4783"/>
                <a:ext cx="14289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① </a:t>
                </a: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文件名应尽量简单，并且应</a:t>
                </a:r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反映出文件内容</a:t>
                </a: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。文件名没有必要超过14个字符。</a:t>
                </a:r>
              </a:p>
            </p:txBody>
          </p:sp>
          <p:sp>
            <p:nvSpPr>
              <p:cNvPr id="10" name="TextBox 6"/>
              <p:cNvSpPr txBox="1"/>
              <p:nvPr/>
            </p:nvSpPr>
            <p:spPr>
              <a:xfrm>
                <a:off x="1267" y="2762"/>
                <a:ext cx="12357" cy="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文件名保存在目录文件中。Linux的文件名几乎可以由ASCII字符的任意组合构成，文件名可长达</a:t>
                </a:r>
                <a:r>
                  <a:rPr lang="zh-CN" altLang="en-US" sz="1800" dirty="0">
                    <a:solidFill>
                      <a:srgbClr val="0070C0"/>
                    </a:solidFill>
                    <a:sym typeface="+mn-ea"/>
                  </a:rPr>
                  <a:t>255个字符</a:t>
                </a:r>
                <a:r>
                  <a:rPr lang="zh-CN" alt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。</a:t>
                </a:r>
              </a:p>
            </p:txBody>
          </p:sp>
        </p:grpSp>
        <p:sp>
          <p:nvSpPr>
            <p:cNvPr id="4" name="TextBox 6"/>
            <p:cNvSpPr txBox="1"/>
            <p:nvPr/>
          </p:nvSpPr>
          <p:spPr>
            <a:xfrm>
              <a:off x="1432" y="6939"/>
              <a:ext cx="16336" cy="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③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习惯上允许使用</a:t>
              </a:r>
              <a:r>
                <a:rPr lang="zh-CN" altLang="en-US" dirty="0">
                  <a:solidFill>
                    <a:srgbClr val="0070C0"/>
                  </a:solidFill>
                  <a:sym typeface="+mn-ea"/>
                </a:rPr>
                <a:t>下线符“_”和句点“.”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来区别文件的类型，使文件名更易读。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但是应</a:t>
              </a:r>
              <a:r>
                <a:rPr lang="zh-CN" altLang="en-US" dirty="0">
                  <a:solidFill>
                    <a:srgbClr val="0070C0"/>
                  </a:solidFill>
                  <a:sym typeface="+mn-ea"/>
                </a:rPr>
                <a:t>避免使用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以下字符，因为对系统的shell来说，它们有特殊的含义。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这些字符是： ;  |  &lt;  &gt;  `  "  '  $  !  %  &amp;  *  ?  \  (  )  [  ]，另外文件名应避免使用空格、制表符或其他控制字符。</a:t>
              </a:r>
            </a:p>
          </p:txBody>
        </p:sp>
      </p:grpSp>
      <p:pic>
        <p:nvPicPr>
          <p:cNvPr id="5" name="图片 4" descr="17961491_163945321000_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55710" y="897890"/>
            <a:ext cx="2824480" cy="21183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3"/>
          <p:cNvSpPr>
            <a:spLocks noChangeArrowheads="1"/>
          </p:cNvSpPr>
          <p:nvPr/>
        </p:nvSpPr>
        <p:spPr bwMode="gray">
          <a:xfrm>
            <a:off x="490220" y="1692275"/>
            <a:ext cx="111982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612140" y="1136015"/>
            <a:ext cx="266890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sz="2400" dirty="0">
                <a:solidFill>
                  <a:srgbClr val="0070C0"/>
                </a:solidFill>
              </a:rPr>
              <a:t>（2）命名文件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657474" y="4330700"/>
            <a:ext cx="8302625" cy="1941195"/>
            <a:chOff x="4185" y="6820"/>
            <a:chExt cx="12598" cy="3057"/>
          </a:xfrm>
        </p:grpSpPr>
        <p:grpSp>
          <p:nvGrpSpPr>
            <p:cNvPr id="18" name="组合 14"/>
            <p:cNvGrpSpPr/>
            <p:nvPr/>
          </p:nvGrpSpPr>
          <p:grpSpPr bwMode="auto">
            <a:xfrm>
              <a:off x="4185" y="7109"/>
              <a:ext cx="12598" cy="2768"/>
              <a:chOff x="1166778" y="1786456"/>
              <a:chExt cx="9858444" cy="1713982"/>
            </a:xfrm>
          </p:grpSpPr>
          <p:grpSp>
            <p:nvGrpSpPr>
              <p:cNvPr id="19" name="组合 12"/>
              <p:cNvGrpSpPr/>
              <p:nvPr/>
            </p:nvGrpSpPr>
            <p:grpSpPr bwMode="auto">
              <a:xfrm>
                <a:off x="1166778" y="1786456"/>
                <a:ext cx="9858444" cy="1713982"/>
                <a:chOff x="1166778" y="1786456"/>
                <a:chExt cx="9858444" cy="1713982"/>
              </a:xfrm>
            </p:grpSpPr>
            <p:sp>
              <p:nvSpPr>
                <p:cNvPr id="20" name="矩形 19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21" name="矩形 6"/>
                <p:cNvSpPr>
                  <a:spLocks noChangeArrowheads="1"/>
                </p:cNvSpPr>
                <p:nvPr/>
              </p:nvSpPr>
              <p:spPr bwMode="auto">
                <a:xfrm>
                  <a:off x="2523492" y="1846689"/>
                  <a:ext cx="2479793" cy="535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0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800" b="1">
                      <a:solidFill>
                        <a:srgbClr val="0099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注意</a:t>
                  </a:r>
                </a:p>
              </p:txBody>
            </p:sp>
          </p:grpSp>
          <p:sp>
            <p:nvSpPr>
              <p:cNvPr id="2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241902" y="2382078"/>
                <a:ext cx="9707915" cy="1046982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eaLnBrk="1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以圆点“.”开头的文件名是隐含文件，默认方式下使用ls命令并不能将它们在屏幕上显示出来。同样，在默认情况下，shell通配符并不匹配这类文件名。</a:t>
                </a:r>
              </a:p>
            </p:txBody>
          </p:sp>
        </p:grpSp>
        <p:pic>
          <p:nvPicPr>
            <p:cNvPr id="28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396" y="6820"/>
              <a:ext cx="1463" cy="1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组合 9"/>
          <p:cNvGrpSpPr/>
          <p:nvPr/>
        </p:nvGrpSpPr>
        <p:grpSpPr>
          <a:xfrm>
            <a:off x="727710" y="1795780"/>
            <a:ext cx="9982835" cy="2913380"/>
            <a:chOff x="1146" y="2828"/>
            <a:chExt cx="15721" cy="4588"/>
          </a:xfrm>
        </p:grpSpPr>
        <p:sp>
          <p:nvSpPr>
            <p:cNvPr id="17" name="TextBox 6"/>
            <p:cNvSpPr txBox="1"/>
            <p:nvPr/>
          </p:nvSpPr>
          <p:spPr>
            <a:xfrm>
              <a:off x="1397" y="4214"/>
              <a:ext cx="8123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为方便管理文件，文件名应遵循以下规则：</a:t>
              </a:r>
            </a:p>
          </p:txBody>
        </p:sp>
        <p:sp>
          <p:nvSpPr>
            <p:cNvPr id="3" name="TextBox 6"/>
            <p:cNvSpPr txBox="1"/>
            <p:nvPr/>
          </p:nvSpPr>
          <p:spPr>
            <a:xfrm>
              <a:off x="1397" y="5184"/>
              <a:ext cx="15470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④ 同类文件应使用同样的后缀或扩展名。</a:t>
              </a:r>
            </a:p>
          </p:txBody>
        </p:sp>
        <p:sp>
          <p:nvSpPr>
            <p:cNvPr id="12" name="TextBox 6"/>
            <p:cNvSpPr txBox="1"/>
            <p:nvPr/>
          </p:nvSpPr>
          <p:spPr>
            <a:xfrm>
              <a:off x="1397" y="6024"/>
              <a:ext cx="15470" cy="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⑤ Linux系统区分文件名的大小写，例如名为letter的文件与名为Letter的文件不是同一个文件。</a:t>
              </a:r>
            </a:p>
          </p:txBody>
        </p:sp>
        <p:sp>
          <p:nvSpPr>
            <p:cNvPr id="2" name="TextBox 6"/>
            <p:cNvSpPr txBox="1"/>
            <p:nvPr/>
          </p:nvSpPr>
          <p:spPr>
            <a:xfrm>
              <a:off x="1146" y="2828"/>
              <a:ext cx="11562" cy="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文件名保存在目录文件中。Linux的文件名几乎可以由ASCII字符的任意组合构成，文件名可长达</a:t>
              </a:r>
              <a:r>
                <a:rPr lang="zh-CN" altLang="en-US" sz="1800" dirty="0">
                  <a:solidFill>
                    <a:srgbClr val="0070C0"/>
                  </a:solidFill>
                  <a:sym typeface="+mn-ea"/>
                </a:rPr>
                <a:t>255个字符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。</a:t>
              </a:r>
            </a:p>
          </p:txBody>
        </p:sp>
      </p:grpSp>
      <p:pic>
        <p:nvPicPr>
          <p:cNvPr id="8" name="图片 7" descr="17961491_163945321000_2"/>
          <p:cNvPicPr>
            <a:picLocks noChangeAspect="1"/>
          </p:cNvPicPr>
          <p:nvPr/>
        </p:nvPicPr>
        <p:blipFill>
          <a:blip r:embed="rId4" cstate="print"/>
          <a:srcRect b="7592"/>
          <a:stretch>
            <a:fillRect/>
          </a:stretch>
        </p:blipFill>
        <p:spPr>
          <a:xfrm>
            <a:off x="8766810" y="895985"/>
            <a:ext cx="2921635" cy="20250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574040" y="2874645"/>
            <a:ext cx="3599815" cy="3529330"/>
            <a:chOff x="1724549" y="3027356"/>
            <a:chExt cx="2714640" cy="3330602"/>
          </a:xfrm>
        </p:grpSpPr>
        <p:sp>
          <p:nvSpPr>
            <p:cNvPr id="9" name="MH_SubTitle_1"/>
            <p:cNvSpPr/>
            <p:nvPr>
              <p:custDataLst>
                <p:tags r:id="rId10"/>
              </p:custDataLst>
            </p:nvPr>
          </p:nvSpPr>
          <p:spPr>
            <a:xfrm>
              <a:off x="1724549" y="3027356"/>
              <a:ext cx="2714640" cy="612766"/>
            </a:xfrm>
            <a:custGeom>
              <a:avLst/>
              <a:gdLst>
                <a:gd name="connsiteX0" fmla="*/ 867833 w 1735666"/>
                <a:gd name="connsiteY0" fmla="*/ 0 h 459312"/>
                <a:gd name="connsiteX1" fmla="*/ 1022348 w 1735666"/>
                <a:gd name="connsiteY1" fmla="*/ 137579 h 459312"/>
                <a:gd name="connsiteX2" fmla="*/ 1735666 w 1735666"/>
                <a:gd name="connsiteY2" fmla="*/ 137579 h 459312"/>
                <a:gd name="connsiteX3" fmla="*/ 1735666 w 1735666"/>
                <a:gd name="connsiteY3" fmla="*/ 459312 h 459312"/>
                <a:gd name="connsiteX4" fmla="*/ 0 w 1735666"/>
                <a:gd name="connsiteY4" fmla="*/ 459312 h 459312"/>
                <a:gd name="connsiteX5" fmla="*/ 0 w 1735666"/>
                <a:gd name="connsiteY5" fmla="*/ 137579 h 459312"/>
                <a:gd name="connsiteX6" fmla="*/ 713318 w 1735666"/>
                <a:gd name="connsiteY6" fmla="*/ 137579 h 45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5666" h="459312">
                  <a:moveTo>
                    <a:pt x="867833" y="0"/>
                  </a:moveTo>
                  <a:lnTo>
                    <a:pt x="1022348" y="137579"/>
                  </a:lnTo>
                  <a:lnTo>
                    <a:pt x="1735666" y="137579"/>
                  </a:lnTo>
                  <a:lnTo>
                    <a:pt x="1735666" y="459312"/>
                  </a:lnTo>
                  <a:lnTo>
                    <a:pt x="0" y="459312"/>
                  </a:lnTo>
                  <a:lnTo>
                    <a:pt x="0" y="137579"/>
                  </a:lnTo>
                  <a:lnTo>
                    <a:pt x="713318" y="137579"/>
                  </a:lnTo>
                  <a:close/>
                </a:path>
              </a:pathLst>
            </a:custGeom>
            <a:solidFill>
              <a:srgbClr val="2BC3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sz="2400" b="1" dirty="0"/>
                <a:t>① 星号“*”</a:t>
              </a:r>
            </a:p>
          </p:txBody>
        </p:sp>
        <p:sp>
          <p:nvSpPr>
            <p:cNvPr id="10" name="MH_Text_1"/>
            <p:cNvSpPr/>
            <p:nvPr>
              <p:custDataLst>
                <p:tags r:id="rId11"/>
              </p:custDataLst>
            </p:nvPr>
          </p:nvSpPr>
          <p:spPr>
            <a:xfrm>
              <a:off x="1724549" y="3640122"/>
              <a:ext cx="2714640" cy="2717836"/>
            </a:xfrm>
            <a:prstGeom prst="rect">
              <a:avLst/>
            </a:prstGeom>
            <a:solidFill>
              <a:srgbClr val="CFF5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  <a:r>
                <a:rPr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与0个或多个任意的字符相匹配，可以</a:t>
              </a:r>
              <a:r>
                <a:rPr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匹配当前目录下的所有文件</a:t>
              </a:r>
              <a:r>
                <a:rPr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，但以点“.”开头的隐含文件除外。例如：file*可以代表file123、fileabc或file。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265295" y="2874645"/>
            <a:ext cx="3599815" cy="3544570"/>
            <a:chOff x="4738682" y="3027356"/>
            <a:chExt cx="2714640" cy="3330602"/>
          </a:xfrm>
        </p:grpSpPr>
        <p:sp>
          <p:nvSpPr>
            <p:cNvPr id="12" name="MH_SubTitle_2"/>
            <p:cNvSpPr/>
            <p:nvPr>
              <p:custDataLst>
                <p:tags r:id="rId8"/>
              </p:custDataLst>
            </p:nvPr>
          </p:nvSpPr>
          <p:spPr>
            <a:xfrm>
              <a:off x="4738682" y="3027356"/>
              <a:ext cx="2714640" cy="612766"/>
            </a:xfrm>
            <a:custGeom>
              <a:avLst/>
              <a:gdLst>
                <a:gd name="connsiteX0" fmla="*/ 867833 w 1735666"/>
                <a:gd name="connsiteY0" fmla="*/ 0 h 459312"/>
                <a:gd name="connsiteX1" fmla="*/ 1022348 w 1735666"/>
                <a:gd name="connsiteY1" fmla="*/ 137579 h 459312"/>
                <a:gd name="connsiteX2" fmla="*/ 1735666 w 1735666"/>
                <a:gd name="connsiteY2" fmla="*/ 137579 h 459312"/>
                <a:gd name="connsiteX3" fmla="*/ 1735666 w 1735666"/>
                <a:gd name="connsiteY3" fmla="*/ 459312 h 459312"/>
                <a:gd name="connsiteX4" fmla="*/ 0 w 1735666"/>
                <a:gd name="connsiteY4" fmla="*/ 459312 h 459312"/>
                <a:gd name="connsiteX5" fmla="*/ 0 w 1735666"/>
                <a:gd name="connsiteY5" fmla="*/ 137579 h 459312"/>
                <a:gd name="connsiteX6" fmla="*/ 713318 w 1735666"/>
                <a:gd name="connsiteY6" fmla="*/ 137579 h 45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5666" h="459312">
                  <a:moveTo>
                    <a:pt x="867833" y="0"/>
                  </a:moveTo>
                  <a:lnTo>
                    <a:pt x="1022348" y="137579"/>
                  </a:lnTo>
                  <a:lnTo>
                    <a:pt x="1735666" y="137579"/>
                  </a:lnTo>
                  <a:lnTo>
                    <a:pt x="1735666" y="459312"/>
                  </a:lnTo>
                  <a:lnTo>
                    <a:pt x="0" y="459312"/>
                  </a:lnTo>
                  <a:lnTo>
                    <a:pt x="0" y="137579"/>
                  </a:lnTo>
                  <a:lnTo>
                    <a:pt x="713318" y="137579"/>
                  </a:lnTo>
                  <a:close/>
                </a:path>
              </a:pathLst>
            </a:custGeom>
            <a:solidFill>
              <a:srgbClr val="2BC3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sz="2400" b="1" dirty="0"/>
                <a:t>② 问号“?”</a:t>
              </a:r>
            </a:p>
          </p:txBody>
        </p:sp>
        <p:sp>
          <p:nvSpPr>
            <p:cNvPr id="13" name="MH_Text_2"/>
            <p:cNvSpPr/>
            <p:nvPr>
              <p:custDataLst>
                <p:tags r:id="rId9"/>
              </p:custDataLst>
            </p:nvPr>
          </p:nvSpPr>
          <p:spPr>
            <a:xfrm>
              <a:off x="4738682" y="3640122"/>
              <a:ext cx="2714640" cy="2717836"/>
            </a:xfrm>
            <a:prstGeom prst="rect">
              <a:avLst/>
            </a:prstGeom>
            <a:solidFill>
              <a:srgbClr val="CFF5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  <a:r>
                <a:rPr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只与一个任意的字符匹配。</a:t>
              </a:r>
              <a:r>
                <a:rPr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可以使用多个问号。例如：file?可以与file1、file2、file3匹配，但不与file、file10匹配。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1965" y="2407285"/>
            <a:ext cx="11130915" cy="464185"/>
            <a:chOff x="1524000" y="2570383"/>
            <a:chExt cx="9144000" cy="331561"/>
          </a:xfrm>
        </p:grpSpPr>
        <p:sp>
          <p:nvSpPr>
            <p:cNvPr id="7" name="MH_Other_1"/>
            <p:cNvSpPr/>
            <p:nvPr>
              <p:custDataLst>
                <p:tags r:id="rId4"/>
              </p:custDataLst>
            </p:nvPr>
          </p:nvSpPr>
          <p:spPr>
            <a:xfrm>
              <a:off x="1524000" y="2703507"/>
              <a:ext cx="9144000" cy="68263"/>
            </a:xfrm>
            <a:prstGeom prst="rect">
              <a:avLst/>
            </a:prstGeom>
            <a:solidFill>
              <a:srgbClr val="EE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MH_Other_2"/>
            <p:cNvSpPr/>
            <p:nvPr>
              <p:custDataLst>
                <p:tags r:id="rId5"/>
              </p:custDataLst>
            </p:nvPr>
          </p:nvSpPr>
          <p:spPr>
            <a:xfrm>
              <a:off x="2861733" y="2571744"/>
              <a:ext cx="440267" cy="330200"/>
            </a:xfrm>
            <a:prstGeom prst="ellipse">
              <a:avLst/>
            </a:prstGeom>
            <a:solidFill>
              <a:srgbClr val="EEB50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FEFFFF"/>
                  </a:solidFill>
                  <a:ea typeface="微软雅黑" panose="020B0503020204020204" pitchFamily="34" charset="-122"/>
                </a:rPr>
                <a:t>1</a:t>
              </a:r>
              <a:endParaRPr lang="zh-CN" altLang="en-US" sz="1600" dirty="0">
                <a:solidFill>
                  <a:srgbClr val="FE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1" name="MH_Other_3"/>
            <p:cNvSpPr/>
            <p:nvPr>
              <p:custDataLst>
                <p:tags r:id="rId6"/>
              </p:custDataLst>
            </p:nvPr>
          </p:nvSpPr>
          <p:spPr>
            <a:xfrm>
              <a:off x="5889952" y="2570383"/>
              <a:ext cx="440267" cy="330200"/>
            </a:xfrm>
            <a:prstGeom prst="ellipse">
              <a:avLst/>
            </a:prstGeom>
            <a:solidFill>
              <a:srgbClr val="EEB50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FEFFFF"/>
                  </a:solidFill>
                  <a:ea typeface="微软雅黑" panose="020B0503020204020204" pitchFamily="34" charset="-122"/>
                </a:rPr>
                <a:t>2</a:t>
              </a:r>
              <a:endParaRPr lang="zh-CN" altLang="en-US" sz="1600" dirty="0">
                <a:solidFill>
                  <a:srgbClr val="FE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7"/>
              </p:custDataLst>
            </p:nvPr>
          </p:nvSpPr>
          <p:spPr>
            <a:xfrm>
              <a:off x="8902520" y="2571744"/>
              <a:ext cx="440267" cy="330200"/>
            </a:xfrm>
            <a:prstGeom prst="ellipse">
              <a:avLst/>
            </a:prstGeom>
            <a:solidFill>
              <a:srgbClr val="EEB50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rgbClr val="FEFFFF"/>
                  </a:solidFill>
                  <a:ea typeface="微软雅黑" panose="020B0503020204020204" pitchFamily="34" charset="-122"/>
                </a:rPr>
                <a:t>3</a:t>
              </a:r>
              <a:endParaRPr lang="zh-CN" altLang="en-US" sz="1600" dirty="0">
                <a:solidFill>
                  <a:srgbClr val="FEFFFF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952105" y="2869565"/>
            <a:ext cx="3599815" cy="3559810"/>
            <a:chOff x="7752815" y="3027356"/>
            <a:chExt cx="2714640" cy="3330602"/>
          </a:xfrm>
        </p:grpSpPr>
        <p:sp>
          <p:nvSpPr>
            <p:cNvPr id="15" name="MH_SubTitle_3"/>
            <p:cNvSpPr/>
            <p:nvPr>
              <p:custDataLst>
                <p:tags r:id="rId2"/>
              </p:custDataLst>
            </p:nvPr>
          </p:nvSpPr>
          <p:spPr>
            <a:xfrm>
              <a:off x="7752815" y="3027356"/>
              <a:ext cx="2714640" cy="612766"/>
            </a:xfrm>
            <a:custGeom>
              <a:avLst/>
              <a:gdLst>
                <a:gd name="connsiteX0" fmla="*/ 867833 w 1735666"/>
                <a:gd name="connsiteY0" fmla="*/ 0 h 459312"/>
                <a:gd name="connsiteX1" fmla="*/ 1022348 w 1735666"/>
                <a:gd name="connsiteY1" fmla="*/ 137579 h 459312"/>
                <a:gd name="connsiteX2" fmla="*/ 1735666 w 1735666"/>
                <a:gd name="connsiteY2" fmla="*/ 137579 h 459312"/>
                <a:gd name="connsiteX3" fmla="*/ 1735666 w 1735666"/>
                <a:gd name="connsiteY3" fmla="*/ 459312 h 459312"/>
                <a:gd name="connsiteX4" fmla="*/ 0 w 1735666"/>
                <a:gd name="connsiteY4" fmla="*/ 459312 h 459312"/>
                <a:gd name="connsiteX5" fmla="*/ 0 w 1735666"/>
                <a:gd name="connsiteY5" fmla="*/ 137579 h 459312"/>
                <a:gd name="connsiteX6" fmla="*/ 713318 w 1735666"/>
                <a:gd name="connsiteY6" fmla="*/ 137579 h 45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5666" h="459312">
                  <a:moveTo>
                    <a:pt x="867833" y="0"/>
                  </a:moveTo>
                  <a:lnTo>
                    <a:pt x="1022348" y="137579"/>
                  </a:lnTo>
                  <a:lnTo>
                    <a:pt x="1735666" y="137579"/>
                  </a:lnTo>
                  <a:lnTo>
                    <a:pt x="1735666" y="459312"/>
                  </a:lnTo>
                  <a:lnTo>
                    <a:pt x="0" y="459312"/>
                  </a:lnTo>
                  <a:lnTo>
                    <a:pt x="0" y="137579"/>
                  </a:lnTo>
                  <a:lnTo>
                    <a:pt x="713318" y="137579"/>
                  </a:lnTo>
                  <a:close/>
                </a:path>
              </a:pathLst>
            </a:custGeom>
            <a:solidFill>
              <a:srgbClr val="2BC3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lnSpc>
                  <a:spcPct val="110000"/>
                </a:lnSpc>
                <a:defRPr/>
              </a:pPr>
              <a:r>
                <a:rPr sz="2400" b="1" dirty="0"/>
                <a:t>③ 方括号“[ ]”</a:t>
              </a:r>
            </a:p>
          </p:txBody>
        </p:sp>
        <p:sp>
          <p:nvSpPr>
            <p:cNvPr id="16" name="MH_Text_3"/>
            <p:cNvSpPr/>
            <p:nvPr>
              <p:custDataLst>
                <p:tags r:id="rId3"/>
              </p:custDataLst>
            </p:nvPr>
          </p:nvSpPr>
          <p:spPr>
            <a:xfrm>
              <a:off x="7752815" y="3640122"/>
              <a:ext cx="2714640" cy="2717836"/>
            </a:xfrm>
            <a:prstGeom prst="rect">
              <a:avLst/>
            </a:prstGeom>
            <a:solidFill>
              <a:srgbClr val="CFF5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indent="457200" eaLnBrk="1" latinLnBrk="0" hangingPunct="1">
                <a:lnSpc>
                  <a:spcPct val="150000"/>
                </a:lnSpc>
              </a:pPr>
              <a:r>
                <a:rPr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只与方括号中字符之一匹配，</a:t>
              </a:r>
              <a:r>
                <a:rPr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用短横代表一个范围内的字符，在方括号中如果以惊叹号开始，表示不与惊叹号后的字符匹配。例如，file[1234]只与文件file1、file2、file3或file4匹配；file[!1234]除了file1、file2、file3和file4这4个文件外，与其他任何一个以file起始的文件名匹配。</a:t>
              </a:r>
            </a:p>
          </p:txBody>
        </p:sp>
      </p:grpSp>
      <p:sp>
        <p:nvSpPr>
          <p:cNvPr id="17" name="MH_Desc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8650" y="1513840"/>
            <a:ext cx="10934700" cy="893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indent="457200" algn="just" eaLnBrk="1" latinLnBrk="0" hangingPunct="1"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为了能一次处理多个文件，shell提供了几个特别字符，称为文件名扩展字符（也称通配符）。文件名扩展字符主要有以下几种：</a:t>
            </a:r>
          </a:p>
        </p:txBody>
      </p:sp>
      <p:sp>
        <p:nvSpPr>
          <p:cNvPr id="22" name="TextBox 6"/>
          <p:cNvSpPr txBox="1"/>
          <p:nvPr/>
        </p:nvSpPr>
        <p:spPr>
          <a:xfrm>
            <a:off x="612140" y="1024255"/>
            <a:ext cx="465772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sz="2400" dirty="0">
                <a:solidFill>
                  <a:srgbClr val="0070C0"/>
                </a:solidFill>
              </a:rPr>
              <a:t>（3）文件名扩展字符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90675" y="1255395"/>
            <a:ext cx="2725295" cy="553085"/>
            <a:chOff x="6668135" y="2035810"/>
            <a:chExt cx="2401570" cy="553085"/>
          </a:xfrm>
        </p:grpSpPr>
        <p:sp>
          <p:nvSpPr>
            <p:cNvPr id="5" name="圆角矩形 4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50024" y="2072005"/>
              <a:ext cx="2017373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3．文件类型</a:t>
              </a:r>
            </a:p>
          </p:txBody>
        </p:sp>
        <p:grpSp>
          <p:nvGrpSpPr>
            <p:cNvPr id="6" name="组合 36"/>
            <p:cNvGrpSpPr/>
            <p:nvPr/>
          </p:nvGrpSpPr>
          <p:grpSpPr bwMode="auto">
            <a:xfrm>
              <a:off x="6745246" y="2138680"/>
              <a:ext cx="271952" cy="347980"/>
              <a:chOff x="6737573" y="788847"/>
              <a:chExt cx="1352580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737573" y="788847"/>
                <a:ext cx="1352580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6993617" y="1209715"/>
                <a:ext cx="960165" cy="95352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extBox 6"/>
          <p:cNvSpPr txBox="1"/>
          <p:nvPr/>
        </p:nvSpPr>
        <p:spPr>
          <a:xfrm>
            <a:off x="910590" y="1854200"/>
            <a:ext cx="1027874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Linux操作系统支持以下文件类型：普通文件、目录文件、设备文件和符号链接文件。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910590" y="2528570"/>
            <a:ext cx="9844405" cy="3582670"/>
            <a:chOff x="4504410" y="1516287"/>
            <a:chExt cx="3330370" cy="1998222"/>
          </a:xfrm>
        </p:grpSpPr>
        <p:sp>
          <p:nvSpPr>
            <p:cNvPr id="3" name="任意多边形 2"/>
            <p:cNvSpPr/>
            <p:nvPr/>
          </p:nvSpPr>
          <p:spPr>
            <a:xfrm>
              <a:off x="4504410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>
                <a:solidFill>
                  <a:srgbClr val="FFFFFF"/>
                </a:solidFill>
                <a:latin typeface="Segoe UI" panose="020B0502040204020203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504410" y="1628801"/>
              <a:ext cx="3330370" cy="319263"/>
              <a:chOff x="841001" y="1628801"/>
              <a:chExt cx="3330370" cy="319263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841002" y="1628801"/>
                <a:ext cx="3330369" cy="319263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7" name="TextBox 6"/>
              <p:cNvSpPr txBox="1"/>
              <p:nvPr/>
            </p:nvSpPr>
            <p:spPr>
              <a:xfrm>
                <a:off x="841001" y="1655478"/>
                <a:ext cx="3330370" cy="272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（1）普通文件</a:t>
                </a:r>
              </a:p>
            </p:txBody>
          </p:sp>
        </p:grpSp>
        <p:sp>
          <p:nvSpPr>
            <p:cNvPr id="31" name="TextBox 6"/>
            <p:cNvSpPr txBox="1"/>
            <p:nvPr/>
          </p:nvSpPr>
          <p:spPr>
            <a:xfrm>
              <a:off x="4576419" y="1988229"/>
              <a:ext cx="3186352" cy="1275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50000"/>
                </a:lnSpc>
              </a:pPr>
              <a:r>
                <a:rPr sz="2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普通文件也称为</a:t>
              </a:r>
              <a:r>
                <a:rPr sz="24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常规文件</a:t>
              </a:r>
              <a:r>
                <a:rPr sz="2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，包含</a:t>
              </a:r>
              <a:r>
                <a:rPr sz="24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各种长度的字符串</a:t>
              </a:r>
              <a:r>
                <a:rPr sz="2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。核心对这些文件没有进行结构化，只是作为有序的字符序列将它提交给应用程序。应用程序自己组织和解释这些数据。它包括文本文件、数据文件和可执行的二进制程序。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85800" y="1953260"/>
            <a:ext cx="10945495" cy="4446270"/>
            <a:chOff x="8167815" y="1516287"/>
            <a:chExt cx="3330371" cy="199822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8" name="任意多边形 7"/>
            <p:cNvSpPr/>
            <p:nvPr/>
          </p:nvSpPr>
          <p:spPr>
            <a:xfrm>
              <a:off x="8167817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>
                <a:solidFill>
                  <a:srgbClr val="FFFFFF"/>
                </a:solidFill>
                <a:latin typeface="Segoe UI" panose="020B0502040204020203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167815" y="1590414"/>
              <a:ext cx="3330371" cy="255562"/>
              <a:chOff x="841000" y="1590414"/>
              <a:chExt cx="3330371" cy="255562"/>
            </a:xfrm>
            <a:grpFill/>
          </p:grpSpPr>
          <p:sp>
            <p:nvSpPr>
              <p:cNvPr id="42" name="矩形 41"/>
              <p:cNvSpPr/>
              <p:nvPr/>
            </p:nvSpPr>
            <p:spPr>
              <a:xfrm>
                <a:off x="841000" y="1593416"/>
                <a:ext cx="3330371" cy="2525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3" name="TextBox 6"/>
              <p:cNvSpPr txBox="1"/>
              <p:nvPr/>
            </p:nvSpPr>
            <p:spPr>
              <a:xfrm>
                <a:off x="841000" y="1590414"/>
                <a:ext cx="723960" cy="25455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（2）目录文件</a:t>
                </a:r>
              </a:p>
            </p:txBody>
          </p:sp>
        </p:grpSp>
        <p:sp>
          <p:nvSpPr>
            <p:cNvPr id="41" name="TextBox 6"/>
            <p:cNvSpPr txBox="1"/>
            <p:nvPr/>
          </p:nvSpPr>
          <p:spPr>
            <a:xfrm>
              <a:off x="8230321" y="1910323"/>
              <a:ext cx="3186352" cy="1521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20000"/>
                </a:lnSpc>
              </a:pP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目录文件是一种</a:t>
              </a:r>
              <a:r>
                <a:rPr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特殊文件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，利用它可以构成文件系统的</a:t>
              </a:r>
              <a:r>
                <a:rPr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分层树形结构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。如同普通文件那样，目录文件也包含数据。但目录文件与普通文件的差别是：核心对这些数据加以结构化，即它是由成对的“I节点号/文件名”构成的列表。</a:t>
              </a:r>
            </a:p>
            <a:p>
              <a:pPr eaLnBrk="1" latinLnBrk="0" hangingPunct="1">
                <a:lnSpc>
                  <a:spcPct val="1200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※ 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I节点号是检索I节点表的下标，I节点中存有文件的状态信息。</a:t>
              </a:r>
            </a:p>
            <a:p>
              <a:pPr eaLnBrk="1" latinLnBrk="0" hangingPunct="1">
                <a:lnSpc>
                  <a:spcPct val="1200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※ 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文件名是给一个文件分配的文本形式的字符串，用来标识该文件。在一个指定的目录中，任何两项都不能有同样的名字。</a:t>
              </a:r>
            </a:p>
            <a:p>
              <a:pPr indent="457200" eaLnBrk="1" latinLnBrk="0" hangingPunct="1">
                <a:lnSpc>
                  <a:spcPct val="120000"/>
                </a:lnSpc>
              </a:pP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当把文件添加到一个目录中时，该目录的大小会增大，以便容纳新文件名。当删除文件时，目录的尺寸并不减少，而是核心对该目录项做上特殊标记，以便下次添加一个文件时重新使用它。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39875" y="1255395"/>
            <a:ext cx="2725295" cy="553085"/>
            <a:chOff x="6668135" y="2035810"/>
            <a:chExt cx="2401570" cy="553085"/>
          </a:xfrm>
        </p:grpSpPr>
        <p:sp>
          <p:nvSpPr>
            <p:cNvPr id="3" name="圆角矩形 2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" name="TextBox 1"/>
            <p:cNvSpPr txBox="1">
              <a:spLocks noChangeArrowheads="1"/>
            </p:cNvSpPr>
            <p:nvPr/>
          </p:nvSpPr>
          <p:spPr bwMode="auto">
            <a:xfrm>
              <a:off x="7027642" y="2072005"/>
              <a:ext cx="2017373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3．文件类型</a:t>
              </a:r>
            </a:p>
          </p:txBody>
        </p:sp>
        <p:grpSp>
          <p:nvGrpSpPr>
            <p:cNvPr id="10" name="组合 36"/>
            <p:cNvGrpSpPr/>
            <p:nvPr/>
          </p:nvGrpSpPr>
          <p:grpSpPr bwMode="auto">
            <a:xfrm>
              <a:off x="6734055" y="2138680"/>
              <a:ext cx="330707" cy="347980"/>
              <a:chOff x="6681911" y="788847"/>
              <a:chExt cx="1644802" cy="1801841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6681911" y="788847"/>
                <a:ext cx="1644802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6993617" y="1209715"/>
                <a:ext cx="960165" cy="95352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76375" y="1255395"/>
            <a:ext cx="2725295" cy="553085"/>
            <a:chOff x="6668135" y="2035810"/>
            <a:chExt cx="2401570" cy="553085"/>
          </a:xfrm>
        </p:grpSpPr>
        <p:sp>
          <p:nvSpPr>
            <p:cNvPr id="5" name="圆角矩形 4"/>
            <p:cNvSpPr/>
            <p:nvPr/>
          </p:nvSpPr>
          <p:spPr>
            <a:xfrm>
              <a:off x="6668135" y="2035810"/>
              <a:ext cx="2401570" cy="553085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TextBox 1"/>
            <p:cNvSpPr txBox="1">
              <a:spLocks noChangeArrowheads="1"/>
            </p:cNvSpPr>
            <p:nvPr/>
          </p:nvSpPr>
          <p:spPr bwMode="auto">
            <a:xfrm>
              <a:off x="7027642" y="2072005"/>
              <a:ext cx="2017373" cy="483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Font typeface="Arial" panose="020B060402020209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3．文件类型</a:t>
              </a:r>
            </a:p>
          </p:txBody>
        </p:sp>
        <p:grpSp>
          <p:nvGrpSpPr>
            <p:cNvPr id="6" name="组合 36"/>
            <p:cNvGrpSpPr/>
            <p:nvPr/>
          </p:nvGrpSpPr>
          <p:grpSpPr bwMode="auto">
            <a:xfrm>
              <a:off x="6722863" y="2138680"/>
              <a:ext cx="322313" cy="347980"/>
              <a:chOff x="6626249" y="788847"/>
              <a:chExt cx="1603056" cy="180184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626249" y="788847"/>
                <a:ext cx="1603056" cy="1801841"/>
              </a:xfrm>
              <a:prstGeom prst="ellipse">
                <a:avLst/>
              </a:pr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9" name="燕尾形 38"/>
              <p:cNvSpPr/>
              <p:nvPr/>
            </p:nvSpPr>
            <p:spPr>
              <a:xfrm>
                <a:off x="6993617" y="1209715"/>
                <a:ext cx="960165" cy="95352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783590" y="1983740"/>
            <a:ext cx="10668000" cy="2075493"/>
            <a:chOff x="4504410" y="1516287"/>
            <a:chExt cx="3330371" cy="1998222"/>
          </a:xfrm>
        </p:grpSpPr>
        <p:sp>
          <p:nvSpPr>
            <p:cNvPr id="24" name="任意多边形 23"/>
            <p:cNvSpPr/>
            <p:nvPr/>
          </p:nvSpPr>
          <p:spPr>
            <a:xfrm>
              <a:off x="4504410" y="1516287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>
                <a:solidFill>
                  <a:srgbClr val="FFFFFF"/>
                </a:solidFill>
                <a:latin typeface="Segoe UI" panose="020B0502040204020203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504410" y="1628801"/>
              <a:ext cx="3330371" cy="482603"/>
              <a:chOff x="841001" y="1628801"/>
              <a:chExt cx="3330371" cy="482603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841001" y="1628801"/>
                <a:ext cx="3330371" cy="482362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7" name="TextBox 6"/>
              <p:cNvSpPr txBox="1"/>
              <p:nvPr/>
            </p:nvSpPr>
            <p:spPr>
              <a:xfrm>
                <a:off x="841001" y="1641880"/>
                <a:ext cx="3330370" cy="469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（3）设备文件</a:t>
                </a:r>
              </a:p>
            </p:txBody>
          </p:sp>
        </p:grpSp>
        <p:sp>
          <p:nvSpPr>
            <p:cNvPr id="31" name="TextBox 6"/>
            <p:cNvSpPr txBox="1"/>
            <p:nvPr/>
          </p:nvSpPr>
          <p:spPr>
            <a:xfrm>
              <a:off x="4535930" y="2084851"/>
              <a:ext cx="3298653" cy="140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50000"/>
                </a:lnSpc>
              </a:pP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设备文件是一种</a:t>
              </a:r>
              <a:r>
                <a:rPr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特殊文件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，除了存放在文件I节点中的信息外，它们</a:t>
              </a:r>
              <a:r>
                <a:rPr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不包含任何数据</a:t>
              </a:r>
              <a:r>
                <a:rPr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。系统利用它们来标识各个设备驱动器，核心使用它们与硬件设备通信。它通常包含字符设备和块设备。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82946" y="4184653"/>
            <a:ext cx="10669281" cy="2092325"/>
            <a:chOff x="8167616" y="1618172"/>
            <a:chExt cx="3330570" cy="1998222"/>
          </a:xfrm>
        </p:grpSpPr>
        <p:sp>
          <p:nvSpPr>
            <p:cNvPr id="3" name="任意多边形 2"/>
            <p:cNvSpPr/>
            <p:nvPr/>
          </p:nvSpPr>
          <p:spPr>
            <a:xfrm>
              <a:off x="8167817" y="1618172"/>
              <a:ext cx="3330369" cy="1998222"/>
            </a:xfrm>
            <a:custGeom>
              <a:avLst/>
              <a:gdLst>
                <a:gd name="connsiteX0" fmla="*/ 0 w 3330369"/>
                <a:gd name="connsiteY0" fmla="*/ 0 h 1998222"/>
                <a:gd name="connsiteX1" fmla="*/ 3330369 w 3330369"/>
                <a:gd name="connsiteY1" fmla="*/ 0 h 1998222"/>
                <a:gd name="connsiteX2" fmla="*/ 3330369 w 3330369"/>
                <a:gd name="connsiteY2" fmla="*/ 1998222 h 1998222"/>
                <a:gd name="connsiteX3" fmla="*/ 0 w 3330369"/>
                <a:gd name="connsiteY3" fmla="*/ 1998222 h 1998222"/>
                <a:gd name="connsiteX4" fmla="*/ 0 w 3330369"/>
                <a:gd name="connsiteY4" fmla="*/ 0 h 19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0369" h="1998222">
                  <a:moveTo>
                    <a:pt x="0" y="0"/>
                  </a:moveTo>
                  <a:lnTo>
                    <a:pt x="3330369" y="0"/>
                  </a:lnTo>
                  <a:lnTo>
                    <a:pt x="3330369" y="1998222"/>
                  </a:lnTo>
                  <a:lnTo>
                    <a:pt x="0" y="199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>
                <a:solidFill>
                  <a:srgbClr val="FFFFFF"/>
                </a:solidFill>
                <a:latin typeface="Segoe UI" panose="020B0502040204020203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167616" y="1763581"/>
              <a:ext cx="3330569" cy="465934"/>
              <a:chOff x="840801" y="1763581"/>
              <a:chExt cx="3330569" cy="46593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840801" y="1763581"/>
                <a:ext cx="3330371" cy="452965"/>
              </a:xfrm>
              <a:prstGeom prst="rect">
                <a:avLst/>
              </a:prstGeom>
              <a:solidFill>
                <a:schemeClr val="bg1">
                  <a:lumMod val="95000"/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" name="TextBox 6"/>
              <p:cNvSpPr txBox="1"/>
              <p:nvPr/>
            </p:nvSpPr>
            <p:spPr>
              <a:xfrm>
                <a:off x="840999" y="1763769"/>
                <a:ext cx="3330371" cy="465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（4）符号链接文件</a:t>
                </a:r>
              </a:p>
            </p:txBody>
          </p:sp>
        </p:grpSp>
        <p:sp>
          <p:nvSpPr>
            <p:cNvPr id="12" name="TextBox 6"/>
            <p:cNvSpPr txBox="1"/>
            <p:nvPr/>
          </p:nvSpPr>
          <p:spPr>
            <a:xfrm>
              <a:off x="8224170" y="2346384"/>
              <a:ext cx="3186352" cy="918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50000"/>
                </a:lnSpc>
              </a:pPr>
              <a:r>
                <a:rPr sz="20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符号链接文件是一种</a:t>
              </a:r>
              <a:r>
                <a:rPr sz="20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特殊文件</a:t>
              </a:r>
              <a:r>
                <a:rPr sz="20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，它们提供对其他文件的参照。它们存放的数据是文件系统中通向文件的路径。当使用符号链接文件时，核心自动地访问所保存的这个路径。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10974070" cy="443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909320" y="4355465"/>
            <a:ext cx="10234295" cy="132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该命令有两项功能，其一是用来</a:t>
            </a:r>
            <a:r>
              <a:rPr lang="zh-CN" altLang="en-US" sz="2000" b="1" dirty="0">
                <a:solidFill>
                  <a:srgbClr val="0070C0"/>
                </a:solidFill>
              </a:rPr>
              <a:t>显示文件的内容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。它依次读取由参数文件1所指明的文件，将它们的内容输出到标准输出上。其二是</a:t>
            </a:r>
            <a:r>
              <a:rPr lang="zh-CN" altLang="en-US" sz="2000" b="1" dirty="0">
                <a:solidFill>
                  <a:srgbClr val="0070C0"/>
                </a:solidFill>
              </a:rPr>
              <a:t>连接两个或多个文件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，如cat f1 f2 &gt;f3，将把文件f1和f2的内容合并起来，然后通过输出重定向符“&gt;”，将它们放入文件f3中。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510665" y="2324860"/>
            <a:ext cx="1227455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cat命令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10530280" y="1113558"/>
            <a:ext cx="860425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1417320" y="2249170"/>
            <a:ext cx="911352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cat命令连接文件并打印到标准输出设备上，经常用来显示文件的内容，相当于DOS下的type命令。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223135" y="3399790"/>
            <a:ext cx="8090966" cy="673735"/>
            <a:chOff x="1839" y="5301"/>
            <a:chExt cx="6230" cy="1061"/>
          </a:xfrm>
        </p:grpSpPr>
        <p:sp>
          <p:nvSpPr>
            <p:cNvPr id="3" name="流程图: 过程 2"/>
            <p:cNvSpPr/>
            <p:nvPr/>
          </p:nvSpPr>
          <p:spPr>
            <a:xfrm>
              <a:off x="4502" y="5510"/>
              <a:ext cx="3453" cy="851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839" y="5301"/>
              <a:ext cx="6230" cy="1061"/>
              <a:chOff x="1839" y="5301"/>
              <a:chExt cx="6230" cy="1061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1839" y="5441"/>
                <a:ext cx="2506" cy="9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cat命令的一般格式：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4563" y="5301"/>
                <a:ext cx="3506" cy="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cat  [选项] 文件名1 [文件名2]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2" grpId="0" animBg="1"/>
      <p:bldP spid="2" grpId="1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5897245" cy="443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510665" y="2324860"/>
            <a:ext cx="1227455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506845" y="2487295"/>
            <a:ext cx="5131435" cy="127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1290955" y="2435225"/>
            <a:ext cx="284861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885190" y="3399790"/>
            <a:ext cx="5634355" cy="237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</a:t>
            </a: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，--number -noblank：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从1开始对所有非空输出行进行编号。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-n，--number：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从1开始对所有输出行编号。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-s，--squeeze-blank：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将多个相邻的空行合并成一个空行。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594425" y="1370733"/>
            <a:ext cx="792480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6650355" y="2860675"/>
            <a:ext cx="5118735" cy="2316480"/>
            <a:chOff x="1166778" y="1714488"/>
            <a:chExt cx="9858444" cy="1785950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6344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【例3-3】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将文件cd.txt和clear.txt合并后放入文件newfile.txt中。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58353" y="2466569"/>
              <a:ext cx="9602793" cy="963260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[root@localhost/root]$cat clear.txt  cd.txt &gt; newfile.txt </a:t>
              </a:r>
            </a:p>
          </p:txBody>
        </p:sp>
      </p:grpSp>
    </p:spTree>
  </p:cSld>
  <p:clrMapOvr>
    <a:masterClrMapping/>
  </p:clrMapOvr>
  <p:transition/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64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850"/>
                                </p:stCondLst>
                                <p:childTnLst>
                                  <p:par>
                                    <p:cTn id="10" presetID="2" presetClass="entr" presetSubtype="1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350"/>
                                </p:stCondLst>
                                <p:childTnLst>
                                  <p:par>
                                    <p:cTn id="15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  <p:bldP spid="5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850"/>
                                </p:stCondLst>
                                <p:childTnLst>
                                  <p:par>
                                    <p:cTn id="10" presetID="2" presetClass="entr" presetSubtype="1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350"/>
                                </p:stCondLst>
                                <p:childTnLst>
                                  <p:par>
                                    <p:cTn id="15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  <p:bldP spid="50" grpId="0"/>
        </p:bldLst>
      </p:timing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6310630" cy="18268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40410" y="3945255"/>
            <a:ext cx="10711180" cy="2148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该命令一次显示一屏文本，满屏后显示停下来，并且在每个屏幕的底部出现一个提示信息，给出至今已</a:t>
            </a:r>
            <a:r>
              <a:rPr lang="zh-CN" altLang="en-US" sz="2000" b="1" dirty="0">
                <a:solidFill>
                  <a:srgbClr val="0070C0"/>
                </a:solidFill>
              </a:rPr>
              <a:t>显示的该文件的百分比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：--More-（××%）。</a:t>
            </a:r>
          </a:p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入more状态，用【Enter】键可以向后移动一行；用空格键可以向后移动一页；用【Q】键可以退出；用【B】键，显示上一屏内容；用【H】键，显示帮助屏，该屏上有相关的帮助信息。在more状态下还有许多功能，可用man more命令获得。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447165" y="2299460"/>
            <a:ext cx="1327785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more命令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6241490" y="1406293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1348105" y="2269490"/>
            <a:ext cx="528510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如果文件太长，用cat命令只能看到文件的后一页，而用more命令时可以一页一页地显示。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305560" y="3064510"/>
            <a:ext cx="5085715" cy="508635"/>
            <a:chOff x="1432" y="4754"/>
            <a:chExt cx="8009" cy="801"/>
          </a:xfrm>
        </p:grpSpPr>
        <p:sp>
          <p:nvSpPr>
            <p:cNvPr id="3" name="流程图: 过程 2"/>
            <p:cNvSpPr/>
            <p:nvPr/>
          </p:nvSpPr>
          <p:spPr>
            <a:xfrm>
              <a:off x="5460" y="4902"/>
              <a:ext cx="3677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432" y="4754"/>
              <a:ext cx="8009" cy="792"/>
              <a:chOff x="1432" y="4754"/>
              <a:chExt cx="8009" cy="792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1432" y="4807"/>
                <a:ext cx="3799" cy="7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more命令的一般格式：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5635" y="4754"/>
                <a:ext cx="3806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more [选项] 文件名</a:t>
                </a:r>
              </a:p>
            </p:txBody>
          </p:sp>
        </p:grpSp>
      </p:grpSp>
      <p:pic>
        <p:nvPicPr>
          <p:cNvPr id="4" name="图片 3" descr="20150125134623_27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46315" y="1610995"/>
            <a:ext cx="3914775" cy="21964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6310630" cy="15360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447165" y="2299460"/>
            <a:ext cx="1327785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more命令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560705" y="4803775"/>
            <a:ext cx="197993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2858770" y="3585210"/>
            <a:ext cx="8863330" cy="283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-num：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这个选项指定一个整数，表示一个屏幕显示多少行。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在每屏的底部显示以下“[Press space to continue,'q' to quit.]”，并且在用户输入非功能键后，显示“[Press 'h' for instructions.]”信息。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不滚屏，在显示下一屏之前先清屏。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文件中连续的空白行压缩成一个空白行显示。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6241490" y="1323108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57020" y="2406650"/>
            <a:ext cx="5161280" cy="580390"/>
            <a:chOff x="2452" y="3790"/>
            <a:chExt cx="8128" cy="914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452" y="3852"/>
              <a:ext cx="3799" cy="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more命令的一般格式：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381" y="3790"/>
              <a:ext cx="4199" cy="914"/>
              <a:chOff x="6381" y="3790"/>
              <a:chExt cx="4199" cy="914"/>
            </a:xfrm>
          </p:grpSpPr>
          <p:sp>
            <p:nvSpPr>
              <p:cNvPr id="3" name="流程图: 过程 2"/>
              <p:cNvSpPr/>
              <p:nvPr/>
            </p:nvSpPr>
            <p:spPr>
              <a:xfrm>
                <a:off x="6381" y="3990"/>
                <a:ext cx="4199" cy="714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6381" y="3790"/>
                <a:ext cx="4199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more [选项] 文件名</a:t>
                </a:r>
              </a:p>
            </p:txBody>
          </p:sp>
        </p:grpSp>
      </p:grpSp>
      <p:sp>
        <p:nvSpPr>
          <p:cNvPr id="5" name="左大括号 4"/>
          <p:cNvSpPr/>
          <p:nvPr/>
        </p:nvSpPr>
        <p:spPr>
          <a:xfrm>
            <a:off x="2614930" y="3730625"/>
            <a:ext cx="261620" cy="2719705"/>
          </a:xfrm>
          <a:prstGeom prst="leftBrace">
            <a:avLst/>
          </a:prstGeom>
          <a:solidFill>
            <a:schemeClr val="bg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0000" tIns="46800" rIns="90000" bIns="4680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0" lang="de-DE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图片 1" descr="20150125134623_27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4720" y="1279525"/>
            <a:ext cx="3914775" cy="21964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58495" y="1853565"/>
            <a:ext cx="10855960" cy="453961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93" y="18013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444625" y="2121025"/>
            <a:ext cx="1360805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less命令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10499800" y="834158"/>
            <a:ext cx="860425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54735" y="2097405"/>
            <a:ext cx="10245090" cy="3713480"/>
            <a:chOff x="1661" y="3303"/>
            <a:chExt cx="16134" cy="5848"/>
          </a:xfrm>
        </p:grpSpPr>
        <p:sp>
          <p:nvSpPr>
            <p:cNvPr id="3" name="流程图: 过程 2"/>
            <p:cNvSpPr/>
            <p:nvPr/>
          </p:nvSpPr>
          <p:spPr>
            <a:xfrm>
              <a:off x="7492" y="4359"/>
              <a:ext cx="3864" cy="792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661" y="3303"/>
              <a:ext cx="16135" cy="5848"/>
              <a:chOff x="1661" y="3303"/>
              <a:chExt cx="16135" cy="584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661" y="3303"/>
                <a:ext cx="16135" cy="5136"/>
                <a:chOff x="1661" y="3303"/>
                <a:chExt cx="16135" cy="5136"/>
              </a:xfrm>
            </p:grpSpPr>
            <p:sp>
              <p:nvSpPr>
                <p:cNvPr id="4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317" y="4335"/>
                  <a:ext cx="4353" cy="7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0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less命令的一般格式：</a:t>
                  </a:r>
                </a:p>
              </p:txBody>
            </p:sp>
            <p:sp>
              <p:nvSpPr>
                <p:cNvPr id="4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661" y="5415"/>
                  <a:ext cx="15964" cy="30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latinLnBrk="0" hangingPunct="1">
                    <a:lnSpc>
                      <a:spcPct val="150000"/>
                    </a:lnSpc>
                  </a:pP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less实际上是more命令的改进版，其命令的直接含义是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</a:rPr>
                    <a:t>more的反义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，功能比more命令的功能更灵活。例如，用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</a:rPr>
                    <a:t>【PgUp】键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可以向前移动一页，用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</a:rPr>
                    <a:t>【PgDn】键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可以向后移动一页，用向上光标键可以向前移动一行，用向下光标键可以向后移动一行。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</a:rPr>
                    <a:t>【Q】键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、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</a:rPr>
                    <a:t>【Enter】键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、空格键的功能与more命令中类似。</a:t>
                  </a:r>
                </a:p>
              </p:txBody>
            </p:sp>
            <p:sp>
              <p:nvSpPr>
                <p:cNvPr id="2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879" y="3303"/>
                  <a:ext cx="15917" cy="7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latinLnBrk="0" hangingPunct="1"/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与more命令一样，less命令也用来分屏文件内容，但功能比more命令的功能还强大。</a:t>
                  </a: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7554" y="4263"/>
                  <a:ext cx="4062" cy="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less [选项] 文件名</a:t>
                  </a:r>
                </a:p>
              </p:txBody>
            </p:sp>
          </p:grpSp>
          <p:sp>
            <p:nvSpPr>
              <p:cNvPr id="4" name="Text Box 44"/>
              <p:cNvSpPr txBox="1">
                <a:spLocks noChangeArrowheads="1"/>
              </p:cNvSpPr>
              <p:nvPr/>
            </p:nvSpPr>
            <p:spPr bwMode="auto">
              <a:xfrm>
                <a:off x="1890" y="8287"/>
                <a:ext cx="15260" cy="8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由于其功能相似，故此处不再列举实例。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5408930" cy="443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" y="1945640"/>
            <a:ext cx="1454150" cy="1445895"/>
          </a:xfrm>
          <a:prstGeom prst="rect">
            <a:avLst/>
          </a:prstGeom>
        </p:spPr>
      </p:pic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1677670" y="2178050"/>
            <a:ext cx="319405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head命令的一般格式：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67080" y="3566160"/>
            <a:ext cx="5233035" cy="132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head命令在屏幕上显示指定文件的开头若干行，行数由参数值来确定。显示行数的默认值为10。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478280" y="2260090"/>
            <a:ext cx="1369060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 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060628" y="2475493"/>
            <a:ext cx="5400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125845" y="1945640"/>
            <a:ext cx="197993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6111240" y="2455545"/>
            <a:ext cx="5902960" cy="2606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 SIZE,--bytes=SIZE：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显示文件开始的SIZE字节。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 NUMBER,--LINES=NUMBER：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显示开始的NUMBER行，默认输出10行。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-q ,--quiet,--silent：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不显示文件名。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-v,--verbose：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显示文件名。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315025" y="1421533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79880" y="2696210"/>
            <a:ext cx="3240405" cy="699135"/>
            <a:chOff x="2488" y="4246"/>
            <a:chExt cx="5103" cy="1101"/>
          </a:xfrm>
        </p:grpSpPr>
        <p:sp>
          <p:nvSpPr>
            <p:cNvPr id="3" name="流程图: 过程 2"/>
            <p:cNvSpPr/>
            <p:nvPr/>
          </p:nvSpPr>
          <p:spPr>
            <a:xfrm>
              <a:off x="2488" y="4383"/>
              <a:ext cx="4822" cy="964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05" y="4246"/>
              <a:ext cx="4886" cy="1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head [参数] 文件名</a:t>
              </a:r>
            </a:p>
          </p:txBody>
        </p:sp>
      </p:grpSp>
      <p:grpSp>
        <p:nvGrpSpPr>
          <p:cNvPr id="10" name="组合 14"/>
          <p:cNvGrpSpPr/>
          <p:nvPr/>
        </p:nvGrpSpPr>
        <p:grpSpPr bwMode="auto">
          <a:xfrm>
            <a:off x="1056640" y="5147945"/>
            <a:ext cx="4921885" cy="986155"/>
            <a:chOff x="1166778" y="1714488"/>
            <a:chExt cx="9858444" cy="1785950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7613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【例3-4】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显示文件cd.txt的前5行。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58353" y="2466588"/>
              <a:ext cx="9632047" cy="962550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[root2localhost/root]#head  -5  cd.txt </a:t>
              </a:r>
            </a:p>
          </p:txBody>
        </p:sp>
      </p:grpSp>
      <p:grpSp>
        <p:nvGrpSpPr>
          <p:cNvPr id="4" name="组合 14"/>
          <p:cNvGrpSpPr/>
          <p:nvPr/>
        </p:nvGrpSpPr>
        <p:grpSpPr bwMode="auto">
          <a:xfrm>
            <a:off x="6125845" y="5166360"/>
            <a:ext cx="5264150" cy="986155"/>
            <a:chOff x="1166778" y="1714488"/>
            <a:chExt cx="9858444" cy="1785950"/>
          </a:xfrm>
        </p:grpSpPr>
        <p:grpSp>
          <p:nvGrpSpPr>
            <p:cNvPr id="5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8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1357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【例3-5】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显示文件cd.txt的内容，但不列出文件名标题。</a:t>
                </a:r>
              </a:p>
            </p:txBody>
          </p:sp>
        </p:grpSp>
        <p:sp>
          <p:nvSpPr>
            <p:cNvPr id="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96293" y="2466588"/>
              <a:ext cx="9628929" cy="962550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[root@localhost/root]#head  -q  cd.txt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200"/>
                            </p:stCondLst>
                            <p:childTnLst>
                              <p:par>
                                <p:cTn id="3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9" grpId="0" animBg="1"/>
      <p:bldP spid="49" grpId="1" animBg="1"/>
      <p:bldP spid="49" grpId="2" animBg="1"/>
      <p:bldP spid="5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13890"/>
            <a:ext cx="5617210" cy="443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53" y="1873776"/>
            <a:ext cx="1454400" cy="1445717"/>
          </a:xfrm>
          <a:prstGeom prst="rect">
            <a:avLst/>
          </a:prstGeom>
        </p:spPr>
      </p:pic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1632585" y="2305685"/>
            <a:ext cx="298323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tail命令的一般格式：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97560" y="3566795"/>
            <a:ext cx="5233035" cy="173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tail命令在屏幕上显示</a:t>
            </a:r>
            <a:r>
              <a:rPr lang="zh-CN" altLang="en-US" sz="1800" b="1" dirty="0">
                <a:solidFill>
                  <a:srgbClr val="0070C0"/>
                </a:solidFill>
              </a:rPr>
              <a:t>指定文件的末尾若干行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。行数由参数决定，默认显示文件的后10行。如果指定的文件多于一个，那么tail在显示每个文件之前先显示文件名。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510665" y="2231515"/>
            <a:ext cx="1236980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238428" y="2488828"/>
            <a:ext cx="5400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377940" y="1944370"/>
            <a:ext cx="197993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6238875" y="2488565"/>
            <a:ext cx="5623560" cy="3550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 N,--byte=N：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输出后N个字节。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-f,--follow tail：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命令超过文件的末端以后，继续尝试读取更多的文件内容。有些文件的内容不断增加，如日志文件，这个选项可以不断地输出新添到文件中的内容。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-n,--line=N：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输出后N行，而不是默认的10行。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-q,-quiet,--silent：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不输出包含给定文件的文件名。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-v,--verbose：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始终输出包含给定的文件名。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492825" y="1288183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 文件显示命令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9420" y="2964180"/>
            <a:ext cx="2651125" cy="555625"/>
            <a:chOff x="2852" y="4962"/>
            <a:chExt cx="4175" cy="875"/>
          </a:xfrm>
        </p:grpSpPr>
        <p:sp>
          <p:nvSpPr>
            <p:cNvPr id="3" name="流程图: 过程 2"/>
            <p:cNvSpPr/>
            <p:nvPr/>
          </p:nvSpPr>
          <p:spPr>
            <a:xfrm>
              <a:off x="2852" y="4962"/>
              <a:ext cx="4175" cy="875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34" y="4962"/>
              <a:ext cx="4011" cy="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tail  [参数]  文件名</a:t>
              </a:r>
            </a:p>
          </p:txBody>
        </p:sp>
      </p:grpSp>
      <p:grpSp>
        <p:nvGrpSpPr>
          <p:cNvPr id="10" name="组合 14"/>
          <p:cNvGrpSpPr/>
          <p:nvPr/>
        </p:nvGrpSpPr>
        <p:grpSpPr bwMode="auto">
          <a:xfrm>
            <a:off x="1252855" y="5353685"/>
            <a:ext cx="4921885" cy="946150"/>
            <a:chOff x="1166778" y="1714488"/>
            <a:chExt cx="9858444" cy="1785950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46932" cy="7934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【例3-6】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显示cd.txt文件的后10行。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466467"/>
              <a:ext cx="9858444" cy="96295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[root@localhost/root]#tail  cd.txt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00"/>
                            </p:stCondLst>
                            <p:childTnLst>
                              <p:par>
                                <p:cTn id="3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9" grpId="0" animBg="1"/>
      <p:bldP spid="5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2139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4541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grep命令</a:t>
            </a:r>
          </a:p>
        </p:txBody>
      </p:sp>
      <p:sp>
        <p:nvSpPr>
          <p:cNvPr id="3" name="对角圆角矩形 2"/>
          <p:cNvSpPr/>
          <p:nvPr/>
        </p:nvSpPr>
        <p:spPr>
          <a:xfrm>
            <a:off x="539115" y="2372995"/>
            <a:ext cx="7614285" cy="1013334"/>
          </a:xfrm>
          <a:prstGeom prst="round2DiagRect">
            <a:avLst/>
          </a:prstGeom>
          <a:ln>
            <a:solidFill>
              <a:srgbClr val="3399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该命令用来在文本文件中查找指定模式的单词或短语，并在标准输出上显示包括给定字符串模式的所有行。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1．grep命令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909320" y="3762375"/>
            <a:ext cx="5361305" cy="595630"/>
            <a:chOff x="1064" y="4146"/>
            <a:chExt cx="8443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064" y="4163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grep命令的一般格式：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273" y="4146"/>
              <a:ext cx="4235" cy="938"/>
              <a:chOff x="2852" y="4899"/>
              <a:chExt cx="423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401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grep [选项] 文件名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1435100" y="4585970"/>
            <a:ext cx="6978650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grep命令在指定文件中搜索特定模式及搜索特定主题等方面用途很大。要搜索的模式就被看作是一些关键词，查看指定的文件中是否包含这些关键词。</a:t>
            </a:r>
          </a:p>
        </p:txBody>
      </p:sp>
      <p:pic>
        <p:nvPicPr>
          <p:cNvPr id="65" name="Picture 2" descr="C:\Users\user\AppData\Local\Temp\SoEasy\61EEC65415767260C6117A5E17554E89.png"/>
          <p:cNvPicPr>
            <a:picLocks noChangeAspect="1" noChangeArrowheads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 bwMode="auto">
          <a:xfrm>
            <a:off x="8622665" y="1628140"/>
            <a:ext cx="2810510" cy="488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41960" y="1741170"/>
            <a:ext cx="1121346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1．grep命令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556510" y="1762125"/>
            <a:ext cx="5361305" cy="595630"/>
            <a:chOff x="1064" y="4146"/>
            <a:chExt cx="8443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064" y="4163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grep命令的一般格式：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273" y="4146"/>
              <a:ext cx="4235" cy="938"/>
              <a:chOff x="2852" y="4899"/>
              <a:chExt cx="423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401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grep [选项] 文件名</a:t>
                </a: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652893" y="2311400"/>
            <a:ext cx="7933387" cy="4079328"/>
            <a:chOff x="1024" y="6192"/>
            <a:chExt cx="16741" cy="5579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072" y="6192"/>
              <a:ext cx="6307" cy="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072" y="6866"/>
              <a:ext cx="11384" cy="1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-E：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将查找模式看成是扩展的正则表达式。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-F：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将查找模式看成是单纯的字符串。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1024" y="8113"/>
              <a:ext cx="16741" cy="365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-c：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只显示文件中包含配置字符串的行的总数。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-i：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匹配比较时不区分字母的大、小写。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以递归方式查询目录下的所有子目录中的文件。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-n：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在输出包含匹配模式行之前，加上该行的行号。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-b：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在输出的每一行前面显示包含匹配字符串的行在文件中的位置，用字节偏移量来表示。</a:t>
              </a:r>
            </a:p>
          </p:txBody>
        </p:sp>
      </p:grpSp>
      <p:pic>
        <p:nvPicPr>
          <p:cNvPr id="65" name="Picture 2" descr="C:\Users\user\AppData\Local\Temp\SoEasy\61EEC65415767260C6117A5E17554E89.png"/>
          <p:cNvPicPr>
            <a:picLocks noChangeAspect="1" noChangeArrowheads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8830310" y="1609725"/>
            <a:ext cx="2825115" cy="490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8870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1．grep命令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88010" y="2174875"/>
            <a:ext cx="7371080" cy="4265295"/>
            <a:chOff x="926" y="3425"/>
            <a:chExt cx="11608" cy="6717"/>
          </a:xfrm>
        </p:grpSpPr>
        <p:sp>
          <p:nvSpPr>
            <p:cNvPr id="25" name="Text Box 44"/>
            <p:cNvSpPr txBox="1">
              <a:spLocks noChangeArrowheads="1"/>
            </p:cNvSpPr>
            <p:nvPr/>
          </p:nvSpPr>
          <p:spPr bwMode="auto">
            <a:xfrm>
              <a:off x="926" y="3425"/>
              <a:ext cx="11607" cy="4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它有另外两个相似的命令，即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egrep命令和fgrep命令</a:t>
              </a: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。egrep命令与grep -E类似，但并不完全一样。fgrep与grep-F完全一致。grep命令每次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只能搜索指定的模式</a:t>
              </a: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。egrep命令可以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检索扩展的正则表达式</a:t>
              </a: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。fgrep命令可以检索固定字符串，但不识别正则表达式，可作为快速搜索命令。在使用时，要注意3个命令之间的差别。</a:t>
              </a:r>
            </a:p>
          </p:txBody>
        </p:sp>
        <p:sp>
          <p:nvSpPr>
            <p:cNvPr id="26" name="Text Box 44"/>
            <p:cNvSpPr txBox="1">
              <a:spLocks noChangeArrowheads="1"/>
            </p:cNvSpPr>
            <p:nvPr/>
          </p:nvSpPr>
          <p:spPr bwMode="auto">
            <a:xfrm>
              <a:off x="1006" y="7838"/>
              <a:ext cx="11528" cy="2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如果没有指定文件，它们就从标准输入中读取。在正常情况下，每个匹配的行被显示到标准输出上。如果要搜索的文件不止一个，则在每一行输出之前加上文件名。</a:t>
              </a:r>
            </a:p>
          </p:txBody>
        </p:sp>
      </p:grpSp>
      <p:pic>
        <p:nvPicPr>
          <p:cNvPr id="65" name="Picture 2" descr="C:\Users\user\AppData\Local\Temp\SoEasy\61EEC65415767260C6117A5E17554E89.png"/>
          <p:cNvPicPr>
            <a:picLocks noChangeAspect="1" noChangeArrowheads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8684260" y="1609725"/>
            <a:ext cx="2825115" cy="490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8806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1．grep命令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7" name="组合 14"/>
          <p:cNvGrpSpPr/>
          <p:nvPr/>
        </p:nvGrpSpPr>
        <p:grpSpPr bwMode="auto">
          <a:xfrm>
            <a:off x="622300" y="2238375"/>
            <a:ext cx="7503155" cy="2164080"/>
            <a:chOff x="1166778" y="1786473"/>
            <a:chExt cx="10021629" cy="1713966"/>
          </a:xfrm>
        </p:grpSpPr>
        <p:grpSp>
          <p:nvGrpSpPr>
            <p:cNvPr id="28" name="组合 12"/>
            <p:cNvGrpSpPr/>
            <p:nvPr/>
          </p:nvGrpSpPr>
          <p:grpSpPr bwMode="auto">
            <a:xfrm>
              <a:off x="1166778" y="1786473"/>
              <a:ext cx="10021629" cy="1713966"/>
              <a:chOff x="1166778" y="1786473"/>
              <a:chExt cx="10021629" cy="1713966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166778" y="1786473"/>
                <a:ext cx="10021629" cy="17139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1166778" y="1786473"/>
                <a:ext cx="9846932" cy="3329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【例3-7】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在口令文件/etc/passwd中查找包含“studentL”的所有行。</a:t>
                </a:r>
              </a:p>
            </p:txBody>
          </p:sp>
        </p:grpSp>
        <p:sp>
          <p:nvSpPr>
            <p:cNvPr id="33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28687" y="2111864"/>
              <a:ext cx="9919865" cy="131212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#grep –</a:t>
              </a:r>
              <a:r>
                <a:rPr lang="en-US" altLang="zh-CN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F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studentL /etc/passwd 54:studentL:x:504:504: studentL:/home/studentL:/bin/bash</a:t>
              </a:r>
            </a:p>
          </p:txBody>
        </p:sp>
      </p:grpSp>
      <p:grpSp>
        <p:nvGrpSpPr>
          <p:cNvPr id="34" name="组合 14"/>
          <p:cNvGrpSpPr/>
          <p:nvPr/>
        </p:nvGrpSpPr>
        <p:grpSpPr bwMode="auto">
          <a:xfrm>
            <a:off x="3049905" y="4618989"/>
            <a:ext cx="5076190" cy="1737361"/>
            <a:chOff x="1166778" y="1775028"/>
            <a:chExt cx="9858444" cy="1725410"/>
          </a:xfrm>
        </p:grpSpPr>
        <p:grpSp>
          <p:nvGrpSpPr>
            <p:cNvPr id="35" name="组合 12"/>
            <p:cNvGrpSpPr/>
            <p:nvPr/>
          </p:nvGrpSpPr>
          <p:grpSpPr bwMode="auto">
            <a:xfrm>
              <a:off x="1166778" y="1775028"/>
              <a:ext cx="9858444" cy="1725410"/>
              <a:chOff x="1166778" y="1775028"/>
              <a:chExt cx="9858444" cy="172541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7" name="矩形 6"/>
              <p:cNvSpPr>
                <a:spLocks noChangeArrowheads="1"/>
              </p:cNvSpPr>
              <p:nvPr/>
            </p:nvSpPr>
            <p:spPr bwMode="auto">
              <a:xfrm>
                <a:off x="1166778" y="1775028"/>
                <a:ext cx="9858444" cy="74414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【例3-8】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在/home/studentL目录和子目录下的所有文件中查找字符串“print”出现的次数。</a:t>
                </a:r>
              </a:p>
            </p:txBody>
          </p:sp>
        </p:grpSp>
        <p:sp>
          <p:nvSpPr>
            <p:cNvPr id="3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4766" y="2488904"/>
              <a:ext cx="9551370" cy="98189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/root]#grep  –r  'print'  /home/studentL</a:t>
              </a:r>
            </a:p>
          </p:txBody>
        </p:sp>
      </p:grpSp>
      <p:pic>
        <p:nvPicPr>
          <p:cNvPr id="65" name="Picture 2" descr="C:\Users\user\AppData\Local\Temp\SoEasy\61EEC65415767260C6117A5E17554E89.png"/>
          <p:cNvPicPr>
            <a:picLocks noChangeAspect="1" noChangeArrowheads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 bwMode="auto">
          <a:xfrm>
            <a:off x="8849995" y="1624965"/>
            <a:ext cx="2811780" cy="488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8155" y="174117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3519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find命令</a:t>
            </a:r>
            <a:endParaRPr lang="zh-CN" alt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对角圆角矩形 2"/>
          <p:cNvSpPr/>
          <p:nvPr/>
        </p:nvSpPr>
        <p:spPr>
          <a:xfrm>
            <a:off x="2327275" y="1725930"/>
            <a:ext cx="9163685" cy="558110"/>
          </a:xfrm>
          <a:prstGeom prst="round2DiagRect">
            <a:avLst/>
          </a:prstGeom>
          <a:ln>
            <a:solidFill>
              <a:srgbClr val="3399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在目录结构中搜索满足查询条件的文件，并执行指定的操作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010920" y="2505075"/>
            <a:ext cx="5713730" cy="595630"/>
            <a:chOff x="1592" y="3945"/>
            <a:chExt cx="8998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592" y="3995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find命令的一般格式：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804" y="3945"/>
              <a:ext cx="4786" cy="938"/>
              <a:chOff x="2852" y="4899"/>
              <a:chExt cx="423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401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find [路径…] [表达式]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457835" y="3214370"/>
            <a:ext cx="11124565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find命令从</a:t>
            </a:r>
            <a:r>
              <a:rPr lang="zh-CN" altLang="en-US" sz="2000" b="1" dirty="0">
                <a:solidFill>
                  <a:srgbClr val="0070C0"/>
                </a:solidFill>
              </a:rPr>
              <a:t>左向右分析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各个参数，然后依次搜索目录。find视在“_”、“(”、“)”或者“！”前面的字符串为待搜索的文件；在这些符号后面的字符串为参数选项。如果没有设置路径，那么find搜索</a:t>
            </a:r>
            <a:r>
              <a:rPr lang="zh-CN" altLang="en-US" sz="2000" b="1" dirty="0">
                <a:solidFill>
                  <a:srgbClr val="0070C0"/>
                </a:solidFill>
              </a:rPr>
              <a:t>当前目录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；如果没有设置参数选项，那么find默认提供</a:t>
            </a:r>
            <a:r>
              <a:rPr lang="zh-CN" altLang="en-US" sz="2000" b="1" dirty="0">
                <a:solidFill>
                  <a:srgbClr val="0070C0"/>
                </a:solidFill>
              </a:rPr>
              <a:t>-print选项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</a:p>
        </p:txBody>
      </p:sp>
      <p:grpSp>
        <p:nvGrpSpPr>
          <p:cNvPr id="34" name="组合 14"/>
          <p:cNvGrpSpPr/>
          <p:nvPr/>
        </p:nvGrpSpPr>
        <p:grpSpPr bwMode="auto">
          <a:xfrm>
            <a:off x="2206625" y="5154930"/>
            <a:ext cx="8255000" cy="721360"/>
            <a:chOff x="1166778" y="1786456"/>
            <a:chExt cx="9858444" cy="1713982"/>
          </a:xfrm>
        </p:grpSpPr>
        <p:sp>
          <p:nvSpPr>
            <p:cNvPr id="36" name="矩形 35"/>
            <p:cNvSpPr/>
            <p:nvPr/>
          </p:nvSpPr>
          <p:spPr>
            <a:xfrm>
              <a:off x="1166778" y="1786456"/>
              <a:ext cx="9858444" cy="17139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 typeface="Arial" panose="020B060402020209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3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5118" y="1928561"/>
              <a:ext cx="9603010" cy="154196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表达式由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选项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测试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和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操作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3部分组成，分别由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运算符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分开。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6838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797560" y="2403475"/>
            <a:ext cx="265684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797560" y="3266440"/>
            <a:ext cx="7108825" cy="210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-maxdepth level：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从指定的目录往下多level层。当level为0时，就表示只搜索指定的目录；</a:t>
            </a:r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-mindepth level：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对小于level的级别不做任何测试和操作</a:t>
            </a:r>
            <a:r>
              <a:rPr 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-mount：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仅搜索相同文件系统的子目录。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47455" y="2155825"/>
            <a:ext cx="2644775" cy="43237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5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7854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09320" y="1700530"/>
            <a:ext cx="8854440" cy="4694555"/>
            <a:chOff x="1432" y="2678"/>
            <a:chExt cx="13944" cy="7393"/>
          </a:xfrm>
        </p:grpSpPr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3661" y="2678"/>
              <a:ext cx="9127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测试时指定的数字参数如下：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432" y="3785"/>
              <a:ext cx="13944" cy="6287"/>
              <a:chOff x="1432" y="3785"/>
              <a:chExt cx="13944" cy="628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432" y="3785"/>
                <a:ext cx="13944" cy="3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表示大于n；-n：表示小于n；n：表示等于n。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-amin 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查找n分钟以前被访问过的所有文件。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-cmin 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查找n分钟以前文件状态被修改过的所有文件。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-mmin 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查找n分钟以前文件内容被修改过的所有文件。</a:t>
                </a: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432" y="6904"/>
                <a:ext cx="11748" cy="3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-atime 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查找n天以前被访问过的所有文件。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-ctime n：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查找n天以前文件状态被修改过的所有文件。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-group '用户组名'：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查找属于指定用户组的所有文件。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-user '用户名'：</a:t>
                </a:r>
                <a:r>
                  <a:rPr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查找属于指定用户的所有文件。</a:t>
                </a:r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70620" y="2155825"/>
            <a:ext cx="2644775" cy="43237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09408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2357120" y="1727200"/>
            <a:ext cx="294640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操作命令含义如下：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1106170" y="2457450"/>
            <a:ext cx="7367905" cy="347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-exec 命令{}：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对符合条件的文件执行由“命令”指定的Linux命令。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-ok 命令名{}：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对符合条件的文件执行由“命令名”指定的Linux命令，与exec不同的是，它 会询问用户是否要执行该命令。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-ls：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列出所有找到的文件。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-fprint文件名：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将所有找到文件的名字存放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到由“文件名”指定的文件中。如果该文件不存在，就以此名建立一个新文件。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3519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find命令</a:t>
            </a:r>
            <a:endParaRPr lang="zh-CN" alt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23020" y="2155825"/>
            <a:ext cx="2644775" cy="43237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2553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2359660" y="1741170"/>
            <a:ext cx="2869565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运算符含义如下：</a:t>
            </a:r>
          </a:p>
        </p:txBody>
      </p:sp>
      <p:sp>
        <p:nvSpPr>
          <p:cNvPr id="18" name="矩形 17"/>
          <p:cNvSpPr/>
          <p:nvPr/>
        </p:nvSpPr>
        <p:spPr>
          <a:xfrm>
            <a:off x="1102360" y="2424430"/>
            <a:ext cx="7952105" cy="3557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（表达式）：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优先执行该表达式。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！表达式：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如果该表达式为假，则“！表达式”为真。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-not表达式：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与“！表达式”相同。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表达式1 表达式2：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表示“与”的关系，即如果表达式1为假，则不计算表达式2。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表达式1 –a 表达式2：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与“表达式1  表达式2”的作用相同。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表达式1 –o 表达式2：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表示“或”的关系，即如果表达式1为真，则不计算表达式2。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3519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find命令</a:t>
            </a:r>
            <a:endParaRPr lang="zh-CN" alt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23985" y="2171065"/>
            <a:ext cx="2644775" cy="43237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4394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．find命令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5140" y="5370195"/>
            <a:ext cx="1134110" cy="114744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300034" y="5882066"/>
            <a:ext cx="1156970" cy="420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find命令</a:t>
            </a: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549275" y="2343150"/>
            <a:ext cx="7969250" cy="1305560"/>
            <a:chOff x="1166778" y="1714488"/>
            <a:chExt cx="9858444" cy="1785950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10250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【例3-9】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查找当前目录中所有以m开头的、后随一个字母或数字的.c文件，并交互式地显示某些文件内容。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218936" y="2685642"/>
              <a:ext cx="9794696" cy="74530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/root]#find  -maxdepth 1 –name ‘m?.c’ –ok cat {} \; </a:t>
              </a:r>
            </a:p>
          </p:txBody>
        </p:sp>
      </p:grpSp>
      <p:grpSp>
        <p:nvGrpSpPr>
          <p:cNvPr id="2" name="组合 14"/>
          <p:cNvGrpSpPr/>
          <p:nvPr/>
        </p:nvGrpSpPr>
        <p:grpSpPr bwMode="auto">
          <a:xfrm>
            <a:off x="643255" y="3728720"/>
            <a:ext cx="8339455" cy="946150"/>
            <a:chOff x="1166778" y="1786473"/>
            <a:chExt cx="10021629" cy="1713966"/>
          </a:xfrm>
        </p:grpSpPr>
        <p:grpSp>
          <p:nvGrpSpPr>
            <p:cNvPr id="3" name="组合 12"/>
            <p:cNvGrpSpPr/>
            <p:nvPr/>
          </p:nvGrpSpPr>
          <p:grpSpPr bwMode="auto">
            <a:xfrm>
              <a:off x="1166778" y="1786473"/>
              <a:ext cx="10021629" cy="1713966"/>
              <a:chOff x="1166778" y="1786473"/>
              <a:chExt cx="10021629" cy="1713966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166778" y="1786473"/>
                <a:ext cx="10021629" cy="17139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5" name="矩形 6"/>
              <p:cNvSpPr>
                <a:spLocks noChangeArrowheads="1"/>
              </p:cNvSpPr>
              <p:nvPr/>
            </p:nvSpPr>
            <p:spPr bwMode="auto">
              <a:xfrm>
                <a:off x="1166778" y="1786473"/>
                <a:ext cx="9846932" cy="76150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【例3-10】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查找当前目录中所有以main开头的文件，并显示这些文件的内容。</a:t>
                </a:r>
              </a:p>
            </p:txBody>
          </p:sp>
        </p:grpSp>
        <p:sp>
          <p:nvSpPr>
            <p:cNvPr id="6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201868" y="2549130"/>
              <a:ext cx="9949988" cy="95130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/root]#find  -maxdepth 1 –name ‘main*’ –exec cat {} \; </a:t>
              </a:r>
            </a:p>
          </p:txBody>
        </p:sp>
      </p:grpSp>
      <p:grpSp>
        <p:nvGrpSpPr>
          <p:cNvPr id="7" name="组合 14"/>
          <p:cNvGrpSpPr/>
          <p:nvPr/>
        </p:nvGrpSpPr>
        <p:grpSpPr bwMode="auto">
          <a:xfrm>
            <a:off x="903605" y="4704080"/>
            <a:ext cx="8305800" cy="939800"/>
            <a:chOff x="1166778" y="1714488"/>
            <a:chExt cx="9893216" cy="1785950"/>
          </a:xfrm>
        </p:grpSpPr>
        <p:grpSp>
          <p:nvGrpSpPr>
            <p:cNvPr id="8" name="组合 12"/>
            <p:cNvGrpSpPr/>
            <p:nvPr/>
          </p:nvGrpSpPr>
          <p:grpSpPr bwMode="auto">
            <a:xfrm>
              <a:off x="1166778" y="1714488"/>
              <a:ext cx="9893216" cy="1785950"/>
              <a:chOff x="1166778" y="1714488"/>
              <a:chExt cx="9893216" cy="1785950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0" name="矩形 6"/>
              <p:cNvSpPr>
                <a:spLocks noChangeArrowheads="1"/>
              </p:cNvSpPr>
              <p:nvPr/>
            </p:nvSpPr>
            <p:spPr bwMode="auto">
              <a:xfrm>
                <a:off x="1201550" y="1714488"/>
                <a:ext cx="9858444" cy="7988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【例3-11】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列出当前目录中文件名以“txt”结尾的、10天之前被修改过的文件。</a:t>
                </a:r>
              </a:p>
            </p:txBody>
          </p:sp>
        </p:grpSp>
        <p:sp>
          <p:nvSpPr>
            <p:cNvPr id="21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18212" y="2542300"/>
              <a:ext cx="9757027" cy="88573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/root]#find  –name ‘</a:t>
              </a:r>
              <a:r>
                <a:rPr lang="en-US" altLang="zh-CN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*.txt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’ –</a:t>
              </a:r>
              <a:r>
                <a:rPr lang="en-US" altLang="zh-CN" sz="1800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ctime</a:t>
              </a:r>
              <a:r>
                <a:rPr lang="en-US" altLang="zh-CN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+10 -ls</a:t>
              </a: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088120" y="2162175"/>
            <a:ext cx="2644775" cy="4323715"/>
          </a:xfrm>
          <a:prstGeom prst="rect">
            <a:avLst/>
          </a:prstGeom>
        </p:spPr>
      </p:pic>
      <p:sp>
        <p:nvSpPr>
          <p:cNvPr id="28" name="MH_Text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61744" y="5818882"/>
            <a:ext cx="6492803" cy="501525"/>
          </a:xfrm>
          <a:prstGeom prst="rect">
            <a:avLst/>
          </a:prstGeom>
          <a:solidFill>
            <a:srgbClr val="F2F2F2"/>
          </a:solidFill>
          <a:ln w="9525">
            <a:noFill/>
            <a:miter lim="800000"/>
          </a:ln>
        </p:spPr>
        <p:txBody>
          <a:bodyPr/>
          <a:lstStyle/>
          <a:p>
            <a:pPr indent="457200" eaLnBrk="1" latinLnBrk="0" hangingPunct="1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之间有空格；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之间没有空格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36969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sort命令</a:t>
            </a:r>
          </a:p>
        </p:txBody>
      </p:sp>
      <p:sp>
        <p:nvSpPr>
          <p:cNvPr id="3" name="对角圆角矩形 2"/>
          <p:cNvSpPr/>
          <p:nvPr/>
        </p:nvSpPr>
        <p:spPr>
          <a:xfrm>
            <a:off x="909320" y="2403475"/>
            <a:ext cx="9163685" cy="556934"/>
          </a:xfrm>
          <a:prstGeom prst="round2DiagRect">
            <a:avLst/>
          </a:prstGeom>
          <a:ln>
            <a:solidFill>
              <a:srgbClr val="3399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sort命令用于对文本文件的各行进行排序。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3．sort命令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981835" y="3268980"/>
            <a:ext cx="7093585" cy="656590"/>
            <a:chOff x="1496" y="3594"/>
            <a:chExt cx="8849" cy="1034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496" y="3707"/>
              <a:ext cx="4353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sort命令的一般格式：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729" y="3594"/>
              <a:ext cx="4616" cy="1008"/>
              <a:chOff x="2852" y="4899"/>
              <a:chExt cx="4616" cy="100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4512" cy="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sort [选项] 文件列表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1167765" y="4179570"/>
            <a:ext cx="10165715" cy="100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sort命令将逐行对指定文件中的所有行进行排序，并将结果显示在标准输出上。如果不指定文件名或者使用“-”表示文件，则排序内容来自标准输入。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84350" y="5270500"/>
            <a:ext cx="89598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默认的排序规则为字符集排序规则(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比较原则是从首字符向后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)，通常几种常见字符的顺序为：</a:t>
            </a:r>
            <a:b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空字符串&lt;空白字符&lt;数值&lt;a&lt;A&lt;b&lt;B&lt;...&lt;z&lt;Z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6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36969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3．sort命令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6" name="组合 25"/>
          <p:cNvGrpSpPr/>
          <p:nvPr/>
        </p:nvGrpSpPr>
        <p:grpSpPr>
          <a:xfrm>
            <a:off x="909320" y="2374265"/>
            <a:ext cx="5965190" cy="3632835"/>
            <a:chOff x="10456" y="5411"/>
            <a:chExt cx="9394" cy="5721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0456" y="5411"/>
              <a:ext cx="4502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0465" y="6287"/>
              <a:ext cx="9385" cy="4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-m：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如果文件列表中的文件已经排好序，则对这些文件统一进行合并，不做排序。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逆序排序。</a:t>
              </a: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-o </a:t>
              </a:r>
              <a:r>
                <a:rPr 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输出文件名</a:t>
              </a: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将文件排序输出放到该文件名所指定的文件中。如果该文件不存在，则创建一个新文件。</a:t>
              </a:r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eg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 sort test3 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-o test5</a:t>
              </a: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7020560" y="2403475"/>
            <a:ext cx="4634230" cy="1305560"/>
            <a:chOff x="1166778" y="1714488"/>
            <a:chExt cx="9858444" cy="1785950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5750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【例3-12】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系统中有文件a.c，它的内容为：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28880" y="2289536"/>
              <a:ext cx="9566662" cy="121090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x f b e e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I </a:t>
              </a:r>
            </a:p>
          </p:txBody>
        </p:sp>
      </p:grpSp>
      <p:grpSp>
        <p:nvGrpSpPr>
          <p:cNvPr id="18" name="组合 14"/>
          <p:cNvGrpSpPr/>
          <p:nvPr/>
        </p:nvGrpSpPr>
        <p:grpSpPr bwMode="auto">
          <a:xfrm>
            <a:off x="7038340" y="4128770"/>
            <a:ext cx="4607560" cy="1749425"/>
            <a:chOff x="1166778" y="1786456"/>
            <a:chExt cx="9858444" cy="1713982"/>
          </a:xfrm>
        </p:grpSpPr>
        <p:grpSp>
          <p:nvGrpSpPr>
            <p:cNvPr id="19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1" name="矩形 6"/>
              <p:cNvSpPr>
                <a:spLocks noChangeArrowheads="1"/>
              </p:cNvSpPr>
              <p:nvPr/>
            </p:nvSpPr>
            <p:spPr bwMode="auto">
              <a:xfrm>
                <a:off x="1166778" y="1817563"/>
                <a:ext cx="4738913" cy="4118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则对a.c进行排序。</a:t>
                </a:r>
              </a:p>
            </p:txBody>
          </p:sp>
        </p:grpSp>
        <p:sp>
          <p:nvSpPr>
            <p:cNvPr id="24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51874" y="2244743"/>
              <a:ext cx="9566662" cy="121090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/root]#sort</a:t>
              </a:r>
              <a:r>
                <a:rPr lang="en-US" altLang="zh-CN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a.c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I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x f b e 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7452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 匹配、排序命令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43637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uniq命令</a:t>
            </a:r>
          </a:p>
        </p:txBody>
      </p:sp>
      <p:sp>
        <p:nvSpPr>
          <p:cNvPr id="3" name="对角圆角矩形 2"/>
          <p:cNvSpPr/>
          <p:nvPr/>
        </p:nvSpPr>
        <p:spPr>
          <a:xfrm>
            <a:off x="2327275" y="1725930"/>
            <a:ext cx="9163685" cy="515621"/>
          </a:xfrm>
          <a:prstGeom prst="round2DiagRect">
            <a:avLst/>
          </a:prstGeom>
          <a:ln>
            <a:solidFill>
              <a:srgbClr val="3399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u"/>
            </a:pPr>
            <a:r>
              <a:rPr lang="zh-CN" altLang="zh-CN" sz="1800" b="1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uniq命令显示文件中所有不重复的行。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4．uniq命令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285240" y="2282190"/>
            <a:ext cx="5111115" cy="595630"/>
            <a:chOff x="2024" y="3594"/>
            <a:chExt cx="8049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024" y="3659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uniq命令的一般格式：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233" y="3594"/>
              <a:ext cx="3840" cy="938"/>
              <a:chOff x="2852" y="4899"/>
              <a:chExt cx="417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3745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uniq [选项] 文件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582930" y="2872105"/>
            <a:ext cx="1090803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uniq命令读取输入文件，并</a:t>
            </a:r>
            <a:r>
              <a:rPr lang="zh-CN" altLang="en-US" sz="1800" dirty="0">
                <a:solidFill>
                  <a:srgbClr val="FF0000"/>
                </a:solidFill>
              </a:rPr>
              <a:t>比较</a:t>
            </a:r>
            <a:r>
              <a:rPr lang="zh-CN" altLang="en-US" sz="1800" b="1" dirty="0">
                <a:solidFill>
                  <a:srgbClr val="FF0000"/>
                </a:solidFill>
              </a:rPr>
              <a:t>相邻</a:t>
            </a:r>
            <a:r>
              <a:rPr lang="zh-CN" altLang="en-US" sz="1800" dirty="0">
                <a:solidFill>
                  <a:srgbClr val="FF0000"/>
                </a:solidFill>
              </a:rPr>
              <a:t>的行，去掉重复的行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，只留下其中的一行。该命令加工后的结果存放到输出文件中。输入文件和输出文件必须不同。如果输入文件用“-”表示，则从标准输入上读取。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746240" y="3858260"/>
            <a:ext cx="2809875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6532880" y="4452620"/>
            <a:ext cx="5049520" cy="1859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显示输出时，在每行的行首加该行在文件中出现的次数。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只显示重复行。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只显示文件中的不重复行。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58470" y="3883025"/>
            <a:ext cx="11230610" cy="289560"/>
            <a:chOff x="722" y="6115"/>
            <a:chExt cx="17686" cy="456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722" y="6561"/>
              <a:ext cx="9478" cy="10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>
              <a:off x="10176" y="6163"/>
              <a:ext cx="0" cy="408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 flipV="1">
              <a:off x="10152" y="6115"/>
              <a:ext cx="8256" cy="24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组合 14"/>
          <p:cNvGrpSpPr/>
          <p:nvPr/>
        </p:nvGrpSpPr>
        <p:grpSpPr bwMode="auto">
          <a:xfrm>
            <a:off x="1548765" y="4367530"/>
            <a:ext cx="4664710" cy="1594485"/>
            <a:chOff x="1166778" y="1786456"/>
            <a:chExt cx="9858444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803444"/>
                <a:ext cx="9858444" cy="49146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【例3-13】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显示文件a.c中不重复的行。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2268" y="2241187"/>
              <a:ext cx="9566222" cy="1199076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 uniq –u  a.c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x f b e e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I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6" grpId="0" bldLvl="0" animBg="1"/>
      <p:bldP spid="49" grpId="0" animBg="1"/>
      <p:bldP spid="5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5363210" cy="443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396365" y="2298190"/>
            <a:ext cx="1456055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5984428" y="2488828"/>
            <a:ext cx="5400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5995035" y="1953895"/>
            <a:ext cx="4524375" cy="46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1800" b="1" dirty="0">
                <a:solidFill>
                  <a:srgbClr val="FF0000"/>
                </a:solidFill>
              </a:rPr>
              <a:t>【例3-14】</a:t>
            </a:r>
            <a:r>
              <a:rPr lang="zh-CN" altLang="en-US" sz="1800" b="1" dirty="0">
                <a:solidFill>
                  <a:srgbClr val="D24726"/>
                </a:solidFill>
              </a:rPr>
              <a:t>文件m1.c和m2.c的内容如下：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105475" y="1466618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86397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3.3.4  比较文件内容的命令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6223000" y="2640925"/>
            <a:ext cx="5018373" cy="3401735"/>
            <a:chOff x="1166778" y="1786456"/>
            <a:chExt cx="10051707" cy="1713982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21180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m1.c的内容：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028657"/>
              <a:ext cx="9858444" cy="147176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main()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{ 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int n,m;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n=10;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printf("%d\n",m=n*10);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printf("\n");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} 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75970" y="2091055"/>
            <a:ext cx="5064760" cy="4117340"/>
            <a:chOff x="1150" y="3293"/>
            <a:chExt cx="7976" cy="6484"/>
          </a:xfrm>
        </p:grpSpPr>
        <p:sp>
          <p:nvSpPr>
            <p:cNvPr id="3" name="流程图: 过程 2"/>
            <p:cNvSpPr/>
            <p:nvPr/>
          </p:nvSpPr>
          <p:spPr>
            <a:xfrm>
              <a:off x="2764" y="4159"/>
              <a:ext cx="5276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150" y="3293"/>
              <a:ext cx="7976" cy="6484"/>
              <a:chOff x="1150" y="3293"/>
              <a:chExt cx="7976" cy="6484"/>
            </a:xfrm>
          </p:grpSpPr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1432" y="4935"/>
                <a:ext cx="7695" cy="1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/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comm命令对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两个已经排好序</a:t>
                </a:r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的文件进行逐行比较。</a:t>
                </a: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1150" y="3293"/>
                <a:ext cx="7634" cy="6485"/>
                <a:chOff x="1150" y="3293"/>
                <a:chExt cx="7634" cy="6485"/>
              </a:xfrm>
            </p:grpSpPr>
            <p:sp>
              <p:nvSpPr>
                <p:cNvPr id="4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229" y="3293"/>
                  <a:ext cx="4843" cy="7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0"/>
                  <a:r>
                    <a:rPr lang="zh-CN" altLang="en-US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comm命令的一般格式：</a:t>
                  </a: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50" y="6910"/>
                  <a:ext cx="7634" cy="286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3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-1：</a:t>
                  </a:r>
                  <a:r>
                    <a:rPr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不显示仅在文件1中存在的行。</a:t>
                  </a:r>
                </a:p>
                <a:p>
                  <a:pPr marL="285750" indent="-285750">
                    <a:lnSpc>
                      <a:spcPct val="13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-2：</a:t>
                  </a:r>
                  <a:r>
                    <a:rPr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不显示仅在文件2中存在的行。</a:t>
                  </a:r>
                </a:p>
                <a:p>
                  <a:pPr marL="285750" indent="-285750">
                    <a:lnSpc>
                      <a:spcPct val="13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q"/>
                  </a:pPr>
                  <a:r>
                    <a:rPr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-3：</a:t>
                  </a:r>
                  <a:r>
                    <a:rPr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不显示在comm输出中的第一、第二和第三列。</a:t>
                  </a: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3451" y="4020"/>
                  <a:ext cx="4903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comm [-123] 文件1 文件2 </a:t>
                  </a:r>
                </a:p>
              </p:txBody>
            </p:sp>
            <p:sp>
              <p:nvSpPr>
                <p:cNvPr id="1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432" y="6120"/>
                  <a:ext cx="3138" cy="7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000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indent="457200" defTabSz="720725">
                    <a:lnSpc>
                      <a:spcPct val="135000"/>
                    </a:lnSpc>
                    <a:defRPr sz="16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2pPr>
                  <a:lvl3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3pPr>
                  <a:lvl4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4pPr>
                  <a:lvl5pPr defTabSz="720725" eaLnBrk="0" hangingPunct="0"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5pPr>
                  <a:lvl6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6pPr>
                  <a:lvl7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7pPr>
                  <a:lvl8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8pPr>
                  <a:lvl9pPr defTabSz="72072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latin typeface="Arial" panose="020B060402020209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indent="0"/>
                  <a:r>
                    <a:rPr lang="zh-CN" altLang="en-US" sz="1800" b="1" dirty="0">
                      <a:solidFill>
                        <a:srgbClr val="D24726"/>
                      </a:solidFill>
                    </a:rPr>
                    <a:t>选项的含义如下：</a:t>
                  </a:r>
                </a:p>
              </p:txBody>
            </p:sp>
          </p:grpSp>
        </p:grpSp>
      </p:grpSp>
    </p:spTree>
  </p:cSld>
  <p:clrMapOvr>
    <a:masterClrMapping/>
  </p:clrMapOvr>
  <p:transition/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 p14:presetBounceEnd="64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1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1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</p:bldLst>
      </p:timing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67385" y="1967230"/>
            <a:ext cx="5342255" cy="14192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3" y="1927116"/>
            <a:ext cx="1454400" cy="1445717"/>
          </a:xfrm>
          <a:prstGeom prst="rect">
            <a:avLst/>
          </a:prstGeom>
        </p:spPr>
      </p:pic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050415" y="2091055"/>
            <a:ext cx="3075305" cy="46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comm命令的一般格式：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396365" y="2298190"/>
            <a:ext cx="1456055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009828" y="2368813"/>
            <a:ext cx="5400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111240" y="1873885"/>
            <a:ext cx="4524375" cy="46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1800" b="1" dirty="0">
                <a:solidFill>
                  <a:srgbClr val="FF0000"/>
                </a:solidFill>
              </a:rPr>
              <a:t>【例3-14】</a:t>
            </a:r>
            <a:r>
              <a:rPr lang="zh-CN" altLang="en-US" sz="1800" b="1" dirty="0">
                <a:solidFill>
                  <a:srgbClr val="D24726"/>
                </a:solidFill>
              </a:rPr>
              <a:t>文件m1.c和m2.c的内容如下：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139765" y="1466618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86397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3.3.4  比较文件内容的命令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755140" y="2640965"/>
            <a:ext cx="3350260" cy="414655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0000" tIns="46800" rIns="90000" bIns="46800" numCol="1" anchor="ctr" anchorCtr="0" compatLnSpc="1"/>
          <a:lstStyle/>
          <a:p>
            <a:pPr indent="0" algn="l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endParaRPr lang="zh-CN" altLang="en-US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9905" y="2552700"/>
            <a:ext cx="3113405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comm [-123] 文件1 文件2 </a:t>
            </a:r>
          </a:p>
        </p:txBody>
      </p:sp>
      <p:grpSp>
        <p:nvGrpSpPr>
          <p:cNvPr id="4" name="组合 14"/>
          <p:cNvGrpSpPr/>
          <p:nvPr/>
        </p:nvGrpSpPr>
        <p:grpSpPr bwMode="auto">
          <a:xfrm>
            <a:off x="6226175" y="2395855"/>
            <a:ext cx="5018405" cy="2144395"/>
            <a:chOff x="1166778" y="1760736"/>
            <a:chExt cx="10051707" cy="1739702"/>
          </a:xfrm>
        </p:grpSpPr>
        <p:grpSp>
          <p:nvGrpSpPr>
            <p:cNvPr id="5" name="组合 12"/>
            <p:cNvGrpSpPr/>
            <p:nvPr/>
          </p:nvGrpSpPr>
          <p:grpSpPr bwMode="auto">
            <a:xfrm>
              <a:off x="1166778" y="1760736"/>
              <a:ext cx="10051707" cy="1739702"/>
              <a:chOff x="1166778" y="1760736"/>
              <a:chExt cx="10051707" cy="173970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8" name="矩形 6"/>
              <p:cNvSpPr>
                <a:spLocks noChangeArrowheads="1"/>
              </p:cNvSpPr>
              <p:nvPr/>
            </p:nvSpPr>
            <p:spPr bwMode="auto">
              <a:xfrm>
                <a:off x="1371553" y="1760736"/>
                <a:ext cx="9846932" cy="3410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m2.c 的内容：</a:t>
                </a:r>
              </a:p>
            </p:txBody>
          </p:sp>
        </p:grpSp>
        <p:sp>
          <p:nvSpPr>
            <p:cNvPr id="9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66778" y="2080145"/>
              <a:ext cx="9858380" cy="138661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main()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{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printf("\n");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} </a:t>
              </a:r>
            </a:p>
          </p:txBody>
        </p:sp>
      </p:grpSp>
      <p:grpSp>
        <p:nvGrpSpPr>
          <p:cNvPr id="2" name="组合 14"/>
          <p:cNvGrpSpPr/>
          <p:nvPr/>
        </p:nvGrpSpPr>
        <p:grpSpPr bwMode="auto">
          <a:xfrm>
            <a:off x="544830" y="3502660"/>
            <a:ext cx="5716270" cy="2705100"/>
            <a:chOff x="1166778" y="1786456"/>
            <a:chExt cx="10051707" cy="1713982"/>
          </a:xfrm>
        </p:grpSpPr>
        <p:grpSp>
          <p:nvGrpSpPr>
            <p:cNvPr id="15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8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2663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对文件m1.c和m2.c进行比较，只显示它们共有的行。</a:t>
                </a:r>
              </a:p>
            </p:txBody>
          </p:sp>
        </p:grpSp>
        <p:sp>
          <p:nvSpPr>
            <p:cNvPr id="1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113826"/>
              <a:ext cx="9858380" cy="138661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[root@localhost/root]#comm  </a:t>
              </a: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–12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m1.c  m2.c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main()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{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printf("\n");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}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53895"/>
            <a:ext cx="5704205" cy="256730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510665" y="2204845"/>
            <a:ext cx="1279525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diff命令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339840" y="2482850"/>
            <a:ext cx="515683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325235" y="1953895"/>
            <a:ext cx="452437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  <a:sym typeface="+mn-ea"/>
              </a:rPr>
              <a:t>选项的含义如下：</a:t>
            </a:r>
          </a:p>
        </p:txBody>
      </p:sp>
      <p:sp>
        <p:nvSpPr>
          <p:cNvPr id="50" name="矩形 49"/>
          <p:cNvSpPr/>
          <p:nvPr/>
        </p:nvSpPr>
        <p:spPr>
          <a:xfrm>
            <a:off x="6450965" y="2785110"/>
            <a:ext cx="5046345" cy="237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忽略行尾的空格，而字符串中的空  白符都被看做是相等的。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输出格式是带上下文的3行格式。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当文件1和文件2都是目录时，递归比较找到的各子目录。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105475" y="1466618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86397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3.3.4  比较文件内容的命令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0565" y="1931035"/>
            <a:ext cx="5557520" cy="2348230"/>
            <a:chOff x="1119" y="3041"/>
            <a:chExt cx="8752" cy="369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229" y="3041"/>
              <a:ext cx="4843" cy="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diff命令的一般格式：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119" y="3579"/>
              <a:ext cx="8752" cy="3160"/>
              <a:chOff x="1119" y="3579"/>
              <a:chExt cx="8752" cy="3160"/>
            </a:xfrm>
          </p:grpSpPr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1119" y="4263"/>
                <a:ext cx="8753" cy="2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/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该命令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逐行比较</a:t>
                </a:r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两个文件，列出它们的不同之处，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并且告诉用户</a:t>
                </a:r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，为了使两个文件一致，需要修改它们的哪些行。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如果两个文件完全一样，则该命令不显示任何输出。</a:t>
                </a: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2824" y="3579"/>
                <a:ext cx="4431" cy="792"/>
                <a:chOff x="2824" y="3579"/>
                <a:chExt cx="4431" cy="792"/>
              </a:xfrm>
            </p:grpSpPr>
            <p:sp>
              <p:nvSpPr>
                <p:cNvPr id="3" name="流程图: 过程 2"/>
                <p:cNvSpPr/>
                <p:nvPr/>
              </p:nvSpPr>
              <p:spPr>
                <a:xfrm>
                  <a:off x="2824" y="3697"/>
                  <a:ext cx="4217" cy="653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2872" y="3579"/>
                  <a:ext cx="4383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diff [选项] 文件1 文件2</a:t>
                  </a:r>
                </a:p>
              </p:txBody>
            </p:sp>
          </p:grpSp>
        </p:grpSp>
      </p:grpSp>
      <p:grpSp>
        <p:nvGrpSpPr>
          <p:cNvPr id="10" name="组合 14"/>
          <p:cNvGrpSpPr/>
          <p:nvPr/>
        </p:nvGrpSpPr>
        <p:grpSpPr bwMode="auto">
          <a:xfrm>
            <a:off x="1962784" y="4269740"/>
            <a:ext cx="4262755" cy="1872615"/>
            <a:chOff x="1142611" y="1786456"/>
            <a:chExt cx="8538165" cy="1550946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42611" y="1786456"/>
              <a:ext cx="8538165" cy="1550946"/>
              <a:chOff x="1142611" y="1786456"/>
              <a:chExt cx="8538165" cy="1550946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7" y="1786456"/>
                <a:ext cx="8513999" cy="155094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142611" y="1816960"/>
                <a:ext cx="8347382" cy="32133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zh-CN" altLang="en-US" sz="1800" b="1" dirty="0">
                    <a:solidFill>
                      <a:srgbClr val="FF0000"/>
                    </a:solidFill>
                    <a:sym typeface="+mn-ea"/>
                  </a:rPr>
                  <a:t>【例3-15】</a:t>
                </a:r>
                <a:r>
                  <a:rPr lang="zh-CN" altLang="en-US" sz="1800" b="1" dirty="0">
                    <a:solidFill>
                      <a:srgbClr val="009900"/>
                    </a:solidFill>
                    <a:sym typeface="+mn-ea"/>
                  </a:rPr>
                  <a:t>假设文件m3.c的内容如下：</a:t>
                </a:r>
                <a:endParaRPr lang="zh-CN" altLang="en-US" sz="1800" b="1" dirty="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华康俪金黑W8(P)"/>
                  <a:sym typeface="+mn-ea"/>
                </a:endParaRP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93965" y="2114630"/>
              <a:ext cx="8197299" cy="1190163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2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main() </a:t>
              </a:r>
            </a:p>
            <a:p>
              <a:pPr indent="0" algn="l" eaLnBrk="1" fontAlgn="auto" latinLnBrk="0" hangingPunct="1">
                <a:lnSpc>
                  <a:spcPct val="12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{ </a:t>
              </a:r>
            </a:p>
            <a:p>
              <a:pPr indent="0" algn="l" eaLnBrk="1" fontAlgn="auto" latinLnBrk="0" hangingPunct="1">
                <a:lnSpc>
                  <a:spcPct val="12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printf("Hello!\n");</a:t>
              </a:r>
            </a:p>
            <a:p>
              <a:pPr indent="0" algn="l" eaLnBrk="1" fontAlgn="auto" latinLnBrk="0" hangingPunct="1">
                <a:lnSpc>
                  <a:spcPct val="12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} </a:t>
              </a:r>
              <a:endPara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  <p:transition/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 p14:presetBounceEnd="64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850"/>
                                </p:stCondLst>
                                <p:childTnLst>
                                  <p:par>
                                    <p:cTn id="16" presetID="2" presetClass="entr" presetSubtype="1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1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  <p:bldP spid="5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850"/>
                                </p:stCondLst>
                                <p:childTnLst>
                                  <p:par>
                                    <p:cTn id="16" presetID="2" presetClass="entr" presetSubtype="1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1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  <p:bldP spid="50" grpId="0"/>
        </p:bldLst>
      </p:timing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53895"/>
            <a:ext cx="5704205" cy="14458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050415" y="2024380"/>
            <a:ext cx="3075305" cy="46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diff命令的一般格式：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510665" y="2204845"/>
            <a:ext cx="1279525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diff命令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105475" y="1466618"/>
            <a:ext cx="690880" cy="108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86397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3.3.4  比较文件内容的命令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793240" y="2571115"/>
            <a:ext cx="2677795" cy="414655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0000" tIns="46800" rIns="90000" bIns="46800" numCol="1" anchor="ctr" anchorCtr="0" compatLnSpc="1"/>
          <a:lstStyle/>
          <a:p>
            <a:pPr indent="0" algn="l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endParaRPr lang="zh-CN" altLang="en-US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3240" y="2482850"/>
            <a:ext cx="2783205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eaLnBrk="1" fontAlgn="auto" latinLnBrk="0" hangingPunct="1">
              <a:lnSpc>
                <a:spcPct val="150000"/>
              </a:lnSpc>
              <a:buFont typeface="Arial" panose="020B0604020202090204" pitchFamily="34" charset="0"/>
              <a:buNone/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diff [选项] 文件1 文件2</a:t>
            </a: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6502400" y="1953895"/>
            <a:ext cx="5018405" cy="3942080"/>
            <a:chOff x="1166778" y="1786456"/>
            <a:chExt cx="10051707" cy="1713982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16869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zh-CN" altLang="en-US" sz="1800" b="1" dirty="0">
                    <a:solidFill>
                      <a:srgbClr val="009900"/>
                    </a:solidFill>
                    <a:sym typeface="+mn-ea"/>
                  </a:rPr>
                  <a:t>用diff命令比较文件m1.c和m3.c的区别。</a:t>
                </a:r>
                <a:endParaRPr lang="zh-CN" altLang="en-US" sz="1800" b="1" dirty="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华康俪金黑W8(P)"/>
                  <a:sym typeface="+mn-ea"/>
                </a:endParaRP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49931" y="2028589"/>
              <a:ext cx="9492078" cy="147184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/root]#diff  m1.c  m3.c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3,6c3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&lt; int n,m;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&lt; n=10;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&lt; printf("%d\n",m=n*10);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&lt; printf("\n");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---- 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&gt; printf("Hello\n"); 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24635" y="4111625"/>
            <a:ext cx="4739004" cy="3269615"/>
            <a:chOff x="2401" y="6475"/>
            <a:chExt cx="5356" cy="5149"/>
          </a:xfrm>
        </p:grpSpPr>
        <p:sp>
          <p:nvSpPr>
            <p:cNvPr id="2" name="线形标注 1 1"/>
            <p:cNvSpPr/>
            <p:nvPr/>
          </p:nvSpPr>
          <p:spPr>
            <a:xfrm flipH="1">
              <a:off x="2401" y="6547"/>
              <a:ext cx="5356" cy="3702"/>
            </a:xfrm>
            <a:prstGeom prst="borderCallout1">
              <a:avLst>
                <a:gd name="adj1" fmla="val 49180"/>
                <a:gd name="adj2" fmla="val 366"/>
                <a:gd name="adj3" fmla="val -20299"/>
                <a:gd name="adj4" fmla="val -45701"/>
              </a:avLst>
            </a:prstGeom>
            <a:noFill/>
            <a:ln w="19050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/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45" y="6475"/>
              <a:ext cx="5016" cy="5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eaLnBrk="1" latinLnBrk="0" hangingPunct="1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输出的含义是：如果将文件m1.c的3～6行改成文件m3.c的3行，那么两个文件就相同了。</a:t>
              </a:r>
              <a:endPara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</a:pPr>
              <a:r>
                <a:rPr lang="zh-CN" altLang="en-GB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</a:t>
              </a:r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字母的含义</a:t>
              </a:r>
              <a:r>
                <a:rPr lang="en-GB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(a=</a:t>
              </a:r>
              <a:r>
                <a:rPr lang="en-GB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add,c</a:t>
              </a:r>
              <a:r>
                <a:rPr lang="en-GB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GB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change,d</a:t>
              </a:r>
              <a:r>
                <a:rPr lang="en-GB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=delete)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82177" y="1741170"/>
            <a:ext cx="1108710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31265" y="1900555"/>
            <a:ext cx="7672070" cy="3288665"/>
            <a:chOff x="2059" y="3667"/>
            <a:chExt cx="15083" cy="5179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4304" y="3667"/>
              <a:ext cx="6590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cp命令的一般格式：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192" y="4691"/>
              <a:ext cx="10814" cy="938"/>
              <a:chOff x="2852" y="4899"/>
              <a:chExt cx="4556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556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4452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cp [选项] 源文件或目录目标文件或目录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2059" y="5878"/>
              <a:ext cx="15083" cy="2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cp命令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将源文件或目录复制到目标文件或目录中</a:t>
              </a: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。如果参数中指定了两个以上的文件/目录，且后一个是目录，则cp命令视后一个为目的目录，将前面指定的文件和目录复制到该目录下；如果后一个不是已存在的目录，则cp命令将给出错误信息。</a:t>
              </a:r>
            </a:p>
          </p:txBody>
        </p:sp>
      </p:grp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sp>
        <p:nvSpPr>
          <p:cNvPr id="14" name="矩形 13"/>
          <p:cNvSpPr/>
          <p:nvPr/>
        </p:nvSpPr>
        <p:spPr>
          <a:xfrm rot="2691738">
            <a:off x="446084" y="5682676"/>
            <a:ext cx="11493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cp命令</a:t>
            </a:r>
          </a:p>
        </p:txBody>
      </p:sp>
      <p:pic>
        <p:nvPicPr>
          <p:cNvPr id="25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0800000">
            <a:off x="334010" y="500824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 rot="2691738">
            <a:off x="418144" y="5723316"/>
            <a:ext cx="11493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cp命令</a:t>
            </a:r>
          </a:p>
        </p:txBody>
      </p:sp>
      <p:sp>
        <p:nvSpPr>
          <p:cNvPr id="20" name="矩形 19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1．cp命令</a:t>
            </a:r>
          </a:p>
        </p:txBody>
      </p:sp>
      <p:sp>
        <p:nvSpPr>
          <p:cNvPr id="21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27311" y="4207932"/>
            <a:ext cx="2742033" cy="228684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48360" y="1741170"/>
            <a:ext cx="10724515" cy="4305300"/>
            <a:chOff x="1336" y="2742"/>
            <a:chExt cx="16889" cy="6780"/>
          </a:xfrm>
        </p:grpSpPr>
        <p:sp>
          <p:nvSpPr>
            <p:cNvPr id="50" name="矩形 49"/>
            <p:cNvSpPr/>
            <p:nvPr/>
          </p:nvSpPr>
          <p:spPr>
            <a:xfrm>
              <a:off x="1336" y="7170"/>
              <a:ext cx="16554" cy="2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-i：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在覆盖目标文件之前先给出提示，要求用户予以确认，输入“Y”，将覆盖目标文件。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-p：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除复制源文件的内容外，还将其修改时间和存取权限也复制到新文件中。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将源目录下的所有文件及其各级子目录都复制到目标位置。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344" y="2742"/>
              <a:ext cx="16881" cy="4282"/>
              <a:chOff x="1344" y="2742"/>
              <a:chExt cx="16881" cy="4282"/>
            </a:xfrm>
          </p:grpSpPr>
          <p:sp>
            <p:nvSpPr>
              <p:cNvPr id="49" name="Text Box 44"/>
              <p:cNvSpPr txBox="1">
                <a:spLocks noChangeArrowheads="1"/>
              </p:cNvSpPr>
              <p:nvPr/>
            </p:nvSpPr>
            <p:spPr bwMode="auto">
              <a:xfrm>
                <a:off x="3856" y="2742"/>
                <a:ext cx="4425" cy="9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rgbClr val="D24726"/>
                    </a:solidFill>
                  </a:rPr>
                  <a:t>选项的含义如下：</a:t>
                </a: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1344" y="3749"/>
                <a:ext cx="16881" cy="3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4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该选项通常在</a:t>
                </a:r>
                <a:r>
                  <a:rPr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复制目录时使用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，递归地将源目录下的所有子目录及其文件都复制到目标目录，并且保留文件链接和文件属性不变，等效于-dpr。</a:t>
                </a:r>
              </a:p>
              <a:p>
                <a:pPr marL="285750" indent="-285750">
                  <a:lnSpc>
                    <a:spcPct val="14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-d：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复制时保留文件链接。</a:t>
                </a:r>
              </a:p>
              <a:p>
                <a:pPr marL="285750" indent="-285750">
                  <a:lnSpc>
                    <a:spcPct val="14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-f：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覆盖已经存在的目标文件，并且不给出提示。</a:t>
                </a:r>
              </a:p>
            </p:txBody>
          </p:sp>
        </p:grpSp>
      </p:grpSp>
      <p:sp>
        <p:nvSpPr>
          <p:cNvPr id="5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0" name="矩形 19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1．cp命令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1．cp命令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299335" y="1725930"/>
            <a:ext cx="8813800" cy="595630"/>
            <a:chOff x="2299335" y="1725930"/>
            <a:chExt cx="8813800" cy="595630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299335" y="1735455"/>
              <a:ext cx="2520950" cy="502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cp命令的一般格式：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820285" y="1725930"/>
              <a:ext cx="6292850" cy="595630"/>
              <a:chOff x="2852" y="4899"/>
              <a:chExt cx="417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3745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cp [选项] 源文件或目录目标文件或目录</a:t>
                </a:r>
              </a:p>
            </p:txBody>
          </p:sp>
        </p:grpSp>
      </p:grp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grpSp>
        <p:nvGrpSpPr>
          <p:cNvPr id="3" name="组合 14"/>
          <p:cNvGrpSpPr/>
          <p:nvPr/>
        </p:nvGrpSpPr>
        <p:grpSpPr bwMode="auto">
          <a:xfrm>
            <a:off x="2426335" y="2570480"/>
            <a:ext cx="8673465" cy="946150"/>
            <a:chOff x="1166778" y="1786473"/>
            <a:chExt cx="10021629" cy="1713966"/>
          </a:xfrm>
        </p:grpSpPr>
        <p:grpSp>
          <p:nvGrpSpPr>
            <p:cNvPr id="5" name="组合 12"/>
            <p:cNvGrpSpPr/>
            <p:nvPr/>
          </p:nvGrpSpPr>
          <p:grpSpPr bwMode="auto">
            <a:xfrm>
              <a:off x="1166778" y="1786473"/>
              <a:ext cx="10021629" cy="1713966"/>
              <a:chOff x="1166778" y="1786473"/>
              <a:chExt cx="10021629" cy="1713966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166778" y="1786473"/>
                <a:ext cx="10021629" cy="17139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8" name="矩形 6"/>
              <p:cNvSpPr>
                <a:spLocks noChangeArrowheads="1"/>
              </p:cNvSpPr>
              <p:nvPr/>
            </p:nvSpPr>
            <p:spPr bwMode="auto">
              <a:xfrm>
                <a:off x="1166778" y="1786473"/>
                <a:ext cx="9846932" cy="76150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【例3-16】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将文件m3.c复制到目录/usr/studentL/tem下，并改名为m3bak.c。</a:t>
                </a:r>
              </a:p>
            </p:txBody>
          </p:sp>
        </p:grpSp>
        <p:sp>
          <p:nvSpPr>
            <p:cNvPr id="10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66778" y="2549130"/>
              <a:ext cx="10020898" cy="95130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[root@localhost/root]#cp  m3.c  /usr/studentL/tem/m3bak.c </a:t>
              </a: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1908810" y="3698240"/>
            <a:ext cx="8642350" cy="939800"/>
            <a:chOff x="1166054" y="1714488"/>
            <a:chExt cx="9859168" cy="1785950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7988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【例3-17】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将目录/usr/studentL下所有文件及其子目录复制到目录/usr/test中。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66054" y="2484364"/>
              <a:ext cx="9858444" cy="88549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[root@localhost/root]#cp  –r  /usr/studentL  /usr/test  </a:t>
              </a:r>
            </a:p>
          </p:txBody>
        </p:sp>
      </p:grpSp>
      <p:grpSp>
        <p:nvGrpSpPr>
          <p:cNvPr id="19" name="组合 14"/>
          <p:cNvGrpSpPr/>
          <p:nvPr/>
        </p:nvGrpSpPr>
        <p:grpSpPr bwMode="auto">
          <a:xfrm>
            <a:off x="1139190" y="4824730"/>
            <a:ext cx="10517505" cy="943610"/>
            <a:chOff x="935866" y="1786456"/>
            <a:chExt cx="9960074" cy="1714604"/>
          </a:xfrm>
        </p:grpSpPr>
        <p:grpSp>
          <p:nvGrpSpPr>
            <p:cNvPr id="20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2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83076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例3-18】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交互式地将目录/usr/studentL中的以m打头的所有.c文件复制到目录/usr/ test中。</a:t>
                </a:r>
              </a:p>
            </p:txBody>
          </p:sp>
        </p:grpSp>
        <p:sp>
          <p:nvSpPr>
            <p:cNvPr id="24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40925" y="2670098"/>
              <a:ext cx="9653388" cy="83096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[root@localhost/root]#cp  –i  /usr/studentL/m*.c  /usr/test</a:t>
              </a:r>
            </a:p>
          </p:txBody>
        </p:sp>
      </p:grpSp>
      <p:pic>
        <p:nvPicPr>
          <p:cNvPr id="25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 rot="10800000">
            <a:off x="334010" y="502094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 rot="2691738">
            <a:off x="430844" y="5697916"/>
            <a:ext cx="11493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38110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0800000">
            <a:off x="334010" y="501078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41600" y="1762125"/>
            <a:ext cx="5763895" cy="595630"/>
            <a:chOff x="4160" y="2775"/>
            <a:chExt cx="9077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4160" y="2847"/>
              <a:ext cx="3970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rm命令的一般格式：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295" y="2775"/>
              <a:ext cx="4943" cy="938"/>
              <a:chOff x="2852" y="4899"/>
              <a:chExt cx="417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3745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rm [选项] 文件列表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72160" y="2433955"/>
            <a:ext cx="8184515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该命令可以删除一个目录中的一个或多个文件和目录，也可以将某个目录及其下属的所有文件和子目录删除。对于链接文件，只是删除整个链接文件，而原有文件保持不变。</a:t>
            </a:r>
          </a:p>
        </p:txBody>
      </p: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772160" y="3761740"/>
            <a:ext cx="286004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3" name="矩形 2"/>
          <p:cNvSpPr/>
          <p:nvPr/>
        </p:nvSpPr>
        <p:spPr>
          <a:xfrm>
            <a:off x="1687830" y="4346575"/>
            <a:ext cx="7633970" cy="2011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-d：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删除目录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，不管它是否为空。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-f：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忽略不存在的文件，并且不给出提示信息。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-r：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递归地删除指定目录及其下属的各级子目录、相应的文件。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-i：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交互式删除文件。</a:t>
            </a:r>
          </a:p>
        </p:txBody>
      </p:sp>
      <p:sp>
        <p:nvSpPr>
          <p:cNvPr id="5" name="矩形 4"/>
          <p:cNvSpPr/>
          <p:nvPr/>
        </p:nvSpPr>
        <p:spPr>
          <a:xfrm>
            <a:off x="334010" y="1725930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2．rm命令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riangle rectangle 10"/>
          <p:cNvSpPr/>
          <p:nvPr/>
        </p:nvSpPr>
        <p:spPr>
          <a:xfrm rot="16200000" flipH="1">
            <a:off x="323122" y="22362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4" name="矩形 13"/>
          <p:cNvSpPr/>
          <p:nvPr/>
        </p:nvSpPr>
        <p:spPr>
          <a:xfrm rot="2691738">
            <a:off x="344484" y="5682676"/>
            <a:ext cx="118364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rm命令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29675" y="2277745"/>
            <a:ext cx="3025140" cy="42170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8155" y="1722120"/>
            <a:ext cx="1124204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 rot="10800000">
            <a:off x="334010" y="501078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2691738">
            <a:off x="407984" y="5695376"/>
            <a:ext cx="118364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rm命令</a:t>
            </a:r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641600" y="1807845"/>
            <a:ext cx="252095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rm命令的一般格式：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67325" y="1762125"/>
            <a:ext cx="3138805" cy="595630"/>
            <a:chOff x="2852" y="4899"/>
            <a:chExt cx="4175" cy="938"/>
          </a:xfrm>
        </p:grpSpPr>
        <p:sp>
          <p:nvSpPr>
            <p:cNvPr id="2" name="流程图: 过程 1"/>
            <p:cNvSpPr/>
            <p:nvPr/>
          </p:nvSpPr>
          <p:spPr>
            <a:xfrm>
              <a:off x="2852" y="4962"/>
              <a:ext cx="4175" cy="875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56" y="4899"/>
              <a:ext cx="3745" cy="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rm [选项] 文件列表</a:t>
              </a:r>
            </a:p>
          </p:txBody>
        </p:sp>
      </p:grp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797560" y="2695575"/>
            <a:ext cx="6738620" cy="2284095"/>
            <a:chOff x="935866" y="1786456"/>
            <a:chExt cx="9960074" cy="1714604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34320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【例3-19】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交互式删除当前目录下的文件test和example。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40925" y="2178771"/>
              <a:ext cx="9653388" cy="132228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[root@localhost/root]#rm  -i  test example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Remove test ?y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Remove example ?n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将删除文件test。</a:t>
              </a:r>
            </a:p>
          </p:txBody>
        </p:sp>
      </p:grpSp>
      <p:grpSp>
        <p:nvGrpSpPr>
          <p:cNvPr id="5" name="组合 14"/>
          <p:cNvGrpSpPr/>
          <p:nvPr/>
        </p:nvGrpSpPr>
        <p:grpSpPr bwMode="auto">
          <a:xfrm>
            <a:off x="1469390" y="5050155"/>
            <a:ext cx="7225665" cy="946150"/>
            <a:chOff x="1166778" y="1786473"/>
            <a:chExt cx="10021629" cy="1713966"/>
          </a:xfrm>
        </p:grpSpPr>
        <p:grpSp>
          <p:nvGrpSpPr>
            <p:cNvPr id="7" name="组合 12"/>
            <p:cNvGrpSpPr/>
            <p:nvPr/>
          </p:nvGrpSpPr>
          <p:grpSpPr bwMode="auto">
            <a:xfrm>
              <a:off x="1166778" y="1786473"/>
              <a:ext cx="10021629" cy="1713966"/>
              <a:chOff x="1166778" y="1786473"/>
              <a:chExt cx="10021629" cy="1713966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166778" y="1786473"/>
                <a:ext cx="10021629" cy="17139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786473"/>
                <a:ext cx="9846932" cy="14908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【例3-20】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删除当前目录下除隐含文件外的所有文件和子目录。</a:t>
                </a:r>
              </a:p>
            </p:txBody>
          </p:sp>
        </p:grpSp>
        <p:sp>
          <p:nvSpPr>
            <p:cNvPr id="1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547980"/>
              <a:ext cx="10020748" cy="95245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[root@localhost/root]#rm  -r  *  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334010" y="1725930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2．rm命令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riangle rectangle 10"/>
          <p:cNvSpPr/>
          <p:nvPr/>
        </p:nvSpPr>
        <p:spPr>
          <a:xfrm rot="16200000" flipH="1">
            <a:off x="323122" y="22235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8695055" y="2279650"/>
            <a:ext cx="3025140" cy="42170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 rot="10800000">
            <a:off x="334010" y="501078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2691738">
            <a:off x="293684" y="5682676"/>
            <a:ext cx="123444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mv命令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73960" y="1725930"/>
            <a:ext cx="6117590" cy="620395"/>
            <a:chOff x="3896" y="2718"/>
            <a:chExt cx="9634" cy="977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896" y="2718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mv命令的一般格式：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878" y="2757"/>
              <a:ext cx="5652" cy="938"/>
              <a:chOff x="2852" y="4899"/>
              <a:chExt cx="423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401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mv [选项]  源文件目标文件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949325" y="2346325"/>
            <a:ext cx="10323830" cy="5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该命令用来移动文件或目录，还可以在移动的同时修改文件名或目录名。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909320" y="3040380"/>
            <a:ext cx="4107180" cy="3001010"/>
            <a:chOff x="1432" y="4788"/>
            <a:chExt cx="6468" cy="4726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528" y="4788"/>
              <a:ext cx="3177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432" y="5700"/>
              <a:ext cx="6468" cy="38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-i：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交互模式，当移动的目录存在同名的目标文件时，用覆盖方式写文件，但在写入之前给出提示。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-f：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在目标文件已存在时，不给出任何提示。</a:t>
              </a:r>
            </a:p>
            <a:p>
              <a:pPr marL="0" indent="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endPara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58470" y="3034030"/>
            <a:ext cx="11214735" cy="528320"/>
            <a:chOff x="722" y="4778"/>
            <a:chExt cx="17661" cy="83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22" y="4778"/>
              <a:ext cx="8638" cy="17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>
              <a:off x="9309" y="4795"/>
              <a:ext cx="3" cy="792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9309" y="5604"/>
              <a:ext cx="9075" cy="7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矩形 6"/>
          <p:cNvSpPr>
            <a:spLocks noChangeArrowheads="1"/>
          </p:cNvSpPr>
          <p:nvPr/>
        </p:nvSpPr>
        <p:spPr bwMode="auto">
          <a:xfrm>
            <a:off x="909320" y="1113790"/>
            <a:ext cx="53003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 复制、删除和移动文件的命令</a:t>
            </a:r>
          </a:p>
        </p:txBody>
      </p:sp>
      <p:grpSp>
        <p:nvGrpSpPr>
          <p:cNvPr id="11" name="组合 14"/>
          <p:cNvGrpSpPr/>
          <p:nvPr/>
        </p:nvGrpSpPr>
        <p:grpSpPr bwMode="auto">
          <a:xfrm>
            <a:off x="5009515" y="4015105"/>
            <a:ext cx="6738620" cy="1079592"/>
            <a:chOff x="935866" y="1786456"/>
            <a:chExt cx="9960074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725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【例3-21】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将文件m3.c改名为m3b.c。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18886" y="2407469"/>
              <a:ext cx="9653163" cy="98999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[root@localhost/root]#mv  m3.c  m3b.c </a:t>
              </a:r>
            </a:p>
          </p:txBody>
        </p:sp>
      </p:grpSp>
      <p:grpSp>
        <p:nvGrpSpPr>
          <p:cNvPr id="19" name="组合 14"/>
          <p:cNvGrpSpPr/>
          <p:nvPr/>
        </p:nvGrpSpPr>
        <p:grpSpPr bwMode="auto">
          <a:xfrm>
            <a:off x="3973830" y="5437505"/>
            <a:ext cx="7515860" cy="946150"/>
            <a:chOff x="1166778" y="1786473"/>
            <a:chExt cx="10021629" cy="1713966"/>
          </a:xfrm>
        </p:grpSpPr>
        <p:grpSp>
          <p:nvGrpSpPr>
            <p:cNvPr id="20" name="组合 12"/>
            <p:cNvGrpSpPr/>
            <p:nvPr/>
          </p:nvGrpSpPr>
          <p:grpSpPr bwMode="auto">
            <a:xfrm>
              <a:off x="1166778" y="1786473"/>
              <a:ext cx="10021629" cy="1713966"/>
              <a:chOff x="1166778" y="1786473"/>
              <a:chExt cx="10021629" cy="1713966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166778" y="1786473"/>
                <a:ext cx="10021629" cy="17139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4" name="矩形 6"/>
              <p:cNvSpPr>
                <a:spLocks noChangeArrowheads="1"/>
              </p:cNvSpPr>
              <p:nvPr/>
            </p:nvSpPr>
            <p:spPr bwMode="auto">
              <a:xfrm>
                <a:off x="1166778" y="1786473"/>
                <a:ext cx="9846932" cy="14908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【例3-22】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将目录/usr/studentL中的所有文件移到当前目录中。录。</a:t>
                </a:r>
              </a:p>
            </p:txBody>
          </p:sp>
        </p:grpSp>
        <p:sp>
          <p:nvSpPr>
            <p:cNvPr id="25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68383" y="2575587"/>
              <a:ext cx="9846361" cy="869636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/root]#mv  /usr/studentL/*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.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334010" y="1734185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3．mv命令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rgbClr val="00B0F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466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73960" y="1720215"/>
            <a:ext cx="5137150" cy="595630"/>
            <a:chOff x="3896" y="2709"/>
            <a:chExt cx="8090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896" y="2790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wc命令一般格式：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686" y="2709"/>
              <a:ext cx="4300" cy="938"/>
              <a:chOff x="2852" y="4899"/>
              <a:chExt cx="417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395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wc [选项] 文件列表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4001135" y="2442210"/>
            <a:ext cx="7321550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该命令统计出指定文件的</a:t>
            </a:r>
            <a:r>
              <a:rPr lang="zh-CN" altLang="en-US" sz="2000" dirty="0">
                <a:solidFill>
                  <a:srgbClr val="FF0000"/>
                </a:solidFill>
              </a:rPr>
              <a:t>字节数、字数、行数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，并输出结果。如果没有给出文件名，则从标准输入读取数据。</a:t>
            </a:r>
            <a:r>
              <a:rPr lang="zh-CN" altLang="en-US" sz="2000" dirty="0">
                <a:solidFill>
                  <a:srgbClr val="FF0000"/>
                </a:solidFill>
              </a:rPr>
              <a:t>如果多个文件一起进行统计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，则后给出所有指定文件的总统计数。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06120" y="2752725"/>
            <a:ext cx="3041650" cy="2292350"/>
            <a:chOff x="1112" y="4335"/>
            <a:chExt cx="4790" cy="3610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112" y="4335"/>
              <a:ext cx="4730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选项及其含义如下：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592" y="5593"/>
              <a:ext cx="4310" cy="2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-c：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统计字节数。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-l：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统计行数。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-w：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统计字数。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334010" y="1724660"/>
            <a:ext cx="1872615" cy="504190"/>
          </a:xfrm>
          <a:prstGeom prst="rect">
            <a:avLst/>
          </a:prstGeom>
          <a:solidFill>
            <a:srgbClr val="E8A7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wc命令</a:t>
            </a: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3369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F6CE02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E8A50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9" name="Picture 2" descr="F:\TDZ临时\其他备用\！PPT图片及版面资源\06-PPT精选插图\04-图标\右边角-黄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 rot="10800000">
            <a:off x="316230" y="4892040"/>
            <a:ext cx="1755140" cy="174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 rot="2658258">
            <a:off x="170098" y="5602124"/>
            <a:ext cx="1539240" cy="6178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wc命令</a:t>
            </a: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4001135" y="4011930"/>
            <a:ext cx="6738620" cy="2338070"/>
            <a:chOff x="935866" y="1786456"/>
            <a:chExt cx="9960074" cy="1713982"/>
          </a:xfrm>
        </p:grpSpPr>
        <p:grpSp>
          <p:nvGrpSpPr>
            <p:cNvPr id="2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33516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【例3-23】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统计文件m1.c和m3.c的字节数、字数和行数。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535" y="2142099"/>
              <a:ext cx="9653163" cy="1320166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/root]#wc  -lcw  m1.c  m3.c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7        8       63        m1.c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4        4       30        m3.c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11      12     93        总用量</a:t>
              </a:r>
            </a:p>
          </p:txBody>
        </p:sp>
      </p:grpSp>
      <p:sp>
        <p:nvSpPr>
          <p:cNvPr id="32" name="矩形 6"/>
          <p:cNvSpPr>
            <a:spLocks noChangeArrowheads="1"/>
          </p:cNvSpPr>
          <p:nvPr/>
        </p:nvSpPr>
        <p:spPr bwMode="auto">
          <a:xfrm>
            <a:off x="909320" y="1113790"/>
            <a:ext cx="371919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3.3.6  文件内容统计命令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3"/>
          <p:cNvSpPr>
            <a:spLocks noChangeArrowheads="1"/>
          </p:cNvSpPr>
          <p:nvPr/>
        </p:nvSpPr>
        <p:spPr bwMode="gray">
          <a:xfrm>
            <a:off x="473710" y="173990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83280" y="1497965"/>
            <a:ext cx="8172449" cy="4629149"/>
            <a:chOff x="5883673" y="1800917"/>
            <a:chExt cx="5143585" cy="2284991"/>
          </a:xfrm>
        </p:grpSpPr>
        <p:sp>
          <p:nvSpPr>
            <p:cNvPr id="15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883673" y="2170778"/>
              <a:ext cx="5143585" cy="1915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indent="457200" algn="just" eaLnBrk="1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在计算机系统中存有大量的文件，如何有效地组织与管理它们，并为用户提供一个使用</a:t>
              </a:r>
              <a:r>
                <a:rPr altLang="en-US" sz="20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方便的接口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，是文件系统的一大任务。Linux系统</a:t>
              </a:r>
              <a:r>
                <a:rPr altLang="en-US" sz="20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以文件目录的方式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来组织和管理系统中的所有文件。所谓文件目录，就是将所有文件的说明信息采用</a:t>
              </a:r>
              <a:r>
                <a:rPr altLang="en-US" sz="20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树型结构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组织起来，即常说的目录。也就是说，</a:t>
              </a:r>
              <a:r>
                <a:rPr altLang="en-US" sz="20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整个文件系统有一个“根”（root），然后在根上分“杈”（directory），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任何一个分杈上都可以再分杈，</a:t>
              </a:r>
              <a:r>
                <a:rPr altLang="en-US" sz="20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杈上也可以长出“叶子”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altLang="en-US" sz="20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“根”和“杈”在Linux中被称为“目录”或“文件夹”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</a:t>
              </a:r>
              <a:r>
                <a:rPr altLang="en-US" sz="20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“叶子”则是一个个文件</a:t>
              </a:r>
              <a:r>
                <a:rPr altLang="en-US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。实践证明，此种结构的文件系统</a:t>
              </a:r>
              <a:r>
                <a:rPr altLang="en-US" sz="20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效率比较高。</a:t>
              </a:r>
            </a:p>
            <a:p>
              <a:pPr algn="just" eaLnBrk="1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endParaRPr lang="en-US" altLang="en-US" sz="1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MH_Sub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883673" y="1800917"/>
              <a:ext cx="4098716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/>
              </a:pP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1．树型目录结构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8470" y="1757045"/>
            <a:ext cx="2717800" cy="2612390"/>
            <a:chOff x="722" y="2767"/>
            <a:chExt cx="4280" cy="4114"/>
          </a:xfrm>
        </p:grpSpPr>
        <p:pic>
          <p:nvPicPr>
            <p:cNvPr id="1026" name="Picture 2" descr="C:\Users\Administrator\桌面\Linux\16pic_2138742_b.jpg16pic_2138742_b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170" y="2934"/>
              <a:ext cx="3401" cy="35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  <p:grpSp>
          <p:nvGrpSpPr>
            <p:cNvPr id="2" name="组合 1"/>
            <p:cNvGrpSpPr/>
            <p:nvPr/>
          </p:nvGrpSpPr>
          <p:grpSpPr>
            <a:xfrm>
              <a:off x="722" y="2767"/>
              <a:ext cx="4280" cy="4115"/>
              <a:chOff x="722" y="2767"/>
              <a:chExt cx="4280" cy="4115"/>
            </a:xfrm>
          </p:grpSpPr>
          <p:sp>
            <p:nvSpPr>
              <p:cNvPr id="11" name="MH_Other_4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22" y="6762"/>
                <a:ext cx="4257" cy="120"/>
              </a:xfrm>
              <a:prstGeom prst="rect">
                <a:avLst/>
              </a:prstGeom>
              <a:solidFill>
                <a:srgbClr val="00B0F0"/>
              </a:solidFill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ctr"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MH_Other_4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 rot="5400000">
                <a:off x="2885" y="4764"/>
                <a:ext cx="4115" cy="120"/>
              </a:xfrm>
              <a:prstGeom prst="rect">
                <a:avLst/>
              </a:prstGeom>
              <a:solidFill>
                <a:srgbClr val="00B0F0"/>
              </a:solidFill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ctr"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53715" cy="5340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 目录结构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58470" y="178498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8470" y="4128770"/>
            <a:ext cx="2348230" cy="4953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buFont typeface="Arial" panose="020B0604020202090204" pitchFamily="34" charset="0"/>
              <a:buNone/>
            </a:pPr>
            <a:endParaRPr lang="zh-CN" altLang="zh-CN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47344" y="1736725"/>
            <a:ext cx="8298815" cy="4085590"/>
            <a:chOff x="5927217" y="1885814"/>
            <a:chExt cx="4822308" cy="1728460"/>
          </a:xfrm>
        </p:grpSpPr>
        <p:sp>
          <p:nvSpPr>
            <p:cNvPr id="15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33490" y="2129475"/>
              <a:ext cx="4816035" cy="1484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indent="457200" algn="just" eaLnBrk="1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目录是一种</a:t>
              </a:r>
              <a:r>
                <a:rPr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特殊类型的文件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Linux系统通过目录将系统中所有的文件系统分级、分层组织在一起，形成了Linux文件系统的树型层次结构。以根目录为起点，所有其他目录都由根目录派生而来，用户可以浏览整个系统，可以进入任何一个已授权的目录，访问目录下的文件。</a:t>
              </a:r>
            </a:p>
            <a:p>
              <a:pPr indent="457200" algn="just" eaLnBrk="1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实际上，各个目录中都会有</a:t>
              </a:r>
              <a:r>
                <a:rPr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一些文件和子目录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。并且，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系统在建立每一个目录时，都会自动为它建立两个目录文件：一个是“.”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，代表该目录自己；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另一个是“..”，代表该目录的父目录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对于根目录，“.”和“..”都代表其自己。</a:t>
              </a:r>
              <a:endParaRPr lang="en-US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MH_Sub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927217" y="1885814"/>
              <a:ext cx="4098882" cy="282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/>
              </a:pP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1．树型目录结构</a:t>
              </a:r>
            </a:p>
          </p:txBody>
        </p:sp>
      </p:grpSp>
      <p:pic>
        <p:nvPicPr>
          <p:cNvPr id="1026" name="Picture 2" descr="C:\Users\Administrator\桌面\Linux\16pic_2138742_b.jpg16pic_2138742_b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510" y="1863091"/>
            <a:ext cx="1957603" cy="20612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" name="MH_Other_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1580196" y="2926400"/>
            <a:ext cx="2370775" cy="5683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buFont typeface="Arial" panose="020B0604020202090204" pitchFamily="34" charset="0"/>
              <a:buNone/>
            </a:pPr>
            <a:endParaRPr lang="zh-CN" altLang="zh-CN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233299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 目录结构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58470" y="1757045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710" y="4623435"/>
            <a:ext cx="2992120" cy="889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buFont typeface="Arial" panose="020B0604020202090204" pitchFamily="34" charset="0"/>
              <a:buNone/>
            </a:pPr>
            <a:endParaRPr lang="zh-CN" altLang="zh-CN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45868" y="2144395"/>
            <a:ext cx="7642860" cy="3079115"/>
            <a:chOff x="6296205" y="1885814"/>
            <a:chExt cx="4441143" cy="1302658"/>
          </a:xfrm>
        </p:grpSpPr>
        <p:sp>
          <p:nvSpPr>
            <p:cNvPr id="15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296205" y="2266215"/>
              <a:ext cx="4441143" cy="92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indent="457200" algn="just" eaLnBrk="1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Linux目录提供了</a:t>
              </a:r>
              <a:r>
                <a:rPr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管理文件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的一个方便途径。每个目录里都包含文件。用户可以为特定的文件</a:t>
              </a:r>
              <a:r>
                <a:rPr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创建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特定的目录，也可以将一个目录下的文件</a:t>
              </a:r>
              <a:r>
                <a:rPr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移动或复制</a:t>
              </a:r>
              <a:r>
                <a:rPr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到另一个目录下，而且能移动整个目录，还可以和系统中的其他用户共享目录和文件。</a:t>
              </a:r>
              <a:endPara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457200" algn="just" eaLnBrk="1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None/>
                <a:defRPr/>
              </a:pPr>
              <a:endParaRPr lang="en-US" altLang="en-US" sz="1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MH_Sub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296217" y="1885814"/>
              <a:ext cx="1872985" cy="282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/>
              </a:pP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1．树型目录结构</a:t>
              </a:r>
            </a:p>
          </p:txBody>
        </p:sp>
      </p:grpSp>
      <p:pic>
        <p:nvPicPr>
          <p:cNvPr id="1026" name="Picture 2" descr="C:\Users\Administrator\桌面\Linux\16pic_2138742_b.jpg16pic_2138742_b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8510" y="1875790"/>
            <a:ext cx="2496185" cy="26282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" name="MH_Other_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1989455" y="3157220"/>
            <a:ext cx="2883535" cy="762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buFont typeface="Arial" panose="020B0604020202090204" pitchFamily="34" charset="0"/>
              <a:buNone/>
            </a:pPr>
            <a:endParaRPr lang="zh-CN" altLang="zh-CN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233299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 目录结构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1490" y="1993064"/>
            <a:ext cx="6010910" cy="1476710"/>
            <a:chOff x="1028" y="2740"/>
            <a:chExt cx="16440" cy="1522"/>
          </a:xfrm>
        </p:grpSpPr>
        <p:sp>
          <p:nvSpPr>
            <p:cNvPr id="2" name="TextBox 6"/>
            <p:cNvSpPr txBox="1">
              <a:spLocks noChangeArrowheads="1"/>
            </p:cNvSpPr>
            <p:nvPr/>
          </p:nvSpPr>
          <p:spPr bwMode="auto">
            <a:xfrm>
              <a:off x="1028" y="2740"/>
              <a:ext cx="8310" cy="5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（1）工作目录</a:t>
              </a:r>
            </a:p>
          </p:txBody>
        </p:sp>
        <p:sp>
          <p:nvSpPr>
            <p:cNvPr id="45067" name="MH_Text_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557" y="3252"/>
              <a:ext cx="15911" cy="10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b"/>
            <a:lstStyle/>
            <a:p>
              <a:pPr indent="457200" eaLnBrk="1" latinLnBrk="0" hangingPunct="1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用户在登录到Linux系统之后，所在的目录称为工作目录。工作目录可以随时改变。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73710" y="3955415"/>
            <a:ext cx="6929120" cy="2016125"/>
            <a:chOff x="920" y="4182"/>
            <a:chExt cx="16956" cy="2066"/>
          </a:xfrm>
        </p:grpSpPr>
        <p:sp>
          <p:nvSpPr>
            <p:cNvPr id="18" name="TextBox 6"/>
            <p:cNvSpPr txBox="1">
              <a:spLocks noChangeArrowheads="1"/>
            </p:cNvSpPr>
            <p:nvPr/>
          </p:nvSpPr>
          <p:spPr bwMode="auto">
            <a:xfrm>
              <a:off x="920" y="4182"/>
              <a:ext cx="8310" cy="5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（2）用户主目录</a:t>
              </a:r>
            </a:p>
          </p:txBody>
        </p:sp>
        <p:sp>
          <p:nvSpPr>
            <p:cNvPr id="45065" name="MH_Text_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558" y="4782"/>
              <a:ext cx="16318" cy="14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b"/>
            <a:lstStyle/>
            <a:p>
              <a:pPr indent="457200" eaLnBrk="1" latinLnBrk="0" hangingPunct="1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用户主目录是系统管理员增加用户时建立起来的，每个用户都有自己的主目录，不同用户的主目录一般互不相同。</a:t>
              </a:r>
              <a:r>
                <a:rPr lang="zh-CN" altLang="en-US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用户主目录一般在/home子目录下，与用户名相同。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143500" y="3080636"/>
            <a:ext cx="6340475" cy="1460249"/>
            <a:chOff x="13357" y="6772"/>
            <a:chExt cx="5138" cy="3107"/>
          </a:xfrm>
        </p:grpSpPr>
        <p:grpSp>
          <p:nvGrpSpPr>
            <p:cNvPr id="7" name="组合 14"/>
            <p:cNvGrpSpPr/>
            <p:nvPr/>
          </p:nvGrpSpPr>
          <p:grpSpPr bwMode="auto">
            <a:xfrm>
              <a:off x="13357" y="7497"/>
              <a:ext cx="5138" cy="2382"/>
              <a:chOff x="1166778" y="1695424"/>
              <a:chExt cx="9858444" cy="1805014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695424"/>
                <a:ext cx="9858444" cy="1805014"/>
                <a:chOff x="1166778" y="1695424"/>
                <a:chExt cx="9858444" cy="180501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2495214" y="1695424"/>
                  <a:ext cx="2479793" cy="73710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261561" y="2446471"/>
                <a:ext cx="9716269" cy="936902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algn="ctr" eaLnBrk="1" latinLnBrk="0" hangingPunct="1">
                  <a:lnSpc>
                    <a:spcPct val="120000"/>
                  </a:lnSpc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用户初始登录系统时，其主目录就成为其工作目录。</a:t>
                </a:r>
              </a:p>
            </p:txBody>
          </p:sp>
        </p:grpSp>
        <p:pic>
          <p:nvPicPr>
            <p:cNvPr id="9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6772"/>
              <a:ext cx="779" cy="19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878840" y="1174750"/>
            <a:ext cx="408495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0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2．工作目录、用户主目录及路径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10" name="图片 9" descr="u=2333139476,1983767802&amp;fm=21&amp;gp=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066530" y="947420"/>
            <a:ext cx="2256790" cy="20434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98805" y="1754505"/>
            <a:ext cx="7224456" cy="3854297"/>
            <a:chOff x="992" y="5077"/>
            <a:chExt cx="17142" cy="4063"/>
          </a:xfrm>
        </p:grpSpPr>
        <p:sp>
          <p:nvSpPr>
            <p:cNvPr id="12" name="MH_Text_2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464" y="5707"/>
              <a:ext cx="16670" cy="34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b"/>
            <a:lstStyle/>
            <a:p>
              <a:pPr indent="457200" eaLnBrk="1" latinLnBrk="0" hangingPunct="1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顾名思义，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是指从树型目录的某个目录层次到某个文件的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一条道路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。路径主要由目录名称构成，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中间用“/”分隔。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eaLnBrk="1" latinLnBrk="0" hangingPunct="1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用户在对文件进行访问时，要给出文件所在的路径。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路径又分相对路径和绝对路径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342900" indent="-342900" eaLnBrk="1" latinLnBrk="0" hangingPunct="1">
                <a:lnSpc>
                  <a:spcPct val="150000"/>
                </a:lnSpc>
                <a:buFont typeface="Wingdings" panose="05000000000000000000" charset="0"/>
                <a:buChar char=""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绝对路径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是指从“根”开始、到达相应文件的所有目录名连接而成，而且绝对路径是唯一的，又称为完全路径；</a:t>
              </a:r>
            </a:p>
            <a:p>
              <a:pPr marL="342900" indent="-342900" eaLnBrk="1" latinLnBrk="0" hangingPunct="1">
                <a:lnSpc>
                  <a:spcPct val="150000"/>
                </a:lnSpc>
                <a:buFont typeface="Wingdings" panose="05000000000000000000" charset="0"/>
                <a:buChar char=""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是从用户工作目录开始、到达相应文件的路径。</a:t>
              </a:r>
            </a:p>
          </p:txBody>
        </p:sp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992" y="5077"/>
              <a:ext cx="83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（3）路径</a:t>
              </a:r>
            </a:p>
          </p:txBody>
        </p:sp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878840" y="1174750"/>
            <a:ext cx="408495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0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2．工作目录、用户主目录及路径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3" name="图片 2" descr="f8c723869ccf460292aecedf5f7a6919_th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14335" y="1725930"/>
            <a:ext cx="3733800" cy="33070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6078855" cy="44862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7" name="TextBox 6"/>
          <p:cNvSpPr txBox="1"/>
          <p:nvPr/>
        </p:nvSpPr>
        <p:spPr>
          <a:xfrm rot="18836568">
            <a:off x="396365" y="2298190"/>
            <a:ext cx="1390650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mkdir命令</a:t>
            </a:r>
          </a:p>
        </p:txBody>
      </p:sp>
      <p:cxnSp>
        <p:nvCxnSpPr>
          <p:cNvPr id="48" name="直接连接符 47"/>
          <p:cNvCxnSpPr/>
          <p:nvPr/>
        </p:nvCxnSpPr>
        <p:spPr>
          <a:xfrm flipV="1">
            <a:off x="6700520" y="4163060"/>
            <a:ext cx="4069080" cy="762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extBox 26"/>
          <p:cNvSpPr txBox="1"/>
          <p:nvPr/>
        </p:nvSpPr>
        <p:spPr>
          <a:xfrm>
            <a:off x="5627445" y="1312948"/>
            <a:ext cx="792480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421640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3.4.2  创建和删除目录的命令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6760210" y="1939290"/>
            <a:ext cx="5018405" cy="2022475"/>
            <a:chOff x="1166778" y="1786456"/>
            <a:chExt cx="10051707" cy="1713982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79375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zh-CN" altLang="en-US" sz="1800" b="1" dirty="0">
                    <a:solidFill>
                      <a:srgbClr val="FF0000"/>
                    </a:solidFill>
                    <a:sym typeface="+mn-ea"/>
                  </a:rPr>
                  <a:t>【例3-24】</a:t>
                </a:r>
                <a:r>
                  <a:rPr lang="zh-CN" altLang="en-US" sz="1800" b="1" dirty="0">
                    <a:solidFill>
                      <a:srgbClr val="009900"/>
                    </a:solidFill>
                    <a:sym typeface="+mn-ea"/>
                  </a:rPr>
                  <a:t>在目录/usr/studentL下建立子目录data，并且只有文件主有读、写和执行权限，其余用户无权限访问。</a:t>
                </a:r>
                <a:endParaRPr lang="zh-CN" altLang="en-US" sz="1800" b="1" dirty="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华康俪金黑W8(P)"/>
                  <a:sym typeface="+mn-ea"/>
                </a:endParaRP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10502" y="2587747"/>
              <a:ext cx="9556944" cy="82012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[root@localhost/root]#mkdir  -m  700  /usr/studentL/data 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51840" y="2295525"/>
            <a:ext cx="6181090" cy="4123055"/>
            <a:chOff x="1184" y="3615"/>
            <a:chExt cx="9734" cy="6493"/>
          </a:xfrm>
        </p:grpSpPr>
        <p:sp>
          <p:nvSpPr>
            <p:cNvPr id="3" name="流程图: 过程 2"/>
            <p:cNvSpPr/>
            <p:nvPr/>
          </p:nvSpPr>
          <p:spPr>
            <a:xfrm>
              <a:off x="6482" y="3728"/>
              <a:ext cx="4069" cy="847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84" y="3615"/>
              <a:ext cx="9734" cy="6493"/>
              <a:chOff x="1184" y="3615"/>
              <a:chExt cx="9734" cy="6493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2120" y="3652"/>
                <a:ext cx="4843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mkdir命令的一般格式：</a:t>
                </a:r>
              </a:p>
            </p:txBody>
          </p:sp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1384" y="4431"/>
                <a:ext cx="9015" cy="27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该命令创建由目录名命名的目录。如果在目录名前面没有加任何路径名，则在当前目录下创建；如果给出了一个存在的路径，将会在指定的路径下创建。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184" y="7652"/>
                <a:ext cx="9462" cy="2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-m数字：</a:t>
                </a:r>
                <a:r>
                  <a:rPr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对新建目录设置存取权限，存取权限用八进制数表示。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p：</a:t>
                </a:r>
                <a:r>
                  <a:rPr sz="1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可一次建立多个目录</a:t>
                </a:r>
                <a:r>
                  <a:rPr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r>
                  <a:rPr sz="1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如果为新建目录所指定的路径中的父目录尚不存在，此选项可以自动建立它们</a:t>
                </a:r>
                <a:r>
                  <a:rPr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6569" y="3615"/>
                <a:ext cx="4349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mkdir [选项] 目录名 </a:t>
                </a:r>
              </a:p>
            </p:txBody>
          </p:sp>
          <p:sp>
            <p:nvSpPr>
              <p:cNvPr id="14" name="Text Box 44"/>
              <p:cNvSpPr txBox="1">
                <a:spLocks noChangeArrowheads="1"/>
              </p:cNvSpPr>
              <p:nvPr/>
            </p:nvSpPr>
            <p:spPr bwMode="auto">
              <a:xfrm>
                <a:off x="1256" y="6925"/>
                <a:ext cx="3138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rgbClr val="D24726"/>
                    </a:solidFill>
                  </a:rPr>
                  <a:t>选项的含义如下：</a:t>
                </a:r>
              </a:p>
            </p:txBody>
          </p:sp>
        </p:grpSp>
      </p:grpSp>
      <p:grpSp>
        <p:nvGrpSpPr>
          <p:cNvPr id="2" name="组合 14"/>
          <p:cNvGrpSpPr/>
          <p:nvPr/>
        </p:nvGrpSpPr>
        <p:grpSpPr bwMode="auto">
          <a:xfrm>
            <a:off x="6775450" y="4345940"/>
            <a:ext cx="5018405" cy="2022475"/>
            <a:chOff x="1166778" y="1786456"/>
            <a:chExt cx="10051707" cy="1713982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7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79375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zh-CN" altLang="en-US" sz="1800" b="1" dirty="0">
                    <a:solidFill>
                      <a:srgbClr val="FF0000"/>
                    </a:solidFill>
                    <a:sym typeface="+mn-ea"/>
                  </a:rPr>
                  <a:t>【例3-25】</a:t>
                </a:r>
                <a:r>
                  <a:rPr lang="zh-CN" altLang="en-US" sz="1800" b="1" dirty="0">
                    <a:solidFill>
                      <a:srgbClr val="009900"/>
                    </a:solidFill>
                    <a:sym typeface="+mn-ea"/>
                  </a:rPr>
                  <a:t>在当前目录中建立bin和bin下的bak目录，权限设置为文件主可读、写、执行，同组用户可读和执行，其他用户无权访问。</a:t>
                </a:r>
              </a:p>
            </p:txBody>
          </p:sp>
        </p:grpSp>
        <p:sp>
          <p:nvSpPr>
            <p:cNvPr id="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0502" y="2587747"/>
              <a:ext cx="9556944" cy="82012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/root]#mkdir  –p –m  750  /bin/bak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980565"/>
            <a:ext cx="6322060" cy="44862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53" y="1953786"/>
            <a:ext cx="1454400" cy="1445717"/>
          </a:xfrm>
          <a:prstGeom prst="rect">
            <a:avLst/>
          </a:prstGeom>
        </p:spPr>
      </p:pic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451485" y="4345940"/>
            <a:ext cx="6101715" cy="50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b="1" dirty="0">
                <a:solidFill>
                  <a:srgbClr val="0070C0"/>
                </a:solidFill>
              </a:rPr>
              <a:t>从一个目录中删除一个或多个</a:t>
            </a:r>
            <a:r>
              <a:rPr lang="zh-CN" altLang="en-US" sz="2000" b="1" dirty="0">
                <a:solidFill>
                  <a:srgbClr val="FF0000"/>
                </a:solidFill>
              </a:rPr>
              <a:t>”空的”</a:t>
            </a:r>
            <a:r>
              <a:rPr lang="zh-CN" altLang="en-US" sz="2000" b="1" dirty="0">
                <a:solidFill>
                  <a:srgbClr val="0070C0"/>
                </a:solidFill>
              </a:rPr>
              <a:t>子目录。</a:t>
            </a:r>
          </a:p>
        </p:txBody>
      </p:sp>
      <p:sp>
        <p:nvSpPr>
          <p:cNvPr id="47" name="TextBox 6"/>
          <p:cNvSpPr txBox="1"/>
          <p:nvPr/>
        </p:nvSpPr>
        <p:spPr>
          <a:xfrm rot="18836568">
            <a:off x="396365" y="2298190"/>
            <a:ext cx="1352550" cy="41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rmdir命令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943725" y="2510790"/>
            <a:ext cx="4730115" cy="635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矩形 49"/>
          <p:cNvSpPr/>
          <p:nvPr/>
        </p:nvSpPr>
        <p:spPr>
          <a:xfrm>
            <a:off x="751840" y="5453380"/>
            <a:ext cx="6008370" cy="749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-p：</a:t>
            </a:r>
            <a:r>
              <a:rPr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递归删除目录，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当子目录被删除后父目录为空时，也一同被删除。如果是非空目录，则保留下来。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6151320" y="1385973"/>
            <a:ext cx="792480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421640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3.4.2  创建和删除目录的命令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8520" y="3728720"/>
            <a:ext cx="5970270" cy="581660"/>
            <a:chOff x="1352" y="5872"/>
            <a:chExt cx="9402" cy="916"/>
          </a:xfrm>
        </p:grpSpPr>
        <p:sp>
          <p:nvSpPr>
            <p:cNvPr id="3" name="流程图: 过程 2"/>
            <p:cNvSpPr/>
            <p:nvPr/>
          </p:nvSpPr>
          <p:spPr>
            <a:xfrm>
              <a:off x="6028" y="5941"/>
              <a:ext cx="4556" cy="847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352" y="5872"/>
              <a:ext cx="9402" cy="864"/>
              <a:chOff x="1352" y="5872"/>
              <a:chExt cx="9402" cy="864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1352" y="5872"/>
                <a:ext cx="4843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rmdir命令的一般格式：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6621" y="5872"/>
                <a:ext cx="4133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rmdir [选项] 目录名 </a:t>
                </a:r>
              </a:p>
            </p:txBody>
          </p:sp>
        </p:grpSp>
      </p:grpSp>
      <p:grpSp>
        <p:nvGrpSpPr>
          <p:cNvPr id="10" name="组合 14"/>
          <p:cNvGrpSpPr/>
          <p:nvPr/>
        </p:nvGrpSpPr>
        <p:grpSpPr bwMode="auto">
          <a:xfrm>
            <a:off x="7125970" y="2792730"/>
            <a:ext cx="4591685" cy="3150235"/>
            <a:chOff x="1166778" y="1786456"/>
            <a:chExt cx="10051707" cy="1713982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166778" y="1786456"/>
              <a:ext cx="10051707" cy="1713982"/>
              <a:chOff x="1166778" y="1786456"/>
              <a:chExt cx="10051707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371553" y="1816871"/>
                <a:ext cx="9846932" cy="3945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zh-CN" altLang="en-US" sz="2000" b="1" dirty="0">
                    <a:solidFill>
                      <a:srgbClr val="FF0000"/>
                    </a:solidFill>
                    <a:sym typeface="+mn-ea"/>
                  </a:rPr>
                  <a:t>【例3-26】</a:t>
                </a:r>
                <a:r>
                  <a:rPr lang="zh-CN" altLang="en-US" sz="2000" b="1" dirty="0">
                    <a:solidFill>
                      <a:srgbClr val="009900"/>
                    </a:solidFill>
                    <a:sym typeface="+mn-ea"/>
                  </a:rPr>
                  <a:t>删除子目录bak和其父目录bin。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6860" y="2233522"/>
              <a:ext cx="9556944" cy="126657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/root]#cd  /usr/studentL</a:t>
              </a:r>
            </a:p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/root]#rmdir  -p  /bin/bak </a:t>
              </a:r>
            </a:p>
          </p:txBody>
        </p:sp>
      </p:grp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797560" y="4869815"/>
            <a:ext cx="199263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1210310" y="2258695"/>
            <a:ext cx="5266690" cy="132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当目录不再被使用时或者磁盘空间已到达使用限定值时，就需要从文件系统中删除失去使用价值的目录。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7219315" y="1953895"/>
            <a:ext cx="3792855" cy="46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1800" b="1" dirty="0">
                <a:solidFill>
                  <a:srgbClr val="D24726"/>
                </a:solidFill>
                <a:sym typeface="+mn-ea"/>
              </a:rPr>
              <a:t>例题如下：</a:t>
            </a:r>
            <a:endParaRPr lang="zh-CN" altLang="en-US" sz="1800" b="1" dirty="0">
              <a:solidFill>
                <a:srgbClr val="D2472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4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50" grpId="0"/>
      <p:bldP spid="14" grpId="0" animBg="1"/>
      <p:bldP spid="9" grpId="0" animBg="1"/>
      <p:bldP spid="4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640969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3.4.3  改变工作目录和显示目录内容命令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458784" y="5722681"/>
            <a:ext cx="11493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1．cd命令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70560" y="2101215"/>
            <a:ext cx="10323830" cy="1285875"/>
            <a:chOff x="1056" y="3309"/>
            <a:chExt cx="16258" cy="2025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895" y="3488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cd命令的一般格式：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848" y="3309"/>
              <a:ext cx="4323" cy="1084"/>
              <a:chOff x="2852" y="4753"/>
              <a:chExt cx="4323" cy="1084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164" y="4753"/>
                <a:ext cx="4011" cy="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cd [目录名]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056" y="4470"/>
              <a:ext cx="16258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该命令用来改变工作目录。</a:t>
              </a:r>
              <a:r>
                <a:rPr lang="zh-CN" altLang="en-US" sz="2000" dirty="0">
                  <a:solidFill>
                    <a:srgbClr val="FF0000"/>
                  </a:solidFill>
                </a:rPr>
                <a:t>当不带任何参数时，返回到用户的主目录。</a:t>
              </a: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975360" y="3580765"/>
            <a:ext cx="6738620" cy="1044575"/>
            <a:chOff x="935866" y="1786456"/>
            <a:chExt cx="9960074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6897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27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将当前目录改到/usr/li。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40474" y="2548778"/>
              <a:ext cx="9653163" cy="75060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/root]#cd  /usr/li</a:t>
              </a:r>
            </a:p>
          </p:txBody>
        </p:sp>
      </p:grpSp>
      <p:grpSp>
        <p:nvGrpSpPr>
          <p:cNvPr id="18" name="组合 14"/>
          <p:cNvGrpSpPr/>
          <p:nvPr/>
        </p:nvGrpSpPr>
        <p:grpSpPr bwMode="auto">
          <a:xfrm>
            <a:off x="2341245" y="4502785"/>
            <a:ext cx="6738620" cy="1044575"/>
            <a:chOff x="935866" y="1786456"/>
            <a:chExt cx="9960074" cy="1713982"/>
          </a:xfrm>
        </p:grpSpPr>
        <p:grpSp>
          <p:nvGrpSpPr>
            <p:cNvPr id="19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1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6897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28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将当前目录改到用户主目录。</a:t>
                </a:r>
              </a:p>
            </p:txBody>
          </p:sp>
        </p:grpSp>
        <p:sp>
          <p:nvSpPr>
            <p:cNvPr id="24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40474" y="2548778"/>
              <a:ext cx="9653163" cy="75060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/root]#cd</a:t>
              </a:r>
            </a:p>
          </p:txBody>
        </p:sp>
      </p:grpSp>
      <p:grpSp>
        <p:nvGrpSpPr>
          <p:cNvPr id="25" name="组合 14"/>
          <p:cNvGrpSpPr/>
          <p:nvPr/>
        </p:nvGrpSpPr>
        <p:grpSpPr bwMode="auto">
          <a:xfrm>
            <a:off x="3422015" y="5454650"/>
            <a:ext cx="6738620" cy="1044575"/>
            <a:chOff x="935866" y="1786456"/>
            <a:chExt cx="9960074" cy="1713982"/>
          </a:xfrm>
        </p:grpSpPr>
        <p:grpSp>
          <p:nvGrpSpPr>
            <p:cNvPr id="26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8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6897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29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将当前目录向上移动两级。</a:t>
                </a:r>
              </a:p>
            </p:txBody>
          </p:sp>
        </p:grpSp>
        <p:sp>
          <p:nvSpPr>
            <p:cNvPr id="2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40474" y="2548778"/>
              <a:ext cx="9653163" cy="75060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[root@localhost/home/studentL]#cd  ../..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640969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3.4.3  改变工作目录和显示目录内容命令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59105" y="174117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382584" y="5736016"/>
            <a:ext cx="14027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pwd命令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2．pwd命令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618490" y="2483485"/>
            <a:ext cx="541274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pwd命令不带任何选项或参数，用于显示</a:t>
            </a:r>
            <a:r>
              <a:rPr lang="zh-CN" altLang="en-US" sz="2000" dirty="0">
                <a:solidFill>
                  <a:srgbClr val="FF0000"/>
                </a:solidFill>
              </a:rPr>
              <a:t>当前工作目录的</a:t>
            </a:r>
            <a:r>
              <a:rPr lang="zh-CN" altLang="en-US" sz="2000" b="1" dirty="0">
                <a:solidFill>
                  <a:srgbClr val="FF0000"/>
                </a:solidFill>
              </a:rPr>
              <a:t>绝对路径</a:t>
            </a:r>
            <a:r>
              <a:rPr lang="zh-CN" altLang="en-US" sz="2000" dirty="0">
                <a:solidFill>
                  <a:srgbClr val="FF0000"/>
                </a:solidFill>
              </a:rPr>
              <a:t>。</a:t>
            </a:r>
          </a:p>
        </p:txBody>
      </p:sp>
      <p:grpSp>
        <p:nvGrpSpPr>
          <p:cNvPr id="11" name="组合 14"/>
          <p:cNvGrpSpPr/>
          <p:nvPr/>
        </p:nvGrpSpPr>
        <p:grpSpPr bwMode="auto">
          <a:xfrm>
            <a:off x="1106805" y="3843020"/>
            <a:ext cx="4721225" cy="1269365"/>
            <a:chOff x="935866" y="1786456"/>
            <a:chExt cx="9960074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5676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27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显示当前工作目录。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40431" y="2355783"/>
              <a:ext cx="9652844" cy="105719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[root@localhost/root]#pwd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/root</a:t>
              </a:r>
            </a:p>
          </p:txBody>
        </p:sp>
      </p:grpSp>
      <p:pic>
        <p:nvPicPr>
          <p:cNvPr id="3" name="图片 2" descr="pwd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37400" y="2403475"/>
            <a:ext cx="4464685" cy="27666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604012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3.4.3  改变工作目录和显示目录内容命令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7360" y="4970145"/>
            <a:ext cx="1559560" cy="15779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471484" y="5722681"/>
            <a:ext cx="10477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ls命令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3．ls命令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387600" y="1725930"/>
            <a:ext cx="5431155" cy="595630"/>
            <a:chOff x="3760" y="2718"/>
            <a:chExt cx="8553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760" y="2733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ls命令的一般格式：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577" y="2718"/>
              <a:ext cx="4736" cy="938"/>
              <a:chOff x="2852" y="4899"/>
              <a:chExt cx="4616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4512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ls [选项] [目录或文件]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01675" y="2378710"/>
            <a:ext cx="10323830" cy="100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该命令列出指定目录的内容，在默认情况下，输出条目按字母顺序排列。如果没有给出参数，则将显示当前目录下所有子目录和文件的信息。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45770" y="3641090"/>
            <a:ext cx="11243310" cy="465455"/>
            <a:chOff x="702" y="5734"/>
            <a:chExt cx="17706" cy="73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02" y="6455"/>
              <a:ext cx="8196" cy="12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>
              <a:off x="8898" y="5740"/>
              <a:ext cx="0" cy="727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 flipV="1">
              <a:off x="8898" y="5734"/>
              <a:ext cx="9510" cy="6"/>
            </a:xfrm>
            <a:prstGeom prst="line">
              <a:avLst/>
            </a:prstGeom>
            <a:solidFill>
              <a:schemeClr val="bg2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组合 14"/>
          <p:cNvGrpSpPr/>
          <p:nvPr/>
        </p:nvGrpSpPr>
        <p:grpSpPr bwMode="auto">
          <a:xfrm>
            <a:off x="1920240" y="4516120"/>
            <a:ext cx="4018280" cy="1369695"/>
            <a:chOff x="1166778" y="1714488"/>
            <a:chExt cx="9858444" cy="1785950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9770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31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列出当前目录的内容，并按修改时间排序。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28800" y="2625263"/>
              <a:ext cx="9565557" cy="74269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[root@localhost/root]#ls  -c</a:t>
              </a:r>
            </a:p>
          </p:txBody>
        </p:sp>
      </p:grpSp>
      <p:grpSp>
        <p:nvGrpSpPr>
          <p:cNvPr id="5" name="组合 14"/>
          <p:cNvGrpSpPr/>
          <p:nvPr/>
        </p:nvGrpSpPr>
        <p:grpSpPr bwMode="auto">
          <a:xfrm>
            <a:off x="6269990" y="3964940"/>
            <a:ext cx="4493260" cy="1249680"/>
            <a:chOff x="1166778" y="1714488"/>
            <a:chExt cx="9858444" cy="1785950"/>
          </a:xfrm>
        </p:grpSpPr>
        <p:grpSp>
          <p:nvGrpSpPr>
            <p:cNvPr id="25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7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10708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32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以长格式列出当前目录的内容，包括隐藏文件和它们的I节点号。</a:t>
                </a:r>
              </a:p>
            </p:txBody>
          </p:sp>
        </p:grpSp>
        <p:sp>
          <p:nvSpPr>
            <p:cNvPr id="2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28392" y="2715341"/>
              <a:ext cx="9565867" cy="67619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/root]#ls  -lai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604012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3.4.3  改变工作目录和显示目录内容命令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7360" y="4970145"/>
            <a:ext cx="1559560" cy="15779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471484" y="5722681"/>
            <a:ext cx="104775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ls命令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3．ls命令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387600" y="1725930"/>
            <a:ext cx="5431155" cy="595630"/>
            <a:chOff x="3760" y="2718"/>
            <a:chExt cx="8553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760" y="2733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ls命令的一般格式：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577" y="2718"/>
              <a:ext cx="4736" cy="938"/>
              <a:chOff x="2852" y="4899"/>
              <a:chExt cx="4616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956" y="4899"/>
                <a:ext cx="4512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ls [选项] [目录或文件]</a:t>
                </a: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797560" y="2419350"/>
            <a:ext cx="10595610" cy="3460115"/>
            <a:chOff x="797560" y="2419350"/>
            <a:chExt cx="10595610" cy="3460115"/>
          </a:xfrm>
        </p:grpSpPr>
        <p:sp>
          <p:nvSpPr>
            <p:cNvPr id="29" name="矩形 28"/>
            <p:cNvSpPr/>
            <p:nvPr/>
          </p:nvSpPr>
          <p:spPr>
            <a:xfrm>
              <a:off x="1884680" y="4446905"/>
              <a:ext cx="9508490" cy="143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-l：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以长格式显示文件的详细信息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。输出的信息分成多列，依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次是：文件类型与权限、链接数、文件主、文件组、文件大小、建立或最近修改的时间、文件名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797560" y="2419350"/>
              <a:ext cx="7665085" cy="3383280"/>
              <a:chOff x="1256" y="3810"/>
              <a:chExt cx="12071" cy="5328"/>
            </a:xfrm>
          </p:grpSpPr>
          <p:sp>
            <p:nvSpPr>
              <p:cNvPr id="49" name="Text Box 44"/>
              <p:cNvSpPr txBox="1">
                <a:spLocks noChangeArrowheads="1"/>
              </p:cNvSpPr>
              <p:nvPr/>
            </p:nvSpPr>
            <p:spPr bwMode="auto">
              <a:xfrm>
                <a:off x="1256" y="4452"/>
                <a:ext cx="997" cy="33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>
                  <a:lnSpc>
                    <a:spcPct val="95000"/>
                  </a:lnSpc>
                </a:pPr>
                <a:r>
                  <a:rPr lang="zh-CN" altLang="en-US" sz="2000" b="1" dirty="0">
                    <a:solidFill>
                      <a:srgbClr val="D24726"/>
                    </a:solidFill>
                  </a:rPr>
                  <a:t>选项的含义如下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2967" y="3810"/>
                <a:ext cx="10360" cy="3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-a：</a:t>
                </a:r>
                <a:r>
                  <a:rPr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显示所有的文件，包括以“.”开头的文件。</a:t>
                </a:r>
                <a:endPara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-c：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按文件修改时间排序。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-i：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在输出的第一列显示文件的I节点号。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-r：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按逆序显示ls命令的输出结果。</a:t>
                </a:r>
              </a:p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-R：</a:t>
                </a:r>
                <a:r>
                  <a:rPr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递归地显示指定目录的各个子目录中的文件。</a:t>
                </a:r>
              </a:p>
            </p:txBody>
          </p:sp>
          <p:sp>
            <p:nvSpPr>
              <p:cNvPr id="3" name="左大括号 2"/>
              <p:cNvSpPr/>
              <p:nvPr/>
            </p:nvSpPr>
            <p:spPr>
              <a:xfrm>
                <a:off x="2384" y="3996"/>
                <a:ext cx="503" cy="5143"/>
              </a:xfrm>
              <a:prstGeom prst="leftBrace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de-DE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332994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3.4.4  链接文件的命令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MH_Text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1190" y="2040890"/>
            <a:ext cx="6577965" cy="412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链接文件命令是</a:t>
            </a:r>
            <a:r>
              <a:rPr altLang="en-US" sz="20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ln命令</a:t>
            </a: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。该命令在文件之间创建链接。这种</a:t>
            </a:r>
            <a:r>
              <a:rPr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操作实际上是给系统中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已有的</a:t>
            </a:r>
            <a:r>
              <a:rPr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某个文件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指定另外一个</a:t>
            </a:r>
            <a:r>
              <a:rPr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可用于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访问的名称</a:t>
            </a: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。对于这个新文件名，可以为之指定不同的访问权限，以控制对信息的共享和安全性的问题。</a:t>
            </a:r>
          </a:p>
          <a:p>
            <a:pPr indent="457200" algn="just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链接有两种：一种称为</a:t>
            </a:r>
            <a:r>
              <a:rPr altLang="en-US" sz="20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硬链接</a:t>
            </a: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；另一种称为</a:t>
            </a:r>
            <a:r>
              <a:rPr altLang="en-US" sz="20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符号链接</a:t>
            </a: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建立硬链接时</a:t>
            </a:r>
            <a:r>
              <a:rPr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，链接文件和被链接文件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必须位于同一个文件系统中</a:t>
            </a:r>
            <a:r>
              <a:rPr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并且不能建立指向目录的硬链接</a:t>
            </a:r>
            <a:r>
              <a:rPr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。而对符号链接，则不存在这个问题。</a:t>
            </a:r>
          </a:p>
          <a:p>
            <a:pPr algn="just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sz="1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 descr="688673f7a2a878b6dd4b848eb5c34209_看图王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20000" y="2506345"/>
            <a:ext cx="4128135" cy="2974340"/>
          </a:xfrm>
          <a:prstGeom prst="rect">
            <a:avLst/>
          </a:prstGeom>
        </p:spPr>
      </p:pic>
      <p:sp>
        <p:nvSpPr>
          <p:cNvPr id="4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5160" y="1537970"/>
            <a:ext cx="2146935" cy="78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※ </a:t>
            </a:r>
            <a:r>
              <a:rPr altLang="en-US" sz="24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ln命令</a:t>
            </a:r>
            <a:endParaRPr lang="zh-CN" altLang="en-US" sz="2400" b="1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332994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3.4.4  链接文件的命令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3425" y="1842770"/>
            <a:ext cx="5981065" cy="548640"/>
            <a:chOff x="1155" y="2902"/>
            <a:chExt cx="9419" cy="864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155" y="2950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ln命令的一般格式：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036" y="2902"/>
              <a:ext cx="5538" cy="864"/>
              <a:chOff x="2852" y="4835"/>
              <a:chExt cx="5538" cy="864"/>
            </a:xfrm>
          </p:grpSpPr>
          <p:sp>
            <p:nvSpPr>
              <p:cNvPr id="5" name="流程图: 过程 4"/>
              <p:cNvSpPr/>
              <p:nvPr/>
            </p:nvSpPr>
            <p:spPr>
              <a:xfrm>
                <a:off x="2852" y="4962"/>
                <a:ext cx="5441" cy="718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196" y="4835"/>
                <a:ext cx="5194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ln [选项] 源文件 [目标]</a:t>
                </a:r>
              </a:p>
            </p:txBody>
          </p:sp>
        </p:grpSp>
      </p:grpSp>
      <p:grpSp>
        <p:nvGrpSpPr>
          <p:cNvPr id="7" name="组合 14"/>
          <p:cNvGrpSpPr/>
          <p:nvPr/>
        </p:nvGrpSpPr>
        <p:grpSpPr bwMode="auto">
          <a:xfrm>
            <a:off x="891540" y="5297805"/>
            <a:ext cx="9108440" cy="1012825"/>
            <a:chOff x="1166778" y="1714488"/>
            <a:chExt cx="9858444" cy="1785950"/>
          </a:xfrm>
        </p:grpSpPr>
        <p:grpSp>
          <p:nvGrpSpPr>
            <p:cNvPr id="25" name="组合 12"/>
            <p:cNvGrpSpPr/>
            <p:nvPr/>
          </p:nvGrpSpPr>
          <p:grpSpPr bwMode="auto">
            <a:xfrm>
              <a:off x="1166778" y="1714488"/>
              <a:ext cx="9858444" cy="1785950"/>
              <a:chOff x="1166778" y="1714488"/>
              <a:chExt cx="9858444" cy="178595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7" name="矩形 6"/>
              <p:cNvSpPr>
                <a:spLocks noChangeArrowheads="1"/>
              </p:cNvSpPr>
              <p:nvPr/>
            </p:nvSpPr>
            <p:spPr bwMode="auto">
              <a:xfrm>
                <a:off x="1166778" y="1714488"/>
                <a:ext cx="9858444" cy="7412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33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将目录/usr/studentL下的文件m1.c链接到目录/usr/li下的文件a2.c。</a:t>
                </a:r>
              </a:p>
            </p:txBody>
          </p:sp>
        </p:grpSp>
        <p:sp>
          <p:nvSpPr>
            <p:cNvPr id="2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30694" y="2522923"/>
              <a:ext cx="9711365" cy="849866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/root]#ls  -lai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22300" y="2498090"/>
            <a:ext cx="7071360" cy="2599055"/>
            <a:chOff x="980" y="3934"/>
            <a:chExt cx="11136" cy="4093"/>
          </a:xfrm>
        </p:grpSpPr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980" y="3934"/>
              <a:ext cx="10677" cy="3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FF0000"/>
                  </a:solidFill>
                </a:rPr>
                <a:t>链接的对象可以是文件，也可以是目录</a:t>
              </a: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。如果链接指向目录，那么用户就可以利用该链接直接进入被链接的目录，而不用给出到达该目录的一长串路径。</a:t>
              </a:r>
              <a:r>
                <a:rPr lang="zh-CN" altLang="en-US" sz="2000" dirty="0">
                  <a:solidFill>
                    <a:srgbClr val="FF0000"/>
                  </a:solidFill>
                </a:rPr>
                <a:t>在默认情况下，ln创建的链接是硬链接。</a:t>
              </a: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980" y="7106"/>
              <a:ext cx="4184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5036" y="7211"/>
              <a:ext cx="7080" cy="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建立符号链接，而不是硬链接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pic>
        <p:nvPicPr>
          <p:cNvPr id="8" name="图片 7" descr="688673f7a2a878b6dd4b848eb5c34209_看图王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84795" y="1725930"/>
            <a:ext cx="3863340" cy="27838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473710" y="5751830"/>
            <a:ext cx="756285" cy="63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对角圆角矩形 1"/>
          <p:cNvSpPr/>
          <p:nvPr/>
        </p:nvSpPr>
        <p:spPr bwMode="auto">
          <a:xfrm>
            <a:off x="1223696" y="5533990"/>
            <a:ext cx="1276350" cy="431800"/>
          </a:xfrm>
          <a:prstGeom prst="round2DiagRect">
            <a:avLst>
              <a:gd name="adj1" fmla="val 16667"/>
              <a:gd name="adj2" fmla="val 50000"/>
            </a:avLst>
          </a:prstGeom>
          <a:noFill/>
          <a:ln w="12700" cap="rnd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2499995" y="5747385"/>
            <a:ext cx="3638550" cy="444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895985" y="2348230"/>
            <a:ext cx="5249545" cy="283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720725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Linux系统为每个文件都分配了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一个文件所有者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。对文件的控制取决于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文件主和超级用户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。文件或目录的创建者对创建的文件或目录拥有特别的使用权，而且这种所有关系是可以改变的。也就是说，可以将文件或目录的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转让给其他用户。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119495" y="1981835"/>
            <a:ext cx="26035" cy="37623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auto">
          <a:xfrm flipV="1">
            <a:off x="6099175" y="1988820"/>
            <a:ext cx="3741420" cy="1143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对角圆角矩形 6"/>
          <p:cNvSpPr/>
          <p:nvPr/>
        </p:nvSpPr>
        <p:spPr bwMode="auto">
          <a:xfrm>
            <a:off x="9840416" y="1772816"/>
            <a:ext cx="1276350" cy="431800"/>
          </a:xfrm>
          <a:prstGeom prst="round2DiagRect">
            <a:avLst>
              <a:gd name="adj1" fmla="val 16667"/>
              <a:gd name="adj2" fmla="val 50000"/>
            </a:avLst>
          </a:prstGeom>
          <a:noFill/>
          <a:ln w="12700" cap="rnd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11116945" y="1981835"/>
            <a:ext cx="639445" cy="698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398260" y="2204720"/>
            <a:ext cx="4972050" cy="94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40000"/>
              </a:lnSpc>
            </a:pP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如果改变文件或目录的所有权，则原文件主将不再拥有该文件或目录的权限。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42671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98260" y="3314065"/>
            <a:ext cx="4971415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40000"/>
              </a:lnSpc>
            </a:pPr>
            <a:r>
              <a:rPr lang="zh-CN" altLang="en-US" sz="20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用户组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是由多个用户组成的。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属于同一用户组的用户具有用户组所拥有的一切权限。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如果一个文件属于一个用户组，则这个用户组内的全部成员对这个文件拥有相同的权限。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/>
      <p:bldP spid="4" grpId="1"/>
      <p:bldP spid="7" grpId="0" bldLvl="0" animBg="1"/>
      <p:bldP spid="15" grpId="0"/>
      <p:bldP spid="1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3"/>
          <p:cNvSpPr>
            <a:spLocks noChangeArrowheads="1"/>
          </p:cNvSpPr>
          <p:nvPr/>
        </p:nvSpPr>
        <p:spPr bwMode="gray">
          <a:xfrm>
            <a:off x="473710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080375" y="1981835"/>
            <a:ext cx="17780" cy="428117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auto">
          <a:xfrm flipV="1">
            <a:off x="2431717" y="1964987"/>
            <a:ext cx="5642240" cy="1684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对角圆角矩形 6"/>
          <p:cNvSpPr/>
          <p:nvPr/>
        </p:nvSpPr>
        <p:spPr bwMode="auto">
          <a:xfrm>
            <a:off x="1137408" y="1769641"/>
            <a:ext cx="1276350" cy="431800"/>
          </a:xfrm>
          <a:prstGeom prst="round2DiagRect">
            <a:avLst>
              <a:gd name="adj1" fmla="val 16667"/>
              <a:gd name="adj2" fmla="val 50000"/>
            </a:avLst>
          </a:prstGeom>
          <a:noFill/>
          <a:ln w="12700" cap="rnd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498142" y="1988820"/>
            <a:ext cx="639445" cy="698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97560" y="2651760"/>
            <a:ext cx="6903085" cy="3709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 fontAlgn="auto">
              <a:lnSpc>
                <a:spcPct val="140000"/>
              </a:lnSpc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Linux系统中的每个文件和目录都有</a:t>
            </a:r>
            <a:r>
              <a:rPr lang="zh-CN" altLang="en-US" sz="24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存取许可权限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，可用它来确定用户通过何种方式对文件、目录的访问与操作。</a:t>
            </a:r>
          </a:p>
          <a:p>
            <a:pPr indent="457200" fontAlgn="auto">
              <a:lnSpc>
                <a:spcPct val="140000"/>
              </a:lnSpc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Linux系统规定了4种不同类型的用户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文件主、同组用户、其他用户和超级用户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</a:p>
          <a:p>
            <a:pPr indent="457200" fontAlgn="auto">
              <a:lnSpc>
                <a:spcPct val="140000"/>
              </a:lnSpc>
            </a:pPr>
            <a:r>
              <a:rPr lang="zh-CN" altLang="en-US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规定了3种访问文件或目录的权限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读、写和可执行（查找）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42671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pic>
        <p:nvPicPr>
          <p:cNvPr id="10" name="图片 9" descr="42fff914cef0f5e5599ae4c599953e5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1565" y="2420620"/>
            <a:ext cx="2853690" cy="34277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621155" y="1778000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715" y="4759167"/>
            <a:ext cx="1975575" cy="2278615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617410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188916" y="5908736"/>
            <a:ext cx="2060575" cy="552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chmod命令</a:t>
            </a:r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1997075" y="1838325"/>
            <a:ext cx="3298825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0070C0"/>
                </a:solidFill>
              </a:rPr>
              <a:t>chmod命令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的一般格式：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440680" y="1837055"/>
            <a:ext cx="4323715" cy="551815"/>
            <a:chOff x="2852" y="4811"/>
            <a:chExt cx="5441" cy="869"/>
          </a:xfrm>
        </p:grpSpPr>
        <p:sp>
          <p:nvSpPr>
            <p:cNvPr id="5" name="流程图: 过程 4"/>
            <p:cNvSpPr/>
            <p:nvPr/>
          </p:nvSpPr>
          <p:spPr>
            <a:xfrm>
              <a:off x="2852" y="4962"/>
              <a:ext cx="5441" cy="718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150" y="4811"/>
              <a:ext cx="4859" cy="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chmod [选项] 文件和目录列表</a:t>
              </a:r>
            </a:p>
          </p:txBody>
        </p:sp>
      </p:grp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1859915" y="2877820"/>
            <a:ext cx="265684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2012315" y="2406015"/>
            <a:ext cx="610171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该命名改变或设置文件或目录的存取权限。</a:t>
            </a:r>
          </a:p>
        </p:txBody>
      </p:sp>
      <p:sp>
        <p:nvSpPr>
          <p:cNvPr id="3" name="Text Box 44"/>
          <p:cNvSpPr txBox="1">
            <a:spLocks noChangeArrowheads="1"/>
          </p:cNvSpPr>
          <p:nvPr/>
        </p:nvSpPr>
        <p:spPr bwMode="auto">
          <a:xfrm>
            <a:off x="3871595" y="2908300"/>
            <a:ext cx="914908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根据表示权限的方式不同，该命令支持以下</a:t>
            </a:r>
            <a:r>
              <a:rPr lang="zh-CN" altLang="en-US" sz="2000" b="1" dirty="0">
                <a:solidFill>
                  <a:srgbClr val="0070C0"/>
                </a:solidFill>
              </a:rPr>
              <a:t>两种设定权限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的方法。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14195" y="3430270"/>
            <a:ext cx="9571990" cy="292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6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（1）使用字符模式设置权限</a:t>
            </a:r>
          </a:p>
          <a:p>
            <a:pPr indent="457200" fontAlgn="auto">
              <a:lnSpc>
                <a:spcPct val="160000"/>
              </a:lnSpc>
            </a:pP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在这种模式下，</a:t>
            </a: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u、g、o和a</a:t>
            </a: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来表示不同用户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。其中，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表示文件主，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表示同组用户，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表示其他用户，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表示所有用户。</a:t>
            </a:r>
          </a:p>
          <a:p>
            <a:pPr indent="457200" fontAlgn="auto">
              <a:lnSpc>
                <a:spcPct val="160000"/>
              </a:lnSpc>
            </a:pP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r、w、x</a:t>
            </a: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来表示权限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表示文件可读，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表示可以写，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表示可以执行。</a:t>
            </a:r>
          </a:p>
          <a:p>
            <a:pPr indent="457200" fontAlgn="auto">
              <a:lnSpc>
                <a:spcPct val="160000"/>
              </a:lnSpc>
            </a:pP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对文件权限的设置通过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+、−和=</a:t>
            </a:r>
            <a:r>
              <a:rPr lang="zh-CN" altLang="en-US" sz="19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来完成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。其中，+表示在原有权限上添加某个权限，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−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表示在原有权限上取消某权限；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赋予给定权限并取消以前所有权限。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45" grpId="0" bldLvl="0" animBg="1"/>
      <p:bldP spid="49" grpId="0" animBg="1"/>
      <p:bldP spid="46" grpId="0" bldLvl="0" animBg="1"/>
      <p:bldP spid="3" grpId="0" bldLvl="0" animBg="1"/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641475" y="1776095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715" y="4759167"/>
            <a:ext cx="1975575" cy="2278615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188916" y="5908736"/>
            <a:ext cx="2060575" cy="552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chmod命令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1815465" y="1758315"/>
            <a:ext cx="265684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15465" y="2373630"/>
            <a:ext cx="9124315" cy="196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6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）使用八进制设置权限</a:t>
            </a:r>
            <a:endParaRPr lang="zh-CN" altLang="en-US" sz="19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60000"/>
              </a:lnSpc>
            </a:pP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文件和目录的权限还可用</a:t>
            </a:r>
            <a:r>
              <a:rPr lang="zh-CN" altLang="en-US" sz="19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八进制数字模式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来表示。</a:t>
            </a:r>
            <a:r>
              <a:rPr lang="zh-CN" altLang="en-US" sz="19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3个八进制数字分别代表</a:t>
            </a:r>
            <a:r>
              <a:rPr lang="zh-CN" altLang="en-US" sz="19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ugo</a:t>
            </a:r>
            <a:r>
              <a:rPr lang="zh-CN" altLang="en-US" sz="19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的权限，读、写、执行权限所对应的数值分别是4、2和1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。若要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rwx属性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，则4+2+1=7；若要rw−属性，则4+2+0=6；若要</a:t>
            </a:r>
            <a:r>
              <a:rPr lang="zh-CN" altLang="en-US" sz="19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r−x属性</a:t>
            </a:r>
            <a:r>
              <a:rPr lang="zh-CN" altLang="en-US" sz="19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，则4+0+1=5。</a:t>
            </a:r>
          </a:p>
        </p:txBody>
      </p:sp>
      <p:grpSp>
        <p:nvGrpSpPr>
          <p:cNvPr id="35" name="组合 14"/>
          <p:cNvGrpSpPr/>
          <p:nvPr/>
        </p:nvGrpSpPr>
        <p:grpSpPr bwMode="auto">
          <a:xfrm>
            <a:off x="2439670" y="4675505"/>
            <a:ext cx="7377570" cy="1396365"/>
            <a:chOff x="1166776" y="1786456"/>
            <a:chExt cx="9858446" cy="1713982"/>
          </a:xfrm>
        </p:grpSpPr>
        <p:grpSp>
          <p:nvGrpSpPr>
            <p:cNvPr id="36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8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5159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34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将文件ex1的权限改为所有用户都可执行权限。</a:t>
                </a:r>
              </a:p>
            </p:txBody>
          </p:sp>
        </p:grpSp>
        <p:sp>
          <p:nvSpPr>
            <p:cNvPr id="3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6" y="2379443"/>
              <a:ext cx="9711367" cy="1075780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[studentL@localhost studentL]#</a:t>
              </a:r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chmod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</a:t>
              </a:r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a+x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ex1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9" grpId="0" animBg="1"/>
      <p:bldP spid="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715" y="4759167"/>
            <a:ext cx="1975575" cy="2278615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617410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188916" y="5908736"/>
            <a:ext cx="2060575" cy="552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chmod命令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55" y="1550670"/>
            <a:ext cx="8069580" cy="35966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995" y="4960620"/>
            <a:ext cx="8041005" cy="19754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519555" y="1791335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715" y="4759167"/>
            <a:ext cx="1975575" cy="2278615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854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188916" y="5908736"/>
            <a:ext cx="2060575" cy="552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chmod命令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984574" y="3054486"/>
            <a:ext cx="4620503" cy="3258766"/>
            <a:chOff x="2657" y="5800"/>
            <a:chExt cx="9230" cy="4595"/>
          </a:xfrm>
        </p:grpSpPr>
        <p:grpSp>
          <p:nvGrpSpPr>
            <p:cNvPr id="11" name="组合 14"/>
            <p:cNvGrpSpPr/>
            <p:nvPr/>
          </p:nvGrpSpPr>
          <p:grpSpPr bwMode="auto">
            <a:xfrm>
              <a:off x="2657" y="5800"/>
              <a:ext cx="9230" cy="4595"/>
              <a:chOff x="935866" y="1786456"/>
              <a:chExt cx="9960074" cy="1713982"/>
            </a:xfrm>
          </p:grpSpPr>
          <p:grpSp>
            <p:nvGrpSpPr>
              <p:cNvPr id="12" name="组合 12"/>
              <p:cNvGrpSpPr/>
              <p:nvPr/>
            </p:nvGrpSpPr>
            <p:grpSpPr bwMode="auto">
              <a:xfrm>
                <a:off x="935866" y="1786456"/>
                <a:ext cx="9960074" cy="1713982"/>
                <a:chOff x="935866" y="1786456"/>
                <a:chExt cx="9960074" cy="1713982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1037496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5" name="矩形 6"/>
                <p:cNvSpPr>
                  <a:spLocks noChangeArrowheads="1"/>
                </p:cNvSpPr>
                <p:nvPr/>
              </p:nvSpPr>
              <p:spPr bwMode="auto">
                <a:xfrm>
                  <a:off x="935866" y="1787887"/>
                  <a:ext cx="9858444" cy="5070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【例3-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35</a:t>
                  </a:r>
                  <a:r>
                    <a: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】</a:t>
                  </a:r>
                  <a:r>
                    <a:rPr lang="zh-CN" altLang="en-US" sz="1800" b="1" dirty="0">
                      <a:solidFill>
                        <a:srgbClr val="0099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将文件ex1的权限重新设置为文件主可以读和执行，组用户可以执行，其他用户无权访问。</a:t>
                  </a:r>
                </a:p>
              </p:txBody>
            </p:sp>
          </p:grpSp>
          <p:sp>
            <p:nvSpPr>
              <p:cNvPr id="4" name="MH_Text_1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139816" y="2273685"/>
                <a:ext cx="9653610" cy="589058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algn="l" eaLnBrk="1" fontAlgn="auto" latinLnBrk="0" hangingPunct="1">
                  <a:lnSpc>
                    <a:spcPct val="13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采用字符模式：</a:t>
                </a:r>
              </a:p>
              <a:p>
                <a:pPr indent="0" algn="l" eaLnBrk="1" fontAlgn="auto" latinLnBrk="0" hangingPunct="1">
                  <a:lnSpc>
                    <a:spcPct val="13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[root@localhost/root]#chmod  u=r,ug=x  ex1</a:t>
                </a:r>
              </a:p>
            </p:txBody>
          </p:sp>
        </p:grpSp>
        <p:sp>
          <p:nvSpPr>
            <p:cNvPr id="8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21" y="8828"/>
              <a:ext cx="8946" cy="1373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采用八进制模式：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[root@localhost/root]#chmod  510  ex1 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896910" y="3024329"/>
            <a:ext cx="4760649" cy="3278994"/>
            <a:chOff x="5260" y="2968"/>
            <a:chExt cx="7992" cy="4484"/>
          </a:xfrm>
        </p:grpSpPr>
        <p:grpSp>
          <p:nvGrpSpPr>
            <p:cNvPr id="30" name="组合 12"/>
            <p:cNvGrpSpPr/>
            <p:nvPr/>
          </p:nvGrpSpPr>
          <p:grpSpPr bwMode="auto">
            <a:xfrm>
              <a:off x="5260" y="2968"/>
              <a:ext cx="7992" cy="4484"/>
              <a:chOff x="1166778" y="1786456"/>
              <a:chExt cx="9858444" cy="1638798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166778" y="1786456"/>
                <a:ext cx="9858444" cy="163879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2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3744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36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将文件ex1的文件主和同组用户具有读写权限，但其他用户只可读。</a:t>
                </a:r>
              </a:p>
            </p:txBody>
          </p:sp>
        </p:grpSp>
        <p:sp>
          <p:nvSpPr>
            <p:cNvPr id="33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386" y="4060"/>
              <a:ext cx="7626" cy="1543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采用字符模式：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/root]#chmod  ug=r,ug=w,o=r  ex1</a:t>
              </a:r>
            </a:p>
          </p:txBody>
        </p:sp>
        <p:sp>
          <p:nvSpPr>
            <p:cNvPr id="34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418" y="5848"/>
              <a:ext cx="7675" cy="153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采用八进制模式：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/root]#chmod  664  ex1 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997075" y="1837055"/>
            <a:ext cx="7643495" cy="585470"/>
            <a:chOff x="3145" y="2893"/>
            <a:chExt cx="12037" cy="922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145" y="2895"/>
              <a:ext cx="5195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0070C0"/>
                  </a:solidFill>
                </a:rPr>
                <a:t>chmod命令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的一般格式：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8568" y="2893"/>
              <a:ext cx="6615" cy="869"/>
              <a:chOff x="2852" y="4811"/>
              <a:chExt cx="5441" cy="869"/>
            </a:xfrm>
          </p:grpSpPr>
          <p:sp>
            <p:nvSpPr>
              <p:cNvPr id="5" name="流程图: 过程 4"/>
              <p:cNvSpPr/>
              <p:nvPr/>
            </p:nvSpPr>
            <p:spPr>
              <a:xfrm>
                <a:off x="2852" y="4962"/>
                <a:ext cx="5441" cy="718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150" y="4811"/>
                <a:ext cx="4859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chmod [选项] 文件和目录列表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544955" y="1762760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740" y="5020945"/>
            <a:ext cx="1746250" cy="2014220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3968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249876" y="5939216"/>
            <a:ext cx="175958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umask命令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920875" y="1762125"/>
            <a:ext cx="9415145" cy="5212080"/>
            <a:chOff x="3025" y="2775"/>
            <a:chExt cx="14827" cy="8208"/>
          </a:xfrm>
        </p:grpSpPr>
        <p:grpSp>
          <p:nvGrpSpPr>
            <p:cNvPr id="3" name="组合 2"/>
            <p:cNvGrpSpPr/>
            <p:nvPr/>
          </p:nvGrpSpPr>
          <p:grpSpPr>
            <a:xfrm>
              <a:off x="3025" y="2775"/>
              <a:ext cx="10870" cy="1088"/>
              <a:chOff x="3025" y="2775"/>
              <a:chExt cx="10870" cy="1088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3025" y="2775"/>
                <a:ext cx="5767" cy="9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rgbClr val="0070C0"/>
                    </a:solidFill>
                  </a:rPr>
                  <a:t>umask命令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的一般格式：</a:t>
                </a: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8719" y="2799"/>
                <a:ext cx="5176" cy="1064"/>
                <a:chOff x="3003" y="4813"/>
                <a:chExt cx="5176" cy="1064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3003" y="4835"/>
                  <a:ext cx="5176" cy="1042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3195" y="4813"/>
                  <a:ext cx="4859" cy="10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sz="24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umask [选项] [掩码]</a:t>
                  </a:r>
                </a:p>
              </p:txBody>
            </p:sp>
          </p:grp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3025" y="3908"/>
              <a:ext cx="14827" cy="7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该命令用来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设置限制新文件权限的掩码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。当新文件被创建时，其初的权限由文件创建掩码决定。用户每次注册进入系统时，</a:t>
              </a:r>
              <a:r>
                <a:rPr lang="zh-CN" altLang="en-US" b="1" dirty="0">
                  <a:solidFill>
                    <a:srgbClr val="0070C0"/>
                  </a:solidFill>
                </a:rPr>
                <a:t>umask命令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都被执行，并自动设置掩码改变默认值，新的权限将会把旧的覆盖。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GB" altLang="zh-CN" dirty="0" err="1">
                  <a:solidFill>
                    <a:schemeClr val="tx2"/>
                  </a:solidFill>
                </a:rPr>
                <a:t>umask</a:t>
              </a:r>
              <a:r>
                <a:rPr lang="zh-CN" altLang="en-US" dirty="0">
                  <a:solidFill>
                    <a:schemeClr val="tx2"/>
                  </a:solidFill>
                </a:rPr>
                <a:t>设置了用户创建文件的默认权限，</a:t>
              </a:r>
              <a:r>
                <a:rPr lang="zh-CN" altLang="en-US" dirty="0">
                  <a:solidFill>
                    <a:srgbClr val="FF0000"/>
                  </a:solidFill>
                </a:rPr>
                <a:t>它与</a:t>
              </a:r>
              <a:r>
                <a:rPr lang="en-GB" altLang="zh-CN" dirty="0" err="1">
                  <a:solidFill>
                    <a:srgbClr val="FF0000"/>
                  </a:solidFill>
                </a:rPr>
                <a:t>chmod</a:t>
              </a:r>
              <a:r>
                <a:rPr lang="zh-CN" altLang="en-US" dirty="0">
                  <a:solidFill>
                    <a:srgbClr val="FF0000"/>
                  </a:solidFill>
                </a:rPr>
                <a:t>的效果刚好相反</a:t>
              </a:r>
              <a:r>
                <a:rPr lang="zh-CN" altLang="en-US" dirty="0">
                  <a:solidFill>
                    <a:schemeClr val="tx2"/>
                  </a:solidFill>
                </a:rPr>
                <a:t>，</a:t>
              </a:r>
              <a:r>
                <a:rPr lang="en-GB" altLang="zh-CN" dirty="0" err="1">
                  <a:solidFill>
                    <a:srgbClr val="FF0000"/>
                  </a:solidFill>
                </a:rPr>
                <a:t>umask</a:t>
              </a:r>
              <a:r>
                <a:rPr lang="zh-CN" altLang="en-US" dirty="0">
                  <a:solidFill>
                    <a:srgbClr val="FF0000"/>
                  </a:solidFill>
                </a:rPr>
                <a:t>设置的是权限“补码”，而</a:t>
              </a:r>
              <a:r>
                <a:rPr lang="en-GB" altLang="zh-CN" dirty="0" err="1">
                  <a:solidFill>
                    <a:srgbClr val="FF0000"/>
                  </a:solidFill>
                </a:rPr>
                <a:t>chmod</a:t>
              </a:r>
              <a:r>
                <a:rPr lang="zh-CN" altLang="en-US" dirty="0">
                  <a:solidFill>
                    <a:srgbClr val="FF0000"/>
                  </a:solidFill>
                </a:rPr>
                <a:t>设置的是文件权限码。</a:t>
              </a:r>
              <a:endParaRPr lang="en-US" altLang="zh-CN" dirty="0">
                <a:solidFill>
                  <a:srgbClr val="FF0000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chemeClr val="tx2"/>
                  </a:solidFill>
                </a:rPr>
                <a:t>创建文件默认最大权限为</a:t>
              </a:r>
              <a:r>
                <a:rPr lang="en-US" altLang="zh-CN" b="1" dirty="0">
                  <a:solidFill>
                    <a:schemeClr val="tx2"/>
                  </a:solidFill>
                </a:rPr>
                <a:t>666 </a:t>
              </a:r>
              <a:r>
                <a:rPr lang="zh-CN" altLang="en-US" b="1" dirty="0">
                  <a:solidFill>
                    <a:schemeClr val="tx2"/>
                  </a:solidFill>
                </a:rPr>
                <a:t>（</a:t>
              </a:r>
              <a:r>
                <a:rPr lang="en-US" altLang="zh-CN" b="1" dirty="0">
                  <a:solidFill>
                    <a:schemeClr val="tx2"/>
                  </a:solidFill>
                </a:rPr>
                <a:t>-</a:t>
              </a:r>
              <a:r>
                <a:rPr lang="en-GB" altLang="zh-CN" b="1" dirty="0" err="1">
                  <a:solidFill>
                    <a:schemeClr val="tx2"/>
                  </a:solidFill>
                </a:rPr>
                <a:t>rw-rw-rw</a:t>
              </a:r>
              <a:r>
                <a:rPr lang="en-GB" altLang="zh-CN" b="1" dirty="0">
                  <a:solidFill>
                    <a:schemeClr val="tx2"/>
                  </a:solidFill>
                </a:rPr>
                <a:t>-</a:t>
              </a:r>
              <a:r>
                <a:rPr lang="zh-CN" altLang="en-GB" b="1" dirty="0">
                  <a:solidFill>
                    <a:schemeClr val="tx2"/>
                  </a:solidFill>
                </a:rPr>
                <a:t>）</a:t>
              </a:r>
              <a:r>
                <a:rPr lang="zh-CN" altLang="en-GB" dirty="0">
                  <a:solidFill>
                    <a:schemeClr val="tx2"/>
                  </a:solidFill>
                </a:rPr>
                <a:t>，</a:t>
              </a:r>
              <a:r>
                <a:rPr lang="zh-CN" altLang="en-US" b="1" dirty="0">
                  <a:solidFill>
                    <a:srgbClr val="FF0000"/>
                  </a:solidFill>
                </a:rPr>
                <a:t>默认创建的文件没有可执行权限</a:t>
              </a:r>
              <a:r>
                <a:rPr lang="en-GB" altLang="zh-CN" b="1" dirty="0">
                  <a:solidFill>
                    <a:srgbClr val="FF0000"/>
                  </a:solidFill>
                </a:rPr>
                <a:t>x</a:t>
              </a:r>
              <a:r>
                <a:rPr lang="zh-CN" altLang="en-US" b="1" dirty="0">
                  <a:solidFill>
                    <a:srgbClr val="FF0000"/>
                  </a:solidFill>
                </a:rPr>
                <a:t>位</a:t>
              </a:r>
              <a:r>
                <a:rPr lang="zh-CN" altLang="en-US" dirty="0">
                  <a:solidFill>
                    <a:schemeClr val="tx2"/>
                  </a:solidFill>
                </a:rPr>
                <a:t>。对于文件来说，</a:t>
              </a:r>
              <a:r>
                <a:rPr lang="en-GB" altLang="zh-CN" dirty="0" err="1">
                  <a:solidFill>
                    <a:schemeClr val="tx2"/>
                  </a:solidFill>
                </a:rPr>
                <a:t>umask</a:t>
              </a:r>
              <a:r>
                <a:rPr lang="zh-CN" altLang="en-US" dirty="0">
                  <a:solidFill>
                    <a:schemeClr val="tx2"/>
                  </a:solidFill>
                </a:rPr>
                <a:t>的设置是在假定文件拥有八进制</a:t>
              </a:r>
              <a:r>
                <a:rPr lang="en-US" altLang="zh-CN" dirty="0">
                  <a:solidFill>
                    <a:schemeClr val="tx2"/>
                  </a:solidFill>
                </a:rPr>
                <a:t>666</a:t>
              </a:r>
              <a:r>
                <a:rPr lang="zh-CN" altLang="en-US" dirty="0">
                  <a:solidFill>
                    <a:schemeClr val="tx2"/>
                  </a:solidFill>
                </a:rPr>
                <a:t>的权限上进行的，</a:t>
              </a:r>
              <a:r>
                <a:rPr lang="zh-CN" altLang="en-US" dirty="0">
                  <a:solidFill>
                    <a:srgbClr val="FF0000"/>
                  </a:solidFill>
                </a:rPr>
                <a:t>文件的权限就是</a:t>
              </a:r>
              <a:r>
                <a:rPr lang="en-US" altLang="zh-CN" dirty="0">
                  <a:solidFill>
                    <a:srgbClr val="FF0000"/>
                  </a:solidFill>
                </a:rPr>
                <a:t>666</a:t>
              </a:r>
              <a:r>
                <a:rPr lang="zh-CN" altLang="en-US" dirty="0">
                  <a:solidFill>
                    <a:srgbClr val="FF0000"/>
                  </a:solidFill>
                </a:rPr>
                <a:t>减</a:t>
              </a:r>
              <a:r>
                <a:rPr lang="en-GB" altLang="zh-CN" dirty="0" err="1">
                  <a:solidFill>
                    <a:srgbClr val="FF0000"/>
                  </a:solidFill>
                </a:rPr>
                <a:t>umask</a:t>
              </a:r>
              <a:r>
                <a:rPr lang="en-GB" altLang="zh-CN" dirty="0">
                  <a:solidFill>
                    <a:srgbClr val="FF0000"/>
                  </a:solidFill>
                </a:rPr>
                <a:t>(</a:t>
              </a:r>
              <a:r>
                <a:rPr lang="en-GB" altLang="zh-CN" dirty="0" err="1">
                  <a:solidFill>
                    <a:srgbClr val="FF0000"/>
                  </a:solidFill>
                </a:rPr>
                <a:t>umask</a:t>
              </a:r>
              <a:r>
                <a:rPr lang="zh-CN" altLang="en-US" dirty="0">
                  <a:solidFill>
                    <a:srgbClr val="FF0000"/>
                  </a:solidFill>
                </a:rPr>
                <a:t>的各个位数字也不能大于</a:t>
              </a:r>
              <a:r>
                <a:rPr lang="en-US" altLang="zh-CN" dirty="0">
                  <a:solidFill>
                    <a:srgbClr val="FF0000"/>
                  </a:solidFill>
                </a:rPr>
                <a:t>6</a:t>
              </a:r>
              <a:r>
                <a:rPr lang="zh-CN" altLang="en-US" dirty="0">
                  <a:solidFill>
                    <a:srgbClr val="FF0000"/>
                  </a:solidFill>
                </a:rPr>
                <a:t>，如</a:t>
              </a:r>
              <a:r>
                <a:rPr lang="en-US" altLang="zh-CN" dirty="0">
                  <a:solidFill>
                    <a:srgbClr val="FF0000"/>
                  </a:solidFill>
                </a:rPr>
                <a:t>077</a:t>
              </a:r>
              <a:r>
                <a:rPr lang="zh-CN" altLang="en-US" dirty="0">
                  <a:solidFill>
                    <a:srgbClr val="FF0000"/>
                  </a:solidFill>
                </a:rPr>
                <a:t>就不符合条件</a:t>
              </a:r>
              <a:r>
                <a:rPr lang="en-US" altLang="zh-CN" dirty="0">
                  <a:solidFill>
                    <a:srgbClr val="FF0000"/>
                  </a:solidFill>
                </a:rPr>
                <a:t>)</a:t>
              </a:r>
              <a:r>
                <a:rPr lang="zh-CN" altLang="en-US" dirty="0">
                  <a:solidFill>
                    <a:srgbClr val="FF0000"/>
                  </a:solidFill>
                </a:rPr>
                <a:t>的掩码数值</a:t>
              </a:r>
              <a:r>
                <a:rPr lang="zh-CN" altLang="en-US" dirty="0">
                  <a:solidFill>
                    <a:schemeClr val="tx2"/>
                  </a:solidFill>
                </a:rPr>
                <a:t>，</a:t>
              </a:r>
            </a:p>
            <a:p>
              <a:pPr marL="0" indent="0">
                <a:buFont typeface="Wingdings" panose="05000000000000000000" pitchFamily="2" charset="2"/>
                <a:buNone/>
              </a:pPr>
              <a:r>
                <a:rPr lang="zh-CN" altLang="en-US" dirty="0">
                  <a:solidFill>
                    <a:schemeClr val="tx2"/>
                  </a:solidFill>
                </a:rPr>
                <a:t> </a:t>
              </a:r>
              <a:r>
                <a:rPr lang="zh-CN" altLang="en-US" b="1" dirty="0">
                  <a:solidFill>
                    <a:schemeClr val="tx2"/>
                  </a:solidFill>
                </a:rPr>
                <a:t>    如果</a:t>
              </a:r>
              <a:r>
                <a:rPr lang="en-GB" altLang="zh-CN" b="1" dirty="0" err="1">
                  <a:solidFill>
                    <a:schemeClr val="tx2"/>
                  </a:solidFill>
                </a:rPr>
                <a:t>umask</a:t>
              </a:r>
              <a:r>
                <a:rPr lang="zh-CN" altLang="en-US" b="1" dirty="0">
                  <a:solidFill>
                    <a:schemeClr val="tx2"/>
                  </a:solidFill>
                </a:rPr>
                <a:t>的部分位或全部位为奇数</a:t>
              </a:r>
              <a:r>
                <a:rPr lang="zh-CN" altLang="en-US" dirty="0">
                  <a:solidFill>
                    <a:schemeClr val="tx2"/>
                  </a:solidFill>
                </a:rPr>
                <a:t>，那么，在对应为</a:t>
              </a:r>
              <a:r>
                <a:rPr lang="zh-CN" altLang="en-US" dirty="0">
                  <a:solidFill>
                    <a:srgbClr val="FF0000"/>
                  </a:solidFill>
                </a:rPr>
                <a:t>奇数的文件权限位计算结果分别再加</a:t>
              </a: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r>
                <a:rPr lang="zh-CN" altLang="en-US" dirty="0">
                  <a:solidFill>
                    <a:schemeClr val="tx2"/>
                  </a:solidFill>
                </a:rPr>
                <a:t>就是最终文件权限值。</a:t>
              </a: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chemeClr val="tx2"/>
                  </a:solidFill>
                </a:rPr>
                <a:t>创建目录默认最大权限</a:t>
              </a:r>
              <a:r>
                <a:rPr lang="en-US" altLang="zh-CN" b="1" dirty="0">
                  <a:solidFill>
                    <a:schemeClr val="tx2"/>
                  </a:solidFill>
                </a:rPr>
                <a:t>777</a:t>
              </a:r>
              <a:r>
                <a:rPr lang="zh-CN" altLang="en-US" b="1" dirty="0">
                  <a:solidFill>
                    <a:schemeClr val="tx2"/>
                  </a:solidFill>
                </a:rPr>
                <a:t>（</a:t>
              </a:r>
              <a:r>
                <a:rPr lang="en-US" altLang="zh-CN" b="1" dirty="0">
                  <a:solidFill>
                    <a:schemeClr val="tx2"/>
                  </a:solidFill>
                </a:rPr>
                <a:t>-</a:t>
              </a:r>
              <a:r>
                <a:rPr lang="en-GB" altLang="zh-CN" b="1" dirty="0" err="1">
                  <a:solidFill>
                    <a:schemeClr val="tx2"/>
                  </a:solidFill>
                </a:rPr>
                <a:t>rwx-rwx-rwx</a:t>
              </a:r>
              <a:r>
                <a:rPr lang="zh-CN" altLang="en-GB" b="1" dirty="0">
                  <a:solidFill>
                    <a:schemeClr val="tx2"/>
                  </a:solidFill>
                </a:rPr>
                <a:t>）</a:t>
              </a:r>
              <a:r>
                <a:rPr lang="en-GB" altLang="zh-CN" b="1" dirty="0">
                  <a:solidFill>
                    <a:schemeClr val="tx2"/>
                  </a:solidFill>
                </a:rPr>
                <a:t>,</a:t>
              </a:r>
              <a:r>
                <a:rPr lang="zh-CN" altLang="en-US" b="1" dirty="0">
                  <a:solidFill>
                    <a:srgbClr val="FF0000"/>
                  </a:solidFill>
                </a:rPr>
                <a:t>默认创建的目录属主是有</a:t>
              </a:r>
              <a:r>
                <a:rPr lang="en-GB" altLang="zh-CN" b="1" dirty="0">
                  <a:solidFill>
                    <a:srgbClr val="FF0000"/>
                  </a:solidFill>
                </a:rPr>
                <a:t>x</a:t>
              </a:r>
              <a:r>
                <a:rPr lang="zh-CN" altLang="en-US" b="1" dirty="0">
                  <a:solidFill>
                    <a:srgbClr val="FF0000"/>
                  </a:solidFill>
                </a:rPr>
                <a:t>权限，允许用户进入目录</a:t>
              </a:r>
              <a:r>
                <a:rPr lang="zh-CN" altLang="en-US" dirty="0">
                  <a:solidFill>
                    <a:schemeClr val="tx2"/>
                  </a:solidFill>
                </a:rPr>
                <a:t>。对于目录来说，</a:t>
              </a:r>
              <a:r>
                <a:rPr lang="en-GB" altLang="zh-CN" dirty="0" err="1">
                  <a:solidFill>
                    <a:schemeClr val="tx2"/>
                  </a:solidFill>
                </a:rPr>
                <a:t>umask</a:t>
              </a:r>
              <a:r>
                <a:rPr lang="zh-CN" altLang="en-US" dirty="0">
                  <a:solidFill>
                    <a:schemeClr val="tx2"/>
                  </a:solidFill>
                </a:rPr>
                <a:t>的设置是在假定文件拥有八进制</a:t>
              </a:r>
              <a:r>
                <a:rPr lang="en-US" altLang="zh-CN" dirty="0">
                  <a:solidFill>
                    <a:schemeClr val="tx2"/>
                  </a:solidFill>
                </a:rPr>
                <a:t>777</a:t>
              </a:r>
              <a:r>
                <a:rPr lang="zh-CN" altLang="en-US" dirty="0">
                  <a:solidFill>
                    <a:schemeClr val="tx2"/>
                  </a:solidFill>
                </a:rPr>
                <a:t>权限上进行，</a:t>
              </a:r>
              <a:r>
                <a:rPr lang="zh-CN" altLang="en-US" dirty="0">
                  <a:solidFill>
                    <a:srgbClr val="FF0000"/>
                  </a:solidFill>
                </a:rPr>
                <a:t>目录八进制权限</a:t>
              </a:r>
              <a:r>
                <a:rPr lang="en-US" altLang="zh-CN" dirty="0">
                  <a:solidFill>
                    <a:srgbClr val="FF0000"/>
                  </a:solidFill>
                </a:rPr>
                <a:t>777</a:t>
              </a:r>
              <a:r>
                <a:rPr lang="zh-CN" altLang="en-US" dirty="0">
                  <a:solidFill>
                    <a:srgbClr val="FF0000"/>
                  </a:solidFill>
                </a:rPr>
                <a:t>减去</a:t>
              </a:r>
              <a:r>
                <a:rPr lang="en-GB" altLang="zh-CN" dirty="0" err="1">
                  <a:solidFill>
                    <a:srgbClr val="FF0000"/>
                  </a:solidFill>
                </a:rPr>
                <a:t>umask</a:t>
              </a:r>
              <a:r>
                <a:rPr lang="zh-CN" altLang="en-US" dirty="0">
                  <a:solidFill>
                    <a:srgbClr val="FF0000"/>
                  </a:solidFill>
                </a:rPr>
                <a:t>的掩码数值</a:t>
              </a:r>
              <a:r>
                <a:rPr lang="zh-CN" altLang="en-US" dirty="0">
                  <a:solidFill>
                    <a:schemeClr val="tx2"/>
                  </a:solidFill>
                </a:rPr>
                <a:t>。</a:t>
              </a:r>
            </a:p>
            <a:p>
              <a:endParaRPr lang="zh-CN" altLang="en-US" sz="20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544955" y="1762760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740" y="5020945"/>
            <a:ext cx="1746250" cy="2014220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3968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3.4.5  改变文件或目录存取权限的命令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563880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b="1" i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-249876" y="5939216"/>
            <a:ext cx="175958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umask命令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600200" y="3132455"/>
            <a:ext cx="7034530" cy="2444750"/>
            <a:chOff x="2657" y="5800"/>
            <a:chExt cx="9230" cy="4595"/>
          </a:xfrm>
        </p:grpSpPr>
        <p:grpSp>
          <p:nvGrpSpPr>
            <p:cNvPr id="11" name="组合 14"/>
            <p:cNvGrpSpPr/>
            <p:nvPr/>
          </p:nvGrpSpPr>
          <p:grpSpPr bwMode="auto">
            <a:xfrm>
              <a:off x="2657" y="5800"/>
              <a:ext cx="9230" cy="4595"/>
              <a:chOff x="935866" y="1786456"/>
              <a:chExt cx="9960074" cy="1713982"/>
            </a:xfrm>
          </p:grpSpPr>
          <p:grpSp>
            <p:nvGrpSpPr>
              <p:cNvPr id="12" name="组合 12"/>
              <p:cNvGrpSpPr/>
              <p:nvPr/>
            </p:nvGrpSpPr>
            <p:grpSpPr bwMode="auto">
              <a:xfrm>
                <a:off x="935866" y="1786456"/>
                <a:ext cx="9960074" cy="1713982"/>
                <a:chOff x="935866" y="1786456"/>
                <a:chExt cx="9960074" cy="1713982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1037496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9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5" name="矩形 6"/>
                <p:cNvSpPr>
                  <a:spLocks noChangeArrowheads="1"/>
                </p:cNvSpPr>
                <p:nvPr/>
              </p:nvSpPr>
              <p:spPr bwMode="auto">
                <a:xfrm>
                  <a:off x="935866" y="1787887"/>
                  <a:ext cx="9858444" cy="5698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【例3-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37</a:t>
                  </a:r>
                  <a:r>
                    <a: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】</a:t>
                  </a:r>
                  <a:r>
                    <a:rPr lang="zh-CN" altLang="en-US" sz="1800" b="1" dirty="0">
                      <a:solidFill>
                        <a:srgbClr val="0099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设置用户的掩码为文件主具有读、写、执行权限</a:t>
                  </a:r>
                </a:p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90204" pitchFamily="34" charset="0"/>
                    <a:buNone/>
                  </a:pPr>
                  <a:r>
                    <a:rPr lang="zh-CN" altLang="en-US" sz="1800" b="1" dirty="0">
                      <a:solidFill>
                        <a:srgbClr val="0099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华康俪金黑W8(P)"/>
                    </a:rPr>
                    <a:t>同组用户具有读、写权限，其他用户具有读权限。</a:t>
                  </a:r>
                </a:p>
              </p:txBody>
            </p:sp>
          </p:grpSp>
          <p:sp>
            <p:nvSpPr>
              <p:cNvPr id="4" name="MH_Text_1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139959" y="2310002"/>
                <a:ext cx="9626513" cy="567617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algn="l" eaLnBrk="1" fontAlgn="auto" latinLnBrk="0" hangingPunct="1">
                  <a:lnSpc>
                    <a:spcPct val="13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采用字符模式：</a:t>
                </a:r>
              </a:p>
              <a:p>
                <a:pPr indent="0" algn="l" eaLnBrk="1" fontAlgn="auto" latinLnBrk="0" hangingPunct="1">
                  <a:lnSpc>
                    <a:spcPct val="13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[studentL@localhost studentL]#umask  u=rwx,g=rw,o=r</a:t>
                </a:r>
              </a:p>
            </p:txBody>
          </p:sp>
        </p:grpSp>
        <p:sp>
          <p:nvSpPr>
            <p:cNvPr id="8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821" y="8803"/>
              <a:ext cx="8946" cy="150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采用八进制模式：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studentL]#umask  01</a:t>
              </a:r>
              <a:r>
                <a:rPr lang="en-US" altLang="zh-CN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</a:t>
              </a:r>
            </a:p>
          </p:txBody>
        </p:sp>
      </p:grpSp>
      <p:grpSp>
        <p:nvGrpSpPr>
          <p:cNvPr id="10" name="组合 14"/>
          <p:cNvGrpSpPr/>
          <p:nvPr/>
        </p:nvGrpSpPr>
        <p:grpSpPr bwMode="auto">
          <a:xfrm>
            <a:off x="7865111" y="4750692"/>
            <a:ext cx="3780789" cy="1652270"/>
            <a:chOff x="1166778" y="1786456"/>
            <a:chExt cx="9858444" cy="1963796"/>
          </a:xfrm>
        </p:grpSpPr>
        <p:grpSp>
          <p:nvGrpSpPr>
            <p:cNvPr id="25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27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4996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38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显示当前掩码。</a:t>
                </a:r>
              </a:p>
            </p:txBody>
          </p:sp>
        </p:grpSp>
        <p:sp>
          <p:nvSpPr>
            <p:cNvPr id="2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46255" y="2361557"/>
              <a:ext cx="9711083" cy="138869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[studentL@localhost studentL]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#umask -S </a:t>
              </a:r>
              <a:endPara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u=rwx,g=rw,o=r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600200" y="1998980"/>
            <a:ext cx="10045700" cy="782955"/>
            <a:chOff x="2600" y="5016"/>
            <a:chExt cx="15820" cy="1233"/>
          </a:xfrm>
        </p:grpSpPr>
        <p:sp>
          <p:nvSpPr>
            <p:cNvPr id="21" name="流程图: 过程 20"/>
            <p:cNvSpPr/>
            <p:nvPr/>
          </p:nvSpPr>
          <p:spPr>
            <a:xfrm>
              <a:off x="9883" y="5611"/>
              <a:ext cx="912" cy="576"/>
            </a:xfrm>
            <a:prstGeom prst="flowChartProcess">
              <a:avLst/>
            </a:prstGeom>
            <a:solidFill>
              <a:schemeClr val="bg2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2600" y="5016"/>
              <a:ext cx="15820" cy="1233"/>
              <a:chOff x="2600" y="5016"/>
              <a:chExt cx="15820" cy="1233"/>
            </a:xfrm>
          </p:grpSpPr>
          <p:sp>
            <p:nvSpPr>
              <p:cNvPr id="49" name="Text Box 44"/>
              <p:cNvSpPr txBox="1">
                <a:spLocks noChangeArrowheads="1"/>
              </p:cNvSpPr>
              <p:nvPr/>
            </p:nvSpPr>
            <p:spPr bwMode="auto">
              <a:xfrm>
                <a:off x="2600" y="5328"/>
                <a:ext cx="4184" cy="9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rgbClr val="D24726"/>
                    </a:solidFill>
                  </a:rPr>
                  <a:t>选项的含义如下：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470" y="5491"/>
                <a:ext cx="5381" cy="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-s：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显示当前的 </a:t>
                </a:r>
                <a:r>
                  <a:rPr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掩码</a:t>
                </a:r>
              </a:p>
            </p:txBody>
          </p:sp>
          <p:sp>
            <p:nvSpPr>
              <p:cNvPr id="20" name="线形标注 1 19"/>
              <p:cNvSpPr/>
              <p:nvPr/>
            </p:nvSpPr>
            <p:spPr>
              <a:xfrm>
                <a:off x="11520" y="5016"/>
                <a:ext cx="6900" cy="692"/>
              </a:xfrm>
              <a:prstGeom prst="borderCallout1">
                <a:avLst>
                  <a:gd name="adj1" fmla="val 40592"/>
                  <a:gd name="adj2" fmla="val -1527"/>
                  <a:gd name="adj3" fmla="val 84826"/>
                  <a:gd name="adj4" fmla="val -12354"/>
                </a:avLst>
              </a:prstGeom>
              <a:solidFill>
                <a:schemeClr val="bg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0" lang="de-DE" altLang="en-US" sz="2000" b="1" i="0" u="none" strike="noStrike" cap="none" normalizeH="0" baseline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</a:rPr>
                  <a:t>掩码</a:t>
                </a:r>
                <a:r>
                  <a:rPr kumimoji="0" lang="de-DE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</a:rPr>
                  <a:t>与</a:t>
                </a:r>
                <a:r>
                  <a:rPr kumimoji="0" lang="de-DE" altLang="en-US" sz="2000" b="1" i="0" u="none" strike="noStrike" cap="none" normalizeH="0" baseline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</a:rPr>
                  <a:t>chmod命令</a:t>
                </a:r>
                <a:r>
                  <a:rPr kumimoji="0" lang="de-DE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8"/>
                  </a:rPr>
                  <a:t>中各选项用法相同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621155" y="1778000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49396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3.4.6  改变用户组和文件主的命令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14018" y="1791462"/>
            <a:ext cx="948055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①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97075" y="1837055"/>
            <a:ext cx="9133840" cy="3038475"/>
            <a:chOff x="3145" y="2893"/>
            <a:chExt cx="14384" cy="4785"/>
          </a:xfrm>
        </p:grpSpPr>
        <p:grpSp>
          <p:nvGrpSpPr>
            <p:cNvPr id="7" name="组合 6"/>
            <p:cNvGrpSpPr/>
            <p:nvPr/>
          </p:nvGrpSpPr>
          <p:grpSpPr>
            <a:xfrm>
              <a:off x="3145" y="2893"/>
              <a:ext cx="11103" cy="922"/>
              <a:chOff x="3145" y="2893"/>
              <a:chExt cx="11103" cy="922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3145" y="2895"/>
                <a:ext cx="5195" cy="9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rgbClr val="0070C0"/>
                    </a:solidFill>
                  </a:rPr>
                  <a:t>chgrp命令</a:t>
                </a: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的一般格式：</a:t>
                </a:r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8568" y="2893"/>
                <a:ext cx="5680" cy="869"/>
                <a:chOff x="2852" y="4811"/>
                <a:chExt cx="5441" cy="869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852" y="4962"/>
                  <a:ext cx="5441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3150" y="4811"/>
                  <a:ext cx="4859" cy="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chgrp [选项] 组名文件名</a:t>
                  </a:r>
                </a:p>
              </p:txBody>
            </p:sp>
          </p:grpSp>
        </p:grp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3145" y="5623"/>
              <a:ext cx="4184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3169" y="3933"/>
              <a:ext cx="14360" cy="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该命令用来</a:t>
              </a:r>
              <a:r>
                <a:rPr lang="zh-CN" altLang="en-US" sz="2000" dirty="0">
                  <a:solidFill>
                    <a:srgbClr val="FF0000"/>
                  </a:solidFill>
                </a:rPr>
                <a:t>改变指定文件所属的用户组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。其中，组名可以是用户组的ID，也可以是用户组的组名；文件名可以是由空格分开的要改变属组的文件列表。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3932" y="6786"/>
              <a:ext cx="13596" cy="8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递归式地改变指定目录及其子目录和文件的用户属组。</a:t>
              </a:r>
            </a:p>
          </p:txBody>
        </p:sp>
      </p:grpSp>
      <p:grpSp>
        <p:nvGrpSpPr>
          <p:cNvPr id="35" name="组合 14"/>
          <p:cNvGrpSpPr/>
          <p:nvPr/>
        </p:nvGrpSpPr>
        <p:grpSpPr bwMode="auto">
          <a:xfrm>
            <a:off x="2990215" y="5169535"/>
            <a:ext cx="7924800" cy="1001395"/>
            <a:chOff x="1166778" y="1786456"/>
            <a:chExt cx="9858444" cy="1713982"/>
          </a:xfrm>
        </p:grpSpPr>
        <p:grpSp>
          <p:nvGrpSpPr>
            <p:cNvPr id="36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8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7195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39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将/usr/studentL及其子目录下的所有文件的用户组改为wugao。</a:t>
                </a:r>
              </a:p>
            </p:txBody>
          </p:sp>
        </p:grpSp>
        <p:sp>
          <p:nvSpPr>
            <p:cNvPr id="3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99955" y="2579865"/>
              <a:ext cx="9711515" cy="71189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[root@localhost/root]#chgrp  -R  wugao  /usr/studentL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38300" y="4820920"/>
            <a:ext cx="1656080" cy="18364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2460000">
            <a:off x="1400489" y="5739191"/>
            <a:ext cx="164020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chgrp命令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1621155" y="1778000"/>
            <a:ext cx="1012698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38300" y="4820920"/>
            <a:ext cx="1656080" cy="1836420"/>
          </a:xfrm>
          <a:prstGeom prst="rect">
            <a:avLst/>
          </a:prstGeom>
        </p:spPr>
      </p:pic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49396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3.4.6  改变用户组和文件主的命令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/>
          <p:nvPr/>
        </p:nvCxnSpPr>
        <p:spPr>
          <a:xfrm>
            <a:off x="39370" y="2291080"/>
            <a:ext cx="1508760" cy="434975"/>
          </a:xfrm>
          <a:prstGeom prst="bentConnector3">
            <a:avLst>
              <a:gd name="adj1" fmla="val 29840"/>
            </a:avLst>
          </a:prstGeom>
          <a:noFill/>
          <a:ln w="25400" cap="flat" cmpd="sng" algn="ctr">
            <a:solidFill>
              <a:srgbClr val="0070C0"/>
            </a:solidFill>
            <a:prstDash val="dash"/>
            <a:headEnd type="oval"/>
            <a:tailEnd type="diamond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650518" y="1791462"/>
            <a:ext cx="948055" cy="100584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</a:rPr>
              <a:t>②</a:t>
            </a:r>
          </a:p>
        </p:txBody>
      </p:sp>
      <p:sp>
        <p:nvSpPr>
          <p:cNvPr id="14" name="矩形 13"/>
          <p:cNvSpPr/>
          <p:nvPr/>
        </p:nvSpPr>
        <p:spPr>
          <a:xfrm rot="2460000">
            <a:off x="1400489" y="5739191"/>
            <a:ext cx="17583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chown命令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933575" y="1837055"/>
            <a:ext cx="9928225" cy="2774315"/>
            <a:chOff x="3045" y="2893"/>
            <a:chExt cx="15635" cy="4369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145" y="2895"/>
              <a:ext cx="5195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0070C0"/>
                  </a:solidFill>
                </a:rPr>
                <a:t>chown命令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的一般格式：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8568" y="2893"/>
              <a:ext cx="6927" cy="869"/>
              <a:chOff x="2852" y="4811"/>
              <a:chExt cx="5330" cy="869"/>
            </a:xfrm>
          </p:grpSpPr>
          <p:sp>
            <p:nvSpPr>
              <p:cNvPr id="5" name="流程图: 过程 4"/>
              <p:cNvSpPr/>
              <p:nvPr/>
            </p:nvSpPr>
            <p:spPr>
              <a:xfrm>
                <a:off x="2852" y="4962"/>
                <a:ext cx="5330" cy="718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150" y="4811"/>
                <a:ext cx="4859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chown [选项] 用户或组 文件名</a:t>
                </a:r>
              </a:p>
            </p:txBody>
          </p:sp>
        </p:grp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3045" y="5623"/>
              <a:ext cx="4184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3169" y="3933"/>
              <a:ext cx="14360" cy="14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该命令用于</a:t>
              </a:r>
              <a:r>
                <a:rPr lang="zh-CN" altLang="en-US" sz="2000" dirty="0">
                  <a:solidFill>
                    <a:srgbClr val="FF0000"/>
                  </a:solidFill>
                </a:rPr>
                <a:t>改变某个文件或目录的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所有者和所属的组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，即可以向某个用户授权，使其变成指定文件的所有者或者改变文件所属组。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6892" y="5614"/>
              <a:ext cx="11788" cy="1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递归式地改变指定目录及其所有子目录、文件的文件主。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-v：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详细列出该命令所做的工作。</a:t>
              </a:r>
            </a:p>
          </p:txBody>
        </p:sp>
      </p:grpSp>
      <p:grpSp>
        <p:nvGrpSpPr>
          <p:cNvPr id="35" name="组合 14"/>
          <p:cNvGrpSpPr/>
          <p:nvPr/>
        </p:nvGrpSpPr>
        <p:grpSpPr bwMode="auto">
          <a:xfrm>
            <a:off x="2980055" y="4911090"/>
            <a:ext cx="8455660" cy="1001395"/>
            <a:chOff x="1166778" y="1786456"/>
            <a:chExt cx="9858444" cy="1713982"/>
          </a:xfrm>
        </p:grpSpPr>
        <p:grpSp>
          <p:nvGrpSpPr>
            <p:cNvPr id="36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8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7195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40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将目录/usr/studentL及其下面的所有文件、子目录的文件主改变成li。</a:t>
                </a:r>
              </a:p>
            </p:txBody>
          </p:sp>
        </p:grpSp>
        <p:sp>
          <p:nvSpPr>
            <p:cNvPr id="39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99955" y="2579865"/>
              <a:ext cx="9711515" cy="71189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/root]#chown  -R  li  /usr/studentL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88315" y="1553845"/>
            <a:ext cx="11031220" cy="4788535"/>
            <a:chOff x="488315" y="1553845"/>
            <a:chExt cx="11031220" cy="4788535"/>
          </a:xfrm>
        </p:grpSpPr>
        <p:sp>
          <p:nvSpPr>
            <p:cNvPr id="16" name="AutoShape 13"/>
            <p:cNvSpPr>
              <a:spLocks noChangeArrowheads="1"/>
            </p:cNvSpPr>
            <p:nvPr/>
          </p:nvSpPr>
          <p:spPr bwMode="gray">
            <a:xfrm>
              <a:off x="488315" y="1553845"/>
              <a:ext cx="11031220" cy="4788535"/>
            </a:xfrm>
            <a:prstGeom prst="roundRect">
              <a:avLst>
                <a:gd name="adj" fmla="val 6232"/>
              </a:avLst>
            </a:prstGeom>
            <a:gradFill>
              <a:gsLst>
                <a:gs pos="33000">
                  <a:srgbClr val="F9F9F9"/>
                </a:gs>
                <a:gs pos="100000">
                  <a:srgbClr val="D7D7D7"/>
                </a:gs>
              </a:gsLst>
              <a:lin ang="5400000" scaled="0"/>
            </a:gradFill>
            <a:ln w="3175" cap="flat" cmpd="sng" algn="ctr">
              <a:solidFill>
                <a:srgbClr val="EAEAEA"/>
              </a:solidFill>
              <a:prstDash val="solid"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45720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</a:t>
              </a:r>
              <a:r>
                <a:rPr lang="zh-CN" altLang="en-US" sz="2400" b="1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数据的安全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，用户经常需要对计算机系统中的</a:t>
              </a:r>
            </a:p>
            <a:p>
              <a:pPr indent="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数据进行</a:t>
              </a:r>
              <a:r>
                <a:rPr lang="zh-CN" altLang="en-US" sz="2400" b="1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备份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。如果直接保存数据会占用很大的空间，</a:t>
              </a:r>
            </a:p>
            <a:p>
              <a:pPr indent="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所以常常</a:t>
              </a:r>
              <a:r>
                <a:rPr lang="zh-CN" altLang="en-US" sz="2400" b="1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压缩备份文件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，以便节省存储空间。另外，通过网络传输文件时也可以减少传输时间。在以后需要使用存放在这些文件中的数据时，必须先将它们解压缩，恢复成原来的样子。</a:t>
              </a:r>
            </a:p>
          </p:txBody>
        </p:sp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362710" y="1599565"/>
              <a:ext cx="2348865" cy="603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8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文件压缩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946150" y="1786255"/>
              <a:ext cx="323850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pic>
        <p:nvPicPr>
          <p:cNvPr id="3" name="图片 2" descr="压缩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34350" y="788670"/>
            <a:ext cx="3232150" cy="3232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1271270" y="1020445"/>
            <a:ext cx="234886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压缩命令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854710" y="1207135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8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354644" y="5713156"/>
            <a:ext cx="140271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gzip命令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1．gzip命令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790575" y="1649730"/>
            <a:ext cx="10619105" cy="1576705"/>
            <a:chOff x="1245" y="2598"/>
            <a:chExt cx="16723" cy="2483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4057" y="2598"/>
              <a:ext cx="4428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0070C0"/>
                  </a:solidFill>
                </a:rPr>
                <a:t>gzip命令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的一般格式：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808" y="2621"/>
              <a:ext cx="7769" cy="873"/>
              <a:chOff x="2852" y="4719"/>
              <a:chExt cx="5442" cy="823"/>
            </a:xfrm>
          </p:grpSpPr>
          <p:sp>
            <p:nvSpPr>
              <p:cNvPr id="7" name="流程图: 过程 6"/>
              <p:cNvSpPr/>
              <p:nvPr/>
            </p:nvSpPr>
            <p:spPr>
              <a:xfrm>
                <a:off x="2852" y="4824"/>
                <a:ext cx="5441" cy="718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998" y="4719"/>
                <a:ext cx="5296" cy="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gzip [选项] 压缩文件名/解压缩文件名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245" y="3641"/>
              <a:ext cx="16723" cy="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dirty="0">
                  <a:solidFill>
                    <a:srgbClr val="FF0000"/>
                  </a:solidFill>
                </a:rPr>
                <a:t>该命令用于对文件进行压缩和解压缩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。它用Lempel -Ziv编码减少命名文件的大小，被压缩的文件扩展名是.gz。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85190" y="2896870"/>
            <a:ext cx="10866755" cy="1946275"/>
            <a:chOff x="1394" y="4562"/>
            <a:chExt cx="17113" cy="3065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394" y="5599"/>
              <a:ext cx="4184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6313" y="4562"/>
              <a:ext cx="12194" cy="29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-c：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将输出写到标准输出上，并保留原有文件。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-d：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将被压缩的文件进行解压缩。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递归地查找指定目录并压缩其中的所有文件或者是解压缩。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-t：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测试，即检查压缩文件的完整性。</a:t>
              </a:r>
            </a:p>
          </p:txBody>
        </p:sp>
        <p:sp>
          <p:nvSpPr>
            <p:cNvPr id="10" name="左大括号 9"/>
            <p:cNvSpPr/>
            <p:nvPr/>
          </p:nvSpPr>
          <p:spPr>
            <a:xfrm>
              <a:off x="5712" y="4676"/>
              <a:ext cx="467" cy="2951"/>
            </a:xfrm>
            <a:prstGeom prst="leftBrace">
              <a:avLst/>
            </a:prstGeom>
            <a:solidFill>
              <a:schemeClr val="bg2"/>
            </a:solidFill>
            <a:ln w="349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pSp>
        <p:nvGrpSpPr>
          <p:cNvPr id="35" name="组合 14"/>
          <p:cNvGrpSpPr/>
          <p:nvPr/>
        </p:nvGrpSpPr>
        <p:grpSpPr bwMode="auto">
          <a:xfrm>
            <a:off x="2103755" y="4904105"/>
            <a:ext cx="4996180" cy="1576070"/>
            <a:chOff x="1166778" y="1786456"/>
            <a:chExt cx="9858444" cy="1713982"/>
          </a:xfrm>
        </p:grpSpPr>
        <p:grpSp>
          <p:nvGrpSpPr>
            <p:cNvPr id="36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8" name="矩形 6"/>
              <p:cNvSpPr>
                <a:spLocks noChangeArrowheads="1"/>
              </p:cNvSpPr>
              <p:nvPr/>
            </p:nvSpPr>
            <p:spPr bwMode="auto">
              <a:xfrm>
                <a:off x="1166778" y="1808033"/>
                <a:ext cx="9858444" cy="8148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41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把/usr/studentL目录下的每个文件都压缩成.gz文件。</a:t>
                </a:r>
              </a:p>
            </p:txBody>
          </p:sp>
        </p:grpSp>
        <p:sp>
          <p:nvSpPr>
            <p:cNvPr id="39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93091" y="2649838"/>
              <a:ext cx="9711845" cy="80458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[root@localhost/root]#cd  /usr/studentL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[root@localhost/root]#gzip  * </a:t>
              </a: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7220585" y="4873557"/>
            <a:ext cx="4344035" cy="1568518"/>
            <a:chOff x="1166778" y="1786456"/>
            <a:chExt cx="10093870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86456"/>
              <a:ext cx="10093870" cy="1713982"/>
              <a:chOff x="1166778" y="1786456"/>
              <a:chExt cx="10093870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808184"/>
                <a:ext cx="10093870" cy="9380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42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把【例3-41】压缩的文件进行解压缩。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93337" y="2707045"/>
              <a:ext cx="9711716" cy="70912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/root]#gzip  –d  *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1271270" y="1020445"/>
            <a:ext cx="234886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压缩命令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854710" y="1207135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8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263204" y="5682676"/>
            <a:ext cx="158877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unzip命令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2．unzip命令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667635" y="1725930"/>
            <a:ext cx="2925445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0070C0"/>
                </a:solidFill>
              </a:rPr>
              <a:t>unzip命令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的一般格式：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745480" y="1741805"/>
            <a:ext cx="3288030" cy="554355"/>
            <a:chOff x="2852" y="4857"/>
            <a:chExt cx="5442" cy="823"/>
          </a:xfrm>
        </p:grpSpPr>
        <p:sp>
          <p:nvSpPr>
            <p:cNvPr id="7" name="流程图: 过程 6"/>
            <p:cNvSpPr/>
            <p:nvPr/>
          </p:nvSpPr>
          <p:spPr>
            <a:xfrm>
              <a:off x="2852" y="4962"/>
              <a:ext cx="5441" cy="718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998" y="4857"/>
              <a:ext cx="5296" cy="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unzip [选项] 压缩文件名</a:t>
              </a:r>
            </a:p>
          </p:txBody>
        </p: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90575" y="2296795"/>
            <a:ext cx="1061910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该命令用于对</a:t>
            </a:r>
            <a:r>
              <a:rPr lang="zh-CN" altLang="en-US" sz="2000" dirty="0">
                <a:solidFill>
                  <a:srgbClr val="FF0000"/>
                </a:solidFill>
              </a:rPr>
              <a:t>winzip格式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的压缩文件</a:t>
            </a:r>
            <a:r>
              <a:rPr lang="zh-CN" altLang="en-US" sz="2000" dirty="0">
                <a:solidFill>
                  <a:srgbClr val="FF0000"/>
                </a:solidFill>
              </a:rPr>
              <a:t>进行解压缩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122680" y="2774950"/>
            <a:ext cx="9714865" cy="3571240"/>
            <a:chOff x="1122680" y="2774950"/>
            <a:chExt cx="9714865" cy="3571240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122680" y="3020060"/>
              <a:ext cx="345440" cy="2564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>
                <a:lnSpc>
                  <a:spcPct val="95000"/>
                </a:lnSpc>
              </a:pPr>
              <a:r>
                <a:rPr lang="zh-CN" altLang="en-US" sz="2400" b="1" dirty="0">
                  <a:solidFill>
                    <a:srgbClr val="D24726"/>
                  </a:solidFill>
                </a:rPr>
                <a:t>选项的含义如下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2469515" y="2774950"/>
              <a:ext cx="8368030" cy="3571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-x文件列表：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解压缩文件，但对文件列表中所指定的文件并不进行解压缩。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-v：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查看压缩文件中的内容，但不进行解压缩。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-t：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检查压缩文件的完整性。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-z：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只显示压缩文件的注释。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-n：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不覆盖已经存在的文件。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-o：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允许覆盖已经存在的文件。</a:t>
              </a: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-d目录：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把压缩文件解压缩后放到指定的目录中。</a:t>
              </a:r>
              <a:endPara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-j：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废除压缩文件原来的目录结构，将所有文件解压缩之后放到同一目录之下。</a:t>
              </a:r>
            </a:p>
          </p:txBody>
        </p:sp>
        <p:sp>
          <p:nvSpPr>
            <p:cNvPr id="10" name="左大括号 9"/>
            <p:cNvSpPr/>
            <p:nvPr/>
          </p:nvSpPr>
          <p:spPr>
            <a:xfrm>
              <a:off x="2148840" y="2880360"/>
              <a:ext cx="296545" cy="3401060"/>
            </a:xfrm>
            <a:prstGeom prst="leftBrace">
              <a:avLst/>
            </a:prstGeom>
            <a:solidFill>
              <a:schemeClr val="bg2"/>
            </a:solidFill>
            <a:ln w="349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6278245" y="4035425"/>
            <a:ext cx="5589905" cy="851535"/>
            <a:chOff x="1166778" y="1786456"/>
            <a:chExt cx="10093870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86456"/>
              <a:ext cx="10093870" cy="1713982"/>
              <a:chOff x="1166778" y="1786456"/>
              <a:chExt cx="10093870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808184"/>
                <a:ext cx="10093870" cy="8461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43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将压缩文件test.zip在当前目录下解压缩。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13698" y="2584345"/>
              <a:ext cx="9711716" cy="70912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[root@localhost/root]#unzip  test.zip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1271270" y="1020445"/>
            <a:ext cx="234886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压缩命令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854710" y="1207135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8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430844" y="5697916"/>
            <a:ext cx="118364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tar命令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3．tar命令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2576195" y="1695450"/>
            <a:ext cx="5939155" cy="585470"/>
            <a:chOff x="2576195" y="1695450"/>
            <a:chExt cx="5939155" cy="585470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576195" y="1695450"/>
              <a:ext cx="2925445" cy="584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0070C0"/>
                  </a:solidFill>
                </a:rPr>
                <a:t>tar命令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的一般格式：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227320" y="1726565"/>
              <a:ext cx="3288030" cy="554355"/>
              <a:chOff x="2852" y="4857"/>
              <a:chExt cx="5442" cy="823"/>
            </a:xfrm>
          </p:grpSpPr>
          <p:sp>
            <p:nvSpPr>
              <p:cNvPr id="7" name="流程图: 过程 6"/>
              <p:cNvSpPr/>
              <p:nvPr/>
            </p:nvSpPr>
            <p:spPr>
              <a:xfrm>
                <a:off x="2852" y="4962"/>
                <a:ext cx="5441" cy="718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998" y="4857"/>
                <a:ext cx="5296" cy="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tar [选项] 文件或目录名</a:t>
                </a: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925830" y="2347595"/>
            <a:ext cx="8255000" cy="3169285"/>
            <a:chOff x="925830" y="2347595"/>
            <a:chExt cx="8255000" cy="3169285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925830" y="2454275"/>
              <a:ext cx="345440" cy="2564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>
                <a:lnSpc>
                  <a:spcPct val="95000"/>
                </a:lnSpc>
              </a:pPr>
              <a:r>
                <a:rPr lang="zh-CN" altLang="en-US" sz="2400" b="1" dirty="0">
                  <a:solidFill>
                    <a:srgbClr val="D24726"/>
                  </a:solidFill>
                </a:rPr>
                <a:t>选项的含义如下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971675" y="2347595"/>
              <a:ext cx="7209155" cy="31692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-f：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文件名：使用指定的存档文件。</a:t>
              </a: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-t：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用于列出一个文档文件中的被备份出的文件名。</a:t>
              </a: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-c：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创建一个新的文档。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-v :显示操作过程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-u：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仅仅添加比文档文件更新的文件。</a:t>
              </a: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-x：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从文档文件中恢复被备份的文件。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-z：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用zip命令压缩或用unzip命令解压。</a:t>
              </a:r>
            </a:p>
          </p:txBody>
        </p:sp>
        <p:sp>
          <p:nvSpPr>
            <p:cNvPr id="10" name="左大括号 9"/>
            <p:cNvSpPr/>
            <p:nvPr/>
          </p:nvSpPr>
          <p:spPr>
            <a:xfrm>
              <a:off x="1614170" y="2378075"/>
              <a:ext cx="296545" cy="3085465"/>
            </a:xfrm>
            <a:prstGeom prst="leftBrace">
              <a:avLst/>
            </a:prstGeom>
            <a:solidFill>
              <a:schemeClr val="bg2"/>
            </a:solidFill>
            <a:ln w="349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pSp>
        <p:nvGrpSpPr>
          <p:cNvPr id="11" name="组合 14"/>
          <p:cNvGrpSpPr/>
          <p:nvPr/>
        </p:nvGrpSpPr>
        <p:grpSpPr bwMode="auto">
          <a:xfrm>
            <a:off x="2800985" y="5536565"/>
            <a:ext cx="8855075" cy="866775"/>
            <a:chOff x="1166778" y="1786456"/>
            <a:chExt cx="9858444" cy="1713982"/>
          </a:xfrm>
        </p:grpSpPr>
        <p:grpSp>
          <p:nvGrpSpPr>
            <p:cNvPr id="12" name="组合 12"/>
            <p:cNvGrpSpPr/>
            <p:nvPr/>
          </p:nvGrpSpPr>
          <p:grpSpPr bwMode="auto">
            <a:xfrm>
              <a:off x="1166778" y="1786456"/>
              <a:ext cx="9858444" cy="1713982"/>
              <a:chOff x="1166778" y="1786456"/>
              <a:chExt cx="9858444" cy="171398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5" name="矩形 6"/>
              <p:cNvSpPr>
                <a:spLocks noChangeArrowheads="1"/>
              </p:cNvSpPr>
              <p:nvPr/>
            </p:nvSpPr>
            <p:spPr bwMode="auto">
              <a:xfrm>
                <a:off x="1166778" y="1808091"/>
                <a:ext cx="9758213" cy="831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44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将/usr/studentL目录下的文件名和子目录备份到studentL.tar文档中。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46441" y="2576472"/>
              <a:ext cx="9711716" cy="709124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[[root@localhost /root]#tar  –f  studentL. tar  -cz  /usr/studentL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341485" y="2238375"/>
            <a:ext cx="2411095" cy="1264920"/>
            <a:chOff x="8926195" y="2173605"/>
            <a:chExt cx="2411095" cy="1264920"/>
          </a:xfrm>
        </p:grpSpPr>
        <p:sp>
          <p:nvSpPr>
            <p:cNvPr id="3" name="圆角矩形 2"/>
            <p:cNvSpPr/>
            <p:nvPr/>
          </p:nvSpPr>
          <p:spPr>
            <a:xfrm>
              <a:off x="8928100" y="2173605"/>
              <a:ext cx="2301240" cy="1264920"/>
            </a:xfrm>
            <a:prstGeom prst="roundRect">
              <a:avLst/>
            </a:prstGeom>
            <a:solidFill>
              <a:schemeClr val="bg2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8926195" y="2286635"/>
              <a:ext cx="2411095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b="1" dirty="0">
                  <a:solidFill>
                    <a:srgbClr val="0070C0"/>
                  </a:solidFill>
                </a:rPr>
                <a:t>该命令对文件和目录进行打包。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478155" y="172593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1271270" y="1020445"/>
            <a:ext cx="234886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压缩命令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854710" y="1207135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8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6725" y="4995545"/>
            <a:ext cx="1506220" cy="1524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691738">
            <a:off x="430844" y="5697916"/>
            <a:ext cx="118364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tar命令</a:t>
            </a:r>
          </a:p>
        </p:txBody>
      </p:sp>
      <p:sp>
        <p:nvSpPr>
          <p:cNvPr id="31" name="矩形 30"/>
          <p:cNvSpPr/>
          <p:nvPr/>
        </p:nvSpPr>
        <p:spPr>
          <a:xfrm>
            <a:off x="334010" y="1741170"/>
            <a:ext cx="1872615" cy="50419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3．tar命令</a:t>
            </a:r>
          </a:p>
        </p:txBody>
      </p:sp>
      <p:sp>
        <p:nvSpPr>
          <p:cNvPr id="32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525270" y="2314575"/>
            <a:ext cx="950277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 </a:t>
            </a:r>
          </a:p>
          <a:p>
            <a:pPr marL="342900" indent="-342900">
              <a:buFont typeface="Wingdings" panose="05000000000000000000" charset="0"/>
              <a:buChar char="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解包：tar xvf FileName.tar</a:t>
            </a:r>
          </a:p>
          <a:p>
            <a:pPr marL="342900" indent="-342900">
              <a:buFont typeface="Wingdings" panose="05000000000000000000" charset="0"/>
              <a:buChar char="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打包：tar cvf FileName.tar DirName</a:t>
            </a: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（注：tar是打包，不是压缩！）</a:t>
            </a: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 -cvf log.tar log2012.log    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仅打包，不压缩！ </a:t>
            </a: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------------------------------------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.tar.gz 和 .tgz</a:t>
            </a:r>
          </a:p>
          <a:p>
            <a:pPr marL="342900" indent="-342900">
              <a:buFont typeface="Wingdings" panose="05000000000000000000" charset="0"/>
              <a:buChar char="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解压：tar 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xvf FileName.tar.gz</a:t>
            </a:r>
          </a:p>
          <a:p>
            <a:pPr marL="342900" indent="-342900">
              <a:buFont typeface="Wingdings" panose="05000000000000000000" charset="0"/>
              <a:buChar char="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压缩：tar 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cvf FileName.tar.gz DirName</a:t>
            </a:r>
          </a:p>
          <a:p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 -zcvf log.tar.gz log2012.log   打包后，以 gzip 压缩 </a:t>
            </a:r>
          </a:p>
          <a:p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27990" y="1595336"/>
            <a:ext cx="11249660" cy="4864519"/>
            <a:chOff x="427990" y="1595336"/>
            <a:chExt cx="11249660" cy="4864519"/>
          </a:xfrm>
        </p:grpSpPr>
        <p:sp>
          <p:nvSpPr>
            <p:cNvPr id="2" name="AutoShape 13"/>
            <p:cNvSpPr>
              <a:spLocks noChangeArrowheads="1"/>
            </p:cNvSpPr>
            <p:nvPr/>
          </p:nvSpPr>
          <p:spPr bwMode="gray">
            <a:xfrm>
              <a:off x="427990" y="1595336"/>
              <a:ext cx="11249660" cy="4864519"/>
            </a:xfrm>
            <a:prstGeom prst="roundRect">
              <a:avLst>
                <a:gd name="adj" fmla="val 6232"/>
              </a:avLst>
            </a:prstGeom>
            <a:gradFill>
              <a:gsLst>
                <a:gs pos="33000">
                  <a:srgbClr val="F9F9F9"/>
                </a:gs>
                <a:gs pos="100000">
                  <a:srgbClr val="D7D7D7"/>
                </a:gs>
              </a:gsLst>
              <a:lin ang="5400000" scaled="0"/>
            </a:gradFill>
            <a:ln w="3175" cap="flat" cmpd="sng" algn="ctr">
              <a:solidFill>
                <a:srgbClr val="EAEAEA"/>
              </a:solidFill>
              <a:prstDash val="solid"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45720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进程是一个程序或任务的</a:t>
              </a:r>
              <a:r>
                <a:rPr lang="zh-CN" altLang="en-US" sz="2400" b="1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执行过程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indent="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在Linux系统中，通常执行任何一个命令都会</a:t>
              </a:r>
            </a:p>
            <a:p>
              <a:pPr indent="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创建一个或多个进程，即命令是通过进程实现的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indent="0" algn="l" eaLnBrk="1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当进程完成了预期的目标而自行终止时，该命令也就被执行完了。不但用户可以创建进程，系统程序也可以创建进程。所以，在Linux系统中，</a:t>
              </a:r>
              <a:r>
                <a:rPr lang="zh-CN" altLang="en-US" sz="2400" b="1" kern="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管理和控制进程是十分重要的</a:t>
              </a:r>
              <a:r>
                <a:rPr lang="zh-CN" altLang="en-US" sz="2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pic>
          <p:nvPicPr>
            <p:cNvPr id="3" name="图片 2" descr="进程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40" y="1747196"/>
              <a:ext cx="3813810" cy="2413000"/>
            </a:xfrm>
            <a:prstGeom prst="rect">
              <a:avLst/>
            </a:prstGeom>
          </p:spPr>
        </p:pic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73200" y="1698625"/>
              <a:ext cx="1617345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9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942340" y="1801495"/>
              <a:ext cx="323850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9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466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4010" y="1724660"/>
            <a:ext cx="1872615" cy="504190"/>
          </a:xfrm>
          <a:prstGeom prst="rect">
            <a:avLst/>
          </a:prstGeom>
          <a:solidFill>
            <a:srgbClr val="E8A7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ps命令</a:t>
            </a: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3369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F6CE02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E8A50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9" name="Picture 2" descr="F:\TDZ临时\其他备用\！PPT图片及版面资源\06-PPT精选插图\04-图标\右边角-黄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0800000">
            <a:off x="316230" y="4892040"/>
            <a:ext cx="1755140" cy="174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 rot="2658258">
            <a:off x="307258" y="5632604"/>
            <a:ext cx="1471295" cy="6178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ps命令</a:t>
            </a:r>
          </a:p>
        </p:txBody>
      </p:sp>
      <p:sp>
        <p:nvSpPr>
          <p:cNvPr id="32" name="矩形 6"/>
          <p:cNvSpPr>
            <a:spLocks noChangeArrowheads="1"/>
          </p:cNvSpPr>
          <p:nvPr/>
        </p:nvSpPr>
        <p:spPr bwMode="auto">
          <a:xfrm>
            <a:off x="909320" y="1113790"/>
            <a:ext cx="36112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3.6.1  查看系统的进程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97560" y="1724660"/>
            <a:ext cx="10034270" cy="4308475"/>
            <a:chOff x="1256" y="2716"/>
            <a:chExt cx="15802" cy="6785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256" y="4334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ps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命令一般格式：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38" y="4334"/>
              <a:ext cx="2381" cy="938"/>
              <a:chOff x="2852" y="4899"/>
              <a:chExt cx="4175" cy="938"/>
            </a:xfrm>
          </p:grpSpPr>
          <p:sp>
            <p:nvSpPr>
              <p:cNvPr id="2" name="流程图: 过程 1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076" y="4899"/>
                <a:ext cx="395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ps  [选项]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3792" y="2716"/>
              <a:ext cx="13267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要管理进程，首先要知道系统里有哪些进程存在及进程的状态如何。可以使用ps命令实现。</a:t>
              </a: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256" y="5303"/>
              <a:ext cx="4730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选项及其含义如下：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5609" y="5517"/>
              <a:ext cx="9492" cy="39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显示系统中与tty相关的所有进程的信息。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-e：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显示所有进程的信息。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-f：</a:t>
              </a:r>
              <a:r>
                <a:rPr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显示进程的所有信息。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-l：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以长格式显示进程信息。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只显示正在运行的进程信息。</a:t>
              </a: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7119" y="4439"/>
              <a:ext cx="9010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该命令用来查看当前系统中运行进程的信息。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58470" y="1724660"/>
            <a:ext cx="11274425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4010" y="1724660"/>
            <a:ext cx="1872615" cy="504190"/>
          </a:xfrm>
          <a:prstGeom prst="rect">
            <a:avLst/>
          </a:prstGeom>
          <a:solidFill>
            <a:srgbClr val="E8A7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ps命令</a:t>
            </a: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3369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F6CE02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E8A50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9" name="Picture 2" descr="F:\TDZ临时\其他备用\！PPT图片及版面资源\06-PPT精选插图\04-图标\右边角-黄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 rot="10800000">
            <a:off x="316230" y="4892040"/>
            <a:ext cx="1755140" cy="174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 rot="2658258">
            <a:off x="307258" y="5632604"/>
            <a:ext cx="1471295" cy="6178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ps命令</a:t>
            </a: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5716905" y="4406265"/>
            <a:ext cx="5626100" cy="1957705"/>
            <a:chOff x="935866" y="1786456"/>
            <a:chExt cx="9960074" cy="1713982"/>
          </a:xfrm>
        </p:grpSpPr>
        <p:grpSp>
          <p:nvGrpSpPr>
            <p:cNvPr id="2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4002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45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列出当前shell有关进程的基本信息。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535" y="2192852"/>
              <a:ext cx="9653163" cy="1229753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/root]#ps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PID  TTY  TIME  CMD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3235 tty2  00:00:00  bash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3815 tty2  00:00:00  ps </a:t>
              </a:r>
            </a:p>
          </p:txBody>
        </p:sp>
      </p:grpSp>
      <p:sp>
        <p:nvSpPr>
          <p:cNvPr id="32" name="矩形 6"/>
          <p:cNvSpPr>
            <a:spLocks noChangeArrowheads="1"/>
          </p:cNvSpPr>
          <p:nvPr/>
        </p:nvSpPr>
        <p:spPr bwMode="auto">
          <a:xfrm>
            <a:off x="909320" y="1113790"/>
            <a:ext cx="361124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3.6.1  查看系统的进程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89685" y="1398905"/>
            <a:ext cx="10426065" cy="4643755"/>
            <a:chOff x="2031" y="2203"/>
            <a:chExt cx="16419" cy="7313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3681" y="2600"/>
              <a:ext cx="6536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ps命令输出的含义如下：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2031" y="3692"/>
              <a:ext cx="7169" cy="5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UID：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启动进程的用户名。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PID：</a:t>
              </a:r>
              <a:r>
                <a:rPr sz="1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进程号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PPID：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父进程的进程号。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TTY：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启动进程的终端号。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START：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进程开始时间。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进程已经运行的时间。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COMMAND/CMD：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进程的命令名。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NI：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nice的优先级。</a:t>
              </a:r>
            </a:p>
            <a:p>
              <a: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PRI：</a:t>
              </a:r>
              <a:r>
                <a:rPr sz="1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进程的优先级。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8958" y="2203"/>
              <a:ext cx="9492" cy="52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endPara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进程的状态。如果是R表示进程正在运行，如果是S表示进程正在睡眠，如果是T表示进程僵死或停止，如果是D表示进程处于不能中断的睡眠。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%CPU：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进程占用CPU总时间的百分比。</a:t>
              </a:r>
              <a:endPara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%MEM：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进程占用系统内存总量的百分比。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251650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3.6.2  进程控制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34185"/>
            <a:ext cx="1118362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5834380" y="4916170"/>
            <a:ext cx="5626100" cy="1202055"/>
            <a:chOff x="935866" y="1786456"/>
            <a:chExt cx="9960074" cy="1713982"/>
          </a:xfrm>
        </p:grpSpPr>
        <p:grpSp>
          <p:nvGrpSpPr>
            <p:cNvPr id="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6564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46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终止进程号为3267的进程。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339" y="2582356"/>
              <a:ext cx="9653178" cy="81302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/root]#kill  3267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334010" y="1734185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1．kill命令</a:t>
            </a: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rgbClr val="00B0F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26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 rot="10800000">
            <a:off x="334010" y="501078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 rot="2691738">
            <a:off x="293684" y="5682676"/>
            <a:ext cx="1216660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kill命令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405380" y="1771650"/>
            <a:ext cx="9070340" cy="595630"/>
            <a:chOff x="3788" y="2790"/>
            <a:chExt cx="14284" cy="938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788" y="2895"/>
              <a:ext cx="435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kill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命令一般格式：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586" y="2790"/>
              <a:ext cx="3942" cy="938"/>
              <a:chOff x="2852" y="4899"/>
              <a:chExt cx="4175" cy="938"/>
            </a:xfrm>
          </p:grpSpPr>
          <p:sp>
            <p:nvSpPr>
              <p:cNvPr id="10" name="流程图: 过程 9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3076" y="4899"/>
                <a:ext cx="395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kill [选项] 进程号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1846" y="2790"/>
              <a:ext cx="6227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latinLnBrk="0" hangingPunct="1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该用来终止一个进程的运行。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58875" y="2454275"/>
            <a:ext cx="9634220" cy="2910840"/>
            <a:chOff x="1825" y="3865"/>
            <a:chExt cx="15172" cy="4584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825" y="3865"/>
              <a:ext cx="544" cy="4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>
                <a:lnSpc>
                  <a:spcPct val="95000"/>
                </a:lnSpc>
              </a:pPr>
              <a:r>
                <a:rPr lang="zh-CN" altLang="en-US" sz="2400" b="1" dirty="0">
                  <a:solidFill>
                    <a:srgbClr val="D24726"/>
                  </a:solidFill>
                </a:rPr>
                <a:t>选项及其含义如下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755" y="4603"/>
              <a:ext cx="14243" cy="2676"/>
              <a:chOff x="2755" y="4603"/>
              <a:chExt cx="14243" cy="2676"/>
            </a:xfrm>
          </p:grpSpPr>
          <p:sp>
            <p:nvSpPr>
              <p:cNvPr id="12" name="左大括号 11"/>
              <p:cNvSpPr/>
              <p:nvPr/>
            </p:nvSpPr>
            <p:spPr>
              <a:xfrm>
                <a:off x="2755" y="4603"/>
                <a:ext cx="467" cy="2676"/>
              </a:xfrm>
              <a:prstGeom prst="leftBrace">
                <a:avLst/>
              </a:prstGeom>
              <a:solidFill>
                <a:schemeClr val="bg2"/>
              </a:solidFill>
              <a:ln w="349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de-DE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3222" y="4603"/>
                <a:ext cx="13776" cy="2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-s：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指定需要发送的信号，既可以是信号名，也可以是对应信号的号码。</a:t>
                </a:r>
              </a:p>
              <a:p>
                <a:pPr marL="285750" indent="-285750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-p：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指定kill命令只是显示进程的pid，并不真正发出结束信号。</a:t>
                </a:r>
              </a:p>
              <a:p>
                <a:pPr marL="285750" indent="-285750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-l：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显示信号名称列表。</a:t>
                </a:r>
              </a:p>
            </p:txBody>
          </p:sp>
        </p:grpSp>
      </p:grpSp>
      <p:sp>
        <p:nvSpPr>
          <p:cNvPr id="7" name="文本框 6"/>
          <p:cNvSpPr txBox="1"/>
          <p:nvPr/>
        </p:nvSpPr>
        <p:spPr>
          <a:xfrm>
            <a:off x="2102485" y="4818380"/>
            <a:ext cx="3770630" cy="1568450"/>
          </a:xfrm>
          <a:prstGeom prst="rect">
            <a:avLst/>
          </a:prstGeom>
          <a:noFill/>
        </p:spPr>
        <p:txBody>
          <a:bodyPr wrap="square" lIns="144145" rIns="215900" rtlCol="0" anchor="t">
            <a:spAutoFit/>
          </a:bodyPr>
          <a:lstStyle/>
          <a:p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 可将指定的信息送至程序。预设的信息为 SIGTERM(15)，可将指定程序终止。</a:t>
            </a:r>
            <a:r>
              <a:rPr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若仍无法终止该程序，可使用 SIGKILL(9) 信息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尝试强制删除程序。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en-US" altLang="zh-CN" sz="1600" dirty="0" err="1">
                <a:solidFill>
                  <a:srgbClr val="FF0000"/>
                </a:solidFill>
              </a:rPr>
              <a:t>eg</a:t>
            </a:r>
            <a:r>
              <a:rPr lang="zh-CN" altLang="en-US" sz="1600" dirty="0">
                <a:solidFill>
                  <a:srgbClr val="FF0000"/>
                </a:solidFill>
              </a:rPr>
              <a:t>：# kill -9 123456（进程</a:t>
            </a:r>
            <a:r>
              <a:rPr lang="en-US" altLang="zh-CN" sz="1600" dirty="0">
                <a:solidFill>
                  <a:srgbClr val="FF0000"/>
                </a:solidFill>
              </a:rPr>
              <a:t>id</a:t>
            </a:r>
            <a:r>
              <a:rPr lang="zh-CN" altLang="en-US" sz="1600" dirty="0">
                <a:solidFill>
                  <a:srgbClr val="FF0000"/>
                </a:solidFill>
              </a:rPr>
              <a:t>号）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251650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9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3.6.2  进程控制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9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5930"/>
            <a:ext cx="11183620" cy="475361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797560" y="4596130"/>
            <a:ext cx="7134225" cy="953135"/>
            <a:chOff x="935866" y="1786456"/>
            <a:chExt cx="9960074" cy="1713982"/>
          </a:xfrm>
        </p:grpSpPr>
        <p:grpSp>
          <p:nvGrpSpPr>
            <p:cNvPr id="2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8221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47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进程暂停100秒，然后创建/home/test目录。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339" y="2582356"/>
              <a:ext cx="9653178" cy="81302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[root@localhost/root]#sleep  100;  mkdir  /home/test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334010" y="1734185"/>
            <a:ext cx="1872615" cy="504190"/>
          </a:xfrm>
          <a:prstGeom prst="rect">
            <a:avLst/>
          </a:prstGeom>
          <a:solidFill>
            <a:srgbClr val="0D9C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．sleep命令</a:t>
            </a:r>
          </a:p>
        </p:txBody>
      </p:sp>
      <p:sp>
        <p:nvSpPr>
          <p:cNvPr id="28" name="Triangle rectangle 10"/>
          <p:cNvSpPr/>
          <p:nvPr/>
        </p:nvSpPr>
        <p:spPr>
          <a:xfrm rot="16200000" flipH="1">
            <a:off x="323122" y="2248931"/>
            <a:ext cx="165384" cy="144014"/>
          </a:xfrm>
          <a:prstGeom prst="rtTriangle">
            <a:avLst/>
          </a:prstGeom>
          <a:gradFill flip="none" rotWithShape="1">
            <a:gsLst>
              <a:gs pos="0">
                <a:srgbClr val="0B9ACF"/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rgbClr val="00B0F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26" name="Picture 3" descr="F:\TDZ临时\其他备用\！PPT图片及版面资源\06-PPT精选插图\04-图标\右边角-蓝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 rot="10800000">
            <a:off x="334010" y="5010785"/>
            <a:ext cx="171196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 rot="2691738">
            <a:off x="232724" y="5743636"/>
            <a:ext cx="1572895" cy="486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sleep命令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19760" y="2324100"/>
            <a:ext cx="6584315" cy="1733550"/>
            <a:chOff x="976" y="3660"/>
            <a:chExt cx="10369" cy="2730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432" y="3822"/>
              <a:ext cx="5369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sleep</a:t>
              </a: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命令一般格式：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587" y="3660"/>
              <a:ext cx="4758" cy="1100"/>
              <a:chOff x="2852" y="4737"/>
              <a:chExt cx="4326" cy="1100"/>
            </a:xfrm>
          </p:grpSpPr>
          <p:sp>
            <p:nvSpPr>
              <p:cNvPr id="10" name="流程图: 过程 9"/>
              <p:cNvSpPr/>
              <p:nvPr/>
            </p:nvSpPr>
            <p:spPr>
              <a:xfrm>
                <a:off x="2852" y="4962"/>
                <a:ext cx="4175" cy="875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3225" y="4737"/>
                <a:ext cx="3953" cy="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sleep  时间值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976" y="5382"/>
              <a:ext cx="8834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latinLnBrk="0" hangingPunct="1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该命令使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进程暂停执行一段时间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</a:t>
              </a:r>
            </a:p>
          </p:txBody>
        </p:sp>
      </p:grpSp>
      <p:pic>
        <p:nvPicPr>
          <p:cNvPr id="3" name="图片 2" descr="slee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31785" y="2002155"/>
            <a:ext cx="3368040" cy="24618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659130" y="2256790"/>
            <a:ext cx="5325110" cy="3013710"/>
          </a:xfrm>
          <a:prstGeom prst="roundRect">
            <a:avLst>
              <a:gd name="adj" fmla="val 6232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indent="457200" algn="l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Linux系统也是一个</a:t>
            </a:r>
            <a:r>
              <a:rPr lang="zh-CN" altLang="en-US" sz="24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网络操作系统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，其网络功能也相当强大，可以提供各种各样的网络服务，如Web服务、FTP服务及DNS服务等。本节主要介绍Linux系统的基本网络命令。</a:t>
            </a:r>
          </a:p>
        </p:txBody>
      </p:sp>
      <p:pic>
        <p:nvPicPr>
          <p:cNvPr id="3" name="图片 2" descr="701201430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94145" y="2590800"/>
            <a:ext cx="4326890" cy="23450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5974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5906135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621665" y="1039928"/>
            <a:ext cx="1849120" cy="2093137"/>
            <a:chOff x="939" y="2416"/>
            <a:chExt cx="2601" cy="3171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08" y="3666"/>
              <a:ext cx="3088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hostname命令</a:t>
              </a: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6527800" y="2360295"/>
            <a:ext cx="5115560" cy="1397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633845" y="1633855"/>
            <a:ext cx="158369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例题如下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5689675" y="1028468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1</a:t>
            </a:r>
          </a:p>
        </p:txBody>
      </p:sp>
      <p:grpSp>
        <p:nvGrpSpPr>
          <p:cNvPr id="10" name="组合 14"/>
          <p:cNvGrpSpPr/>
          <p:nvPr/>
        </p:nvGrpSpPr>
        <p:grpSpPr bwMode="auto">
          <a:xfrm>
            <a:off x="6553202" y="2611755"/>
            <a:ext cx="5002560" cy="1557655"/>
            <a:chOff x="1005253" y="1786456"/>
            <a:chExt cx="10019969" cy="1713982"/>
          </a:xfrm>
        </p:grpSpPr>
        <p:grpSp>
          <p:nvGrpSpPr>
            <p:cNvPr id="11" name="组合 12"/>
            <p:cNvGrpSpPr/>
            <p:nvPr/>
          </p:nvGrpSpPr>
          <p:grpSpPr bwMode="auto">
            <a:xfrm>
              <a:off x="1005253" y="1786456"/>
              <a:ext cx="10019969" cy="1713982"/>
              <a:chOff x="1005253" y="1786456"/>
              <a:chExt cx="10019969" cy="171398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166778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3" name="矩形 6"/>
              <p:cNvSpPr>
                <a:spLocks noChangeArrowheads="1"/>
              </p:cNvSpPr>
              <p:nvPr/>
            </p:nvSpPr>
            <p:spPr bwMode="auto">
              <a:xfrm>
                <a:off x="1005253" y="1816871"/>
                <a:ext cx="9846932" cy="5030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【例3-48】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显示本机的主机名。</a:t>
                </a:r>
              </a:p>
            </p:txBody>
          </p:sp>
        </p:grpSp>
        <p:sp>
          <p:nvSpPr>
            <p:cNvPr id="17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66778" y="2360811"/>
              <a:ext cx="9858380" cy="113962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[root@localhost/root]#hostname  localhost.localdomain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1665" y="1694815"/>
            <a:ext cx="5597525" cy="4217035"/>
            <a:chOff x="1795" y="2573"/>
            <a:chExt cx="8815" cy="6641"/>
          </a:xfrm>
        </p:grpSpPr>
        <p:sp>
          <p:nvSpPr>
            <p:cNvPr id="3" name="流程图: 过程 2"/>
            <p:cNvSpPr/>
            <p:nvPr/>
          </p:nvSpPr>
          <p:spPr>
            <a:xfrm>
              <a:off x="4399" y="3487"/>
              <a:ext cx="5276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795" y="2573"/>
              <a:ext cx="8815" cy="6641"/>
              <a:chOff x="859" y="2573"/>
              <a:chExt cx="8815" cy="6641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3465" y="2573"/>
                <a:ext cx="5319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hostname命令的一般格式：</a:t>
                </a:r>
              </a:p>
            </p:txBody>
          </p:sp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859" y="4838"/>
                <a:ext cx="8815" cy="1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该命令用于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显示或设置系统的主机名</a:t>
                </a:r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。如果无任何选项和主机名，则用于显示系统的主机名。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859" y="7582"/>
                <a:ext cx="8649" cy="1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-F，--file文件名：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从文件名中读入主机名。</a:t>
                </a:r>
              </a:p>
              <a:p>
                <a:pPr marL="285750" indent="-285750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-V：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显示所有信息。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463" y="3365"/>
                <a:ext cx="5257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hostname [选项] [主机名]</a:t>
                </a:r>
              </a:p>
            </p:txBody>
          </p:sp>
          <p:sp>
            <p:nvSpPr>
              <p:cNvPr id="14" name="Text Box 44"/>
              <p:cNvSpPr txBox="1">
                <a:spLocks noChangeArrowheads="1"/>
              </p:cNvSpPr>
              <p:nvPr/>
            </p:nvSpPr>
            <p:spPr bwMode="auto">
              <a:xfrm>
                <a:off x="859" y="6790"/>
                <a:ext cx="3545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rgbClr val="D24726"/>
                    </a:solidFill>
                  </a:rPr>
                  <a:t>选项的含义如下：</a:t>
                </a:r>
              </a:p>
            </p:txBody>
          </p:sp>
        </p:grpSp>
      </p:grpSp>
    </p:spTree>
  </p:cSld>
  <p:clrMapOvr>
    <a:masterClrMapping/>
  </p:clrMapOvr>
  <p:transition/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 p14:presetBounceEnd="64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650"/>
                                </p:stCondLst>
                                <p:childTnLst>
                                  <p:par>
                                    <p:cTn id="1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7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    <p:cBhvr>
                                            <p:cTn id="8" dur="10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650"/>
                                </p:stCondLst>
                                <p:childTnLst>
                                  <p:par>
                                    <p:cTn id="1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bldLvl="0" animBg="1"/>
        </p:bldLst>
      </p:timing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89050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5200015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621665" y="1158744"/>
            <a:ext cx="1849120" cy="1974321"/>
            <a:chOff x="939" y="2596"/>
            <a:chExt cx="2601" cy="2991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689" y="3484"/>
              <a:ext cx="2456" cy="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ping命令</a:t>
              </a:r>
            </a:p>
          </p:txBody>
        </p:sp>
      </p:grpSp>
      <p:cxnSp>
        <p:nvCxnSpPr>
          <p:cNvPr id="48" name="直接连接符 47"/>
          <p:cNvCxnSpPr/>
          <p:nvPr/>
        </p:nvCxnSpPr>
        <p:spPr>
          <a:xfrm flipV="1">
            <a:off x="5821680" y="2179320"/>
            <a:ext cx="5852160" cy="1905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矩形 49"/>
          <p:cNvSpPr/>
          <p:nvPr/>
        </p:nvSpPr>
        <p:spPr>
          <a:xfrm>
            <a:off x="5821680" y="2207895"/>
            <a:ext cx="5830570" cy="4110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 count：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发送count个ECHO_REQUEST数据包。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包长度：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指定发送数据包的大小，默认为56字节，加上8个字节的ICMP头信息，实际发送的ICMP数据包为64个字节。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设置数据包的存活时间TTL。第个数据包都有TTL，每过一个路由器，TTL将会被减1，如果TTL等于0，那么路由器将抛弃这个数据包，并向数据包的发送主机发送一个ICMP信息。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 数字：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设置两次信息之间的时间间隔，不加此项，间隔为1秒。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4949900" y="968143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47115" y="2055495"/>
            <a:ext cx="4469765" cy="4124325"/>
            <a:chOff x="1649" y="3237"/>
            <a:chExt cx="7039" cy="6495"/>
          </a:xfrm>
        </p:grpSpPr>
        <p:sp>
          <p:nvSpPr>
            <p:cNvPr id="3" name="流程图: 过程 2"/>
            <p:cNvSpPr/>
            <p:nvPr/>
          </p:nvSpPr>
          <p:spPr>
            <a:xfrm>
              <a:off x="1931" y="4424"/>
              <a:ext cx="5825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649" y="3237"/>
              <a:ext cx="7039" cy="6495"/>
              <a:chOff x="1649" y="3237"/>
              <a:chExt cx="7039" cy="6495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2476" y="3237"/>
                <a:ext cx="5319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ping命令的一般格式：</a:t>
                </a:r>
              </a:p>
            </p:txBody>
          </p:sp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1649" y="5268"/>
                <a:ext cx="7039" cy="44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测试本主机和目标主机的连通性。ping命令使用</a:t>
                </a:r>
                <a:r>
                  <a:rPr lang="zh-CN" altLang="en-US" sz="2000" b="1" dirty="0">
                    <a:solidFill>
                      <a:srgbClr val="0070C0"/>
                    </a:solidFill>
                  </a:rPr>
                  <a:t>ICMP协议</a:t>
                </a:r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，向网络主机发送ECHO_REQUEST数据包，希望获得目的主机的ICMP ECHOP_RESPONSE应答数据包，以判断和网络主机之间的连接情况。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90" y="4355"/>
                <a:ext cx="5567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ping [选项] 主机名（或IP地址）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290" y="4355"/>
                <a:ext cx="5567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ping [选项] 主机名（或IP地址）</a:t>
                </a:r>
              </a:p>
            </p:txBody>
          </p:sp>
        </p:grpSp>
      </p:grp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5948045" y="1563370"/>
            <a:ext cx="225107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选项及其含义如下：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4"/>
          <p:cNvGrpSpPr/>
          <p:nvPr/>
        </p:nvGrpSpPr>
        <p:grpSpPr bwMode="auto">
          <a:xfrm>
            <a:off x="228600" y="1043940"/>
            <a:ext cx="11400155" cy="5513070"/>
            <a:chOff x="1065937" y="1455151"/>
            <a:chExt cx="9858444" cy="2263093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065937" y="1455151"/>
              <a:ext cx="9858444" cy="2263093"/>
              <a:chOff x="1065937" y="1455151"/>
              <a:chExt cx="9858444" cy="2263093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196575" y="1455151"/>
                <a:ext cx="9699365" cy="226309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1065937" y="1455278"/>
                <a:ext cx="9858444" cy="1876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49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测试本机与IP地址为202.201.88.26的计算机是否连通，发送10个数据包，每个数据包间隔为2秒。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293275" y="1645176"/>
              <a:ext cx="9466918" cy="202614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/root]#ping  -c 10 –i 2  202.201.88.26 PING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202.201.88.26 （202.201.88.26） 56（84） bytes of data.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icmp_seq=1 ttl=128 time=0.850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icmp_seq=2 ttl=128 time=0.466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icmp_seq=3 ttl=128 time=0.463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icmp_seq=4 ttl=128 time=0.467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icmp_seq=5 ttl=128 time=0.466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icmp_seq=6 ttl=128 time=0.479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icmp_seq=7 ttl=128 time=0.461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icmp_seq=8 ttl=128 time=0.471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icmp_seq=9 ttl=128 time=0.493 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6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64 bytes from 202.201.88.26: icmp_seq=10 ttl=128 time=0.491 ms 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--- 202.201.88.26 ping statistics ---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10 packets transmitted, 10 received, 0% packet loss, time 18010ms rtt min/avg/max/mdev = 0.461/0.510/0.850/0.116 ms 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9792410" y="1926993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9107170" y="3204210"/>
            <a:ext cx="2331720" cy="746760"/>
          </a:xfrm>
          <a:prstGeom prst="roundRect">
            <a:avLst/>
          </a:prstGeom>
          <a:solidFill>
            <a:srgbClr val="DE2126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0000" tIns="46800" rIns="90000" bIns="4680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0" lang="de-DE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409430" y="3303270"/>
            <a:ext cx="192341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ping命令</a:t>
            </a:r>
          </a:p>
        </p:txBody>
      </p:sp>
    </p:spTree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89050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5200015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1953260" y="1609090"/>
            <a:ext cx="260096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host命令的一般格式：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86130" y="2803525"/>
            <a:ext cx="5036185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该命令用于IP地址查找，</a:t>
            </a:r>
            <a:r>
              <a:rPr lang="zh-CN" altLang="en-US" sz="2000" dirty="0">
                <a:solidFill>
                  <a:srgbClr val="FF0000"/>
                </a:solidFill>
              </a:rPr>
              <a:t>有两种功能：一个用来查找指定IP的网络域名；另一个用来查找指定域名的IP地址。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60705" y="1143504"/>
            <a:ext cx="1849120" cy="1974321"/>
            <a:chOff x="939" y="2596"/>
            <a:chExt cx="2601" cy="2991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689" y="3484"/>
              <a:ext cx="2456" cy="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host命令</a:t>
              </a:r>
            </a:p>
          </p:txBody>
        </p:sp>
      </p:grpSp>
      <p:cxnSp>
        <p:nvCxnSpPr>
          <p:cNvPr id="48" name="直接连接符 47"/>
          <p:cNvCxnSpPr/>
          <p:nvPr/>
        </p:nvCxnSpPr>
        <p:spPr>
          <a:xfrm flipV="1">
            <a:off x="5800090" y="3845024"/>
            <a:ext cx="5852160" cy="1905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矩形 49"/>
          <p:cNvSpPr/>
          <p:nvPr/>
        </p:nvSpPr>
        <p:spPr>
          <a:xfrm>
            <a:off x="688975" y="4785360"/>
            <a:ext cx="4947285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-T：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使用TCP/IP模式。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用AXFR格式列出一个域中的全部主机名。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4843220" y="1034818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3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502410" y="2181225"/>
            <a:ext cx="3507740" cy="643890"/>
            <a:chOff x="2366" y="3435"/>
            <a:chExt cx="5524" cy="1014"/>
          </a:xfrm>
        </p:grpSpPr>
        <p:sp>
          <p:nvSpPr>
            <p:cNvPr id="3" name="流程图: 过程 2"/>
            <p:cNvSpPr/>
            <p:nvPr/>
          </p:nvSpPr>
          <p:spPr>
            <a:xfrm>
              <a:off x="2418" y="3435"/>
              <a:ext cx="5312" cy="1014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66" y="3450"/>
              <a:ext cx="5524" cy="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host [选项] 主机名或IP地址</a:t>
              </a:r>
            </a:p>
          </p:txBody>
        </p:sp>
      </p:grp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636905" y="4215130"/>
            <a:ext cx="279146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rgbClr val="D24726"/>
                </a:solidFill>
              </a:rPr>
              <a:t>选项及其含义如下：</a:t>
            </a: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5856051" y="2180106"/>
            <a:ext cx="5592364" cy="1439545"/>
            <a:chOff x="935866" y="1786456"/>
            <a:chExt cx="9960074" cy="1713982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544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50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查找www.sina.com的IP地址。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39339" y="2378450"/>
              <a:ext cx="9653178" cy="1008580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/root]#host  www.sina.com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www.sina.com has address  66.77.9.79 </a:t>
              </a:r>
            </a:p>
          </p:txBody>
        </p:sp>
      </p:grpSp>
      <p:grpSp>
        <p:nvGrpSpPr>
          <p:cNvPr id="7" name="组合 14"/>
          <p:cNvGrpSpPr/>
          <p:nvPr/>
        </p:nvGrpSpPr>
        <p:grpSpPr bwMode="auto">
          <a:xfrm>
            <a:off x="5877560" y="4016677"/>
            <a:ext cx="5568950" cy="1760220"/>
            <a:chOff x="935866" y="1786456"/>
            <a:chExt cx="9960074" cy="1713982"/>
          </a:xfrm>
        </p:grpSpPr>
        <p:grpSp>
          <p:nvGrpSpPr>
            <p:cNvPr id="8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4451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51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查找202.199.184.1所对应的域名。</a:t>
                </a:r>
              </a:p>
            </p:txBody>
          </p:sp>
        </p:grpSp>
        <p:sp>
          <p:nvSpPr>
            <p:cNvPr id="1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156" y="2232883"/>
              <a:ext cx="9653435" cy="118964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[root@localhost/root]#host 202.199.184.1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1.184.199.202.in_addr.arpa.domain  name   pointer  ns.lncc.edu.cn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ldLvl="0" animBg="1"/>
      <p:bldP spid="50" grpId="0"/>
      <p:bldP spid="14" grpId="0" bldLvl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5200015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60705" y="901912"/>
            <a:ext cx="1849120" cy="2215913"/>
            <a:chOff x="939" y="2230"/>
            <a:chExt cx="2601" cy="3357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41" y="3510"/>
              <a:ext cx="314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ifconfig命令</a:t>
              </a:r>
            </a:p>
          </p:txBody>
        </p:sp>
      </p:grpSp>
      <p:cxnSp>
        <p:nvCxnSpPr>
          <p:cNvPr id="48" name="直接连接符 47"/>
          <p:cNvCxnSpPr/>
          <p:nvPr/>
        </p:nvCxnSpPr>
        <p:spPr>
          <a:xfrm flipV="1">
            <a:off x="5800090" y="2612390"/>
            <a:ext cx="5852160" cy="1905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extBox 26"/>
          <p:cNvSpPr txBox="1"/>
          <p:nvPr/>
        </p:nvSpPr>
        <p:spPr>
          <a:xfrm>
            <a:off x="5041340" y="943378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4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88975" y="1689735"/>
            <a:ext cx="5346065" cy="4430395"/>
            <a:chOff x="1085" y="2661"/>
            <a:chExt cx="8419" cy="6977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084" y="2661"/>
              <a:ext cx="4855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ifconfig命令的一般格式：</a:t>
              </a: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130" y="4667"/>
              <a:ext cx="7931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该命令用于配置常驻内存的网络界面，如果不指定任何选项，则显示当前网络状态。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238" y="7142"/>
              <a:ext cx="8266" cy="24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-up：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激活网卡。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-down：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关闭网卡。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IP地址：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用于为指定网卡设置IP地址。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476" y="3561"/>
              <a:ext cx="6199" cy="1008"/>
              <a:chOff x="2476" y="3642"/>
              <a:chExt cx="6199" cy="1008"/>
            </a:xfrm>
          </p:grpSpPr>
          <p:sp>
            <p:nvSpPr>
              <p:cNvPr id="3" name="流程图: 过程 2"/>
              <p:cNvSpPr/>
              <p:nvPr/>
            </p:nvSpPr>
            <p:spPr>
              <a:xfrm>
                <a:off x="2476" y="3659"/>
                <a:ext cx="6056" cy="991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584" y="3642"/>
                <a:ext cx="6091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ifconfig 网卡号 [选项] [IP地址]</a:t>
                </a:r>
              </a:p>
            </p:txBody>
          </p:sp>
        </p:grpSp>
        <p:sp>
          <p:nvSpPr>
            <p:cNvPr id="14" name="Text Box 44"/>
            <p:cNvSpPr txBox="1">
              <a:spLocks noChangeArrowheads="1"/>
            </p:cNvSpPr>
            <p:nvPr/>
          </p:nvSpPr>
          <p:spPr bwMode="auto">
            <a:xfrm>
              <a:off x="1085" y="6242"/>
              <a:ext cx="4590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选项及其含义如下：</a:t>
              </a:r>
            </a:p>
          </p:txBody>
        </p:sp>
      </p:grpSp>
      <p:grpSp>
        <p:nvGrpSpPr>
          <p:cNvPr id="7" name="组合 14"/>
          <p:cNvGrpSpPr/>
          <p:nvPr/>
        </p:nvGrpSpPr>
        <p:grpSpPr bwMode="auto">
          <a:xfrm>
            <a:off x="5822315" y="2974340"/>
            <a:ext cx="5568950" cy="1560830"/>
            <a:chOff x="935866" y="1786456"/>
            <a:chExt cx="9960074" cy="1713982"/>
          </a:xfrm>
        </p:grpSpPr>
        <p:grpSp>
          <p:nvGrpSpPr>
            <p:cNvPr id="8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9037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  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例如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，若要显示当前系统所有网络设备接口信息，则运行命令</a:t>
                </a:r>
              </a:p>
            </p:txBody>
          </p:sp>
        </p:grpSp>
        <p:sp>
          <p:nvSpPr>
            <p:cNvPr id="1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3922" y="2718061"/>
              <a:ext cx="9653435" cy="609447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~]#ifconfig  –a</a:t>
              </a:r>
            </a:p>
          </p:txBody>
        </p:sp>
      </p:grpSp>
      <p:sp>
        <p:nvSpPr>
          <p:cNvPr id="12" name="Text Box 44"/>
          <p:cNvSpPr txBox="1">
            <a:spLocks noChangeArrowheads="1"/>
          </p:cNvSpPr>
          <p:nvPr/>
        </p:nvSpPr>
        <p:spPr bwMode="auto">
          <a:xfrm>
            <a:off x="5944235" y="2012950"/>
            <a:ext cx="159639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例题如下：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462405"/>
            <a:ext cx="1083818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934720" y="1562735"/>
            <a:ext cx="10323195" cy="4646930"/>
            <a:chOff x="1037496" y="1786456"/>
            <a:chExt cx="9858444" cy="1713982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037496" y="1786456"/>
              <a:ext cx="9858444" cy="1713982"/>
              <a:chOff x="1037496" y="1786456"/>
              <a:chExt cx="985844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2243868" y="1854647"/>
                <a:ext cx="4283786" cy="1686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命令运行后返回结果如下：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39373" y="2069389"/>
              <a:ext cx="9653477" cy="136921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eth0      Link encap:Ethernet  HWaddr 00:11:09:FB:1E:D3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inet addr:172.16.100.98  Bcast:172.16.100.255  Mask:255.255.255.0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inet6 addr: fe80::211:9ff:fefb:1ed3/64 Scope:Link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UP BROADCAST RUNNING MULTICAST  MTU:1500  Metric:1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RX packets:100063 errors:0 dropped:0 overruns:0 frame:0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TX packets:1836 errors:0 dropped:0 overruns:0 carrier:0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collisions:0 txqueuelen:1000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RX bytes:7206038 （6.8 MiB）  TX bytes:153281 （149.6 KiB）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Interrupt:193 Base address:0xa000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065" y="724747"/>
            <a:ext cx="1849120" cy="2215913"/>
            <a:chOff x="939" y="2230"/>
            <a:chExt cx="2601" cy="3357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41" y="3510"/>
              <a:ext cx="314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ifconfig命令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356925" y="1044343"/>
            <a:ext cx="861060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4</a:t>
            </a:r>
          </a:p>
        </p:txBody>
      </p:sp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462405"/>
            <a:ext cx="1083818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934720" y="1462405"/>
            <a:ext cx="10429875" cy="4912360"/>
            <a:chOff x="1037496" y="1688589"/>
            <a:chExt cx="9858444" cy="1811884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037496" y="1688589"/>
              <a:ext cx="9858444" cy="1811884"/>
              <a:chOff x="1037496" y="1688589"/>
              <a:chExt cx="9858444" cy="181188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688589"/>
                <a:ext cx="9858444" cy="181188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1952790" y="1715523"/>
                <a:ext cx="4283786" cy="1686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命令运行后返回结果如下：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10419" y="1893996"/>
              <a:ext cx="9653477" cy="1576966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eth0:1    Link encap:Ethernet  HWaddr 00:11:09:FB:1E:D3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inet addr:172.16.100.100  Bcast:172.16.100.255  Mask:255.255.255.0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UP BROADCAST RUNNING MULTICAST  MTU:1500  Metric:1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Interrupt:193 Base address:0xa000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lo            Link encap:Local Loopback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inet addr:127.0.0.1  Mask:255.0.0.0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inet6 addr: ::1/128 Scope:Host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UP LOOPBACK RUNNING  MTU:16436  Metric:1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RX packets:149 errors:0 dropped:0 overruns:0 frame:0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TX packets:149 errors:0 dropped:0 overruns:0 carrier:0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collisions:0 txqueuelen:0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   RX bytes:19471 （19.0 KiB）  TX bytes:19471 （19.0 KiB）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065" y="724747"/>
            <a:ext cx="1849120" cy="2215913"/>
            <a:chOff x="939" y="2230"/>
            <a:chExt cx="2601" cy="3357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41" y="3510"/>
              <a:ext cx="314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ifconfig命令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541075" y="839873"/>
            <a:ext cx="861060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4</a:t>
            </a:r>
          </a:p>
        </p:txBody>
      </p:sp>
    </p:spTree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462405"/>
            <a:ext cx="1083818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23748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934720" y="1462405"/>
            <a:ext cx="10429875" cy="2975610"/>
            <a:chOff x="1037496" y="1688589"/>
            <a:chExt cx="9858444" cy="1811884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037496" y="1688589"/>
              <a:ext cx="9858444" cy="1811884"/>
              <a:chOff x="1037496" y="1688589"/>
              <a:chExt cx="9858444" cy="181188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688589"/>
                <a:ext cx="9858444" cy="181188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1952790" y="1715523"/>
                <a:ext cx="4283786" cy="278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命令运行后返回结果如下：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26928" y="2039567"/>
              <a:ext cx="9653772" cy="140030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sit0      Link encap:IPv6-in-IPv4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NOARP  MTU:1480  Metric:1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RX packets:0 errors:0 dropped:0 overruns:0 frame:0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TX packets:0 errors:0 dropped:0 overruns:0 carrier:0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collisions:0 txqueuelen:0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            RX bytes:0 （0.0 b）  TX bytes:0 （0.0 b）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065" y="724747"/>
            <a:ext cx="1849120" cy="2215913"/>
            <a:chOff x="939" y="2230"/>
            <a:chExt cx="2601" cy="3357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41" y="3510"/>
              <a:ext cx="314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ifconfig命令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514405" y="885593"/>
            <a:ext cx="861060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3" name="矩形 2"/>
          <p:cNvSpPr/>
          <p:nvPr/>
        </p:nvSpPr>
        <p:spPr>
          <a:xfrm>
            <a:off x="1319530" y="4498975"/>
            <a:ext cx="9770745" cy="19164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l" eaLnBrk="1" latinLnBrk="0" hangingPunct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eth0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表示第一块网卡设备；</a:t>
            </a:r>
            <a:r>
              <a:rPr 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表示环路地址信息；</a:t>
            </a:r>
            <a:r>
              <a:rPr 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sit0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表示IPv4升级IPv6地址转换信息。只有IPv6启动时才会显示此接口信息。通过</a:t>
            </a:r>
            <a:r>
              <a:rPr 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ifconfig命令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可以查看到网卡的IP地址、子网掩码、MTU（最大传输单元）、MAC地址、跳数、发送数据包的个数、接收数据包的个数及其错误个数、丢弃个数等信息</a:t>
            </a:r>
            <a:r>
              <a:rPr lang="en-US" sz="2000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1086866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344420" y="1583690"/>
            <a:ext cx="421005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traceroute命令的一般格式：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1097280" y="3267710"/>
            <a:ext cx="5290185" cy="237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该命令显示</a:t>
            </a:r>
            <a:r>
              <a:rPr lang="zh-CN" altLang="en-US" sz="2000" b="1" dirty="0">
                <a:solidFill>
                  <a:srgbClr val="0070C0"/>
                </a:solidFill>
              </a:rPr>
              <a:t>本机到达目标主机的路由路径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。Internet是一个由网关连接起来的子网集合，要跟踪一个数据包所经过的路程是很困难的事情。traceroute利用IP协议，通过数据包的TTL部分获得各个网关信息。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1149" y="1436601"/>
            <a:ext cx="2377276" cy="1831404"/>
            <a:chOff x="564" y="3001"/>
            <a:chExt cx="2976" cy="2586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9076568">
              <a:off x="564" y="3591"/>
              <a:ext cx="2792" cy="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traceroute命令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438840" y="1065298"/>
            <a:ext cx="861060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5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043430" y="2336165"/>
            <a:ext cx="4160520" cy="629285"/>
            <a:chOff x="2476" y="3659"/>
            <a:chExt cx="6552" cy="991"/>
          </a:xfrm>
        </p:grpSpPr>
        <p:sp>
          <p:nvSpPr>
            <p:cNvPr id="3" name="流程图: 过程 2"/>
            <p:cNvSpPr/>
            <p:nvPr/>
          </p:nvSpPr>
          <p:spPr>
            <a:xfrm>
              <a:off x="2476" y="3659"/>
              <a:ext cx="6056" cy="991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530" y="3732"/>
              <a:ext cx="6498" cy="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traceroute 目标主机名或IP地址</a:t>
              </a:r>
            </a:p>
          </p:txBody>
        </p:sp>
      </p:grpSp>
      <p:pic>
        <p:nvPicPr>
          <p:cNvPr id="8" name="图片 7" descr="0032017558161674_b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43775" y="2785110"/>
            <a:ext cx="3559810" cy="34245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46" grpId="0" bldLvl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21665" y="1462405"/>
            <a:ext cx="1083818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934720" y="1462405"/>
            <a:ext cx="10429875" cy="4912360"/>
            <a:chOff x="1037496" y="1688589"/>
            <a:chExt cx="9858444" cy="1811884"/>
          </a:xfrm>
        </p:grpSpPr>
        <p:grpSp>
          <p:nvGrpSpPr>
            <p:cNvPr id="4" name="组合 12"/>
            <p:cNvGrpSpPr/>
            <p:nvPr/>
          </p:nvGrpSpPr>
          <p:grpSpPr bwMode="auto">
            <a:xfrm>
              <a:off x="1037496" y="1688589"/>
              <a:ext cx="9858444" cy="1811884"/>
              <a:chOff x="1037496" y="1688589"/>
              <a:chExt cx="9858444" cy="181188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688589"/>
                <a:ext cx="9858444" cy="181188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1952816" y="1715524"/>
                <a:ext cx="6501471" cy="1686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【例3-52】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显示到www.sina.com的路径。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5738" y="1884158"/>
              <a:ext cx="9653772" cy="1616315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/root]#tracerout  www.sina.com 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tracroute:warning:www.sina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traceroute to www.sina.com(66.77.9.79),30 hops,38 byte packets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***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211.162.65.62(211.162.65.62) 1.16ms 1.010ms 0.945ms 3                               211.162.78.201(211.162.78.201) 1.061ms  1.053ms     1.030ms ………………………………………………………..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svl-core-01.inet.qwest.net(205.171.18.242)  1250.125ms  1265.016ms 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1255.987ms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svc-cntr-01.inet.qwest.net(205.171.14.2) 1255.304ms 1254.937ms  1249.087ms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msfc-07.jsv.qwest.net(66.77.106.98) 1247.149ms 1271.762ms  1267.991ms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66.77.9.79(66.77.9.79)  1250.633ms  1253.705ms  1260.267ms 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065" y="694383"/>
            <a:ext cx="1849120" cy="2246277"/>
            <a:chOff x="939" y="2184"/>
            <a:chExt cx="2601" cy="3403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462" y="3464"/>
              <a:ext cx="314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ifconfig命令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541075" y="839873"/>
            <a:ext cx="861060" cy="1417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5</a:t>
            </a:r>
          </a:p>
        </p:txBody>
      </p:sp>
    </p:spTree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8630" y="1270635"/>
            <a:ext cx="11183620" cy="51308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665" y="1462405"/>
            <a:ext cx="10761980" cy="4747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60705" y="1217434"/>
            <a:ext cx="1849120" cy="1900391"/>
            <a:chOff x="939" y="2708"/>
            <a:chExt cx="2601" cy="2879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" y="3001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592" y="3683"/>
              <a:ext cx="2539" cy="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netstat命令</a:t>
              </a:r>
            </a:p>
          </p:txBody>
        </p:sp>
      </p:grpSp>
      <p:sp>
        <p:nvSpPr>
          <p:cNvPr id="51" name="TextBox 26"/>
          <p:cNvSpPr txBox="1"/>
          <p:nvPr/>
        </p:nvSpPr>
        <p:spPr>
          <a:xfrm>
            <a:off x="10590605" y="878608"/>
            <a:ext cx="793115" cy="1285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>
                  <a:solidFill>
                    <a:srgbClr val="D24726"/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Arial Black" panose="020B0A04020102020204" pitchFamily="34" charset="0"/>
              </a:rPr>
              <a:t>6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28345" y="1359535"/>
            <a:ext cx="10191750" cy="4027805"/>
            <a:chOff x="1147" y="2141"/>
            <a:chExt cx="16050" cy="6343"/>
          </a:xfrm>
        </p:grpSpPr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2643" y="3273"/>
              <a:ext cx="14555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该命令用来显示各种各样的与网络相关的状态信息，主要包括查看网络的连接状态、检查接口的配置信息、检查路由表信息及取得统计信息。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147" y="6178"/>
              <a:ext cx="5459" cy="2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显示所有配置的接口。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-i：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显示接口统计信息。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-n：</a:t>
              </a:r>
              <a:r>
                <a:rPr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以数字形式显示IP地址。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507" y="2141"/>
              <a:ext cx="10200" cy="1082"/>
              <a:chOff x="3507" y="2141"/>
              <a:chExt cx="10200" cy="1082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3507" y="2303"/>
                <a:ext cx="6079" cy="9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netstat命令的一般格式：</a:t>
                </a: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9477" y="2141"/>
                <a:ext cx="4231" cy="1008"/>
                <a:chOff x="5263" y="3277"/>
                <a:chExt cx="3370" cy="1272"/>
              </a:xfrm>
            </p:grpSpPr>
            <p:sp>
              <p:nvSpPr>
                <p:cNvPr id="3" name="流程图: 过程 2"/>
                <p:cNvSpPr/>
                <p:nvPr/>
              </p:nvSpPr>
              <p:spPr>
                <a:xfrm>
                  <a:off x="5263" y="3557"/>
                  <a:ext cx="3230" cy="991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5403" y="3277"/>
                  <a:ext cx="3230" cy="12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sz="24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netstat [选项]</a:t>
                  </a:r>
                </a:p>
              </p:txBody>
            </p:sp>
          </p:grpSp>
        </p:grpSp>
        <p:sp>
          <p:nvSpPr>
            <p:cNvPr id="14" name="Text Box 44"/>
            <p:cNvSpPr txBox="1">
              <a:spLocks noChangeArrowheads="1"/>
            </p:cNvSpPr>
            <p:nvPr/>
          </p:nvSpPr>
          <p:spPr bwMode="auto">
            <a:xfrm>
              <a:off x="1315" y="5004"/>
              <a:ext cx="3545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D24726"/>
                  </a:solidFill>
                </a:rPr>
                <a:t>选项及其含义如下：</a:t>
              </a:r>
            </a:p>
          </p:txBody>
        </p:sp>
      </p:grpSp>
      <p:grpSp>
        <p:nvGrpSpPr>
          <p:cNvPr id="5" name="组合 14"/>
          <p:cNvGrpSpPr/>
          <p:nvPr/>
        </p:nvGrpSpPr>
        <p:grpSpPr bwMode="auto">
          <a:xfrm>
            <a:off x="4192905" y="3158490"/>
            <a:ext cx="7117715" cy="3039110"/>
            <a:chOff x="935866" y="1786456"/>
            <a:chExt cx="9960074" cy="1713982"/>
          </a:xfrm>
        </p:grpSpPr>
        <p:grpSp>
          <p:nvGrpSpPr>
            <p:cNvPr id="13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7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2762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【例3-53】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显示网卡的统计数。</a:t>
                </a:r>
              </a:p>
            </p:txBody>
          </p:sp>
        </p:grpSp>
        <p:sp>
          <p:nvSpPr>
            <p:cNvPr id="1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3432" y="2057982"/>
              <a:ext cx="9653115" cy="1398198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/root]#netstat –i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Kernel Interface table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Iface MTU Met RX-OK RX-ERR RX-DRP RX-OVR TX-OK TX-ERR TX-DRP TX-OVR 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Flg eth0   1500   0    55    0    0    0    39    0     0    0    BMRU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lo   16436  0    20     0      0     0    20     0     0     0    LRU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223010"/>
            <a:ext cx="11183620" cy="525653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230" y="1002602"/>
            <a:ext cx="1442085" cy="1642808"/>
            <a:chOff x="897" y="2790"/>
            <a:chExt cx="2601" cy="2912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703" y="3636"/>
              <a:ext cx="2446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clear命令</a:t>
              </a:r>
            </a:p>
          </p:txBody>
        </p:sp>
      </p:grpSp>
      <p:cxnSp>
        <p:nvCxnSpPr>
          <p:cNvPr id="3" name="直接连接符 2"/>
          <p:cNvCxnSpPr>
            <a:stCxn id="16" idx="0"/>
          </p:cNvCxnSpPr>
          <p:nvPr/>
        </p:nvCxnSpPr>
        <p:spPr>
          <a:xfrm rot="16200000" flipH="1">
            <a:off x="4339792" y="2948738"/>
            <a:ext cx="3465722" cy="14267"/>
          </a:xfrm>
          <a:prstGeom prst="line">
            <a:avLst/>
          </a:prstGeom>
          <a:solidFill>
            <a:schemeClr val="bg2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grpSp>
        <p:nvGrpSpPr>
          <p:cNvPr id="7" name="组合 6"/>
          <p:cNvGrpSpPr/>
          <p:nvPr/>
        </p:nvGrpSpPr>
        <p:grpSpPr>
          <a:xfrm>
            <a:off x="778213" y="2559590"/>
            <a:ext cx="5131097" cy="1515745"/>
            <a:chOff x="1236" y="2790"/>
            <a:chExt cx="8070" cy="2387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227" y="2790"/>
              <a:ext cx="5319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clear命令的一般格式：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751" y="2790"/>
              <a:ext cx="1484" cy="795"/>
              <a:chOff x="3367" y="3345"/>
              <a:chExt cx="5276" cy="795"/>
            </a:xfrm>
          </p:grpSpPr>
          <p:sp>
            <p:nvSpPr>
              <p:cNvPr id="5" name="流程图: 过程 4"/>
              <p:cNvSpPr/>
              <p:nvPr/>
            </p:nvSpPr>
            <p:spPr>
              <a:xfrm>
                <a:off x="3367" y="3487"/>
                <a:ext cx="5276" cy="653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578" y="3345"/>
                <a:ext cx="4903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clear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236" y="3867"/>
              <a:ext cx="8070" cy="1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该命令用于清除屏幕上的信息，类似于DOS中的cls命令。清屏后，提示符移到屏幕的左上角。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10249535" y="1000650"/>
            <a:ext cx="1453515" cy="1682225"/>
            <a:chOff x="897" y="2789"/>
            <a:chExt cx="2601" cy="291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15" name="TextBox 6"/>
            <p:cNvSpPr txBox="1"/>
            <p:nvPr/>
          </p:nvSpPr>
          <p:spPr>
            <a:xfrm rot="18836568">
              <a:off x="703" y="3638"/>
              <a:ext cx="2446" cy="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echo命令</a:t>
              </a:r>
            </a:p>
          </p:txBody>
        </p:sp>
      </p:grpSp>
      <p:sp>
        <p:nvSpPr>
          <p:cNvPr id="17" name="Text Box 44"/>
          <p:cNvSpPr txBox="1">
            <a:spLocks noChangeArrowheads="1"/>
          </p:cNvSpPr>
          <p:nvPr/>
        </p:nvSpPr>
        <p:spPr bwMode="auto">
          <a:xfrm>
            <a:off x="7138035" y="1358900"/>
            <a:ext cx="337756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echo命令的一般格式：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7238365" y="1861820"/>
            <a:ext cx="2644775" cy="504825"/>
            <a:chOff x="3367" y="3345"/>
            <a:chExt cx="5276" cy="795"/>
          </a:xfrm>
        </p:grpSpPr>
        <p:sp>
          <p:nvSpPr>
            <p:cNvPr id="19" name="流程图: 过程 18"/>
            <p:cNvSpPr/>
            <p:nvPr/>
          </p:nvSpPr>
          <p:spPr>
            <a:xfrm>
              <a:off x="3367" y="3487"/>
              <a:ext cx="5276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578" y="3345"/>
              <a:ext cx="4903" cy="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echo [选项] 字符串</a:t>
              </a:r>
            </a:p>
          </p:txBody>
        </p:sp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398895" y="3657600"/>
            <a:ext cx="225107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000" b="1" dirty="0">
                <a:solidFill>
                  <a:srgbClr val="D24726"/>
                </a:solidFill>
              </a:rPr>
              <a:t>选项的含义如下：</a:t>
            </a:r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6264275" y="2455545"/>
            <a:ext cx="512445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1800" dirty="0">
                <a:solidFill>
                  <a:srgbClr val="FF0000"/>
                </a:solidFill>
              </a:rPr>
              <a:t>该命令的功能是</a:t>
            </a:r>
            <a:r>
              <a:rPr lang="zh-CN" altLang="en-US" sz="1800" b="1" dirty="0">
                <a:solidFill>
                  <a:srgbClr val="FF0000"/>
                </a:solidFill>
              </a:rPr>
              <a:t>在屏幕上显示命令行中所给出的字符串</a:t>
            </a:r>
            <a:r>
              <a:rPr lang="zh-CN" altLang="en-US" sz="1800" dirty="0">
                <a:solidFill>
                  <a:srgbClr val="FF0000"/>
                </a:solidFill>
              </a:rPr>
              <a:t>。该命令往往用在shell脚本中，作为一种输出提示信息的手段。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400165" y="4262755"/>
            <a:ext cx="4852670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-n：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表示输出字符串之后光标不换行。</a:t>
            </a:r>
          </a:p>
        </p:txBody>
      </p:sp>
      <p:grpSp>
        <p:nvGrpSpPr>
          <p:cNvPr id="25" name="组合 14"/>
          <p:cNvGrpSpPr/>
          <p:nvPr/>
        </p:nvGrpSpPr>
        <p:grpSpPr bwMode="auto">
          <a:xfrm>
            <a:off x="1678305" y="4810435"/>
            <a:ext cx="8796020" cy="1394460"/>
            <a:chOff x="935866" y="1786456"/>
            <a:chExt cx="9960074" cy="1713982"/>
          </a:xfrm>
        </p:grpSpPr>
        <p:grpSp>
          <p:nvGrpSpPr>
            <p:cNvPr id="26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5619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55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显示字符串“This is an example for echo command.”。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6610" y="2419443"/>
              <a:ext cx="9653046" cy="94752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/root]#echo "This is an example for echo command."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This is an example for echo command. 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59705" y="1053465"/>
            <a:ext cx="1675130" cy="1005840"/>
            <a:chOff x="8283" y="1659"/>
            <a:chExt cx="2638" cy="1584"/>
          </a:xfrm>
        </p:grpSpPr>
        <p:grpSp>
          <p:nvGrpSpPr>
            <p:cNvPr id="35" name="组合 34"/>
            <p:cNvGrpSpPr/>
            <p:nvPr/>
          </p:nvGrpSpPr>
          <p:grpSpPr>
            <a:xfrm>
              <a:off x="8283" y="1659"/>
              <a:ext cx="1224" cy="1584"/>
              <a:chOff x="8283" y="1659"/>
              <a:chExt cx="1224" cy="1584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8283" y="1926"/>
                <a:ext cx="1224" cy="1104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de-DE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8418" y="1659"/>
                <a:ext cx="888" cy="1584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sz="6000" b="1" i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1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9697" y="1659"/>
              <a:ext cx="1224" cy="1584"/>
              <a:chOff x="9697" y="1659"/>
              <a:chExt cx="1224" cy="1584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9697" y="1970"/>
                <a:ext cx="1224" cy="1104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0" lang="de-DE" altLang="en-US" sz="16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9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9865" y="1659"/>
                <a:ext cx="888" cy="1584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sz="6000" b="1" i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2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4" grpId="0" bldLvl="0" animBg="1"/>
      <p:bldP spid="50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223010"/>
            <a:ext cx="11183620" cy="525653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230" y="1002602"/>
            <a:ext cx="1442085" cy="1642808"/>
            <a:chOff x="897" y="2790"/>
            <a:chExt cx="2601" cy="2912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703" y="3636"/>
              <a:ext cx="2446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date命令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84860" y="1461135"/>
            <a:ext cx="11127740" cy="2769235"/>
            <a:chOff x="1236" y="2301"/>
            <a:chExt cx="17524" cy="4361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930" y="2304"/>
              <a:ext cx="5319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命令的一般格式：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404" y="2301"/>
              <a:ext cx="2556" cy="795"/>
              <a:chOff x="3367" y="3345"/>
              <a:chExt cx="5276" cy="795"/>
            </a:xfrm>
          </p:grpSpPr>
          <p:sp>
            <p:nvSpPr>
              <p:cNvPr id="5" name="流程图: 过程 4"/>
              <p:cNvSpPr/>
              <p:nvPr/>
            </p:nvSpPr>
            <p:spPr>
              <a:xfrm>
                <a:off x="3367" y="3487"/>
                <a:ext cx="5276" cy="653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578" y="3345"/>
                <a:ext cx="4903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en-US" altLang="zh-CN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date  [选项]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843" y="3240"/>
              <a:ext cx="10973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时间用于在屏幕上显示或设置系统的日期和时间。</a:t>
              </a: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1236" y="4166"/>
              <a:ext cx="3545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4380" y="4166"/>
              <a:ext cx="14380" cy="24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-d.—date=STRING：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显示由字符串STRING指定的时间，不是“NOW”。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-s,--set=STRING：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设定由字符串STRING指定的时间。</a:t>
              </a:r>
            </a:p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-u,--universal：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显示或设定格林威治时间。</a:t>
              </a:r>
            </a:p>
          </p:txBody>
        </p:sp>
      </p:grpSp>
      <p:grpSp>
        <p:nvGrpSpPr>
          <p:cNvPr id="25" name="组合 14"/>
          <p:cNvGrpSpPr/>
          <p:nvPr/>
        </p:nvGrpSpPr>
        <p:grpSpPr bwMode="auto">
          <a:xfrm>
            <a:off x="907415" y="4779010"/>
            <a:ext cx="4330700" cy="1394460"/>
            <a:chOff x="935866" y="1786456"/>
            <a:chExt cx="9960074" cy="1713982"/>
          </a:xfrm>
        </p:grpSpPr>
        <p:grpSp>
          <p:nvGrpSpPr>
            <p:cNvPr id="26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5619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56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显示现在的日期和时间。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56610" y="2419443"/>
              <a:ext cx="9653046" cy="94752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/root]#date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四  2月 17 21:57:13 CST 2005 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521950" y="1186815"/>
            <a:ext cx="777240" cy="1005840"/>
            <a:chOff x="8283" y="1659"/>
            <a:chExt cx="1224" cy="1584"/>
          </a:xfrm>
        </p:grpSpPr>
        <p:sp>
          <p:nvSpPr>
            <p:cNvPr id="32" name="椭圆 31"/>
            <p:cNvSpPr/>
            <p:nvPr/>
          </p:nvSpPr>
          <p:spPr>
            <a:xfrm>
              <a:off x="8283" y="1926"/>
              <a:ext cx="1224" cy="110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418" y="1659"/>
              <a:ext cx="888" cy="1584"/>
            </a:xfrm>
            <a:prstGeom prst="rect">
              <a:avLst/>
            </a:prstGeom>
          </p:spPr>
          <p:txBody>
            <a:bodyPr wrap="none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6000" b="1" i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</a:p>
          </p:txBody>
        </p:sp>
      </p:grpSp>
      <p:grpSp>
        <p:nvGrpSpPr>
          <p:cNvPr id="7" name="组合 14"/>
          <p:cNvGrpSpPr/>
          <p:nvPr/>
        </p:nvGrpSpPr>
        <p:grpSpPr bwMode="auto">
          <a:xfrm>
            <a:off x="5600700" y="4779010"/>
            <a:ext cx="5367020" cy="1394460"/>
            <a:chOff x="935866" y="1786456"/>
            <a:chExt cx="9960074" cy="1713982"/>
          </a:xfrm>
        </p:grpSpPr>
        <p:grpSp>
          <p:nvGrpSpPr>
            <p:cNvPr id="8" name="组合 12"/>
            <p:cNvGrpSpPr/>
            <p:nvPr/>
          </p:nvGrpSpPr>
          <p:grpSpPr bwMode="auto">
            <a:xfrm>
              <a:off x="935866" y="1786456"/>
              <a:ext cx="9960074" cy="1713982"/>
              <a:chOff x="935866" y="1786456"/>
              <a:chExt cx="9960074" cy="171398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5619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57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设置系统时间为2005年1月31日。</a:t>
                </a:r>
              </a:p>
            </p:txBody>
          </p:sp>
        </p:grpSp>
        <p:sp>
          <p:nvSpPr>
            <p:cNvPr id="1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6610" y="2419443"/>
              <a:ext cx="9653046" cy="947529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 /root]#date  -s  050131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一  1月 31 00:00:00 CST 2005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223010"/>
            <a:ext cx="11183620" cy="525653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230" y="998653"/>
            <a:ext cx="1442085" cy="1646757"/>
            <a:chOff x="897" y="2783"/>
            <a:chExt cx="2601" cy="2919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869" y="3523"/>
              <a:ext cx="2234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cal命令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18795" y="1441450"/>
            <a:ext cx="10922635" cy="4849495"/>
            <a:chOff x="817" y="2270"/>
            <a:chExt cx="17201" cy="7637"/>
          </a:xfrm>
        </p:grpSpPr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7162" y="6253"/>
              <a:ext cx="4073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17" y="2270"/>
              <a:ext cx="17201" cy="7637"/>
              <a:chOff x="817" y="2270"/>
              <a:chExt cx="17201" cy="7637"/>
            </a:xfrm>
          </p:grpSpPr>
          <p:sp>
            <p:nvSpPr>
              <p:cNvPr id="45" name="Text Box 44"/>
              <p:cNvSpPr txBox="1">
                <a:spLocks noChangeArrowheads="1"/>
              </p:cNvSpPr>
              <p:nvPr/>
            </p:nvSpPr>
            <p:spPr bwMode="auto">
              <a:xfrm>
                <a:off x="2439" y="2270"/>
                <a:ext cx="4312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cal命令的一般格式：</a:t>
                </a: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6247" y="2270"/>
                <a:ext cx="3269" cy="795"/>
                <a:chOff x="3367" y="3345"/>
                <a:chExt cx="5276" cy="795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3367" y="3487"/>
                  <a:ext cx="5276" cy="653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3578" y="3345"/>
                  <a:ext cx="4903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cal [选项] [日期] </a:t>
                  </a:r>
                </a:p>
              </p:txBody>
            </p:sp>
          </p:grpSp>
          <p:sp>
            <p:nvSpPr>
              <p:cNvPr id="46" name="Text Box 44"/>
              <p:cNvSpPr txBox="1">
                <a:spLocks noChangeArrowheads="1"/>
              </p:cNvSpPr>
              <p:nvPr/>
            </p:nvSpPr>
            <p:spPr bwMode="auto">
              <a:xfrm>
                <a:off x="817" y="3508"/>
                <a:ext cx="8699" cy="1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该命令用于显示日历。如果不带参数，则显示当前月份的日历。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937" y="6403"/>
                <a:ext cx="11081" cy="35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l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endPara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-y：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显示本年度的日历。</a:t>
                </a:r>
              </a:p>
              <a:p>
                <a:pPr marL="285750" indent="-285750" algn="l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-j：</a:t>
                </a:r>
                <a:r>
                  <a:rPr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显示粗略日期，即将一个月中的日号按照在一年中是第多少天来显示。</a:t>
                </a:r>
                <a:endPara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6484620" y="1045210"/>
            <a:ext cx="777240" cy="1005840"/>
            <a:chOff x="8283" y="1659"/>
            <a:chExt cx="1224" cy="1584"/>
          </a:xfrm>
        </p:grpSpPr>
        <p:sp>
          <p:nvSpPr>
            <p:cNvPr id="32" name="椭圆 31"/>
            <p:cNvSpPr/>
            <p:nvPr/>
          </p:nvSpPr>
          <p:spPr>
            <a:xfrm>
              <a:off x="8283" y="1926"/>
              <a:ext cx="1224" cy="110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418" y="1659"/>
              <a:ext cx="888" cy="1584"/>
            </a:xfrm>
            <a:prstGeom prst="rect">
              <a:avLst/>
            </a:prstGeom>
          </p:spPr>
          <p:txBody>
            <a:bodyPr wrap="none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6000" b="1" i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4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18795" y="3227070"/>
            <a:ext cx="3749040" cy="3233420"/>
            <a:chOff x="11290" y="1922"/>
            <a:chExt cx="5904" cy="5092"/>
          </a:xfrm>
        </p:grpSpPr>
        <p:grpSp>
          <p:nvGrpSpPr>
            <p:cNvPr id="26" name="组合 12"/>
            <p:cNvGrpSpPr/>
            <p:nvPr/>
          </p:nvGrpSpPr>
          <p:grpSpPr bwMode="auto">
            <a:xfrm>
              <a:off x="11290" y="1922"/>
              <a:ext cx="5904" cy="5093"/>
              <a:chOff x="935866" y="1786456"/>
              <a:chExt cx="9960074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2227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58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显示2006年6月的日历。</a:t>
                </a:r>
              </a:p>
            </p:txBody>
          </p:sp>
        </p:grpSp>
        <p:pic>
          <p:nvPicPr>
            <p:cNvPr id="23" name="图片 22" descr="日期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5" y="2508"/>
              <a:ext cx="5577" cy="4417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7801610" y="1358265"/>
            <a:ext cx="3749040" cy="3486785"/>
            <a:chOff x="6598" y="4713"/>
            <a:chExt cx="5904" cy="5396"/>
          </a:xfrm>
        </p:grpSpPr>
        <p:grpSp>
          <p:nvGrpSpPr>
            <p:cNvPr id="36" name="组合 12"/>
            <p:cNvGrpSpPr/>
            <p:nvPr/>
          </p:nvGrpSpPr>
          <p:grpSpPr bwMode="auto">
            <a:xfrm>
              <a:off x="6598" y="4713"/>
              <a:ext cx="5904" cy="5396"/>
              <a:chOff x="935866" y="1786456"/>
              <a:chExt cx="9960074" cy="1713982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8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20663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59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18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显示2005年1月日历。</a:t>
                </a:r>
              </a:p>
            </p:txBody>
          </p:sp>
        </p:grpSp>
        <p:pic>
          <p:nvPicPr>
            <p:cNvPr id="40" name="图片 39" descr="月份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2" y="5323"/>
              <a:ext cx="5528" cy="466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109980"/>
            <a:ext cx="11183620" cy="536956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 bwMode="auto">
          <a:xfrm>
            <a:off x="582930" y="3514090"/>
            <a:ext cx="11057890" cy="2859405"/>
            <a:chOff x="427310" y="1786456"/>
            <a:chExt cx="11069998" cy="1713982"/>
          </a:xfrm>
        </p:grpSpPr>
        <p:grpSp>
          <p:nvGrpSpPr>
            <p:cNvPr id="2" name="组合 12"/>
            <p:cNvGrpSpPr/>
            <p:nvPr/>
          </p:nvGrpSpPr>
          <p:grpSpPr bwMode="auto">
            <a:xfrm>
              <a:off x="427310" y="1786456"/>
              <a:ext cx="11069998" cy="1713982"/>
              <a:chOff x="427310" y="1786456"/>
              <a:chExt cx="11069998" cy="171398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427310" y="1786456"/>
                <a:ext cx="11069998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0" name="矩形 6"/>
              <p:cNvSpPr>
                <a:spLocks noChangeArrowheads="1"/>
              </p:cNvSpPr>
              <p:nvPr/>
            </p:nvSpPr>
            <p:spPr bwMode="auto">
              <a:xfrm>
                <a:off x="935866" y="1787887"/>
                <a:ext cx="9858444" cy="2740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60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显示系统已经定义的别名。</a:t>
                </a:r>
              </a:p>
            </p:txBody>
          </p:sp>
        </p:grpSp>
        <p:sp>
          <p:nvSpPr>
            <p:cNvPr id="31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39192" y="2087592"/>
              <a:ext cx="10845598" cy="1354651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[root@localhost/root]#alias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alias cp='cp -i'		 alias l.='ls -d .* --color=tty'	alias ll='ls -l --color=tty'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alias ls='ls --color=tty'	 alias mc='. /usr/share/mc/bin/mc-wrapper.sh' 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alias mv='mv -i' 	 alias rm='rm -i' 	                alias vi='vim'</a:t>
              </a:r>
            </a:p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alias which='alias | /usr/bin/which --tty-only --read-alias --show-dot--show-tilde'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27990" y="968133"/>
            <a:ext cx="1442085" cy="1570597"/>
            <a:chOff x="897" y="2918"/>
            <a:chExt cx="2601" cy="2784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680" y="3658"/>
              <a:ext cx="2234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alias命令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67790" y="1599565"/>
            <a:ext cx="6687549" cy="1442085"/>
            <a:chOff x="2154" y="2519"/>
            <a:chExt cx="10532" cy="2271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2154" y="2593"/>
              <a:ext cx="5319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alias命令的一般格式：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975" y="2519"/>
              <a:ext cx="5710" cy="941"/>
              <a:chOff x="3248" y="4136"/>
              <a:chExt cx="6283" cy="941"/>
            </a:xfrm>
          </p:grpSpPr>
          <p:sp>
            <p:nvSpPr>
              <p:cNvPr id="11" name="流程图: 过程 10"/>
              <p:cNvSpPr/>
              <p:nvPr/>
            </p:nvSpPr>
            <p:spPr>
              <a:xfrm>
                <a:off x="3248" y="4136"/>
                <a:ext cx="5848" cy="941"/>
              </a:xfrm>
              <a:prstGeom prst="flowChart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0000" tIns="46800" rIns="90000" bIns="46800" numCol="1" anchor="ctr" anchorCtr="0" compatLnSpc="1"/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endPara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3248" y="4213"/>
                <a:ext cx="6283" cy="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l" eaLnBrk="1" fontAlgn="auto" latinLnBrk="0" hangingPunct="1">
                  <a:lnSpc>
                    <a:spcPct val="150000"/>
                  </a:lnSpc>
                  <a:buFont typeface="Arial" panose="020B0604020202090204" pitchFamily="34" charset="0"/>
                  <a:buNone/>
                  <a:defRPr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alias  命令别名='命令行'</a:t>
                </a:r>
              </a:p>
            </p:txBody>
          </p:sp>
        </p:grp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2154" y="3998"/>
              <a:ext cx="9510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该命令用于设置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别名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或显示已有的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别名命令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。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786745" y="1004570"/>
            <a:ext cx="853440" cy="1005840"/>
            <a:chOff x="8283" y="1725"/>
            <a:chExt cx="1224" cy="1432"/>
          </a:xfrm>
        </p:grpSpPr>
        <p:sp>
          <p:nvSpPr>
            <p:cNvPr id="32" name="椭圆 31"/>
            <p:cNvSpPr/>
            <p:nvPr/>
          </p:nvSpPr>
          <p:spPr>
            <a:xfrm>
              <a:off x="8283" y="1926"/>
              <a:ext cx="1224" cy="110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460" y="1725"/>
              <a:ext cx="888" cy="14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6000" b="1" i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5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109980"/>
            <a:ext cx="11183620" cy="536956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7990" y="968133"/>
            <a:ext cx="1442085" cy="1570597"/>
            <a:chOff x="897" y="2918"/>
            <a:chExt cx="2601" cy="2784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680" y="3658"/>
              <a:ext cx="2234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alias命令</a:t>
              </a:r>
            </a:p>
          </p:txBody>
        </p:sp>
      </p:grpSp>
      <p:grpSp>
        <p:nvGrpSpPr>
          <p:cNvPr id="25" name="组合 14"/>
          <p:cNvGrpSpPr/>
          <p:nvPr/>
        </p:nvGrpSpPr>
        <p:grpSpPr bwMode="auto">
          <a:xfrm>
            <a:off x="767715" y="4680585"/>
            <a:ext cx="6662420" cy="1242695"/>
            <a:chOff x="909670" y="1786456"/>
            <a:chExt cx="9986270" cy="1713982"/>
          </a:xfrm>
        </p:grpSpPr>
        <p:grpSp>
          <p:nvGrpSpPr>
            <p:cNvPr id="26" name="组合 12"/>
            <p:cNvGrpSpPr/>
            <p:nvPr/>
          </p:nvGrpSpPr>
          <p:grpSpPr bwMode="auto">
            <a:xfrm>
              <a:off x="909670" y="1786456"/>
              <a:ext cx="9986270" cy="1713982"/>
              <a:chOff x="909670" y="1786456"/>
              <a:chExt cx="9986270" cy="1713982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37496" y="1786456"/>
                <a:ext cx="9858444" cy="171398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buFont typeface="Arial" panose="020B0604020202090204" pitchFamily="34" charset="0"/>
                  <a:buNone/>
                  <a:defRPr/>
                </a:pPr>
                <a:endParaRPr lang="zh-CN" altLang="en-US" sz="2000" noProof="1"/>
              </a:p>
            </p:txBody>
          </p:sp>
          <p:sp>
            <p:nvSpPr>
              <p:cNvPr id="17" name="矩形 6"/>
              <p:cNvSpPr>
                <a:spLocks noChangeArrowheads="1"/>
              </p:cNvSpPr>
              <p:nvPr/>
            </p:nvSpPr>
            <p:spPr bwMode="auto">
              <a:xfrm>
                <a:off x="909670" y="1787887"/>
                <a:ext cx="9858444" cy="6305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500"/>
                  </a:spcAft>
                  <a:buFont typeface="Arial" panose="020B0604020202090204" pitchFamily="34" charset="0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【例3-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61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】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创建自己的命令，mydir代替“</a:t>
                </a:r>
                <a:r>
                  <a:rPr lang="zh-CN" altLang="en-US" sz="2000" b="1" dirty="0" smtClean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ls --</a:t>
                </a:r>
                <a:r>
                  <a:rPr lang="zh-CN" altLang="en-US" sz="2000" b="1" dirty="0">
                    <a:solidFill>
                      <a:srgbClr val="0099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华康俪金黑W8(P)"/>
                  </a:rPr>
                  <a:t>color”</a:t>
                </a:r>
              </a:p>
            </p:txBody>
          </p:sp>
        </p:grpSp>
        <p:sp>
          <p:nvSpPr>
            <p:cNvPr id="18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56610" y="2527332"/>
              <a:ext cx="9653046" cy="839522"/>
            </a:xfrm>
            <a:prstGeom prst="rect">
              <a:avLst/>
            </a:prstGeom>
            <a:solidFill>
              <a:srgbClr val="F2F2F2"/>
            </a:solidFill>
            <a:ln w="9525">
              <a:noFill/>
              <a:miter lim="800000"/>
            </a:ln>
          </p:spPr>
          <p:txBody>
            <a:bodyPr/>
            <a:lstStyle/>
            <a:p>
              <a:pPr indent="0" algn="l" eaLnBrk="1" fontAlgn="auto" latinLnBrk="0" hangingPunct="1">
                <a:lnSpc>
                  <a:spcPct val="13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[root@localhost/root]#alias mydir</a:t>
              </a:r>
              <a:r>
                <a:rPr lang="zh-CN" altLang="en-US" sz="2000" b="1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=‘ls --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color'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84885" y="1920875"/>
            <a:ext cx="6469380" cy="2313940"/>
            <a:chOff x="928" y="6795"/>
            <a:chExt cx="12964" cy="3644"/>
          </a:xfrm>
        </p:grpSpPr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1106" y="6795"/>
              <a:ext cx="12786" cy="2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显示已有的命令别名，在其中可以发现ls='ls--color=tty'。</a:t>
              </a:r>
              <a:r>
                <a:rPr lang="zh-CN" altLang="en-US" sz="2000" dirty="0">
                  <a:solidFill>
                    <a:srgbClr val="FF0000"/>
                  </a:solidFill>
                </a:rPr>
                <a:t>这就是用户执行ls命令后，为什么会用颜色表示不同的文件类别的原因了。</a:t>
              </a:r>
            </a:p>
          </p:txBody>
        </p:sp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928" y="8987"/>
              <a:ext cx="12482" cy="14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用户可以把自己常用的长命令，通过定义别名来替代短命令。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786745" y="1004570"/>
            <a:ext cx="853440" cy="1005840"/>
            <a:chOff x="8283" y="1725"/>
            <a:chExt cx="1224" cy="1432"/>
          </a:xfrm>
        </p:grpSpPr>
        <p:sp>
          <p:nvSpPr>
            <p:cNvPr id="32" name="椭圆 31"/>
            <p:cNvSpPr/>
            <p:nvPr/>
          </p:nvSpPr>
          <p:spPr>
            <a:xfrm>
              <a:off x="8283" y="1926"/>
              <a:ext cx="1224" cy="110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460" y="1725"/>
              <a:ext cx="888" cy="14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6000" b="1" i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5</a:t>
              </a:r>
            </a:p>
          </p:txBody>
        </p:sp>
      </p:grpSp>
      <p:pic>
        <p:nvPicPr>
          <p:cNvPr id="6" name="图片 5" descr="b863be977d85f89558525af7b387fd0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38490" y="2943860"/>
            <a:ext cx="3067050" cy="35356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55115" y="1776730"/>
            <a:ext cx="9341485" cy="4612005"/>
          </a:xfrm>
          <a:prstGeom prst="roundRect">
            <a:avLst>
              <a:gd name="adj" fmla="val 2773"/>
            </a:avLst>
          </a:prstGeom>
          <a:noFill/>
          <a:ln w="3175">
            <a:solidFill>
              <a:srgbClr val="333333"/>
            </a:solidFill>
            <a:round/>
          </a:ln>
        </p:spPr>
        <p:txBody>
          <a:bodyPr wrap="none" anchor="ctr"/>
          <a:lstStyle/>
          <a:p>
            <a:pPr algn="ctr">
              <a:buFont typeface="Arial" panose="020B0604020202090204" pitchFamily="34" charset="0"/>
              <a:buNone/>
            </a:pPr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5062855" y="1310005"/>
            <a:ext cx="2147570" cy="869315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>
            <a:solidFill>
              <a:srgbClr val="333333">
                <a:alpha val="56862"/>
              </a:srgbClr>
            </a:solidFill>
            <a:rou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buFont typeface="Arial" panose="020B0604020202090204" pitchFamily="34" charset="0"/>
              <a:buNone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651625" y="4722495"/>
            <a:ext cx="3799840" cy="481330"/>
            <a:chOff x="3" y="0"/>
            <a:chExt cx="4243" cy="333"/>
          </a:xfrm>
        </p:grpSpPr>
        <p:grpSp>
          <p:nvGrpSpPr>
            <p:cNvPr id="923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92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92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236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3.9  联机帮助命令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3929380" y="340360"/>
            <a:ext cx="1133475" cy="56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noProof="1">
                <a:cs typeface="+mn-cs"/>
              </a:rPr>
              <a:t>目录</a:t>
            </a:r>
            <a:endParaRPr lang="zh-CN" altLang="en-US" noProof="1"/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670675" y="3965575"/>
            <a:ext cx="3764280" cy="481330"/>
            <a:chOff x="3" y="0"/>
            <a:chExt cx="4243" cy="333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3.8  其他命令</a:t>
              </a:r>
            </a:p>
          </p:txBody>
        </p:sp>
      </p:grpSp>
      <p:grpSp>
        <p:nvGrpSpPr>
          <p:cNvPr id="15" name="Group 5"/>
          <p:cNvGrpSpPr/>
          <p:nvPr/>
        </p:nvGrpSpPr>
        <p:grpSpPr bwMode="auto">
          <a:xfrm>
            <a:off x="6664325" y="3156585"/>
            <a:ext cx="3794760" cy="481330"/>
            <a:chOff x="3" y="0"/>
            <a:chExt cx="4243" cy="333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1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3.7  网络命令</a:t>
              </a:r>
            </a:p>
          </p:txBody>
        </p:sp>
      </p:grpSp>
      <p:grpSp>
        <p:nvGrpSpPr>
          <p:cNvPr id="25" name="Group 5"/>
          <p:cNvGrpSpPr/>
          <p:nvPr/>
        </p:nvGrpSpPr>
        <p:grpSpPr bwMode="auto">
          <a:xfrm>
            <a:off x="2059940" y="2390140"/>
            <a:ext cx="4091940" cy="481330"/>
            <a:chOff x="3" y="0"/>
            <a:chExt cx="4243" cy="333"/>
          </a:xfrm>
        </p:grpSpPr>
        <p:grpSp>
          <p:nvGrpSpPr>
            <p:cNvPr id="2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1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系统安全性</a:t>
              </a:r>
            </a:p>
          </p:txBody>
        </p:sp>
      </p:grpSp>
      <p:grpSp>
        <p:nvGrpSpPr>
          <p:cNvPr id="30" name="Group 5"/>
          <p:cNvGrpSpPr/>
          <p:nvPr/>
        </p:nvGrpSpPr>
        <p:grpSpPr bwMode="auto">
          <a:xfrm>
            <a:off x="2059940" y="3188335"/>
            <a:ext cx="4074160" cy="481330"/>
            <a:chOff x="3" y="0"/>
            <a:chExt cx="4243" cy="333"/>
          </a:xfrm>
        </p:grpSpPr>
        <p:grpSp>
          <p:nvGrpSpPr>
            <p:cNvPr id="3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3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2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命令的使用</a:t>
              </a:r>
            </a:p>
          </p:txBody>
        </p:sp>
      </p:grpSp>
      <p:grpSp>
        <p:nvGrpSpPr>
          <p:cNvPr id="35" name="Group 5"/>
          <p:cNvGrpSpPr/>
          <p:nvPr/>
        </p:nvGrpSpPr>
        <p:grpSpPr bwMode="auto">
          <a:xfrm>
            <a:off x="2056130" y="3997325"/>
            <a:ext cx="4037330" cy="481330"/>
            <a:chOff x="3" y="0"/>
            <a:chExt cx="4243" cy="333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3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chemeClr val="bg1">
                      <a:lumMod val="50000"/>
                    </a:schemeClr>
                  </a:soli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79" y="34"/>
              <a:ext cx="300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 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文件操作命令</a:t>
              </a:r>
            </a:p>
          </p:txBody>
        </p:sp>
      </p:grpSp>
      <p:grpSp>
        <p:nvGrpSpPr>
          <p:cNvPr id="40" name="Group 5"/>
          <p:cNvGrpSpPr/>
          <p:nvPr/>
        </p:nvGrpSpPr>
        <p:grpSpPr bwMode="auto">
          <a:xfrm>
            <a:off x="2083435" y="5506085"/>
            <a:ext cx="4040505" cy="481330"/>
            <a:chOff x="3" y="0"/>
            <a:chExt cx="4243" cy="333"/>
          </a:xfrm>
        </p:grpSpPr>
        <p:grpSp>
          <p:nvGrpSpPr>
            <p:cNvPr id="41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3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3.5  文件压缩命令</a:t>
              </a:r>
            </a:p>
          </p:txBody>
        </p:sp>
      </p:grpSp>
      <p:grpSp>
        <p:nvGrpSpPr>
          <p:cNvPr id="45" name="Group 5"/>
          <p:cNvGrpSpPr/>
          <p:nvPr/>
        </p:nvGrpSpPr>
        <p:grpSpPr bwMode="auto">
          <a:xfrm>
            <a:off x="6646545" y="2358390"/>
            <a:ext cx="3775710" cy="481330"/>
            <a:chOff x="3" y="0"/>
            <a:chExt cx="4243" cy="333"/>
          </a:xfrm>
        </p:grpSpPr>
        <p:grpSp>
          <p:nvGrpSpPr>
            <p:cNvPr id="46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47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905" y="22"/>
              <a:ext cx="265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3.6  进程控制命令</a:t>
              </a:r>
            </a:p>
          </p:txBody>
        </p:sp>
      </p:grpSp>
      <p:grpSp>
        <p:nvGrpSpPr>
          <p:cNvPr id="4" name="Group 5"/>
          <p:cNvGrpSpPr/>
          <p:nvPr/>
        </p:nvGrpSpPr>
        <p:grpSpPr bwMode="auto">
          <a:xfrm>
            <a:off x="2051685" y="4754245"/>
            <a:ext cx="4041140" cy="481330"/>
            <a:chOff x="3" y="0"/>
            <a:chExt cx="4243" cy="333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6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rgbClr val="969696">
                    <a:alpha val="56862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AutoShape 8"/>
              <p:cNvSpPr>
                <a:spLocks noChangeArrowheads="1"/>
              </p:cNvSpPr>
              <p:nvPr/>
            </p:nvSpPr>
            <p:spPr bwMode="auto"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90204" pitchFamily="34" charset="0"/>
                  <a:buNone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21" y="33"/>
              <a:ext cx="2926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Arial" panose="020B0604020202090204" pitchFamily="34" charset="0"/>
                <a:buNone/>
              </a:pP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3.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4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  目录及其操作命令</a:t>
              </a:r>
            </a:p>
          </p:txBody>
        </p:sp>
      </p:grpSp>
    </p:spTree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/>
          <p:cNvSpPr>
            <a:spLocks noChangeArrowheads="1"/>
          </p:cNvSpPr>
          <p:nvPr/>
        </p:nvSpPr>
        <p:spPr bwMode="gray">
          <a:xfrm>
            <a:off x="593090" y="2286000"/>
            <a:ext cx="11138467" cy="3860800"/>
          </a:xfrm>
          <a:prstGeom prst="roundRect">
            <a:avLst>
              <a:gd name="adj" fmla="val 6232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indent="457200" algn="l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A000220150318T90PPI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44895" y="2324910"/>
            <a:ext cx="4024059" cy="3433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6231" y="2733472"/>
            <a:ext cx="565177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Linux系统中有大量的命令，而且许多命令又有众多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选项或参数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想全部记住它们相当困难。对大多数用户来说，也没有必要这样做，因为用户常用的命令是整个命令集合中的一个子集，硬性记忆命令很难。为此，Linux提供了联机帮助手册，利用它，可以方便地查询所有命令的完整说明，包括命令语法、各选项的意义及相关命令等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6090" y="1223010"/>
            <a:ext cx="11183620" cy="525653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230" y="1002602"/>
            <a:ext cx="1442085" cy="1642808"/>
            <a:chOff x="897" y="2790"/>
            <a:chExt cx="2601" cy="2912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703" y="3636"/>
              <a:ext cx="2446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man命令</a:t>
              </a:r>
            </a:p>
          </p:txBody>
        </p:sp>
      </p:grp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1764665" y="1329690"/>
            <a:ext cx="3377565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命令的一般格式：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34230" y="1311583"/>
            <a:ext cx="2943225" cy="607214"/>
            <a:chOff x="2429" y="3430"/>
            <a:chExt cx="12436" cy="686"/>
          </a:xfrm>
        </p:grpSpPr>
        <p:sp>
          <p:nvSpPr>
            <p:cNvPr id="5" name="流程图: 过程 4"/>
            <p:cNvSpPr/>
            <p:nvPr/>
          </p:nvSpPr>
          <p:spPr>
            <a:xfrm>
              <a:off x="2429" y="3463"/>
              <a:ext cx="12436" cy="653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endPara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75" y="3430"/>
              <a:ext cx="11766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eaLnBrk="1" fontAlgn="auto" latinLnBrk="0" hangingPunct="1">
                <a:lnSpc>
                  <a:spcPct val="150000"/>
                </a:lnSpc>
                <a:buFont typeface="Arial" panose="020B0604020202090204" pitchFamily="34" charset="0"/>
                <a:buNone/>
                <a:defRPr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man  [选项]  命令名</a:t>
              </a:r>
            </a:p>
          </p:txBody>
        </p: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1702435" y="2112010"/>
            <a:ext cx="9427210" cy="58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该命令用于格式化并显示某一命令的联机帮助手册页。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75055" y="2988310"/>
            <a:ext cx="10702290" cy="2636520"/>
            <a:chOff x="1693" y="4706"/>
            <a:chExt cx="16854" cy="4152"/>
          </a:xfrm>
        </p:grpSpPr>
        <p:sp>
          <p:nvSpPr>
            <p:cNvPr id="9" name="矩形 8"/>
            <p:cNvSpPr/>
            <p:nvPr/>
          </p:nvSpPr>
          <p:spPr>
            <a:xfrm>
              <a:off x="5911" y="4706"/>
              <a:ext cx="12637" cy="39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-M路径：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指定查找man手册的路径。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-S章节：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指定查找手册页的章节列表。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-f：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只显示命令的功能而不显示其中详细的说明文件。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-w：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不显示手册页，只显示将被格式化和显示的文件所在的位置。</a:t>
              </a:r>
            </a:p>
            <a:p>
              <a:pPr marL="285750" indent="-28575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显示所有的手册页，而不是只显示第一处找到的内容。</a:t>
              </a:r>
            </a:p>
          </p:txBody>
        </p:sp>
        <p:sp>
          <p:nvSpPr>
            <p:cNvPr id="10" name="Text Box 44"/>
            <p:cNvSpPr txBox="1">
              <a:spLocks noChangeArrowheads="1"/>
            </p:cNvSpPr>
            <p:nvPr/>
          </p:nvSpPr>
          <p:spPr bwMode="auto">
            <a:xfrm>
              <a:off x="1693" y="6206"/>
              <a:ext cx="3545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D24726"/>
                  </a:solidFill>
                </a:rPr>
                <a:t>选项的含义如下：</a:t>
              </a: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131" y="4790"/>
              <a:ext cx="659" cy="4069"/>
            </a:xfrm>
            <a:prstGeom prst="leftBrace">
              <a:avLst/>
            </a:prstGeom>
            <a:solidFill>
              <a:schemeClr val="bg2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ldLvl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66090" y="1223010"/>
            <a:ext cx="11184255" cy="525653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230" y="1002602"/>
            <a:ext cx="1442085" cy="1642808"/>
            <a:chOff x="897" y="2790"/>
            <a:chExt cx="2601" cy="2912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" y="3116"/>
              <a:ext cx="2601" cy="2586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703" y="3636"/>
              <a:ext cx="2446" cy="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help命令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5455" y="1790065"/>
            <a:ext cx="7146925" cy="3654425"/>
            <a:chOff x="733" y="2819"/>
            <a:chExt cx="11255" cy="5755"/>
          </a:xfrm>
        </p:grpSpPr>
        <p:grpSp>
          <p:nvGrpSpPr>
            <p:cNvPr id="4" name="组合 3"/>
            <p:cNvGrpSpPr/>
            <p:nvPr/>
          </p:nvGrpSpPr>
          <p:grpSpPr>
            <a:xfrm>
              <a:off x="2040" y="2819"/>
              <a:ext cx="8585" cy="924"/>
              <a:chOff x="2040" y="2819"/>
              <a:chExt cx="8585" cy="924"/>
            </a:xfrm>
          </p:grpSpPr>
          <p:sp>
            <p:nvSpPr>
              <p:cNvPr id="17" name="Text Box 44"/>
              <p:cNvSpPr txBox="1">
                <a:spLocks noChangeArrowheads="1"/>
              </p:cNvSpPr>
              <p:nvPr/>
            </p:nvSpPr>
            <p:spPr bwMode="auto">
              <a:xfrm>
                <a:off x="2040" y="2885"/>
                <a:ext cx="5319" cy="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3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457200" defTabSz="720725">
                  <a:lnSpc>
                    <a:spcPct val="135000"/>
                  </a:lnSpc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defTabSz="720725" eaLnBrk="0" hangingPunct="0"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defTabSz="7207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help</a:t>
                </a: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命令的一般格式：</a:t>
                </a: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6219" y="2819"/>
                <a:ext cx="4406" cy="924"/>
                <a:chOff x="3367" y="3402"/>
                <a:chExt cx="5276" cy="738"/>
              </a:xfrm>
            </p:grpSpPr>
            <p:sp>
              <p:nvSpPr>
                <p:cNvPr id="19" name="流程图: 过程 18"/>
                <p:cNvSpPr/>
                <p:nvPr/>
              </p:nvSpPr>
              <p:spPr>
                <a:xfrm>
                  <a:off x="3367" y="3487"/>
                  <a:ext cx="5276" cy="653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3578" y="3402"/>
                  <a:ext cx="4903" cy="6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90204" pitchFamily="34" charset="0"/>
                    <a:buNone/>
                    <a:defRPr/>
                  </a:pPr>
                  <a:r>
                    <a:rPr lang="en-US" altLang="zh-CN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help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  [选项]  [参数]</a:t>
                  </a:r>
                </a:p>
              </p:txBody>
            </p:sp>
          </p:grpSp>
        </p:grp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1362" y="5004"/>
              <a:ext cx="3672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选项的含义</a:t>
              </a: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733" y="3938"/>
              <a:ext cx="11255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0" hangingPunct="1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help命令用来查看</a:t>
              </a:r>
              <a:r>
                <a:rPr lang="zh-CN" altLang="en-US" sz="2400" dirty="0">
                  <a:solidFill>
                    <a:srgbClr val="FF0000"/>
                  </a:solidFill>
                </a:rPr>
                <a:t>所有shell内置命令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的帮助信息。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606" y="7806"/>
              <a:ext cx="10274" cy="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内部命令：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指定需要显示帮助信息的shell内部命令。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725" y="6015"/>
              <a:ext cx="9355" cy="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-s：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输出短格式的帮助信息。仅包括命令格式。</a:t>
              </a: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1551" y="6879"/>
              <a:ext cx="1553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2400" b="1" dirty="0">
                  <a:solidFill>
                    <a:srgbClr val="D24726"/>
                  </a:solidFill>
                </a:rPr>
                <a:t>参数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6976745" y="2691130"/>
            <a:ext cx="4673600" cy="38017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63513" y="-25400"/>
            <a:ext cx="12584113" cy="575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-161925" y="-25400"/>
            <a:ext cx="12582525" cy="7369175"/>
          </a:xfrm>
          <a:prstGeom prst="rect">
            <a:avLst/>
          </a:prstGeom>
          <a:solidFill>
            <a:srgbClr val="000E2A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-161925" y="4921250"/>
            <a:ext cx="12580938" cy="2422525"/>
          </a:xfrm>
          <a:custGeom>
            <a:avLst/>
            <a:gdLst>
              <a:gd name="connsiteX0" fmla="*/ 0 w 12192000"/>
              <a:gd name="connsiteY0" fmla="*/ 0 h 2070437"/>
              <a:gd name="connsiteX1" fmla="*/ 5436625 w 12192000"/>
              <a:gd name="connsiteY1" fmla="*/ 0 h 2070437"/>
              <a:gd name="connsiteX2" fmla="*/ 5525440 w 12192000"/>
              <a:gd name="connsiteY2" fmla="*/ 7837 h 2070437"/>
              <a:gd name="connsiteX3" fmla="*/ 6091201 w 12192000"/>
              <a:gd name="connsiteY3" fmla="*/ 559628 h 2070437"/>
              <a:gd name="connsiteX4" fmla="*/ 6096239 w 12192000"/>
              <a:gd name="connsiteY4" fmla="*/ 609600 h 2070437"/>
              <a:gd name="connsiteX5" fmla="*/ 6114805 w 12192000"/>
              <a:gd name="connsiteY5" fmla="*/ 609600 h 2070437"/>
              <a:gd name="connsiteX6" fmla="*/ 6119842 w 12192000"/>
              <a:gd name="connsiteY6" fmla="*/ 559628 h 2070437"/>
              <a:gd name="connsiteX7" fmla="*/ 6685604 w 12192000"/>
              <a:gd name="connsiteY7" fmla="*/ 7837 h 2070437"/>
              <a:gd name="connsiteX8" fmla="*/ 6774419 w 12192000"/>
              <a:gd name="connsiteY8" fmla="*/ 0 h 2070437"/>
              <a:gd name="connsiteX9" fmla="*/ 12192000 w 12192000"/>
              <a:gd name="connsiteY9" fmla="*/ 0 h 2070437"/>
              <a:gd name="connsiteX10" fmla="*/ 12192000 w 12192000"/>
              <a:gd name="connsiteY10" fmla="*/ 2070437 h 2070437"/>
              <a:gd name="connsiteX11" fmla="*/ 0 w 12192000"/>
              <a:gd name="connsiteY11" fmla="*/ 2070437 h 207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70437">
                <a:moveTo>
                  <a:pt x="0" y="0"/>
                </a:moveTo>
                <a:lnTo>
                  <a:pt x="5436625" y="0"/>
                </a:lnTo>
                <a:lnTo>
                  <a:pt x="5525440" y="7837"/>
                </a:lnTo>
                <a:cubicBezTo>
                  <a:pt x="5808922" y="58474"/>
                  <a:pt x="6033693" y="278587"/>
                  <a:pt x="6091201" y="559628"/>
                </a:cubicBezTo>
                <a:lnTo>
                  <a:pt x="6096239" y="609600"/>
                </a:lnTo>
                <a:lnTo>
                  <a:pt x="6114805" y="609600"/>
                </a:lnTo>
                <a:lnTo>
                  <a:pt x="6119842" y="559628"/>
                </a:lnTo>
                <a:cubicBezTo>
                  <a:pt x="6177351" y="278587"/>
                  <a:pt x="6402121" y="58474"/>
                  <a:pt x="6685604" y="7837"/>
                </a:cubicBezTo>
                <a:lnTo>
                  <a:pt x="6774419" y="0"/>
                </a:lnTo>
                <a:lnTo>
                  <a:pt x="12192000" y="0"/>
                </a:lnTo>
                <a:lnTo>
                  <a:pt x="12192000" y="2070437"/>
                </a:lnTo>
                <a:lnTo>
                  <a:pt x="0" y="2070437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70885" y="2715894"/>
            <a:ext cx="60636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buFont typeface="Arial" panose="020B0604020202090204" pitchFamily="34" charset="0"/>
              <a:buNone/>
              <a:defRPr/>
            </a:pPr>
            <a:r>
              <a:rPr lang="zh-CN" altLang="en-US" sz="8800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 谢 观 看</a:t>
            </a:r>
            <a:endParaRPr lang="zh-CN" altLang="en-US" sz="8800" b="1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Desc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SubTitle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Text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Other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Other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Other"/>
  <p:tag name="MH_ORD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Other"/>
  <p:tag name="MH_ORDER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SubTitle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Text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SubTitle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31124"/>
  <p:tag name="MH_LIBRARY" val="GRAPHIC"/>
  <p:tag name="MH_TYPE" val="Text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Text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SubTitle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Text"/>
  <p:tag name="MH_ORDE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SubTitle"/>
  <p:tag name="MH_ORDER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Other"/>
  <p:tag name="MH_ORDER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Text"/>
  <p:tag name="MH_ORDER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SubTitle"/>
  <p:tag name="MH_ORDE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43941"/>
  <p:tag name="MH_LIBRARY" val="GRAPHIC"/>
  <p:tag name="MH_TYPE" val="Text"/>
  <p:tag name="MH_ORDER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43941"/>
  <p:tag name="MH_LIBRARY" val="GRAPHIC"/>
  <p:tag name="MH_TYPE" val="Text"/>
  <p:tag name="MH_ORDER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43941"/>
  <p:tag name="MH_LIBRARY" val="GRAPHIC"/>
  <p:tag name="MH_TYPE" val="Text"/>
  <p:tag name="MH_ORDER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Text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10103"/>
  <p:tag name="MH_LIBRARY" val="GRAPHIC"/>
  <p:tag name="MH_TYPE" val="SubTitle"/>
  <p:tag name="MH_ORDER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heme/theme1.xml><?xml version="1.0" encoding="utf-8"?>
<a:theme xmlns:a="http://schemas.openxmlformats.org/drawingml/2006/main" name="1_SAP_PartnerEdge2009_1[1]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rtnerEdge2008_1.0">
      <a:majorFont>
        <a:latin typeface="Arial Black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Pct val="80000"/>
          <a:buFont typeface="Wingdings" panose="05000000000000000000" pitchFamily="2" charset="2"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Pct val="80000"/>
          <a:buFont typeface="Wingdings" panose="05000000000000000000" pitchFamily="2" charset="2"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PartnerEdge2008_1.0 1">
        <a:dk1>
          <a:srgbClr val="000000"/>
        </a:dk1>
        <a:lt1>
          <a:srgbClr val="FFFFFF"/>
        </a:lt1>
        <a:dk2>
          <a:srgbClr val="44697D"/>
        </a:dk2>
        <a:lt2>
          <a:srgbClr val="CCCCCC"/>
        </a:lt2>
        <a:accent1>
          <a:srgbClr val="F0AB00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F6D2AA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tnerEdge2008_1.0 2">
        <a:dk1>
          <a:srgbClr val="000000"/>
        </a:dk1>
        <a:lt1>
          <a:srgbClr val="FFFFFF"/>
        </a:lt1>
        <a:dk2>
          <a:srgbClr val="6996BE"/>
        </a:dk2>
        <a:lt2>
          <a:srgbClr val="CCCCCC"/>
        </a:lt2>
        <a:accent1>
          <a:srgbClr val="F0AB00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F6D2AA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tnerEdge2008_1.0 3">
        <a:dk1>
          <a:srgbClr val="000000"/>
        </a:dk1>
        <a:lt1>
          <a:srgbClr val="FFFFFF"/>
        </a:lt1>
        <a:dk2>
          <a:srgbClr val="F0AB00"/>
        </a:dk2>
        <a:lt2>
          <a:srgbClr val="CCCCCC"/>
        </a:lt2>
        <a:accent1>
          <a:srgbClr val="6996BE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B9C9DB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13745</Words>
  <Application>Microsoft Office PowerPoint</Application>
  <PresentationFormat>自定义</PresentationFormat>
  <Paragraphs>1310</Paragraphs>
  <Slides>132</Slides>
  <Notes>23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132</vt:i4>
      </vt:variant>
    </vt:vector>
  </HeadingPairs>
  <TitlesOfParts>
    <vt:vector size="133" baseType="lpstr">
      <vt:lpstr>1_SAP_PartnerEdge2009_1[1].0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PC</cp:lastModifiedBy>
  <cp:revision>281</cp:revision>
  <dcterms:created xsi:type="dcterms:W3CDTF">2021-09-21T12:30:00Z</dcterms:created>
  <dcterms:modified xsi:type="dcterms:W3CDTF">2021-09-27T01:42:53Z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2052-3.8.1.6116</vt:lpwstr>
  </property>
</Properties>
</file>